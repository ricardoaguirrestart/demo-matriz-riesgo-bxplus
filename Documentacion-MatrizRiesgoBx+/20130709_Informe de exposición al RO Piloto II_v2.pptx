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charts/chart5.xml" ContentType="application/vnd.openxmlformats-officedocument.drawingml.chart+xml"/>
  <Override PartName="/ppt/charts/chart6.xml" ContentType="application/vnd.openxmlformats-officedocument.drawingml.chart+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256" r:id="rId2"/>
    <p:sldId id="872" r:id="rId3"/>
    <p:sldId id="894" r:id="rId4"/>
    <p:sldId id="875" r:id="rId5"/>
    <p:sldId id="876" r:id="rId6"/>
    <p:sldId id="877" r:id="rId7"/>
    <p:sldId id="878" r:id="rId8"/>
    <p:sldId id="895" r:id="rId9"/>
    <p:sldId id="847" r:id="rId10"/>
    <p:sldId id="904" r:id="rId11"/>
    <p:sldId id="856" r:id="rId12"/>
    <p:sldId id="844" r:id="rId13"/>
    <p:sldId id="845" r:id="rId14"/>
    <p:sldId id="846" r:id="rId15"/>
    <p:sldId id="849" r:id="rId16"/>
    <p:sldId id="850" r:id="rId17"/>
    <p:sldId id="851" r:id="rId18"/>
    <p:sldId id="852" r:id="rId19"/>
    <p:sldId id="853" r:id="rId20"/>
    <p:sldId id="854" r:id="rId21"/>
    <p:sldId id="837" r:id="rId22"/>
    <p:sldId id="896" r:id="rId23"/>
    <p:sldId id="897" r:id="rId24"/>
    <p:sldId id="898" r:id="rId25"/>
    <p:sldId id="899" r:id="rId26"/>
    <p:sldId id="900" r:id="rId27"/>
    <p:sldId id="901" r:id="rId28"/>
    <p:sldId id="902" r:id="rId29"/>
    <p:sldId id="905" r:id="rId30"/>
    <p:sldId id="874" r:id="rId31"/>
    <p:sldId id="809" r:id="rId32"/>
    <p:sldId id="873" r:id="rId33"/>
    <p:sldId id="857" r:id="rId34"/>
    <p:sldId id="858" r:id="rId35"/>
    <p:sldId id="859" r:id="rId36"/>
    <p:sldId id="860" r:id="rId37"/>
    <p:sldId id="861" r:id="rId38"/>
    <p:sldId id="862" r:id="rId39"/>
    <p:sldId id="863" r:id="rId40"/>
    <p:sldId id="864" r:id="rId41"/>
    <p:sldId id="865" r:id="rId42"/>
    <p:sldId id="866" r:id="rId43"/>
    <p:sldId id="867" r:id="rId44"/>
    <p:sldId id="906" r:id="rId45"/>
    <p:sldId id="907" r:id="rId46"/>
    <p:sldId id="908" r:id="rId47"/>
    <p:sldId id="871" r:id="rId48"/>
    <p:sldId id="611" r:id="rId49"/>
  </p:sldIdLst>
  <p:sldSz cx="9144000" cy="6858000" type="screen4x3"/>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66">
          <p15:clr>
            <a:srgbClr val="A4A3A4"/>
          </p15:clr>
        </p15:guide>
        <p15:guide id="2" pos="30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0000"/>
    <a:srgbClr val="C00000"/>
    <a:srgbClr val="F8CCCC"/>
    <a:srgbClr val="DB0613"/>
    <a:srgbClr val="FF0000"/>
    <a:srgbClr val="A5A5A5"/>
    <a:srgbClr val="000000"/>
    <a:srgbClr val="D9D9D9"/>
    <a:srgbClr val="1B7B34"/>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6" autoAdjust="0"/>
    <p:restoredTop sz="95994" autoAdjust="0"/>
  </p:normalViewPr>
  <p:slideViewPr>
    <p:cSldViewPr snapToGrid="0">
      <p:cViewPr varScale="1">
        <p:scale>
          <a:sx n="112" d="100"/>
          <a:sy n="112" d="100"/>
        </p:scale>
        <p:origin x="1952" y="184"/>
      </p:cViewPr>
      <p:guideLst>
        <p:guide orient="horz" pos="1166"/>
        <p:guide pos="3053"/>
      </p:guideLst>
    </p:cSldViewPr>
  </p:slideViewPr>
  <p:outlineViewPr>
    <p:cViewPr>
      <p:scale>
        <a:sx n="33" d="100"/>
        <a:sy n="33" d="100"/>
      </p:scale>
      <p:origin x="36" y="3312"/>
    </p:cViewPr>
  </p:outlineViewPr>
  <p:notesTextViewPr>
    <p:cViewPr>
      <p:scale>
        <a:sx n="1" d="1"/>
        <a:sy n="1" d="1"/>
      </p:scale>
      <p:origin x="0" y="0"/>
    </p:cViewPr>
  </p:notesTextViewPr>
  <p:sorterViewPr>
    <p:cViewPr>
      <p:scale>
        <a:sx n="66" d="100"/>
        <a:sy n="66" d="100"/>
      </p:scale>
      <p:origin x="0" y="37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tania.carracedo.fer1\Documents\RIMAC\Fase%20II\17.%20FIN%20FASE%20II\Nueva%20versi&#243;n%20del%20informe\20130708_Consolidado%20Piloto%20II.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spPr>
              <a:solidFill>
                <a:schemeClr val="bg1">
                  <a:lumMod val="65000"/>
                </a:schemeClr>
              </a:solidFill>
            </c:spPr>
            <c:extLst>
              <c:ext xmlns:c16="http://schemas.microsoft.com/office/drawing/2014/chart" uri="{C3380CC4-5D6E-409C-BE32-E72D297353CC}">
                <c16:uniqueId val="{00000001-BC5D-5343-A622-22916FDC440B}"/>
              </c:ext>
            </c:extLst>
          </c:dPt>
          <c:dPt>
            <c:idx val="1"/>
            <c:bubble3D val="0"/>
            <c:spPr>
              <a:solidFill>
                <a:srgbClr val="DB0613">
                  <a:alpha val="88000"/>
                </a:srgbClr>
              </a:solidFill>
            </c:spPr>
            <c:extLst>
              <c:ext xmlns:c16="http://schemas.microsoft.com/office/drawing/2014/chart" uri="{C3380CC4-5D6E-409C-BE32-E72D297353CC}">
                <c16:uniqueId val="{00000003-BC5D-5343-A622-22916FDC440B}"/>
              </c:ext>
            </c:extLst>
          </c:dPt>
          <c:dPt>
            <c:idx val="2"/>
            <c:bubble3D val="0"/>
            <c:spPr>
              <a:solidFill>
                <a:schemeClr val="tx1">
                  <a:lumMod val="85000"/>
                  <a:lumOff val="15000"/>
                </a:schemeClr>
              </a:solidFill>
            </c:spPr>
            <c:extLst>
              <c:ext xmlns:c16="http://schemas.microsoft.com/office/drawing/2014/chart" uri="{C3380CC4-5D6E-409C-BE32-E72D297353CC}">
                <c16:uniqueId val="{00000005-BC5D-5343-A622-22916FDC440B}"/>
              </c:ext>
            </c:extLst>
          </c:dPt>
          <c:dPt>
            <c:idx val="3"/>
            <c:bubble3D val="0"/>
            <c:spPr>
              <a:solidFill>
                <a:schemeClr val="tx1">
                  <a:lumMod val="50000"/>
                  <a:lumOff val="50000"/>
                </a:schemeClr>
              </a:solidFill>
            </c:spPr>
            <c:extLst>
              <c:ext xmlns:c16="http://schemas.microsoft.com/office/drawing/2014/chart" uri="{C3380CC4-5D6E-409C-BE32-E72D297353CC}">
                <c16:uniqueId val="{00000007-BC5D-5343-A622-22916FDC440B}"/>
              </c:ext>
            </c:extLst>
          </c:dPt>
          <c:dPt>
            <c:idx val="4"/>
            <c:bubble3D val="0"/>
            <c:spPr>
              <a:solidFill>
                <a:schemeClr val="bg1">
                  <a:lumMod val="85000"/>
                </a:schemeClr>
              </a:solidFill>
            </c:spPr>
            <c:extLst>
              <c:ext xmlns:c16="http://schemas.microsoft.com/office/drawing/2014/chart" uri="{C3380CC4-5D6E-409C-BE32-E72D297353CC}">
                <c16:uniqueId val="{00000009-BC5D-5343-A622-22916FDC440B}"/>
              </c:ext>
            </c:extLst>
          </c:dPt>
          <c:dLbls>
            <c:dLbl>
              <c:idx val="0"/>
              <c:layout>
                <c:manualLayout>
                  <c:x val="7.5632108486439198E-2"/>
                  <c:y val="-2.800889472149314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C5D-5343-A622-22916FDC440B}"/>
                </c:ext>
              </c:extLst>
            </c:dLbl>
            <c:dLbl>
              <c:idx val="2"/>
              <c:layout>
                <c:manualLayout>
                  <c:x val="-7.9260279965004371E-2"/>
                  <c:y val="-5.9258894721493149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BC5D-5343-A622-22916FDC440B}"/>
                </c:ext>
              </c:extLst>
            </c:dLbl>
            <c:dLbl>
              <c:idx val="3"/>
              <c:layout>
                <c:manualLayout>
                  <c:x val="-3.5263779527559054E-2"/>
                  <c:y val="-0.1043977836103820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C5D-5343-A622-22916FDC440B}"/>
                </c:ext>
              </c:extLst>
            </c:dLbl>
            <c:dLbl>
              <c:idx val="4"/>
              <c:layout>
                <c:manualLayout>
                  <c:x val="4.9651684164479438E-2"/>
                  <c:y val="-5.46292650918635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C5D-5343-A622-22916FDC440B}"/>
                </c:ext>
              </c:extLst>
            </c:dLbl>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Sheet8!$A$7:$A$11</c:f>
              <c:strCache>
                <c:ptCount val="5"/>
                <c:pt idx="0">
                  <c:v>Clientes, productos y prácticas empresariales</c:v>
                </c:pt>
                <c:pt idx="1">
                  <c:v>Ejecución, entrega y gestión de procesos</c:v>
                </c:pt>
                <c:pt idx="2">
                  <c:v>Fraude externo</c:v>
                </c:pt>
                <c:pt idx="3">
                  <c:v>Fraude Interno</c:v>
                </c:pt>
                <c:pt idx="4">
                  <c:v>Interrupción del negocio y fallos en los sistemas</c:v>
                </c:pt>
              </c:strCache>
            </c:strRef>
          </c:cat>
          <c:val>
            <c:numRef>
              <c:f>Sheet8!$B$7:$B$11</c:f>
              <c:numCache>
                <c:formatCode>General</c:formatCode>
                <c:ptCount val="5"/>
                <c:pt idx="0">
                  <c:v>1018200</c:v>
                </c:pt>
                <c:pt idx="1">
                  <c:v>22739726.666666668</c:v>
                </c:pt>
                <c:pt idx="2">
                  <c:v>135950</c:v>
                </c:pt>
                <c:pt idx="3">
                  <c:v>228558</c:v>
                </c:pt>
                <c:pt idx="4">
                  <c:v>67320</c:v>
                </c:pt>
              </c:numCache>
            </c:numRef>
          </c:val>
          <c:extLst>
            <c:ext xmlns:c16="http://schemas.microsoft.com/office/drawing/2014/chart" uri="{C3380CC4-5D6E-409C-BE32-E72D297353CC}">
              <c16:uniqueId val="{0000000A-BC5D-5343-A622-22916FDC440B}"/>
            </c:ext>
          </c:extLst>
        </c:ser>
        <c:dLbls>
          <c:showLegendKey val="0"/>
          <c:showVal val="0"/>
          <c:showCatName val="0"/>
          <c:showSerName val="0"/>
          <c:showPercent val="1"/>
          <c:showBubbleSize val="0"/>
          <c:showLeaderLines val="1"/>
        </c:dLbls>
      </c:pie3DChart>
    </c:plotArea>
    <c:legend>
      <c:legendPos val="r"/>
      <c:layout>
        <c:manualLayout>
          <c:xMode val="edge"/>
          <c:yMode val="edge"/>
          <c:x val="0.57438347920268928"/>
          <c:y val="0"/>
          <c:w val="0.39119457465929142"/>
          <c:h val="1"/>
        </c:manualLayout>
      </c:layout>
      <c:overlay val="0"/>
      <c:txPr>
        <a:bodyPr/>
        <a:lstStyle/>
        <a:p>
          <a:pPr>
            <a:defRPr sz="1000"/>
          </a:pPr>
          <a:endParaRPr lang="es-ES"/>
        </a:p>
      </c:txPr>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spPr>
              <a:solidFill>
                <a:schemeClr val="bg1">
                  <a:lumMod val="65000"/>
                </a:schemeClr>
              </a:solidFill>
            </c:spPr>
            <c:extLst>
              <c:ext xmlns:c16="http://schemas.microsoft.com/office/drawing/2014/chart" uri="{C3380CC4-5D6E-409C-BE32-E72D297353CC}">
                <c16:uniqueId val="{00000001-1E7B-4942-881D-3BDFF175012A}"/>
              </c:ext>
            </c:extLst>
          </c:dPt>
          <c:dPt>
            <c:idx val="1"/>
            <c:bubble3D val="0"/>
            <c:spPr>
              <a:solidFill>
                <a:srgbClr val="DB0613">
                  <a:alpha val="88000"/>
                </a:srgbClr>
              </a:solidFill>
            </c:spPr>
            <c:extLst>
              <c:ext xmlns:c16="http://schemas.microsoft.com/office/drawing/2014/chart" uri="{C3380CC4-5D6E-409C-BE32-E72D297353CC}">
                <c16:uniqueId val="{00000003-1E7B-4942-881D-3BDFF175012A}"/>
              </c:ext>
            </c:extLst>
          </c:dPt>
          <c:dPt>
            <c:idx val="2"/>
            <c:bubble3D val="0"/>
            <c:spPr>
              <a:solidFill>
                <a:schemeClr val="tx1">
                  <a:lumMod val="85000"/>
                  <a:lumOff val="15000"/>
                </a:schemeClr>
              </a:solidFill>
            </c:spPr>
            <c:extLst>
              <c:ext xmlns:c16="http://schemas.microsoft.com/office/drawing/2014/chart" uri="{C3380CC4-5D6E-409C-BE32-E72D297353CC}">
                <c16:uniqueId val="{00000005-1E7B-4942-881D-3BDFF175012A}"/>
              </c:ext>
            </c:extLst>
          </c:dPt>
          <c:dPt>
            <c:idx val="3"/>
            <c:bubble3D val="0"/>
            <c:spPr>
              <a:solidFill>
                <a:schemeClr val="tx1">
                  <a:lumMod val="50000"/>
                  <a:lumOff val="50000"/>
                </a:schemeClr>
              </a:solidFill>
            </c:spPr>
            <c:extLst>
              <c:ext xmlns:c16="http://schemas.microsoft.com/office/drawing/2014/chart" uri="{C3380CC4-5D6E-409C-BE32-E72D297353CC}">
                <c16:uniqueId val="{00000007-1E7B-4942-881D-3BDFF175012A}"/>
              </c:ext>
            </c:extLst>
          </c:dPt>
          <c:dPt>
            <c:idx val="4"/>
            <c:bubble3D val="0"/>
            <c:spPr>
              <a:solidFill>
                <a:schemeClr val="bg1">
                  <a:lumMod val="85000"/>
                </a:schemeClr>
              </a:solidFill>
            </c:spPr>
            <c:extLst>
              <c:ext xmlns:c16="http://schemas.microsoft.com/office/drawing/2014/chart" uri="{C3380CC4-5D6E-409C-BE32-E72D297353CC}">
                <c16:uniqueId val="{00000009-1E7B-4942-881D-3BDFF175012A}"/>
              </c:ext>
            </c:extLst>
          </c:dPt>
          <c:dLbls>
            <c:dLbl>
              <c:idx val="0"/>
              <c:layout>
                <c:manualLayout>
                  <c:x val="7.5632108486439198E-2"/>
                  <c:y val="-2.800889472149314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E7B-4942-881D-3BDFF175012A}"/>
                </c:ext>
              </c:extLst>
            </c:dLbl>
            <c:dLbl>
              <c:idx val="2"/>
              <c:layout>
                <c:manualLayout>
                  <c:x val="-7.9260279965004371E-2"/>
                  <c:y val="-5.9258894721493149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E7B-4942-881D-3BDFF175012A}"/>
                </c:ext>
              </c:extLst>
            </c:dLbl>
            <c:dLbl>
              <c:idx val="3"/>
              <c:layout>
                <c:manualLayout>
                  <c:x val="-3.5263779527559054E-2"/>
                  <c:y val="-0.1043977836103820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E7B-4942-881D-3BDFF175012A}"/>
                </c:ext>
              </c:extLst>
            </c:dLbl>
            <c:dLbl>
              <c:idx val="4"/>
              <c:layout>
                <c:manualLayout>
                  <c:x val="4.9651684164479438E-2"/>
                  <c:y val="-5.46292650918635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E7B-4942-881D-3BDFF175012A}"/>
                </c:ext>
              </c:extLst>
            </c:dLbl>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Sheet8!$A$7:$A$11</c:f>
              <c:strCache>
                <c:ptCount val="5"/>
                <c:pt idx="0">
                  <c:v>Clientes, productos y prácticas empresariales</c:v>
                </c:pt>
                <c:pt idx="1">
                  <c:v>Ejecución, entrega y gestión de procesos</c:v>
                </c:pt>
                <c:pt idx="2">
                  <c:v>Fraude externo</c:v>
                </c:pt>
                <c:pt idx="3">
                  <c:v>Fraude Interno</c:v>
                </c:pt>
                <c:pt idx="4">
                  <c:v>Interrupción del negocio y fallos en los sistemas</c:v>
                </c:pt>
              </c:strCache>
            </c:strRef>
          </c:cat>
          <c:val>
            <c:numRef>
              <c:f>Sheet8!$C$7:$C$11</c:f>
              <c:numCache>
                <c:formatCode>General</c:formatCode>
                <c:ptCount val="5"/>
                <c:pt idx="0">
                  <c:v>4281101</c:v>
                </c:pt>
                <c:pt idx="1">
                  <c:v>54013348</c:v>
                </c:pt>
                <c:pt idx="2">
                  <c:v>430284</c:v>
                </c:pt>
                <c:pt idx="3">
                  <c:v>2168998</c:v>
                </c:pt>
                <c:pt idx="4">
                  <c:v>409733</c:v>
                </c:pt>
              </c:numCache>
            </c:numRef>
          </c:val>
          <c:extLst>
            <c:ext xmlns:c16="http://schemas.microsoft.com/office/drawing/2014/chart" uri="{C3380CC4-5D6E-409C-BE32-E72D297353CC}">
              <c16:uniqueId val="{0000000A-1E7B-4942-881D-3BDFF175012A}"/>
            </c:ext>
          </c:extLst>
        </c:ser>
        <c:dLbls>
          <c:showLegendKey val="0"/>
          <c:showVal val="0"/>
          <c:showCatName val="0"/>
          <c:showSerName val="0"/>
          <c:showPercent val="1"/>
          <c:showBubbleSize val="0"/>
          <c:showLeaderLines val="1"/>
        </c:dLbls>
      </c:pie3DChart>
    </c:plotArea>
    <c:legend>
      <c:legendPos val="r"/>
      <c:layout>
        <c:manualLayout>
          <c:xMode val="edge"/>
          <c:yMode val="edge"/>
          <c:x val="0.65467580441333717"/>
          <c:y val="6.6633027184207494E-2"/>
          <c:w val="0.32680567706814428"/>
          <c:h val="0.83357891647301585"/>
        </c:manualLayout>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spPr>
              <a:solidFill>
                <a:schemeClr val="tx1">
                  <a:lumMod val="95000"/>
                  <a:lumOff val="5000"/>
                  <a:alpha val="86000"/>
                </a:schemeClr>
              </a:solidFill>
            </c:spPr>
            <c:extLst>
              <c:ext xmlns:c16="http://schemas.microsoft.com/office/drawing/2014/chart" uri="{C3380CC4-5D6E-409C-BE32-E72D297353CC}">
                <c16:uniqueId val="{00000001-6FED-D444-BB6A-7B1F483396CA}"/>
              </c:ext>
            </c:extLst>
          </c:dPt>
          <c:dPt>
            <c:idx val="1"/>
            <c:bubble3D val="0"/>
            <c:spPr>
              <a:solidFill>
                <a:srgbClr val="DB0613">
                  <a:alpha val="85000"/>
                </a:srgbClr>
              </a:solidFill>
            </c:spPr>
            <c:extLst>
              <c:ext xmlns:c16="http://schemas.microsoft.com/office/drawing/2014/chart" uri="{C3380CC4-5D6E-409C-BE32-E72D297353CC}">
                <c16:uniqueId val="{00000003-6FED-D444-BB6A-7B1F483396CA}"/>
              </c:ext>
            </c:extLst>
          </c:dPt>
          <c:dPt>
            <c:idx val="2"/>
            <c:bubble3D val="0"/>
            <c:spPr>
              <a:solidFill>
                <a:schemeClr val="bg1">
                  <a:lumMod val="85000"/>
                </a:schemeClr>
              </a:solidFill>
            </c:spPr>
            <c:extLst>
              <c:ext xmlns:c16="http://schemas.microsoft.com/office/drawing/2014/chart" uri="{C3380CC4-5D6E-409C-BE32-E72D297353CC}">
                <c16:uniqueId val="{00000005-6FED-D444-BB6A-7B1F483396CA}"/>
              </c:ext>
            </c:extLst>
          </c:dPt>
          <c:dPt>
            <c:idx val="3"/>
            <c:bubble3D val="0"/>
            <c:spPr>
              <a:solidFill>
                <a:srgbClr val="DB0613"/>
              </a:solidFill>
            </c:spPr>
            <c:extLst>
              <c:ext xmlns:c16="http://schemas.microsoft.com/office/drawing/2014/chart" uri="{C3380CC4-5D6E-409C-BE32-E72D297353CC}">
                <c16:uniqueId val="{00000007-6FED-D444-BB6A-7B1F483396CA}"/>
              </c:ext>
            </c:extLst>
          </c:dPt>
          <c:dPt>
            <c:idx val="4"/>
            <c:bubble3D val="0"/>
            <c:spPr>
              <a:solidFill>
                <a:schemeClr val="bg1">
                  <a:lumMod val="50000"/>
                  <a:alpha val="88000"/>
                </a:schemeClr>
              </a:solidFill>
            </c:spPr>
            <c:extLst>
              <c:ext xmlns:c16="http://schemas.microsoft.com/office/drawing/2014/chart" uri="{C3380CC4-5D6E-409C-BE32-E72D297353CC}">
                <c16:uniqueId val="{00000009-6FED-D444-BB6A-7B1F483396CA}"/>
              </c:ext>
            </c:extLst>
          </c:dPt>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Sheet9!$A$5:$A$9</c:f>
              <c:strCache>
                <c:ptCount val="5"/>
                <c:pt idx="0">
                  <c:v>Eventos externos</c:v>
                </c:pt>
                <c:pt idx="1">
                  <c:v>Personas</c:v>
                </c:pt>
                <c:pt idx="2">
                  <c:v>Procesos</c:v>
                </c:pt>
                <c:pt idx="3">
                  <c:v>Relaciones con terceros</c:v>
                </c:pt>
                <c:pt idx="4">
                  <c:v>Tecnología</c:v>
                </c:pt>
              </c:strCache>
            </c:strRef>
          </c:cat>
          <c:val>
            <c:numRef>
              <c:f>Sheet9!$B$5:$B$9</c:f>
              <c:numCache>
                <c:formatCode>General</c:formatCode>
                <c:ptCount val="5"/>
                <c:pt idx="0">
                  <c:v>196930</c:v>
                </c:pt>
                <c:pt idx="1">
                  <c:v>4410205.5</c:v>
                </c:pt>
                <c:pt idx="2">
                  <c:v>4375684.166666667</c:v>
                </c:pt>
                <c:pt idx="3">
                  <c:v>662625</c:v>
                </c:pt>
                <c:pt idx="4">
                  <c:v>14544310</c:v>
                </c:pt>
              </c:numCache>
            </c:numRef>
          </c:val>
          <c:extLst>
            <c:ext xmlns:c16="http://schemas.microsoft.com/office/drawing/2014/chart" uri="{C3380CC4-5D6E-409C-BE32-E72D297353CC}">
              <c16:uniqueId val="{0000000A-6FED-D444-BB6A-7B1F483396CA}"/>
            </c:ext>
          </c:extLst>
        </c:ser>
        <c:dLbls>
          <c:showLegendKey val="0"/>
          <c:showVal val="0"/>
          <c:showCatName val="0"/>
          <c:showSerName val="0"/>
          <c:showPercent val="1"/>
          <c:showBubbleSize val="0"/>
          <c:showLeaderLines val="1"/>
        </c:dLbls>
      </c:pie3DChart>
    </c:plotArea>
    <c:legend>
      <c:legendPos val="r"/>
      <c:layout>
        <c:manualLayout>
          <c:xMode val="edge"/>
          <c:yMode val="edge"/>
          <c:x val="0.62949999999999995"/>
          <c:y val="0.23515128317293671"/>
          <c:w val="0.31494444444444447"/>
          <c:h val="0.51580818022747155"/>
        </c:manualLayout>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spPr>
              <a:solidFill>
                <a:schemeClr val="tx1">
                  <a:lumMod val="95000"/>
                  <a:lumOff val="5000"/>
                  <a:alpha val="86000"/>
                </a:schemeClr>
              </a:solidFill>
            </c:spPr>
            <c:extLst>
              <c:ext xmlns:c16="http://schemas.microsoft.com/office/drawing/2014/chart" uri="{C3380CC4-5D6E-409C-BE32-E72D297353CC}">
                <c16:uniqueId val="{00000001-E5E8-FD41-8E3D-FB1D9C3092A2}"/>
              </c:ext>
            </c:extLst>
          </c:dPt>
          <c:dPt>
            <c:idx val="1"/>
            <c:bubble3D val="0"/>
            <c:spPr>
              <a:solidFill>
                <a:srgbClr val="DB0613">
                  <a:alpha val="85000"/>
                </a:srgbClr>
              </a:solidFill>
            </c:spPr>
            <c:extLst>
              <c:ext xmlns:c16="http://schemas.microsoft.com/office/drawing/2014/chart" uri="{C3380CC4-5D6E-409C-BE32-E72D297353CC}">
                <c16:uniqueId val="{00000003-E5E8-FD41-8E3D-FB1D9C3092A2}"/>
              </c:ext>
            </c:extLst>
          </c:dPt>
          <c:dPt>
            <c:idx val="2"/>
            <c:bubble3D val="0"/>
            <c:spPr>
              <a:solidFill>
                <a:schemeClr val="bg1">
                  <a:lumMod val="85000"/>
                </a:schemeClr>
              </a:solidFill>
            </c:spPr>
            <c:extLst>
              <c:ext xmlns:c16="http://schemas.microsoft.com/office/drawing/2014/chart" uri="{C3380CC4-5D6E-409C-BE32-E72D297353CC}">
                <c16:uniqueId val="{00000005-E5E8-FD41-8E3D-FB1D9C3092A2}"/>
              </c:ext>
            </c:extLst>
          </c:dPt>
          <c:dPt>
            <c:idx val="3"/>
            <c:bubble3D val="0"/>
            <c:spPr>
              <a:solidFill>
                <a:srgbClr val="DB0613"/>
              </a:solidFill>
            </c:spPr>
            <c:extLst>
              <c:ext xmlns:c16="http://schemas.microsoft.com/office/drawing/2014/chart" uri="{C3380CC4-5D6E-409C-BE32-E72D297353CC}">
                <c16:uniqueId val="{00000007-E5E8-FD41-8E3D-FB1D9C3092A2}"/>
              </c:ext>
            </c:extLst>
          </c:dPt>
          <c:dPt>
            <c:idx val="4"/>
            <c:bubble3D val="0"/>
            <c:spPr>
              <a:solidFill>
                <a:schemeClr val="bg1">
                  <a:lumMod val="50000"/>
                  <a:alpha val="88000"/>
                </a:schemeClr>
              </a:solidFill>
            </c:spPr>
            <c:extLst>
              <c:ext xmlns:c16="http://schemas.microsoft.com/office/drawing/2014/chart" uri="{C3380CC4-5D6E-409C-BE32-E72D297353CC}">
                <c16:uniqueId val="{00000009-E5E8-FD41-8E3D-FB1D9C3092A2}"/>
              </c:ext>
            </c:extLst>
          </c:dPt>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Sheet9!$A$5:$A$9</c:f>
              <c:strCache>
                <c:ptCount val="5"/>
                <c:pt idx="0">
                  <c:v>Eventos externos</c:v>
                </c:pt>
                <c:pt idx="1">
                  <c:v>Personas</c:v>
                </c:pt>
                <c:pt idx="2">
                  <c:v>Procesos</c:v>
                </c:pt>
                <c:pt idx="3">
                  <c:v>Relaciones con terceros</c:v>
                </c:pt>
                <c:pt idx="4">
                  <c:v>Tecnología</c:v>
                </c:pt>
              </c:strCache>
            </c:strRef>
          </c:cat>
          <c:val>
            <c:numRef>
              <c:f>Sheet9!$C$5:$C$9</c:f>
              <c:numCache>
                <c:formatCode>General</c:formatCode>
                <c:ptCount val="5"/>
                <c:pt idx="0">
                  <c:v>604510</c:v>
                </c:pt>
                <c:pt idx="1">
                  <c:v>19461725</c:v>
                </c:pt>
                <c:pt idx="2">
                  <c:v>16875332</c:v>
                </c:pt>
                <c:pt idx="3">
                  <c:v>957934</c:v>
                </c:pt>
                <c:pt idx="4">
                  <c:v>23403963</c:v>
                </c:pt>
              </c:numCache>
            </c:numRef>
          </c:val>
          <c:extLst>
            <c:ext xmlns:c16="http://schemas.microsoft.com/office/drawing/2014/chart" uri="{C3380CC4-5D6E-409C-BE32-E72D297353CC}">
              <c16:uniqueId val="{0000000A-E5E8-FD41-8E3D-FB1D9C3092A2}"/>
            </c:ext>
          </c:extLst>
        </c:ser>
        <c:dLbls>
          <c:showLegendKey val="0"/>
          <c:showVal val="0"/>
          <c:showCatName val="0"/>
          <c:showSerName val="0"/>
          <c:showPercent val="1"/>
          <c:showBubbleSize val="0"/>
          <c:showLeaderLines val="1"/>
        </c:dLbls>
      </c:pie3DChart>
    </c:plotArea>
    <c:legend>
      <c:legendPos val="r"/>
      <c:layout>
        <c:manualLayout>
          <c:xMode val="edge"/>
          <c:yMode val="edge"/>
          <c:x val="0.61283333333333334"/>
          <c:y val="0.22126239428404781"/>
          <c:w val="0.31494444444444447"/>
          <c:h val="0.56673410615339748"/>
        </c:manualLayout>
      </c:layout>
      <c:overlay val="0"/>
    </c:legend>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pie3DChart>
        <c:varyColors val="1"/>
        <c:ser>
          <c:idx val="1"/>
          <c:order val="1"/>
          <c:dPt>
            <c:idx val="0"/>
            <c:bubble3D val="0"/>
            <c:spPr>
              <a:solidFill>
                <a:srgbClr val="DB0613">
                  <a:alpha val="91000"/>
                </a:srgbClr>
              </a:solidFill>
            </c:spPr>
            <c:extLst>
              <c:ext xmlns:c16="http://schemas.microsoft.com/office/drawing/2014/chart" uri="{C3380CC4-5D6E-409C-BE32-E72D297353CC}">
                <c16:uniqueId val="{00000001-FD17-4D4E-B5E1-30C7530B9887}"/>
              </c:ext>
            </c:extLst>
          </c:dPt>
          <c:dPt>
            <c:idx val="1"/>
            <c:bubble3D val="0"/>
            <c:spPr>
              <a:solidFill>
                <a:schemeClr val="bg1">
                  <a:lumMod val="95000"/>
                </a:schemeClr>
              </a:solidFill>
            </c:spPr>
            <c:extLst>
              <c:ext xmlns:c16="http://schemas.microsoft.com/office/drawing/2014/chart" uri="{C3380CC4-5D6E-409C-BE32-E72D297353CC}">
                <c16:uniqueId val="{00000003-FD17-4D4E-B5E1-30C7530B9887}"/>
              </c:ext>
            </c:extLst>
          </c:dPt>
          <c:dPt>
            <c:idx val="2"/>
            <c:bubble3D val="0"/>
            <c:spPr>
              <a:solidFill>
                <a:schemeClr val="bg1">
                  <a:lumMod val="85000"/>
                </a:schemeClr>
              </a:solidFill>
            </c:spPr>
            <c:extLst>
              <c:ext xmlns:c16="http://schemas.microsoft.com/office/drawing/2014/chart" uri="{C3380CC4-5D6E-409C-BE32-E72D297353CC}">
                <c16:uniqueId val="{00000005-FD17-4D4E-B5E1-30C7530B9887}"/>
              </c:ext>
            </c:extLst>
          </c:dPt>
          <c:dPt>
            <c:idx val="3"/>
            <c:bubble3D val="0"/>
            <c:spPr>
              <a:solidFill>
                <a:schemeClr val="bg1">
                  <a:lumMod val="65000"/>
                </a:schemeClr>
              </a:solidFill>
            </c:spPr>
            <c:extLst>
              <c:ext xmlns:c16="http://schemas.microsoft.com/office/drawing/2014/chart" uri="{C3380CC4-5D6E-409C-BE32-E72D297353CC}">
                <c16:uniqueId val="{00000007-FD17-4D4E-B5E1-30C7530B9887}"/>
              </c:ext>
            </c:extLst>
          </c:dPt>
          <c:dPt>
            <c:idx val="4"/>
            <c:bubble3D val="0"/>
            <c:spPr>
              <a:solidFill>
                <a:schemeClr val="bg1">
                  <a:lumMod val="50000"/>
                </a:schemeClr>
              </a:solidFill>
            </c:spPr>
            <c:extLst>
              <c:ext xmlns:c16="http://schemas.microsoft.com/office/drawing/2014/chart" uri="{C3380CC4-5D6E-409C-BE32-E72D297353CC}">
                <c16:uniqueId val="{00000009-FD17-4D4E-B5E1-30C7530B9887}"/>
              </c:ext>
            </c:extLst>
          </c:dPt>
          <c:dPt>
            <c:idx val="5"/>
            <c:bubble3D val="0"/>
            <c:spPr>
              <a:solidFill>
                <a:srgbClr val="DB0613">
                  <a:alpha val="63000"/>
                </a:srgbClr>
              </a:solidFill>
            </c:spPr>
            <c:extLst>
              <c:ext xmlns:c16="http://schemas.microsoft.com/office/drawing/2014/chart" uri="{C3380CC4-5D6E-409C-BE32-E72D297353CC}">
                <c16:uniqueId val="{0000000B-FD17-4D4E-B5E1-30C7530B9887}"/>
              </c:ext>
            </c:extLst>
          </c:dPt>
          <c:dPt>
            <c:idx val="6"/>
            <c:bubble3D val="0"/>
            <c:spPr>
              <a:solidFill>
                <a:schemeClr val="tx1"/>
              </a:solidFill>
            </c:spPr>
            <c:extLst>
              <c:ext xmlns:c16="http://schemas.microsoft.com/office/drawing/2014/chart" uri="{C3380CC4-5D6E-409C-BE32-E72D297353CC}">
                <c16:uniqueId val="{0000000D-FD17-4D4E-B5E1-30C7530B9887}"/>
              </c:ext>
            </c:extLst>
          </c:dPt>
          <c:cat>
            <c:strRef>
              <c:f>Sheet6!$A$4:$A$11</c:f>
              <c:strCache>
                <c:ptCount val="8"/>
                <c:pt idx="0">
                  <c:v>Suscripción</c:v>
                </c:pt>
                <c:pt idx="1">
                  <c:v>Emisión y endoso</c:v>
                </c:pt>
                <c:pt idx="2">
                  <c:v>Desarrollo de productos</c:v>
                </c:pt>
                <c:pt idx="3">
                  <c:v>Impresión y despacho</c:v>
                </c:pt>
                <c:pt idx="4">
                  <c:v>Gestión de siniestros</c:v>
                </c:pt>
                <c:pt idx="5">
                  <c:v>Venta</c:v>
                </c:pt>
                <c:pt idx="6">
                  <c:v>Renovación y ajustes</c:v>
                </c:pt>
                <c:pt idx="7">
                  <c:v>Prospección</c:v>
                </c:pt>
              </c:strCache>
            </c:strRef>
          </c:cat>
          <c:val>
            <c:numRef>
              <c:f>Sheet6!$C$4:$C$11</c:f>
              <c:numCache>
                <c:formatCode>_(* #,##0.00_);_(* \(#,##0.00\);_(* "-"??_);_(@_)</c:formatCode>
                <c:ptCount val="8"/>
                <c:pt idx="0">
                  <c:v>17776.102999999999</c:v>
                </c:pt>
                <c:pt idx="1">
                  <c:v>1925.0574999999999</c:v>
                </c:pt>
                <c:pt idx="2">
                  <c:v>977.15</c:v>
                </c:pt>
                <c:pt idx="3">
                  <c:v>1964</c:v>
                </c:pt>
                <c:pt idx="4">
                  <c:v>1095.4806666666668</c:v>
                </c:pt>
                <c:pt idx="5">
                  <c:v>331.8535</c:v>
                </c:pt>
                <c:pt idx="6">
                  <c:v>102.8</c:v>
                </c:pt>
                <c:pt idx="7">
                  <c:v>17.309999999999999</c:v>
                </c:pt>
              </c:numCache>
            </c:numRef>
          </c:val>
          <c:extLst>
            <c:ext xmlns:c16="http://schemas.microsoft.com/office/drawing/2014/chart" uri="{C3380CC4-5D6E-409C-BE32-E72D297353CC}">
              <c16:uniqueId val="{0000000E-FD17-4D4E-B5E1-30C7530B9887}"/>
            </c:ext>
          </c:extLst>
        </c:ser>
        <c:ser>
          <c:idx val="0"/>
          <c:order val="0"/>
          <c:cat>
            <c:strRef>
              <c:f>Sheet6!$A$4:$A$11</c:f>
              <c:strCache>
                <c:ptCount val="8"/>
                <c:pt idx="0">
                  <c:v>Suscripción</c:v>
                </c:pt>
                <c:pt idx="1">
                  <c:v>Emisión y endoso</c:v>
                </c:pt>
                <c:pt idx="2">
                  <c:v>Desarrollo de productos</c:v>
                </c:pt>
                <c:pt idx="3">
                  <c:v>Impresión y despacho</c:v>
                </c:pt>
                <c:pt idx="4">
                  <c:v>Gestión de siniestros</c:v>
                </c:pt>
                <c:pt idx="5">
                  <c:v>Venta</c:v>
                </c:pt>
                <c:pt idx="6">
                  <c:v>Renovación y ajustes</c:v>
                </c:pt>
                <c:pt idx="7">
                  <c:v>Prospección</c:v>
                </c:pt>
              </c:strCache>
            </c:strRef>
          </c:cat>
          <c:val>
            <c:numRef>
              <c:f>Sheet6!$B$4:$B$11</c:f>
            </c:numRef>
          </c:val>
          <c:extLst>
            <c:ext xmlns:c16="http://schemas.microsoft.com/office/drawing/2014/chart" uri="{C3380CC4-5D6E-409C-BE32-E72D297353CC}">
              <c16:uniqueId val="{0000000F-FD17-4D4E-B5E1-30C7530B9887}"/>
            </c:ext>
          </c:extLst>
        </c:ser>
        <c:dLbls>
          <c:showLegendKey val="0"/>
          <c:showVal val="0"/>
          <c:showCatName val="0"/>
          <c:showSerName val="0"/>
          <c:showPercent val="0"/>
          <c:showBubbleSize val="0"/>
          <c:showLeaderLines val="1"/>
        </c:dLbls>
      </c:pie3DChart>
    </c:plotArea>
    <c:legend>
      <c:legendPos val="r"/>
      <c:layout>
        <c:manualLayout>
          <c:xMode val="edge"/>
          <c:yMode val="edge"/>
          <c:x val="0.62741513957622397"/>
          <c:y val="0"/>
          <c:w val="0.35362941964012523"/>
          <c:h val="0.95190830522940262"/>
        </c:manualLayout>
      </c:layout>
      <c:overlay val="0"/>
    </c:legend>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pie3DChart>
        <c:varyColors val="1"/>
        <c:ser>
          <c:idx val="1"/>
          <c:order val="1"/>
          <c:dPt>
            <c:idx val="0"/>
            <c:bubble3D val="0"/>
            <c:spPr>
              <a:solidFill>
                <a:srgbClr val="DB0613">
                  <a:alpha val="91000"/>
                </a:srgbClr>
              </a:solidFill>
            </c:spPr>
            <c:extLst>
              <c:ext xmlns:c16="http://schemas.microsoft.com/office/drawing/2014/chart" uri="{C3380CC4-5D6E-409C-BE32-E72D297353CC}">
                <c16:uniqueId val="{00000001-EEE5-C549-86C8-BB896406254B}"/>
              </c:ext>
            </c:extLst>
          </c:dPt>
          <c:dPt>
            <c:idx val="1"/>
            <c:bubble3D val="0"/>
            <c:spPr>
              <a:solidFill>
                <a:schemeClr val="bg1">
                  <a:lumMod val="95000"/>
                </a:schemeClr>
              </a:solidFill>
            </c:spPr>
            <c:extLst>
              <c:ext xmlns:c16="http://schemas.microsoft.com/office/drawing/2014/chart" uri="{C3380CC4-5D6E-409C-BE32-E72D297353CC}">
                <c16:uniqueId val="{00000003-EEE5-C549-86C8-BB896406254B}"/>
              </c:ext>
            </c:extLst>
          </c:dPt>
          <c:dPt>
            <c:idx val="2"/>
            <c:bubble3D val="0"/>
            <c:spPr>
              <a:solidFill>
                <a:schemeClr val="bg1">
                  <a:lumMod val="85000"/>
                </a:schemeClr>
              </a:solidFill>
            </c:spPr>
            <c:extLst>
              <c:ext xmlns:c16="http://schemas.microsoft.com/office/drawing/2014/chart" uri="{C3380CC4-5D6E-409C-BE32-E72D297353CC}">
                <c16:uniqueId val="{00000005-EEE5-C549-86C8-BB896406254B}"/>
              </c:ext>
            </c:extLst>
          </c:dPt>
          <c:dPt>
            <c:idx val="3"/>
            <c:bubble3D val="0"/>
            <c:spPr>
              <a:solidFill>
                <a:schemeClr val="bg1">
                  <a:lumMod val="65000"/>
                </a:schemeClr>
              </a:solidFill>
            </c:spPr>
            <c:extLst>
              <c:ext xmlns:c16="http://schemas.microsoft.com/office/drawing/2014/chart" uri="{C3380CC4-5D6E-409C-BE32-E72D297353CC}">
                <c16:uniqueId val="{00000007-EEE5-C549-86C8-BB896406254B}"/>
              </c:ext>
            </c:extLst>
          </c:dPt>
          <c:dPt>
            <c:idx val="4"/>
            <c:bubble3D val="0"/>
            <c:spPr>
              <a:solidFill>
                <a:schemeClr val="bg1">
                  <a:lumMod val="50000"/>
                </a:schemeClr>
              </a:solidFill>
            </c:spPr>
            <c:extLst>
              <c:ext xmlns:c16="http://schemas.microsoft.com/office/drawing/2014/chart" uri="{C3380CC4-5D6E-409C-BE32-E72D297353CC}">
                <c16:uniqueId val="{00000009-EEE5-C549-86C8-BB896406254B}"/>
              </c:ext>
            </c:extLst>
          </c:dPt>
          <c:dPt>
            <c:idx val="5"/>
            <c:bubble3D val="0"/>
            <c:spPr>
              <a:solidFill>
                <a:srgbClr val="DB0613">
                  <a:alpha val="63000"/>
                </a:srgbClr>
              </a:solidFill>
            </c:spPr>
            <c:extLst>
              <c:ext xmlns:c16="http://schemas.microsoft.com/office/drawing/2014/chart" uri="{C3380CC4-5D6E-409C-BE32-E72D297353CC}">
                <c16:uniqueId val="{0000000B-EEE5-C549-86C8-BB896406254B}"/>
              </c:ext>
            </c:extLst>
          </c:dPt>
          <c:dPt>
            <c:idx val="6"/>
            <c:bubble3D val="0"/>
            <c:spPr>
              <a:solidFill>
                <a:schemeClr val="tx1"/>
              </a:solidFill>
            </c:spPr>
            <c:extLst>
              <c:ext xmlns:c16="http://schemas.microsoft.com/office/drawing/2014/chart" uri="{C3380CC4-5D6E-409C-BE32-E72D297353CC}">
                <c16:uniqueId val="{0000000D-EEE5-C549-86C8-BB896406254B}"/>
              </c:ext>
            </c:extLst>
          </c:dPt>
          <c:cat>
            <c:strRef>
              <c:f>Sheet6!$A$4:$A$11</c:f>
              <c:strCache>
                <c:ptCount val="8"/>
                <c:pt idx="0">
                  <c:v>Suscripción</c:v>
                </c:pt>
                <c:pt idx="1">
                  <c:v>Emisión y endoso</c:v>
                </c:pt>
                <c:pt idx="2">
                  <c:v>Desarrollo de productos</c:v>
                </c:pt>
                <c:pt idx="3">
                  <c:v>Impresión y despacho</c:v>
                </c:pt>
                <c:pt idx="4">
                  <c:v>Gestión de siniestros</c:v>
                </c:pt>
                <c:pt idx="5">
                  <c:v>Venta</c:v>
                </c:pt>
                <c:pt idx="6">
                  <c:v>Renovación y ajustes</c:v>
                </c:pt>
                <c:pt idx="7">
                  <c:v>Prospección</c:v>
                </c:pt>
              </c:strCache>
            </c:strRef>
          </c:cat>
          <c:val>
            <c:numRef>
              <c:f>Sheet6!$E$4:$E$11</c:f>
              <c:numCache>
                <c:formatCode>General</c:formatCode>
                <c:ptCount val="8"/>
                <c:pt idx="0">
                  <c:v>38305449</c:v>
                </c:pt>
                <c:pt idx="1">
                  <c:v>10908491</c:v>
                </c:pt>
                <c:pt idx="2">
                  <c:v>4001213</c:v>
                </c:pt>
                <c:pt idx="3">
                  <c:v>3852844</c:v>
                </c:pt>
                <c:pt idx="4">
                  <c:v>2685671</c:v>
                </c:pt>
                <c:pt idx="5">
                  <c:v>815166</c:v>
                </c:pt>
                <c:pt idx="6">
                  <c:v>368486</c:v>
                </c:pt>
                <c:pt idx="7">
                  <c:v>366144</c:v>
                </c:pt>
              </c:numCache>
            </c:numRef>
          </c:val>
          <c:extLst>
            <c:ext xmlns:c16="http://schemas.microsoft.com/office/drawing/2014/chart" uri="{C3380CC4-5D6E-409C-BE32-E72D297353CC}">
              <c16:uniqueId val="{0000000E-EEE5-C549-86C8-BB896406254B}"/>
            </c:ext>
          </c:extLst>
        </c:ser>
        <c:ser>
          <c:idx val="0"/>
          <c:order val="0"/>
          <c:cat>
            <c:strRef>
              <c:f>Sheet6!$A$4:$A$11</c:f>
              <c:strCache>
                <c:ptCount val="8"/>
                <c:pt idx="0">
                  <c:v>Suscripción</c:v>
                </c:pt>
                <c:pt idx="1">
                  <c:v>Emisión y endoso</c:v>
                </c:pt>
                <c:pt idx="2">
                  <c:v>Desarrollo de productos</c:v>
                </c:pt>
                <c:pt idx="3">
                  <c:v>Impresión y despacho</c:v>
                </c:pt>
                <c:pt idx="4">
                  <c:v>Gestión de siniestros</c:v>
                </c:pt>
                <c:pt idx="5">
                  <c:v>Venta</c:v>
                </c:pt>
                <c:pt idx="6">
                  <c:v>Renovación y ajustes</c:v>
                </c:pt>
                <c:pt idx="7">
                  <c:v>Prospección</c:v>
                </c:pt>
              </c:strCache>
            </c:strRef>
          </c:cat>
          <c:val>
            <c:numRef>
              <c:f>Sheet6!$B$4:$B$11</c:f>
            </c:numRef>
          </c:val>
          <c:extLst>
            <c:ext xmlns:c16="http://schemas.microsoft.com/office/drawing/2014/chart" uri="{C3380CC4-5D6E-409C-BE32-E72D297353CC}">
              <c16:uniqueId val="{0000000F-EEE5-C549-86C8-BB896406254B}"/>
            </c:ext>
          </c:extLst>
        </c:ser>
        <c:dLbls>
          <c:showLegendKey val="0"/>
          <c:showVal val="0"/>
          <c:showCatName val="0"/>
          <c:showSerName val="0"/>
          <c:showPercent val="0"/>
          <c:showBubbleSize val="0"/>
          <c:showLeaderLines val="1"/>
        </c:dLbls>
      </c:pie3DChart>
    </c:plotArea>
    <c:legend>
      <c:legendPos val="r"/>
      <c:layout>
        <c:manualLayout>
          <c:xMode val="edge"/>
          <c:yMode val="edge"/>
          <c:x val="0.61520301953849044"/>
          <c:y val="2.5283040653934895E-2"/>
          <c:w val="0.38479698046150956"/>
          <c:h val="0.90614608658884643"/>
        </c:manualLayout>
      </c:layout>
      <c:overlay val="0"/>
    </c:legend>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pie3DChart>
        <c:varyColors val="1"/>
        <c:ser>
          <c:idx val="0"/>
          <c:order val="0"/>
          <c:dPt>
            <c:idx val="0"/>
            <c:bubble3D val="0"/>
            <c:spPr>
              <a:solidFill>
                <a:srgbClr val="DB0613">
                  <a:alpha val="90000"/>
                </a:srgbClr>
              </a:solidFill>
            </c:spPr>
            <c:extLst>
              <c:ext xmlns:c16="http://schemas.microsoft.com/office/drawing/2014/chart" uri="{C3380CC4-5D6E-409C-BE32-E72D297353CC}">
                <c16:uniqueId val="{00000001-AE45-7840-95F4-A0E1C0B524F4}"/>
              </c:ext>
            </c:extLst>
          </c:dPt>
          <c:dPt>
            <c:idx val="1"/>
            <c:bubble3D val="0"/>
            <c:spPr>
              <a:solidFill>
                <a:schemeClr val="bg1">
                  <a:lumMod val="65000"/>
                </a:schemeClr>
              </a:solidFill>
            </c:spPr>
            <c:extLst>
              <c:ext xmlns:c16="http://schemas.microsoft.com/office/drawing/2014/chart" uri="{C3380CC4-5D6E-409C-BE32-E72D297353CC}">
                <c16:uniqueId val="{00000003-AE45-7840-95F4-A0E1C0B524F4}"/>
              </c:ext>
            </c:extLst>
          </c:dPt>
          <c:dPt>
            <c:idx val="2"/>
            <c:bubble3D val="0"/>
            <c:spPr>
              <a:solidFill>
                <a:schemeClr val="bg1">
                  <a:lumMod val="85000"/>
                </a:schemeClr>
              </a:solidFill>
            </c:spPr>
            <c:extLst>
              <c:ext xmlns:c16="http://schemas.microsoft.com/office/drawing/2014/chart" uri="{C3380CC4-5D6E-409C-BE32-E72D297353CC}">
                <c16:uniqueId val="{00000005-AE45-7840-95F4-A0E1C0B524F4}"/>
              </c:ext>
            </c:extLst>
          </c:dPt>
          <c:dPt>
            <c:idx val="4"/>
            <c:bubble3D val="0"/>
            <c:spPr>
              <a:solidFill>
                <a:schemeClr val="bg1">
                  <a:lumMod val="50000"/>
                </a:schemeClr>
              </a:solidFill>
            </c:spPr>
            <c:extLst>
              <c:ext xmlns:c16="http://schemas.microsoft.com/office/drawing/2014/chart" uri="{C3380CC4-5D6E-409C-BE32-E72D297353CC}">
                <c16:uniqueId val="{00000007-AE45-7840-95F4-A0E1C0B524F4}"/>
              </c:ext>
            </c:extLst>
          </c:dPt>
          <c:dPt>
            <c:idx val="5"/>
            <c:bubble3D val="0"/>
            <c:spPr>
              <a:solidFill>
                <a:schemeClr val="bg1">
                  <a:lumMod val="50000"/>
                </a:schemeClr>
              </a:solidFill>
            </c:spPr>
            <c:extLst>
              <c:ext xmlns:c16="http://schemas.microsoft.com/office/drawing/2014/chart" uri="{C3380CC4-5D6E-409C-BE32-E72D297353CC}">
                <c16:uniqueId val="{00000009-AE45-7840-95F4-A0E1C0B524F4}"/>
              </c:ext>
            </c:extLst>
          </c:dPt>
          <c:dPt>
            <c:idx val="6"/>
            <c:bubble3D val="0"/>
            <c:spPr>
              <a:solidFill>
                <a:schemeClr val="bg1">
                  <a:lumMod val="95000"/>
                </a:schemeClr>
              </a:solidFill>
            </c:spPr>
            <c:extLst>
              <c:ext xmlns:c16="http://schemas.microsoft.com/office/drawing/2014/chart" uri="{C3380CC4-5D6E-409C-BE32-E72D297353CC}">
                <c16:uniqueId val="{0000000B-AE45-7840-95F4-A0E1C0B524F4}"/>
              </c:ext>
            </c:extLst>
          </c:dPt>
          <c:dPt>
            <c:idx val="7"/>
            <c:bubble3D val="0"/>
            <c:spPr>
              <a:solidFill>
                <a:schemeClr val="tx1"/>
              </a:solidFill>
            </c:spPr>
            <c:extLst>
              <c:ext xmlns:c16="http://schemas.microsoft.com/office/drawing/2014/chart" uri="{C3380CC4-5D6E-409C-BE32-E72D297353CC}">
                <c16:uniqueId val="{0000000D-AE45-7840-95F4-A0E1C0B524F4}"/>
              </c:ext>
            </c:extLst>
          </c:dPt>
          <c:cat>
            <c:strRef>
              <c:f>Sheet7!$A$5:$A$12</c:f>
              <c:strCache>
                <c:ptCount val="8"/>
                <c:pt idx="0">
                  <c:v>Riesgos laborales</c:v>
                </c:pt>
                <c:pt idx="1">
                  <c:v>Vida</c:v>
                </c:pt>
                <c:pt idx="2">
                  <c:v>Salud</c:v>
                </c:pt>
                <c:pt idx="3">
                  <c:v>Cascos, transportes y aviación</c:v>
                </c:pt>
                <c:pt idx="4">
                  <c:v>Vehicular</c:v>
                </c:pt>
                <c:pt idx="5">
                  <c:v>Riesgos generales</c:v>
                </c:pt>
                <c:pt idx="6">
                  <c:v>SOAT</c:v>
                </c:pt>
                <c:pt idx="7">
                  <c:v>RRVV y Previsionales</c:v>
                </c:pt>
              </c:strCache>
            </c:strRef>
          </c:cat>
          <c:val>
            <c:numRef>
              <c:f>Sheet7!$B$5:$B$12</c:f>
              <c:numCache>
                <c:formatCode>General</c:formatCode>
                <c:ptCount val="8"/>
                <c:pt idx="0">
                  <c:v>16037655.666666666</c:v>
                </c:pt>
                <c:pt idx="1">
                  <c:v>3919681.5</c:v>
                </c:pt>
                <c:pt idx="2">
                  <c:v>2739285</c:v>
                </c:pt>
                <c:pt idx="3">
                  <c:v>25125</c:v>
                </c:pt>
                <c:pt idx="4">
                  <c:v>858847.5</c:v>
                </c:pt>
                <c:pt idx="5">
                  <c:v>346200</c:v>
                </c:pt>
                <c:pt idx="6">
                  <c:v>209650</c:v>
                </c:pt>
                <c:pt idx="7">
                  <c:v>53310</c:v>
                </c:pt>
              </c:numCache>
            </c:numRef>
          </c:val>
          <c:extLst>
            <c:ext xmlns:c16="http://schemas.microsoft.com/office/drawing/2014/chart" uri="{C3380CC4-5D6E-409C-BE32-E72D297353CC}">
              <c16:uniqueId val="{0000000E-AE45-7840-95F4-A0E1C0B524F4}"/>
            </c:ext>
          </c:extLst>
        </c:ser>
        <c:dLbls>
          <c:showLegendKey val="0"/>
          <c:showVal val="0"/>
          <c:showCatName val="0"/>
          <c:showSerName val="0"/>
          <c:showPercent val="0"/>
          <c:showBubbleSize val="0"/>
          <c:showLeaderLines val="1"/>
        </c:dLbls>
      </c:pie3DChart>
    </c:plotArea>
    <c:legend>
      <c:legendPos val="r"/>
      <c:layout>
        <c:manualLayout>
          <c:xMode val="edge"/>
          <c:yMode val="edge"/>
          <c:x val="0.65811101527015592"/>
          <c:y val="0"/>
          <c:w val="0.32978777382265106"/>
          <c:h val="0.95333333877709669"/>
        </c:manualLayout>
      </c:layout>
      <c:overlay val="0"/>
      <c:txPr>
        <a:bodyPr/>
        <a:lstStyle/>
        <a:p>
          <a:pPr>
            <a:defRPr sz="900"/>
          </a:pPr>
          <a:endParaRPr lang="es-ES"/>
        </a:p>
      </c:txPr>
    </c:legend>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pie3DChart>
        <c:varyColors val="1"/>
        <c:ser>
          <c:idx val="0"/>
          <c:order val="0"/>
          <c:dPt>
            <c:idx val="0"/>
            <c:bubble3D val="0"/>
            <c:spPr>
              <a:solidFill>
                <a:srgbClr val="DB0613">
                  <a:alpha val="90000"/>
                </a:srgbClr>
              </a:solidFill>
            </c:spPr>
            <c:extLst>
              <c:ext xmlns:c16="http://schemas.microsoft.com/office/drawing/2014/chart" uri="{C3380CC4-5D6E-409C-BE32-E72D297353CC}">
                <c16:uniqueId val="{00000001-008D-E945-A53F-AB245C68E1E9}"/>
              </c:ext>
            </c:extLst>
          </c:dPt>
          <c:dPt>
            <c:idx val="1"/>
            <c:bubble3D val="0"/>
            <c:spPr>
              <a:solidFill>
                <a:schemeClr val="bg1">
                  <a:lumMod val="50000"/>
                  <a:alpha val="95000"/>
                </a:schemeClr>
              </a:solidFill>
            </c:spPr>
            <c:extLst>
              <c:ext xmlns:c16="http://schemas.microsoft.com/office/drawing/2014/chart" uri="{C3380CC4-5D6E-409C-BE32-E72D297353CC}">
                <c16:uniqueId val="{00000003-008D-E945-A53F-AB245C68E1E9}"/>
              </c:ext>
            </c:extLst>
          </c:dPt>
          <c:dPt>
            <c:idx val="2"/>
            <c:bubble3D val="0"/>
            <c:spPr>
              <a:solidFill>
                <a:schemeClr val="bg1">
                  <a:lumMod val="85000"/>
                </a:schemeClr>
              </a:solidFill>
            </c:spPr>
            <c:extLst>
              <c:ext xmlns:c16="http://schemas.microsoft.com/office/drawing/2014/chart" uri="{C3380CC4-5D6E-409C-BE32-E72D297353CC}">
                <c16:uniqueId val="{00000005-008D-E945-A53F-AB245C68E1E9}"/>
              </c:ext>
            </c:extLst>
          </c:dPt>
          <c:dPt>
            <c:idx val="3"/>
            <c:bubble3D val="0"/>
            <c:spPr>
              <a:solidFill>
                <a:schemeClr val="bg1">
                  <a:lumMod val="65000"/>
                </a:schemeClr>
              </a:solidFill>
            </c:spPr>
            <c:extLst>
              <c:ext xmlns:c16="http://schemas.microsoft.com/office/drawing/2014/chart" uri="{C3380CC4-5D6E-409C-BE32-E72D297353CC}">
                <c16:uniqueId val="{00000007-008D-E945-A53F-AB245C68E1E9}"/>
              </c:ext>
            </c:extLst>
          </c:dPt>
          <c:dPt>
            <c:idx val="4"/>
            <c:bubble3D val="0"/>
            <c:spPr>
              <a:solidFill>
                <a:schemeClr val="bg1">
                  <a:lumMod val="50000"/>
                </a:schemeClr>
              </a:solidFill>
            </c:spPr>
            <c:extLst>
              <c:ext xmlns:c16="http://schemas.microsoft.com/office/drawing/2014/chart" uri="{C3380CC4-5D6E-409C-BE32-E72D297353CC}">
                <c16:uniqueId val="{00000009-008D-E945-A53F-AB245C68E1E9}"/>
              </c:ext>
            </c:extLst>
          </c:dPt>
          <c:dPt>
            <c:idx val="5"/>
            <c:bubble3D val="0"/>
            <c:spPr>
              <a:solidFill>
                <a:schemeClr val="bg1">
                  <a:lumMod val="50000"/>
                </a:schemeClr>
              </a:solidFill>
            </c:spPr>
            <c:extLst>
              <c:ext xmlns:c16="http://schemas.microsoft.com/office/drawing/2014/chart" uri="{C3380CC4-5D6E-409C-BE32-E72D297353CC}">
                <c16:uniqueId val="{0000000B-008D-E945-A53F-AB245C68E1E9}"/>
              </c:ext>
            </c:extLst>
          </c:dPt>
          <c:dPt>
            <c:idx val="6"/>
            <c:bubble3D val="0"/>
            <c:spPr>
              <a:solidFill>
                <a:schemeClr val="bg1">
                  <a:lumMod val="95000"/>
                </a:schemeClr>
              </a:solidFill>
            </c:spPr>
            <c:extLst>
              <c:ext xmlns:c16="http://schemas.microsoft.com/office/drawing/2014/chart" uri="{C3380CC4-5D6E-409C-BE32-E72D297353CC}">
                <c16:uniqueId val="{0000000D-008D-E945-A53F-AB245C68E1E9}"/>
              </c:ext>
            </c:extLst>
          </c:dPt>
          <c:dPt>
            <c:idx val="7"/>
            <c:bubble3D val="0"/>
            <c:spPr>
              <a:solidFill>
                <a:schemeClr val="tx1"/>
              </a:solidFill>
            </c:spPr>
            <c:extLst>
              <c:ext xmlns:c16="http://schemas.microsoft.com/office/drawing/2014/chart" uri="{C3380CC4-5D6E-409C-BE32-E72D297353CC}">
                <c16:uniqueId val="{0000000F-008D-E945-A53F-AB245C68E1E9}"/>
              </c:ext>
            </c:extLst>
          </c:dPt>
          <c:cat>
            <c:strRef>
              <c:f>Sheet7!$A$5:$A$12</c:f>
              <c:strCache>
                <c:ptCount val="8"/>
                <c:pt idx="0">
                  <c:v>Riesgos laborales</c:v>
                </c:pt>
                <c:pt idx="1">
                  <c:v>Vida</c:v>
                </c:pt>
                <c:pt idx="2">
                  <c:v>Salud</c:v>
                </c:pt>
                <c:pt idx="3">
                  <c:v>Cascos, transportes y aviación</c:v>
                </c:pt>
                <c:pt idx="4">
                  <c:v>Vehicular</c:v>
                </c:pt>
                <c:pt idx="5">
                  <c:v>Riesgos generales</c:v>
                </c:pt>
                <c:pt idx="6">
                  <c:v>SOAT</c:v>
                </c:pt>
                <c:pt idx="7">
                  <c:v>RRVV y Previsionales</c:v>
                </c:pt>
              </c:strCache>
            </c:strRef>
          </c:cat>
          <c:val>
            <c:numRef>
              <c:f>Sheet7!$E$5:$E$12</c:f>
              <c:numCache>
                <c:formatCode>General</c:formatCode>
                <c:ptCount val="8"/>
                <c:pt idx="0">
                  <c:v>31065367</c:v>
                </c:pt>
                <c:pt idx="1">
                  <c:v>11063467</c:v>
                </c:pt>
                <c:pt idx="2">
                  <c:v>8612103</c:v>
                </c:pt>
                <c:pt idx="3">
                  <c:v>4335061</c:v>
                </c:pt>
                <c:pt idx="4">
                  <c:v>2939924</c:v>
                </c:pt>
                <c:pt idx="5">
                  <c:v>2277887</c:v>
                </c:pt>
                <c:pt idx="6">
                  <c:v>579723</c:v>
                </c:pt>
                <c:pt idx="7">
                  <c:v>429932</c:v>
                </c:pt>
              </c:numCache>
            </c:numRef>
          </c:val>
          <c:extLst>
            <c:ext xmlns:c16="http://schemas.microsoft.com/office/drawing/2014/chart" uri="{C3380CC4-5D6E-409C-BE32-E72D297353CC}">
              <c16:uniqueId val="{00000010-008D-E945-A53F-AB245C68E1E9}"/>
            </c:ext>
          </c:extLst>
        </c:ser>
        <c:dLbls>
          <c:showLegendKey val="0"/>
          <c:showVal val="0"/>
          <c:showCatName val="0"/>
          <c:showSerName val="0"/>
          <c:showPercent val="0"/>
          <c:showBubbleSize val="0"/>
          <c:showLeaderLines val="1"/>
        </c:dLbls>
      </c:pie3DChart>
    </c:plotArea>
    <c:legend>
      <c:legendPos val="r"/>
      <c:layout>
        <c:manualLayout>
          <c:xMode val="edge"/>
          <c:yMode val="edge"/>
          <c:x val="0.68334032866228345"/>
          <c:y val="2.7045812400392208E-2"/>
          <c:w val="0.31123537727355011"/>
          <c:h val="0.97295418759960783"/>
        </c:manualLayout>
      </c:layout>
      <c:overlay val="0"/>
      <c:txPr>
        <a:bodyPr/>
        <a:lstStyle/>
        <a:p>
          <a:pPr>
            <a:defRPr sz="900"/>
          </a:pPr>
          <a:endParaRPr lang="es-ES"/>
        </a:p>
      </c:txPr>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574E7CA-7025-4722-AEA2-5062CAAE379C}" type="datetimeFigureOut">
              <a:rPr lang="es-ES" smtClean="0"/>
              <a:pPr/>
              <a:t>20/10/26</a:t>
            </a:fld>
            <a:endParaRPr lang="es-ES"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FE9421-A088-4467-8266-320FFCC20BD7}" type="slidenum">
              <a:rPr lang="es-ES" smtClean="0"/>
              <a:pPr/>
              <a:t>‹Nº›</a:t>
            </a:fld>
            <a:endParaRPr lang="es-ES" dirty="0"/>
          </a:p>
        </p:txBody>
      </p:sp>
    </p:spTree>
    <p:extLst>
      <p:ext uri="{BB962C8B-B14F-4D97-AF65-F5344CB8AC3E}">
        <p14:creationId xmlns:p14="http://schemas.microsoft.com/office/powerpoint/2010/main" val="3541621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PE"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DED5BA-F185-488B-B903-E2666433E509}" type="datetimeFigureOut">
              <a:rPr lang="es-PE" smtClean="0"/>
              <a:pPr/>
              <a:t>20/10/26</a:t>
            </a:fld>
            <a:endParaRPr lang="es-PE"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PE"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PE"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1F72D5-8D82-468F-8E33-30437B81EF30}" type="slidenum">
              <a:rPr lang="es-PE" smtClean="0"/>
              <a:pPr/>
              <a:t>‹Nº›</a:t>
            </a:fld>
            <a:endParaRPr lang="es-PE" dirty="0"/>
          </a:p>
        </p:txBody>
      </p:sp>
    </p:spTree>
    <p:extLst>
      <p:ext uri="{BB962C8B-B14F-4D97-AF65-F5344CB8AC3E}">
        <p14:creationId xmlns:p14="http://schemas.microsoft.com/office/powerpoint/2010/main" val="264918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702EBE67-CFE9-4DBC-B767-833C8740EB41}" type="slidenum">
              <a:rPr lang="es-ES" smtClean="0"/>
              <a:pPr/>
              <a:t>4</a:t>
            </a:fld>
            <a:endParaRPr lang="es-ES"/>
          </a:p>
        </p:txBody>
      </p:sp>
    </p:spTree>
    <p:extLst>
      <p:ext uri="{BB962C8B-B14F-4D97-AF65-F5344CB8AC3E}">
        <p14:creationId xmlns:p14="http://schemas.microsoft.com/office/powerpoint/2010/main" val="3419145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D91F72D5-8D82-468F-8E33-30437B81EF30}" type="slidenum">
              <a:rPr lang="es-PE" smtClean="0"/>
              <a:pPr/>
              <a:t>11</a:t>
            </a:fld>
            <a:endParaRPr lang="es-PE" dirty="0"/>
          </a:p>
        </p:txBody>
      </p:sp>
    </p:spTree>
    <p:extLst>
      <p:ext uri="{BB962C8B-B14F-4D97-AF65-F5344CB8AC3E}">
        <p14:creationId xmlns:p14="http://schemas.microsoft.com/office/powerpoint/2010/main" val="903367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D91F72D5-8D82-468F-8E33-30437B81EF30}" type="slidenum">
              <a:rPr lang="es-PE" smtClean="0"/>
              <a:pPr/>
              <a:t>13</a:t>
            </a:fld>
            <a:endParaRPr lang="es-PE" dirty="0"/>
          </a:p>
        </p:txBody>
      </p:sp>
    </p:spTree>
    <p:extLst>
      <p:ext uri="{BB962C8B-B14F-4D97-AF65-F5344CB8AC3E}">
        <p14:creationId xmlns:p14="http://schemas.microsoft.com/office/powerpoint/2010/main" val="27132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D91F72D5-8D82-468F-8E33-30437B81EF30}" type="slidenum">
              <a:rPr lang="es-PE" smtClean="0"/>
              <a:pPr/>
              <a:t>21</a:t>
            </a:fld>
            <a:endParaRPr lang="es-PE" dirty="0"/>
          </a:p>
        </p:txBody>
      </p:sp>
    </p:spTree>
    <p:extLst>
      <p:ext uri="{BB962C8B-B14F-4D97-AF65-F5344CB8AC3E}">
        <p14:creationId xmlns:p14="http://schemas.microsoft.com/office/powerpoint/2010/main" val="15563431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6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1864"/>
            <a:ext cx="9144000" cy="6854270"/>
          </a:xfrm>
          <a:prstGeom prst="rect">
            <a:avLst/>
          </a:prstGeom>
        </p:spPr>
      </p:pic>
      <p:sp>
        <p:nvSpPr>
          <p:cNvPr id="2" name="1 Título"/>
          <p:cNvSpPr>
            <a:spLocks noGrp="1"/>
          </p:cNvSpPr>
          <p:nvPr>
            <p:ph type="ctrTitle" hasCustomPrompt="1"/>
          </p:nvPr>
        </p:nvSpPr>
        <p:spPr>
          <a:xfrm>
            <a:off x="323528" y="2751063"/>
            <a:ext cx="8424936" cy="605929"/>
          </a:xfrm>
        </p:spPr>
        <p:txBody>
          <a:bodyPr>
            <a:normAutofit/>
          </a:bodyPr>
          <a:lstStyle>
            <a:lvl1pPr algn="r">
              <a:defRPr sz="3200" b="1">
                <a:latin typeface="Arial" pitchFamily="34" charset="0"/>
                <a:cs typeface="Arial" pitchFamily="34" charset="0"/>
              </a:defRPr>
            </a:lvl1pPr>
          </a:lstStyle>
          <a:p>
            <a:r>
              <a:rPr lang="es-ES" dirty="0"/>
              <a:t>Haga clic para modificar el estilo del título</a:t>
            </a:r>
            <a:endParaRPr lang="es-PE" dirty="0"/>
          </a:p>
        </p:txBody>
      </p:sp>
      <p:sp>
        <p:nvSpPr>
          <p:cNvPr id="3" name="2 Subtítulo"/>
          <p:cNvSpPr>
            <a:spLocks noGrp="1"/>
          </p:cNvSpPr>
          <p:nvPr>
            <p:ph type="subTitle" idx="1"/>
          </p:nvPr>
        </p:nvSpPr>
        <p:spPr>
          <a:xfrm>
            <a:off x="1043608" y="3501008"/>
            <a:ext cx="7704856" cy="432048"/>
          </a:xfrm>
        </p:spPr>
        <p:txBody>
          <a:bodyPr>
            <a:normAutofit/>
          </a:bodyPr>
          <a:lstStyle>
            <a:lvl1pPr marL="0" indent="0" algn="r">
              <a:buNone/>
              <a:defRPr sz="1800" b="1">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PE" dirty="0"/>
          </a:p>
        </p:txBody>
      </p:sp>
    </p:spTree>
    <p:extLst>
      <p:ext uri="{BB962C8B-B14F-4D97-AF65-F5344CB8AC3E}">
        <p14:creationId xmlns:p14="http://schemas.microsoft.com/office/powerpoint/2010/main" val="444386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8" name="7 Rectángulo"/>
          <p:cNvSpPr/>
          <p:nvPr userDrawn="1"/>
        </p:nvSpPr>
        <p:spPr>
          <a:xfrm>
            <a:off x="-36512" y="-27384"/>
            <a:ext cx="9217024" cy="6912768"/>
          </a:xfrm>
          <a:prstGeom prst="rect">
            <a:avLst/>
          </a:prstGeom>
          <a:solidFill>
            <a:srgbClr val="DB061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 name="1 Título"/>
          <p:cNvSpPr>
            <a:spLocks noGrp="1"/>
          </p:cNvSpPr>
          <p:nvPr>
            <p:ph type="title"/>
          </p:nvPr>
        </p:nvSpPr>
        <p:spPr>
          <a:xfrm>
            <a:off x="3203848" y="3717032"/>
            <a:ext cx="5781328" cy="634082"/>
          </a:xfrm>
        </p:spPr>
        <p:txBody>
          <a:bodyPr>
            <a:noAutofit/>
          </a:bodyPr>
          <a:lstStyle>
            <a:lvl1pPr algn="r">
              <a:defRPr sz="3200" b="0">
                <a:solidFill>
                  <a:schemeClr val="bg1"/>
                </a:solidFill>
                <a:latin typeface="Arial" pitchFamily="34" charset="0"/>
                <a:cs typeface="Arial" pitchFamily="34" charset="0"/>
              </a:defRPr>
            </a:lvl1pPr>
          </a:lstStyle>
          <a:p>
            <a:r>
              <a:rPr lang="es-ES"/>
              <a:t>Haga clic para modificar el estilo de título del patrón</a:t>
            </a:r>
            <a:endParaRPr lang="es-PE" dirty="0"/>
          </a:p>
        </p:txBody>
      </p:sp>
      <p:sp>
        <p:nvSpPr>
          <p:cNvPr id="3" name="2 Marcador de contenido"/>
          <p:cNvSpPr>
            <a:spLocks noGrp="1"/>
          </p:cNvSpPr>
          <p:nvPr>
            <p:ph sz="half" idx="1"/>
          </p:nvPr>
        </p:nvSpPr>
        <p:spPr>
          <a:xfrm>
            <a:off x="4932040" y="4581128"/>
            <a:ext cx="4038600" cy="2116832"/>
          </a:xfrm>
        </p:spPr>
        <p:txBody>
          <a:bodyPr>
            <a:normAutofit/>
          </a:bodyPr>
          <a:lstStyle>
            <a:lvl1pPr marL="185738" indent="-185738">
              <a:defRPr sz="1800">
                <a:solidFill>
                  <a:schemeClr val="bg1"/>
                </a:solidFill>
                <a:latin typeface="Arial" pitchFamily="34" charset="0"/>
                <a:cs typeface="Arial" pitchFamily="34" charset="0"/>
              </a:defRPr>
            </a:lvl1pPr>
            <a:lvl2pPr>
              <a:defRPr sz="1800">
                <a:solidFill>
                  <a:schemeClr val="bg1"/>
                </a:solidFill>
                <a:latin typeface="Arial" pitchFamily="34" charset="0"/>
                <a:cs typeface="Arial" pitchFamily="34" charset="0"/>
              </a:defRPr>
            </a:lvl2pPr>
            <a:lvl3pPr>
              <a:defRPr sz="1800">
                <a:solidFill>
                  <a:schemeClr val="bg1"/>
                </a:solidFill>
                <a:latin typeface="Arial" pitchFamily="34" charset="0"/>
                <a:cs typeface="Arial" pitchFamily="34" charset="0"/>
              </a:defRPr>
            </a:lvl3pPr>
            <a:lvl4pPr>
              <a:defRPr sz="1800">
                <a:solidFill>
                  <a:schemeClr val="bg1"/>
                </a:solidFill>
                <a:latin typeface="Arial" pitchFamily="34" charset="0"/>
                <a:cs typeface="Arial" pitchFamily="34" charset="0"/>
              </a:defRPr>
            </a:lvl4pPr>
            <a:lvl5pPr>
              <a:defRPr sz="180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Tree>
    <p:extLst>
      <p:ext uri="{BB962C8B-B14F-4D97-AF65-F5344CB8AC3E}">
        <p14:creationId xmlns:p14="http://schemas.microsoft.com/office/powerpoint/2010/main" val="4128771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grpSp>
        <p:nvGrpSpPr>
          <p:cNvPr id="7" name="Agrupar 1"/>
          <p:cNvGrpSpPr/>
          <p:nvPr userDrawn="1"/>
        </p:nvGrpSpPr>
        <p:grpSpPr>
          <a:xfrm>
            <a:off x="35496" y="32965"/>
            <a:ext cx="9073006" cy="6780411"/>
            <a:chOff x="35496" y="32965"/>
            <a:chExt cx="9073006" cy="6780411"/>
          </a:xfrm>
        </p:grpSpPr>
        <p:pic>
          <p:nvPicPr>
            <p:cNvPr id="8" name="7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9" name="8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pic>
          <p:nvPicPr>
            <p:cNvPr id="10" name="9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grpSp>
      <p:sp>
        <p:nvSpPr>
          <p:cNvPr id="2" name="1 Título"/>
          <p:cNvSpPr>
            <a:spLocks noGrp="1"/>
          </p:cNvSpPr>
          <p:nvPr>
            <p:ph type="title"/>
          </p:nvPr>
        </p:nvSpPr>
        <p:spPr>
          <a:xfrm>
            <a:off x="47625" y="32965"/>
            <a:ext cx="7620719" cy="587723"/>
          </a:xfrm>
        </p:spPr>
        <p:txBody>
          <a:bodyPr>
            <a:noAutofit/>
          </a:bodyPr>
          <a:lstStyle>
            <a:lvl1pPr algn="l">
              <a:defRPr sz="2000" b="1">
                <a:solidFill>
                  <a:schemeClr val="bg1"/>
                </a:solidFill>
                <a:latin typeface="Arial" pitchFamily="34" charset="0"/>
                <a:cs typeface="Arial" pitchFamily="34" charset="0"/>
              </a:defRPr>
            </a:lvl1pPr>
          </a:lstStyle>
          <a:p>
            <a:r>
              <a:rPr lang="es-ES"/>
              <a:t>Haga clic para modificar el estilo de título del patrón</a:t>
            </a:r>
            <a:endParaRPr lang="es-PE" dirty="0"/>
          </a:p>
        </p:txBody>
      </p:sp>
      <p:sp>
        <p:nvSpPr>
          <p:cNvPr id="3" name="2 Marcador de contenido"/>
          <p:cNvSpPr>
            <a:spLocks noGrp="1"/>
          </p:cNvSpPr>
          <p:nvPr>
            <p:ph idx="1"/>
          </p:nvPr>
        </p:nvSpPr>
        <p:spPr>
          <a:xfrm>
            <a:off x="251520" y="1052736"/>
            <a:ext cx="8568952" cy="5040560"/>
          </a:xfrm>
        </p:spPr>
        <p:txBody>
          <a:bodyPr>
            <a:normAutofit/>
          </a:bodyPr>
          <a:lstStyle>
            <a:lvl1pPr marL="185738" indent="-185738">
              <a:defRPr sz="2000" b="1">
                <a:latin typeface="Arial" pitchFamily="34" charset="0"/>
                <a:cs typeface="Arial" pitchFamily="34" charset="0"/>
              </a:defRPr>
            </a:lvl1pPr>
            <a:lvl2pPr marL="630238" indent="-173038">
              <a:defRPr sz="1800">
                <a:latin typeface="Arial" pitchFamily="34" charset="0"/>
                <a:cs typeface="Arial" pitchFamily="34" charset="0"/>
              </a:defRPr>
            </a:lvl2pPr>
            <a:lvl3pPr marL="1074738" indent="-160338">
              <a:defRPr sz="1600">
                <a:latin typeface="Arial" pitchFamily="34" charset="0"/>
                <a:cs typeface="Arial" pitchFamily="34" charset="0"/>
              </a:defRPr>
            </a:lvl3pPr>
            <a:lvl4pPr marL="1519238" indent="-147638">
              <a:defRPr sz="1400">
                <a:latin typeface="Arial" pitchFamily="34" charset="0"/>
                <a:cs typeface="Arial" pitchFamily="34" charset="0"/>
              </a:defRPr>
            </a:lvl4pPr>
            <a:lvl5pPr marL="1976438" indent="-147638">
              <a:defRPr sz="1400">
                <a:latin typeface="Arial" pitchFamily="34" charset="0"/>
                <a:cs typeface="Arial"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37502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grpSp>
        <p:nvGrpSpPr>
          <p:cNvPr id="6" name="Agrupar 1"/>
          <p:cNvGrpSpPr/>
          <p:nvPr userDrawn="1"/>
        </p:nvGrpSpPr>
        <p:grpSpPr>
          <a:xfrm>
            <a:off x="35496" y="32965"/>
            <a:ext cx="9073006" cy="6780411"/>
            <a:chOff x="35496" y="32965"/>
            <a:chExt cx="9073006" cy="6780411"/>
          </a:xfrm>
        </p:grpSpPr>
        <p:pic>
          <p:nvPicPr>
            <p:cNvPr id="7" name="6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8" name="7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pic>
          <p:nvPicPr>
            <p:cNvPr id="9" name="8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grpSp>
      <p:sp>
        <p:nvSpPr>
          <p:cNvPr id="2" name="1 Título"/>
          <p:cNvSpPr>
            <a:spLocks noGrp="1"/>
          </p:cNvSpPr>
          <p:nvPr>
            <p:ph type="title"/>
          </p:nvPr>
        </p:nvSpPr>
        <p:spPr>
          <a:xfrm>
            <a:off x="47625" y="32965"/>
            <a:ext cx="8217470" cy="587723"/>
          </a:xfrm>
        </p:spPr>
        <p:txBody>
          <a:bodyPr>
            <a:noAutofit/>
          </a:bodyPr>
          <a:lstStyle>
            <a:lvl1pPr algn="l">
              <a:defRPr sz="2000" b="1">
                <a:solidFill>
                  <a:schemeClr val="bg1"/>
                </a:solidFill>
                <a:latin typeface="Arial" pitchFamily="34" charset="0"/>
                <a:cs typeface="Arial" pitchFamily="34" charset="0"/>
              </a:defRPr>
            </a:lvl1pPr>
          </a:lstStyle>
          <a:p>
            <a:r>
              <a:rPr lang="es-ES"/>
              <a:t>Haga clic para modificar el estilo de título del patrón</a:t>
            </a:r>
            <a:endParaRPr lang="es-PE" dirty="0"/>
          </a:p>
        </p:txBody>
      </p:sp>
    </p:spTree>
    <p:extLst>
      <p:ext uri="{BB962C8B-B14F-4D97-AF65-F5344CB8AC3E}">
        <p14:creationId xmlns:p14="http://schemas.microsoft.com/office/powerpoint/2010/main" val="3054908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grpSp>
        <p:nvGrpSpPr>
          <p:cNvPr id="10" name="Agrupar 1"/>
          <p:cNvGrpSpPr/>
          <p:nvPr userDrawn="1"/>
        </p:nvGrpSpPr>
        <p:grpSpPr>
          <a:xfrm>
            <a:off x="35496" y="32965"/>
            <a:ext cx="9073006" cy="6780411"/>
            <a:chOff x="35496" y="32965"/>
            <a:chExt cx="9073006" cy="6780411"/>
          </a:xfrm>
        </p:grpSpPr>
        <p:pic>
          <p:nvPicPr>
            <p:cNvPr id="11" name="10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12" name="11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pic>
          <p:nvPicPr>
            <p:cNvPr id="13" name="8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grpSp>
      <p:sp>
        <p:nvSpPr>
          <p:cNvPr id="2" name="1 Título"/>
          <p:cNvSpPr>
            <a:spLocks noGrp="1"/>
          </p:cNvSpPr>
          <p:nvPr>
            <p:ph type="title"/>
          </p:nvPr>
        </p:nvSpPr>
        <p:spPr>
          <a:xfrm>
            <a:off x="47624" y="32965"/>
            <a:ext cx="8217471" cy="587723"/>
          </a:xfrm>
        </p:spPr>
        <p:txBody>
          <a:bodyPr>
            <a:normAutofit/>
          </a:bodyPr>
          <a:lstStyle>
            <a:lvl1pPr algn="l">
              <a:defRPr sz="2000" b="1">
                <a:solidFill>
                  <a:schemeClr val="bg1"/>
                </a:solidFill>
                <a:latin typeface="Arial" pitchFamily="34" charset="0"/>
                <a:cs typeface="Arial" pitchFamily="34" charset="0"/>
              </a:defRPr>
            </a:lvl1pPr>
          </a:lstStyle>
          <a:p>
            <a:r>
              <a:rPr lang="es-ES"/>
              <a:t>Haga clic para modificar el estilo de título del patrón</a:t>
            </a:r>
            <a:endParaRPr lang="es-PE"/>
          </a:p>
        </p:txBody>
      </p:sp>
      <p:sp>
        <p:nvSpPr>
          <p:cNvPr id="3" name="2 Marcador de texto"/>
          <p:cNvSpPr>
            <a:spLocks noGrp="1"/>
          </p:cNvSpPr>
          <p:nvPr>
            <p:ph type="body" idx="1"/>
          </p:nvPr>
        </p:nvSpPr>
        <p:spPr>
          <a:xfrm>
            <a:off x="323528" y="908720"/>
            <a:ext cx="4163468" cy="639762"/>
          </a:xfrm>
          <a:solidFill>
            <a:srgbClr val="EC2111"/>
          </a:solidFill>
        </p:spPr>
        <p:txBody>
          <a:bodyPr anchor="b">
            <a:noAutofit/>
          </a:bodyPr>
          <a:lstStyle>
            <a:lvl1pPr marL="0" indent="0">
              <a:buNone/>
              <a:defRPr sz="18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323528" y="1700808"/>
            <a:ext cx="4173860" cy="4392488"/>
          </a:xfrm>
        </p:spPr>
        <p:txBody>
          <a:bodyPr>
            <a:normAutofit/>
          </a:bodyPr>
          <a:lstStyle>
            <a:lvl1pPr marL="185738" indent="-185738">
              <a:defRPr sz="2000">
                <a:latin typeface="Arial" pitchFamily="34" charset="0"/>
                <a:cs typeface="Arial" pitchFamily="34" charset="0"/>
              </a:defRPr>
            </a:lvl1pPr>
            <a:lvl2pPr marL="630238" indent="-173038">
              <a:defRPr sz="1800">
                <a:latin typeface="Arial" pitchFamily="34" charset="0"/>
                <a:cs typeface="Arial" pitchFamily="34" charset="0"/>
              </a:defRPr>
            </a:lvl2pPr>
            <a:lvl3pPr marL="1074738" indent="-160338">
              <a:defRPr sz="1600">
                <a:latin typeface="Arial" pitchFamily="34" charset="0"/>
                <a:cs typeface="Arial" pitchFamily="34" charset="0"/>
              </a:defRPr>
            </a:lvl3pPr>
            <a:lvl4pPr marL="1519238" indent="-147638">
              <a:defRPr sz="1400">
                <a:latin typeface="Arial" pitchFamily="34" charset="0"/>
                <a:cs typeface="Arial" pitchFamily="34" charset="0"/>
              </a:defRPr>
            </a:lvl4pPr>
            <a:lvl5pPr marL="1976438" indent="-147638">
              <a:defRPr sz="1400">
                <a:latin typeface="Arial" pitchFamily="34" charset="0"/>
                <a:cs typeface="Arial"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5" name="4 Marcador de texto"/>
          <p:cNvSpPr>
            <a:spLocks noGrp="1"/>
          </p:cNvSpPr>
          <p:nvPr>
            <p:ph type="body" sz="quarter" idx="3"/>
          </p:nvPr>
        </p:nvSpPr>
        <p:spPr>
          <a:xfrm>
            <a:off x="4655369" y="908720"/>
            <a:ext cx="4165103" cy="639762"/>
          </a:xfrm>
          <a:solidFill>
            <a:srgbClr val="EC2111"/>
          </a:solidFill>
        </p:spPr>
        <p:txBody>
          <a:bodyPr anchor="b">
            <a:noAutofit/>
          </a:bodyPr>
          <a:lstStyle>
            <a:lvl1pPr marL="0" indent="0">
              <a:buNone/>
              <a:defRPr sz="18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4009" y="1700808"/>
            <a:ext cx="4176464" cy="4392488"/>
          </a:xfrm>
        </p:spPr>
        <p:txBody>
          <a:bodyPr>
            <a:normAutofit/>
          </a:bodyPr>
          <a:lstStyle>
            <a:lvl1pPr marL="185738" indent="-185738">
              <a:defRPr sz="2000">
                <a:latin typeface="Arial" pitchFamily="34" charset="0"/>
                <a:cs typeface="Arial" pitchFamily="34" charset="0"/>
              </a:defRPr>
            </a:lvl1pPr>
            <a:lvl2pPr marL="630238" indent="-173038">
              <a:defRPr sz="1800">
                <a:latin typeface="Arial" pitchFamily="34" charset="0"/>
                <a:cs typeface="Arial" pitchFamily="34" charset="0"/>
              </a:defRPr>
            </a:lvl2pPr>
            <a:lvl3pPr marL="1074738" indent="-160338">
              <a:defRPr sz="1600">
                <a:latin typeface="Arial" pitchFamily="34" charset="0"/>
                <a:cs typeface="Arial" pitchFamily="34" charset="0"/>
              </a:defRPr>
            </a:lvl3pPr>
            <a:lvl4pPr marL="1519238" indent="-147638">
              <a:defRPr sz="1400">
                <a:latin typeface="Arial" pitchFamily="34" charset="0"/>
                <a:cs typeface="Arial" pitchFamily="34" charset="0"/>
              </a:defRPr>
            </a:lvl4pPr>
            <a:lvl5pPr marL="1976438" indent="-147638">
              <a:defRPr sz="1400">
                <a:latin typeface="Arial" pitchFamily="34" charset="0"/>
                <a:cs typeface="Arial"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4131183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Imagen 1" descr="final.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4271"/>
          </a:xfrm>
          <a:prstGeom prst="rect">
            <a:avLst/>
          </a:prstGeom>
        </p:spPr>
      </p:pic>
    </p:spTree>
    <p:extLst>
      <p:ext uri="{BB962C8B-B14F-4D97-AF65-F5344CB8AC3E}">
        <p14:creationId xmlns:p14="http://schemas.microsoft.com/office/powerpoint/2010/main" val="3441866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Agrupar 1"/>
          <p:cNvGrpSpPr/>
          <p:nvPr/>
        </p:nvGrpSpPr>
        <p:grpSpPr>
          <a:xfrm>
            <a:off x="35496" y="32965"/>
            <a:ext cx="9073006" cy="6780411"/>
            <a:chOff x="35496" y="32965"/>
            <a:chExt cx="9073006" cy="6780411"/>
          </a:xfrm>
        </p:grpSpPr>
        <p:pic>
          <p:nvPicPr>
            <p:cNvPr id="8" name="7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9" name="8 Imagen"/>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pic>
          <p:nvPicPr>
            <p:cNvPr id="10" name="9 Imagen"/>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grpSp>
      <p:sp>
        <p:nvSpPr>
          <p:cNvPr id="2" name="1 Marcador de título"/>
          <p:cNvSpPr>
            <a:spLocks noGrp="1"/>
          </p:cNvSpPr>
          <p:nvPr>
            <p:ph type="title"/>
          </p:nvPr>
        </p:nvSpPr>
        <p:spPr>
          <a:xfrm>
            <a:off x="47625" y="32965"/>
            <a:ext cx="7692727" cy="587723"/>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3" name="2 Marcador de texto"/>
          <p:cNvSpPr>
            <a:spLocks noGrp="1"/>
          </p:cNvSpPr>
          <p:nvPr>
            <p:ph type="body" idx="1"/>
          </p:nvPr>
        </p:nvSpPr>
        <p:spPr>
          <a:xfrm>
            <a:off x="251520" y="1052736"/>
            <a:ext cx="8568952" cy="4968551"/>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Tree>
    <p:extLst>
      <p:ext uri="{BB962C8B-B14F-4D97-AF65-F5344CB8AC3E}">
        <p14:creationId xmlns:p14="http://schemas.microsoft.com/office/powerpoint/2010/main" val="4091664312"/>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0" r:id="rId3"/>
    <p:sldLayoutId id="2147483654" r:id="rId4"/>
    <p:sldLayoutId id="2147483653" r:id="rId5"/>
    <p:sldLayoutId id="2147483655" r:id="rId6"/>
  </p:sldLayoutIdLst>
  <p:txStyles>
    <p:titleStyle>
      <a:lvl1pPr algn="l" defTabSz="914400" rtl="0" eaLnBrk="1" latinLnBrk="0" hangingPunct="1">
        <a:spcBef>
          <a:spcPct val="0"/>
        </a:spcBef>
        <a:buNone/>
        <a:defRPr sz="2000" b="1" kern="1200">
          <a:solidFill>
            <a:schemeClr val="bg1"/>
          </a:solidFill>
          <a:latin typeface="Arial" pitchFamily="34" charset="0"/>
          <a:ea typeface="+mj-ea"/>
          <a:cs typeface="Arial" pitchFamily="34" charset="0"/>
        </a:defRPr>
      </a:lvl1pPr>
    </p:titleStyle>
    <p:bodyStyle>
      <a:lvl1pPr marL="185738" indent="-185738" algn="l" defTabSz="914400" rtl="0" eaLnBrk="1" latinLnBrk="0" hangingPunct="1">
        <a:spcBef>
          <a:spcPct val="20000"/>
        </a:spcBef>
        <a:buFont typeface="Arial" pitchFamily="34" charset="0"/>
        <a:buChar char="•"/>
        <a:defRPr sz="2000" b="1" kern="1200">
          <a:solidFill>
            <a:schemeClr val="tx1"/>
          </a:solidFill>
          <a:latin typeface="Arial" pitchFamily="34" charset="0"/>
          <a:ea typeface="+mn-ea"/>
          <a:cs typeface="Arial" pitchFamily="34" charset="0"/>
        </a:defRPr>
      </a:lvl1pPr>
      <a:lvl2pPr marL="630238" indent="-173038"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2pPr>
      <a:lvl3pPr marL="1074738" indent="-160338" algn="l" defTabSz="914400" rtl="0" eaLnBrk="1" latinLnBrk="0" hangingPunct="1">
        <a:spcBef>
          <a:spcPct val="20000"/>
        </a:spcBef>
        <a:buFont typeface="Arial" pitchFamily="34" charset="0"/>
        <a:buChar char="•"/>
        <a:defRPr sz="1600" kern="1200">
          <a:solidFill>
            <a:schemeClr val="tx1"/>
          </a:solidFill>
          <a:latin typeface="Arial" pitchFamily="34" charset="0"/>
          <a:ea typeface="+mn-ea"/>
          <a:cs typeface="Arial" pitchFamily="34" charset="0"/>
        </a:defRPr>
      </a:lvl3pPr>
      <a:lvl4pPr marL="1519238" indent="-147638" algn="l" defTabSz="914400" rtl="0" eaLnBrk="1" latinLnBrk="0" hangingPunct="1">
        <a:spcBef>
          <a:spcPct val="20000"/>
        </a:spcBef>
        <a:buFont typeface="Arial" pitchFamily="34" charset="0"/>
        <a:buChar char="–"/>
        <a:defRPr sz="1400" kern="1200">
          <a:solidFill>
            <a:schemeClr val="tx1"/>
          </a:solidFill>
          <a:latin typeface="Arial" pitchFamily="34" charset="0"/>
          <a:ea typeface="+mn-ea"/>
          <a:cs typeface="Arial" pitchFamily="34" charset="0"/>
        </a:defRPr>
      </a:lvl4pPr>
      <a:lvl5pPr marL="1976438" indent="-147638" algn="l" defTabSz="914400" rtl="0" eaLnBrk="1" latinLnBrk="0" hangingPunct="1">
        <a:spcBef>
          <a:spcPct val="20000"/>
        </a:spcBef>
        <a:buFont typeface="Arial" pitchFamily="34"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45.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slide" Target="slide46.xml"/></Relationships>
</file>

<file path=ppt/slides/_rels/slide11.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 Target="slide10.xml"/><Relationship Id="rId4" Type="http://schemas.openxmlformats.org/officeDocument/2006/relationships/tags" Target="../tags/tag4.xml"/><Relationship Id="rId9"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slide" Target="slide10.xml"/><Relationship Id="rId4" Type="http://schemas.openxmlformats.org/officeDocument/2006/relationships/tags" Target="../tags/tag12.xml"/><Relationship Id="rId9"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slide" Target="slide10.xml"/><Relationship Id="rId4" Type="http://schemas.openxmlformats.org/officeDocument/2006/relationships/tags" Target="../tags/tag20.xml"/><Relationship Id="rId9"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slide" Target="slide10.xml"/><Relationship Id="rId4" Type="http://schemas.openxmlformats.org/officeDocument/2006/relationships/tags" Target="../tags/tag28.xml"/><Relationship Id="rId9"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10" Type="http://schemas.openxmlformats.org/officeDocument/2006/relationships/slide" Target="slide10.xml"/><Relationship Id="rId4" Type="http://schemas.openxmlformats.org/officeDocument/2006/relationships/tags" Target="../tags/tag36.xml"/><Relationship Id="rId9"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10" Type="http://schemas.openxmlformats.org/officeDocument/2006/relationships/slide" Target="slide10.xml"/><Relationship Id="rId4" Type="http://schemas.openxmlformats.org/officeDocument/2006/relationships/tags" Target="../tags/tag44.xml"/><Relationship Id="rId9"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tags" Target="../tags/tag56.xml"/><Relationship Id="rId3" Type="http://schemas.openxmlformats.org/officeDocument/2006/relationships/tags" Target="../tags/tag51.xml"/><Relationship Id="rId7" Type="http://schemas.openxmlformats.org/officeDocument/2006/relationships/tags" Target="../tags/tag55.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10" Type="http://schemas.openxmlformats.org/officeDocument/2006/relationships/slide" Target="slide10.xml"/><Relationship Id="rId4" Type="http://schemas.openxmlformats.org/officeDocument/2006/relationships/tags" Target="../tags/tag52.xml"/><Relationship Id="rId9"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8" Type="http://schemas.openxmlformats.org/officeDocument/2006/relationships/tags" Target="../tags/tag64.xml"/><Relationship Id="rId3" Type="http://schemas.openxmlformats.org/officeDocument/2006/relationships/tags" Target="../tags/tag59.xml"/><Relationship Id="rId7" Type="http://schemas.openxmlformats.org/officeDocument/2006/relationships/tags" Target="../tags/tag63.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5" Type="http://schemas.openxmlformats.org/officeDocument/2006/relationships/tags" Target="../tags/tag61.xml"/><Relationship Id="rId10" Type="http://schemas.openxmlformats.org/officeDocument/2006/relationships/slide" Target="slide10.xml"/><Relationship Id="rId4" Type="http://schemas.openxmlformats.org/officeDocument/2006/relationships/tags" Target="../tags/tag60.xml"/><Relationship Id="rId9"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tags" Target="../tags/tag72.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10" Type="http://schemas.openxmlformats.org/officeDocument/2006/relationships/slide" Target="slide10.xml"/><Relationship Id="rId4" Type="http://schemas.openxmlformats.org/officeDocument/2006/relationships/tags" Target="../tags/tag68.xml"/><Relationship Id="rId9"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5" Type="http://schemas.openxmlformats.org/officeDocument/2006/relationships/tags" Target="../tags/tag77.xml"/><Relationship Id="rId10" Type="http://schemas.openxmlformats.org/officeDocument/2006/relationships/slide" Target="slide10.xml"/><Relationship Id="rId4" Type="http://schemas.openxmlformats.org/officeDocument/2006/relationships/tags" Target="../tags/tag76.xml"/><Relationship Id="rId9"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tags" Target="../tags/tag88.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5" Type="http://schemas.openxmlformats.org/officeDocument/2006/relationships/tags" Target="../tags/tag85.xml"/><Relationship Id="rId10" Type="http://schemas.openxmlformats.org/officeDocument/2006/relationships/slide" Target="slide10.xml"/><Relationship Id="rId4" Type="http://schemas.openxmlformats.org/officeDocument/2006/relationships/tags" Target="../tags/tag84.xml"/><Relationship Id="rId9"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10" Type="http://schemas.openxmlformats.org/officeDocument/2006/relationships/slide" Target="slide10.xml"/><Relationship Id="rId4" Type="http://schemas.openxmlformats.org/officeDocument/2006/relationships/tags" Target="../tags/tag92.xml"/><Relationship Id="rId9"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chart" Target="../charts/chart3.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chart" Target="../charts/chart2.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chart" Target="../charts/chart1.xml"/><Relationship Id="rId5" Type="http://schemas.openxmlformats.org/officeDocument/2006/relationships/tags" Target="../tags/tag101.xml"/><Relationship Id="rId10" Type="http://schemas.openxmlformats.org/officeDocument/2006/relationships/slide" Target="slide10.xml"/><Relationship Id="rId4" Type="http://schemas.openxmlformats.org/officeDocument/2006/relationships/tags" Target="../tags/tag100.xml"/><Relationship Id="rId9" Type="http://schemas.openxmlformats.org/officeDocument/2006/relationships/slideLayout" Target="../slideLayouts/slideLayout4.xml"/><Relationship Id="rId14" Type="http://schemas.openxmlformats.org/officeDocument/2006/relationships/chart" Target="../charts/chart4.xml"/></Relationships>
</file>

<file path=ppt/slides/_rels/slide45.xml.rels><?xml version="1.0" encoding="UTF-8" standalone="yes"?>
<Relationships xmlns="http://schemas.openxmlformats.org/package/2006/relationships"><Relationship Id="rId8" Type="http://schemas.openxmlformats.org/officeDocument/2006/relationships/tags" Target="../tags/tag112.xml"/><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chart" Target="../charts/chart6.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chart" Target="../charts/chart5.xml"/><Relationship Id="rId5" Type="http://schemas.openxmlformats.org/officeDocument/2006/relationships/tags" Target="../tags/tag109.xml"/><Relationship Id="rId10" Type="http://schemas.openxmlformats.org/officeDocument/2006/relationships/slide" Target="slide10.xml"/><Relationship Id="rId4" Type="http://schemas.openxmlformats.org/officeDocument/2006/relationships/tags" Target="../tags/tag108.xml"/><Relationship Id="rId9"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tags" Target="../tags/tag120.xml"/><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chart" Target="../charts/chart8.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chart" Target="../charts/chart7.xml"/><Relationship Id="rId5" Type="http://schemas.openxmlformats.org/officeDocument/2006/relationships/tags" Target="../tags/tag117.xml"/><Relationship Id="rId10" Type="http://schemas.openxmlformats.org/officeDocument/2006/relationships/slide" Target="slide10.xml"/><Relationship Id="rId4" Type="http://schemas.openxmlformats.org/officeDocument/2006/relationships/tags" Target="../tags/tag116.xml"/><Relationship Id="rId9"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11.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CuadroTexto"/>
          <p:cNvSpPr txBox="1">
            <a:spLocks noChangeArrowheads="1"/>
          </p:cNvSpPr>
          <p:nvPr/>
        </p:nvSpPr>
        <p:spPr bwMode="auto">
          <a:xfrm>
            <a:off x="0" y="2571744"/>
            <a:ext cx="9144000" cy="954107"/>
          </a:xfrm>
          <a:prstGeom prst="rect">
            <a:avLst/>
          </a:prstGeom>
          <a:noFill/>
          <a:ln w="9525">
            <a:noFill/>
            <a:miter lim="800000"/>
            <a:headEnd/>
            <a:tailEnd/>
          </a:ln>
        </p:spPr>
        <p:txBody>
          <a:bodyPr wrap="square">
            <a:spAutoFit/>
          </a:bodyPr>
          <a:lstStyle/>
          <a:p>
            <a:pPr algn="r"/>
            <a:r>
              <a:rPr lang="es-PE" sz="3200" b="1" dirty="0">
                <a:solidFill>
                  <a:schemeClr val="tx1">
                    <a:lumMod val="85000"/>
                    <a:lumOff val="15000"/>
                  </a:schemeClr>
                </a:solidFill>
                <a:latin typeface="Arial" pitchFamily="34" charset="0"/>
                <a:cs typeface="Arial" pitchFamily="34" charset="0"/>
              </a:rPr>
              <a:t>Informe de Exposición al Riesgo Operacional</a:t>
            </a:r>
          </a:p>
          <a:p>
            <a:pPr algn="r"/>
            <a:r>
              <a:rPr lang="es-PE" sz="2400" b="1" dirty="0">
                <a:solidFill>
                  <a:schemeClr val="tx1">
                    <a:lumMod val="85000"/>
                    <a:lumOff val="15000"/>
                  </a:schemeClr>
                </a:solidFill>
                <a:latin typeface="Arial" pitchFamily="34" charset="0"/>
                <a:cs typeface="Arial" pitchFamily="34" charset="0"/>
              </a:rPr>
              <a:t>Piloto II</a:t>
            </a:r>
          </a:p>
        </p:txBody>
      </p:sp>
      <p:sp>
        <p:nvSpPr>
          <p:cNvPr id="6" name="3 CuadroTexto"/>
          <p:cNvSpPr txBox="1">
            <a:spLocks noChangeArrowheads="1"/>
          </p:cNvSpPr>
          <p:nvPr/>
        </p:nvSpPr>
        <p:spPr bwMode="auto">
          <a:xfrm>
            <a:off x="8045622" y="3929066"/>
            <a:ext cx="1098378" cy="307777"/>
          </a:xfrm>
          <a:prstGeom prst="rect">
            <a:avLst/>
          </a:prstGeom>
          <a:noFill/>
          <a:ln w="9525">
            <a:noFill/>
            <a:miter lim="800000"/>
            <a:headEnd/>
            <a:tailEnd/>
          </a:ln>
        </p:spPr>
        <p:txBody>
          <a:bodyPr wrap="none">
            <a:spAutoFit/>
          </a:bodyPr>
          <a:lstStyle/>
          <a:p>
            <a:pPr algn="r"/>
            <a:r>
              <a:rPr lang="es-PE" sz="1400" b="1" dirty="0">
                <a:solidFill>
                  <a:schemeClr val="tx1">
                    <a:lumMod val="85000"/>
                    <a:lumOff val="15000"/>
                  </a:schemeClr>
                </a:solidFill>
                <a:latin typeface="Arial" pitchFamily="34" charset="0"/>
                <a:cs typeface="Arial" pitchFamily="34" charset="0"/>
              </a:rPr>
              <a:t>Julio, 2013</a:t>
            </a:r>
          </a:p>
        </p:txBody>
      </p:sp>
    </p:spTree>
    <p:extLst>
      <p:ext uri="{BB962C8B-B14F-4D97-AF65-F5344CB8AC3E}">
        <p14:creationId xmlns:p14="http://schemas.microsoft.com/office/powerpoint/2010/main" val="256063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00"/>
          <p:cNvSpPr txBox="1">
            <a:spLocks noChangeArrowheads="1"/>
          </p:cNvSpPr>
          <p:nvPr/>
        </p:nvSpPr>
        <p:spPr bwMode="auto">
          <a:xfrm>
            <a:off x="300241" y="846143"/>
            <a:ext cx="8545172" cy="646331"/>
          </a:xfrm>
          <a:prstGeom prst="rect">
            <a:avLst/>
          </a:prstGeom>
          <a:noFill/>
          <a:ln w="12700" algn="ctr">
            <a:noFill/>
            <a:miter lim="800000"/>
            <a:headEnd/>
            <a:tailEnd/>
          </a:ln>
        </p:spPr>
        <p:txBody>
          <a:bodyPr wrap="square">
            <a:spAutoFit/>
          </a:bodyPr>
          <a:lstStyle/>
          <a:p>
            <a:pPr algn="ctr">
              <a:spcBef>
                <a:spcPct val="50000"/>
              </a:spcBef>
            </a:pPr>
            <a:r>
              <a:rPr lang="es-ES" sz="1800" b="1" dirty="0"/>
              <a:t>El objetivo del presente documento es </a:t>
            </a:r>
            <a:r>
              <a:rPr lang="es-AR" sz="1800" b="1" dirty="0"/>
              <a:t>presentar </a:t>
            </a:r>
            <a:r>
              <a:rPr lang="es-ES_tradnl" b="1" dirty="0">
                <a:sym typeface="Wingdings" pitchFamily="2" charset="2"/>
              </a:rPr>
              <a:t>los resultados del análisis de Riesgo Operacional y Control Interno para los 8 procesos priorizados.</a:t>
            </a:r>
            <a:endParaRPr lang="es-ES" sz="1800" b="1" dirty="0"/>
          </a:p>
        </p:txBody>
      </p:sp>
      <p:sp>
        <p:nvSpPr>
          <p:cNvPr id="57" name="AutoShape 84"/>
          <p:cNvSpPr>
            <a:spLocks noChangeArrowheads="1"/>
          </p:cNvSpPr>
          <p:nvPr/>
        </p:nvSpPr>
        <p:spPr bwMode="blackWhite">
          <a:xfrm>
            <a:off x="2354842" y="1865975"/>
            <a:ext cx="1695680" cy="495993"/>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lt1"/>
                </a:solidFill>
              </a:rPr>
              <a:t>Contexto General</a:t>
            </a:r>
          </a:p>
        </p:txBody>
      </p:sp>
      <p:sp>
        <p:nvSpPr>
          <p:cNvPr id="59" name="Oval 94"/>
          <p:cNvSpPr>
            <a:spLocks noChangeArrowheads="1"/>
          </p:cNvSpPr>
          <p:nvPr/>
        </p:nvSpPr>
        <p:spPr bwMode="auto">
          <a:xfrm>
            <a:off x="468180" y="2377389"/>
            <a:ext cx="1488784" cy="777100"/>
          </a:xfrm>
          <a:prstGeom prst="ellipse">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lt1"/>
                </a:solidFill>
              </a:rPr>
              <a:t>Contenidos</a:t>
            </a:r>
          </a:p>
        </p:txBody>
      </p:sp>
      <p:cxnSp>
        <p:nvCxnSpPr>
          <p:cNvPr id="63" name="AutoShape 86"/>
          <p:cNvCxnSpPr>
            <a:cxnSpLocks noChangeShapeType="1"/>
          </p:cNvCxnSpPr>
          <p:nvPr/>
        </p:nvCxnSpPr>
        <p:spPr bwMode="auto">
          <a:xfrm>
            <a:off x="2151786" y="3384633"/>
            <a:ext cx="180000" cy="1"/>
          </a:xfrm>
          <a:prstGeom prst="bentConnector3">
            <a:avLst>
              <a:gd name="adj1" fmla="val 50000"/>
            </a:avLst>
          </a:prstGeom>
          <a:noFill/>
          <a:ln w="9525">
            <a:solidFill>
              <a:schemeClr val="tx1"/>
            </a:solidFill>
            <a:miter lim="800000"/>
            <a:headEnd/>
            <a:tailEnd type="triangle" w="med" len="med"/>
          </a:ln>
        </p:spPr>
      </p:cxnSp>
      <p:sp>
        <p:nvSpPr>
          <p:cNvPr id="66" name="Text Box 100"/>
          <p:cNvSpPr txBox="1">
            <a:spLocks noChangeArrowheads="1"/>
          </p:cNvSpPr>
          <p:nvPr/>
        </p:nvSpPr>
        <p:spPr bwMode="blackWhite">
          <a:xfrm>
            <a:off x="4150353" y="1838945"/>
            <a:ext cx="4548822" cy="880241"/>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dirty="0"/>
              <a:t>Metodología de trabajo utilizada en el proyecto</a:t>
            </a:r>
          </a:p>
          <a:p>
            <a:pPr marL="261938" indent="-261938" algn="just">
              <a:spcBef>
                <a:spcPct val="20000"/>
              </a:spcBef>
              <a:buClr>
                <a:schemeClr val="tx1"/>
              </a:buClr>
              <a:buFont typeface="Webdings" pitchFamily="18" charset="2"/>
              <a:buChar char="4"/>
            </a:pPr>
            <a:r>
              <a:rPr lang="es-CL" sz="1600" dirty="0"/>
              <a:t>Evolución del proyecto a través de las etapas trabajadas: Piloto I y Piloto II</a:t>
            </a:r>
            <a:endParaRPr lang="es-CL" sz="1600" dirty="0">
              <a:solidFill>
                <a:srgbClr val="FF0000"/>
              </a:solidFill>
            </a:endParaRPr>
          </a:p>
        </p:txBody>
      </p:sp>
      <p:sp>
        <p:nvSpPr>
          <p:cNvPr id="67" name="Text Box 100"/>
          <p:cNvSpPr txBox="1">
            <a:spLocks noChangeArrowheads="1"/>
          </p:cNvSpPr>
          <p:nvPr/>
        </p:nvSpPr>
        <p:spPr bwMode="blackWhite">
          <a:xfrm>
            <a:off x="4150353" y="3145577"/>
            <a:ext cx="4548822" cy="2456057"/>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Presentación de las conclusiones generales del proyecto.</a:t>
            </a:r>
          </a:p>
          <a:p>
            <a:pPr marL="261938" indent="-261938" algn="just">
              <a:spcBef>
                <a:spcPct val="20000"/>
              </a:spcBef>
              <a:buClr>
                <a:schemeClr val="tx1"/>
              </a:buClr>
              <a:buFont typeface="Webdings" pitchFamily="18" charset="2"/>
              <a:buChar char="4"/>
            </a:pPr>
            <a:r>
              <a:rPr lang="es-CL" sz="1600" dirty="0"/>
              <a:t>Resumen a alto nivel de la identificación y análisis de los riesgos operacionales detectados y de los planes de acción asociados.</a:t>
            </a:r>
          </a:p>
          <a:p>
            <a:pPr marL="261938" indent="-261938" algn="just">
              <a:spcBef>
                <a:spcPct val="20000"/>
              </a:spcBef>
              <a:buClr>
                <a:schemeClr val="tx1"/>
              </a:buClr>
              <a:buFont typeface="Webdings" pitchFamily="18" charset="2"/>
              <a:buChar char="4"/>
            </a:pPr>
            <a:r>
              <a:rPr lang="es-CL" sz="1600" dirty="0"/>
              <a:t>Resumen a alto nivel de la identificación y análisis del posible impacto </a:t>
            </a:r>
            <a:r>
              <a:rPr lang="es-CL" sz="1600" dirty="0" err="1"/>
              <a:t>reputacional</a:t>
            </a:r>
            <a:r>
              <a:rPr lang="es-CL" sz="1600" dirty="0"/>
              <a:t> vinculado a los procesos.</a:t>
            </a:r>
          </a:p>
          <a:p>
            <a:pPr marL="261938" indent="-261938" algn="just">
              <a:spcBef>
                <a:spcPct val="20000"/>
              </a:spcBef>
              <a:buClr>
                <a:schemeClr val="tx1"/>
              </a:buClr>
              <a:buFont typeface="Webdings" pitchFamily="18" charset="2"/>
              <a:buChar char="4"/>
            </a:pPr>
            <a:r>
              <a:rPr lang="es-CL" sz="1600" b="0" dirty="0"/>
              <a:t>Análisis de riesgos por procesos</a:t>
            </a:r>
          </a:p>
        </p:txBody>
      </p:sp>
      <p:sp>
        <p:nvSpPr>
          <p:cNvPr id="70" name="AutoShape 84"/>
          <p:cNvSpPr>
            <a:spLocks noChangeArrowheads="1"/>
          </p:cNvSpPr>
          <p:nvPr/>
        </p:nvSpPr>
        <p:spPr bwMode="blackWhite">
          <a:xfrm>
            <a:off x="2356288" y="3145881"/>
            <a:ext cx="1695680" cy="495992"/>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lt1"/>
                </a:solidFill>
              </a:rPr>
              <a:t>Conclusiones</a:t>
            </a:r>
          </a:p>
        </p:txBody>
      </p:sp>
      <p:sp>
        <p:nvSpPr>
          <p:cNvPr id="7" name="Title 6"/>
          <p:cNvSpPr>
            <a:spLocks noGrp="1"/>
          </p:cNvSpPr>
          <p:nvPr>
            <p:ph type="title"/>
          </p:nvPr>
        </p:nvSpPr>
        <p:spPr/>
        <p:txBody>
          <a:bodyPr/>
          <a:lstStyle/>
          <a:p>
            <a:r>
              <a:rPr lang="es-ES" dirty="0"/>
              <a:t>Contenidos</a:t>
            </a:r>
          </a:p>
        </p:txBody>
      </p:sp>
      <p:cxnSp>
        <p:nvCxnSpPr>
          <p:cNvPr id="14" name="AutoShape 86"/>
          <p:cNvCxnSpPr>
            <a:cxnSpLocks noChangeShapeType="1"/>
          </p:cNvCxnSpPr>
          <p:nvPr/>
        </p:nvCxnSpPr>
        <p:spPr bwMode="auto">
          <a:xfrm>
            <a:off x="2154058" y="2113804"/>
            <a:ext cx="180000" cy="1"/>
          </a:xfrm>
          <a:prstGeom prst="bentConnector3">
            <a:avLst>
              <a:gd name="adj1" fmla="val 50000"/>
            </a:avLst>
          </a:prstGeom>
          <a:noFill/>
          <a:ln w="9525">
            <a:solidFill>
              <a:schemeClr val="tx1"/>
            </a:solidFill>
            <a:miter lim="800000"/>
            <a:headEnd/>
            <a:tailEnd type="triangle" w="med" len="med"/>
          </a:ln>
        </p:spPr>
      </p:cxnSp>
      <p:cxnSp>
        <p:nvCxnSpPr>
          <p:cNvPr id="3" name="Straight Connector 2"/>
          <p:cNvCxnSpPr/>
          <p:nvPr/>
        </p:nvCxnSpPr>
        <p:spPr>
          <a:xfrm flipV="1">
            <a:off x="2154058" y="2113971"/>
            <a:ext cx="0" cy="12706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a:endCxn id="59" idx="6"/>
          </p:cNvCxnSpPr>
          <p:nvPr/>
        </p:nvCxnSpPr>
        <p:spPr>
          <a:xfrm flipH="1">
            <a:off x="1956964" y="2765939"/>
            <a:ext cx="1948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809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84"/>
          <p:cNvSpPr>
            <a:spLocks noChangeArrowheads="1"/>
          </p:cNvSpPr>
          <p:nvPr/>
        </p:nvSpPr>
        <p:spPr bwMode="blackWhite">
          <a:xfrm>
            <a:off x="2354842" y="1688551"/>
            <a:ext cx="1695680" cy="495993"/>
          </a:xfrm>
          <a:prstGeom prst="rightArrow">
            <a:avLst>
              <a:gd name="adj1" fmla="val 100000"/>
              <a:gd name="adj2" fmla="val 27728"/>
            </a:avLst>
          </a:prstGeom>
          <a:solidFill>
            <a:schemeClr val="accent6">
              <a:lumMod val="75000"/>
            </a:scheme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Contexto General</a:t>
            </a:r>
          </a:p>
        </p:txBody>
      </p:sp>
      <p:sp>
        <p:nvSpPr>
          <p:cNvPr id="59" name="Oval 94"/>
          <p:cNvSpPr>
            <a:spLocks noChangeArrowheads="1"/>
          </p:cNvSpPr>
          <p:nvPr/>
        </p:nvSpPr>
        <p:spPr bwMode="auto">
          <a:xfrm>
            <a:off x="468180" y="2199965"/>
            <a:ext cx="1488784" cy="777100"/>
          </a:xfrm>
          <a:prstGeom prst="ellipse">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lt1"/>
                </a:solidFill>
              </a:rPr>
              <a:t>Contenidos</a:t>
            </a:r>
          </a:p>
        </p:txBody>
      </p:sp>
      <p:cxnSp>
        <p:nvCxnSpPr>
          <p:cNvPr id="63" name="AutoShape 86"/>
          <p:cNvCxnSpPr>
            <a:cxnSpLocks noChangeShapeType="1"/>
          </p:cNvCxnSpPr>
          <p:nvPr/>
        </p:nvCxnSpPr>
        <p:spPr bwMode="auto">
          <a:xfrm>
            <a:off x="2151786" y="3207209"/>
            <a:ext cx="180000" cy="1"/>
          </a:xfrm>
          <a:prstGeom prst="bentConnector3">
            <a:avLst>
              <a:gd name="adj1" fmla="val 50000"/>
            </a:avLst>
          </a:prstGeom>
          <a:noFill/>
          <a:ln w="9525">
            <a:solidFill>
              <a:schemeClr val="tx1"/>
            </a:solidFill>
            <a:miter lim="800000"/>
            <a:headEnd/>
            <a:tailEnd type="triangle" w="med" len="med"/>
          </a:ln>
        </p:spPr>
      </p:cxnSp>
      <p:sp>
        <p:nvSpPr>
          <p:cNvPr id="66" name="Text Box 100"/>
          <p:cNvSpPr txBox="1">
            <a:spLocks noChangeArrowheads="1"/>
          </p:cNvSpPr>
          <p:nvPr/>
        </p:nvSpPr>
        <p:spPr bwMode="blackWhite">
          <a:xfrm>
            <a:off x="4150353" y="1661521"/>
            <a:ext cx="4548822" cy="880241"/>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dirty="0"/>
              <a:t>Metodología de trabajo utilizada en el proyecto</a:t>
            </a:r>
          </a:p>
          <a:p>
            <a:pPr marL="261938" indent="-261938" algn="just">
              <a:spcBef>
                <a:spcPct val="20000"/>
              </a:spcBef>
              <a:buClr>
                <a:schemeClr val="tx1"/>
              </a:buClr>
              <a:buFont typeface="Webdings" pitchFamily="18" charset="2"/>
              <a:buChar char="4"/>
            </a:pPr>
            <a:r>
              <a:rPr lang="es-CL" sz="1600" dirty="0"/>
              <a:t>Evolución del proyecto a través de las etapas trabajadas: Piloto I y Piloto II</a:t>
            </a:r>
            <a:endParaRPr lang="es-CL" sz="1600" dirty="0">
              <a:solidFill>
                <a:srgbClr val="FF0000"/>
              </a:solidFill>
            </a:endParaRPr>
          </a:p>
        </p:txBody>
      </p:sp>
      <p:sp>
        <p:nvSpPr>
          <p:cNvPr id="67" name="Text Box 100"/>
          <p:cNvSpPr txBox="1">
            <a:spLocks noChangeArrowheads="1"/>
          </p:cNvSpPr>
          <p:nvPr/>
        </p:nvSpPr>
        <p:spPr bwMode="blackWhite">
          <a:xfrm>
            <a:off x="4150353" y="2968153"/>
            <a:ext cx="4548822" cy="2456057"/>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Presentación de las conclusiones generales del proyecto.</a:t>
            </a:r>
          </a:p>
          <a:p>
            <a:pPr marL="261938" indent="-261938" algn="just">
              <a:spcBef>
                <a:spcPct val="20000"/>
              </a:spcBef>
              <a:buClr>
                <a:schemeClr val="tx1"/>
              </a:buClr>
              <a:buFont typeface="Webdings" pitchFamily="18" charset="2"/>
              <a:buChar char="4"/>
            </a:pPr>
            <a:r>
              <a:rPr lang="es-CL" sz="1600" dirty="0"/>
              <a:t>Resumen a alto nivel de la identificación y análisis de los riesgos operacionales detectados y de los planes de acción asociados.</a:t>
            </a:r>
          </a:p>
          <a:p>
            <a:pPr marL="261938" indent="-261938" algn="just">
              <a:spcBef>
                <a:spcPct val="20000"/>
              </a:spcBef>
              <a:buClr>
                <a:schemeClr val="tx1"/>
              </a:buClr>
              <a:buFont typeface="Webdings" pitchFamily="18" charset="2"/>
              <a:buChar char="4"/>
            </a:pPr>
            <a:r>
              <a:rPr lang="es-CL" sz="1600" dirty="0"/>
              <a:t>Resumen a alto nivel de la identificación y análisis del posible impacto </a:t>
            </a:r>
            <a:r>
              <a:rPr lang="es-CL" sz="1600" dirty="0" err="1"/>
              <a:t>reputacional</a:t>
            </a:r>
            <a:r>
              <a:rPr lang="es-CL" sz="1600" dirty="0"/>
              <a:t> vinculado a los procesos.</a:t>
            </a:r>
          </a:p>
          <a:p>
            <a:pPr marL="261938" indent="-261938" algn="just">
              <a:spcBef>
                <a:spcPct val="20000"/>
              </a:spcBef>
              <a:buClr>
                <a:schemeClr val="tx1"/>
              </a:buClr>
              <a:buFont typeface="Webdings" pitchFamily="18" charset="2"/>
              <a:buChar char="4"/>
            </a:pPr>
            <a:r>
              <a:rPr lang="es-CL" sz="1600" b="0" dirty="0"/>
              <a:t>Análisis de riesgos por procesos</a:t>
            </a:r>
          </a:p>
        </p:txBody>
      </p:sp>
      <p:sp>
        <p:nvSpPr>
          <p:cNvPr id="70" name="AutoShape 84"/>
          <p:cNvSpPr>
            <a:spLocks noChangeArrowheads="1"/>
          </p:cNvSpPr>
          <p:nvPr/>
        </p:nvSpPr>
        <p:spPr bwMode="blackWhite">
          <a:xfrm>
            <a:off x="2356288" y="2968457"/>
            <a:ext cx="1695680" cy="495992"/>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lt1"/>
                </a:solidFill>
              </a:rPr>
              <a:t>Conclusiones</a:t>
            </a:r>
          </a:p>
        </p:txBody>
      </p:sp>
      <p:sp>
        <p:nvSpPr>
          <p:cNvPr id="7" name="Title 6"/>
          <p:cNvSpPr>
            <a:spLocks noGrp="1"/>
          </p:cNvSpPr>
          <p:nvPr>
            <p:ph type="title"/>
          </p:nvPr>
        </p:nvSpPr>
        <p:spPr/>
        <p:txBody>
          <a:bodyPr/>
          <a:lstStyle/>
          <a:p>
            <a:r>
              <a:rPr lang="es-ES" dirty="0"/>
              <a:t>Contenidos</a:t>
            </a:r>
          </a:p>
        </p:txBody>
      </p:sp>
      <p:cxnSp>
        <p:nvCxnSpPr>
          <p:cNvPr id="14" name="AutoShape 86"/>
          <p:cNvCxnSpPr>
            <a:cxnSpLocks noChangeShapeType="1"/>
          </p:cNvCxnSpPr>
          <p:nvPr/>
        </p:nvCxnSpPr>
        <p:spPr bwMode="auto">
          <a:xfrm>
            <a:off x="2154058" y="1936380"/>
            <a:ext cx="180000" cy="1"/>
          </a:xfrm>
          <a:prstGeom prst="bentConnector3">
            <a:avLst>
              <a:gd name="adj1" fmla="val 50000"/>
            </a:avLst>
          </a:prstGeom>
          <a:noFill/>
          <a:ln w="9525">
            <a:solidFill>
              <a:schemeClr val="tx1"/>
            </a:solidFill>
            <a:miter lim="800000"/>
            <a:headEnd/>
            <a:tailEnd type="triangle" w="med" len="med"/>
          </a:ln>
        </p:spPr>
      </p:cxnSp>
      <p:cxnSp>
        <p:nvCxnSpPr>
          <p:cNvPr id="3" name="Straight Connector 2"/>
          <p:cNvCxnSpPr/>
          <p:nvPr/>
        </p:nvCxnSpPr>
        <p:spPr>
          <a:xfrm flipV="1">
            <a:off x="2154058" y="1936547"/>
            <a:ext cx="0" cy="12706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a:endCxn id="59" idx="6"/>
          </p:cNvCxnSpPr>
          <p:nvPr/>
        </p:nvCxnSpPr>
        <p:spPr>
          <a:xfrm flipH="1">
            <a:off x="1956964" y="2588515"/>
            <a:ext cx="1948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956964" y="1610430"/>
            <a:ext cx="6845842" cy="900752"/>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b="1"/>
          </a:p>
        </p:txBody>
      </p:sp>
    </p:spTree>
    <p:extLst>
      <p:ext uri="{BB962C8B-B14F-4D97-AF65-F5344CB8AC3E}">
        <p14:creationId xmlns:p14="http://schemas.microsoft.com/office/powerpoint/2010/main" val="1498203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0188" y="1624081"/>
            <a:ext cx="8763687" cy="4171303"/>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angle 4"/>
          <p:cNvSpPr>
            <a:spLocks noGrp="1" noChangeArrowheads="1"/>
          </p:cNvSpPr>
          <p:nvPr>
            <p:ph idx="1"/>
          </p:nvPr>
        </p:nvSpPr>
        <p:spPr bwMode="auto">
          <a:xfrm>
            <a:off x="251520" y="754824"/>
            <a:ext cx="8568952" cy="5040560"/>
          </a:xfrm>
          <a:prstGeom prst="rect">
            <a:avLst/>
          </a:prstGeom>
          <a:noFill/>
          <a:ln w="9525">
            <a:noFill/>
            <a:miter lim="800000"/>
            <a:headEnd/>
            <a:tailEnd/>
          </a:ln>
        </p:spPr>
        <p:txBody>
          <a:bodyPr>
            <a:normAutofit/>
          </a:bodyPr>
          <a:lstStyle/>
          <a:p>
            <a:pPr marL="0" indent="0" algn="ctr" eaLnBrk="1" hangingPunct="1">
              <a:spcBef>
                <a:spcPts val="600"/>
              </a:spcBef>
              <a:spcAft>
                <a:spcPts val="0"/>
              </a:spcAft>
              <a:buClr>
                <a:schemeClr val="accent6">
                  <a:lumMod val="75000"/>
                </a:schemeClr>
              </a:buClr>
              <a:buNone/>
            </a:pPr>
            <a:r>
              <a:rPr lang="es-ES" sz="1800" dirty="0">
                <a:latin typeface="+mj-lt"/>
                <a:sym typeface="Wingdings" pitchFamily="2" charset="2"/>
              </a:rPr>
              <a:t>Visión general de las etapas definidas en el </a:t>
            </a:r>
            <a:r>
              <a:rPr lang="es-ES" sz="1800" b="1" dirty="0">
                <a:latin typeface="+mj-lt"/>
                <a:sym typeface="Wingdings" pitchFamily="2" charset="2"/>
              </a:rPr>
              <a:t>procedimiento de evaluación de riesgos operacionales.</a:t>
            </a:r>
          </a:p>
          <a:p>
            <a:pPr marL="0" indent="0" algn="ctr" eaLnBrk="1" hangingPunct="1">
              <a:spcBef>
                <a:spcPts val="600"/>
              </a:spcBef>
              <a:spcAft>
                <a:spcPts val="0"/>
              </a:spcAft>
              <a:buClr>
                <a:schemeClr val="accent6">
                  <a:lumMod val="75000"/>
                </a:schemeClr>
              </a:buClr>
              <a:buNone/>
            </a:pPr>
            <a:endParaRPr lang="es-ES" sz="2400" dirty="0">
              <a:latin typeface="+mj-lt"/>
              <a:sym typeface="Wingdings" pitchFamily="2" charset="2"/>
            </a:endParaRPr>
          </a:p>
          <a:p>
            <a:pPr marL="0" indent="0" algn="ctr" eaLnBrk="1" hangingPunct="1">
              <a:spcBef>
                <a:spcPts val="600"/>
              </a:spcBef>
              <a:spcAft>
                <a:spcPts val="0"/>
              </a:spcAft>
              <a:buClr>
                <a:schemeClr val="accent6">
                  <a:lumMod val="75000"/>
                </a:schemeClr>
              </a:buClr>
              <a:buNone/>
            </a:pPr>
            <a:endParaRPr lang="es-ES" sz="2400" b="1" dirty="0">
              <a:latin typeface="+mj-lt"/>
              <a:sym typeface="Wingdings" pitchFamily="2" charset="2"/>
            </a:endParaRPr>
          </a:p>
        </p:txBody>
      </p:sp>
      <p:sp>
        <p:nvSpPr>
          <p:cNvPr id="20" name="AutoShape 4"/>
          <p:cNvSpPr>
            <a:spLocks noChangeArrowheads="1"/>
          </p:cNvSpPr>
          <p:nvPr/>
        </p:nvSpPr>
        <p:spPr bwMode="gray">
          <a:xfrm>
            <a:off x="395536" y="1904701"/>
            <a:ext cx="2448272" cy="433388"/>
          </a:xfrm>
          <a:prstGeom prst="homePlate">
            <a:avLst>
              <a:gd name="adj" fmla="val 106899"/>
            </a:avLst>
          </a:prstGeom>
          <a:solidFill>
            <a:srgbClr val="DB0613"/>
          </a:solidFill>
          <a:ln w="28575" algn="ctr">
            <a:solidFill>
              <a:schemeClr val="bg1"/>
            </a:solidFill>
            <a:miter lim="800000"/>
            <a:headEnd/>
            <a:tailEnd/>
          </a:ln>
          <a:effectLst/>
        </p:spPr>
        <p:txBody>
          <a:bodyPr wrap="none" anchor="ctr"/>
          <a:lstStyle/>
          <a:p>
            <a:pPr eaLnBrk="1" hangingPunct="1"/>
            <a:endParaRPr lang="es-ES_tradnl" sz="2000">
              <a:solidFill>
                <a:schemeClr val="bg1"/>
              </a:solidFill>
            </a:endParaRPr>
          </a:p>
        </p:txBody>
      </p:sp>
      <p:sp>
        <p:nvSpPr>
          <p:cNvPr id="21" name="Text Box 5"/>
          <p:cNvSpPr txBox="1">
            <a:spLocks noChangeArrowheads="1"/>
          </p:cNvSpPr>
          <p:nvPr/>
        </p:nvSpPr>
        <p:spPr bwMode="gray">
          <a:xfrm>
            <a:off x="1043608" y="1945976"/>
            <a:ext cx="836255" cy="369332"/>
          </a:xfrm>
          <a:prstGeom prst="rect">
            <a:avLst/>
          </a:prstGeom>
          <a:noFill/>
          <a:ln w="9525" algn="ctr">
            <a:noFill/>
            <a:miter lim="800000"/>
            <a:headEnd/>
            <a:tailEnd/>
          </a:ln>
          <a:effectLst/>
        </p:spPr>
        <p:txBody>
          <a:bodyPr wrap="none">
            <a:spAutoFit/>
          </a:bodyPr>
          <a:lstStyle/>
          <a:p>
            <a:pPr eaLnBrk="1" hangingPunct="1"/>
            <a:r>
              <a:rPr lang="es-ES" b="1" dirty="0">
                <a:solidFill>
                  <a:schemeClr val="bg1"/>
                </a:solidFill>
              </a:rPr>
              <a:t>Etapa I</a:t>
            </a:r>
            <a:endParaRPr lang="en-US" b="1" dirty="0">
              <a:solidFill>
                <a:schemeClr val="bg1"/>
              </a:solidFill>
            </a:endParaRPr>
          </a:p>
        </p:txBody>
      </p:sp>
      <p:sp>
        <p:nvSpPr>
          <p:cNvPr id="22" name="AutoShape 7"/>
          <p:cNvSpPr>
            <a:spLocks noChangeArrowheads="1"/>
          </p:cNvSpPr>
          <p:nvPr/>
        </p:nvSpPr>
        <p:spPr bwMode="gray">
          <a:xfrm>
            <a:off x="2327907" y="1904701"/>
            <a:ext cx="2411413" cy="431800"/>
          </a:xfrm>
          <a:prstGeom prst="chevron">
            <a:avLst>
              <a:gd name="adj" fmla="val 81203"/>
            </a:avLst>
          </a:prstGeom>
          <a:solidFill>
            <a:srgbClr val="DB0613"/>
          </a:solidFill>
          <a:ln w="28575" algn="ctr">
            <a:solidFill>
              <a:schemeClr val="bg1"/>
            </a:solidFill>
            <a:miter lim="800000"/>
            <a:headEnd/>
            <a:tailEnd/>
          </a:ln>
          <a:effectLst/>
        </p:spPr>
        <p:txBody>
          <a:bodyPr wrap="none" anchor="ctr"/>
          <a:lstStyle/>
          <a:p>
            <a:endParaRPr lang="en-US" sz="2000"/>
          </a:p>
        </p:txBody>
      </p:sp>
      <p:sp>
        <p:nvSpPr>
          <p:cNvPr id="23" name="Text Box 9"/>
          <p:cNvSpPr txBox="1">
            <a:spLocks noChangeArrowheads="1"/>
          </p:cNvSpPr>
          <p:nvPr/>
        </p:nvSpPr>
        <p:spPr bwMode="gray">
          <a:xfrm>
            <a:off x="3177220" y="1930101"/>
            <a:ext cx="901978" cy="400110"/>
          </a:xfrm>
          <a:prstGeom prst="rect">
            <a:avLst/>
          </a:prstGeom>
          <a:noFill/>
          <a:ln w="9525" algn="ctr">
            <a:noFill/>
            <a:miter lim="800000"/>
            <a:headEnd/>
            <a:tailEnd/>
          </a:ln>
          <a:effectLst/>
        </p:spPr>
        <p:txBody>
          <a:bodyPr wrap="none">
            <a:spAutoFit/>
          </a:bodyPr>
          <a:lstStyle/>
          <a:p>
            <a:pPr eaLnBrk="1" hangingPunct="1"/>
            <a:r>
              <a:rPr lang="es-ES" b="1" dirty="0">
                <a:solidFill>
                  <a:schemeClr val="bg1"/>
                </a:solidFill>
              </a:rPr>
              <a:t>Etapa</a:t>
            </a:r>
            <a:r>
              <a:rPr lang="es-ES" sz="2000" b="1" dirty="0">
                <a:solidFill>
                  <a:srgbClr val="000000"/>
                </a:solidFill>
              </a:rPr>
              <a:t> </a:t>
            </a:r>
            <a:r>
              <a:rPr lang="es-ES" b="1" dirty="0">
                <a:solidFill>
                  <a:schemeClr val="bg1"/>
                </a:solidFill>
              </a:rPr>
              <a:t>II</a:t>
            </a:r>
            <a:endParaRPr lang="en-US" b="1" dirty="0">
              <a:solidFill>
                <a:schemeClr val="bg1"/>
              </a:solidFill>
            </a:endParaRPr>
          </a:p>
        </p:txBody>
      </p:sp>
      <p:sp>
        <p:nvSpPr>
          <p:cNvPr id="24" name="AutoShape 32"/>
          <p:cNvSpPr>
            <a:spLocks noChangeArrowheads="1"/>
          </p:cNvSpPr>
          <p:nvPr/>
        </p:nvSpPr>
        <p:spPr bwMode="gray">
          <a:xfrm>
            <a:off x="4392960" y="1904701"/>
            <a:ext cx="2519362" cy="431800"/>
          </a:xfrm>
          <a:prstGeom prst="chevron">
            <a:avLst>
              <a:gd name="adj" fmla="val 81203"/>
            </a:avLst>
          </a:prstGeom>
          <a:solidFill>
            <a:srgbClr val="DB0613"/>
          </a:solidFill>
          <a:ln w="28575" algn="ctr">
            <a:solidFill>
              <a:schemeClr val="bg1"/>
            </a:solidFill>
            <a:miter lim="800000"/>
            <a:headEnd/>
            <a:tailEnd/>
          </a:ln>
          <a:effectLst/>
        </p:spPr>
        <p:txBody>
          <a:bodyPr wrap="none" anchor="ctr"/>
          <a:lstStyle/>
          <a:p>
            <a:pPr algn="ctr"/>
            <a:endParaRPr lang="en-US" sz="2000" dirty="0"/>
          </a:p>
        </p:txBody>
      </p:sp>
      <p:sp>
        <p:nvSpPr>
          <p:cNvPr id="25" name="AutoShape 33"/>
          <p:cNvSpPr>
            <a:spLocks noChangeArrowheads="1"/>
          </p:cNvSpPr>
          <p:nvPr/>
        </p:nvSpPr>
        <p:spPr bwMode="gray">
          <a:xfrm>
            <a:off x="6598417" y="1904701"/>
            <a:ext cx="2150047" cy="431800"/>
          </a:xfrm>
          <a:prstGeom prst="chevron">
            <a:avLst>
              <a:gd name="adj" fmla="val 71086"/>
            </a:avLst>
          </a:prstGeom>
          <a:solidFill>
            <a:srgbClr val="DB0613"/>
          </a:solidFill>
          <a:ln w="28575" algn="ctr">
            <a:solidFill>
              <a:schemeClr val="bg1"/>
            </a:solidFill>
            <a:miter lim="800000"/>
            <a:headEnd/>
            <a:tailEnd/>
          </a:ln>
          <a:effectLst/>
        </p:spPr>
        <p:txBody>
          <a:bodyPr wrap="none" anchor="ctr"/>
          <a:lstStyle/>
          <a:p>
            <a:pPr algn="ctr"/>
            <a:endParaRPr lang="en-US" sz="2000"/>
          </a:p>
        </p:txBody>
      </p:sp>
      <p:sp>
        <p:nvSpPr>
          <p:cNvPr id="26" name="Text Box 34"/>
          <p:cNvSpPr txBox="1">
            <a:spLocks noChangeArrowheads="1"/>
          </p:cNvSpPr>
          <p:nvPr/>
        </p:nvSpPr>
        <p:spPr bwMode="gray">
          <a:xfrm>
            <a:off x="5148064" y="1945976"/>
            <a:ext cx="958083" cy="369332"/>
          </a:xfrm>
          <a:prstGeom prst="rect">
            <a:avLst/>
          </a:prstGeom>
          <a:noFill/>
          <a:ln w="9525" algn="ctr">
            <a:noFill/>
            <a:miter lim="800000"/>
            <a:headEnd/>
            <a:tailEnd/>
          </a:ln>
          <a:effectLst/>
        </p:spPr>
        <p:txBody>
          <a:bodyPr wrap="none">
            <a:spAutoFit/>
          </a:bodyPr>
          <a:lstStyle/>
          <a:p>
            <a:pPr eaLnBrk="1" hangingPunct="1"/>
            <a:r>
              <a:rPr lang="es-ES" b="1" dirty="0">
                <a:solidFill>
                  <a:schemeClr val="bg1"/>
                </a:solidFill>
              </a:rPr>
              <a:t>Etapa III</a:t>
            </a:r>
            <a:endParaRPr lang="en-US" b="1" dirty="0">
              <a:solidFill>
                <a:schemeClr val="bg1"/>
              </a:solidFill>
            </a:endParaRPr>
          </a:p>
        </p:txBody>
      </p:sp>
      <p:sp>
        <p:nvSpPr>
          <p:cNvPr id="27" name="Text Box 35"/>
          <p:cNvSpPr txBox="1">
            <a:spLocks noChangeArrowheads="1"/>
          </p:cNvSpPr>
          <p:nvPr/>
        </p:nvSpPr>
        <p:spPr bwMode="gray">
          <a:xfrm>
            <a:off x="7164288" y="1930101"/>
            <a:ext cx="977319" cy="400110"/>
          </a:xfrm>
          <a:prstGeom prst="rect">
            <a:avLst/>
          </a:prstGeom>
          <a:noFill/>
          <a:ln w="9525" algn="ctr">
            <a:noFill/>
            <a:miter lim="800000"/>
            <a:headEnd/>
            <a:tailEnd/>
          </a:ln>
          <a:effectLst/>
        </p:spPr>
        <p:txBody>
          <a:bodyPr wrap="none">
            <a:spAutoFit/>
          </a:bodyPr>
          <a:lstStyle/>
          <a:p>
            <a:pPr eaLnBrk="1" hangingPunct="1"/>
            <a:r>
              <a:rPr lang="es-ES" b="1" dirty="0">
                <a:solidFill>
                  <a:schemeClr val="bg1"/>
                </a:solidFill>
              </a:rPr>
              <a:t>Etapa</a:t>
            </a:r>
            <a:r>
              <a:rPr lang="es-ES" sz="2000" b="1" dirty="0">
                <a:solidFill>
                  <a:srgbClr val="000000"/>
                </a:solidFill>
              </a:rPr>
              <a:t> </a:t>
            </a:r>
            <a:r>
              <a:rPr lang="es-ES" b="1" dirty="0">
                <a:solidFill>
                  <a:schemeClr val="bg1"/>
                </a:solidFill>
              </a:rPr>
              <a:t>IV</a:t>
            </a:r>
            <a:endParaRPr lang="en-US" b="1" dirty="0">
              <a:solidFill>
                <a:schemeClr val="bg1"/>
              </a:solidFill>
            </a:endParaRPr>
          </a:p>
        </p:txBody>
      </p:sp>
      <p:sp>
        <p:nvSpPr>
          <p:cNvPr id="28" name="AutoShape 36">
            <a:hlinkClick r:id="" action="ppaction://noaction"/>
          </p:cNvPr>
          <p:cNvSpPr>
            <a:spLocks noChangeArrowheads="1"/>
          </p:cNvSpPr>
          <p:nvPr/>
        </p:nvSpPr>
        <p:spPr bwMode="gray">
          <a:xfrm>
            <a:off x="395536" y="2409526"/>
            <a:ext cx="1980000" cy="719138"/>
          </a:xfrm>
          <a:prstGeom prst="roundRect">
            <a:avLst>
              <a:gd name="adj" fmla="val 16667"/>
            </a:avLst>
          </a:prstGeom>
          <a:solidFill>
            <a:srgbClr val="A6A6A6">
              <a:alpha val="54902"/>
            </a:srgbClr>
          </a:solidFill>
          <a:ln w="9525" algn="ctr">
            <a:solidFill>
              <a:srgbClr val="FFFFFF"/>
            </a:solidFill>
            <a:round/>
            <a:headEnd/>
            <a:tailEnd/>
          </a:ln>
          <a:effectLst/>
        </p:spPr>
        <p:txBody>
          <a:bodyPr anchor="ctr"/>
          <a:lstStyle/>
          <a:p>
            <a:pPr algn="ctr" eaLnBrk="1" hangingPunct="1"/>
            <a:r>
              <a:rPr lang="es-ES" sz="1400" b="1" dirty="0"/>
              <a:t>Levantamiento de Riesgos</a:t>
            </a:r>
            <a:endParaRPr lang="en-US" sz="1400" b="1" dirty="0"/>
          </a:p>
        </p:txBody>
      </p:sp>
      <p:sp>
        <p:nvSpPr>
          <p:cNvPr id="29" name="AutoShape 37">
            <a:hlinkClick r:id="" action="ppaction://noaction"/>
          </p:cNvPr>
          <p:cNvSpPr>
            <a:spLocks noChangeArrowheads="1"/>
          </p:cNvSpPr>
          <p:nvPr/>
        </p:nvSpPr>
        <p:spPr bwMode="gray">
          <a:xfrm>
            <a:off x="2520664" y="2409526"/>
            <a:ext cx="1979328" cy="719138"/>
          </a:xfrm>
          <a:prstGeom prst="roundRect">
            <a:avLst>
              <a:gd name="adj" fmla="val 16667"/>
            </a:avLst>
          </a:prstGeom>
          <a:solidFill>
            <a:srgbClr val="A6A6A6">
              <a:alpha val="54902"/>
            </a:srgbClr>
          </a:solidFill>
          <a:ln w="9525" algn="ctr">
            <a:solidFill>
              <a:srgbClr val="FFFFFF"/>
            </a:solidFill>
            <a:round/>
            <a:headEnd/>
            <a:tailEnd/>
          </a:ln>
          <a:effectLst/>
        </p:spPr>
        <p:txBody>
          <a:bodyPr anchor="ctr"/>
          <a:lstStyle/>
          <a:p>
            <a:pPr algn="ctr" eaLnBrk="1" hangingPunct="1"/>
            <a:r>
              <a:rPr lang="es-ES" sz="1400" b="1" dirty="0"/>
              <a:t>Validación de Riesgos y documentación de controles</a:t>
            </a:r>
            <a:endParaRPr lang="en-US" sz="1400" b="1" dirty="0"/>
          </a:p>
        </p:txBody>
      </p:sp>
      <p:sp>
        <p:nvSpPr>
          <p:cNvPr id="30" name="AutoShape 38">
            <a:hlinkClick r:id="" action="ppaction://noaction"/>
          </p:cNvPr>
          <p:cNvSpPr>
            <a:spLocks noChangeArrowheads="1"/>
          </p:cNvSpPr>
          <p:nvPr/>
        </p:nvSpPr>
        <p:spPr bwMode="gray">
          <a:xfrm>
            <a:off x="4644008" y="2409526"/>
            <a:ext cx="1980000" cy="719138"/>
          </a:xfrm>
          <a:prstGeom prst="roundRect">
            <a:avLst>
              <a:gd name="adj" fmla="val 16667"/>
            </a:avLst>
          </a:prstGeom>
          <a:solidFill>
            <a:srgbClr val="A6A6A6">
              <a:alpha val="54902"/>
            </a:srgbClr>
          </a:solidFill>
          <a:ln w="9525" algn="ctr">
            <a:solidFill>
              <a:srgbClr val="FFFFFF"/>
            </a:solidFill>
            <a:round/>
            <a:headEnd/>
            <a:tailEnd/>
          </a:ln>
          <a:effectLst/>
        </p:spPr>
        <p:txBody>
          <a:bodyPr anchor="ctr"/>
          <a:lstStyle/>
          <a:p>
            <a:pPr algn="ctr"/>
            <a:r>
              <a:rPr lang="es-ES" sz="1400" b="1" dirty="0"/>
              <a:t>Valoración de Riesgos y Entorno de Control</a:t>
            </a:r>
            <a:endParaRPr lang="en-US" sz="1400" b="1" dirty="0"/>
          </a:p>
        </p:txBody>
      </p:sp>
      <p:sp>
        <p:nvSpPr>
          <p:cNvPr id="31" name="AutoShape 39">
            <a:hlinkClick r:id="" action="ppaction://noaction"/>
          </p:cNvPr>
          <p:cNvSpPr>
            <a:spLocks noChangeArrowheads="1"/>
          </p:cNvSpPr>
          <p:nvPr/>
        </p:nvSpPr>
        <p:spPr bwMode="gray">
          <a:xfrm>
            <a:off x="6732239" y="2409526"/>
            <a:ext cx="1980000" cy="719138"/>
          </a:xfrm>
          <a:prstGeom prst="roundRect">
            <a:avLst>
              <a:gd name="adj" fmla="val 16667"/>
            </a:avLst>
          </a:prstGeom>
          <a:solidFill>
            <a:srgbClr val="A6A6A6">
              <a:alpha val="54902"/>
            </a:srgbClr>
          </a:solidFill>
          <a:ln w="9525" algn="ctr">
            <a:solidFill>
              <a:srgbClr val="FFFFFF"/>
            </a:solidFill>
            <a:round/>
            <a:headEnd/>
            <a:tailEnd/>
          </a:ln>
          <a:effectLst/>
        </p:spPr>
        <p:txBody>
          <a:bodyPr anchor="ctr"/>
          <a:lstStyle/>
          <a:p>
            <a:pPr algn="ctr"/>
            <a:r>
              <a:rPr lang="es-ES" sz="1400" b="1" dirty="0"/>
              <a:t>Documentación de Planes de Acción y </a:t>
            </a:r>
            <a:r>
              <a:rPr lang="es-ES" sz="1400" b="1" dirty="0" err="1"/>
              <a:t>KRI’s</a:t>
            </a:r>
            <a:endParaRPr lang="en-US" sz="1400" b="1" dirty="0"/>
          </a:p>
        </p:txBody>
      </p:sp>
      <p:sp>
        <p:nvSpPr>
          <p:cNvPr id="39" name="TextBox 38"/>
          <p:cNvSpPr txBox="1"/>
          <p:nvPr/>
        </p:nvSpPr>
        <p:spPr>
          <a:xfrm>
            <a:off x="4283968" y="6505599"/>
            <a:ext cx="792088" cy="307777"/>
          </a:xfrm>
          <a:prstGeom prst="rect">
            <a:avLst/>
          </a:prstGeom>
          <a:noFill/>
        </p:spPr>
        <p:txBody>
          <a:bodyPr wrap="square" rtlCol="0">
            <a:spAutoFit/>
          </a:bodyPr>
          <a:lstStyle/>
          <a:p>
            <a:pPr algn="ctr"/>
            <a:r>
              <a:rPr lang="es-CL" sz="1400" dirty="0">
                <a:solidFill>
                  <a:schemeClr val="bg1"/>
                </a:solidFill>
              </a:rPr>
              <a:t>3</a:t>
            </a:r>
            <a:endParaRPr lang="es-ES" sz="1400" dirty="0">
              <a:solidFill>
                <a:schemeClr val="bg1"/>
              </a:solidFill>
            </a:endParaRPr>
          </a:p>
        </p:txBody>
      </p:sp>
      <p:sp>
        <p:nvSpPr>
          <p:cNvPr id="33" name="Rectangle 50"/>
          <p:cNvSpPr>
            <a:spLocks noChangeArrowheads="1"/>
          </p:cNvSpPr>
          <p:nvPr/>
        </p:nvSpPr>
        <p:spPr bwMode="auto">
          <a:xfrm>
            <a:off x="407238" y="3216631"/>
            <a:ext cx="1956595" cy="2300601"/>
          </a:xfrm>
          <a:prstGeom prst="rect">
            <a:avLst/>
          </a:prstGeom>
          <a:solidFill>
            <a:schemeClr val="accent2">
              <a:lumMod val="20000"/>
              <a:lumOff val="80000"/>
            </a:schemeClr>
          </a:solidFill>
          <a:ln w="9525">
            <a:noFill/>
            <a:miter lim="800000"/>
            <a:headEnd/>
            <a:tailEnd/>
          </a:ln>
          <a:effectLst/>
        </p:spPr>
        <p:txBody>
          <a:bodyPr tIns="190800"/>
          <a:lstStyle/>
          <a:p>
            <a:pPr marL="177800" indent="-177800" algn="l">
              <a:spcBef>
                <a:spcPct val="30000"/>
              </a:spcBef>
              <a:buFontTx/>
              <a:buChar char="•"/>
            </a:pPr>
            <a:r>
              <a:rPr lang="es-ES" sz="1050" b="0" dirty="0">
                <a:solidFill>
                  <a:schemeClr val="tx1"/>
                </a:solidFill>
              </a:rPr>
              <a:t>Identificación de riesgos en los procesos evaluados.</a:t>
            </a:r>
          </a:p>
          <a:p>
            <a:pPr marL="177800" indent="-177800" algn="l">
              <a:spcBef>
                <a:spcPct val="30000"/>
              </a:spcBef>
              <a:buFontTx/>
              <a:buChar char="•"/>
            </a:pPr>
            <a:r>
              <a:rPr lang="es-ES" sz="1050" b="0" dirty="0">
                <a:solidFill>
                  <a:schemeClr val="tx1"/>
                </a:solidFill>
              </a:rPr>
              <a:t>Asignación de riesgo a categorías.</a:t>
            </a:r>
          </a:p>
          <a:p>
            <a:pPr marL="177800" indent="-177800" algn="l">
              <a:spcBef>
                <a:spcPct val="30000"/>
              </a:spcBef>
              <a:buFontTx/>
              <a:buChar char="•"/>
            </a:pPr>
            <a:r>
              <a:rPr lang="es-ES" sz="1050" b="0" dirty="0">
                <a:solidFill>
                  <a:schemeClr val="tx1"/>
                </a:solidFill>
              </a:rPr>
              <a:t>Identificación de características adicionales (origen).</a:t>
            </a:r>
          </a:p>
          <a:p>
            <a:pPr marL="177800" indent="-177800" algn="l">
              <a:spcBef>
                <a:spcPct val="30000"/>
              </a:spcBef>
              <a:buFontTx/>
              <a:buChar char="•"/>
            </a:pPr>
            <a:r>
              <a:rPr lang="es-ES" sz="1050" b="0" dirty="0">
                <a:solidFill>
                  <a:schemeClr val="tx1"/>
                </a:solidFill>
              </a:rPr>
              <a:t>Documentación detallada del riesgo y de sus impactos.</a:t>
            </a:r>
            <a:endParaRPr lang="en-US" sz="1050" b="0" dirty="0">
              <a:solidFill>
                <a:schemeClr val="tx1"/>
              </a:solidFill>
            </a:endParaRPr>
          </a:p>
        </p:txBody>
      </p:sp>
      <p:sp>
        <p:nvSpPr>
          <p:cNvPr id="34" name="Rectangle 51"/>
          <p:cNvSpPr>
            <a:spLocks noChangeArrowheads="1"/>
          </p:cNvSpPr>
          <p:nvPr/>
        </p:nvSpPr>
        <p:spPr bwMode="auto">
          <a:xfrm>
            <a:off x="2555777" y="3216631"/>
            <a:ext cx="1944216" cy="2300601"/>
          </a:xfrm>
          <a:prstGeom prst="rect">
            <a:avLst/>
          </a:prstGeom>
          <a:solidFill>
            <a:schemeClr val="accent2">
              <a:lumMod val="20000"/>
              <a:lumOff val="80000"/>
            </a:schemeClr>
          </a:solidFill>
          <a:ln w="9525">
            <a:noFill/>
            <a:miter lim="800000"/>
            <a:headEnd/>
            <a:tailEnd/>
          </a:ln>
          <a:effectLst/>
        </p:spPr>
        <p:txBody>
          <a:bodyPr tIns="190800"/>
          <a:lstStyle/>
          <a:p>
            <a:pPr marL="177800" indent="-177800">
              <a:spcBef>
                <a:spcPct val="30000"/>
              </a:spcBef>
              <a:buFontTx/>
              <a:buChar char="•"/>
            </a:pPr>
            <a:r>
              <a:rPr lang="es-ES" sz="1050" dirty="0"/>
              <a:t>Validación de los riesgos con el experto del proceso.</a:t>
            </a:r>
            <a:endParaRPr lang="es-ES" sz="1050" b="0" dirty="0">
              <a:solidFill>
                <a:schemeClr val="tx1"/>
              </a:solidFill>
            </a:endParaRPr>
          </a:p>
          <a:p>
            <a:pPr marL="177800" indent="-177800" algn="l">
              <a:spcBef>
                <a:spcPct val="30000"/>
              </a:spcBef>
              <a:buFontTx/>
              <a:buChar char="•"/>
            </a:pPr>
            <a:r>
              <a:rPr lang="es-ES" sz="1050" b="0" dirty="0">
                <a:solidFill>
                  <a:schemeClr val="tx1"/>
                </a:solidFill>
              </a:rPr>
              <a:t>Identificación de controles existentes para la mitigación del riesgo.</a:t>
            </a:r>
          </a:p>
        </p:txBody>
      </p:sp>
      <p:sp>
        <p:nvSpPr>
          <p:cNvPr id="40" name="Rectangle 52"/>
          <p:cNvSpPr>
            <a:spLocks noChangeArrowheads="1"/>
          </p:cNvSpPr>
          <p:nvPr/>
        </p:nvSpPr>
        <p:spPr bwMode="auto">
          <a:xfrm>
            <a:off x="6732240" y="3216630"/>
            <a:ext cx="1979999" cy="2300601"/>
          </a:xfrm>
          <a:prstGeom prst="rect">
            <a:avLst/>
          </a:prstGeom>
          <a:solidFill>
            <a:schemeClr val="accent2">
              <a:lumMod val="20000"/>
              <a:lumOff val="80000"/>
            </a:schemeClr>
          </a:solidFill>
          <a:ln w="9525">
            <a:noFill/>
            <a:miter lim="800000"/>
            <a:headEnd/>
            <a:tailEnd/>
          </a:ln>
          <a:effectLst/>
        </p:spPr>
        <p:txBody>
          <a:bodyPr tIns="190800"/>
          <a:lstStyle/>
          <a:p>
            <a:pPr marL="177800" indent="-177800" algn="l">
              <a:spcBef>
                <a:spcPct val="30000"/>
              </a:spcBef>
              <a:buFontTx/>
              <a:buChar char="•"/>
            </a:pPr>
            <a:r>
              <a:rPr lang="es-ES" sz="1050" b="0" dirty="0">
                <a:solidFill>
                  <a:schemeClr val="tx1"/>
                </a:solidFill>
              </a:rPr>
              <a:t>Identificar planes de acción existentes o propuestas de mejora.</a:t>
            </a:r>
          </a:p>
          <a:p>
            <a:pPr marL="177800" indent="-177800" algn="l">
              <a:spcBef>
                <a:spcPct val="30000"/>
              </a:spcBef>
              <a:buFontTx/>
              <a:buChar char="•"/>
            </a:pPr>
            <a:r>
              <a:rPr lang="es-ES" sz="1050" b="0" dirty="0">
                <a:solidFill>
                  <a:schemeClr val="tx1"/>
                </a:solidFill>
              </a:rPr>
              <a:t>Se priorizarán por la severidad del riesgo mitigado, por la facilidad de implantación o por el plazo/coste de la misma.</a:t>
            </a:r>
            <a:endParaRPr lang="en-US" sz="1050" b="0" dirty="0">
              <a:solidFill>
                <a:schemeClr val="tx1"/>
              </a:solidFill>
            </a:endParaRPr>
          </a:p>
        </p:txBody>
      </p:sp>
      <p:sp>
        <p:nvSpPr>
          <p:cNvPr id="43" name="Rectangle 51"/>
          <p:cNvSpPr>
            <a:spLocks noChangeArrowheads="1"/>
          </p:cNvSpPr>
          <p:nvPr/>
        </p:nvSpPr>
        <p:spPr bwMode="auto">
          <a:xfrm>
            <a:off x="4644008" y="3212975"/>
            <a:ext cx="1944216" cy="2300601"/>
          </a:xfrm>
          <a:prstGeom prst="rect">
            <a:avLst/>
          </a:prstGeom>
          <a:solidFill>
            <a:schemeClr val="accent2">
              <a:lumMod val="20000"/>
              <a:lumOff val="80000"/>
            </a:schemeClr>
          </a:solidFill>
          <a:ln w="9525">
            <a:noFill/>
            <a:miter lim="800000"/>
            <a:headEnd/>
            <a:tailEnd/>
          </a:ln>
          <a:effectLst/>
        </p:spPr>
        <p:txBody>
          <a:bodyPr tIns="190800"/>
          <a:lstStyle/>
          <a:p>
            <a:pPr marL="177800" indent="-177800">
              <a:spcBef>
                <a:spcPct val="30000"/>
              </a:spcBef>
              <a:buFontTx/>
              <a:buChar char="•"/>
            </a:pPr>
            <a:r>
              <a:rPr lang="es-ES" sz="1050" dirty="0"/>
              <a:t>Valoración de los riesgos con el experto del proceso.</a:t>
            </a:r>
            <a:endParaRPr lang="es-ES" sz="1050" b="0" dirty="0">
              <a:solidFill>
                <a:schemeClr val="tx1"/>
              </a:solidFill>
            </a:endParaRPr>
          </a:p>
          <a:p>
            <a:pPr marL="177800" indent="-177800" algn="l">
              <a:spcBef>
                <a:spcPct val="30000"/>
              </a:spcBef>
              <a:buFontTx/>
              <a:buChar char="•"/>
            </a:pPr>
            <a:r>
              <a:rPr lang="es-ES" sz="1050" b="0" dirty="0">
                <a:solidFill>
                  <a:schemeClr val="tx1"/>
                </a:solidFill>
              </a:rPr>
              <a:t>Se cuantifica el riesgo residual asociado a pérdidas directas.</a:t>
            </a:r>
          </a:p>
          <a:p>
            <a:pPr marL="177800" indent="-177800" algn="l">
              <a:spcBef>
                <a:spcPct val="30000"/>
              </a:spcBef>
              <a:buFontTx/>
              <a:buChar char="•"/>
            </a:pPr>
            <a:r>
              <a:rPr lang="es-ES" sz="1050" b="0" dirty="0">
                <a:solidFill>
                  <a:schemeClr val="tx1"/>
                </a:solidFill>
              </a:rPr>
              <a:t>Valoración de los controles (cobertura y eficiencia) con el experto del proceso.</a:t>
            </a:r>
          </a:p>
        </p:txBody>
      </p:sp>
      <p:sp>
        <p:nvSpPr>
          <p:cNvPr id="44" name="Title 1"/>
          <p:cNvSpPr>
            <a:spLocks noGrp="1"/>
          </p:cNvSpPr>
          <p:nvPr>
            <p:ph type="title"/>
          </p:nvPr>
        </p:nvSpPr>
        <p:spPr>
          <a:xfrm>
            <a:off x="47625" y="32965"/>
            <a:ext cx="8217470" cy="587723"/>
          </a:xfrm>
        </p:spPr>
        <p:txBody>
          <a:bodyPr/>
          <a:lstStyle/>
          <a:p>
            <a:r>
              <a:rPr lang="es-ES" dirty="0"/>
              <a:t>Metodología de Riesgo Operacional</a:t>
            </a:r>
            <a:endParaRPr lang="es-ES" sz="1000" dirty="0"/>
          </a:p>
        </p:txBody>
      </p:sp>
    </p:spTree>
    <p:extLst>
      <p:ext uri="{BB962C8B-B14F-4D97-AF65-F5344CB8AC3E}">
        <p14:creationId xmlns:p14="http://schemas.microsoft.com/office/powerpoint/2010/main" val="1800514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10345" y="1988355"/>
            <a:ext cx="7756268" cy="1236149"/>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TextBox 10"/>
          <p:cNvSpPr txBox="1"/>
          <p:nvPr/>
        </p:nvSpPr>
        <p:spPr>
          <a:xfrm>
            <a:off x="106170" y="1709620"/>
            <a:ext cx="3138616" cy="307777"/>
          </a:xfrm>
          <a:prstGeom prst="rect">
            <a:avLst/>
          </a:prstGeom>
          <a:noFill/>
        </p:spPr>
        <p:txBody>
          <a:bodyPr wrap="square" rtlCol="0">
            <a:spAutoFit/>
          </a:bodyPr>
          <a:lstStyle/>
          <a:p>
            <a:r>
              <a:rPr lang="es-CL" sz="1400" b="1" dirty="0"/>
              <a:t>Visión general Piloto I</a:t>
            </a:r>
            <a:endParaRPr lang="es-ES" sz="1400" b="1" dirty="0"/>
          </a:p>
        </p:txBody>
      </p:sp>
      <p:sp>
        <p:nvSpPr>
          <p:cNvPr id="17" name="Text Box 100"/>
          <p:cNvSpPr txBox="1">
            <a:spLocks noChangeArrowheads="1"/>
          </p:cNvSpPr>
          <p:nvPr/>
        </p:nvSpPr>
        <p:spPr bwMode="blackWhite">
          <a:xfrm>
            <a:off x="217915" y="808092"/>
            <a:ext cx="8721369" cy="557204"/>
          </a:xfrm>
          <a:prstGeom prst="rect">
            <a:avLst/>
          </a:prstGeom>
          <a:noFill/>
          <a:ln w="12700" algn="ctr">
            <a:noFill/>
            <a:miter lim="800000"/>
            <a:headEnd/>
            <a:tailEnd/>
          </a:ln>
        </p:spPr>
        <p:txBody>
          <a:bodyPr wrap="square">
            <a:spAutoFit/>
          </a:bodyPr>
          <a:lstStyle/>
          <a:p>
            <a:pPr algn="ctr">
              <a:lnSpc>
                <a:spcPts val="1800"/>
              </a:lnSpc>
            </a:pPr>
            <a:r>
              <a:rPr lang="es-CL" b="1" dirty="0">
                <a:latin typeface="+mj-lt"/>
                <a:cs typeface="Arial" pitchFamily="34" charset="0"/>
              </a:rPr>
              <a:t>En el Piloto I se consigue la aplicación de la metodología de riesgo operacional a los dos procesos seleccionados</a:t>
            </a:r>
            <a:endParaRPr lang="es-ES" b="1" dirty="0">
              <a:latin typeface="+mj-lt"/>
              <a:cs typeface="Arial" pitchFamily="34" charset="0"/>
            </a:endParaRPr>
          </a:p>
        </p:txBody>
      </p:sp>
      <p:pic>
        <p:nvPicPr>
          <p:cNvPr id="3075"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276" t="22804" r="16736" b="63878"/>
          <a:stretch/>
        </p:blipFill>
        <p:spPr bwMode="auto">
          <a:xfrm>
            <a:off x="688341" y="2085719"/>
            <a:ext cx="7159297" cy="837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21"/>
          <p:cNvSpPr/>
          <p:nvPr/>
        </p:nvSpPr>
        <p:spPr>
          <a:xfrm>
            <a:off x="191783" y="3551933"/>
            <a:ext cx="4542263" cy="1387583"/>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24" name="TextBox 23"/>
          <p:cNvSpPr txBox="1"/>
          <p:nvPr/>
        </p:nvSpPr>
        <p:spPr>
          <a:xfrm>
            <a:off x="87609" y="3274997"/>
            <a:ext cx="3157178" cy="276999"/>
          </a:xfrm>
          <a:prstGeom prst="rect">
            <a:avLst/>
          </a:prstGeom>
          <a:noFill/>
        </p:spPr>
        <p:txBody>
          <a:bodyPr wrap="square" rtlCol="0">
            <a:spAutoFit/>
          </a:bodyPr>
          <a:lstStyle>
            <a:defPPr>
              <a:defRPr lang="es-PE"/>
            </a:defPPr>
            <a:lvl1pPr algn="ctr">
              <a:defRPr b="1"/>
            </a:lvl1pPr>
          </a:lstStyle>
          <a:p>
            <a:pPr algn="just"/>
            <a:r>
              <a:rPr lang="es-CL" sz="1200" dirty="0"/>
              <a:t>Resultados</a:t>
            </a:r>
            <a:endParaRPr lang="es-ES" sz="1200" dirty="0"/>
          </a:p>
        </p:txBody>
      </p:sp>
      <p:sp>
        <p:nvSpPr>
          <p:cNvPr id="26" name="TextBox 25"/>
          <p:cNvSpPr txBox="1"/>
          <p:nvPr/>
        </p:nvSpPr>
        <p:spPr>
          <a:xfrm>
            <a:off x="5416950" y="3274997"/>
            <a:ext cx="1766560" cy="276999"/>
          </a:xfrm>
          <a:prstGeom prst="rect">
            <a:avLst/>
          </a:prstGeom>
          <a:noFill/>
        </p:spPr>
        <p:txBody>
          <a:bodyPr wrap="square" rtlCol="0">
            <a:spAutoFit/>
          </a:bodyPr>
          <a:lstStyle>
            <a:defPPr>
              <a:defRPr lang="es-PE"/>
            </a:defPPr>
            <a:lvl1pPr algn="ctr">
              <a:defRPr b="1"/>
            </a:lvl1pPr>
          </a:lstStyle>
          <a:p>
            <a:pPr algn="just"/>
            <a:r>
              <a:rPr lang="es-CL" sz="1200" dirty="0"/>
              <a:t>Metodología</a:t>
            </a:r>
            <a:endParaRPr lang="es-ES" sz="1200" dirty="0"/>
          </a:p>
        </p:txBody>
      </p:sp>
      <p:cxnSp>
        <p:nvCxnSpPr>
          <p:cNvPr id="19" name="Straight Connector 18"/>
          <p:cNvCxnSpPr/>
          <p:nvPr/>
        </p:nvCxnSpPr>
        <p:spPr>
          <a:xfrm>
            <a:off x="5115999" y="3394160"/>
            <a:ext cx="0" cy="1548000"/>
          </a:xfrm>
          <a:prstGeom prst="line">
            <a:avLst/>
          </a:prstGeom>
          <a:ln>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480145" y="3563508"/>
            <a:ext cx="3543745" cy="1376008"/>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31" name="TextBox 30"/>
          <p:cNvSpPr txBox="1"/>
          <p:nvPr/>
        </p:nvSpPr>
        <p:spPr>
          <a:xfrm>
            <a:off x="5480145" y="3582774"/>
            <a:ext cx="3459139" cy="1384995"/>
          </a:xfrm>
          <a:prstGeom prst="rect">
            <a:avLst/>
          </a:prstGeom>
          <a:noFill/>
        </p:spPr>
        <p:txBody>
          <a:bodyPr wrap="square" rtlCol="0">
            <a:spAutoFit/>
          </a:bodyPr>
          <a:lstStyle>
            <a:defPPr>
              <a:defRPr lang="es-PE"/>
            </a:defPPr>
            <a:lvl1pPr algn="ctr">
              <a:defRPr b="1"/>
            </a:lvl1pPr>
          </a:lstStyle>
          <a:p>
            <a:pPr algn="just"/>
            <a:r>
              <a:rPr lang="es-CL" sz="1200" b="0" dirty="0"/>
              <a:t>Levantamiento de procesos: </a:t>
            </a:r>
            <a:r>
              <a:rPr lang="es-CL" sz="1200" dirty="0"/>
              <a:t>Sí</a:t>
            </a:r>
          </a:p>
          <a:p>
            <a:pPr algn="just"/>
            <a:r>
              <a:rPr lang="es-CL" sz="1200" b="0" dirty="0"/>
              <a:t>Identificación de riesgos: </a:t>
            </a:r>
            <a:r>
              <a:rPr lang="es-CL" sz="1200" dirty="0"/>
              <a:t>Si</a:t>
            </a:r>
          </a:p>
          <a:p>
            <a:pPr algn="just"/>
            <a:r>
              <a:rPr lang="es-CL" sz="1200" b="0" dirty="0"/>
              <a:t>Valoración de riesgos y controles: </a:t>
            </a:r>
            <a:r>
              <a:rPr lang="es-CL" sz="1200" dirty="0"/>
              <a:t>Sí</a:t>
            </a:r>
          </a:p>
          <a:p>
            <a:pPr algn="just"/>
            <a:r>
              <a:rPr lang="es-CL" sz="1200" b="0" dirty="0"/>
              <a:t>Documentación de planes de acción: </a:t>
            </a:r>
            <a:r>
              <a:rPr lang="es-CL" sz="1200" dirty="0"/>
              <a:t>Sí</a:t>
            </a:r>
          </a:p>
          <a:p>
            <a:pPr algn="just"/>
            <a:r>
              <a:rPr lang="es-CL" sz="1200" b="0" dirty="0"/>
              <a:t>Documentación de KRI’s: </a:t>
            </a:r>
            <a:r>
              <a:rPr lang="es-CL" sz="1200" dirty="0"/>
              <a:t>Sí</a:t>
            </a:r>
          </a:p>
          <a:p>
            <a:pPr algn="just"/>
            <a:r>
              <a:rPr lang="es-CL" sz="1200" b="0" dirty="0"/>
              <a:t>Planes de continuidad de negocio: </a:t>
            </a:r>
            <a:r>
              <a:rPr lang="es-CL" sz="1200" dirty="0"/>
              <a:t>Sí</a:t>
            </a:r>
          </a:p>
          <a:p>
            <a:pPr algn="just"/>
            <a:r>
              <a:rPr lang="es-CL" sz="1200" b="0" dirty="0"/>
              <a:t>Carga de información en SIRO: </a:t>
            </a:r>
            <a:r>
              <a:rPr lang="es-CL" sz="1200" dirty="0"/>
              <a:t>Sí</a:t>
            </a:r>
          </a:p>
        </p:txBody>
      </p:sp>
      <p:sp>
        <p:nvSpPr>
          <p:cNvPr id="38" name="Rectangle 37"/>
          <p:cNvSpPr/>
          <p:nvPr/>
        </p:nvSpPr>
        <p:spPr>
          <a:xfrm>
            <a:off x="191783" y="4702317"/>
            <a:ext cx="4542263" cy="207944"/>
          </a:xfrm>
          <a:prstGeom prst="rect">
            <a:avLst/>
          </a:prstGeom>
          <a:solidFill>
            <a:srgbClr val="FF0000">
              <a:alpha val="12000"/>
            </a:srgbClr>
          </a:solid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Down Arrow 39"/>
          <p:cNvSpPr/>
          <p:nvPr/>
        </p:nvSpPr>
        <p:spPr>
          <a:xfrm>
            <a:off x="379873" y="2267917"/>
            <a:ext cx="127029" cy="828000"/>
          </a:xfrm>
          <a:prstGeom prst="downArrow">
            <a:avLst/>
          </a:prstGeom>
          <a:gradFill>
            <a:gsLst>
              <a:gs pos="0">
                <a:srgbClr val="E0D399">
                  <a:lumMod val="60000"/>
                  <a:lumOff val="40000"/>
                </a:srgbClr>
              </a:gs>
              <a:gs pos="50000">
                <a:srgbClr val="E0D399">
                  <a:lumMod val="75000"/>
                </a:srgbClr>
              </a:gs>
              <a:gs pos="100000">
                <a:srgbClr val="E0D399">
                  <a:lumMod val="50000"/>
                </a:srgbClr>
              </a:gs>
            </a:gsLst>
            <a:lin ang="5400000" scaled="0"/>
          </a:gra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41" name="Oval 40"/>
          <p:cNvSpPr/>
          <p:nvPr/>
        </p:nvSpPr>
        <p:spPr>
          <a:xfrm>
            <a:off x="281564" y="2636938"/>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lang="es-ES" sz="1050" b="1" kern="0" noProof="0" dirty="0">
                <a:solidFill>
                  <a:srgbClr val="FFFFFF"/>
                </a:solidFill>
                <a:latin typeface="Arial"/>
              </a:rPr>
              <a:t>5</a:t>
            </a:r>
            <a:r>
              <a:rPr kumimoji="0" lang="es-ES" sz="1050" b="1" i="0" u="none" strike="noStrike" kern="0" cap="none" spc="0" normalizeH="0" baseline="0" noProof="0" dirty="0">
                <a:ln>
                  <a:noFill/>
                </a:ln>
                <a:solidFill>
                  <a:srgbClr val="FFFFFF"/>
                </a:solidFill>
                <a:effectLst/>
                <a:uLnTx/>
                <a:uFillTx/>
                <a:latin typeface="Arial"/>
                <a:ea typeface="+mn-ea"/>
                <a:cs typeface="+mn-cs"/>
              </a:rPr>
              <a:t>%</a:t>
            </a:r>
          </a:p>
        </p:txBody>
      </p:sp>
      <p:sp>
        <p:nvSpPr>
          <p:cNvPr id="42" name="Rectangle 41"/>
          <p:cNvSpPr/>
          <p:nvPr/>
        </p:nvSpPr>
        <p:spPr>
          <a:xfrm>
            <a:off x="688342" y="2504589"/>
            <a:ext cx="3064262" cy="447327"/>
          </a:xfrm>
          <a:prstGeom prst="rect">
            <a:avLst/>
          </a:prstGeom>
          <a:solidFill>
            <a:srgbClr val="FF0000">
              <a:alpha val="12000"/>
            </a:srgbClr>
          </a:solid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TextBox 42"/>
          <p:cNvSpPr txBox="1"/>
          <p:nvPr/>
        </p:nvSpPr>
        <p:spPr>
          <a:xfrm>
            <a:off x="191783" y="3554521"/>
            <a:ext cx="4386816" cy="1384995"/>
          </a:xfrm>
          <a:prstGeom prst="rect">
            <a:avLst/>
          </a:prstGeom>
          <a:noFill/>
        </p:spPr>
        <p:txBody>
          <a:bodyPr wrap="square" rtlCol="0">
            <a:spAutoFit/>
          </a:bodyPr>
          <a:lstStyle>
            <a:defPPr>
              <a:defRPr lang="es-PE"/>
            </a:defPPr>
            <a:lvl1pPr algn="ctr">
              <a:defRPr b="1"/>
            </a:lvl1pPr>
          </a:lstStyle>
          <a:p>
            <a:pPr algn="just"/>
            <a:r>
              <a:rPr lang="es-CL" sz="1200" b="0" dirty="0"/>
              <a:t>Número de procesos abordados: </a:t>
            </a:r>
            <a:r>
              <a:rPr lang="es-CL" sz="1200" dirty="0"/>
              <a:t>2</a:t>
            </a:r>
            <a:endParaRPr lang="es-CL" sz="1200" b="0" dirty="0"/>
          </a:p>
          <a:p>
            <a:pPr algn="just"/>
            <a:r>
              <a:rPr lang="es-CL" sz="1200" b="0" dirty="0"/>
              <a:t>Familia de productos: </a:t>
            </a:r>
            <a:r>
              <a:rPr lang="es-CL" sz="1200" dirty="0"/>
              <a:t>1</a:t>
            </a:r>
            <a:r>
              <a:rPr lang="es-CL" sz="1200" b="0" dirty="0"/>
              <a:t> (Suscripción Vehicular)</a:t>
            </a:r>
          </a:p>
          <a:p>
            <a:pPr algn="just"/>
            <a:r>
              <a:rPr lang="es-CL" sz="1200" b="0" dirty="0"/>
              <a:t>Número de gestores de riesgos entrevistados: </a:t>
            </a:r>
            <a:r>
              <a:rPr lang="es-CL" sz="1200" dirty="0"/>
              <a:t>43</a:t>
            </a:r>
          </a:p>
          <a:p>
            <a:pPr algn="just"/>
            <a:r>
              <a:rPr lang="es-CL" sz="1200" b="0" dirty="0"/>
              <a:t>Riesgos levantados: </a:t>
            </a:r>
            <a:r>
              <a:rPr lang="es-CL" sz="1200" dirty="0"/>
              <a:t>40</a:t>
            </a:r>
          </a:p>
          <a:p>
            <a:pPr algn="just"/>
            <a:r>
              <a:rPr lang="es-CL" sz="1200" b="0" dirty="0"/>
              <a:t>Pérdida Esperada Anual (PEA): </a:t>
            </a:r>
            <a:r>
              <a:rPr lang="es-CL" sz="1200" dirty="0"/>
              <a:t>S/. 4.3 MM</a:t>
            </a:r>
          </a:p>
          <a:p>
            <a:pPr algn="just"/>
            <a:r>
              <a:rPr lang="es-CL" sz="1200" b="0" dirty="0"/>
              <a:t>Pérdida Máxima Estimada (VaR): </a:t>
            </a:r>
            <a:r>
              <a:rPr lang="es-CL" sz="1200" dirty="0"/>
              <a:t>S/. 28.3 MM</a:t>
            </a:r>
          </a:p>
          <a:p>
            <a:pPr algn="just"/>
            <a:r>
              <a:rPr lang="es-CL" sz="1200" b="0" dirty="0"/>
              <a:t>% Estimado de cobertura VaR de la compañía: </a:t>
            </a:r>
            <a:r>
              <a:rPr lang="es-CL" sz="1200" dirty="0"/>
              <a:t>5%</a:t>
            </a:r>
            <a:endParaRPr lang="es-ES" sz="1200" dirty="0"/>
          </a:p>
        </p:txBody>
      </p:sp>
      <p:sp>
        <p:nvSpPr>
          <p:cNvPr id="25" name="Title 24"/>
          <p:cNvSpPr>
            <a:spLocks noGrp="1"/>
          </p:cNvSpPr>
          <p:nvPr>
            <p:ph type="title"/>
          </p:nvPr>
        </p:nvSpPr>
        <p:spPr/>
        <p:txBody>
          <a:bodyPr/>
          <a:lstStyle/>
          <a:p>
            <a:r>
              <a:rPr lang="es-ES"/>
              <a:t>Piloto I</a:t>
            </a:r>
          </a:p>
        </p:txBody>
      </p:sp>
    </p:spTree>
    <p:extLst>
      <p:ext uri="{BB962C8B-B14F-4D97-AF65-F5344CB8AC3E}">
        <p14:creationId xmlns:p14="http://schemas.microsoft.com/office/powerpoint/2010/main" val="91708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100"/>
          <p:cNvSpPr txBox="1">
            <a:spLocks noChangeArrowheads="1"/>
          </p:cNvSpPr>
          <p:nvPr/>
        </p:nvSpPr>
        <p:spPr bwMode="blackWhite">
          <a:xfrm>
            <a:off x="217915" y="843717"/>
            <a:ext cx="8721369" cy="784830"/>
          </a:xfrm>
          <a:prstGeom prst="rect">
            <a:avLst/>
          </a:prstGeom>
          <a:noFill/>
          <a:ln w="12700" algn="ctr">
            <a:noFill/>
            <a:miter lim="800000"/>
            <a:headEnd/>
            <a:tailEnd/>
          </a:ln>
        </p:spPr>
        <p:txBody>
          <a:bodyPr wrap="square">
            <a:spAutoFit/>
          </a:bodyPr>
          <a:lstStyle/>
          <a:p>
            <a:pPr algn="ctr">
              <a:lnSpc>
                <a:spcPts val="1800"/>
              </a:lnSpc>
            </a:pPr>
            <a:r>
              <a:rPr lang="es-CL" b="1" dirty="0">
                <a:latin typeface="+mj-lt"/>
                <a:cs typeface="Arial" pitchFamily="34" charset="0"/>
              </a:rPr>
              <a:t>El Piloto II consolida la metodología y la potencia a través de la focalización en los riesgos, alcanzando un 40% de la exposición al RO de la compañía. Con la culminación del bloque I se pretende alcanzar el 83% de la misma.</a:t>
            </a:r>
            <a:endParaRPr lang="es-ES" b="1" dirty="0">
              <a:latin typeface="+mj-lt"/>
              <a:cs typeface="Arial" pitchFamily="34" charset="0"/>
            </a:endParaRPr>
          </a:p>
        </p:txBody>
      </p:sp>
      <p:sp>
        <p:nvSpPr>
          <p:cNvPr id="22" name="Rectangle 21"/>
          <p:cNvSpPr/>
          <p:nvPr/>
        </p:nvSpPr>
        <p:spPr>
          <a:xfrm>
            <a:off x="191783" y="4106219"/>
            <a:ext cx="4542263" cy="1387583"/>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24" name="TextBox 23"/>
          <p:cNvSpPr txBox="1"/>
          <p:nvPr/>
        </p:nvSpPr>
        <p:spPr>
          <a:xfrm>
            <a:off x="87609" y="3829283"/>
            <a:ext cx="3157178" cy="276999"/>
          </a:xfrm>
          <a:prstGeom prst="rect">
            <a:avLst/>
          </a:prstGeom>
          <a:noFill/>
        </p:spPr>
        <p:txBody>
          <a:bodyPr wrap="square" rtlCol="0">
            <a:spAutoFit/>
          </a:bodyPr>
          <a:lstStyle>
            <a:defPPr>
              <a:defRPr lang="es-PE"/>
            </a:defPPr>
            <a:lvl1pPr algn="ctr">
              <a:defRPr b="1"/>
            </a:lvl1pPr>
          </a:lstStyle>
          <a:p>
            <a:pPr algn="just"/>
            <a:r>
              <a:rPr lang="es-CL" sz="1200" dirty="0"/>
              <a:t>Resultados Piloto II</a:t>
            </a:r>
            <a:endParaRPr lang="es-ES" sz="1200" dirty="0"/>
          </a:p>
        </p:txBody>
      </p:sp>
      <p:sp>
        <p:nvSpPr>
          <p:cNvPr id="25" name="TextBox 24"/>
          <p:cNvSpPr txBox="1"/>
          <p:nvPr/>
        </p:nvSpPr>
        <p:spPr>
          <a:xfrm>
            <a:off x="191783" y="4108807"/>
            <a:ext cx="4386816" cy="1384995"/>
          </a:xfrm>
          <a:prstGeom prst="rect">
            <a:avLst/>
          </a:prstGeom>
          <a:noFill/>
        </p:spPr>
        <p:txBody>
          <a:bodyPr wrap="square" rtlCol="0">
            <a:spAutoFit/>
          </a:bodyPr>
          <a:lstStyle>
            <a:defPPr>
              <a:defRPr lang="es-PE"/>
            </a:defPPr>
            <a:lvl1pPr algn="ctr">
              <a:defRPr b="1"/>
            </a:lvl1pPr>
          </a:lstStyle>
          <a:p>
            <a:pPr algn="just"/>
            <a:r>
              <a:rPr lang="es-CL" sz="1200" b="0" dirty="0"/>
              <a:t>Número de procesos abordados: </a:t>
            </a:r>
            <a:r>
              <a:rPr lang="es-CL" sz="1200" dirty="0"/>
              <a:t>8</a:t>
            </a:r>
            <a:endParaRPr lang="es-CL" sz="1200" b="0" dirty="0"/>
          </a:p>
          <a:p>
            <a:pPr algn="just"/>
            <a:r>
              <a:rPr lang="es-CL" sz="1200" b="0" dirty="0"/>
              <a:t>Familia de productos: </a:t>
            </a:r>
            <a:r>
              <a:rPr lang="es-CL" sz="1200" dirty="0"/>
              <a:t>7</a:t>
            </a:r>
          </a:p>
          <a:p>
            <a:pPr algn="just"/>
            <a:r>
              <a:rPr lang="es-CL" sz="1200" b="0" dirty="0"/>
              <a:t>Número de gestores de riesgos entrevistados: </a:t>
            </a:r>
            <a:r>
              <a:rPr lang="es-CL" sz="1200" dirty="0"/>
              <a:t>60</a:t>
            </a:r>
          </a:p>
          <a:p>
            <a:pPr algn="just"/>
            <a:r>
              <a:rPr lang="es-CL" sz="1200" b="0" dirty="0"/>
              <a:t>Riesgos levantados: </a:t>
            </a:r>
            <a:r>
              <a:rPr lang="es-CL" sz="1200" dirty="0"/>
              <a:t>195</a:t>
            </a:r>
          </a:p>
          <a:p>
            <a:pPr algn="just"/>
            <a:r>
              <a:rPr lang="es-CL" sz="1200" b="0" dirty="0"/>
              <a:t>Pérdida Espera Anual (PEA): </a:t>
            </a:r>
            <a:r>
              <a:rPr lang="es-CL" sz="1200" dirty="0"/>
              <a:t>S/. 24.3 MM</a:t>
            </a:r>
          </a:p>
          <a:p>
            <a:pPr algn="just"/>
            <a:r>
              <a:rPr lang="es-CL" sz="1200" b="0" dirty="0"/>
              <a:t>Pérdida Máxima Estimada (PME): </a:t>
            </a:r>
            <a:r>
              <a:rPr lang="es-CL" sz="1200" dirty="0"/>
              <a:t>S/. 61.3 MM</a:t>
            </a:r>
          </a:p>
          <a:p>
            <a:pPr algn="just"/>
            <a:r>
              <a:rPr lang="es-CL" sz="1200" b="0" dirty="0"/>
              <a:t>% Estimado de cobertura PME de la compañía: </a:t>
            </a:r>
            <a:r>
              <a:rPr lang="es-CL" sz="1200" dirty="0"/>
              <a:t>40%</a:t>
            </a:r>
            <a:endParaRPr lang="es-ES" sz="1200" dirty="0"/>
          </a:p>
        </p:txBody>
      </p:sp>
      <p:cxnSp>
        <p:nvCxnSpPr>
          <p:cNvPr id="19" name="Straight Connector 18"/>
          <p:cNvCxnSpPr/>
          <p:nvPr/>
        </p:nvCxnSpPr>
        <p:spPr>
          <a:xfrm>
            <a:off x="5115999" y="3948446"/>
            <a:ext cx="0" cy="1548000"/>
          </a:xfrm>
          <a:prstGeom prst="line">
            <a:avLst/>
          </a:prstGeom>
          <a:ln>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5124" name="Picture 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255" t="36415" r="16977" b="42000"/>
          <a:stretch/>
        </p:blipFill>
        <p:spPr bwMode="auto">
          <a:xfrm>
            <a:off x="1254168" y="2104382"/>
            <a:ext cx="7093778" cy="135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35" t="22804" r="16736" b="70094"/>
          <a:stretch/>
        </p:blipFill>
        <p:spPr bwMode="auto">
          <a:xfrm>
            <a:off x="858024" y="1665708"/>
            <a:ext cx="7555441" cy="446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Rectangle 37"/>
          <p:cNvSpPr/>
          <p:nvPr/>
        </p:nvSpPr>
        <p:spPr>
          <a:xfrm>
            <a:off x="776172" y="1653408"/>
            <a:ext cx="7756268" cy="185748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Down Arrow 41"/>
          <p:cNvSpPr/>
          <p:nvPr/>
        </p:nvSpPr>
        <p:spPr>
          <a:xfrm>
            <a:off x="945700" y="2049933"/>
            <a:ext cx="127029" cy="1368000"/>
          </a:xfrm>
          <a:prstGeom prst="downArrow">
            <a:avLst/>
          </a:prstGeom>
          <a:gradFill>
            <a:gsLst>
              <a:gs pos="0">
                <a:srgbClr val="E0D399">
                  <a:lumMod val="60000"/>
                  <a:lumOff val="40000"/>
                </a:srgbClr>
              </a:gs>
              <a:gs pos="50000">
                <a:srgbClr val="E0D399">
                  <a:lumMod val="75000"/>
                </a:srgbClr>
              </a:gs>
              <a:gs pos="100000">
                <a:srgbClr val="E0D399">
                  <a:lumMod val="50000"/>
                </a:srgbClr>
              </a:gs>
            </a:gsLst>
            <a:lin ang="5400000" scaled="0"/>
          </a:gra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43" name="Oval 42"/>
          <p:cNvSpPr/>
          <p:nvPr/>
        </p:nvSpPr>
        <p:spPr>
          <a:xfrm>
            <a:off x="847391" y="2264579"/>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lang="es-ES" sz="1050" b="1" kern="0" dirty="0">
                <a:solidFill>
                  <a:srgbClr val="FFFFFF"/>
                </a:solidFill>
                <a:latin typeface="Arial"/>
              </a:rPr>
              <a:t>40</a:t>
            </a:r>
            <a:r>
              <a:rPr kumimoji="0" lang="es-ES" sz="1050" b="1" i="0" u="none" strike="noStrike" kern="0" cap="none" spc="0" normalizeH="0" baseline="0" noProof="0" dirty="0">
                <a:ln>
                  <a:noFill/>
                </a:ln>
                <a:solidFill>
                  <a:srgbClr val="FFFFFF"/>
                </a:solidFill>
                <a:effectLst/>
                <a:uLnTx/>
                <a:uFillTx/>
                <a:latin typeface="Arial"/>
                <a:ea typeface="+mn-ea"/>
                <a:cs typeface="+mn-cs"/>
              </a:rPr>
              <a:t>%</a:t>
            </a:r>
          </a:p>
        </p:txBody>
      </p:sp>
      <p:sp>
        <p:nvSpPr>
          <p:cNvPr id="44" name="Oval 43"/>
          <p:cNvSpPr/>
          <p:nvPr/>
        </p:nvSpPr>
        <p:spPr>
          <a:xfrm>
            <a:off x="858024" y="2960275"/>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lang="es-ES" sz="1050" b="1" kern="0" noProof="0" dirty="0">
                <a:solidFill>
                  <a:srgbClr val="FFFFFF"/>
                </a:solidFill>
                <a:latin typeface="Arial"/>
              </a:rPr>
              <a:t>83</a:t>
            </a:r>
            <a:r>
              <a:rPr kumimoji="0" lang="es-ES" sz="1050" b="1" i="0" u="none" strike="noStrike" kern="0" cap="none" spc="0" normalizeH="0" baseline="0" noProof="0" dirty="0">
                <a:ln>
                  <a:noFill/>
                </a:ln>
                <a:solidFill>
                  <a:srgbClr val="FFFFFF"/>
                </a:solidFill>
                <a:effectLst/>
                <a:uLnTx/>
                <a:uFillTx/>
                <a:latin typeface="Arial"/>
                <a:ea typeface="+mn-ea"/>
                <a:cs typeface="+mn-cs"/>
              </a:rPr>
              <a:t>%</a:t>
            </a:r>
          </a:p>
        </p:txBody>
      </p:sp>
      <p:sp>
        <p:nvSpPr>
          <p:cNvPr id="45" name="Rectangle 44"/>
          <p:cNvSpPr/>
          <p:nvPr/>
        </p:nvSpPr>
        <p:spPr>
          <a:xfrm>
            <a:off x="1254168" y="2119189"/>
            <a:ext cx="4542263" cy="614743"/>
          </a:xfrm>
          <a:prstGeom prst="rect">
            <a:avLst/>
          </a:prstGeom>
          <a:solidFill>
            <a:srgbClr val="FF0000">
              <a:alpha val="12000"/>
            </a:srgbClr>
          </a:solid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Text Box 6"/>
          <p:cNvSpPr txBox="1">
            <a:spLocks noChangeArrowheads="1"/>
          </p:cNvSpPr>
          <p:nvPr/>
        </p:nvSpPr>
        <p:spPr bwMode="auto">
          <a:xfrm>
            <a:off x="5573438" y="3881668"/>
            <a:ext cx="3895106" cy="2077492"/>
          </a:xfrm>
          <a:prstGeom prst="rect">
            <a:avLst/>
          </a:prstGeom>
          <a:noFill/>
          <a:ln w="9525" algn="ctr">
            <a:noFill/>
            <a:miter lim="800000"/>
            <a:headEnd/>
            <a:tailEnd/>
          </a:ln>
          <a:effectLst/>
        </p:spPr>
        <p:txBody>
          <a:bodyPr wrap="square" tIns="0" bIns="0">
            <a:spAutoFit/>
          </a:bodyPr>
          <a:lstStyle/>
          <a:p>
            <a:pPr marL="179388" lvl="1" indent="1588" fontAlgn="base">
              <a:spcAft>
                <a:spcPct val="0"/>
              </a:spcAft>
              <a:defRPr/>
            </a:pPr>
            <a:r>
              <a:rPr lang="es-ES" sz="900" b="1" dirty="0">
                <a:solidFill>
                  <a:srgbClr val="000000"/>
                </a:solidFill>
                <a:latin typeface="Arial"/>
              </a:rPr>
              <a:t>Generación de Negocio</a:t>
            </a:r>
          </a:p>
          <a:p>
            <a:pPr marL="636588" lvl="2" indent="1588" fontAlgn="base">
              <a:spcAft>
                <a:spcPct val="0"/>
              </a:spcAft>
              <a:defRPr/>
            </a:pPr>
            <a:r>
              <a:rPr lang="es-ES" sz="900" dirty="0">
                <a:solidFill>
                  <a:srgbClr val="000000"/>
                </a:solidFill>
                <a:latin typeface="Arial"/>
              </a:rPr>
              <a:t>(1) Prospección</a:t>
            </a:r>
          </a:p>
          <a:p>
            <a:pPr marL="636588" lvl="2" indent="1588" fontAlgn="base">
              <a:spcAft>
                <a:spcPct val="0"/>
              </a:spcAft>
              <a:defRPr/>
            </a:pPr>
            <a:r>
              <a:rPr lang="es-CL" sz="900" dirty="0">
                <a:solidFill>
                  <a:srgbClr val="000000"/>
                </a:solidFill>
                <a:latin typeface="Arial"/>
              </a:rPr>
              <a:t>(2) Suscripción</a:t>
            </a:r>
          </a:p>
          <a:p>
            <a:pPr marL="636588" lvl="2" indent="1588" fontAlgn="base">
              <a:spcAft>
                <a:spcPct val="0"/>
              </a:spcAft>
              <a:defRPr/>
            </a:pPr>
            <a:r>
              <a:rPr lang="es-CL" sz="900" dirty="0">
                <a:solidFill>
                  <a:srgbClr val="000000"/>
                </a:solidFill>
                <a:latin typeface="Arial"/>
              </a:rPr>
              <a:t>(3) Venta</a:t>
            </a:r>
          </a:p>
          <a:p>
            <a:pPr marL="636588" lvl="2" indent="1588" fontAlgn="base">
              <a:spcAft>
                <a:spcPct val="0"/>
              </a:spcAft>
              <a:defRPr/>
            </a:pPr>
            <a:r>
              <a:rPr lang="es-CL" sz="900" dirty="0">
                <a:solidFill>
                  <a:srgbClr val="000000"/>
                </a:solidFill>
                <a:latin typeface="Arial"/>
              </a:rPr>
              <a:t>(4) Renovación y ajustes</a:t>
            </a:r>
          </a:p>
          <a:p>
            <a:pPr marL="636588" lvl="2" indent="1588" fontAlgn="base">
              <a:spcAft>
                <a:spcPct val="0"/>
              </a:spcAft>
              <a:defRPr/>
            </a:pPr>
            <a:r>
              <a:rPr lang="es-CL" sz="900" dirty="0">
                <a:solidFill>
                  <a:srgbClr val="000000"/>
                </a:solidFill>
                <a:latin typeface="Arial"/>
              </a:rPr>
              <a:t>(5) Emisión y endoso</a:t>
            </a:r>
          </a:p>
          <a:p>
            <a:pPr marL="636588" lvl="2" indent="1588" fontAlgn="base">
              <a:spcAft>
                <a:spcPct val="0"/>
              </a:spcAft>
              <a:defRPr/>
            </a:pPr>
            <a:r>
              <a:rPr lang="es-CL" sz="900" dirty="0">
                <a:solidFill>
                  <a:srgbClr val="000000"/>
                </a:solidFill>
                <a:latin typeface="Arial"/>
              </a:rPr>
              <a:t>(6) Impresión y despacho</a:t>
            </a:r>
          </a:p>
          <a:p>
            <a:pPr marL="636588" lvl="2" indent="1588" fontAlgn="base">
              <a:spcAft>
                <a:spcPct val="0"/>
              </a:spcAft>
              <a:defRPr/>
            </a:pPr>
            <a:endParaRPr lang="es-CL" sz="900" dirty="0">
              <a:solidFill>
                <a:srgbClr val="000000"/>
              </a:solidFill>
              <a:latin typeface="Arial"/>
            </a:endParaRPr>
          </a:p>
          <a:p>
            <a:pPr marL="179388" lvl="1" indent="1588" fontAlgn="base">
              <a:spcAft>
                <a:spcPct val="0"/>
              </a:spcAft>
              <a:defRPr/>
            </a:pPr>
            <a:r>
              <a:rPr lang="es-ES" sz="900" b="1" dirty="0">
                <a:solidFill>
                  <a:srgbClr val="000000"/>
                </a:solidFill>
                <a:latin typeface="Arial"/>
              </a:rPr>
              <a:t>Administración de Pólizas</a:t>
            </a:r>
          </a:p>
          <a:p>
            <a:pPr marL="636588" lvl="2" indent="1588" fontAlgn="base">
              <a:spcAft>
                <a:spcPct val="0"/>
              </a:spcAft>
              <a:defRPr/>
            </a:pPr>
            <a:r>
              <a:rPr lang="es-ES" sz="900" dirty="0">
                <a:solidFill>
                  <a:srgbClr val="000000"/>
                </a:solidFill>
                <a:latin typeface="Arial"/>
              </a:rPr>
              <a:t>(7) Gestión de Siniestros</a:t>
            </a:r>
          </a:p>
          <a:p>
            <a:pPr marL="636588" lvl="2" indent="1588" fontAlgn="base">
              <a:spcAft>
                <a:spcPct val="0"/>
              </a:spcAft>
              <a:defRPr/>
            </a:pPr>
            <a:endParaRPr lang="es-ES" sz="900" dirty="0">
              <a:solidFill>
                <a:srgbClr val="000000"/>
              </a:solidFill>
              <a:latin typeface="Arial"/>
            </a:endParaRPr>
          </a:p>
          <a:p>
            <a:pPr marL="179388" lvl="1" indent="1588" fontAlgn="base">
              <a:spcAft>
                <a:spcPct val="0"/>
              </a:spcAft>
              <a:defRPr/>
            </a:pPr>
            <a:r>
              <a:rPr lang="es-ES" sz="900" b="1" dirty="0">
                <a:solidFill>
                  <a:srgbClr val="000000"/>
                </a:solidFill>
                <a:latin typeface="Arial"/>
              </a:rPr>
              <a:t>Generación de Oportunidades y posicionamiento</a:t>
            </a:r>
          </a:p>
          <a:p>
            <a:pPr marL="636588" lvl="2" indent="1588" fontAlgn="base">
              <a:spcAft>
                <a:spcPct val="0"/>
              </a:spcAft>
              <a:defRPr/>
            </a:pPr>
            <a:r>
              <a:rPr lang="es-ES" sz="900" dirty="0">
                <a:solidFill>
                  <a:srgbClr val="000000"/>
                </a:solidFill>
                <a:latin typeface="Arial"/>
              </a:rPr>
              <a:t>(8) Desarrollo de nuevos productos</a:t>
            </a:r>
          </a:p>
          <a:p>
            <a:pPr marL="636588" lvl="2" indent="1588" fontAlgn="base">
              <a:spcAft>
                <a:spcPct val="0"/>
              </a:spcAft>
              <a:defRPr/>
            </a:pPr>
            <a:endParaRPr lang="es-CL" sz="900" dirty="0">
              <a:solidFill>
                <a:srgbClr val="000000"/>
              </a:solidFill>
              <a:latin typeface="Arial"/>
            </a:endParaRPr>
          </a:p>
          <a:p>
            <a:pPr marL="636588" lvl="2" indent="1588" fontAlgn="base">
              <a:spcAft>
                <a:spcPct val="0"/>
              </a:spcAft>
              <a:defRPr/>
            </a:pPr>
            <a:endParaRPr lang="es-ES" sz="900" dirty="0">
              <a:solidFill>
                <a:srgbClr val="000000"/>
              </a:solidFill>
              <a:latin typeface="Arial"/>
            </a:endParaRPr>
          </a:p>
        </p:txBody>
      </p:sp>
      <p:sp>
        <p:nvSpPr>
          <p:cNvPr id="41" name="Rounded Rectangle 40"/>
          <p:cNvSpPr/>
          <p:nvPr/>
        </p:nvSpPr>
        <p:spPr>
          <a:xfrm>
            <a:off x="5573438" y="3895077"/>
            <a:ext cx="174098" cy="94245"/>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400" b="1" i="0" u="none" strike="noStrike" kern="0" cap="none" spc="0" normalizeH="0" baseline="0" noProof="0" dirty="0">
              <a:ln>
                <a:noFill/>
              </a:ln>
              <a:solidFill>
                <a:srgbClr val="FFFFFF"/>
              </a:solidFill>
              <a:effectLst/>
              <a:uLnTx/>
              <a:uFillTx/>
              <a:latin typeface="Arial"/>
              <a:ea typeface="+mn-ea"/>
              <a:cs typeface="+mn-cs"/>
            </a:endParaRPr>
          </a:p>
        </p:txBody>
      </p:sp>
      <p:sp>
        <p:nvSpPr>
          <p:cNvPr id="46" name="Rounded Rectangle 45"/>
          <p:cNvSpPr/>
          <p:nvPr/>
        </p:nvSpPr>
        <p:spPr>
          <a:xfrm>
            <a:off x="5573438" y="5011257"/>
            <a:ext cx="174098" cy="94245"/>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400" b="1" i="0" u="none" strike="noStrike" kern="0" cap="none" spc="0" normalizeH="0" baseline="0" noProof="0" dirty="0">
              <a:ln>
                <a:noFill/>
              </a:ln>
              <a:solidFill>
                <a:srgbClr val="FFFFFF"/>
              </a:solidFill>
              <a:effectLst/>
              <a:uLnTx/>
              <a:uFillTx/>
              <a:latin typeface="Arial"/>
              <a:ea typeface="+mn-ea"/>
              <a:cs typeface="+mn-cs"/>
            </a:endParaRPr>
          </a:p>
        </p:txBody>
      </p:sp>
      <p:sp>
        <p:nvSpPr>
          <p:cNvPr id="48" name="Rounded Rectangle 47"/>
          <p:cNvSpPr/>
          <p:nvPr/>
        </p:nvSpPr>
        <p:spPr>
          <a:xfrm>
            <a:off x="5573438" y="5443305"/>
            <a:ext cx="174098" cy="94245"/>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400" b="1" i="0" u="none" strike="noStrike" kern="0" cap="none" spc="0" normalizeH="0" baseline="0" noProof="0" dirty="0">
              <a:ln>
                <a:noFill/>
              </a:ln>
              <a:solidFill>
                <a:srgbClr val="FFFFFF"/>
              </a:solidFill>
              <a:effectLst/>
              <a:uLnTx/>
              <a:uFillTx/>
              <a:latin typeface="Arial"/>
              <a:ea typeface="+mn-ea"/>
              <a:cs typeface="+mn-cs"/>
            </a:endParaRPr>
          </a:p>
        </p:txBody>
      </p:sp>
      <p:sp>
        <p:nvSpPr>
          <p:cNvPr id="49" name="Rectangle 48"/>
          <p:cNvSpPr/>
          <p:nvPr/>
        </p:nvSpPr>
        <p:spPr>
          <a:xfrm>
            <a:off x="5436097" y="3829283"/>
            <a:ext cx="3503188" cy="1944995"/>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51" name="Title 1"/>
          <p:cNvSpPr>
            <a:spLocks noGrp="1"/>
          </p:cNvSpPr>
          <p:nvPr>
            <p:ph type="title"/>
          </p:nvPr>
        </p:nvSpPr>
        <p:spPr>
          <a:xfrm>
            <a:off x="47625" y="32965"/>
            <a:ext cx="7620719" cy="587723"/>
          </a:xfrm>
        </p:spPr>
        <p:txBody>
          <a:bodyPr/>
          <a:lstStyle/>
          <a:p>
            <a:r>
              <a:rPr lang="es-ES" dirty="0"/>
              <a:t>Piloto II</a:t>
            </a:r>
          </a:p>
        </p:txBody>
      </p:sp>
    </p:spTree>
    <p:extLst>
      <p:ext uri="{BB962C8B-B14F-4D97-AF65-F5344CB8AC3E}">
        <p14:creationId xmlns:p14="http://schemas.microsoft.com/office/powerpoint/2010/main" val="1596694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2820" t="10777" r="12671" b="80210"/>
          <a:stretch/>
        </p:blipFill>
        <p:spPr bwMode="auto">
          <a:xfrm>
            <a:off x="17539" y="6029425"/>
            <a:ext cx="9126462" cy="821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474" t="11250" r="12591" b="10312"/>
          <a:stretch/>
        </p:blipFill>
        <p:spPr bwMode="auto">
          <a:xfrm>
            <a:off x="837704" y="1603478"/>
            <a:ext cx="7766791" cy="4570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7"/>
          <p:cNvSpPr>
            <a:spLocks noChangeArrowheads="1"/>
          </p:cNvSpPr>
          <p:nvPr/>
        </p:nvSpPr>
        <p:spPr bwMode="auto">
          <a:xfrm>
            <a:off x="102282" y="1947457"/>
            <a:ext cx="356058" cy="4291022"/>
          </a:xfrm>
          <a:prstGeom prst="rect">
            <a:avLst/>
          </a:prstGeom>
          <a:noFill/>
          <a:ln w="3175" cap="rnd">
            <a:noFill/>
            <a:prstDash val="sysDot"/>
            <a:miter lim="800000"/>
            <a:headEnd/>
            <a:tailEnd/>
          </a:ln>
        </p:spPr>
        <p:txBody>
          <a:bodyPr vert="vert270" wrap="none" lIns="54000" tIns="46800" rIns="54000" bIns="46800" anchor="ctr"/>
          <a:lstStyle/>
          <a:p>
            <a:pPr algn="ctr" eaLnBrk="0" fontAlgn="base" hangingPunct="0">
              <a:spcBef>
                <a:spcPct val="20000"/>
              </a:spcBef>
              <a:spcAft>
                <a:spcPct val="0"/>
              </a:spcAft>
            </a:pPr>
            <a:r>
              <a:rPr lang="es-CL" sz="1000" dirty="0">
                <a:solidFill>
                  <a:srgbClr val="000000"/>
                </a:solidFill>
                <a:latin typeface="Arial"/>
              </a:rPr>
              <a:t>Riesgo operacional acumulado por bloque (Concentración de PME)</a:t>
            </a:r>
            <a:endParaRPr lang="es-ES" sz="1000" dirty="0">
              <a:solidFill>
                <a:srgbClr val="000000"/>
              </a:solidFill>
              <a:latin typeface="Arial"/>
            </a:endParaRPr>
          </a:p>
        </p:txBody>
      </p:sp>
      <p:sp>
        <p:nvSpPr>
          <p:cNvPr id="13" name="Down Arrow 12"/>
          <p:cNvSpPr/>
          <p:nvPr/>
        </p:nvSpPr>
        <p:spPr>
          <a:xfrm>
            <a:off x="498533" y="1994957"/>
            <a:ext cx="127029" cy="4140000"/>
          </a:xfrm>
          <a:prstGeom prst="downArrow">
            <a:avLst/>
          </a:prstGeom>
          <a:gradFill>
            <a:gsLst>
              <a:gs pos="0">
                <a:srgbClr val="E0D399">
                  <a:lumMod val="60000"/>
                  <a:lumOff val="40000"/>
                </a:srgbClr>
              </a:gs>
              <a:gs pos="50000">
                <a:srgbClr val="E0D399">
                  <a:lumMod val="75000"/>
                </a:srgbClr>
              </a:gs>
              <a:gs pos="100000">
                <a:srgbClr val="E0D399">
                  <a:lumMod val="50000"/>
                </a:srgbClr>
              </a:gs>
            </a:gsLst>
            <a:lin ang="5400000" scaled="0"/>
          </a:gra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14" name="Oval 13"/>
          <p:cNvSpPr/>
          <p:nvPr/>
        </p:nvSpPr>
        <p:spPr>
          <a:xfrm>
            <a:off x="404423" y="2159936"/>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lang="es-ES" sz="1050" b="1" kern="0" noProof="0" dirty="0">
                <a:solidFill>
                  <a:srgbClr val="FFFFFF"/>
                </a:solidFill>
                <a:latin typeface="Arial"/>
              </a:rPr>
              <a:t>5</a:t>
            </a:r>
            <a:r>
              <a:rPr kumimoji="0" lang="es-ES" sz="1050" b="1" i="0" u="none" strike="noStrike" kern="0" cap="none" spc="0" normalizeH="0" baseline="0" noProof="0" dirty="0">
                <a:ln>
                  <a:noFill/>
                </a:ln>
                <a:solidFill>
                  <a:srgbClr val="FFFFFF"/>
                </a:solidFill>
                <a:effectLst/>
                <a:uLnTx/>
                <a:uFillTx/>
                <a:latin typeface="Arial"/>
                <a:ea typeface="+mn-ea"/>
                <a:cs typeface="+mn-cs"/>
              </a:rPr>
              <a:t>%</a:t>
            </a:r>
          </a:p>
        </p:txBody>
      </p:sp>
      <p:sp>
        <p:nvSpPr>
          <p:cNvPr id="15" name="Oval 14"/>
          <p:cNvSpPr/>
          <p:nvPr/>
        </p:nvSpPr>
        <p:spPr>
          <a:xfrm>
            <a:off x="404423" y="2729257"/>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kumimoji="0" lang="es-ES" sz="1050" b="1" i="0" u="none" strike="noStrike" kern="0" cap="none" spc="0" normalizeH="0" baseline="0" noProof="0" dirty="0">
                <a:ln>
                  <a:noFill/>
                </a:ln>
                <a:solidFill>
                  <a:srgbClr val="FFFFFF"/>
                </a:solidFill>
                <a:effectLst/>
                <a:uLnTx/>
                <a:uFillTx/>
                <a:latin typeface="Arial"/>
                <a:ea typeface="+mn-ea"/>
                <a:cs typeface="+mn-cs"/>
              </a:rPr>
              <a:t>40%</a:t>
            </a:r>
          </a:p>
        </p:txBody>
      </p:sp>
      <p:sp>
        <p:nvSpPr>
          <p:cNvPr id="16" name="Oval 15"/>
          <p:cNvSpPr/>
          <p:nvPr/>
        </p:nvSpPr>
        <p:spPr>
          <a:xfrm>
            <a:off x="404423" y="3491601"/>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kumimoji="0" lang="es-ES" sz="1050" b="1" i="0" u="none" strike="noStrike" kern="0" cap="none" spc="0" normalizeH="0" baseline="0" noProof="0" dirty="0">
                <a:ln>
                  <a:noFill/>
                </a:ln>
                <a:solidFill>
                  <a:srgbClr val="FFFFFF"/>
                </a:solidFill>
                <a:effectLst/>
                <a:uLnTx/>
                <a:uFillTx/>
                <a:latin typeface="Arial"/>
                <a:ea typeface="+mn-ea"/>
                <a:cs typeface="+mn-cs"/>
              </a:rPr>
              <a:t>83%</a:t>
            </a:r>
          </a:p>
        </p:txBody>
      </p:sp>
      <p:sp>
        <p:nvSpPr>
          <p:cNvPr id="17" name="Oval 16"/>
          <p:cNvSpPr/>
          <p:nvPr/>
        </p:nvSpPr>
        <p:spPr>
          <a:xfrm>
            <a:off x="404423" y="4933194"/>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kumimoji="0" lang="es-ES" sz="1050" b="1" i="0" u="none" strike="noStrike" kern="0" cap="none" spc="0" normalizeH="0" baseline="0" noProof="0" dirty="0">
                <a:ln>
                  <a:noFill/>
                </a:ln>
                <a:solidFill>
                  <a:srgbClr val="FFFFFF"/>
                </a:solidFill>
                <a:effectLst/>
                <a:uLnTx/>
                <a:uFillTx/>
                <a:latin typeface="Arial"/>
                <a:ea typeface="+mn-ea"/>
                <a:cs typeface="+mn-cs"/>
              </a:rPr>
              <a:t>98%</a:t>
            </a:r>
          </a:p>
        </p:txBody>
      </p:sp>
      <p:sp>
        <p:nvSpPr>
          <p:cNvPr id="18" name="Oval 17"/>
          <p:cNvSpPr/>
          <p:nvPr/>
        </p:nvSpPr>
        <p:spPr>
          <a:xfrm>
            <a:off x="404423" y="5668490"/>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kumimoji="0" lang="es-ES" sz="1050" b="1" i="0" u="none" strike="noStrike" kern="0" cap="none" spc="0" normalizeH="0" baseline="0" noProof="0" dirty="0">
                <a:ln>
                  <a:noFill/>
                </a:ln>
                <a:solidFill>
                  <a:srgbClr val="FFFFFF"/>
                </a:solidFill>
                <a:effectLst/>
                <a:uLnTx/>
                <a:uFillTx/>
                <a:latin typeface="Arial"/>
                <a:ea typeface="+mn-ea"/>
                <a:cs typeface="+mn-cs"/>
              </a:rPr>
              <a:t>100%</a:t>
            </a:r>
          </a:p>
        </p:txBody>
      </p:sp>
      <p:sp>
        <p:nvSpPr>
          <p:cNvPr id="19" name="Oval 18"/>
          <p:cNvSpPr/>
          <p:nvPr/>
        </p:nvSpPr>
        <p:spPr>
          <a:xfrm>
            <a:off x="402600" y="4264176"/>
            <a:ext cx="320128" cy="270069"/>
          </a:xfrm>
          <a:prstGeom prst="ellipse">
            <a:avLst/>
          </a:prstGeom>
          <a:solidFill>
            <a:srgbClr val="001A48"/>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base" latinLnBrk="0" hangingPunct="1">
              <a:lnSpc>
                <a:spcPct val="100000"/>
              </a:lnSpc>
              <a:spcBef>
                <a:spcPct val="30000"/>
              </a:spcBef>
              <a:spcAft>
                <a:spcPct val="0"/>
              </a:spcAft>
              <a:buClrTx/>
              <a:buSzTx/>
              <a:buFontTx/>
              <a:buNone/>
              <a:tabLst/>
              <a:defRPr/>
            </a:pPr>
            <a:r>
              <a:rPr kumimoji="0" lang="es-ES" sz="1050" b="1" i="0" u="none" strike="noStrike" kern="0" cap="none" spc="0" normalizeH="0" baseline="0" noProof="0" dirty="0">
                <a:ln>
                  <a:noFill/>
                </a:ln>
                <a:solidFill>
                  <a:srgbClr val="FFFFFF"/>
                </a:solidFill>
                <a:effectLst/>
                <a:uLnTx/>
                <a:uFillTx/>
                <a:latin typeface="Arial"/>
                <a:ea typeface="+mn-ea"/>
                <a:cs typeface="+mn-cs"/>
              </a:rPr>
              <a:t>93%</a:t>
            </a:r>
          </a:p>
        </p:txBody>
      </p:sp>
      <p:sp>
        <p:nvSpPr>
          <p:cNvPr id="20" name="Text Box 100"/>
          <p:cNvSpPr txBox="1">
            <a:spLocks noChangeArrowheads="1"/>
          </p:cNvSpPr>
          <p:nvPr/>
        </p:nvSpPr>
        <p:spPr bwMode="blackWhite">
          <a:xfrm>
            <a:off x="217915" y="764704"/>
            <a:ext cx="8721369" cy="553998"/>
          </a:xfrm>
          <a:prstGeom prst="rect">
            <a:avLst/>
          </a:prstGeom>
          <a:noFill/>
          <a:ln w="12700" algn="ctr">
            <a:noFill/>
            <a:miter lim="800000"/>
            <a:headEnd/>
            <a:tailEnd/>
          </a:ln>
        </p:spPr>
        <p:txBody>
          <a:bodyPr wrap="square">
            <a:spAutoFit/>
          </a:bodyPr>
          <a:lstStyle/>
          <a:p>
            <a:pPr algn="ctr">
              <a:lnSpc>
                <a:spcPts val="1800"/>
              </a:lnSpc>
            </a:pPr>
            <a:r>
              <a:rPr lang="es-ES" b="1" dirty="0">
                <a:latin typeface="+mj-lt"/>
                <a:cs typeface="Arial" pitchFamily="34" charset="0"/>
              </a:rPr>
              <a:t>A la fecha hemos avanzado en el análisis y cuantificación de los riesgos de 2 etapas (Pilotos 1 y 2), encontrándonos en el inicio de la etapa Bloque I</a:t>
            </a:r>
          </a:p>
        </p:txBody>
      </p:sp>
      <p:sp>
        <p:nvSpPr>
          <p:cNvPr id="21" name="Rectangle 20"/>
          <p:cNvSpPr/>
          <p:nvPr/>
        </p:nvSpPr>
        <p:spPr>
          <a:xfrm>
            <a:off x="837704" y="3140968"/>
            <a:ext cx="5894536" cy="864096"/>
          </a:xfrm>
          <a:prstGeom prst="rect">
            <a:avLst/>
          </a:prstGeom>
          <a:solidFill>
            <a:srgbClr val="FF0000">
              <a:alpha val="12000"/>
            </a:srgbClr>
          </a:solid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angular Callout 22"/>
          <p:cNvSpPr/>
          <p:nvPr/>
        </p:nvSpPr>
        <p:spPr>
          <a:xfrm>
            <a:off x="3230378" y="4293096"/>
            <a:ext cx="3230146" cy="2413393"/>
          </a:xfrm>
          <a:prstGeom prst="wedgeRectCallout">
            <a:avLst>
              <a:gd name="adj1" fmla="val -33832"/>
              <a:gd name="adj2" fmla="val -62628"/>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lvl="1" indent="1588" fontAlgn="base">
              <a:spcAft>
                <a:spcPct val="0"/>
              </a:spcAft>
              <a:defRPr/>
            </a:pPr>
            <a:r>
              <a:rPr lang="es-ES" sz="800" b="1" dirty="0">
                <a:solidFill>
                  <a:srgbClr val="000000"/>
                </a:solidFill>
                <a:latin typeface="Arial"/>
              </a:rPr>
              <a:t>Soporte Legal y Normativo</a:t>
            </a:r>
          </a:p>
          <a:p>
            <a:pPr marL="636588" lvl="2" indent="1588" fontAlgn="base">
              <a:spcAft>
                <a:spcPct val="0"/>
              </a:spcAft>
              <a:defRPr/>
            </a:pPr>
            <a:r>
              <a:rPr lang="es-ES" sz="800" dirty="0">
                <a:solidFill>
                  <a:srgbClr val="000000"/>
                </a:solidFill>
                <a:latin typeface="Arial"/>
              </a:rPr>
              <a:t>(1)  Análisis del entorno legal y normativo</a:t>
            </a:r>
          </a:p>
          <a:p>
            <a:pPr marL="636588" lvl="2" indent="1588" fontAlgn="base">
              <a:spcAft>
                <a:spcPct val="0"/>
              </a:spcAft>
              <a:defRPr/>
            </a:pPr>
            <a:r>
              <a:rPr lang="es-CL" sz="800" dirty="0">
                <a:solidFill>
                  <a:srgbClr val="000000"/>
                </a:solidFill>
                <a:latin typeface="Arial"/>
              </a:rPr>
              <a:t>(2)  Cumplimiento legal</a:t>
            </a:r>
          </a:p>
          <a:p>
            <a:pPr marL="636588" lvl="2" indent="1588" fontAlgn="base">
              <a:spcAft>
                <a:spcPct val="0"/>
              </a:spcAft>
              <a:defRPr/>
            </a:pPr>
            <a:r>
              <a:rPr lang="es-CL" sz="800" dirty="0">
                <a:solidFill>
                  <a:srgbClr val="000000"/>
                </a:solidFill>
                <a:latin typeface="Arial"/>
              </a:rPr>
              <a:t>(3)  Cumplimiento normativo</a:t>
            </a:r>
          </a:p>
          <a:p>
            <a:pPr marL="636588" lvl="2" indent="1588" fontAlgn="base">
              <a:spcAft>
                <a:spcPct val="0"/>
              </a:spcAft>
              <a:defRPr/>
            </a:pPr>
            <a:r>
              <a:rPr lang="es-CL" sz="800" dirty="0">
                <a:solidFill>
                  <a:srgbClr val="000000"/>
                </a:solidFill>
                <a:latin typeface="Arial"/>
              </a:rPr>
              <a:t>(4)  Administración de contratos</a:t>
            </a:r>
          </a:p>
          <a:p>
            <a:pPr marL="636588" lvl="2" indent="1588" fontAlgn="base">
              <a:spcAft>
                <a:spcPct val="0"/>
              </a:spcAft>
              <a:defRPr/>
            </a:pPr>
            <a:r>
              <a:rPr lang="es-CL" sz="800" dirty="0">
                <a:solidFill>
                  <a:srgbClr val="000000"/>
                </a:solidFill>
                <a:latin typeface="Arial"/>
              </a:rPr>
              <a:t>(5)  Procesos judiciales</a:t>
            </a:r>
          </a:p>
          <a:p>
            <a:pPr marL="636588" lvl="2" indent="1588" fontAlgn="base">
              <a:spcAft>
                <a:spcPct val="0"/>
              </a:spcAft>
              <a:defRPr/>
            </a:pPr>
            <a:endParaRPr lang="es-CL" sz="800" dirty="0">
              <a:solidFill>
                <a:srgbClr val="000000"/>
              </a:solidFill>
              <a:latin typeface="Arial"/>
            </a:endParaRPr>
          </a:p>
          <a:p>
            <a:pPr marL="179388" lvl="1" indent="1588" fontAlgn="base">
              <a:spcAft>
                <a:spcPct val="0"/>
              </a:spcAft>
              <a:defRPr/>
            </a:pPr>
            <a:r>
              <a:rPr lang="es-ES" sz="800" b="1" dirty="0">
                <a:solidFill>
                  <a:srgbClr val="000000"/>
                </a:solidFill>
                <a:latin typeface="Arial"/>
              </a:rPr>
              <a:t>Administración de Pólizas</a:t>
            </a:r>
          </a:p>
          <a:p>
            <a:pPr marL="636588" lvl="2" indent="1588" fontAlgn="base">
              <a:spcAft>
                <a:spcPct val="0"/>
              </a:spcAft>
              <a:defRPr/>
            </a:pPr>
            <a:r>
              <a:rPr lang="es-ES" sz="800" dirty="0">
                <a:solidFill>
                  <a:srgbClr val="000000"/>
                </a:solidFill>
                <a:latin typeface="Arial"/>
              </a:rPr>
              <a:t>(6)  Gestión de Cobranzas</a:t>
            </a:r>
          </a:p>
          <a:p>
            <a:pPr marL="636588" lvl="2" indent="1588" fontAlgn="base">
              <a:spcAft>
                <a:spcPct val="0"/>
              </a:spcAft>
              <a:defRPr/>
            </a:pPr>
            <a:r>
              <a:rPr lang="es-ES" sz="800" dirty="0">
                <a:solidFill>
                  <a:srgbClr val="000000"/>
                </a:solidFill>
                <a:latin typeface="Arial"/>
              </a:rPr>
              <a:t>(7)  Préstamos y rescates</a:t>
            </a:r>
          </a:p>
          <a:p>
            <a:pPr marL="636588" lvl="2" indent="1588" fontAlgn="base">
              <a:spcAft>
                <a:spcPct val="0"/>
              </a:spcAft>
              <a:defRPr/>
            </a:pPr>
            <a:endParaRPr lang="es-ES" sz="800" dirty="0">
              <a:solidFill>
                <a:srgbClr val="000000"/>
              </a:solidFill>
              <a:latin typeface="Arial"/>
            </a:endParaRPr>
          </a:p>
          <a:p>
            <a:pPr marL="179388" lvl="1" indent="1588" fontAlgn="base">
              <a:spcAft>
                <a:spcPct val="0"/>
              </a:spcAft>
              <a:defRPr/>
            </a:pPr>
            <a:r>
              <a:rPr lang="es-ES" sz="800" b="1" dirty="0">
                <a:solidFill>
                  <a:srgbClr val="000000"/>
                </a:solidFill>
                <a:latin typeface="Arial"/>
              </a:rPr>
              <a:t>Administración del Portafolio de Inversiones</a:t>
            </a:r>
          </a:p>
          <a:p>
            <a:pPr marL="636588" lvl="2" indent="1588" fontAlgn="base">
              <a:spcAft>
                <a:spcPct val="0"/>
              </a:spcAft>
              <a:defRPr/>
            </a:pPr>
            <a:r>
              <a:rPr lang="es-ES" sz="800" dirty="0">
                <a:solidFill>
                  <a:srgbClr val="000000"/>
                </a:solidFill>
                <a:latin typeface="Arial"/>
              </a:rPr>
              <a:t>(8)  Gestión de riesgos de inversión</a:t>
            </a:r>
          </a:p>
          <a:p>
            <a:pPr marL="865188" lvl="2" indent="-228600" fontAlgn="base">
              <a:spcAft>
                <a:spcPct val="0"/>
              </a:spcAft>
              <a:buAutoNum type="arabicParenBoth" startAt="9"/>
              <a:defRPr/>
            </a:pPr>
            <a:r>
              <a:rPr lang="es-ES" sz="800" dirty="0">
                <a:solidFill>
                  <a:srgbClr val="000000"/>
                </a:solidFill>
                <a:latin typeface="Arial"/>
              </a:rPr>
              <a:t>Gestión del desempeño de inversiones</a:t>
            </a:r>
          </a:p>
          <a:p>
            <a:pPr marL="865188" lvl="2" indent="-228600" fontAlgn="base">
              <a:spcAft>
                <a:spcPct val="0"/>
              </a:spcAft>
              <a:buAutoNum type="arabicParenBoth" startAt="9"/>
              <a:defRPr/>
            </a:pPr>
            <a:endParaRPr lang="es-ES" sz="800" dirty="0">
              <a:solidFill>
                <a:srgbClr val="000000"/>
              </a:solidFill>
              <a:latin typeface="Arial"/>
            </a:endParaRPr>
          </a:p>
          <a:p>
            <a:pPr marL="179388" lvl="1" indent="1588" fontAlgn="base">
              <a:spcAft>
                <a:spcPct val="0"/>
              </a:spcAft>
              <a:defRPr/>
            </a:pPr>
            <a:r>
              <a:rPr lang="es-ES" sz="800" b="1" dirty="0">
                <a:solidFill>
                  <a:srgbClr val="000000"/>
                </a:solidFill>
                <a:latin typeface="Arial"/>
              </a:rPr>
              <a:t>Gestión de riesgos del negocio</a:t>
            </a:r>
          </a:p>
          <a:p>
            <a:pPr marL="636588" lvl="2" indent="1588" fontAlgn="base">
              <a:spcAft>
                <a:spcPct val="0"/>
              </a:spcAft>
              <a:defRPr/>
            </a:pPr>
            <a:r>
              <a:rPr lang="es-ES" sz="800" dirty="0">
                <a:solidFill>
                  <a:srgbClr val="000000"/>
                </a:solidFill>
                <a:latin typeface="Arial"/>
              </a:rPr>
              <a:t>(10)  Gestión de Reaseguros</a:t>
            </a:r>
          </a:p>
          <a:p>
            <a:pPr marL="636588" lvl="2" fontAlgn="base">
              <a:spcAft>
                <a:spcPct val="0"/>
              </a:spcAft>
              <a:defRPr/>
            </a:pPr>
            <a:r>
              <a:rPr lang="es-ES" sz="800" dirty="0">
                <a:solidFill>
                  <a:srgbClr val="000000"/>
                </a:solidFill>
                <a:latin typeface="Arial"/>
              </a:rPr>
              <a:t>(11)  Gestión de Coaseguros</a:t>
            </a:r>
          </a:p>
          <a:p>
            <a:pPr marL="636588" lvl="2" fontAlgn="base">
              <a:spcAft>
                <a:spcPct val="0"/>
              </a:spcAft>
              <a:defRPr/>
            </a:pPr>
            <a:r>
              <a:rPr lang="es-ES" sz="800" dirty="0">
                <a:solidFill>
                  <a:srgbClr val="000000"/>
                </a:solidFill>
                <a:latin typeface="Arial"/>
              </a:rPr>
              <a:t>(12)  Administración de Reservas</a:t>
            </a:r>
          </a:p>
        </p:txBody>
      </p:sp>
      <p:sp>
        <p:nvSpPr>
          <p:cNvPr id="41" name="Rounded Rectangle 40"/>
          <p:cNvSpPr/>
          <p:nvPr/>
        </p:nvSpPr>
        <p:spPr>
          <a:xfrm>
            <a:off x="3274020" y="4358992"/>
            <a:ext cx="174098" cy="94245"/>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43" name="Rounded Rectangle 42"/>
          <p:cNvSpPr/>
          <p:nvPr/>
        </p:nvSpPr>
        <p:spPr>
          <a:xfrm>
            <a:off x="3274020" y="5211694"/>
            <a:ext cx="174098" cy="94245"/>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24" name="Rounded Rectangle 23"/>
          <p:cNvSpPr/>
          <p:nvPr/>
        </p:nvSpPr>
        <p:spPr>
          <a:xfrm>
            <a:off x="3275856" y="5704907"/>
            <a:ext cx="174098" cy="94245"/>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25" name="Rounded Rectangle 24"/>
          <p:cNvSpPr/>
          <p:nvPr/>
        </p:nvSpPr>
        <p:spPr>
          <a:xfrm>
            <a:off x="3275856" y="6172840"/>
            <a:ext cx="174098" cy="94245"/>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base" latinLnBrk="0" hangingPunct="1">
              <a:lnSpc>
                <a:spcPct val="100000"/>
              </a:lnSpc>
              <a:spcBef>
                <a:spcPct val="30000"/>
              </a:spcBef>
              <a:spcAft>
                <a:spcPct val="0"/>
              </a:spcAft>
              <a:buClrTx/>
              <a:buSzTx/>
              <a:buFontTx/>
              <a:buNone/>
              <a:tabLst/>
              <a:defRPr/>
            </a:pPr>
            <a:endParaRPr kumimoji="0" lang="es-ES" sz="1600" b="1" i="0" u="none" strike="noStrike" kern="0" cap="none" spc="0" normalizeH="0" baseline="0" noProof="0" dirty="0">
              <a:ln>
                <a:noFill/>
              </a:ln>
              <a:solidFill>
                <a:srgbClr val="FFFFFF"/>
              </a:solidFill>
              <a:effectLst/>
              <a:uLnTx/>
              <a:uFillTx/>
              <a:latin typeface="Arial"/>
              <a:ea typeface="+mn-ea"/>
              <a:cs typeface="+mn-cs"/>
            </a:endParaRPr>
          </a:p>
        </p:txBody>
      </p:sp>
      <p:sp>
        <p:nvSpPr>
          <p:cNvPr id="29" name="Title 1"/>
          <p:cNvSpPr>
            <a:spLocks noGrp="1"/>
          </p:cNvSpPr>
          <p:nvPr>
            <p:ph type="title"/>
          </p:nvPr>
        </p:nvSpPr>
        <p:spPr>
          <a:xfrm>
            <a:off x="47625" y="32965"/>
            <a:ext cx="8217470" cy="587723"/>
          </a:xfrm>
        </p:spPr>
        <p:txBody>
          <a:bodyPr/>
          <a:lstStyle/>
          <a:p>
            <a:r>
              <a:rPr lang="es-ES" dirty="0"/>
              <a:t>Bloque I</a:t>
            </a:r>
            <a:endParaRPr lang="es-ES" sz="1000" dirty="0"/>
          </a:p>
        </p:txBody>
      </p:sp>
    </p:spTree>
    <p:extLst>
      <p:ext uri="{BB962C8B-B14F-4D97-AF65-F5344CB8AC3E}">
        <p14:creationId xmlns:p14="http://schemas.microsoft.com/office/powerpoint/2010/main" val="3720327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utoShape 84"/>
          <p:cNvSpPr>
            <a:spLocks noChangeArrowheads="1"/>
          </p:cNvSpPr>
          <p:nvPr/>
        </p:nvSpPr>
        <p:spPr bwMode="blackWhite">
          <a:xfrm>
            <a:off x="2354842" y="1688551"/>
            <a:ext cx="1695680" cy="495993"/>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Contexto General</a:t>
            </a:r>
          </a:p>
        </p:txBody>
      </p:sp>
      <p:sp>
        <p:nvSpPr>
          <p:cNvPr id="59" name="Oval 94"/>
          <p:cNvSpPr>
            <a:spLocks noChangeArrowheads="1"/>
          </p:cNvSpPr>
          <p:nvPr/>
        </p:nvSpPr>
        <p:spPr bwMode="auto">
          <a:xfrm>
            <a:off x="468180" y="2199965"/>
            <a:ext cx="1488784" cy="777100"/>
          </a:xfrm>
          <a:prstGeom prst="ellipse">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lt1"/>
                </a:solidFill>
              </a:rPr>
              <a:t>Contenidos</a:t>
            </a:r>
          </a:p>
        </p:txBody>
      </p:sp>
      <p:cxnSp>
        <p:nvCxnSpPr>
          <p:cNvPr id="63" name="AutoShape 86"/>
          <p:cNvCxnSpPr>
            <a:cxnSpLocks noChangeShapeType="1"/>
          </p:cNvCxnSpPr>
          <p:nvPr/>
        </p:nvCxnSpPr>
        <p:spPr bwMode="auto">
          <a:xfrm>
            <a:off x="2151786" y="3207209"/>
            <a:ext cx="180000" cy="1"/>
          </a:xfrm>
          <a:prstGeom prst="bentConnector3">
            <a:avLst>
              <a:gd name="adj1" fmla="val 50000"/>
            </a:avLst>
          </a:prstGeom>
          <a:noFill/>
          <a:ln w="9525">
            <a:solidFill>
              <a:schemeClr val="tx1"/>
            </a:solidFill>
            <a:miter lim="800000"/>
            <a:headEnd/>
            <a:tailEnd type="triangle" w="med" len="med"/>
          </a:ln>
        </p:spPr>
      </p:cxnSp>
      <p:sp>
        <p:nvSpPr>
          <p:cNvPr id="66" name="Text Box 100"/>
          <p:cNvSpPr txBox="1">
            <a:spLocks noChangeArrowheads="1"/>
          </p:cNvSpPr>
          <p:nvPr/>
        </p:nvSpPr>
        <p:spPr bwMode="blackWhite">
          <a:xfrm>
            <a:off x="4150353" y="1661521"/>
            <a:ext cx="4548822" cy="880241"/>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dirty="0"/>
              <a:t>Metodología de trabajo utilizada en el proyecto</a:t>
            </a:r>
          </a:p>
          <a:p>
            <a:pPr marL="261938" indent="-261938" algn="just">
              <a:spcBef>
                <a:spcPct val="20000"/>
              </a:spcBef>
              <a:buClr>
                <a:schemeClr val="tx1"/>
              </a:buClr>
              <a:buFont typeface="Webdings" pitchFamily="18" charset="2"/>
              <a:buChar char="4"/>
            </a:pPr>
            <a:r>
              <a:rPr lang="es-CL" sz="1600" dirty="0"/>
              <a:t>Evolución del proyecto a través de las etapas trabajadas: Piloto I y Piloto II</a:t>
            </a:r>
            <a:endParaRPr lang="es-CL" sz="1600" dirty="0">
              <a:solidFill>
                <a:srgbClr val="FF0000"/>
              </a:solidFill>
            </a:endParaRPr>
          </a:p>
        </p:txBody>
      </p:sp>
      <p:sp>
        <p:nvSpPr>
          <p:cNvPr id="67" name="Text Box 100"/>
          <p:cNvSpPr txBox="1">
            <a:spLocks noChangeArrowheads="1"/>
          </p:cNvSpPr>
          <p:nvPr/>
        </p:nvSpPr>
        <p:spPr bwMode="blackWhite">
          <a:xfrm>
            <a:off x="4150353" y="2968153"/>
            <a:ext cx="4548822" cy="2456057"/>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Presentación de las conclusiones generales del proyecto.</a:t>
            </a:r>
          </a:p>
          <a:p>
            <a:pPr marL="261938" indent="-261938" algn="just">
              <a:spcBef>
                <a:spcPct val="20000"/>
              </a:spcBef>
              <a:buClr>
                <a:schemeClr val="tx1"/>
              </a:buClr>
              <a:buFont typeface="Webdings" pitchFamily="18" charset="2"/>
              <a:buChar char="4"/>
            </a:pPr>
            <a:r>
              <a:rPr lang="es-CL" sz="1600" dirty="0"/>
              <a:t>Resumen a alto nivel de la identificación y análisis de los riesgos operacionales detectados y de los planes de acción asociados.</a:t>
            </a:r>
          </a:p>
          <a:p>
            <a:pPr marL="261938" indent="-261938" algn="just">
              <a:spcBef>
                <a:spcPct val="20000"/>
              </a:spcBef>
              <a:buClr>
                <a:schemeClr val="tx1"/>
              </a:buClr>
              <a:buFont typeface="Webdings" pitchFamily="18" charset="2"/>
              <a:buChar char="4"/>
            </a:pPr>
            <a:r>
              <a:rPr lang="es-CL" sz="1600" dirty="0"/>
              <a:t>Resumen a alto nivel de la identificación y análisis del posible impacto </a:t>
            </a:r>
            <a:r>
              <a:rPr lang="es-CL" sz="1600" dirty="0" err="1"/>
              <a:t>reputacional</a:t>
            </a:r>
            <a:r>
              <a:rPr lang="es-CL" sz="1600" dirty="0"/>
              <a:t> vinculado a los procesos.</a:t>
            </a:r>
          </a:p>
          <a:p>
            <a:pPr marL="261938" indent="-261938" algn="just">
              <a:spcBef>
                <a:spcPct val="20000"/>
              </a:spcBef>
              <a:buClr>
                <a:schemeClr val="tx1"/>
              </a:buClr>
              <a:buFont typeface="Webdings" pitchFamily="18" charset="2"/>
              <a:buChar char="4"/>
            </a:pPr>
            <a:r>
              <a:rPr lang="es-CL" sz="1600" b="0" dirty="0"/>
              <a:t>Análisis de riesgos por procesos</a:t>
            </a:r>
          </a:p>
        </p:txBody>
      </p:sp>
      <p:sp>
        <p:nvSpPr>
          <p:cNvPr id="70" name="AutoShape 84"/>
          <p:cNvSpPr>
            <a:spLocks noChangeArrowheads="1"/>
          </p:cNvSpPr>
          <p:nvPr/>
        </p:nvSpPr>
        <p:spPr bwMode="blackWhite">
          <a:xfrm>
            <a:off x="2356288" y="2968457"/>
            <a:ext cx="1695680" cy="495992"/>
          </a:xfrm>
          <a:prstGeom prst="rightArrow">
            <a:avLst>
              <a:gd name="adj1" fmla="val 100000"/>
              <a:gd name="adj2" fmla="val 27728"/>
            </a:avLst>
          </a:prstGeom>
          <a:solidFill>
            <a:schemeClr val="accent6">
              <a:lumMod val="75000"/>
            </a:scheme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Conclusiones</a:t>
            </a:r>
          </a:p>
        </p:txBody>
      </p:sp>
      <p:sp>
        <p:nvSpPr>
          <p:cNvPr id="7" name="Title 6"/>
          <p:cNvSpPr>
            <a:spLocks noGrp="1"/>
          </p:cNvSpPr>
          <p:nvPr>
            <p:ph type="title"/>
          </p:nvPr>
        </p:nvSpPr>
        <p:spPr/>
        <p:txBody>
          <a:bodyPr/>
          <a:lstStyle/>
          <a:p>
            <a:r>
              <a:rPr lang="es-ES" dirty="0"/>
              <a:t>Contenidos</a:t>
            </a:r>
          </a:p>
        </p:txBody>
      </p:sp>
      <p:cxnSp>
        <p:nvCxnSpPr>
          <p:cNvPr id="14" name="AutoShape 86"/>
          <p:cNvCxnSpPr>
            <a:cxnSpLocks noChangeShapeType="1"/>
          </p:cNvCxnSpPr>
          <p:nvPr/>
        </p:nvCxnSpPr>
        <p:spPr bwMode="auto">
          <a:xfrm>
            <a:off x="2154058" y="1936380"/>
            <a:ext cx="180000" cy="1"/>
          </a:xfrm>
          <a:prstGeom prst="bentConnector3">
            <a:avLst>
              <a:gd name="adj1" fmla="val 50000"/>
            </a:avLst>
          </a:prstGeom>
          <a:noFill/>
          <a:ln w="9525">
            <a:solidFill>
              <a:schemeClr val="tx1"/>
            </a:solidFill>
            <a:miter lim="800000"/>
            <a:headEnd/>
            <a:tailEnd type="triangle" w="med" len="med"/>
          </a:ln>
        </p:spPr>
      </p:cxnSp>
      <p:cxnSp>
        <p:nvCxnSpPr>
          <p:cNvPr id="3" name="Straight Connector 2"/>
          <p:cNvCxnSpPr/>
          <p:nvPr/>
        </p:nvCxnSpPr>
        <p:spPr>
          <a:xfrm flipV="1">
            <a:off x="2154058" y="1936547"/>
            <a:ext cx="0" cy="12706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a:endCxn id="59" idx="6"/>
          </p:cNvCxnSpPr>
          <p:nvPr/>
        </p:nvCxnSpPr>
        <p:spPr>
          <a:xfrm flipH="1">
            <a:off x="1956964" y="2588515"/>
            <a:ext cx="1948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956964" y="2893342"/>
            <a:ext cx="6845842" cy="2530868"/>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b="1"/>
          </a:p>
        </p:txBody>
      </p:sp>
    </p:spTree>
    <p:extLst>
      <p:ext uri="{BB962C8B-B14F-4D97-AF65-F5344CB8AC3E}">
        <p14:creationId xmlns:p14="http://schemas.microsoft.com/office/powerpoint/2010/main" val="4240160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a:spLocks/>
          </p:cNvSpPr>
          <p:nvPr/>
        </p:nvSpPr>
        <p:spPr bwMode="gray">
          <a:xfrm>
            <a:off x="784473" y="1088072"/>
            <a:ext cx="1282700" cy="4751387"/>
          </a:xfrm>
          <a:custGeom>
            <a:avLst/>
            <a:gdLst/>
            <a:ahLst/>
            <a:cxnLst>
              <a:cxn ang="0">
                <a:pos x="803" y="0"/>
              </a:cxn>
              <a:cxn ang="0">
                <a:pos x="0" y="1023"/>
              </a:cxn>
              <a:cxn ang="0">
                <a:pos x="25" y="1026"/>
              </a:cxn>
              <a:cxn ang="0">
                <a:pos x="50" y="1030"/>
              </a:cxn>
              <a:cxn ang="0">
                <a:pos x="73" y="1035"/>
              </a:cxn>
              <a:cxn ang="0">
                <a:pos x="97" y="1041"/>
              </a:cxn>
              <a:cxn ang="0">
                <a:pos x="120" y="1048"/>
              </a:cxn>
              <a:cxn ang="0">
                <a:pos x="165" y="1065"/>
              </a:cxn>
              <a:cxn ang="0">
                <a:pos x="206" y="1086"/>
              </a:cxn>
              <a:cxn ang="0">
                <a:pos x="245" y="1109"/>
              </a:cxn>
              <a:cxn ang="0">
                <a:pos x="282" y="1137"/>
              </a:cxn>
              <a:cxn ang="0">
                <a:pos x="315" y="1168"/>
              </a:cxn>
              <a:cxn ang="0">
                <a:pos x="345" y="1201"/>
              </a:cxn>
              <a:cxn ang="0">
                <a:pos x="373" y="1237"/>
              </a:cxn>
              <a:cxn ang="0">
                <a:pos x="395" y="1275"/>
              </a:cxn>
              <a:cxn ang="0">
                <a:pos x="413" y="1315"/>
              </a:cxn>
              <a:cxn ang="0">
                <a:pos x="421" y="1336"/>
              </a:cxn>
              <a:cxn ang="0">
                <a:pos x="427" y="1357"/>
              </a:cxn>
              <a:cxn ang="0">
                <a:pos x="433" y="1379"/>
              </a:cxn>
              <a:cxn ang="0">
                <a:pos x="438" y="1400"/>
              </a:cxn>
              <a:cxn ang="0">
                <a:pos x="441" y="1423"/>
              </a:cxn>
              <a:cxn ang="0">
                <a:pos x="443" y="1446"/>
              </a:cxn>
              <a:cxn ang="0">
                <a:pos x="443" y="1469"/>
              </a:cxn>
              <a:cxn ang="0">
                <a:pos x="443" y="1492"/>
              </a:cxn>
              <a:cxn ang="0">
                <a:pos x="441" y="1515"/>
              </a:cxn>
              <a:cxn ang="0">
                <a:pos x="438" y="1538"/>
              </a:cxn>
              <a:cxn ang="0">
                <a:pos x="433" y="1559"/>
              </a:cxn>
              <a:cxn ang="0">
                <a:pos x="427" y="1581"/>
              </a:cxn>
              <a:cxn ang="0">
                <a:pos x="421" y="1602"/>
              </a:cxn>
              <a:cxn ang="0">
                <a:pos x="413" y="1623"/>
              </a:cxn>
              <a:cxn ang="0">
                <a:pos x="395" y="1664"/>
              </a:cxn>
              <a:cxn ang="0">
                <a:pos x="373" y="1702"/>
              </a:cxn>
              <a:cxn ang="0">
                <a:pos x="345" y="1738"/>
              </a:cxn>
              <a:cxn ang="0">
                <a:pos x="315" y="1770"/>
              </a:cxn>
              <a:cxn ang="0">
                <a:pos x="282" y="1801"/>
              </a:cxn>
              <a:cxn ang="0">
                <a:pos x="245" y="1828"/>
              </a:cxn>
              <a:cxn ang="0">
                <a:pos x="206" y="1853"/>
              </a:cxn>
              <a:cxn ang="0">
                <a:pos x="165" y="1874"/>
              </a:cxn>
              <a:cxn ang="0">
                <a:pos x="119" y="1890"/>
              </a:cxn>
              <a:cxn ang="0">
                <a:pos x="97" y="1897"/>
              </a:cxn>
              <a:cxn ang="0">
                <a:pos x="73" y="1903"/>
              </a:cxn>
              <a:cxn ang="0">
                <a:pos x="50" y="1908"/>
              </a:cxn>
              <a:cxn ang="0">
                <a:pos x="25" y="1912"/>
              </a:cxn>
              <a:cxn ang="0">
                <a:pos x="0" y="1915"/>
              </a:cxn>
              <a:cxn ang="0">
                <a:pos x="808" y="2933"/>
              </a:cxn>
            </a:cxnLst>
            <a:rect l="0" t="0" r="r" b="b"/>
            <a:pathLst>
              <a:path w="808" h="2937">
                <a:moveTo>
                  <a:pt x="806" y="2932"/>
                </a:moveTo>
                <a:lnTo>
                  <a:pt x="803" y="0"/>
                </a:lnTo>
                <a:lnTo>
                  <a:pt x="183" y="3"/>
                </a:lnTo>
                <a:lnTo>
                  <a:pt x="0" y="1023"/>
                </a:lnTo>
                <a:lnTo>
                  <a:pt x="13" y="1025"/>
                </a:lnTo>
                <a:lnTo>
                  <a:pt x="25" y="1026"/>
                </a:lnTo>
                <a:lnTo>
                  <a:pt x="37" y="1028"/>
                </a:lnTo>
                <a:lnTo>
                  <a:pt x="50" y="1030"/>
                </a:lnTo>
                <a:lnTo>
                  <a:pt x="62" y="1033"/>
                </a:lnTo>
                <a:lnTo>
                  <a:pt x="73" y="1035"/>
                </a:lnTo>
                <a:lnTo>
                  <a:pt x="85" y="1037"/>
                </a:lnTo>
                <a:lnTo>
                  <a:pt x="97" y="1041"/>
                </a:lnTo>
                <a:lnTo>
                  <a:pt x="108" y="1045"/>
                </a:lnTo>
                <a:lnTo>
                  <a:pt x="120" y="1048"/>
                </a:lnTo>
                <a:lnTo>
                  <a:pt x="142" y="1056"/>
                </a:lnTo>
                <a:lnTo>
                  <a:pt x="165" y="1065"/>
                </a:lnTo>
                <a:lnTo>
                  <a:pt x="185" y="1075"/>
                </a:lnTo>
                <a:lnTo>
                  <a:pt x="206" y="1086"/>
                </a:lnTo>
                <a:lnTo>
                  <a:pt x="226" y="1098"/>
                </a:lnTo>
                <a:lnTo>
                  <a:pt x="245" y="1109"/>
                </a:lnTo>
                <a:lnTo>
                  <a:pt x="264" y="1123"/>
                </a:lnTo>
                <a:lnTo>
                  <a:pt x="282" y="1137"/>
                </a:lnTo>
                <a:lnTo>
                  <a:pt x="299" y="1152"/>
                </a:lnTo>
                <a:lnTo>
                  <a:pt x="315" y="1168"/>
                </a:lnTo>
                <a:lnTo>
                  <a:pt x="331" y="1184"/>
                </a:lnTo>
                <a:lnTo>
                  <a:pt x="345" y="1201"/>
                </a:lnTo>
                <a:lnTo>
                  <a:pt x="360" y="1219"/>
                </a:lnTo>
                <a:lnTo>
                  <a:pt x="373" y="1237"/>
                </a:lnTo>
                <a:lnTo>
                  <a:pt x="384" y="1255"/>
                </a:lnTo>
                <a:lnTo>
                  <a:pt x="395" y="1275"/>
                </a:lnTo>
                <a:lnTo>
                  <a:pt x="404" y="1295"/>
                </a:lnTo>
                <a:lnTo>
                  <a:pt x="413" y="1315"/>
                </a:lnTo>
                <a:lnTo>
                  <a:pt x="418" y="1325"/>
                </a:lnTo>
                <a:lnTo>
                  <a:pt x="421" y="1336"/>
                </a:lnTo>
                <a:lnTo>
                  <a:pt x="425" y="1346"/>
                </a:lnTo>
                <a:lnTo>
                  <a:pt x="427" y="1357"/>
                </a:lnTo>
                <a:lnTo>
                  <a:pt x="431" y="1368"/>
                </a:lnTo>
                <a:lnTo>
                  <a:pt x="433" y="1379"/>
                </a:lnTo>
                <a:lnTo>
                  <a:pt x="436" y="1390"/>
                </a:lnTo>
                <a:lnTo>
                  <a:pt x="438" y="1400"/>
                </a:lnTo>
                <a:lnTo>
                  <a:pt x="440" y="1412"/>
                </a:lnTo>
                <a:lnTo>
                  <a:pt x="441" y="1423"/>
                </a:lnTo>
                <a:lnTo>
                  <a:pt x="442" y="1435"/>
                </a:lnTo>
                <a:lnTo>
                  <a:pt x="443" y="1446"/>
                </a:lnTo>
                <a:lnTo>
                  <a:pt x="443" y="1457"/>
                </a:lnTo>
                <a:lnTo>
                  <a:pt x="443" y="1469"/>
                </a:lnTo>
                <a:lnTo>
                  <a:pt x="443" y="1481"/>
                </a:lnTo>
                <a:lnTo>
                  <a:pt x="443" y="1492"/>
                </a:lnTo>
                <a:lnTo>
                  <a:pt x="442" y="1504"/>
                </a:lnTo>
                <a:lnTo>
                  <a:pt x="441" y="1515"/>
                </a:lnTo>
                <a:lnTo>
                  <a:pt x="440" y="1527"/>
                </a:lnTo>
                <a:lnTo>
                  <a:pt x="438" y="1538"/>
                </a:lnTo>
                <a:lnTo>
                  <a:pt x="436" y="1548"/>
                </a:lnTo>
                <a:lnTo>
                  <a:pt x="433" y="1559"/>
                </a:lnTo>
                <a:lnTo>
                  <a:pt x="431" y="1570"/>
                </a:lnTo>
                <a:lnTo>
                  <a:pt x="427" y="1581"/>
                </a:lnTo>
                <a:lnTo>
                  <a:pt x="425" y="1592"/>
                </a:lnTo>
                <a:lnTo>
                  <a:pt x="421" y="1602"/>
                </a:lnTo>
                <a:lnTo>
                  <a:pt x="418" y="1613"/>
                </a:lnTo>
                <a:lnTo>
                  <a:pt x="413" y="1623"/>
                </a:lnTo>
                <a:lnTo>
                  <a:pt x="404" y="1644"/>
                </a:lnTo>
                <a:lnTo>
                  <a:pt x="395" y="1664"/>
                </a:lnTo>
                <a:lnTo>
                  <a:pt x="384" y="1683"/>
                </a:lnTo>
                <a:lnTo>
                  <a:pt x="373" y="1702"/>
                </a:lnTo>
                <a:lnTo>
                  <a:pt x="360" y="1720"/>
                </a:lnTo>
                <a:lnTo>
                  <a:pt x="345" y="1738"/>
                </a:lnTo>
                <a:lnTo>
                  <a:pt x="331" y="1755"/>
                </a:lnTo>
                <a:lnTo>
                  <a:pt x="315" y="1770"/>
                </a:lnTo>
                <a:lnTo>
                  <a:pt x="299" y="1786"/>
                </a:lnTo>
                <a:lnTo>
                  <a:pt x="282" y="1801"/>
                </a:lnTo>
                <a:lnTo>
                  <a:pt x="264" y="1816"/>
                </a:lnTo>
                <a:lnTo>
                  <a:pt x="245" y="1828"/>
                </a:lnTo>
                <a:lnTo>
                  <a:pt x="226" y="1841"/>
                </a:lnTo>
                <a:lnTo>
                  <a:pt x="206" y="1853"/>
                </a:lnTo>
                <a:lnTo>
                  <a:pt x="185" y="1863"/>
                </a:lnTo>
                <a:lnTo>
                  <a:pt x="165" y="1874"/>
                </a:lnTo>
                <a:lnTo>
                  <a:pt x="142" y="1883"/>
                </a:lnTo>
                <a:lnTo>
                  <a:pt x="119" y="1890"/>
                </a:lnTo>
                <a:lnTo>
                  <a:pt x="108" y="1893"/>
                </a:lnTo>
                <a:lnTo>
                  <a:pt x="97" y="1897"/>
                </a:lnTo>
                <a:lnTo>
                  <a:pt x="85" y="1900"/>
                </a:lnTo>
                <a:lnTo>
                  <a:pt x="73" y="1903"/>
                </a:lnTo>
                <a:lnTo>
                  <a:pt x="62" y="1906"/>
                </a:lnTo>
                <a:lnTo>
                  <a:pt x="50" y="1908"/>
                </a:lnTo>
                <a:lnTo>
                  <a:pt x="37" y="1910"/>
                </a:lnTo>
                <a:lnTo>
                  <a:pt x="25" y="1912"/>
                </a:lnTo>
                <a:lnTo>
                  <a:pt x="13" y="1914"/>
                </a:lnTo>
                <a:lnTo>
                  <a:pt x="0" y="1915"/>
                </a:lnTo>
                <a:lnTo>
                  <a:pt x="189" y="2937"/>
                </a:lnTo>
                <a:lnTo>
                  <a:pt x="808" y="2933"/>
                </a:lnTo>
              </a:path>
            </a:pathLst>
          </a:cu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solidFill>
                <a:schemeClr val="lt1"/>
              </a:solidFill>
            </a:endParaRPr>
          </a:p>
        </p:txBody>
      </p:sp>
      <p:sp>
        <p:nvSpPr>
          <p:cNvPr id="5" name="AutoShape 4"/>
          <p:cNvSpPr>
            <a:spLocks noChangeArrowheads="1"/>
          </p:cNvSpPr>
          <p:nvPr/>
        </p:nvSpPr>
        <p:spPr bwMode="auto">
          <a:xfrm>
            <a:off x="1619498" y="1631169"/>
            <a:ext cx="1188720" cy="1079500"/>
          </a:xfrm>
          <a:prstGeom prst="homePlate">
            <a:avLst>
              <a:gd name="adj" fmla="val 33309"/>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r>
              <a:rPr lang="es-ES" sz="1300" b="1" dirty="0">
                <a:solidFill>
                  <a:schemeClr val="tx1">
                    <a:lumMod val="85000"/>
                    <a:lumOff val="15000"/>
                  </a:schemeClr>
                </a:solidFill>
              </a:rPr>
              <a:t>Exposición al Riesgo </a:t>
            </a:r>
          </a:p>
          <a:p>
            <a:pPr algn="ctr"/>
            <a:r>
              <a:rPr lang="es-ES" sz="1300" b="1" dirty="0">
                <a:solidFill>
                  <a:schemeClr val="tx1">
                    <a:lumMod val="85000"/>
                    <a:lumOff val="15000"/>
                  </a:schemeClr>
                </a:solidFill>
              </a:rPr>
              <a:t>Residual</a:t>
            </a:r>
            <a:endParaRPr lang="en-US" sz="1300" b="1" dirty="0">
              <a:solidFill>
                <a:schemeClr val="tx1">
                  <a:lumMod val="85000"/>
                  <a:lumOff val="15000"/>
                </a:schemeClr>
              </a:solidFill>
            </a:endParaRPr>
          </a:p>
        </p:txBody>
      </p:sp>
      <p:sp>
        <p:nvSpPr>
          <p:cNvPr id="6" name="Text Box 5"/>
          <p:cNvSpPr txBox="1">
            <a:spLocks noChangeArrowheads="1"/>
          </p:cNvSpPr>
          <p:nvPr/>
        </p:nvSpPr>
        <p:spPr bwMode="auto">
          <a:xfrm>
            <a:off x="2845730" y="1109094"/>
            <a:ext cx="4126635" cy="2208297"/>
          </a:xfrm>
          <a:prstGeom prst="rect">
            <a:avLst/>
          </a:prstGeom>
          <a:noFill/>
          <a:ln w="9525" algn="ctr">
            <a:noFill/>
            <a:miter lim="800000"/>
            <a:headEnd/>
            <a:tailEnd/>
          </a:ln>
          <a:effectLst/>
        </p:spPr>
        <p:txBody>
          <a:bodyPr wrap="square">
            <a:spAutoFit/>
          </a:bodyPr>
          <a:lstStyle/>
          <a:p>
            <a:pPr marL="171450" indent="-171450" algn="just">
              <a:spcAft>
                <a:spcPct val="30000"/>
              </a:spcAft>
              <a:buFont typeface="Arial" pitchFamily="34" charset="0"/>
              <a:buChar char="•"/>
            </a:pPr>
            <a:r>
              <a:rPr lang="es-ES" sz="1100" dirty="0"/>
              <a:t>Se evaluaron 8 procesos y</a:t>
            </a:r>
            <a:r>
              <a:rPr lang="es-ES" sz="1100" dirty="0">
                <a:solidFill>
                  <a:schemeClr val="tx1">
                    <a:lumMod val="85000"/>
                    <a:lumOff val="15000"/>
                  </a:schemeClr>
                </a:solidFill>
              </a:rPr>
              <a:t> 7 familias de productos.</a:t>
            </a:r>
            <a:r>
              <a:rPr lang="es-ES" sz="1100" dirty="0"/>
              <a:t> </a:t>
            </a:r>
          </a:p>
          <a:p>
            <a:pPr marL="171450" indent="-171450" algn="just">
              <a:spcAft>
                <a:spcPct val="30000"/>
              </a:spcAft>
              <a:buFont typeface="Arial" pitchFamily="34" charset="0"/>
              <a:buChar char="•"/>
            </a:pPr>
            <a:r>
              <a:rPr lang="es-ES" sz="1100" dirty="0"/>
              <a:t>Se identificaron 195 riesgos, los cuales  representan una PEA de S/.24.2 MM y una PMA de S/.61.3MM.</a:t>
            </a:r>
          </a:p>
          <a:p>
            <a:pPr marL="171450" indent="-171450" algn="just">
              <a:spcAft>
                <a:spcPct val="30000"/>
              </a:spcAft>
              <a:buFont typeface="Arial" pitchFamily="34" charset="0"/>
              <a:buChar char="•"/>
            </a:pPr>
            <a:r>
              <a:rPr lang="es-ES" sz="1100" dirty="0"/>
              <a:t>Se estima alcanzar el 40% de la totalidad del </a:t>
            </a:r>
            <a:r>
              <a:rPr lang="es-ES" sz="1100" dirty="0" err="1"/>
              <a:t>VaR</a:t>
            </a:r>
            <a:r>
              <a:rPr lang="es-ES" sz="1100" dirty="0"/>
              <a:t> por Riesgo operacional.</a:t>
            </a:r>
          </a:p>
          <a:p>
            <a:pPr marL="171450" lvl="1" indent="-171450" algn="just">
              <a:spcAft>
                <a:spcPct val="30000"/>
              </a:spcAft>
              <a:buFont typeface="Arial" pitchFamily="34" charset="0"/>
              <a:buChar char="•"/>
            </a:pPr>
            <a:r>
              <a:rPr lang="es-ES" sz="1100" dirty="0"/>
              <a:t>Los 10 riesgos principales acumulan una PEA de S/.21.2MM (87.5%) y una PMA de S/.43.5MM (71%)</a:t>
            </a:r>
          </a:p>
          <a:p>
            <a:pPr marL="171450" lvl="1" indent="-171450" algn="just">
              <a:spcAft>
                <a:spcPct val="30000"/>
              </a:spcAft>
              <a:buFont typeface="Arial" pitchFamily="34" charset="0"/>
              <a:buChar char="•"/>
            </a:pPr>
            <a:r>
              <a:rPr lang="es-ES" sz="1100" dirty="0"/>
              <a:t>Se identificaron 57 planes de acción.</a:t>
            </a:r>
          </a:p>
          <a:p>
            <a:pPr marL="171450" lvl="1" indent="-171450" algn="just">
              <a:spcAft>
                <a:spcPct val="30000"/>
              </a:spcAft>
              <a:buFont typeface="Arial" pitchFamily="34" charset="0"/>
              <a:buChar char="•"/>
            </a:pPr>
            <a:r>
              <a:rPr lang="es-ES" sz="1100" dirty="0"/>
              <a:t>La implementación de los planes de acción asociados a los 10 riesgos principales reduciría la PEA a S/.5.6MM (-73.6%) y la PMA a S/.18.0MM (-58.6%).</a:t>
            </a:r>
            <a:endParaRPr lang="en-US" sz="1100" dirty="0"/>
          </a:p>
        </p:txBody>
      </p:sp>
      <p:sp>
        <p:nvSpPr>
          <p:cNvPr id="9" name="AutoShape 8"/>
          <p:cNvSpPr>
            <a:spLocks noChangeArrowheads="1"/>
          </p:cNvSpPr>
          <p:nvPr/>
        </p:nvSpPr>
        <p:spPr bwMode="auto">
          <a:xfrm>
            <a:off x="1619498" y="3425277"/>
            <a:ext cx="1188720" cy="1079500"/>
          </a:xfrm>
          <a:prstGeom prst="homePlate">
            <a:avLst>
              <a:gd name="adj" fmla="val 33309"/>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tx1">
                    <a:lumMod val="85000"/>
                    <a:lumOff val="15000"/>
                  </a:schemeClr>
                </a:solidFill>
              </a:rPr>
              <a:t>Entorno de </a:t>
            </a:r>
          </a:p>
          <a:p>
            <a:pPr algn="ctr"/>
            <a:r>
              <a:rPr lang="es-ES" sz="1300" b="1" dirty="0">
                <a:solidFill>
                  <a:schemeClr val="tx1">
                    <a:lumMod val="85000"/>
                    <a:lumOff val="15000"/>
                  </a:schemeClr>
                </a:solidFill>
              </a:rPr>
              <a:t>Control</a:t>
            </a:r>
            <a:endParaRPr lang="en-US" sz="1300" b="1" dirty="0">
              <a:solidFill>
                <a:schemeClr val="tx1">
                  <a:lumMod val="85000"/>
                  <a:lumOff val="15000"/>
                </a:schemeClr>
              </a:solidFill>
            </a:endParaRPr>
          </a:p>
        </p:txBody>
      </p:sp>
      <p:sp>
        <p:nvSpPr>
          <p:cNvPr id="10" name="AutoShape 10"/>
          <p:cNvSpPr>
            <a:spLocks noChangeArrowheads="1"/>
          </p:cNvSpPr>
          <p:nvPr/>
        </p:nvSpPr>
        <p:spPr bwMode="auto">
          <a:xfrm>
            <a:off x="1619498" y="4670253"/>
            <a:ext cx="1188720" cy="1079500"/>
          </a:xfrm>
          <a:prstGeom prst="homePlate">
            <a:avLst>
              <a:gd name="adj" fmla="val 33309"/>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tx1">
                    <a:lumMod val="85000"/>
                    <a:lumOff val="15000"/>
                  </a:schemeClr>
                </a:solidFill>
              </a:rPr>
              <a:t>Impacto</a:t>
            </a:r>
          </a:p>
          <a:p>
            <a:pPr algn="ctr"/>
            <a:r>
              <a:rPr lang="es-ES" sz="1300" b="1" dirty="0">
                <a:solidFill>
                  <a:schemeClr val="tx1">
                    <a:lumMod val="85000"/>
                    <a:lumOff val="15000"/>
                  </a:schemeClr>
                </a:solidFill>
              </a:rPr>
              <a:t>Reputacional</a:t>
            </a:r>
            <a:endParaRPr lang="en-US" sz="1300" b="1" dirty="0">
              <a:solidFill>
                <a:schemeClr val="tx1">
                  <a:lumMod val="85000"/>
                  <a:lumOff val="15000"/>
                </a:schemeClr>
              </a:solidFill>
            </a:endParaRPr>
          </a:p>
        </p:txBody>
      </p:sp>
      <p:sp>
        <p:nvSpPr>
          <p:cNvPr id="11" name="Text Box 11"/>
          <p:cNvSpPr txBox="1">
            <a:spLocks noChangeArrowheads="1"/>
          </p:cNvSpPr>
          <p:nvPr/>
        </p:nvSpPr>
        <p:spPr bwMode="auto">
          <a:xfrm>
            <a:off x="2845730" y="4908148"/>
            <a:ext cx="4139635" cy="600164"/>
          </a:xfrm>
          <a:prstGeom prst="rect">
            <a:avLst/>
          </a:prstGeom>
          <a:noFill/>
          <a:ln w="9525" algn="ctr">
            <a:noFill/>
            <a:miter lim="800000"/>
            <a:headEnd/>
            <a:tailEnd/>
          </a:ln>
          <a:effectLst/>
        </p:spPr>
        <p:txBody>
          <a:bodyPr wrap="square">
            <a:spAutoFit/>
          </a:bodyPr>
          <a:lstStyle/>
          <a:p>
            <a:pPr marL="171450" indent="-171450" algn="just">
              <a:buFont typeface="Arial" pitchFamily="34" charset="0"/>
              <a:buChar char="•"/>
            </a:pPr>
            <a:r>
              <a:rPr lang="es-ES" sz="1100" dirty="0"/>
              <a:t>De todos los riesgos operacionales identificados, el </a:t>
            </a:r>
            <a:r>
              <a:rPr lang="es-ES" sz="1100" b="1" dirty="0"/>
              <a:t>29%</a:t>
            </a:r>
            <a:r>
              <a:rPr lang="es-ES" sz="1100" dirty="0"/>
              <a:t> (56) presentan afectación externa  a la compañía, es decir, </a:t>
            </a:r>
            <a:r>
              <a:rPr lang="es-ES" sz="1100" b="1" dirty="0"/>
              <a:t>potencial impacto </a:t>
            </a:r>
            <a:r>
              <a:rPr lang="es-ES" sz="1100" b="1" dirty="0" err="1"/>
              <a:t>reputacional</a:t>
            </a:r>
            <a:r>
              <a:rPr lang="es-ES" sz="1100" b="1" dirty="0"/>
              <a:t> </a:t>
            </a:r>
            <a:r>
              <a:rPr lang="es-ES" sz="1100" dirty="0"/>
              <a:t>en clientes.</a:t>
            </a:r>
          </a:p>
        </p:txBody>
      </p:sp>
      <p:sp>
        <p:nvSpPr>
          <p:cNvPr id="12" name="Oval 12"/>
          <p:cNvSpPr>
            <a:spLocks noChangeArrowheads="1"/>
          </p:cNvSpPr>
          <p:nvPr/>
        </p:nvSpPr>
        <p:spPr bwMode="gray">
          <a:xfrm>
            <a:off x="165348" y="2670809"/>
            <a:ext cx="1381125" cy="1512888"/>
          </a:xfrm>
          <a:prstGeom prst="ellipse">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1">
              <a:solidFill>
                <a:schemeClr val="lt1"/>
              </a:solidFill>
            </a:endParaRPr>
          </a:p>
        </p:txBody>
      </p:sp>
      <p:sp>
        <p:nvSpPr>
          <p:cNvPr id="13" name="Text Box 13"/>
          <p:cNvSpPr txBox="1">
            <a:spLocks noChangeArrowheads="1"/>
          </p:cNvSpPr>
          <p:nvPr/>
        </p:nvSpPr>
        <p:spPr bwMode="auto">
          <a:xfrm>
            <a:off x="198685" y="3261359"/>
            <a:ext cx="1159292" cy="307777"/>
          </a:xfrm>
          <a:prstGeom prst="rect">
            <a:avLst/>
          </a:prstGeom>
          <a:noFill/>
          <a:ln w="9525" algn="ctr">
            <a:noFill/>
            <a:miter lim="800000"/>
            <a:headEnd/>
            <a:tailEnd/>
          </a:ln>
          <a:effectLst/>
        </p:spPr>
        <p:txBody>
          <a:bodyPr wrap="none">
            <a:spAutoFit/>
          </a:bodyPr>
          <a:lstStyle/>
          <a:p>
            <a:pPr algn="ctr"/>
            <a:r>
              <a:rPr lang="es-ES" sz="1400" b="1" dirty="0">
                <a:solidFill>
                  <a:schemeClr val="bg1"/>
                </a:solidFill>
              </a:rPr>
              <a:t>Conclusiones</a:t>
            </a:r>
            <a:endParaRPr lang="en-US" sz="1400" b="1" dirty="0">
              <a:solidFill>
                <a:schemeClr val="bg1"/>
              </a:solidFill>
            </a:endParaRPr>
          </a:p>
        </p:txBody>
      </p:sp>
      <p:sp>
        <p:nvSpPr>
          <p:cNvPr id="14" name="Text Box 44"/>
          <p:cNvSpPr txBox="1">
            <a:spLocks noChangeArrowheads="1"/>
          </p:cNvSpPr>
          <p:nvPr/>
        </p:nvSpPr>
        <p:spPr bwMode="auto">
          <a:xfrm>
            <a:off x="7881122" y="1461437"/>
            <a:ext cx="1244251" cy="230832"/>
          </a:xfrm>
          <a:prstGeom prst="rect">
            <a:avLst/>
          </a:prstGeom>
          <a:noFill/>
          <a:ln w="9525" algn="ctr">
            <a:noFill/>
            <a:miter lim="800000"/>
            <a:headEnd/>
            <a:tailEnd/>
          </a:ln>
          <a:effectLst/>
        </p:spPr>
        <p:txBody>
          <a:bodyPr wrap="none">
            <a:spAutoFit/>
          </a:bodyPr>
          <a:lstStyle/>
          <a:p>
            <a:r>
              <a:rPr lang="es-ES" sz="900" b="1" i="1" dirty="0"/>
              <a:t>Millones Nuevos Soles</a:t>
            </a:r>
            <a:endParaRPr lang="en-US" sz="900" b="1" i="1" dirty="0"/>
          </a:p>
        </p:txBody>
      </p:sp>
      <p:sp>
        <p:nvSpPr>
          <p:cNvPr id="15" name="Line 45"/>
          <p:cNvSpPr>
            <a:spLocks noChangeShapeType="1"/>
          </p:cNvSpPr>
          <p:nvPr/>
        </p:nvSpPr>
        <p:spPr bwMode="auto">
          <a:xfrm>
            <a:off x="7020272" y="1088072"/>
            <a:ext cx="0" cy="4714875"/>
          </a:xfrm>
          <a:prstGeom prst="line">
            <a:avLst/>
          </a:prstGeom>
          <a:noFill/>
          <a:ln w="9525">
            <a:solidFill>
              <a:schemeClr val="bg1">
                <a:lumMod val="85000"/>
              </a:schemeClr>
            </a:solidFill>
            <a:round/>
            <a:headEnd type="diamond" w="med" len="med"/>
            <a:tailEnd type="diamond" w="med" len="med"/>
          </a:ln>
          <a:effectLst/>
        </p:spPr>
        <p:txBody>
          <a:bodyPr wrap="none" anchor="ctr"/>
          <a:lstStyle/>
          <a:p>
            <a:endParaRPr lang="en-US"/>
          </a:p>
        </p:txBody>
      </p:sp>
      <p:sp>
        <p:nvSpPr>
          <p:cNvPr id="16" name="AutoShape 43"/>
          <p:cNvSpPr>
            <a:spLocks noChangeArrowheads="1"/>
          </p:cNvSpPr>
          <p:nvPr/>
        </p:nvSpPr>
        <p:spPr bwMode="auto">
          <a:xfrm>
            <a:off x="7093867" y="1649922"/>
            <a:ext cx="1943100" cy="296378"/>
          </a:xfrm>
          <a:prstGeom prst="roundRect">
            <a:avLst>
              <a:gd name="adj" fmla="val 7157"/>
            </a:avLst>
          </a:prstGeom>
          <a:solidFill>
            <a:srgbClr val="C00000"/>
          </a:solidFill>
          <a:ln w="9525" algn="ctr">
            <a:noFill/>
            <a:round/>
            <a:headEnd/>
            <a:tailEnd/>
          </a:ln>
          <a:effectLst/>
        </p:spPr>
        <p:txBody>
          <a:bodyPr anchor="ctr"/>
          <a:lstStyle/>
          <a:p>
            <a:pPr algn="ctr"/>
            <a:r>
              <a:rPr lang="es-ES" sz="1300" b="1" dirty="0">
                <a:solidFill>
                  <a:schemeClr val="bg1"/>
                </a:solidFill>
              </a:rPr>
              <a:t>Exposición al Riesgo</a:t>
            </a:r>
            <a:endParaRPr lang="en-US" sz="1300" b="1" dirty="0">
              <a:solidFill>
                <a:schemeClr val="bg1"/>
              </a:solidFill>
            </a:endParaRPr>
          </a:p>
        </p:txBody>
      </p:sp>
      <p:sp>
        <p:nvSpPr>
          <p:cNvPr id="17" name="AutoShape 46"/>
          <p:cNvSpPr>
            <a:spLocks noChangeArrowheads="1"/>
          </p:cNvSpPr>
          <p:nvPr/>
        </p:nvSpPr>
        <p:spPr bwMode="auto">
          <a:xfrm>
            <a:off x="7092280" y="1986531"/>
            <a:ext cx="936625" cy="256632"/>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a:solidFill>
                  <a:schemeClr val="bg1"/>
                </a:solidFill>
              </a:rPr>
              <a:t>PEA</a:t>
            </a:r>
            <a:r>
              <a:rPr lang="es-ES" sz="1100" baseline="30000" dirty="0">
                <a:solidFill>
                  <a:schemeClr val="bg1"/>
                </a:solidFill>
              </a:rPr>
              <a:t>1</a:t>
            </a:r>
          </a:p>
        </p:txBody>
      </p:sp>
      <p:sp>
        <p:nvSpPr>
          <p:cNvPr id="18" name="AutoShape 47"/>
          <p:cNvSpPr>
            <a:spLocks noChangeArrowheads="1"/>
          </p:cNvSpPr>
          <p:nvPr/>
        </p:nvSpPr>
        <p:spPr bwMode="auto">
          <a:xfrm>
            <a:off x="8100342" y="1986531"/>
            <a:ext cx="936625" cy="256632"/>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a:solidFill>
                  <a:schemeClr val="bg1"/>
                </a:solidFill>
              </a:rPr>
              <a:t>PMA</a:t>
            </a:r>
            <a:r>
              <a:rPr lang="es-ES" sz="1100" baseline="30000" dirty="0">
                <a:solidFill>
                  <a:schemeClr val="bg1"/>
                </a:solidFill>
              </a:rPr>
              <a:t>2</a:t>
            </a:r>
            <a:endParaRPr lang="es-ES" sz="1100" dirty="0">
              <a:solidFill>
                <a:schemeClr val="bg1"/>
              </a:solidFill>
            </a:endParaRPr>
          </a:p>
        </p:txBody>
      </p:sp>
      <p:sp>
        <p:nvSpPr>
          <p:cNvPr id="19" name="AutoShape 49"/>
          <p:cNvSpPr>
            <a:spLocks noChangeArrowheads="1"/>
          </p:cNvSpPr>
          <p:nvPr/>
        </p:nvSpPr>
        <p:spPr bwMode="auto">
          <a:xfrm>
            <a:off x="7093867" y="2288284"/>
            <a:ext cx="936625" cy="373063"/>
          </a:xfrm>
          <a:prstGeom prst="homePlate">
            <a:avLst>
              <a:gd name="adj" fmla="val 0"/>
            </a:avLst>
          </a:prstGeom>
          <a:noFill/>
          <a:ln w="9525" algn="ctr">
            <a:solidFill>
              <a:schemeClr val="bg1">
                <a:lumMod val="85000"/>
              </a:schemeClr>
            </a:solidFill>
            <a:miter lim="800000"/>
            <a:headEnd/>
            <a:tailEnd/>
          </a:ln>
          <a:effectLst/>
        </p:spPr>
        <p:txBody>
          <a:bodyPr wrap="none" anchor="ctr"/>
          <a:lstStyle/>
          <a:p>
            <a:pPr algn="ctr"/>
            <a:r>
              <a:rPr lang="es-ES" sz="1200" dirty="0"/>
              <a:t>24.2</a:t>
            </a:r>
            <a:endParaRPr lang="en-US" sz="1200" i="1" dirty="0"/>
          </a:p>
        </p:txBody>
      </p:sp>
      <p:sp>
        <p:nvSpPr>
          <p:cNvPr id="20" name="AutoShape 50"/>
          <p:cNvSpPr>
            <a:spLocks noChangeArrowheads="1"/>
          </p:cNvSpPr>
          <p:nvPr/>
        </p:nvSpPr>
        <p:spPr bwMode="auto">
          <a:xfrm>
            <a:off x="8100342" y="2288284"/>
            <a:ext cx="936625" cy="373063"/>
          </a:xfrm>
          <a:prstGeom prst="homePlate">
            <a:avLst>
              <a:gd name="adj" fmla="val 0"/>
            </a:avLst>
          </a:prstGeom>
          <a:noFill/>
          <a:ln w="9525" algn="ctr">
            <a:solidFill>
              <a:schemeClr val="bg1">
                <a:lumMod val="85000"/>
              </a:schemeClr>
            </a:solidFill>
            <a:miter lim="800000"/>
            <a:headEnd/>
            <a:tailEnd/>
          </a:ln>
          <a:effectLst/>
        </p:spPr>
        <p:txBody>
          <a:bodyPr wrap="none" anchor="ctr"/>
          <a:lstStyle/>
          <a:p>
            <a:pPr algn="ctr"/>
            <a:r>
              <a:rPr lang="es-ES" sz="1200" dirty="0"/>
              <a:t>61.3</a:t>
            </a:r>
            <a:endParaRPr lang="en-US" sz="1200" dirty="0"/>
          </a:p>
        </p:txBody>
      </p:sp>
      <p:sp>
        <p:nvSpPr>
          <p:cNvPr id="33" name="Text Box 68"/>
          <p:cNvSpPr txBox="1">
            <a:spLocks noChangeArrowheads="1"/>
          </p:cNvSpPr>
          <p:nvPr/>
        </p:nvSpPr>
        <p:spPr bwMode="auto">
          <a:xfrm>
            <a:off x="2843430" y="3490857"/>
            <a:ext cx="4105185" cy="938719"/>
          </a:xfrm>
          <a:prstGeom prst="rect">
            <a:avLst/>
          </a:prstGeom>
          <a:noFill/>
          <a:ln w="9525" algn="ctr">
            <a:noFill/>
            <a:miter lim="800000"/>
            <a:headEnd/>
            <a:tailEnd/>
          </a:ln>
          <a:effectLst/>
        </p:spPr>
        <p:txBody>
          <a:bodyPr wrap="square">
            <a:spAutoFit/>
          </a:bodyPr>
          <a:lstStyle/>
          <a:p>
            <a:pPr marL="171450" indent="-171450" algn="just">
              <a:buFont typeface="Arial" pitchFamily="34" charset="0"/>
              <a:buChar char="•"/>
            </a:pPr>
            <a:r>
              <a:rPr lang="es-ES" sz="1100" dirty="0">
                <a:solidFill>
                  <a:schemeClr val="tx1">
                    <a:lumMod val="85000"/>
                    <a:lumOff val="15000"/>
                  </a:schemeClr>
                </a:solidFill>
              </a:rPr>
              <a:t>Se identificaron 212 controles y/o mitigadores asociados a los 195 riesgos levantados.</a:t>
            </a:r>
          </a:p>
          <a:p>
            <a:pPr marL="171450" indent="-171450" algn="just">
              <a:buFont typeface="Arial" pitchFamily="34" charset="0"/>
              <a:buChar char="•"/>
            </a:pPr>
            <a:endParaRPr lang="es-ES" sz="1100" dirty="0">
              <a:solidFill>
                <a:schemeClr val="tx1">
                  <a:lumMod val="85000"/>
                  <a:lumOff val="15000"/>
                </a:schemeClr>
              </a:solidFill>
            </a:endParaRPr>
          </a:p>
          <a:p>
            <a:pPr marL="171450" indent="-171450" algn="just">
              <a:buFont typeface="Arial" pitchFamily="34" charset="0"/>
              <a:buChar char="•"/>
            </a:pPr>
            <a:r>
              <a:rPr lang="es-ES" sz="1100" dirty="0">
                <a:solidFill>
                  <a:schemeClr val="tx1">
                    <a:lumMod val="85000"/>
                    <a:lumOff val="15000"/>
                  </a:schemeClr>
                </a:solidFill>
              </a:rPr>
              <a:t>El </a:t>
            </a:r>
            <a:r>
              <a:rPr lang="es-ES" sz="1100" b="1" dirty="0">
                <a:solidFill>
                  <a:schemeClr val="tx1">
                    <a:lumMod val="85000"/>
                    <a:lumOff val="15000"/>
                  </a:schemeClr>
                </a:solidFill>
              </a:rPr>
              <a:t>76%</a:t>
            </a:r>
            <a:r>
              <a:rPr lang="es-ES" sz="1100" dirty="0">
                <a:solidFill>
                  <a:schemeClr val="tx1">
                    <a:lumMod val="85000"/>
                    <a:lumOff val="15000"/>
                  </a:schemeClr>
                </a:solidFill>
              </a:rPr>
              <a:t> de los </a:t>
            </a:r>
            <a:r>
              <a:rPr lang="es-ES" sz="1100" b="1" dirty="0">
                <a:solidFill>
                  <a:schemeClr val="tx1">
                    <a:lumMod val="85000"/>
                    <a:lumOff val="15000"/>
                  </a:schemeClr>
                </a:solidFill>
              </a:rPr>
              <a:t>controles </a:t>
            </a:r>
            <a:r>
              <a:rPr lang="es-ES" sz="1100" dirty="0">
                <a:solidFill>
                  <a:schemeClr val="tx1">
                    <a:lumMod val="85000"/>
                    <a:lumOff val="15000"/>
                  </a:schemeClr>
                </a:solidFill>
              </a:rPr>
              <a:t>identificados para la mitigación de riesgos operacionales han sido valorados como </a:t>
            </a:r>
            <a:r>
              <a:rPr lang="es-ES" sz="1100" b="1" dirty="0">
                <a:solidFill>
                  <a:schemeClr val="tx1">
                    <a:lumMod val="85000"/>
                    <a:lumOff val="15000"/>
                  </a:schemeClr>
                </a:solidFill>
              </a:rPr>
              <a:t>efectivos</a:t>
            </a:r>
            <a:r>
              <a:rPr lang="es-ES" sz="1100" dirty="0">
                <a:solidFill>
                  <a:schemeClr val="tx1">
                    <a:lumMod val="85000"/>
                    <a:lumOff val="15000"/>
                  </a:schemeClr>
                </a:solidFill>
              </a:rPr>
              <a:t>.</a:t>
            </a:r>
            <a:endParaRPr lang="en-US" sz="1100" dirty="0">
              <a:solidFill>
                <a:schemeClr val="tx1">
                  <a:lumMod val="85000"/>
                  <a:lumOff val="15000"/>
                </a:schemeClr>
              </a:solidFill>
            </a:endParaRPr>
          </a:p>
        </p:txBody>
      </p:sp>
      <p:sp>
        <p:nvSpPr>
          <p:cNvPr id="34" name="Rectangle 29"/>
          <p:cNvSpPr txBox="1">
            <a:spLocks noChangeArrowheads="1"/>
          </p:cNvSpPr>
          <p:nvPr/>
        </p:nvSpPr>
        <p:spPr bwMode="gray">
          <a:xfrm>
            <a:off x="251520" y="596939"/>
            <a:ext cx="5781145"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noProof="0" dirty="0">
                <a:solidFill>
                  <a:schemeClr val="tx1">
                    <a:lumMod val="85000"/>
                    <a:lumOff val="15000"/>
                  </a:schemeClr>
                </a:solidFill>
                <a:latin typeface="+mj-lt"/>
                <a:sym typeface="Wingdings" pitchFamily="2" charset="2"/>
              </a:rPr>
              <a:t>Conclusiones Generales</a:t>
            </a:r>
            <a:endParaRPr kumimoji="0" lang="es-ES_tradnl" sz="1800" b="1" i="0" u="none" strike="noStrike" kern="0" cap="none" spc="0" normalizeH="0" baseline="0" noProof="0" dirty="0">
              <a:ln>
                <a:noFill/>
              </a:ln>
              <a:solidFill>
                <a:schemeClr val="tx1">
                  <a:lumMod val="85000"/>
                  <a:lumOff val="15000"/>
                </a:schemeClr>
              </a:solidFill>
              <a:effectLst/>
              <a:uLnTx/>
              <a:uFillTx/>
              <a:latin typeface="+mj-lt"/>
              <a:ea typeface="+mj-ea"/>
              <a:cs typeface="+mj-cs"/>
            </a:endParaRPr>
          </a:p>
        </p:txBody>
      </p:sp>
      <p:grpSp>
        <p:nvGrpSpPr>
          <p:cNvPr id="35" name="Group 34"/>
          <p:cNvGrpSpPr/>
          <p:nvPr/>
        </p:nvGrpSpPr>
        <p:grpSpPr>
          <a:xfrm>
            <a:off x="1627707" y="6252420"/>
            <a:ext cx="5934472" cy="375715"/>
            <a:chOff x="44448" y="6309320"/>
            <a:chExt cx="8021640" cy="375715"/>
          </a:xfrm>
        </p:grpSpPr>
        <p:sp>
          <p:nvSpPr>
            <p:cNvPr id="36" name="Text Box 36"/>
            <p:cNvSpPr txBox="1">
              <a:spLocks noChangeArrowheads="1"/>
            </p:cNvSpPr>
            <p:nvPr/>
          </p:nvSpPr>
          <p:spPr bwMode="auto">
            <a:xfrm>
              <a:off x="44448" y="6309320"/>
              <a:ext cx="7880921" cy="230832"/>
            </a:xfrm>
            <a:prstGeom prst="rect">
              <a:avLst/>
            </a:prstGeom>
            <a:noFill/>
            <a:ln w="9525" algn="ctr">
              <a:noFill/>
              <a:miter lim="800000"/>
              <a:headEnd/>
              <a:tailEnd/>
            </a:ln>
            <a:effectLst/>
          </p:spPr>
          <p:txBody>
            <a:bodyPr wrap="square">
              <a:spAutoFit/>
            </a:bodyPr>
            <a:lstStyle/>
            <a:p>
              <a:r>
                <a:rPr lang="es-AR" sz="900" dirty="0">
                  <a:solidFill>
                    <a:schemeClr val="bg1"/>
                  </a:solidFill>
                </a:rPr>
                <a:t>(1) PEA: Pérdida esperada anual, es decir, la suma de las pérdidas esperadas de los riesgos que componen el proceso</a:t>
              </a:r>
              <a:endParaRPr lang="en-US" sz="900" dirty="0">
                <a:solidFill>
                  <a:schemeClr val="bg1"/>
                </a:solidFill>
              </a:endParaRPr>
            </a:p>
          </p:txBody>
        </p:sp>
        <p:sp>
          <p:nvSpPr>
            <p:cNvPr id="37" name="Text Box 37"/>
            <p:cNvSpPr txBox="1">
              <a:spLocks noChangeArrowheads="1"/>
            </p:cNvSpPr>
            <p:nvPr/>
          </p:nvSpPr>
          <p:spPr bwMode="auto">
            <a:xfrm>
              <a:off x="44450" y="6454203"/>
              <a:ext cx="8021638" cy="230832"/>
            </a:xfrm>
            <a:prstGeom prst="rect">
              <a:avLst/>
            </a:prstGeom>
            <a:noFill/>
            <a:ln w="9525" algn="ctr">
              <a:noFill/>
              <a:miter lim="800000"/>
              <a:headEnd/>
              <a:tailEnd/>
            </a:ln>
            <a:effectLst/>
          </p:spPr>
          <p:txBody>
            <a:bodyPr>
              <a:spAutoFit/>
            </a:bodyPr>
            <a:lstStyle/>
            <a:p>
              <a:r>
                <a:rPr lang="es-AR" sz="900" dirty="0">
                  <a:solidFill>
                    <a:schemeClr val="bg1"/>
                  </a:solidFill>
                </a:rPr>
                <a:t>(2) PMA: Pérdida máxima anual, es decir, la suma de los VaR de los riesgos que componen el proceso </a:t>
              </a:r>
              <a:endParaRPr lang="en-US" sz="900" dirty="0">
                <a:solidFill>
                  <a:schemeClr val="bg1"/>
                </a:solidFill>
              </a:endParaRPr>
            </a:p>
          </p:txBody>
        </p:sp>
      </p:grpSp>
      <p:sp>
        <p:nvSpPr>
          <p:cNvPr id="40" name="1 Título"/>
          <p:cNvSpPr>
            <a:spLocks noGrp="1"/>
          </p:cNvSpPr>
          <p:nvPr>
            <p:ph type="title"/>
          </p:nvPr>
        </p:nvSpPr>
        <p:spPr>
          <a:xfrm>
            <a:off x="47624" y="32965"/>
            <a:ext cx="8627715" cy="587723"/>
          </a:xfrm>
        </p:spPr>
        <p:txBody>
          <a:bodyPr/>
          <a:lstStyle/>
          <a:p>
            <a:r>
              <a:rPr lang="es-PE" dirty="0"/>
              <a:t>Conclusiones Generales</a:t>
            </a:r>
          </a:p>
        </p:txBody>
      </p:sp>
      <p:sp>
        <p:nvSpPr>
          <p:cNvPr id="54" name="AutoShape 43"/>
          <p:cNvSpPr>
            <a:spLocks noChangeArrowheads="1"/>
          </p:cNvSpPr>
          <p:nvPr/>
        </p:nvSpPr>
        <p:spPr bwMode="auto">
          <a:xfrm>
            <a:off x="7128793" y="3417001"/>
            <a:ext cx="1944687" cy="296378"/>
          </a:xfrm>
          <a:prstGeom prst="roundRect">
            <a:avLst>
              <a:gd name="adj" fmla="val 7157"/>
            </a:avLst>
          </a:prstGeom>
          <a:solidFill>
            <a:srgbClr val="C00000"/>
          </a:solidFill>
          <a:ln w="9525" algn="ctr">
            <a:noFill/>
            <a:round/>
            <a:headEnd/>
            <a:tailEnd/>
          </a:ln>
          <a:effectLst/>
        </p:spPr>
        <p:txBody>
          <a:bodyPr anchor="ctr"/>
          <a:lstStyle/>
          <a:p>
            <a:pPr algn="ctr"/>
            <a:r>
              <a:rPr lang="es-ES" sz="1300" b="1" dirty="0">
                <a:solidFill>
                  <a:schemeClr val="bg1"/>
                </a:solidFill>
              </a:rPr>
              <a:t>Entorno de Control</a:t>
            </a:r>
            <a:endParaRPr lang="en-US" sz="1300" b="1" dirty="0">
              <a:solidFill>
                <a:schemeClr val="bg1"/>
              </a:solidFill>
            </a:endParaRPr>
          </a:p>
        </p:txBody>
      </p:sp>
      <p:sp>
        <p:nvSpPr>
          <p:cNvPr id="55" name="AutoShape 46"/>
          <p:cNvSpPr>
            <a:spLocks noChangeArrowheads="1"/>
          </p:cNvSpPr>
          <p:nvPr/>
        </p:nvSpPr>
        <p:spPr bwMode="auto">
          <a:xfrm>
            <a:off x="7128793" y="3753610"/>
            <a:ext cx="936625" cy="256632"/>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err="1">
                <a:solidFill>
                  <a:schemeClr val="bg1"/>
                </a:solidFill>
              </a:rPr>
              <a:t>N°Riesgos</a:t>
            </a:r>
            <a:endParaRPr lang="es-ES" sz="1100" baseline="30000" dirty="0">
              <a:solidFill>
                <a:schemeClr val="bg1"/>
              </a:solidFill>
            </a:endParaRPr>
          </a:p>
        </p:txBody>
      </p:sp>
      <p:sp>
        <p:nvSpPr>
          <p:cNvPr id="56" name="AutoShape 47"/>
          <p:cNvSpPr>
            <a:spLocks noChangeArrowheads="1"/>
          </p:cNvSpPr>
          <p:nvPr/>
        </p:nvSpPr>
        <p:spPr bwMode="auto">
          <a:xfrm>
            <a:off x="8136855" y="3753610"/>
            <a:ext cx="936625" cy="256632"/>
          </a:xfrm>
          <a:prstGeom prst="homePlate">
            <a:avLst>
              <a:gd name="adj" fmla="val 0"/>
            </a:avLst>
          </a:prstGeom>
          <a:solidFill>
            <a:srgbClr val="DB0613"/>
          </a:solidFill>
          <a:ln w="9525" algn="ctr">
            <a:noFill/>
            <a:miter lim="800000"/>
            <a:headEnd/>
            <a:tailEnd/>
          </a:ln>
          <a:effectLst/>
        </p:spPr>
        <p:txBody>
          <a:bodyPr wrap="none" anchor="ctr"/>
          <a:lstStyle/>
          <a:p>
            <a:pPr algn="ctr"/>
            <a:r>
              <a:rPr lang="es-CL" sz="1100" dirty="0">
                <a:solidFill>
                  <a:schemeClr val="bg1"/>
                </a:solidFill>
              </a:rPr>
              <a:t>N° Controles</a:t>
            </a:r>
            <a:endParaRPr lang="es-ES" sz="1100" dirty="0">
              <a:solidFill>
                <a:schemeClr val="bg1"/>
              </a:solidFill>
            </a:endParaRPr>
          </a:p>
        </p:txBody>
      </p:sp>
      <p:sp>
        <p:nvSpPr>
          <p:cNvPr id="57" name="AutoShape 49"/>
          <p:cNvSpPr>
            <a:spLocks noChangeArrowheads="1"/>
          </p:cNvSpPr>
          <p:nvPr/>
        </p:nvSpPr>
        <p:spPr bwMode="auto">
          <a:xfrm>
            <a:off x="7130380" y="4055363"/>
            <a:ext cx="936625" cy="373063"/>
          </a:xfrm>
          <a:prstGeom prst="homePlate">
            <a:avLst>
              <a:gd name="adj" fmla="val 0"/>
            </a:avLst>
          </a:prstGeom>
          <a:noFill/>
          <a:ln w="9525" algn="ctr">
            <a:solidFill>
              <a:schemeClr val="bg1">
                <a:lumMod val="85000"/>
              </a:schemeClr>
            </a:solidFill>
            <a:miter lim="800000"/>
            <a:headEnd/>
            <a:tailEnd/>
          </a:ln>
          <a:effectLst/>
        </p:spPr>
        <p:txBody>
          <a:bodyPr wrap="none" anchor="ctr"/>
          <a:lstStyle/>
          <a:p>
            <a:pPr algn="ctr"/>
            <a:r>
              <a:rPr lang="es-ES" sz="1200" dirty="0"/>
              <a:t>195</a:t>
            </a:r>
            <a:endParaRPr lang="en-US" sz="1200" i="1" dirty="0"/>
          </a:p>
        </p:txBody>
      </p:sp>
      <p:sp>
        <p:nvSpPr>
          <p:cNvPr id="58" name="AutoShape 50"/>
          <p:cNvSpPr>
            <a:spLocks noChangeArrowheads="1"/>
          </p:cNvSpPr>
          <p:nvPr/>
        </p:nvSpPr>
        <p:spPr bwMode="auto">
          <a:xfrm>
            <a:off x="8136855" y="4055363"/>
            <a:ext cx="936625" cy="373063"/>
          </a:xfrm>
          <a:prstGeom prst="homePlate">
            <a:avLst>
              <a:gd name="adj" fmla="val 0"/>
            </a:avLst>
          </a:prstGeom>
          <a:noFill/>
          <a:ln w="9525" algn="ctr">
            <a:solidFill>
              <a:schemeClr val="bg1">
                <a:lumMod val="85000"/>
              </a:schemeClr>
            </a:solidFill>
            <a:miter lim="800000"/>
            <a:headEnd/>
            <a:tailEnd/>
          </a:ln>
          <a:effectLst/>
        </p:spPr>
        <p:txBody>
          <a:bodyPr wrap="none" anchor="ctr"/>
          <a:lstStyle/>
          <a:p>
            <a:pPr algn="ctr"/>
            <a:r>
              <a:rPr lang="es-ES" sz="1200" dirty="0"/>
              <a:t>212</a:t>
            </a:r>
            <a:endParaRPr lang="en-US" sz="1200" dirty="0"/>
          </a:p>
        </p:txBody>
      </p:sp>
      <p:sp>
        <p:nvSpPr>
          <p:cNvPr id="59" name="AutoShape 43"/>
          <p:cNvSpPr>
            <a:spLocks noChangeArrowheads="1"/>
          </p:cNvSpPr>
          <p:nvPr/>
        </p:nvSpPr>
        <p:spPr bwMode="auto">
          <a:xfrm>
            <a:off x="7128793" y="4651303"/>
            <a:ext cx="1944687" cy="296378"/>
          </a:xfrm>
          <a:prstGeom prst="roundRect">
            <a:avLst>
              <a:gd name="adj" fmla="val 7157"/>
            </a:avLst>
          </a:prstGeom>
          <a:solidFill>
            <a:srgbClr val="C00000"/>
          </a:solidFill>
          <a:ln w="9525" algn="ctr">
            <a:noFill/>
            <a:round/>
            <a:headEnd/>
            <a:tailEnd/>
          </a:ln>
          <a:effectLst/>
        </p:spPr>
        <p:txBody>
          <a:bodyPr anchor="ctr"/>
          <a:lstStyle/>
          <a:p>
            <a:pPr algn="ctr"/>
            <a:r>
              <a:rPr lang="es-ES" sz="1300" b="1" dirty="0">
                <a:solidFill>
                  <a:schemeClr val="bg1"/>
                </a:solidFill>
              </a:rPr>
              <a:t>Impacto reputacional</a:t>
            </a:r>
            <a:endParaRPr lang="en-US" sz="1300" b="1" dirty="0">
              <a:solidFill>
                <a:schemeClr val="bg1"/>
              </a:solidFill>
            </a:endParaRPr>
          </a:p>
        </p:txBody>
      </p:sp>
      <p:sp>
        <p:nvSpPr>
          <p:cNvPr id="64" name="AutoShape 46"/>
          <p:cNvSpPr>
            <a:spLocks noChangeArrowheads="1"/>
          </p:cNvSpPr>
          <p:nvPr/>
        </p:nvSpPr>
        <p:spPr bwMode="auto">
          <a:xfrm>
            <a:off x="7128793" y="5013961"/>
            <a:ext cx="936625" cy="256632"/>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err="1">
                <a:solidFill>
                  <a:schemeClr val="bg1"/>
                </a:solidFill>
              </a:rPr>
              <a:t>N°Riesgos</a:t>
            </a:r>
            <a:endParaRPr lang="es-ES" sz="1100" baseline="30000" dirty="0">
              <a:solidFill>
                <a:schemeClr val="bg1"/>
              </a:solidFill>
            </a:endParaRPr>
          </a:p>
        </p:txBody>
      </p:sp>
      <p:sp>
        <p:nvSpPr>
          <p:cNvPr id="65" name="AutoShape 47"/>
          <p:cNvSpPr>
            <a:spLocks noChangeArrowheads="1"/>
          </p:cNvSpPr>
          <p:nvPr/>
        </p:nvSpPr>
        <p:spPr bwMode="auto">
          <a:xfrm>
            <a:off x="8136855" y="5013961"/>
            <a:ext cx="936625" cy="256632"/>
          </a:xfrm>
          <a:prstGeom prst="homePlate">
            <a:avLst>
              <a:gd name="adj" fmla="val 0"/>
            </a:avLst>
          </a:prstGeom>
          <a:solidFill>
            <a:srgbClr val="DB0613"/>
          </a:solidFill>
          <a:ln w="9525" algn="ctr">
            <a:noFill/>
            <a:miter lim="800000"/>
            <a:headEnd/>
            <a:tailEnd/>
          </a:ln>
          <a:effectLst/>
        </p:spPr>
        <p:txBody>
          <a:bodyPr wrap="none" anchor="ctr"/>
          <a:lstStyle/>
          <a:p>
            <a:pPr algn="ctr"/>
            <a:r>
              <a:rPr lang="es-CL" sz="1100" dirty="0">
                <a:solidFill>
                  <a:schemeClr val="bg1"/>
                </a:solidFill>
              </a:rPr>
              <a:t>Alta afectación</a:t>
            </a:r>
            <a:endParaRPr lang="es-ES" sz="1100" dirty="0">
              <a:solidFill>
                <a:schemeClr val="bg1"/>
              </a:solidFill>
            </a:endParaRPr>
          </a:p>
        </p:txBody>
      </p:sp>
      <p:sp>
        <p:nvSpPr>
          <p:cNvPr id="66" name="AutoShape 49"/>
          <p:cNvSpPr>
            <a:spLocks noChangeArrowheads="1"/>
          </p:cNvSpPr>
          <p:nvPr/>
        </p:nvSpPr>
        <p:spPr bwMode="auto">
          <a:xfrm>
            <a:off x="7130380" y="5315714"/>
            <a:ext cx="936625" cy="373063"/>
          </a:xfrm>
          <a:prstGeom prst="homePlate">
            <a:avLst>
              <a:gd name="adj" fmla="val 0"/>
            </a:avLst>
          </a:prstGeom>
          <a:noFill/>
          <a:ln w="9525" algn="ctr">
            <a:solidFill>
              <a:schemeClr val="bg1">
                <a:lumMod val="85000"/>
              </a:schemeClr>
            </a:solidFill>
            <a:miter lim="800000"/>
            <a:headEnd/>
            <a:tailEnd/>
          </a:ln>
          <a:effectLst/>
        </p:spPr>
        <p:txBody>
          <a:bodyPr wrap="none" anchor="ctr"/>
          <a:lstStyle/>
          <a:p>
            <a:pPr algn="ctr"/>
            <a:r>
              <a:rPr lang="en-US" sz="1200" dirty="0"/>
              <a:t>195</a:t>
            </a:r>
          </a:p>
        </p:txBody>
      </p:sp>
      <p:sp>
        <p:nvSpPr>
          <p:cNvPr id="67" name="AutoShape 50"/>
          <p:cNvSpPr>
            <a:spLocks noChangeArrowheads="1"/>
          </p:cNvSpPr>
          <p:nvPr/>
        </p:nvSpPr>
        <p:spPr bwMode="auto">
          <a:xfrm>
            <a:off x="8136855" y="5315714"/>
            <a:ext cx="936625" cy="373063"/>
          </a:xfrm>
          <a:prstGeom prst="homePlate">
            <a:avLst>
              <a:gd name="adj" fmla="val 0"/>
            </a:avLst>
          </a:prstGeom>
          <a:noFill/>
          <a:ln w="9525" algn="ctr">
            <a:solidFill>
              <a:schemeClr val="bg1">
                <a:lumMod val="85000"/>
              </a:schemeClr>
            </a:solidFill>
            <a:miter lim="800000"/>
            <a:headEnd/>
            <a:tailEnd/>
          </a:ln>
          <a:effectLst/>
        </p:spPr>
        <p:txBody>
          <a:bodyPr wrap="none" anchor="ctr"/>
          <a:lstStyle/>
          <a:p>
            <a:pPr algn="ctr"/>
            <a:r>
              <a:rPr lang="en-US" sz="1200" dirty="0"/>
              <a:t>56</a:t>
            </a:r>
          </a:p>
        </p:txBody>
      </p:sp>
    </p:spTree>
    <p:extLst>
      <p:ext uri="{BB962C8B-B14F-4D97-AF65-F5344CB8AC3E}">
        <p14:creationId xmlns:p14="http://schemas.microsoft.com/office/powerpoint/2010/main" val="2892058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7"/>
          <p:cNvSpPr txBox="1">
            <a:spLocks noChangeArrowheads="1"/>
          </p:cNvSpPr>
          <p:nvPr/>
        </p:nvSpPr>
        <p:spPr bwMode="auto">
          <a:xfrm>
            <a:off x="4494065" y="1697895"/>
            <a:ext cx="4562730" cy="2659190"/>
          </a:xfrm>
          <a:prstGeom prst="rect">
            <a:avLst/>
          </a:prstGeom>
          <a:noFill/>
          <a:ln w="9525" algn="ctr">
            <a:noFill/>
            <a:miter lim="800000"/>
            <a:headEnd/>
            <a:tailEnd/>
          </a:ln>
          <a:effectLst/>
        </p:spPr>
        <p:txBody>
          <a:bodyPr wrap="square">
            <a:spAutoFit/>
          </a:bodyPr>
          <a:lstStyle/>
          <a:p>
            <a:pPr marL="171450" indent="-171450" algn="just">
              <a:spcAft>
                <a:spcPct val="30000"/>
              </a:spcAft>
              <a:buFont typeface="Arial" pitchFamily="34" charset="0"/>
              <a:buChar char="•"/>
            </a:pPr>
            <a:r>
              <a:rPr lang="es-ES" sz="1200" dirty="0"/>
              <a:t>Se identificaron 195 riesgos, los cuales  representan una PEA de S/.24.2MM y una PMA de S/.61.3MM.</a:t>
            </a:r>
          </a:p>
          <a:p>
            <a:pPr marL="171450" indent="-171450" algn="just">
              <a:spcAft>
                <a:spcPct val="30000"/>
              </a:spcAft>
              <a:buFont typeface="Arial" pitchFamily="34" charset="0"/>
              <a:buChar char="•"/>
            </a:pPr>
            <a:r>
              <a:rPr lang="es-ES" sz="1200" dirty="0"/>
              <a:t>El </a:t>
            </a:r>
            <a:r>
              <a:rPr lang="es-ES" sz="1200" b="1" dirty="0"/>
              <a:t>proceso</a:t>
            </a:r>
            <a:r>
              <a:rPr lang="es-ES" sz="1200" dirty="0"/>
              <a:t> que concentra una </a:t>
            </a:r>
            <a:r>
              <a:rPr lang="es-ES" sz="1200" b="1" dirty="0"/>
              <a:t>mayor exposición </a:t>
            </a:r>
            <a:r>
              <a:rPr lang="es-ES" sz="1200" dirty="0"/>
              <a:t>al Riesgo Operacional de los 8 procesos evaluados es </a:t>
            </a:r>
            <a:r>
              <a:rPr lang="es-ES" sz="1200" b="1" dirty="0"/>
              <a:t>Suscripción</a:t>
            </a:r>
            <a:r>
              <a:rPr lang="es-ES" sz="1200" dirty="0"/>
              <a:t>, con una PEA de S/.17.78MM (73.5%)  y una PMA de S/.38.3MM (62.5%). </a:t>
            </a:r>
            <a:r>
              <a:rPr lang="es-ES" sz="1200" dirty="0">
                <a:hlinkClick r:id="rId2" action="ppaction://hlinksldjump"/>
              </a:rPr>
              <a:t>Ver distribución por proceso.</a:t>
            </a:r>
            <a:endParaRPr lang="es-ES" sz="1200" dirty="0"/>
          </a:p>
          <a:p>
            <a:pPr marL="171450" indent="-171450" algn="just">
              <a:spcAft>
                <a:spcPct val="30000"/>
              </a:spcAft>
              <a:buFont typeface="Arial" pitchFamily="34" charset="0"/>
              <a:buChar char="•"/>
            </a:pPr>
            <a:r>
              <a:rPr lang="es-ES" sz="1200" dirty="0"/>
              <a:t>De la evaluación por </a:t>
            </a:r>
            <a:r>
              <a:rPr lang="es-ES" sz="1200" b="1" dirty="0"/>
              <a:t>producto</a:t>
            </a:r>
            <a:r>
              <a:rPr lang="es-ES" sz="1200" dirty="0"/>
              <a:t> que se ha realizado, se concluye que los productos asociados a la </a:t>
            </a:r>
            <a:r>
              <a:rPr lang="es-ES" sz="1200" b="1" dirty="0"/>
              <a:t>unidad de negocio de Riesgos Laborales</a:t>
            </a:r>
            <a:r>
              <a:rPr lang="es-ES" sz="1200" dirty="0"/>
              <a:t>  concentra la mayor exposición al riesgo operacional, acumulando una PEA de 16.0MM (66.3%) y una PMA de S/.31.0MM (50.7%).</a:t>
            </a:r>
            <a:r>
              <a:rPr lang="es-ES" sz="1200" dirty="0">
                <a:hlinkClick r:id="rId3" action="ppaction://hlinksldjump"/>
              </a:rPr>
              <a:t> </a:t>
            </a:r>
            <a:r>
              <a:rPr lang="es-ES" sz="1200" dirty="0">
                <a:hlinkClick r:id="rId4" action="ppaction://hlinksldjump"/>
              </a:rPr>
              <a:t>Ver distribución por producto</a:t>
            </a:r>
            <a:r>
              <a:rPr lang="es-ES" sz="1200" dirty="0">
                <a:hlinkClick r:id="rId3" action="ppaction://hlinksldjump"/>
              </a:rPr>
              <a:t>.</a:t>
            </a:r>
            <a:endParaRPr lang="es-ES" sz="1200" dirty="0"/>
          </a:p>
          <a:p>
            <a:pPr marL="171450" lvl="1" indent="-171450" algn="just">
              <a:spcAft>
                <a:spcPct val="30000"/>
              </a:spcAft>
              <a:buFont typeface="Arial" pitchFamily="34" charset="0"/>
              <a:buChar char="•"/>
            </a:pPr>
            <a:r>
              <a:rPr lang="es-ES" sz="1200" dirty="0"/>
              <a:t>Un riesgo acumula por si solo, el 59.53% del PEA y el 36.5% del PMA, con pérdidas por S/.14.4MM y S/.22.36MM respectivamente.</a:t>
            </a:r>
            <a:endParaRPr lang="en-US" sz="1200" dirty="0"/>
          </a:p>
        </p:txBody>
      </p:sp>
      <p:sp>
        <p:nvSpPr>
          <p:cNvPr id="9" name="Rectangle 29"/>
          <p:cNvSpPr txBox="1">
            <a:spLocks noChangeArrowheads="1"/>
          </p:cNvSpPr>
          <p:nvPr/>
        </p:nvSpPr>
        <p:spPr bwMode="gray">
          <a:xfrm>
            <a:off x="306235" y="715688"/>
            <a:ext cx="4060100"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Resultado Valoración de Riesgos</a:t>
            </a:r>
            <a:endParaRPr kumimoji="0" lang="es-ES_tradnl" sz="1800" b="1" i="0" u="none" strike="noStrike" kern="0" cap="none" spc="0" normalizeH="0" baseline="30000" noProof="0" dirty="0">
              <a:ln>
                <a:noFill/>
              </a:ln>
              <a:solidFill>
                <a:schemeClr val="hlink"/>
              </a:solidFill>
              <a:effectLst/>
              <a:uLnTx/>
              <a:uFillTx/>
              <a:latin typeface="+mj-lt"/>
              <a:ea typeface="+mj-ea"/>
              <a:cs typeface="+mj-cs"/>
            </a:endParaRPr>
          </a:p>
        </p:txBody>
      </p:sp>
      <p:sp>
        <p:nvSpPr>
          <p:cNvPr id="11" name="Rounded Rectangle 119"/>
          <p:cNvSpPr/>
          <p:nvPr/>
        </p:nvSpPr>
        <p:spPr>
          <a:xfrm>
            <a:off x="4494065" y="1171486"/>
            <a:ext cx="4528594" cy="288032"/>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lt1"/>
                </a:solidFill>
              </a:rPr>
              <a:t>Resultados</a:t>
            </a:r>
          </a:p>
        </p:txBody>
      </p:sp>
      <p:sp>
        <p:nvSpPr>
          <p:cNvPr id="41" name="1 Título"/>
          <p:cNvSpPr>
            <a:spLocks noGrp="1"/>
          </p:cNvSpPr>
          <p:nvPr>
            <p:ph type="title"/>
          </p:nvPr>
        </p:nvSpPr>
        <p:spPr>
          <a:xfrm>
            <a:off x="47624" y="32965"/>
            <a:ext cx="8627715" cy="587723"/>
          </a:xfrm>
        </p:spPr>
        <p:txBody>
          <a:bodyPr/>
          <a:lstStyle/>
          <a:p>
            <a:r>
              <a:rPr lang="es-PE" dirty="0"/>
              <a:t>Exposición al Riesgo Operacional</a:t>
            </a:r>
          </a:p>
        </p:txBody>
      </p:sp>
      <p:pic>
        <p:nvPicPr>
          <p:cNvPr id="51" name="Picture 9"/>
          <p:cNvPicPr>
            <a:picLocks noChangeAspect="1" noChangeArrowheads="1"/>
          </p:cNvPicPr>
          <p:nvPr/>
        </p:nvPicPr>
        <p:blipFill>
          <a:blip r:embed="rId5" cstate="print"/>
          <a:srcRect/>
          <a:stretch>
            <a:fillRect/>
          </a:stretch>
        </p:blipFill>
        <p:spPr bwMode="auto">
          <a:xfrm>
            <a:off x="950496" y="2537600"/>
            <a:ext cx="3043238" cy="3044825"/>
          </a:xfrm>
          <a:prstGeom prst="rect">
            <a:avLst/>
          </a:prstGeom>
          <a:noFill/>
          <a:ln w="9525" algn="ctr">
            <a:noFill/>
            <a:miter lim="800000"/>
            <a:headEnd/>
            <a:tailEnd/>
          </a:ln>
          <a:effectLst/>
        </p:spPr>
      </p:pic>
      <p:sp>
        <p:nvSpPr>
          <p:cNvPr id="52" name="Text Box 10"/>
          <p:cNvSpPr txBox="1">
            <a:spLocks noChangeArrowheads="1"/>
          </p:cNvSpPr>
          <p:nvPr/>
        </p:nvSpPr>
        <p:spPr bwMode="auto">
          <a:xfrm>
            <a:off x="459161" y="4660087"/>
            <a:ext cx="543739" cy="246221"/>
          </a:xfrm>
          <a:prstGeom prst="rect">
            <a:avLst/>
          </a:prstGeom>
          <a:noFill/>
          <a:ln w="9525" algn="ctr">
            <a:noFill/>
            <a:miter lim="800000"/>
            <a:headEnd/>
            <a:tailEnd/>
          </a:ln>
          <a:effectLst/>
        </p:spPr>
        <p:txBody>
          <a:bodyPr wrap="none">
            <a:spAutoFit/>
          </a:bodyPr>
          <a:lstStyle/>
          <a:p>
            <a:pPr algn="r"/>
            <a:r>
              <a:rPr lang="es-ES" sz="1000" dirty="0"/>
              <a:t>&lt;1,000</a:t>
            </a:r>
            <a:endParaRPr lang="en-US" sz="1000" dirty="0"/>
          </a:p>
        </p:txBody>
      </p:sp>
      <p:sp>
        <p:nvSpPr>
          <p:cNvPr id="53" name="Text Box 11"/>
          <p:cNvSpPr txBox="1">
            <a:spLocks noChangeArrowheads="1"/>
          </p:cNvSpPr>
          <p:nvPr/>
        </p:nvSpPr>
        <p:spPr bwMode="auto">
          <a:xfrm>
            <a:off x="393438" y="3913962"/>
            <a:ext cx="609462" cy="246221"/>
          </a:xfrm>
          <a:prstGeom prst="rect">
            <a:avLst/>
          </a:prstGeom>
          <a:noFill/>
          <a:ln w="9525" algn="ctr">
            <a:noFill/>
            <a:miter lim="800000"/>
            <a:headEnd/>
            <a:tailEnd/>
          </a:ln>
          <a:effectLst/>
        </p:spPr>
        <p:txBody>
          <a:bodyPr wrap="none">
            <a:spAutoFit/>
          </a:bodyPr>
          <a:lstStyle/>
          <a:p>
            <a:pPr algn="r"/>
            <a:r>
              <a:rPr lang="es-ES" sz="1000" dirty="0"/>
              <a:t>&lt;10,000</a:t>
            </a:r>
            <a:endParaRPr lang="en-US" sz="1000" dirty="0"/>
          </a:p>
        </p:txBody>
      </p:sp>
      <p:sp>
        <p:nvSpPr>
          <p:cNvPr id="54" name="Text Box 12"/>
          <p:cNvSpPr txBox="1">
            <a:spLocks noChangeArrowheads="1"/>
          </p:cNvSpPr>
          <p:nvPr/>
        </p:nvSpPr>
        <p:spPr bwMode="auto">
          <a:xfrm>
            <a:off x="393438" y="3159900"/>
            <a:ext cx="609462" cy="246221"/>
          </a:xfrm>
          <a:prstGeom prst="rect">
            <a:avLst/>
          </a:prstGeom>
          <a:noFill/>
          <a:ln w="9525" algn="ctr">
            <a:noFill/>
            <a:miter lim="800000"/>
            <a:headEnd/>
            <a:tailEnd/>
          </a:ln>
          <a:effectLst/>
        </p:spPr>
        <p:txBody>
          <a:bodyPr wrap="none">
            <a:spAutoFit/>
          </a:bodyPr>
          <a:lstStyle/>
          <a:p>
            <a:pPr algn="r"/>
            <a:r>
              <a:rPr lang="es-ES" sz="1000" dirty="0"/>
              <a:t>&lt;30,000</a:t>
            </a:r>
            <a:endParaRPr lang="en-US" sz="1000" dirty="0"/>
          </a:p>
        </p:txBody>
      </p:sp>
      <p:sp>
        <p:nvSpPr>
          <p:cNvPr id="55" name="Text Box 13"/>
          <p:cNvSpPr txBox="1">
            <a:spLocks noChangeArrowheads="1"/>
          </p:cNvSpPr>
          <p:nvPr/>
        </p:nvSpPr>
        <p:spPr bwMode="auto">
          <a:xfrm>
            <a:off x="1478688" y="5565279"/>
            <a:ext cx="543739" cy="246221"/>
          </a:xfrm>
          <a:prstGeom prst="rect">
            <a:avLst/>
          </a:prstGeom>
          <a:noFill/>
          <a:ln w="9525" algn="ctr">
            <a:noFill/>
            <a:miter lim="800000"/>
            <a:headEnd/>
            <a:tailEnd/>
          </a:ln>
          <a:effectLst/>
        </p:spPr>
        <p:txBody>
          <a:bodyPr wrap="none">
            <a:spAutoFit/>
          </a:bodyPr>
          <a:lstStyle/>
          <a:p>
            <a:r>
              <a:rPr lang="es-ES" sz="1000" dirty="0"/>
              <a:t>&lt;1,000</a:t>
            </a:r>
            <a:endParaRPr lang="en-US" sz="1000" dirty="0"/>
          </a:p>
        </p:txBody>
      </p:sp>
      <p:sp>
        <p:nvSpPr>
          <p:cNvPr id="56" name="Text Box 14"/>
          <p:cNvSpPr txBox="1">
            <a:spLocks noChangeArrowheads="1"/>
          </p:cNvSpPr>
          <p:nvPr/>
        </p:nvSpPr>
        <p:spPr bwMode="auto">
          <a:xfrm>
            <a:off x="2176046" y="5558612"/>
            <a:ext cx="543739" cy="246221"/>
          </a:xfrm>
          <a:prstGeom prst="rect">
            <a:avLst/>
          </a:prstGeom>
          <a:noFill/>
          <a:ln w="9525" algn="ctr">
            <a:noFill/>
            <a:miter lim="800000"/>
            <a:headEnd/>
            <a:tailEnd/>
          </a:ln>
          <a:effectLst/>
        </p:spPr>
        <p:txBody>
          <a:bodyPr wrap="none">
            <a:spAutoFit/>
          </a:bodyPr>
          <a:lstStyle/>
          <a:p>
            <a:r>
              <a:rPr lang="es-ES" sz="1000" dirty="0"/>
              <a:t>&lt;5,000</a:t>
            </a:r>
            <a:endParaRPr lang="en-US" sz="1000" dirty="0"/>
          </a:p>
        </p:txBody>
      </p:sp>
      <p:sp>
        <p:nvSpPr>
          <p:cNvPr id="57" name="Text Box 15"/>
          <p:cNvSpPr txBox="1">
            <a:spLocks noChangeArrowheads="1"/>
          </p:cNvSpPr>
          <p:nvPr/>
        </p:nvSpPr>
        <p:spPr bwMode="auto">
          <a:xfrm>
            <a:off x="2896771" y="5558612"/>
            <a:ext cx="609462" cy="246221"/>
          </a:xfrm>
          <a:prstGeom prst="rect">
            <a:avLst/>
          </a:prstGeom>
          <a:noFill/>
          <a:ln w="9525" algn="ctr">
            <a:noFill/>
            <a:miter lim="800000"/>
            <a:headEnd/>
            <a:tailEnd/>
          </a:ln>
          <a:effectLst/>
        </p:spPr>
        <p:txBody>
          <a:bodyPr wrap="none">
            <a:spAutoFit/>
          </a:bodyPr>
          <a:lstStyle/>
          <a:p>
            <a:r>
              <a:rPr lang="es-ES" sz="1000" dirty="0"/>
              <a:t>&lt;15,000</a:t>
            </a:r>
            <a:endParaRPr lang="en-US" sz="1000" dirty="0"/>
          </a:p>
        </p:txBody>
      </p:sp>
      <p:sp>
        <p:nvSpPr>
          <p:cNvPr id="59" name="Oval 90"/>
          <p:cNvSpPr>
            <a:spLocks noChangeArrowheads="1"/>
          </p:cNvSpPr>
          <p:nvPr/>
        </p:nvSpPr>
        <p:spPr bwMode="auto">
          <a:xfrm>
            <a:off x="1051639" y="5146824"/>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a:t>
            </a:r>
          </a:p>
        </p:txBody>
      </p:sp>
      <p:sp>
        <p:nvSpPr>
          <p:cNvPr id="60" name="Oval 90"/>
          <p:cNvSpPr>
            <a:spLocks noChangeArrowheads="1"/>
          </p:cNvSpPr>
          <p:nvPr/>
        </p:nvSpPr>
        <p:spPr bwMode="auto">
          <a:xfrm>
            <a:off x="1130754" y="5342661"/>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a:t>
            </a:r>
          </a:p>
        </p:txBody>
      </p:sp>
      <p:sp>
        <p:nvSpPr>
          <p:cNvPr id="61" name="Oval 90"/>
          <p:cNvSpPr>
            <a:spLocks noChangeArrowheads="1"/>
          </p:cNvSpPr>
          <p:nvPr/>
        </p:nvSpPr>
        <p:spPr bwMode="auto">
          <a:xfrm>
            <a:off x="1745772" y="363451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5</a:t>
            </a:r>
          </a:p>
        </p:txBody>
      </p:sp>
      <p:sp>
        <p:nvSpPr>
          <p:cNvPr id="62" name="Oval 90"/>
          <p:cNvSpPr>
            <a:spLocks noChangeArrowheads="1"/>
          </p:cNvSpPr>
          <p:nvPr/>
        </p:nvSpPr>
        <p:spPr bwMode="auto">
          <a:xfrm>
            <a:off x="1103458" y="4555480"/>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4</a:t>
            </a:r>
          </a:p>
        </p:txBody>
      </p:sp>
      <p:sp>
        <p:nvSpPr>
          <p:cNvPr id="63" name="Text Box 34"/>
          <p:cNvSpPr txBox="1">
            <a:spLocks noChangeArrowheads="1"/>
          </p:cNvSpPr>
          <p:nvPr/>
        </p:nvSpPr>
        <p:spPr bwMode="auto">
          <a:xfrm>
            <a:off x="367504" y="2440762"/>
            <a:ext cx="823152" cy="369332"/>
          </a:xfrm>
          <a:prstGeom prst="rect">
            <a:avLst/>
          </a:prstGeom>
          <a:noFill/>
          <a:ln w="9525" algn="ctr">
            <a:noFill/>
            <a:miter lim="800000"/>
            <a:headEnd/>
            <a:tailEnd/>
          </a:ln>
          <a:effectLst/>
        </p:spPr>
        <p:txBody>
          <a:bodyPr wrap="square">
            <a:spAutoFit/>
          </a:bodyPr>
          <a:lstStyle/>
          <a:p>
            <a:r>
              <a:rPr lang="es-ES" sz="900" b="1" i="1" dirty="0"/>
              <a:t>PMA</a:t>
            </a:r>
          </a:p>
          <a:p>
            <a:r>
              <a:rPr lang="es-ES" sz="900" b="1" i="1" dirty="0"/>
              <a:t>(Miles)</a:t>
            </a:r>
            <a:endParaRPr lang="en-US" sz="900" b="1" i="1" dirty="0"/>
          </a:p>
        </p:txBody>
      </p:sp>
      <p:sp>
        <p:nvSpPr>
          <p:cNvPr id="64" name="Oval 90"/>
          <p:cNvSpPr>
            <a:spLocks noChangeArrowheads="1"/>
          </p:cNvSpPr>
          <p:nvPr/>
        </p:nvSpPr>
        <p:spPr bwMode="auto">
          <a:xfrm>
            <a:off x="3312339" y="2791961"/>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2</a:t>
            </a:r>
          </a:p>
        </p:txBody>
      </p:sp>
      <p:sp>
        <p:nvSpPr>
          <p:cNvPr id="65" name="Text Box 35"/>
          <p:cNvSpPr txBox="1">
            <a:spLocks noChangeArrowheads="1"/>
          </p:cNvSpPr>
          <p:nvPr/>
        </p:nvSpPr>
        <p:spPr bwMode="auto">
          <a:xfrm>
            <a:off x="3709491" y="5704934"/>
            <a:ext cx="635343" cy="369332"/>
          </a:xfrm>
          <a:prstGeom prst="rect">
            <a:avLst/>
          </a:prstGeom>
          <a:noFill/>
          <a:ln w="9525" algn="ctr">
            <a:noFill/>
            <a:miter lim="800000"/>
            <a:headEnd/>
            <a:tailEnd/>
          </a:ln>
          <a:effectLst/>
        </p:spPr>
        <p:txBody>
          <a:bodyPr wrap="square">
            <a:spAutoFit/>
          </a:bodyPr>
          <a:lstStyle/>
          <a:p>
            <a:r>
              <a:rPr lang="es-ES" sz="900" b="1" i="1" dirty="0"/>
              <a:t>PEA</a:t>
            </a:r>
          </a:p>
          <a:p>
            <a:r>
              <a:rPr lang="es-ES" sz="900" b="1" i="1" dirty="0"/>
              <a:t>(Miles)</a:t>
            </a:r>
            <a:endParaRPr lang="en-US" sz="900" b="1" i="1" dirty="0"/>
          </a:p>
        </p:txBody>
      </p:sp>
      <p:sp>
        <p:nvSpPr>
          <p:cNvPr id="66" name="Oval 90"/>
          <p:cNvSpPr>
            <a:spLocks noChangeArrowheads="1"/>
          </p:cNvSpPr>
          <p:nvPr/>
        </p:nvSpPr>
        <p:spPr bwMode="auto">
          <a:xfrm>
            <a:off x="1742607" y="448017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7</a:t>
            </a:r>
          </a:p>
        </p:txBody>
      </p:sp>
      <p:sp>
        <p:nvSpPr>
          <p:cNvPr id="68" name="Text Box 24"/>
          <p:cNvSpPr txBox="1">
            <a:spLocks noChangeArrowheads="1"/>
          </p:cNvSpPr>
          <p:nvPr/>
        </p:nvSpPr>
        <p:spPr bwMode="auto">
          <a:xfrm>
            <a:off x="2063903" y="1617486"/>
            <a:ext cx="398765" cy="215444"/>
          </a:xfrm>
          <a:prstGeom prst="rect">
            <a:avLst/>
          </a:prstGeom>
          <a:solidFill>
            <a:schemeClr val="bg1"/>
          </a:solidFill>
          <a:ln w="9525" algn="ctr">
            <a:noFill/>
            <a:miter lim="800000"/>
            <a:headEnd/>
            <a:tailEnd/>
          </a:ln>
          <a:effectLst/>
        </p:spPr>
        <p:txBody>
          <a:bodyPr wrap="square">
            <a:spAutoFit/>
          </a:bodyPr>
          <a:lstStyle/>
          <a:p>
            <a:r>
              <a:rPr lang="es-ES" sz="800" dirty="0">
                <a:solidFill>
                  <a:schemeClr val="bg2"/>
                </a:solidFill>
              </a:rPr>
              <a:t>&lt;22</a:t>
            </a:r>
            <a:endParaRPr lang="en-US" sz="800" dirty="0">
              <a:solidFill>
                <a:schemeClr val="bg2"/>
              </a:solidFill>
            </a:endParaRPr>
          </a:p>
        </p:txBody>
      </p:sp>
      <p:sp>
        <p:nvSpPr>
          <p:cNvPr id="69" name="AutoShape 179"/>
          <p:cNvSpPr>
            <a:spLocks noChangeArrowheads="1"/>
          </p:cNvSpPr>
          <p:nvPr/>
        </p:nvSpPr>
        <p:spPr bwMode="auto">
          <a:xfrm>
            <a:off x="429168" y="1194923"/>
            <a:ext cx="3507897" cy="1021071"/>
          </a:xfrm>
          <a:prstGeom prst="roundRect">
            <a:avLst>
              <a:gd name="adj" fmla="val 9481"/>
            </a:avLst>
          </a:prstGeom>
          <a:solidFill>
            <a:schemeClr val="bg1">
              <a:lumMod val="75000"/>
              <a:alpha val="69000"/>
            </a:schemeClr>
          </a:solidFill>
          <a:ln w="9525" algn="ctr">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2060"/>
              </a:solidFill>
              <a:effectLst/>
              <a:uLnTx/>
              <a:uFillTx/>
            </a:endParaRPr>
          </a:p>
        </p:txBody>
      </p:sp>
      <p:sp>
        <p:nvSpPr>
          <p:cNvPr id="70" name="AutoShape 182"/>
          <p:cNvSpPr>
            <a:spLocks noChangeArrowheads="1"/>
          </p:cNvSpPr>
          <p:nvPr/>
        </p:nvSpPr>
        <p:spPr bwMode="auto">
          <a:xfrm>
            <a:off x="492271" y="1251013"/>
            <a:ext cx="1935648" cy="257175"/>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PEA Acumulada (millones)</a:t>
            </a:r>
            <a:endParaRPr lang="en-US" sz="1200" dirty="0">
              <a:solidFill>
                <a:schemeClr val="bg1"/>
              </a:solidFill>
            </a:endParaRPr>
          </a:p>
        </p:txBody>
      </p:sp>
      <p:sp>
        <p:nvSpPr>
          <p:cNvPr id="71" name="AutoShape 183"/>
          <p:cNvSpPr>
            <a:spLocks noChangeArrowheads="1"/>
          </p:cNvSpPr>
          <p:nvPr/>
        </p:nvSpPr>
        <p:spPr bwMode="auto">
          <a:xfrm>
            <a:off x="2321333" y="1251012"/>
            <a:ext cx="1521419" cy="277265"/>
          </a:xfrm>
          <a:prstGeom prst="roundRect">
            <a:avLst>
              <a:gd name="adj" fmla="val 7157"/>
            </a:avLst>
          </a:prstGeom>
          <a:solidFill>
            <a:srgbClr val="FFFFFF"/>
          </a:solidFill>
          <a:ln w="9525" algn="ctr">
            <a:noFill/>
            <a:round/>
            <a:headEnd/>
            <a:tailEnd/>
          </a:ln>
          <a:effectLst/>
        </p:spPr>
        <p:txBody>
          <a:bodyPr anchor="ctr"/>
          <a:lstStyle/>
          <a:p>
            <a:pPr algn="ctr"/>
            <a:r>
              <a:rPr lang="es-ES" sz="1200" dirty="0"/>
              <a:t>S/. 24.2</a:t>
            </a:r>
          </a:p>
        </p:txBody>
      </p:sp>
      <p:sp>
        <p:nvSpPr>
          <p:cNvPr id="72" name="AutoShape 185"/>
          <p:cNvSpPr>
            <a:spLocks noChangeArrowheads="1"/>
          </p:cNvSpPr>
          <p:nvPr/>
        </p:nvSpPr>
        <p:spPr bwMode="auto">
          <a:xfrm>
            <a:off x="492271" y="1579626"/>
            <a:ext cx="1935648" cy="236538"/>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PMA Acumulada (millones)</a:t>
            </a:r>
            <a:endParaRPr lang="en-US" sz="1200" dirty="0">
              <a:solidFill>
                <a:schemeClr val="bg1"/>
              </a:solidFill>
            </a:endParaRPr>
          </a:p>
        </p:txBody>
      </p:sp>
      <p:sp>
        <p:nvSpPr>
          <p:cNvPr id="73" name="AutoShape 186"/>
          <p:cNvSpPr>
            <a:spLocks noChangeArrowheads="1"/>
          </p:cNvSpPr>
          <p:nvPr/>
        </p:nvSpPr>
        <p:spPr bwMode="auto">
          <a:xfrm>
            <a:off x="2321334" y="1579626"/>
            <a:ext cx="1521418" cy="253304"/>
          </a:xfrm>
          <a:prstGeom prst="roundRect">
            <a:avLst>
              <a:gd name="adj" fmla="val 7157"/>
            </a:avLst>
          </a:prstGeom>
          <a:solidFill>
            <a:srgbClr val="FFFFFF"/>
          </a:solidFill>
          <a:ln w="9525" algn="ctr">
            <a:noFill/>
            <a:round/>
            <a:headEnd/>
            <a:tailEnd/>
          </a:ln>
          <a:effectLst/>
        </p:spPr>
        <p:txBody>
          <a:bodyPr anchor="ctr"/>
          <a:lstStyle/>
          <a:p>
            <a:pPr algn="ctr"/>
            <a:r>
              <a:rPr lang="es-ES" sz="1200" dirty="0"/>
              <a:t>S/. 61.3</a:t>
            </a:r>
          </a:p>
        </p:txBody>
      </p:sp>
      <p:sp>
        <p:nvSpPr>
          <p:cNvPr id="74" name="AutoShape 188"/>
          <p:cNvSpPr>
            <a:spLocks noChangeArrowheads="1"/>
          </p:cNvSpPr>
          <p:nvPr/>
        </p:nvSpPr>
        <p:spPr bwMode="auto">
          <a:xfrm>
            <a:off x="490684" y="1887601"/>
            <a:ext cx="1935648" cy="236538"/>
          </a:xfrm>
          <a:prstGeom prst="roundRect">
            <a:avLst>
              <a:gd name="adj" fmla="val 7157"/>
            </a:avLst>
          </a:prstGeom>
          <a:solidFill>
            <a:srgbClr val="DB0613"/>
          </a:solidFill>
          <a:ln w="9525" algn="ctr">
            <a:noFill/>
            <a:miter lim="800000"/>
            <a:headEnd/>
            <a:tailEnd/>
          </a:ln>
          <a:effectLst/>
        </p:spPr>
        <p:txBody>
          <a:bodyPr wrap="none" anchor="ctr"/>
          <a:lstStyle/>
          <a:p>
            <a:r>
              <a:rPr lang="es-ES" sz="1100" dirty="0">
                <a:solidFill>
                  <a:schemeClr val="bg1"/>
                </a:solidFill>
              </a:rPr>
              <a:t>Procesos  con alta exposición</a:t>
            </a:r>
          </a:p>
        </p:txBody>
      </p:sp>
      <p:sp>
        <p:nvSpPr>
          <p:cNvPr id="75" name="AutoShape 189"/>
          <p:cNvSpPr>
            <a:spLocks noChangeArrowheads="1"/>
          </p:cNvSpPr>
          <p:nvPr/>
        </p:nvSpPr>
        <p:spPr bwMode="auto">
          <a:xfrm>
            <a:off x="2319747" y="1887600"/>
            <a:ext cx="1523505" cy="264308"/>
          </a:xfrm>
          <a:prstGeom prst="roundRect">
            <a:avLst>
              <a:gd name="adj" fmla="val 7157"/>
            </a:avLst>
          </a:prstGeom>
          <a:solidFill>
            <a:srgbClr val="FFFFFF"/>
          </a:solidFill>
          <a:ln w="9525" algn="ctr">
            <a:noFill/>
            <a:round/>
            <a:headEnd/>
            <a:tailEnd/>
          </a:ln>
          <a:effectLst/>
        </p:spPr>
        <p:txBody>
          <a:bodyPr anchor="ctr"/>
          <a:lstStyle/>
          <a:p>
            <a:pPr algn="ctr"/>
            <a:r>
              <a:rPr lang="en-US" sz="1200" kern="0" dirty="0">
                <a:solidFill>
                  <a:srgbClr val="454545"/>
                </a:solidFill>
              </a:rPr>
              <a:t>1</a:t>
            </a:r>
          </a:p>
        </p:txBody>
      </p:sp>
      <p:sp>
        <p:nvSpPr>
          <p:cNvPr id="78" name="Line 30"/>
          <p:cNvSpPr>
            <a:spLocks noChangeShapeType="1"/>
          </p:cNvSpPr>
          <p:nvPr/>
        </p:nvSpPr>
        <p:spPr bwMode="auto">
          <a:xfrm rot="5400000" flipV="1">
            <a:off x="3644929" y="1845715"/>
            <a:ext cx="0" cy="1223963"/>
          </a:xfrm>
          <a:prstGeom prst="line">
            <a:avLst/>
          </a:prstGeom>
          <a:noFill/>
          <a:ln w="6350">
            <a:solidFill>
              <a:schemeClr val="bg2"/>
            </a:solidFill>
            <a:round/>
            <a:headEnd/>
            <a:tailEnd type="triangle" w="med" len="med"/>
          </a:ln>
          <a:effectLst/>
        </p:spPr>
        <p:txBody>
          <a:bodyPr wrap="none" anchor="ctr"/>
          <a:lstStyle/>
          <a:p>
            <a:endParaRPr lang="es-CL"/>
          </a:p>
        </p:txBody>
      </p:sp>
      <p:sp>
        <p:nvSpPr>
          <p:cNvPr id="76" name="Oval 90"/>
          <p:cNvSpPr>
            <a:spLocks noChangeArrowheads="1"/>
          </p:cNvSpPr>
          <p:nvPr/>
        </p:nvSpPr>
        <p:spPr bwMode="auto">
          <a:xfrm>
            <a:off x="1658571" y="4272833"/>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67" name="Oval 90"/>
          <p:cNvSpPr>
            <a:spLocks noChangeArrowheads="1"/>
          </p:cNvSpPr>
          <p:nvPr/>
        </p:nvSpPr>
        <p:spPr bwMode="auto">
          <a:xfrm>
            <a:off x="1850922" y="430136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6</a:t>
            </a:r>
          </a:p>
        </p:txBody>
      </p:sp>
      <p:grpSp>
        <p:nvGrpSpPr>
          <p:cNvPr id="16" name="Group 15"/>
          <p:cNvGrpSpPr/>
          <p:nvPr/>
        </p:nvGrpSpPr>
        <p:grpSpPr>
          <a:xfrm>
            <a:off x="4599799" y="4426239"/>
            <a:ext cx="4264881" cy="1190742"/>
            <a:chOff x="4820906" y="5497982"/>
            <a:chExt cx="4264881" cy="1190742"/>
          </a:xfrm>
        </p:grpSpPr>
        <p:sp>
          <p:nvSpPr>
            <p:cNvPr id="81" name="Oval 90"/>
            <p:cNvSpPr>
              <a:spLocks noChangeArrowheads="1"/>
            </p:cNvSpPr>
            <p:nvPr/>
          </p:nvSpPr>
          <p:spPr bwMode="auto">
            <a:xfrm>
              <a:off x="4820906" y="549798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a:t>
              </a:r>
            </a:p>
          </p:txBody>
        </p:sp>
        <p:sp>
          <p:nvSpPr>
            <p:cNvPr id="2" name="TextBox 1"/>
            <p:cNvSpPr txBox="1"/>
            <p:nvPr/>
          </p:nvSpPr>
          <p:spPr>
            <a:xfrm>
              <a:off x="5141674" y="5504337"/>
              <a:ext cx="1587034" cy="261610"/>
            </a:xfrm>
            <a:prstGeom prst="rect">
              <a:avLst/>
            </a:prstGeom>
            <a:noFill/>
          </p:spPr>
          <p:txBody>
            <a:bodyPr wrap="square" rtlCol="0">
              <a:spAutoFit/>
            </a:bodyPr>
            <a:lstStyle/>
            <a:p>
              <a:r>
                <a:rPr lang="es-ES" sz="1050" dirty="0"/>
                <a:t>Prospección</a:t>
              </a:r>
            </a:p>
          </p:txBody>
        </p:sp>
        <p:sp>
          <p:nvSpPr>
            <p:cNvPr id="82" name="Oval 90"/>
            <p:cNvSpPr>
              <a:spLocks noChangeArrowheads="1"/>
            </p:cNvSpPr>
            <p:nvPr/>
          </p:nvSpPr>
          <p:spPr bwMode="auto">
            <a:xfrm>
              <a:off x="4820906" y="5805337"/>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2</a:t>
              </a:r>
            </a:p>
          </p:txBody>
        </p:sp>
        <p:sp>
          <p:nvSpPr>
            <p:cNvPr id="87" name="Oval 90"/>
            <p:cNvSpPr>
              <a:spLocks noChangeArrowheads="1"/>
            </p:cNvSpPr>
            <p:nvPr/>
          </p:nvSpPr>
          <p:spPr bwMode="auto">
            <a:xfrm>
              <a:off x="4820906" y="6116266"/>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a:t>
              </a:r>
            </a:p>
          </p:txBody>
        </p:sp>
        <p:sp>
          <p:nvSpPr>
            <p:cNvPr id="88" name="TextBox 87"/>
            <p:cNvSpPr txBox="1"/>
            <p:nvPr/>
          </p:nvSpPr>
          <p:spPr>
            <a:xfrm>
              <a:off x="5141674" y="6122621"/>
              <a:ext cx="1587034" cy="261610"/>
            </a:xfrm>
            <a:prstGeom prst="rect">
              <a:avLst/>
            </a:prstGeom>
            <a:noFill/>
          </p:spPr>
          <p:txBody>
            <a:bodyPr wrap="square" rtlCol="0">
              <a:spAutoFit/>
            </a:bodyPr>
            <a:lstStyle/>
            <a:p>
              <a:r>
                <a:rPr lang="es-ES" sz="1050" dirty="0"/>
                <a:t>Renovación y Ajustes</a:t>
              </a:r>
            </a:p>
          </p:txBody>
        </p:sp>
        <p:sp>
          <p:nvSpPr>
            <p:cNvPr id="89" name="Oval 90"/>
            <p:cNvSpPr>
              <a:spLocks noChangeArrowheads="1"/>
            </p:cNvSpPr>
            <p:nvPr/>
          </p:nvSpPr>
          <p:spPr bwMode="auto">
            <a:xfrm>
              <a:off x="4820906" y="6414404"/>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4</a:t>
              </a:r>
            </a:p>
          </p:txBody>
        </p:sp>
        <p:sp>
          <p:nvSpPr>
            <p:cNvPr id="90" name="TextBox 89"/>
            <p:cNvSpPr txBox="1"/>
            <p:nvPr/>
          </p:nvSpPr>
          <p:spPr>
            <a:xfrm>
              <a:off x="5141674" y="6420759"/>
              <a:ext cx="1587034" cy="261610"/>
            </a:xfrm>
            <a:prstGeom prst="rect">
              <a:avLst/>
            </a:prstGeom>
            <a:noFill/>
          </p:spPr>
          <p:txBody>
            <a:bodyPr wrap="square" rtlCol="0">
              <a:spAutoFit/>
            </a:bodyPr>
            <a:lstStyle/>
            <a:p>
              <a:r>
                <a:rPr lang="es-ES" sz="1050" dirty="0"/>
                <a:t>Venta</a:t>
              </a:r>
            </a:p>
          </p:txBody>
        </p:sp>
        <p:sp>
          <p:nvSpPr>
            <p:cNvPr id="94" name="TextBox 93"/>
            <p:cNvSpPr txBox="1"/>
            <p:nvPr/>
          </p:nvSpPr>
          <p:spPr>
            <a:xfrm>
              <a:off x="5141674" y="5811692"/>
              <a:ext cx="1587034" cy="261610"/>
            </a:xfrm>
            <a:prstGeom prst="rect">
              <a:avLst/>
            </a:prstGeom>
            <a:noFill/>
          </p:spPr>
          <p:txBody>
            <a:bodyPr wrap="square" rtlCol="0">
              <a:spAutoFit/>
            </a:bodyPr>
            <a:lstStyle/>
            <a:p>
              <a:r>
                <a:rPr lang="es-ES" sz="1050" dirty="0"/>
                <a:t>Suscripción</a:t>
              </a:r>
            </a:p>
          </p:txBody>
        </p:sp>
        <p:sp>
          <p:nvSpPr>
            <p:cNvPr id="99" name="Oval 90"/>
            <p:cNvSpPr>
              <a:spLocks noChangeArrowheads="1"/>
            </p:cNvSpPr>
            <p:nvPr/>
          </p:nvSpPr>
          <p:spPr bwMode="auto">
            <a:xfrm>
              <a:off x="6671290" y="549798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5</a:t>
              </a:r>
            </a:p>
          </p:txBody>
        </p:sp>
        <p:sp>
          <p:nvSpPr>
            <p:cNvPr id="100" name="TextBox 99"/>
            <p:cNvSpPr txBox="1"/>
            <p:nvPr/>
          </p:nvSpPr>
          <p:spPr>
            <a:xfrm>
              <a:off x="7039181" y="5504337"/>
              <a:ext cx="1587034" cy="261610"/>
            </a:xfrm>
            <a:prstGeom prst="rect">
              <a:avLst/>
            </a:prstGeom>
            <a:noFill/>
          </p:spPr>
          <p:txBody>
            <a:bodyPr wrap="square" rtlCol="0">
              <a:spAutoFit/>
            </a:bodyPr>
            <a:lstStyle/>
            <a:p>
              <a:r>
                <a:rPr lang="es-ES" sz="1050" dirty="0"/>
                <a:t>Emisión y Endoso</a:t>
              </a:r>
            </a:p>
          </p:txBody>
        </p:sp>
        <p:sp>
          <p:nvSpPr>
            <p:cNvPr id="101" name="Oval 90"/>
            <p:cNvSpPr>
              <a:spLocks noChangeArrowheads="1"/>
            </p:cNvSpPr>
            <p:nvPr/>
          </p:nvSpPr>
          <p:spPr bwMode="auto">
            <a:xfrm>
              <a:off x="6671290" y="5805337"/>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6</a:t>
              </a:r>
            </a:p>
          </p:txBody>
        </p:sp>
        <p:sp>
          <p:nvSpPr>
            <p:cNvPr id="102" name="Oval 90"/>
            <p:cNvSpPr>
              <a:spLocks noChangeArrowheads="1"/>
            </p:cNvSpPr>
            <p:nvPr/>
          </p:nvSpPr>
          <p:spPr bwMode="auto">
            <a:xfrm>
              <a:off x="6671290" y="6116266"/>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7</a:t>
              </a:r>
            </a:p>
          </p:txBody>
        </p:sp>
        <p:sp>
          <p:nvSpPr>
            <p:cNvPr id="103" name="TextBox 102"/>
            <p:cNvSpPr txBox="1"/>
            <p:nvPr/>
          </p:nvSpPr>
          <p:spPr>
            <a:xfrm>
              <a:off x="7039181" y="6122621"/>
              <a:ext cx="1587034" cy="261610"/>
            </a:xfrm>
            <a:prstGeom prst="rect">
              <a:avLst/>
            </a:prstGeom>
            <a:noFill/>
          </p:spPr>
          <p:txBody>
            <a:bodyPr wrap="square" rtlCol="0">
              <a:spAutoFit/>
            </a:bodyPr>
            <a:lstStyle/>
            <a:p>
              <a:r>
                <a:rPr lang="es-ES" sz="1050" dirty="0"/>
                <a:t>Gestión de Siniestros</a:t>
              </a:r>
            </a:p>
          </p:txBody>
        </p:sp>
        <p:sp>
          <p:nvSpPr>
            <p:cNvPr id="104" name="Oval 90"/>
            <p:cNvSpPr>
              <a:spLocks noChangeArrowheads="1"/>
            </p:cNvSpPr>
            <p:nvPr/>
          </p:nvSpPr>
          <p:spPr bwMode="auto">
            <a:xfrm>
              <a:off x="6671290" y="6414404"/>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105" name="TextBox 104"/>
            <p:cNvSpPr txBox="1"/>
            <p:nvPr/>
          </p:nvSpPr>
          <p:spPr>
            <a:xfrm>
              <a:off x="7039180" y="6420759"/>
              <a:ext cx="2046607" cy="253916"/>
            </a:xfrm>
            <a:prstGeom prst="rect">
              <a:avLst/>
            </a:prstGeom>
            <a:noFill/>
          </p:spPr>
          <p:txBody>
            <a:bodyPr wrap="square" rtlCol="0">
              <a:spAutoFit/>
            </a:bodyPr>
            <a:lstStyle/>
            <a:p>
              <a:r>
                <a:rPr lang="es-ES" sz="1050" dirty="0"/>
                <a:t>Desarrollo de Nuevos Productos</a:t>
              </a:r>
            </a:p>
          </p:txBody>
        </p:sp>
        <p:sp>
          <p:nvSpPr>
            <p:cNvPr id="107" name="TextBox 106"/>
            <p:cNvSpPr txBox="1"/>
            <p:nvPr/>
          </p:nvSpPr>
          <p:spPr>
            <a:xfrm>
              <a:off x="7039181" y="5820549"/>
              <a:ext cx="1587034" cy="261610"/>
            </a:xfrm>
            <a:prstGeom prst="rect">
              <a:avLst/>
            </a:prstGeom>
            <a:noFill/>
          </p:spPr>
          <p:txBody>
            <a:bodyPr wrap="square" rtlCol="0">
              <a:spAutoFit/>
            </a:bodyPr>
            <a:lstStyle/>
            <a:p>
              <a:r>
                <a:rPr lang="es-ES" sz="1050" dirty="0"/>
                <a:t>Impresión y Despacho</a:t>
              </a:r>
            </a:p>
          </p:txBody>
        </p:sp>
      </p:grpSp>
    </p:spTree>
    <p:extLst>
      <p:ext uri="{BB962C8B-B14F-4D97-AF65-F5344CB8AC3E}">
        <p14:creationId xmlns:p14="http://schemas.microsoft.com/office/powerpoint/2010/main" val="37696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Impacto Reputacional</a:t>
            </a:r>
          </a:p>
        </p:txBody>
      </p:sp>
      <p:sp>
        <p:nvSpPr>
          <p:cNvPr id="54" name="Rectangle 53"/>
          <p:cNvSpPr/>
          <p:nvPr/>
        </p:nvSpPr>
        <p:spPr>
          <a:xfrm>
            <a:off x="214982" y="2272479"/>
            <a:ext cx="4067890" cy="383143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AutoShape 7"/>
          <p:cNvSpPr>
            <a:spLocks noChangeArrowheads="1"/>
          </p:cNvSpPr>
          <p:nvPr/>
        </p:nvSpPr>
        <p:spPr bwMode="auto">
          <a:xfrm rot="16200000">
            <a:off x="599780" y="3661119"/>
            <a:ext cx="2813711" cy="914400"/>
          </a:xfrm>
          <a:prstGeom prst="homePlate">
            <a:avLst>
              <a:gd name="adj" fmla="val 0"/>
            </a:avLst>
          </a:prstGeom>
          <a:solidFill>
            <a:srgbClr val="C0C0C0"/>
          </a:solidFill>
          <a:ln w="9525">
            <a:noFill/>
            <a:miter lim="800000"/>
            <a:headEnd/>
            <a:tailEnd/>
          </a:ln>
          <a:effectLst>
            <a:prstShdw prst="shdw17" dist="17961" dir="2700000">
              <a:srgbClr val="C0C0C0">
                <a:gamma/>
                <a:shade val="60000"/>
                <a:invGamma/>
              </a:srgbClr>
            </a:prstShdw>
          </a:effectLst>
        </p:spPr>
        <p:txBody>
          <a:bodyPr wrap="square" lIns="0" tIns="0" rIns="0" bIns="0" anchor="ctr">
            <a:spAutoFit/>
          </a:bodyPr>
          <a:lstStyle/>
          <a:p>
            <a:endParaRPr lang="en-US"/>
          </a:p>
        </p:txBody>
      </p:sp>
      <p:sp>
        <p:nvSpPr>
          <p:cNvPr id="56" name="Rectangle 8"/>
          <p:cNvSpPr>
            <a:spLocks noChangeArrowheads="1"/>
          </p:cNvSpPr>
          <p:nvPr/>
        </p:nvSpPr>
        <p:spPr bwMode="auto">
          <a:xfrm>
            <a:off x="1549435" y="5596830"/>
            <a:ext cx="914400" cy="383902"/>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endParaRPr lang="en-US" sz="900" b="1" dirty="0">
              <a:solidFill>
                <a:schemeClr val="bg1"/>
              </a:solidFill>
            </a:endParaRPr>
          </a:p>
        </p:txBody>
      </p:sp>
      <p:sp>
        <p:nvSpPr>
          <p:cNvPr id="57" name="Text Box 15"/>
          <p:cNvSpPr txBox="1">
            <a:spLocks noChangeArrowheads="1"/>
          </p:cNvSpPr>
          <p:nvPr/>
        </p:nvSpPr>
        <p:spPr bwMode="auto">
          <a:xfrm>
            <a:off x="1346653" y="5403975"/>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_tradnl" sz="1000" dirty="0">
                <a:solidFill>
                  <a:srgbClr val="4D4D4D"/>
                </a:solidFill>
              </a:rPr>
              <a:t>1</a:t>
            </a:r>
            <a:endParaRPr lang="en-US" sz="1000" u="none" dirty="0">
              <a:solidFill>
                <a:srgbClr val="4D4D4D"/>
              </a:solidFill>
            </a:endParaRPr>
          </a:p>
        </p:txBody>
      </p:sp>
      <p:sp>
        <p:nvSpPr>
          <p:cNvPr id="58" name="Text Box 17"/>
          <p:cNvSpPr txBox="1">
            <a:spLocks noChangeArrowheads="1"/>
          </p:cNvSpPr>
          <p:nvPr/>
        </p:nvSpPr>
        <p:spPr bwMode="auto">
          <a:xfrm>
            <a:off x="1346653" y="4214937"/>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3</a:t>
            </a:r>
            <a:endParaRPr lang="en-US" sz="1000" u="none" dirty="0">
              <a:solidFill>
                <a:srgbClr val="4D4D4D"/>
              </a:solidFill>
            </a:endParaRPr>
          </a:p>
        </p:txBody>
      </p:sp>
      <p:sp>
        <p:nvSpPr>
          <p:cNvPr id="59" name="Text Box 18"/>
          <p:cNvSpPr txBox="1">
            <a:spLocks noChangeArrowheads="1"/>
          </p:cNvSpPr>
          <p:nvPr/>
        </p:nvSpPr>
        <p:spPr bwMode="auto">
          <a:xfrm>
            <a:off x="1346653" y="4818187"/>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2</a:t>
            </a:r>
            <a:endParaRPr lang="en-US" sz="1000" u="none" dirty="0">
              <a:solidFill>
                <a:srgbClr val="4D4D4D"/>
              </a:solidFill>
            </a:endParaRPr>
          </a:p>
        </p:txBody>
      </p:sp>
      <p:sp>
        <p:nvSpPr>
          <p:cNvPr id="60" name="Text Box 19"/>
          <p:cNvSpPr txBox="1">
            <a:spLocks noChangeArrowheads="1"/>
          </p:cNvSpPr>
          <p:nvPr/>
        </p:nvSpPr>
        <p:spPr bwMode="auto">
          <a:xfrm>
            <a:off x="1346653" y="3646612"/>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4</a:t>
            </a:r>
            <a:endParaRPr lang="en-US" sz="1000" u="none" dirty="0">
              <a:solidFill>
                <a:srgbClr val="4D4D4D"/>
              </a:solidFill>
            </a:endParaRPr>
          </a:p>
        </p:txBody>
      </p:sp>
      <p:sp>
        <p:nvSpPr>
          <p:cNvPr id="61" name="Text Box 21"/>
          <p:cNvSpPr txBox="1">
            <a:spLocks noChangeArrowheads="1"/>
          </p:cNvSpPr>
          <p:nvPr/>
        </p:nvSpPr>
        <p:spPr bwMode="auto">
          <a:xfrm>
            <a:off x="1346653" y="3049712"/>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5</a:t>
            </a:r>
            <a:endParaRPr lang="en-US" sz="1000" u="none" dirty="0">
              <a:solidFill>
                <a:srgbClr val="4D4D4D"/>
              </a:solidFill>
            </a:endParaRPr>
          </a:p>
        </p:txBody>
      </p:sp>
      <p:sp>
        <p:nvSpPr>
          <p:cNvPr id="62" name="Line 55"/>
          <p:cNvSpPr>
            <a:spLocks noChangeShapeType="1"/>
          </p:cNvSpPr>
          <p:nvPr/>
        </p:nvSpPr>
        <p:spPr bwMode="auto">
          <a:xfrm>
            <a:off x="1477141" y="5486767"/>
            <a:ext cx="1371845" cy="1845"/>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63" name="Line 56"/>
          <p:cNvSpPr>
            <a:spLocks noChangeShapeType="1"/>
          </p:cNvSpPr>
          <p:nvPr/>
        </p:nvSpPr>
        <p:spPr bwMode="auto">
          <a:xfrm>
            <a:off x="1486665" y="4889868"/>
            <a:ext cx="1362321"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64" name="Line 57"/>
          <p:cNvSpPr>
            <a:spLocks noChangeShapeType="1"/>
          </p:cNvSpPr>
          <p:nvPr/>
        </p:nvSpPr>
        <p:spPr bwMode="auto">
          <a:xfrm>
            <a:off x="1496191" y="4281858"/>
            <a:ext cx="1352795"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65" name="Line 45"/>
          <p:cNvSpPr>
            <a:spLocks noChangeShapeType="1"/>
          </p:cNvSpPr>
          <p:nvPr/>
        </p:nvSpPr>
        <p:spPr bwMode="auto">
          <a:xfrm>
            <a:off x="1491429" y="3708767"/>
            <a:ext cx="1357557" cy="1879"/>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66" name="Line 59"/>
          <p:cNvSpPr>
            <a:spLocks noChangeShapeType="1"/>
          </p:cNvSpPr>
          <p:nvPr/>
        </p:nvSpPr>
        <p:spPr bwMode="auto">
          <a:xfrm>
            <a:off x="1486665" y="3179719"/>
            <a:ext cx="1362321"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dirty="0"/>
          </a:p>
        </p:txBody>
      </p:sp>
      <p:sp>
        <p:nvSpPr>
          <p:cNvPr id="68" name="Oval 65"/>
          <p:cNvSpPr>
            <a:spLocks noChangeArrowheads="1"/>
          </p:cNvSpPr>
          <p:nvPr/>
        </p:nvSpPr>
        <p:spPr bwMode="auto">
          <a:xfrm>
            <a:off x="1874101" y="3049712"/>
            <a:ext cx="265069" cy="253232"/>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12</a:t>
            </a:r>
          </a:p>
        </p:txBody>
      </p:sp>
      <p:sp>
        <p:nvSpPr>
          <p:cNvPr id="69" name="Oval 65"/>
          <p:cNvSpPr>
            <a:spLocks noChangeArrowheads="1"/>
          </p:cNvSpPr>
          <p:nvPr/>
        </p:nvSpPr>
        <p:spPr bwMode="auto">
          <a:xfrm>
            <a:off x="1874101" y="5293323"/>
            <a:ext cx="265069" cy="253232"/>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51</a:t>
            </a:r>
          </a:p>
        </p:txBody>
      </p:sp>
      <p:cxnSp>
        <p:nvCxnSpPr>
          <p:cNvPr id="74" name="Straight Connector 73"/>
          <p:cNvCxnSpPr/>
          <p:nvPr/>
        </p:nvCxnSpPr>
        <p:spPr>
          <a:xfrm>
            <a:off x="1367762" y="3976213"/>
            <a:ext cx="2232000"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76" name="Oval 65"/>
          <p:cNvSpPr>
            <a:spLocks noChangeArrowheads="1"/>
          </p:cNvSpPr>
          <p:nvPr/>
        </p:nvSpPr>
        <p:spPr bwMode="auto">
          <a:xfrm>
            <a:off x="1874101" y="4776209"/>
            <a:ext cx="265069" cy="253232"/>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32</a:t>
            </a:r>
          </a:p>
        </p:txBody>
      </p:sp>
      <p:sp>
        <p:nvSpPr>
          <p:cNvPr id="77" name="Oval 65"/>
          <p:cNvSpPr>
            <a:spLocks noChangeArrowheads="1"/>
          </p:cNvSpPr>
          <p:nvPr/>
        </p:nvSpPr>
        <p:spPr bwMode="auto">
          <a:xfrm>
            <a:off x="1857391" y="4155242"/>
            <a:ext cx="298488" cy="28187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56</a:t>
            </a:r>
          </a:p>
        </p:txBody>
      </p:sp>
      <p:sp>
        <p:nvSpPr>
          <p:cNvPr id="78" name="Text Box 44"/>
          <p:cNvSpPr txBox="1">
            <a:spLocks noChangeArrowheads="1"/>
          </p:cNvSpPr>
          <p:nvPr/>
        </p:nvSpPr>
        <p:spPr bwMode="auto">
          <a:xfrm>
            <a:off x="2877547" y="5865840"/>
            <a:ext cx="1401493" cy="230832"/>
          </a:xfrm>
          <a:prstGeom prst="rect">
            <a:avLst/>
          </a:prstGeom>
          <a:noFill/>
          <a:ln w="9525" algn="ctr">
            <a:noFill/>
            <a:miter lim="800000"/>
            <a:headEnd/>
            <a:tailEnd/>
          </a:ln>
          <a:effectLst/>
        </p:spPr>
        <p:txBody>
          <a:bodyPr wrap="square">
            <a:spAutoFit/>
          </a:bodyPr>
          <a:lstStyle/>
          <a:p>
            <a:r>
              <a:rPr lang="es-ES" sz="900" b="1" i="1" dirty="0"/>
              <a:t>Ver escalas de valoración</a:t>
            </a:r>
            <a:endParaRPr lang="en-US" sz="900" b="1" i="1" dirty="0"/>
          </a:p>
        </p:txBody>
      </p:sp>
      <p:sp>
        <p:nvSpPr>
          <p:cNvPr id="79" name="AutoShape 16"/>
          <p:cNvSpPr>
            <a:spLocks noChangeArrowheads="1"/>
          </p:cNvSpPr>
          <p:nvPr/>
        </p:nvSpPr>
        <p:spPr bwMode="auto">
          <a:xfrm>
            <a:off x="211902" y="2299316"/>
            <a:ext cx="509822" cy="3804600"/>
          </a:xfrm>
          <a:prstGeom prst="homePlate">
            <a:avLst>
              <a:gd name="adj" fmla="val 32356"/>
            </a:avLst>
          </a:prstGeom>
          <a:solidFill>
            <a:schemeClr val="tx1">
              <a:lumMod val="10000"/>
              <a:lumOff val="90000"/>
            </a:schemeClr>
          </a:solidFill>
          <a:ln w="9525" algn="ctr">
            <a:noFill/>
            <a:miter lim="800000"/>
            <a:headEnd/>
            <a:tailEnd/>
          </a:ln>
          <a:effectLst>
            <a:prstShdw prst="shdw17" dist="17961" dir="2700000">
              <a:srgbClr val="ECECEC">
                <a:gamma/>
                <a:shade val="60000"/>
                <a:invGamma/>
              </a:srgbClr>
            </a:prstShdw>
          </a:effectLst>
        </p:spPr>
        <p:txBody>
          <a:bodyPr rot="10800000" vert="eaVert" anchor="ctr"/>
          <a:lstStyle/>
          <a:p>
            <a:pPr algn="ctr">
              <a:lnSpc>
                <a:spcPct val="90000"/>
              </a:lnSpc>
            </a:pPr>
            <a:r>
              <a:rPr lang="es-CL" sz="1100" b="1" dirty="0">
                <a:cs typeface="Arial" pitchFamily="34" charset="0"/>
              </a:rPr>
              <a:t>Riesgo Reputacional</a:t>
            </a:r>
            <a:endParaRPr lang="es-ES" sz="1100" b="1" dirty="0">
              <a:cs typeface="Arial" pitchFamily="34" charset="0"/>
            </a:endParaRPr>
          </a:p>
        </p:txBody>
      </p:sp>
      <p:sp>
        <p:nvSpPr>
          <p:cNvPr id="80" name="TextBox 79"/>
          <p:cNvSpPr txBox="1"/>
          <p:nvPr/>
        </p:nvSpPr>
        <p:spPr>
          <a:xfrm>
            <a:off x="2950419" y="2293157"/>
            <a:ext cx="1223890" cy="461665"/>
          </a:xfrm>
          <a:prstGeom prst="rect">
            <a:avLst/>
          </a:prstGeom>
          <a:noFill/>
        </p:spPr>
        <p:txBody>
          <a:bodyPr wrap="square" rtlCol="0">
            <a:spAutoFit/>
          </a:bodyPr>
          <a:lstStyle/>
          <a:p>
            <a:pPr algn="ctr"/>
            <a:r>
              <a:rPr lang="es-CL" sz="1200" b="1" dirty="0"/>
              <a:t>Afectación a clientes</a:t>
            </a:r>
            <a:endParaRPr lang="es-ES" sz="1200" b="1" dirty="0"/>
          </a:p>
        </p:txBody>
      </p:sp>
      <p:sp>
        <p:nvSpPr>
          <p:cNvPr id="81" name="Up Arrow 80"/>
          <p:cNvSpPr/>
          <p:nvPr/>
        </p:nvSpPr>
        <p:spPr>
          <a:xfrm>
            <a:off x="3445400" y="2734211"/>
            <a:ext cx="236481" cy="2790964"/>
          </a:xfrm>
          <a:prstGeom prst="upArrow">
            <a:avLst/>
          </a:prstGeom>
          <a:gradFill>
            <a:gsLst>
              <a:gs pos="100000">
                <a:srgbClr val="1B7B34"/>
              </a:gs>
              <a:gs pos="56000">
                <a:srgbClr val="FFC000"/>
              </a:gs>
              <a:gs pos="25000">
                <a:srgbClr val="FF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TextBox 81"/>
          <p:cNvSpPr txBox="1"/>
          <p:nvPr/>
        </p:nvSpPr>
        <p:spPr>
          <a:xfrm>
            <a:off x="3622506" y="2854274"/>
            <a:ext cx="449892" cy="246221"/>
          </a:xfrm>
          <a:prstGeom prst="rect">
            <a:avLst/>
          </a:prstGeom>
          <a:noFill/>
        </p:spPr>
        <p:txBody>
          <a:bodyPr wrap="square" rtlCol="0">
            <a:spAutoFit/>
          </a:bodyPr>
          <a:lstStyle/>
          <a:p>
            <a:r>
              <a:rPr lang="es-CL" sz="1000" b="1" dirty="0"/>
              <a:t>( + )</a:t>
            </a:r>
            <a:endParaRPr lang="es-ES" sz="1000" b="1" dirty="0"/>
          </a:p>
        </p:txBody>
      </p:sp>
      <p:sp>
        <p:nvSpPr>
          <p:cNvPr id="83" name="TextBox 82"/>
          <p:cNvSpPr txBox="1"/>
          <p:nvPr/>
        </p:nvSpPr>
        <p:spPr>
          <a:xfrm>
            <a:off x="3610630" y="5311797"/>
            <a:ext cx="521143" cy="246221"/>
          </a:xfrm>
          <a:prstGeom prst="rect">
            <a:avLst/>
          </a:prstGeom>
          <a:noFill/>
        </p:spPr>
        <p:txBody>
          <a:bodyPr wrap="square" rtlCol="0">
            <a:spAutoFit/>
          </a:bodyPr>
          <a:lstStyle/>
          <a:p>
            <a:r>
              <a:rPr lang="es-CL" sz="1000" b="1" dirty="0"/>
              <a:t>( - )</a:t>
            </a:r>
            <a:endParaRPr lang="es-ES" sz="1000" b="1" dirty="0"/>
          </a:p>
        </p:txBody>
      </p:sp>
      <p:sp>
        <p:nvSpPr>
          <p:cNvPr id="70" name="Line 36"/>
          <p:cNvSpPr>
            <a:spLocks noChangeShapeType="1"/>
          </p:cNvSpPr>
          <p:nvPr/>
        </p:nvSpPr>
        <p:spPr bwMode="auto">
          <a:xfrm>
            <a:off x="4608523" y="1663593"/>
            <a:ext cx="4248150" cy="0"/>
          </a:xfrm>
          <a:prstGeom prst="line">
            <a:avLst/>
          </a:prstGeom>
          <a:noFill/>
          <a:ln w="9525">
            <a:solidFill>
              <a:srgbClr val="737373"/>
            </a:solidFill>
            <a:round/>
            <a:headEnd/>
            <a:tailEnd/>
          </a:ln>
          <a:effectLst/>
        </p:spPr>
        <p:txBody>
          <a:bodyPr wrap="none" anchor="ctr"/>
          <a:lstStyle/>
          <a:p>
            <a:endParaRPr lang="es-CL" dirty="0"/>
          </a:p>
        </p:txBody>
      </p:sp>
      <p:sp>
        <p:nvSpPr>
          <p:cNvPr id="71" name="Text Box 37"/>
          <p:cNvSpPr txBox="1">
            <a:spLocks noChangeArrowheads="1"/>
          </p:cNvSpPr>
          <p:nvPr/>
        </p:nvSpPr>
        <p:spPr bwMode="auto">
          <a:xfrm>
            <a:off x="4620551" y="1915137"/>
            <a:ext cx="4367213" cy="769441"/>
          </a:xfrm>
          <a:prstGeom prst="rect">
            <a:avLst/>
          </a:prstGeom>
          <a:noFill/>
          <a:ln w="9525" algn="ctr">
            <a:noFill/>
            <a:miter lim="800000"/>
            <a:headEnd/>
            <a:tailEnd/>
          </a:ln>
          <a:effectLst/>
        </p:spPr>
        <p:txBody>
          <a:bodyPr wrap="square">
            <a:spAutoFit/>
          </a:bodyPr>
          <a:lstStyle/>
          <a:p>
            <a:pPr algn="just"/>
            <a:r>
              <a:rPr lang="es-CL" sz="1100" dirty="0"/>
              <a:t>Los 8 procesos evaluados presentan un total de 195</a:t>
            </a:r>
            <a:r>
              <a:rPr lang="es-CL" sz="1100" b="1" dirty="0"/>
              <a:t> riesgos operacionales con impacto reputacional</a:t>
            </a:r>
            <a:r>
              <a:rPr lang="es-CL" sz="1100" dirty="0"/>
              <a:t>, de los cuales 56 </a:t>
            </a:r>
            <a:r>
              <a:rPr lang="es-CL" sz="1100" b="1" dirty="0"/>
              <a:t>(28.72%) presenta afectación elevada </a:t>
            </a:r>
            <a:r>
              <a:rPr lang="es-CL" sz="1100" dirty="0"/>
              <a:t>a clientes, mientras que el resto presenta afectación medio o baja.</a:t>
            </a:r>
            <a:endParaRPr lang="es-CL" sz="800" b="1" dirty="0"/>
          </a:p>
        </p:txBody>
      </p:sp>
      <p:sp>
        <p:nvSpPr>
          <p:cNvPr id="72" name="AutoShape 38"/>
          <p:cNvSpPr>
            <a:spLocks noChangeArrowheads="1"/>
          </p:cNvSpPr>
          <p:nvPr/>
        </p:nvSpPr>
        <p:spPr bwMode="auto">
          <a:xfrm>
            <a:off x="5498158" y="1519131"/>
            <a:ext cx="2468880" cy="287337"/>
          </a:xfrm>
          <a:prstGeom prst="roundRect">
            <a:avLst>
              <a:gd name="adj" fmla="val 16023"/>
            </a:avLst>
          </a:prstGeom>
          <a:solidFill>
            <a:schemeClr val="tx1">
              <a:lumMod val="10000"/>
              <a:lumOff val="90000"/>
            </a:schemeClr>
          </a:solidFill>
          <a:ln w="9525" algn="ctr">
            <a:noFill/>
            <a:round/>
            <a:headEnd/>
            <a:tailEnd/>
          </a:ln>
          <a:effectLst/>
        </p:spPr>
        <p:txBody>
          <a:bodyPr anchor="ctr"/>
          <a:lstStyle/>
          <a:p>
            <a:pPr algn="ctr"/>
            <a:r>
              <a:rPr lang="es-ES" sz="1200" b="1" dirty="0"/>
              <a:t>Visión General Impacto Reputacional</a:t>
            </a:r>
            <a:endParaRPr lang="en-US" sz="1200" b="1" dirty="0"/>
          </a:p>
        </p:txBody>
      </p:sp>
      <p:sp>
        <p:nvSpPr>
          <p:cNvPr id="92" name="Text Box 43"/>
          <p:cNvSpPr txBox="1">
            <a:spLocks noChangeArrowheads="1"/>
          </p:cNvSpPr>
          <p:nvPr/>
        </p:nvSpPr>
        <p:spPr bwMode="auto">
          <a:xfrm>
            <a:off x="4620551" y="4639329"/>
            <a:ext cx="4367213" cy="701731"/>
          </a:xfrm>
          <a:prstGeom prst="rect">
            <a:avLst/>
          </a:prstGeom>
          <a:noFill/>
          <a:ln w="9525" algn="ctr">
            <a:noFill/>
            <a:miter lim="800000"/>
            <a:headEnd/>
            <a:tailEnd/>
          </a:ln>
          <a:effectLst/>
        </p:spPr>
        <p:txBody>
          <a:bodyPr wrap="square">
            <a:spAutoFit/>
          </a:bodyPr>
          <a:lstStyle/>
          <a:p>
            <a:pPr algn="just">
              <a:spcAft>
                <a:spcPct val="60000"/>
              </a:spcAft>
            </a:pPr>
            <a:r>
              <a:rPr lang="es-ES" sz="1100" dirty="0"/>
              <a:t>El proceso con mayor número de riesgos con afectación elevada a clientes es: (</a:t>
            </a:r>
            <a:r>
              <a:rPr lang="es-ES" sz="1100" dirty="0">
                <a:hlinkClick r:id="rId3" action="ppaction://hlinksldjump"/>
              </a:rPr>
              <a:t>Ver detalle</a:t>
            </a:r>
            <a:r>
              <a:rPr lang="es-ES" sz="1100" dirty="0"/>
              <a:t>)</a:t>
            </a:r>
          </a:p>
          <a:p>
            <a:pPr marL="228600" indent="-228600" algn="just">
              <a:spcAft>
                <a:spcPct val="60000"/>
              </a:spcAft>
              <a:buAutoNum type="arabicPeriod"/>
            </a:pPr>
            <a:r>
              <a:rPr lang="es-ES" sz="1100" dirty="0"/>
              <a:t>Gestión de siniestros</a:t>
            </a:r>
          </a:p>
        </p:txBody>
      </p:sp>
      <p:sp>
        <p:nvSpPr>
          <p:cNvPr id="94" name="Rounded Rectangle 93"/>
          <p:cNvSpPr/>
          <p:nvPr/>
        </p:nvSpPr>
        <p:spPr>
          <a:xfrm>
            <a:off x="4583758" y="4275546"/>
            <a:ext cx="4297680" cy="288032"/>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solidFill>
                  <a:schemeClr val="lt1"/>
                </a:solidFill>
              </a:rPr>
              <a:t>Conclusión</a:t>
            </a:r>
            <a:endParaRPr lang="en-US" sz="1200" b="1" dirty="0">
              <a:solidFill>
                <a:schemeClr val="lt1"/>
              </a:solidFill>
            </a:endParaRPr>
          </a:p>
        </p:txBody>
      </p:sp>
      <p:sp>
        <p:nvSpPr>
          <p:cNvPr id="98" name="Rounded Rectangle 119"/>
          <p:cNvSpPr/>
          <p:nvPr/>
        </p:nvSpPr>
        <p:spPr>
          <a:xfrm>
            <a:off x="4583758" y="1094556"/>
            <a:ext cx="4297680" cy="288032"/>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lt1"/>
                </a:solidFill>
              </a:rPr>
              <a:t>Resultados</a:t>
            </a:r>
          </a:p>
        </p:txBody>
      </p:sp>
      <p:sp>
        <p:nvSpPr>
          <p:cNvPr id="99" name="Oval 65"/>
          <p:cNvSpPr>
            <a:spLocks noChangeArrowheads="1"/>
          </p:cNvSpPr>
          <p:nvPr/>
        </p:nvSpPr>
        <p:spPr bwMode="auto">
          <a:xfrm>
            <a:off x="1874101" y="3584030"/>
            <a:ext cx="265069" cy="253232"/>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44</a:t>
            </a:r>
          </a:p>
        </p:txBody>
      </p:sp>
      <p:sp>
        <p:nvSpPr>
          <p:cNvPr id="2" name="TextBox 1"/>
          <p:cNvSpPr txBox="1"/>
          <p:nvPr/>
        </p:nvSpPr>
        <p:spPr>
          <a:xfrm>
            <a:off x="4620551" y="3167258"/>
            <a:ext cx="3865499" cy="938719"/>
          </a:xfrm>
          <a:prstGeom prst="rect">
            <a:avLst/>
          </a:prstGeom>
          <a:noFill/>
        </p:spPr>
        <p:txBody>
          <a:bodyPr wrap="square" rtlCol="0">
            <a:spAutoFit/>
          </a:bodyPr>
          <a:lstStyle/>
          <a:p>
            <a:pPr marL="228600" indent="-228600">
              <a:buFont typeface="+mj-lt"/>
              <a:buAutoNum type="arabicPeriod"/>
            </a:pPr>
            <a:r>
              <a:rPr lang="es-ES" sz="1100" dirty="0"/>
              <a:t>Interna y limitada. No es percibida por el cliente.</a:t>
            </a:r>
          </a:p>
          <a:p>
            <a:pPr marL="228600" indent="-228600">
              <a:buFont typeface="+mj-lt"/>
              <a:buAutoNum type="arabicPeriod"/>
            </a:pPr>
            <a:r>
              <a:rPr lang="es-ES" sz="1100" dirty="0"/>
              <a:t>Interna pero no limitada. </a:t>
            </a:r>
          </a:p>
          <a:p>
            <a:pPr marL="228600" indent="-228600">
              <a:buFont typeface="+mj-lt"/>
              <a:buAutoNum type="arabicPeriod"/>
            </a:pPr>
            <a:r>
              <a:rPr lang="es-ES" sz="1100" dirty="0"/>
              <a:t>Interna y externa, impacto medio. </a:t>
            </a:r>
          </a:p>
          <a:p>
            <a:pPr marL="228600" indent="-228600">
              <a:buFont typeface="+mj-lt"/>
              <a:buAutoNum type="arabicPeriod"/>
            </a:pPr>
            <a:r>
              <a:rPr lang="es-ES" sz="1100" dirty="0"/>
              <a:t>Interna y externa, impacto alto. </a:t>
            </a:r>
          </a:p>
          <a:p>
            <a:pPr marL="228600" indent="-228600">
              <a:buFont typeface="+mj-lt"/>
              <a:buAutoNum type="arabicPeriod"/>
            </a:pPr>
            <a:r>
              <a:rPr lang="es-ES" sz="1100" dirty="0"/>
              <a:t>Impacto negativo prolongado. </a:t>
            </a:r>
          </a:p>
        </p:txBody>
      </p:sp>
      <p:sp>
        <p:nvSpPr>
          <p:cNvPr id="67" name="Line 39"/>
          <p:cNvSpPr>
            <a:spLocks noChangeShapeType="1"/>
          </p:cNvSpPr>
          <p:nvPr/>
        </p:nvSpPr>
        <p:spPr bwMode="auto">
          <a:xfrm>
            <a:off x="4609317" y="2942078"/>
            <a:ext cx="4246563" cy="0"/>
          </a:xfrm>
          <a:prstGeom prst="line">
            <a:avLst/>
          </a:prstGeom>
          <a:noFill/>
          <a:ln w="9525">
            <a:solidFill>
              <a:srgbClr val="737373"/>
            </a:solidFill>
            <a:round/>
            <a:headEnd/>
            <a:tailEnd/>
          </a:ln>
          <a:effectLst/>
        </p:spPr>
        <p:txBody>
          <a:bodyPr wrap="none" anchor="ctr"/>
          <a:lstStyle/>
          <a:p>
            <a:endParaRPr lang="es-CL" dirty="0"/>
          </a:p>
        </p:txBody>
      </p:sp>
      <p:sp>
        <p:nvSpPr>
          <p:cNvPr id="73" name="AutoShape 41"/>
          <p:cNvSpPr>
            <a:spLocks noChangeArrowheads="1"/>
          </p:cNvSpPr>
          <p:nvPr/>
        </p:nvSpPr>
        <p:spPr bwMode="auto">
          <a:xfrm>
            <a:off x="5498158" y="2756672"/>
            <a:ext cx="2468880" cy="287337"/>
          </a:xfrm>
          <a:prstGeom prst="roundRect">
            <a:avLst>
              <a:gd name="adj" fmla="val 16023"/>
            </a:avLst>
          </a:prstGeom>
          <a:solidFill>
            <a:schemeClr val="tx1">
              <a:lumMod val="10000"/>
              <a:lumOff val="90000"/>
            </a:schemeClr>
          </a:solidFill>
          <a:ln w="9525" algn="ctr">
            <a:noFill/>
            <a:round/>
            <a:headEnd/>
            <a:tailEnd/>
          </a:ln>
          <a:effectLst/>
        </p:spPr>
        <p:txBody>
          <a:bodyPr anchor="ctr"/>
          <a:lstStyle/>
          <a:p>
            <a:pPr algn="ctr"/>
            <a:r>
              <a:rPr lang="es-ES" sz="1200" b="1" dirty="0"/>
              <a:t>Escala de valoración</a:t>
            </a:r>
            <a:endParaRPr lang="en-US" sz="1200" b="1" dirty="0"/>
          </a:p>
        </p:txBody>
      </p:sp>
      <p:sp>
        <p:nvSpPr>
          <p:cNvPr id="75" name="AutoShape 179"/>
          <p:cNvSpPr>
            <a:spLocks noChangeArrowheads="1"/>
          </p:cNvSpPr>
          <p:nvPr/>
        </p:nvSpPr>
        <p:spPr bwMode="auto">
          <a:xfrm>
            <a:off x="721466" y="1094556"/>
            <a:ext cx="3685107" cy="1021071"/>
          </a:xfrm>
          <a:prstGeom prst="roundRect">
            <a:avLst>
              <a:gd name="adj" fmla="val 9481"/>
            </a:avLst>
          </a:prstGeom>
          <a:solidFill>
            <a:schemeClr val="bg1">
              <a:lumMod val="75000"/>
              <a:alpha val="69000"/>
            </a:schemeClr>
          </a:solidFill>
          <a:ln w="9525" algn="ctr">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2060"/>
              </a:solidFill>
              <a:effectLst/>
              <a:uLnTx/>
              <a:uFillTx/>
            </a:endParaRPr>
          </a:p>
        </p:txBody>
      </p:sp>
      <p:sp>
        <p:nvSpPr>
          <p:cNvPr id="93" name="AutoShape 182"/>
          <p:cNvSpPr>
            <a:spLocks noChangeArrowheads="1"/>
          </p:cNvSpPr>
          <p:nvPr/>
        </p:nvSpPr>
        <p:spPr bwMode="auto">
          <a:xfrm>
            <a:off x="956930" y="1168808"/>
            <a:ext cx="2308091" cy="270546"/>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Número Total de Riesgos</a:t>
            </a:r>
            <a:endParaRPr lang="en-US" sz="1200" dirty="0">
              <a:solidFill>
                <a:schemeClr val="bg1"/>
              </a:solidFill>
            </a:endParaRPr>
          </a:p>
        </p:txBody>
      </p:sp>
      <p:sp>
        <p:nvSpPr>
          <p:cNvPr id="95" name="AutoShape 183"/>
          <p:cNvSpPr>
            <a:spLocks noChangeArrowheads="1"/>
          </p:cNvSpPr>
          <p:nvPr/>
        </p:nvSpPr>
        <p:spPr bwMode="auto">
          <a:xfrm>
            <a:off x="3327216" y="1182178"/>
            <a:ext cx="993102" cy="255588"/>
          </a:xfrm>
          <a:prstGeom prst="roundRect">
            <a:avLst>
              <a:gd name="adj" fmla="val 7157"/>
            </a:avLst>
          </a:prstGeom>
          <a:solidFill>
            <a:srgbClr val="FFFFFF"/>
          </a:solidFill>
          <a:ln w="9525" algn="ctr">
            <a:noFill/>
            <a:round/>
            <a:headEnd/>
            <a:tailE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dirty="0">
                <a:solidFill>
                  <a:srgbClr val="454545"/>
                </a:solidFill>
              </a:rPr>
              <a:t>195</a:t>
            </a:r>
            <a:endParaRPr kumimoji="0" lang="en-US" sz="1100" i="0" u="none" strike="noStrike" kern="0" cap="none" spc="0" normalizeH="0" baseline="0" noProof="0" dirty="0">
              <a:ln>
                <a:noFill/>
              </a:ln>
              <a:solidFill>
                <a:srgbClr val="454545"/>
              </a:solidFill>
              <a:effectLst/>
              <a:uLnTx/>
              <a:uFillTx/>
            </a:endParaRPr>
          </a:p>
        </p:txBody>
      </p:sp>
      <p:sp>
        <p:nvSpPr>
          <p:cNvPr id="96" name="AutoShape 185"/>
          <p:cNvSpPr>
            <a:spLocks noChangeArrowheads="1"/>
          </p:cNvSpPr>
          <p:nvPr/>
        </p:nvSpPr>
        <p:spPr bwMode="auto">
          <a:xfrm>
            <a:off x="956930" y="1498493"/>
            <a:ext cx="2308091" cy="248836"/>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Riesgos con afectación elevada</a:t>
            </a:r>
            <a:endParaRPr lang="en-US" sz="1200" dirty="0">
              <a:solidFill>
                <a:schemeClr val="bg1"/>
              </a:solidFill>
            </a:endParaRPr>
          </a:p>
        </p:txBody>
      </p:sp>
      <p:sp>
        <p:nvSpPr>
          <p:cNvPr id="97" name="AutoShape 186"/>
          <p:cNvSpPr>
            <a:spLocks noChangeArrowheads="1"/>
          </p:cNvSpPr>
          <p:nvPr/>
        </p:nvSpPr>
        <p:spPr bwMode="auto">
          <a:xfrm>
            <a:off x="3327216" y="1510791"/>
            <a:ext cx="993102" cy="234950"/>
          </a:xfrm>
          <a:prstGeom prst="roundRect">
            <a:avLst>
              <a:gd name="adj" fmla="val 7157"/>
            </a:avLst>
          </a:prstGeom>
          <a:solidFill>
            <a:srgbClr val="FFFFFF"/>
          </a:solidFill>
          <a:ln w="9525" algn="ctr">
            <a:noFill/>
            <a:round/>
            <a:headEnd/>
            <a:tailE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s-AR" sz="1100" kern="0" dirty="0">
                <a:solidFill>
                  <a:srgbClr val="454545"/>
                </a:solidFill>
              </a:rPr>
              <a:t>56</a:t>
            </a:r>
            <a:r>
              <a:rPr kumimoji="0" lang="es-AR" sz="1100" i="0" u="none" strike="noStrike" kern="0" cap="none" spc="0" normalizeH="0" noProof="0" dirty="0">
                <a:ln>
                  <a:noFill/>
                </a:ln>
                <a:solidFill>
                  <a:srgbClr val="454545"/>
                </a:solidFill>
                <a:effectLst/>
                <a:uLnTx/>
                <a:uFillTx/>
              </a:rPr>
              <a:t> (</a:t>
            </a:r>
            <a:r>
              <a:rPr lang="es-AR" sz="1100" kern="0" dirty="0">
                <a:solidFill>
                  <a:srgbClr val="454545"/>
                </a:solidFill>
              </a:rPr>
              <a:t>28,72</a:t>
            </a:r>
            <a:r>
              <a:rPr kumimoji="0" lang="es-AR" sz="1100" i="0" u="none" strike="noStrike" kern="0" cap="none" spc="0" normalizeH="0" noProof="0" dirty="0">
                <a:ln>
                  <a:noFill/>
                </a:ln>
                <a:solidFill>
                  <a:srgbClr val="454545"/>
                </a:solidFill>
                <a:effectLst/>
                <a:uLnTx/>
                <a:uFillTx/>
              </a:rPr>
              <a:t>%)</a:t>
            </a:r>
            <a:endParaRPr kumimoji="0" lang="en-US" sz="1100" i="0" u="none" strike="noStrike" kern="0" cap="none" spc="0" normalizeH="0" baseline="0" noProof="0" dirty="0">
              <a:ln>
                <a:noFill/>
              </a:ln>
              <a:solidFill>
                <a:srgbClr val="454545"/>
              </a:solidFill>
              <a:effectLst/>
              <a:uLnTx/>
              <a:uFillTx/>
            </a:endParaRPr>
          </a:p>
        </p:txBody>
      </p:sp>
      <p:sp>
        <p:nvSpPr>
          <p:cNvPr id="100" name="AutoShape 188"/>
          <p:cNvSpPr>
            <a:spLocks noChangeArrowheads="1"/>
          </p:cNvSpPr>
          <p:nvPr/>
        </p:nvSpPr>
        <p:spPr bwMode="auto">
          <a:xfrm>
            <a:off x="955343" y="1806468"/>
            <a:ext cx="2308091" cy="248836"/>
          </a:xfrm>
          <a:prstGeom prst="roundRect">
            <a:avLst>
              <a:gd name="adj" fmla="val 7157"/>
            </a:avLst>
          </a:prstGeom>
          <a:solidFill>
            <a:srgbClr val="DB0613"/>
          </a:solidFill>
          <a:ln w="9525" algn="ctr">
            <a:noFill/>
            <a:miter lim="800000"/>
            <a:headEnd/>
            <a:tailEnd/>
          </a:ln>
          <a:effectLst/>
        </p:spPr>
        <p:txBody>
          <a:bodyPr wrap="none" anchor="ctr"/>
          <a:lstStyle/>
          <a:p>
            <a:r>
              <a:rPr lang="es-CL" sz="1200" dirty="0">
                <a:solidFill>
                  <a:schemeClr val="bg1"/>
                </a:solidFill>
              </a:rPr>
              <a:t>Riesgo con afectación media-baja</a:t>
            </a:r>
            <a:endParaRPr lang="en-US" sz="1200" dirty="0">
              <a:solidFill>
                <a:schemeClr val="bg1"/>
              </a:solidFill>
            </a:endParaRPr>
          </a:p>
        </p:txBody>
      </p:sp>
      <p:sp>
        <p:nvSpPr>
          <p:cNvPr id="101" name="AutoShape 189"/>
          <p:cNvSpPr>
            <a:spLocks noChangeArrowheads="1"/>
          </p:cNvSpPr>
          <p:nvPr/>
        </p:nvSpPr>
        <p:spPr bwMode="auto">
          <a:xfrm>
            <a:off x="3325629" y="1818766"/>
            <a:ext cx="994689" cy="234950"/>
          </a:xfrm>
          <a:prstGeom prst="roundRect">
            <a:avLst>
              <a:gd name="adj" fmla="val 7157"/>
            </a:avLst>
          </a:prstGeom>
          <a:solidFill>
            <a:srgbClr val="FFFFFF"/>
          </a:solidFill>
          <a:ln w="9525" algn="ctr">
            <a:noFill/>
            <a:round/>
            <a:headEnd/>
            <a:tailEnd/>
          </a:ln>
          <a:effectLst/>
        </p:spPr>
        <p:txBody>
          <a:bodyPr anchor="ctr"/>
          <a:lstStyle/>
          <a:p>
            <a:pPr algn="ctr"/>
            <a:r>
              <a:rPr lang="es-ES" sz="1100" kern="0" dirty="0">
                <a:solidFill>
                  <a:srgbClr val="454545"/>
                </a:solidFill>
              </a:rPr>
              <a:t>139 (71,28%)</a:t>
            </a:r>
            <a:endParaRPr lang="en-US" sz="1200" kern="0" dirty="0">
              <a:solidFill>
                <a:srgbClr val="454545"/>
              </a:solidFill>
            </a:endParaRPr>
          </a:p>
        </p:txBody>
      </p:sp>
      <p:sp>
        <p:nvSpPr>
          <p:cNvPr id="102" name="AutoShape 47"/>
          <p:cNvSpPr>
            <a:spLocks noChangeAspect="1" noChangeArrowheads="1"/>
          </p:cNvSpPr>
          <p:nvPr/>
        </p:nvSpPr>
        <p:spPr bwMode="blackWhite">
          <a:xfrm>
            <a:off x="214982" y="1094556"/>
            <a:ext cx="740361" cy="1014412"/>
          </a:xfrm>
          <a:prstGeom prst="rightArrow">
            <a:avLst>
              <a:gd name="adj1" fmla="val 100000"/>
              <a:gd name="adj2" fmla="val 11009"/>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lt1"/>
                </a:solidFill>
              </a:rPr>
              <a:t>Datos </a:t>
            </a:r>
          </a:p>
          <a:p>
            <a:pPr algn="ctr"/>
            <a:r>
              <a:rPr lang="es-ES" sz="1200" b="1" dirty="0">
                <a:solidFill>
                  <a:schemeClr val="lt1"/>
                </a:solidFill>
              </a:rPr>
              <a:t>Básicos</a:t>
            </a:r>
            <a:endParaRPr lang="es-ES" sz="1200" b="1" noProof="1">
              <a:solidFill>
                <a:schemeClr val="lt1"/>
              </a:solidFill>
            </a:endParaRPr>
          </a:p>
        </p:txBody>
      </p:sp>
    </p:spTree>
    <p:extLst>
      <p:ext uri="{BB962C8B-B14F-4D97-AF65-F5344CB8AC3E}">
        <p14:creationId xmlns:p14="http://schemas.microsoft.com/office/powerpoint/2010/main" val="2789378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Principales Riesgos</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Dentro de los 8 procesos evaluados, 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10" name="Rounded Rectangle 61"/>
          <p:cNvSpPr/>
          <p:nvPr/>
        </p:nvSpPr>
        <p:spPr>
          <a:xfrm>
            <a:off x="107504" y="1058559"/>
            <a:ext cx="8921456"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10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3940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182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6961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458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3940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Salud</a:t>
            </a:r>
            <a:endParaRPr lang="es-CL" sz="1000" dirty="0">
              <a:solidFill>
                <a:schemeClr val="tx1"/>
              </a:solidFill>
            </a:endParaRP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182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Selección errónea de plan de EPS como consecuencia de falencias en los criterios adoptados para determinar si aplicar un plan estándar o enviar la solicitud a la unidad de negocio para su evaluación. Por ejemplo, casos </a:t>
            </a:r>
            <a:r>
              <a:rPr lang="es-ES" sz="1000" dirty="0" err="1">
                <a:solidFill>
                  <a:schemeClr val="tx1"/>
                </a:solidFill>
              </a:rPr>
              <a:t>Topytop</a:t>
            </a:r>
            <a:r>
              <a:rPr lang="es-ES" sz="1000" dirty="0">
                <a:solidFill>
                  <a:schemeClr val="tx1"/>
                </a:solidFill>
              </a:rPr>
              <a:t> y Policía Nacional.</a:t>
            </a:r>
            <a:endParaRPr lang="es-CL" sz="1000" dirty="0">
              <a:solidFill>
                <a:schemeClr val="tx1"/>
              </a:solidFill>
            </a:endParaRPr>
          </a:p>
        </p:txBody>
      </p:sp>
      <p:sp>
        <p:nvSpPr>
          <p:cNvPr id="19" name="Rounded Rectangle 80"/>
          <p:cNvSpPr/>
          <p:nvPr/>
        </p:nvSpPr>
        <p:spPr>
          <a:xfrm>
            <a:off x="56961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2,250</a:t>
            </a:r>
          </a:p>
        </p:txBody>
      </p:sp>
      <p:sp>
        <p:nvSpPr>
          <p:cNvPr id="20" name="Rounded Rectangle 81"/>
          <p:cNvSpPr/>
          <p:nvPr/>
        </p:nvSpPr>
        <p:spPr>
          <a:xfrm>
            <a:off x="65458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6,650</a:t>
            </a:r>
          </a:p>
        </p:txBody>
      </p:sp>
      <p:sp>
        <p:nvSpPr>
          <p:cNvPr id="21" name="Rounded Rectangle 92"/>
          <p:cNvSpPr/>
          <p:nvPr/>
        </p:nvSpPr>
        <p:spPr>
          <a:xfrm>
            <a:off x="73960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140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9.3%</a:t>
            </a:r>
          </a:p>
        </p:txBody>
      </p:sp>
      <p:sp>
        <p:nvSpPr>
          <p:cNvPr id="23" name="Rounded Rectangle 63"/>
          <p:cNvSpPr/>
          <p:nvPr/>
        </p:nvSpPr>
        <p:spPr>
          <a:xfrm>
            <a:off x="13940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Riesgos Laborales</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182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Falencias en el procedimiento de suscripción. P. ej. Se evalúa una empresa de minería de socavón con 100 trabajadores y se emite la póliza SCTR respectiva, 3 meses después la empresa puede emitir su constancia por otras 100 personas diferentes o por un número mayor.</a:t>
            </a:r>
            <a:endParaRPr lang="es-CL" sz="1000" dirty="0">
              <a:solidFill>
                <a:schemeClr val="tx1"/>
              </a:solidFill>
            </a:endParaRPr>
          </a:p>
        </p:txBody>
      </p:sp>
      <p:sp>
        <p:nvSpPr>
          <p:cNvPr id="26" name="Rounded Rectangle 69"/>
          <p:cNvSpPr/>
          <p:nvPr/>
        </p:nvSpPr>
        <p:spPr>
          <a:xfrm>
            <a:off x="56961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14,400</a:t>
            </a:r>
          </a:p>
        </p:txBody>
      </p:sp>
      <p:sp>
        <p:nvSpPr>
          <p:cNvPr id="27" name="Rounded Rectangle 71"/>
          <p:cNvSpPr/>
          <p:nvPr/>
        </p:nvSpPr>
        <p:spPr>
          <a:xfrm>
            <a:off x="65458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22,357</a:t>
            </a:r>
          </a:p>
        </p:txBody>
      </p:sp>
      <p:sp>
        <p:nvSpPr>
          <p:cNvPr id="33" name="Rounded Rectangle 93"/>
          <p:cNvSpPr/>
          <p:nvPr/>
        </p:nvSpPr>
        <p:spPr>
          <a:xfrm>
            <a:off x="74140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59.5%</a:t>
            </a:r>
          </a:p>
        </p:txBody>
      </p:sp>
      <p:sp>
        <p:nvSpPr>
          <p:cNvPr id="35" name="Rounded Rectangle 116"/>
          <p:cNvSpPr/>
          <p:nvPr/>
        </p:nvSpPr>
        <p:spPr>
          <a:xfrm>
            <a:off x="490013" y="1374854"/>
            <a:ext cx="86666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3" y="2766514"/>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Suscripción</a:t>
            </a:r>
          </a:p>
        </p:txBody>
      </p:sp>
      <p:sp>
        <p:nvSpPr>
          <p:cNvPr id="37" name="Rounded Rectangle 63"/>
          <p:cNvSpPr/>
          <p:nvPr/>
        </p:nvSpPr>
        <p:spPr>
          <a:xfrm>
            <a:off x="490013" y="1835218"/>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Suscripción</a:t>
            </a:r>
          </a:p>
        </p:txBody>
      </p:sp>
      <p:sp>
        <p:nvSpPr>
          <p:cNvPr id="39" name="Rounded Rectangle 92"/>
          <p:cNvSpPr/>
          <p:nvPr/>
        </p:nvSpPr>
        <p:spPr>
          <a:xfrm>
            <a:off x="82369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369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10.8%</a:t>
            </a:r>
          </a:p>
        </p:txBody>
      </p:sp>
      <p:sp>
        <p:nvSpPr>
          <p:cNvPr id="41" name="Rounded Rectangle 93"/>
          <p:cNvSpPr/>
          <p:nvPr/>
        </p:nvSpPr>
        <p:spPr>
          <a:xfrm>
            <a:off x="82369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36.5%</a:t>
            </a: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70" name="Rounded Rectangle 63"/>
          <p:cNvSpPr/>
          <p:nvPr/>
        </p:nvSpPr>
        <p:spPr>
          <a:xfrm>
            <a:off x="13940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Riesgos laborales</a:t>
            </a:r>
            <a:endParaRPr lang="es-CL" sz="1000" dirty="0">
              <a:solidFill>
                <a:schemeClr val="tx1"/>
              </a:solidFill>
            </a:endParaRP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182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Emisión de pólizas retroactivas en donde no se declara un siniestro ocurrido en el lapso sin cobertura.</a:t>
            </a:r>
            <a:endParaRPr lang="es-CL" sz="1000" dirty="0">
              <a:solidFill>
                <a:schemeClr val="tx1"/>
              </a:solidFill>
            </a:endParaRPr>
          </a:p>
        </p:txBody>
      </p:sp>
      <p:sp>
        <p:nvSpPr>
          <p:cNvPr id="73" name="Rounded Rectangle 69"/>
          <p:cNvSpPr/>
          <p:nvPr/>
        </p:nvSpPr>
        <p:spPr>
          <a:xfrm>
            <a:off x="56961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1,200</a:t>
            </a:r>
          </a:p>
        </p:txBody>
      </p:sp>
      <p:sp>
        <p:nvSpPr>
          <p:cNvPr id="74" name="Rounded Rectangle 71"/>
          <p:cNvSpPr/>
          <p:nvPr/>
        </p:nvSpPr>
        <p:spPr>
          <a:xfrm>
            <a:off x="65458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3,938</a:t>
            </a:r>
          </a:p>
        </p:txBody>
      </p:sp>
      <p:sp>
        <p:nvSpPr>
          <p:cNvPr id="75" name="Rounded Rectangle 72"/>
          <p:cNvSpPr/>
          <p:nvPr/>
        </p:nvSpPr>
        <p:spPr>
          <a:xfrm>
            <a:off x="13940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Vida</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182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No captura de la firma del cargo de recepción del certificado y/o firma de la póliza durante el proceso de envío / entrega de la documentación. P. ej. DPS sin firma.</a:t>
            </a:r>
            <a:endParaRPr lang="es-CL" sz="1000" dirty="0">
              <a:solidFill>
                <a:schemeClr val="tx1"/>
              </a:solidFill>
            </a:endParaRPr>
          </a:p>
        </p:txBody>
      </p:sp>
      <p:sp>
        <p:nvSpPr>
          <p:cNvPr id="78" name="Rounded Rectangle 75"/>
          <p:cNvSpPr/>
          <p:nvPr/>
        </p:nvSpPr>
        <p:spPr>
          <a:xfrm>
            <a:off x="56961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960</a:t>
            </a:r>
          </a:p>
        </p:txBody>
      </p:sp>
      <p:sp>
        <p:nvSpPr>
          <p:cNvPr id="79" name="Rounded Rectangle 76"/>
          <p:cNvSpPr/>
          <p:nvPr/>
        </p:nvSpPr>
        <p:spPr>
          <a:xfrm>
            <a:off x="65458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1,684</a:t>
            </a:r>
          </a:p>
        </p:txBody>
      </p:sp>
      <p:sp>
        <p:nvSpPr>
          <p:cNvPr id="80" name="Rounded Rectangle 93"/>
          <p:cNvSpPr/>
          <p:nvPr/>
        </p:nvSpPr>
        <p:spPr>
          <a:xfrm>
            <a:off x="74140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5.0%</a:t>
            </a:r>
          </a:p>
        </p:txBody>
      </p:sp>
      <p:sp>
        <p:nvSpPr>
          <p:cNvPr id="81" name="Rounded Rectangle 94"/>
          <p:cNvSpPr/>
          <p:nvPr/>
        </p:nvSpPr>
        <p:spPr>
          <a:xfrm>
            <a:off x="74140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4.0%</a:t>
            </a:r>
          </a:p>
        </p:txBody>
      </p:sp>
      <p:sp>
        <p:nvSpPr>
          <p:cNvPr id="82" name="Rounded Rectangle 63"/>
          <p:cNvSpPr/>
          <p:nvPr/>
        </p:nvSpPr>
        <p:spPr>
          <a:xfrm>
            <a:off x="490013" y="3686477"/>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Emisión y endoso</a:t>
            </a:r>
          </a:p>
        </p:txBody>
      </p:sp>
      <p:sp>
        <p:nvSpPr>
          <p:cNvPr id="83" name="Rounded Rectangle 72"/>
          <p:cNvSpPr/>
          <p:nvPr/>
        </p:nvSpPr>
        <p:spPr>
          <a:xfrm>
            <a:off x="490013" y="4600285"/>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Impresión y despacho</a:t>
            </a:r>
          </a:p>
        </p:txBody>
      </p:sp>
      <p:sp>
        <p:nvSpPr>
          <p:cNvPr id="84" name="Rounded Rectangle 93"/>
          <p:cNvSpPr/>
          <p:nvPr/>
        </p:nvSpPr>
        <p:spPr>
          <a:xfrm>
            <a:off x="82369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6.4%</a:t>
            </a:r>
          </a:p>
        </p:txBody>
      </p:sp>
      <p:sp>
        <p:nvSpPr>
          <p:cNvPr id="85" name="Rounded Rectangle 94"/>
          <p:cNvSpPr/>
          <p:nvPr/>
        </p:nvSpPr>
        <p:spPr>
          <a:xfrm>
            <a:off x="82369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2.7%</a:t>
            </a:r>
          </a:p>
        </p:txBody>
      </p:sp>
      <p:sp>
        <p:nvSpPr>
          <p:cNvPr id="60" name="AutoShape 220"/>
          <p:cNvSpPr>
            <a:spLocks noChangeArrowheads="1"/>
          </p:cNvSpPr>
          <p:nvPr/>
        </p:nvSpPr>
        <p:spPr bwMode="auto">
          <a:xfrm>
            <a:off x="362407" y="5515808"/>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61" name="Rectangle 208"/>
          <p:cNvSpPr>
            <a:spLocks noChangeArrowheads="1"/>
          </p:cNvSpPr>
          <p:nvPr/>
        </p:nvSpPr>
        <p:spPr bwMode="auto">
          <a:xfrm>
            <a:off x="533719" y="5594754"/>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62" name="Rectangle 217"/>
          <p:cNvSpPr>
            <a:spLocks noChangeArrowheads="1"/>
          </p:cNvSpPr>
          <p:nvPr/>
        </p:nvSpPr>
        <p:spPr bwMode="auto">
          <a:xfrm>
            <a:off x="1467479" y="5594754"/>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63" name="Rectangle 224"/>
          <p:cNvSpPr>
            <a:spLocks noChangeArrowheads="1"/>
          </p:cNvSpPr>
          <p:nvPr/>
        </p:nvSpPr>
        <p:spPr bwMode="auto">
          <a:xfrm>
            <a:off x="533719" y="586288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195</a:t>
            </a:r>
          </a:p>
        </p:txBody>
      </p:sp>
      <p:sp>
        <p:nvSpPr>
          <p:cNvPr id="64" name="Rectangle 224"/>
          <p:cNvSpPr>
            <a:spLocks noChangeArrowheads="1"/>
          </p:cNvSpPr>
          <p:nvPr/>
        </p:nvSpPr>
        <p:spPr bwMode="auto">
          <a:xfrm>
            <a:off x="1467479" y="586288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212</a:t>
            </a:r>
          </a:p>
        </p:txBody>
      </p:sp>
      <p:sp>
        <p:nvSpPr>
          <p:cNvPr id="65"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66"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10</a:t>
            </a:r>
          </a:p>
          <a:p>
            <a:pPr algn="ctr"/>
            <a:r>
              <a:rPr lang="es-PE" sz="800" b="1" dirty="0">
                <a:solidFill>
                  <a:schemeClr val="bg1"/>
                </a:solidFill>
              </a:rPr>
              <a:t>VaR acumulado</a:t>
            </a:r>
            <a:endParaRPr lang="en-US" sz="800" b="1" dirty="0">
              <a:solidFill>
                <a:schemeClr val="bg1"/>
              </a:solidFill>
            </a:endParaRPr>
          </a:p>
        </p:txBody>
      </p:sp>
      <p:sp>
        <p:nvSpPr>
          <p:cNvPr id="67"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43.5MM</a:t>
            </a:r>
          </a:p>
        </p:txBody>
      </p:sp>
      <p:sp>
        <p:nvSpPr>
          <p:cNvPr id="86"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10</a:t>
            </a:r>
          </a:p>
          <a:p>
            <a:pPr algn="ctr"/>
            <a:r>
              <a:rPr lang="es-PE" sz="800" b="1" dirty="0">
                <a:solidFill>
                  <a:schemeClr val="bg1"/>
                </a:solidFill>
              </a:rPr>
              <a:t>PEA acumulado</a:t>
            </a:r>
            <a:endParaRPr lang="en-US" sz="800" b="1" dirty="0">
              <a:solidFill>
                <a:schemeClr val="bg1"/>
              </a:solidFill>
            </a:endParaRPr>
          </a:p>
        </p:txBody>
      </p:sp>
      <p:sp>
        <p:nvSpPr>
          <p:cNvPr id="87"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21.2MM</a:t>
            </a:r>
          </a:p>
        </p:txBody>
      </p:sp>
      <p:sp>
        <p:nvSpPr>
          <p:cNvPr id="88"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89"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9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9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3410565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Principales Riesgos</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 los </a:t>
            </a:r>
            <a:r>
              <a:rPr lang="es-ES_tradnl" sz="1600" b="1" dirty="0">
                <a:solidFill>
                  <a:srgbClr val="DB0613"/>
                </a:solidFill>
                <a:sym typeface="Wingdings" pitchFamily="2" charset="2"/>
              </a:rPr>
              <a:t>riesgos con mayor criticidad </a:t>
            </a:r>
            <a:r>
              <a:rPr lang="es-ES_tradnl" sz="1600" b="1" dirty="0">
                <a:solidFill>
                  <a:srgbClr val="4D4D4D"/>
                </a:solidFill>
                <a:sym typeface="Wingdings" pitchFamily="2" charset="2"/>
              </a:rPr>
              <a:t>son…</a:t>
            </a:r>
            <a:endParaRPr lang="es-ES_tradnl" b="1" kern="0" dirty="0">
              <a:solidFill>
                <a:schemeClr val="hlink"/>
              </a:solidFill>
            </a:endParaRPr>
          </a:p>
        </p:txBody>
      </p:sp>
      <p:sp>
        <p:nvSpPr>
          <p:cNvPr id="10" name="Rounded Rectangle 61"/>
          <p:cNvSpPr/>
          <p:nvPr/>
        </p:nvSpPr>
        <p:spPr>
          <a:xfrm>
            <a:off x="107504" y="1058559"/>
            <a:ext cx="8921456"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10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3940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182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6" name="Rounded Rectangle 77"/>
          <p:cNvSpPr/>
          <p:nvPr/>
        </p:nvSpPr>
        <p:spPr>
          <a:xfrm>
            <a:off x="1394090" y="1852261"/>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Vida</a:t>
            </a:r>
          </a:p>
        </p:txBody>
      </p:sp>
      <p:sp>
        <p:nvSpPr>
          <p:cNvPr id="17" name="Rounded Rectangle 78"/>
          <p:cNvSpPr/>
          <p:nvPr/>
        </p:nvSpPr>
        <p:spPr>
          <a:xfrm>
            <a:off x="97624" y="1852261"/>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5</a:t>
            </a:r>
          </a:p>
        </p:txBody>
      </p:sp>
      <p:sp>
        <p:nvSpPr>
          <p:cNvPr id="18" name="Rounded Rectangle 79"/>
          <p:cNvSpPr/>
          <p:nvPr/>
        </p:nvSpPr>
        <p:spPr>
          <a:xfrm>
            <a:off x="2418232" y="1852261"/>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Pérdida de documentación y/o no localización de la información de respaldo del proceso.</a:t>
            </a:r>
          </a:p>
          <a:p>
            <a:pPr algn="just"/>
            <a:r>
              <a:rPr lang="es-ES" sz="1000" dirty="0">
                <a:solidFill>
                  <a:schemeClr val="tx1"/>
                </a:solidFill>
              </a:rPr>
              <a:t> P. ej. Declaración personal de Salud (DPS) y / o cargo de certificado en CNT</a:t>
            </a:r>
            <a:endParaRPr lang="es-CL" sz="1000" dirty="0">
              <a:solidFill>
                <a:schemeClr val="tx1"/>
              </a:solidFill>
            </a:endParaRPr>
          </a:p>
        </p:txBody>
      </p:sp>
      <p:sp>
        <p:nvSpPr>
          <p:cNvPr id="19" name="Rounded Rectangle 80"/>
          <p:cNvSpPr/>
          <p:nvPr/>
        </p:nvSpPr>
        <p:spPr>
          <a:xfrm>
            <a:off x="5696157" y="1852261"/>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760</a:t>
            </a:r>
          </a:p>
        </p:txBody>
      </p:sp>
      <p:sp>
        <p:nvSpPr>
          <p:cNvPr id="20" name="Rounded Rectangle 81"/>
          <p:cNvSpPr/>
          <p:nvPr/>
        </p:nvSpPr>
        <p:spPr>
          <a:xfrm>
            <a:off x="6545856" y="1852261"/>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1,413</a:t>
            </a:r>
          </a:p>
        </p:txBody>
      </p:sp>
      <p:sp>
        <p:nvSpPr>
          <p:cNvPr id="22" name="Rounded Rectangle 95"/>
          <p:cNvSpPr/>
          <p:nvPr/>
        </p:nvSpPr>
        <p:spPr>
          <a:xfrm>
            <a:off x="7414078" y="1852261"/>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3.1%</a:t>
            </a:r>
          </a:p>
        </p:txBody>
      </p:sp>
      <p:sp>
        <p:nvSpPr>
          <p:cNvPr id="35" name="Rounded Rectangle 116"/>
          <p:cNvSpPr/>
          <p:nvPr/>
        </p:nvSpPr>
        <p:spPr>
          <a:xfrm>
            <a:off x="490013" y="1374854"/>
            <a:ext cx="86666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3" y="1852261"/>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Impresión y despacho</a:t>
            </a:r>
          </a:p>
        </p:txBody>
      </p:sp>
      <p:sp>
        <p:nvSpPr>
          <p:cNvPr id="40" name="Rounded Rectangle 95"/>
          <p:cNvSpPr/>
          <p:nvPr/>
        </p:nvSpPr>
        <p:spPr>
          <a:xfrm>
            <a:off x="8236960" y="1852261"/>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2.3%</a:t>
            </a: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70" name="Rounded Rectangle 77"/>
          <p:cNvSpPr/>
          <p:nvPr/>
        </p:nvSpPr>
        <p:spPr>
          <a:xfrm>
            <a:off x="1394090" y="277167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Vida</a:t>
            </a:r>
          </a:p>
        </p:txBody>
      </p:sp>
      <p:sp>
        <p:nvSpPr>
          <p:cNvPr id="71" name="Rounded Rectangle 78"/>
          <p:cNvSpPr/>
          <p:nvPr/>
        </p:nvSpPr>
        <p:spPr>
          <a:xfrm>
            <a:off x="97624" y="277167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6</a:t>
            </a:r>
          </a:p>
        </p:txBody>
      </p:sp>
      <p:sp>
        <p:nvSpPr>
          <p:cNvPr id="72" name="Rounded Rectangle 79"/>
          <p:cNvSpPr/>
          <p:nvPr/>
        </p:nvSpPr>
        <p:spPr>
          <a:xfrm>
            <a:off x="2418232" y="277167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Envío erróneo de cotizaciones para su emisión por parte de Formalización, por considerar incorrectamente que se trata de un producto modular y, por lo tanto, no requiere de la evaluación de la unidad de negocio.  - Caso de Accidentes Personales .</a:t>
            </a:r>
            <a:endParaRPr lang="es-CL" sz="1000" dirty="0">
              <a:solidFill>
                <a:schemeClr val="tx1"/>
              </a:solidFill>
            </a:endParaRPr>
          </a:p>
        </p:txBody>
      </p:sp>
      <p:sp>
        <p:nvSpPr>
          <p:cNvPr id="73" name="Rounded Rectangle 80"/>
          <p:cNvSpPr/>
          <p:nvPr/>
        </p:nvSpPr>
        <p:spPr>
          <a:xfrm>
            <a:off x="5696157" y="277167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500</a:t>
            </a:r>
          </a:p>
        </p:txBody>
      </p:sp>
      <p:sp>
        <p:nvSpPr>
          <p:cNvPr id="74" name="Rounded Rectangle 81"/>
          <p:cNvSpPr/>
          <p:nvPr/>
        </p:nvSpPr>
        <p:spPr>
          <a:xfrm>
            <a:off x="6545856" y="277167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2,131</a:t>
            </a:r>
          </a:p>
        </p:txBody>
      </p:sp>
      <p:sp>
        <p:nvSpPr>
          <p:cNvPr id="75" name="Rounded Rectangle 95"/>
          <p:cNvSpPr/>
          <p:nvPr/>
        </p:nvSpPr>
        <p:spPr>
          <a:xfrm>
            <a:off x="7414078" y="277167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2,1%</a:t>
            </a:r>
          </a:p>
        </p:txBody>
      </p:sp>
      <p:sp>
        <p:nvSpPr>
          <p:cNvPr id="76" name="Rounded Rectangle 128"/>
          <p:cNvSpPr/>
          <p:nvPr/>
        </p:nvSpPr>
        <p:spPr>
          <a:xfrm>
            <a:off x="490013" y="2771674"/>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Suscripción</a:t>
            </a:r>
          </a:p>
        </p:txBody>
      </p:sp>
      <p:sp>
        <p:nvSpPr>
          <p:cNvPr id="77" name="Rounded Rectangle 95"/>
          <p:cNvSpPr/>
          <p:nvPr/>
        </p:nvSpPr>
        <p:spPr>
          <a:xfrm>
            <a:off x="8236960" y="277167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3,5%</a:t>
            </a:r>
          </a:p>
        </p:txBody>
      </p:sp>
      <p:sp>
        <p:nvSpPr>
          <p:cNvPr id="78" name="Rounded Rectangle 68"/>
          <p:cNvSpPr/>
          <p:nvPr/>
        </p:nvSpPr>
        <p:spPr>
          <a:xfrm>
            <a:off x="56961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79" name="Rounded Rectangle 70"/>
          <p:cNvSpPr/>
          <p:nvPr/>
        </p:nvSpPr>
        <p:spPr>
          <a:xfrm>
            <a:off x="65458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80" name="Rounded Rectangle 92"/>
          <p:cNvSpPr/>
          <p:nvPr/>
        </p:nvSpPr>
        <p:spPr>
          <a:xfrm>
            <a:off x="73960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81" name="Rounded Rectangle 92"/>
          <p:cNvSpPr/>
          <p:nvPr/>
        </p:nvSpPr>
        <p:spPr>
          <a:xfrm>
            <a:off x="82369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82" name="Rounded Rectangle 63"/>
          <p:cNvSpPr/>
          <p:nvPr/>
        </p:nvSpPr>
        <p:spPr>
          <a:xfrm>
            <a:off x="1394090" y="3687719"/>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Vehicular</a:t>
            </a:r>
          </a:p>
        </p:txBody>
      </p:sp>
      <p:sp>
        <p:nvSpPr>
          <p:cNvPr id="83" name="Rounded Rectangle 64"/>
          <p:cNvSpPr/>
          <p:nvPr/>
        </p:nvSpPr>
        <p:spPr>
          <a:xfrm>
            <a:off x="97624" y="3687719"/>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7</a:t>
            </a:r>
          </a:p>
        </p:txBody>
      </p:sp>
      <p:sp>
        <p:nvSpPr>
          <p:cNvPr id="84" name="Rounded Rectangle 67"/>
          <p:cNvSpPr/>
          <p:nvPr/>
        </p:nvSpPr>
        <p:spPr>
          <a:xfrm>
            <a:off x="2418232" y="36871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Errores o falencias en la ejecución de los procedimientos del Asesor/Procurador.  Estas falencias pueden derivar en la aceptación de siniestros que debieron haber sido rechazados .</a:t>
            </a:r>
            <a:endParaRPr lang="es-CL" sz="1000" dirty="0">
              <a:solidFill>
                <a:schemeClr val="tx1"/>
              </a:solidFill>
            </a:endParaRPr>
          </a:p>
        </p:txBody>
      </p:sp>
      <p:sp>
        <p:nvSpPr>
          <p:cNvPr id="85" name="Rounded Rectangle 69"/>
          <p:cNvSpPr/>
          <p:nvPr/>
        </p:nvSpPr>
        <p:spPr>
          <a:xfrm>
            <a:off x="5696157" y="3687719"/>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300</a:t>
            </a:r>
          </a:p>
        </p:txBody>
      </p:sp>
      <p:sp>
        <p:nvSpPr>
          <p:cNvPr id="86" name="Rounded Rectangle 71"/>
          <p:cNvSpPr/>
          <p:nvPr/>
        </p:nvSpPr>
        <p:spPr>
          <a:xfrm>
            <a:off x="6545856" y="3687719"/>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431</a:t>
            </a:r>
          </a:p>
        </p:txBody>
      </p:sp>
      <p:sp>
        <p:nvSpPr>
          <p:cNvPr id="87" name="Rounded Rectangle 72"/>
          <p:cNvSpPr/>
          <p:nvPr/>
        </p:nvSpPr>
        <p:spPr>
          <a:xfrm>
            <a:off x="1394090" y="4578582"/>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Vida</a:t>
            </a:r>
          </a:p>
        </p:txBody>
      </p:sp>
      <p:sp>
        <p:nvSpPr>
          <p:cNvPr id="88" name="Rounded Rectangle 73"/>
          <p:cNvSpPr/>
          <p:nvPr/>
        </p:nvSpPr>
        <p:spPr>
          <a:xfrm>
            <a:off x="97624" y="4578582"/>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8</a:t>
            </a:r>
          </a:p>
        </p:txBody>
      </p:sp>
      <p:sp>
        <p:nvSpPr>
          <p:cNvPr id="89" name="Rounded Rectangle 74"/>
          <p:cNvSpPr/>
          <p:nvPr/>
        </p:nvSpPr>
        <p:spPr>
          <a:xfrm>
            <a:off x="2418232" y="4578582"/>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Retrasos en las emisiones de pólizas de </a:t>
            </a:r>
            <a:r>
              <a:rPr lang="es-ES" sz="1000" dirty="0" err="1">
                <a:solidFill>
                  <a:schemeClr val="tx1"/>
                </a:solidFill>
              </a:rPr>
              <a:t>Worksite</a:t>
            </a:r>
            <a:r>
              <a:rPr lang="es-ES" sz="1000" dirty="0">
                <a:solidFill>
                  <a:schemeClr val="tx1"/>
                </a:solidFill>
              </a:rPr>
              <a:t> debido a  (1) </a:t>
            </a:r>
            <a:r>
              <a:rPr lang="es-ES" sz="1000" dirty="0" err="1">
                <a:solidFill>
                  <a:schemeClr val="tx1"/>
                </a:solidFill>
              </a:rPr>
              <a:t>reprocesos</a:t>
            </a:r>
            <a:r>
              <a:rPr lang="es-ES" sz="1000" dirty="0">
                <a:solidFill>
                  <a:schemeClr val="tx1"/>
                </a:solidFill>
              </a:rPr>
              <a:t> originados por errores en la digitación, (2) incumplimiento de los ANS (tiempos) por estacionalidad en la llegada de solicitudes a gestionar (fin de mes). Canal </a:t>
            </a:r>
            <a:r>
              <a:rPr lang="es-ES" sz="1000" dirty="0" err="1">
                <a:solidFill>
                  <a:schemeClr val="tx1"/>
                </a:solidFill>
              </a:rPr>
              <a:t>worksite</a:t>
            </a:r>
            <a:r>
              <a:rPr lang="es-ES" sz="1000" dirty="0">
                <a:solidFill>
                  <a:schemeClr val="tx1"/>
                </a:solidFill>
              </a:rPr>
              <a:t>.</a:t>
            </a:r>
            <a:endParaRPr lang="es-CL" sz="1000" dirty="0">
              <a:solidFill>
                <a:schemeClr val="tx1"/>
              </a:solidFill>
            </a:endParaRPr>
          </a:p>
        </p:txBody>
      </p:sp>
      <p:sp>
        <p:nvSpPr>
          <p:cNvPr id="90" name="Rounded Rectangle 75"/>
          <p:cNvSpPr/>
          <p:nvPr/>
        </p:nvSpPr>
        <p:spPr>
          <a:xfrm>
            <a:off x="5696157" y="4578582"/>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288</a:t>
            </a:r>
          </a:p>
        </p:txBody>
      </p:sp>
      <p:sp>
        <p:nvSpPr>
          <p:cNvPr id="91" name="Rounded Rectangle 76"/>
          <p:cNvSpPr/>
          <p:nvPr/>
        </p:nvSpPr>
        <p:spPr>
          <a:xfrm>
            <a:off x="6545856" y="4578582"/>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296</a:t>
            </a:r>
          </a:p>
        </p:txBody>
      </p:sp>
      <p:sp>
        <p:nvSpPr>
          <p:cNvPr id="105" name="Rounded Rectangle 93"/>
          <p:cNvSpPr/>
          <p:nvPr/>
        </p:nvSpPr>
        <p:spPr>
          <a:xfrm>
            <a:off x="7414078" y="3687719"/>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1.2%</a:t>
            </a:r>
          </a:p>
        </p:txBody>
      </p:sp>
      <p:sp>
        <p:nvSpPr>
          <p:cNvPr id="106" name="Rounded Rectangle 94"/>
          <p:cNvSpPr/>
          <p:nvPr/>
        </p:nvSpPr>
        <p:spPr>
          <a:xfrm>
            <a:off x="7414078" y="4578582"/>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1.2%</a:t>
            </a:r>
          </a:p>
        </p:txBody>
      </p:sp>
      <p:sp>
        <p:nvSpPr>
          <p:cNvPr id="107" name="Rounded Rectangle 63"/>
          <p:cNvSpPr/>
          <p:nvPr/>
        </p:nvSpPr>
        <p:spPr>
          <a:xfrm>
            <a:off x="490013" y="3687719"/>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Gestión de siniestros</a:t>
            </a:r>
          </a:p>
        </p:txBody>
      </p:sp>
      <p:sp>
        <p:nvSpPr>
          <p:cNvPr id="108" name="Rounded Rectangle 72"/>
          <p:cNvSpPr/>
          <p:nvPr/>
        </p:nvSpPr>
        <p:spPr>
          <a:xfrm>
            <a:off x="490013" y="4578582"/>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Emisión y endoso</a:t>
            </a:r>
          </a:p>
        </p:txBody>
      </p:sp>
      <p:sp>
        <p:nvSpPr>
          <p:cNvPr id="109" name="Rounded Rectangle 93"/>
          <p:cNvSpPr/>
          <p:nvPr/>
        </p:nvSpPr>
        <p:spPr>
          <a:xfrm>
            <a:off x="8236960" y="3687719"/>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0.7%</a:t>
            </a:r>
          </a:p>
        </p:txBody>
      </p:sp>
      <p:sp>
        <p:nvSpPr>
          <p:cNvPr id="110" name="Rounded Rectangle 94"/>
          <p:cNvSpPr/>
          <p:nvPr/>
        </p:nvSpPr>
        <p:spPr>
          <a:xfrm>
            <a:off x="8236960" y="4578582"/>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0.5%</a:t>
            </a:r>
          </a:p>
        </p:txBody>
      </p:sp>
      <p:sp>
        <p:nvSpPr>
          <p:cNvPr id="69" name="AutoShape 220"/>
          <p:cNvSpPr>
            <a:spLocks noChangeArrowheads="1"/>
          </p:cNvSpPr>
          <p:nvPr/>
        </p:nvSpPr>
        <p:spPr bwMode="auto">
          <a:xfrm>
            <a:off x="362407" y="5515808"/>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92" name="Rectangle 208"/>
          <p:cNvSpPr>
            <a:spLocks noChangeArrowheads="1"/>
          </p:cNvSpPr>
          <p:nvPr/>
        </p:nvSpPr>
        <p:spPr bwMode="auto">
          <a:xfrm>
            <a:off x="533719" y="5594754"/>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93" name="Rectangle 217"/>
          <p:cNvSpPr>
            <a:spLocks noChangeArrowheads="1"/>
          </p:cNvSpPr>
          <p:nvPr/>
        </p:nvSpPr>
        <p:spPr bwMode="auto">
          <a:xfrm>
            <a:off x="1467479" y="5594754"/>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94" name="Rectangle 224"/>
          <p:cNvSpPr>
            <a:spLocks noChangeArrowheads="1"/>
          </p:cNvSpPr>
          <p:nvPr/>
        </p:nvSpPr>
        <p:spPr bwMode="auto">
          <a:xfrm>
            <a:off x="533719" y="586288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195</a:t>
            </a:r>
          </a:p>
        </p:txBody>
      </p:sp>
      <p:sp>
        <p:nvSpPr>
          <p:cNvPr id="95" name="Rectangle 224"/>
          <p:cNvSpPr>
            <a:spLocks noChangeArrowheads="1"/>
          </p:cNvSpPr>
          <p:nvPr/>
        </p:nvSpPr>
        <p:spPr bwMode="auto">
          <a:xfrm>
            <a:off x="1467479" y="586288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212</a:t>
            </a:r>
          </a:p>
        </p:txBody>
      </p:sp>
      <p:sp>
        <p:nvSpPr>
          <p:cNvPr id="9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97"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10</a:t>
            </a:r>
          </a:p>
          <a:p>
            <a:pPr algn="ctr"/>
            <a:r>
              <a:rPr lang="es-PE" sz="800" b="1" dirty="0">
                <a:solidFill>
                  <a:schemeClr val="bg1"/>
                </a:solidFill>
              </a:rPr>
              <a:t>VaR acumulado</a:t>
            </a:r>
            <a:endParaRPr lang="en-US" sz="800" b="1" dirty="0">
              <a:solidFill>
                <a:schemeClr val="bg1"/>
              </a:solidFill>
            </a:endParaRPr>
          </a:p>
        </p:txBody>
      </p:sp>
      <p:sp>
        <p:nvSpPr>
          <p:cNvPr id="98"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43.5MM</a:t>
            </a:r>
          </a:p>
        </p:txBody>
      </p:sp>
      <p:sp>
        <p:nvSpPr>
          <p:cNvPr id="99"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10</a:t>
            </a:r>
          </a:p>
          <a:p>
            <a:pPr algn="ctr"/>
            <a:r>
              <a:rPr lang="es-PE" sz="800" b="1" dirty="0">
                <a:solidFill>
                  <a:schemeClr val="bg1"/>
                </a:solidFill>
              </a:rPr>
              <a:t>PEA acumulado</a:t>
            </a:r>
            <a:endParaRPr lang="en-US" sz="800" b="1" dirty="0">
              <a:solidFill>
                <a:schemeClr val="bg1"/>
              </a:solidFill>
            </a:endParaRPr>
          </a:p>
        </p:txBody>
      </p:sp>
      <p:sp>
        <p:nvSpPr>
          <p:cNvPr id="111"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21.2MM</a:t>
            </a:r>
          </a:p>
        </p:txBody>
      </p:sp>
      <p:sp>
        <p:nvSpPr>
          <p:cNvPr id="112"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113"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114"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115"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1543381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Principales Riesgos</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 los </a:t>
            </a:r>
            <a:r>
              <a:rPr lang="es-ES_tradnl" sz="1600" b="1" dirty="0">
                <a:solidFill>
                  <a:srgbClr val="DB0613"/>
                </a:solidFill>
                <a:sym typeface="Wingdings" pitchFamily="2" charset="2"/>
              </a:rPr>
              <a:t>riesgos con mayor criticidad </a:t>
            </a:r>
            <a:r>
              <a:rPr lang="es-ES_tradnl" sz="1600" b="1" dirty="0">
                <a:solidFill>
                  <a:srgbClr val="4D4D4D"/>
                </a:solidFill>
                <a:sym typeface="Wingdings" pitchFamily="2" charset="2"/>
              </a:rPr>
              <a:t>son…</a:t>
            </a:r>
            <a:endParaRPr lang="es-ES_tradnl" b="1" kern="0" dirty="0">
              <a:solidFill>
                <a:schemeClr val="hlink"/>
              </a:solidFill>
            </a:endParaRPr>
          </a:p>
        </p:txBody>
      </p:sp>
      <p:sp>
        <p:nvSpPr>
          <p:cNvPr id="10" name="Rounded Rectangle 61"/>
          <p:cNvSpPr/>
          <p:nvPr/>
        </p:nvSpPr>
        <p:spPr>
          <a:xfrm>
            <a:off x="107504" y="1058559"/>
            <a:ext cx="8921456"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10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3940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182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6" name="Rounded Rectangle 77"/>
          <p:cNvSpPr/>
          <p:nvPr/>
        </p:nvSpPr>
        <p:spPr>
          <a:xfrm>
            <a:off x="1394090" y="185213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Vida</a:t>
            </a:r>
          </a:p>
        </p:txBody>
      </p:sp>
      <p:sp>
        <p:nvSpPr>
          <p:cNvPr id="17" name="Rounded Rectangle 78"/>
          <p:cNvSpPr/>
          <p:nvPr/>
        </p:nvSpPr>
        <p:spPr>
          <a:xfrm>
            <a:off x="97624" y="185213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9</a:t>
            </a:r>
          </a:p>
        </p:txBody>
      </p:sp>
      <p:sp>
        <p:nvSpPr>
          <p:cNvPr id="18" name="Rounded Rectangle 79"/>
          <p:cNvSpPr/>
          <p:nvPr/>
        </p:nvSpPr>
        <p:spPr>
          <a:xfrm>
            <a:off x="2418232" y="1852138"/>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Ingreso de información errónea o incompleta por parte del asesor, lo cual genera (1) errores en la emisión de la póliza o (2) retraso en la emisión. Canal </a:t>
            </a:r>
            <a:r>
              <a:rPr lang="es-ES" sz="900" dirty="0" err="1">
                <a:solidFill>
                  <a:schemeClr val="tx1"/>
                </a:solidFill>
              </a:rPr>
              <a:t>Worksite</a:t>
            </a:r>
            <a:r>
              <a:rPr lang="es-ES" sz="900" dirty="0">
                <a:solidFill>
                  <a:schemeClr val="tx1"/>
                </a:solidFill>
              </a:rPr>
              <a:t>.</a:t>
            </a:r>
            <a:endParaRPr lang="es-CL" sz="900" dirty="0">
              <a:solidFill>
                <a:schemeClr val="tx1"/>
              </a:solidFill>
            </a:endParaRPr>
          </a:p>
        </p:txBody>
      </p:sp>
      <p:sp>
        <p:nvSpPr>
          <p:cNvPr id="19" name="Rounded Rectangle 80"/>
          <p:cNvSpPr/>
          <p:nvPr/>
        </p:nvSpPr>
        <p:spPr>
          <a:xfrm>
            <a:off x="5696157" y="185213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264</a:t>
            </a:r>
          </a:p>
        </p:txBody>
      </p:sp>
      <p:sp>
        <p:nvSpPr>
          <p:cNvPr id="20" name="Rounded Rectangle 81"/>
          <p:cNvSpPr/>
          <p:nvPr/>
        </p:nvSpPr>
        <p:spPr>
          <a:xfrm>
            <a:off x="6545856" y="185213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272</a:t>
            </a:r>
          </a:p>
        </p:txBody>
      </p:sp>
      <p:sp>
        <p:nvSpPr>
          <p:cNvPr id="22" name="Rounded Rectangle 95"/>
          <p:cNvSpPr/>
          <p:nvPr/>
        </p:nvSpPr>
        <p:spPr>
          <a:xfrm>
            <a:off x="7414078" y="185213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a:t>
            </a:r>
          </a:p>
        </p:txBody>
      </p:sp>
      <p:sp>
        <p:nvSpPr>
          <p:cNvPr id="35" name="Rounded Rectangle 116"/>
          <p:cNvSpPr/>
          <p:nvPr/>
        </p:nvSpPr>
        <p:spPr>
          <a:xfrm>
            <a:off x="490013" y="1374854"/>
            <a:ext cx="86666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3" y="1852138"/>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Venta</a:t>
            </a:r>
          </a:p>
        </p:txBody>
      </p:sp>
      <p:sp>
        <p:nvSpPr>
          <p:cNvPr id="40" name="Rounded Rectangle 95"/>
          <p:cNvSpPr/>
          <p:nvPr/>
        </p:nvSpPr>
        <p:spPr>
          <a:xfrm>
            <a:off x="8236960" y="185213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0.4%</a:t>
            </a: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91" name="AutoShape 220"/>
          <p:cNvSpPr>
            <a:spLocks noChangeArrowheads="1"/>
          </p:cNvSpPr>
          <p:nvPr/>
        </p:nvSpPr>
        <p:spPr bwMode="auto">
          <a:xfrm>
            <a:off x="362407" y="5515808"/>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92" name="Rectangle 208"/>
          <p:cNvSpPr>
            <a:spLocks noChangeArrowheads="1"/>
          </p:cNvSpPr>
          <p:nvPr/>
        </p:nvSpPr>
        <p:spPr bwMode="auto">
          <a:xfrm>
            <a:off x="533719" y="5594754"/>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93" name="Rectangle 217"/>
          <p:cNvSpPr>
            <a:spLocks noChangeArrowheads="1"/>
          </p:cNvSpPr>
          <p:nvPr/>
        </p:nvSpPr>
        <p:spPr bwMode="auto">
          <a:xfrm>
            <a:off x="1467479" y="5594754"/>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94" name="Rectangle 224"/>
          <p:cNvSpPr>
            <a:spLocks noChangeArrowheads="1"/>
          </p:cNvSpPr>
          <p:nvPr/>
        </p:nvSpPr>
        <p:spPr bwMode="auto">
          <a:xfrm>
            <a:off x="533719" y="586288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195</a:t>
            </a:r>
          </a:p>
        </p:txBody>
      </p:sp>
      <p:sp>
        <p:nvSpPr>
          <p:cNvPr id="95" name="Rectangle 224"/>
          <p:cNvSpPr>
            <a:spLocks noChangeArrowheads="1"/>
          </p:cNvSpPr>
          <p:nvPr/>
        </p:nvSpPr>
        <p:spPr bwMode="auto">
          <a:xfrm>
            <a:off x="1467479" y="586288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212</a:t>
            </a:r>
          </a:p>
        </p:txBody>
      </p:sp>
      <p:sp>
        <p:nvSpPr>
          <p:cNvPr id="70" name="Rounded Rectangle 77"/>
          <p:cNvSpPr/>
          <p:nvPr/>
        </p:nvSpPr>
        <p:spPr>
          <a:xfrm>
            <a:off x="1403990" y="2776413"/>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Riesgos Laborales</a:t>
            </a:r>
          </a:p>
        </p:txBody>
      </p:sp>
      <p:sp>
        <p:nvSpPr>
          <p:cNvPr id="71" name="Rounded Rectangle 78"/>
          <p:cNvSpPr/>
          <p:nvPr/>
        </p:nvSpPr>
        <p:spPr>
          <a:xfrm>
            <a:off x="107524" y="2776413"/>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10</a:t>
            </a:r>
          </a:p>
        </p:txBody>
      </p:sp>
      <p:sp>
        <p:nvSpPr>
          <p:cNvPr id="72" name="Rounded Rectangle 79"/>
          <p:cNvSpPr/>
          <p:nvPr/>
        </p:nvSpPr>
        <p:spPr>
          <a:xfrm>
            <a:off x="2428132" y="2776413"/>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Incumplimiento de las políticas de reaseguro debido a la alta manualidad en el proceso suscripción. (P. ej. Error en la verificación de la edad del asegurado, error en la verificación de sueldos duplicados por gratificación, etc.)</a:t>
            </a:r>
            <a:endParaRPr lang="es-CL" sz="900" dirty="0">
              <a:solidFill>
                <a:schemeClr val="tx1"/>
              </a:solidFill>
            </a:endParaRPr>
          </a:p>
        </p:txBody>
      </p:sp>
      <p:sp>
        <p:nvSpPr>
          <p:cNvPr id="73" name="Rounded Rectangle 80"/>
          <p:cNvSpPr/>
          <p:nvPr/>
        </p:nvSpPr>
        <p:spPr>
          <a:xfrm>
            <a:off x="5706057" y="2776413"/>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256</a:t>
            </a:r>
          </a:p>
        </p:txBody>
      </p:sp>
      <p:sp>
        <p:nvSpPr>
          <p:cNvPr id="74" name="Rounded Rectangle 81"/>
          <p:cNvSpPr/>
          <p:nvPr/>
        </p:nvSpPr>
        <p:spPr>
          <a:xfrm>
            <a:off x="6555756" y="2776413"/>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4,357</a:t>
            </a:r>
          </a:p>
        </p:txBody>
      </p:sp>
      <p:sp>
        <p:nvSpPr>
          <p:cNvPr id="75" name="Rounded Rectangle 95"/>
          <p:cNvSpPr/>
          <p:nvPr/>
        </p:nvSpPr>
        <p:spPr>
          <a:xfrm>
            <a:off x="7423978" y="2776413"/>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a:t>
            </a:r>
          </a:p>
        </p:txBody>
      </p:sp>
      <p:sp>
        <p:nvSpPr>
          <p:cNvPr id="76" name="Rounded Rectangle 128"/>
          <p:cNvSpPr/>
          <p:nvPr/>
        </p:nvSpPr>
        <p:spPr>
          <a:xfrm>
            <a:off x="499913" y="2776413"/>
            <a:ext cx="866663"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Suscripción</a:t>
            </a:r>
          </a:p>
        </p:txBody>
      </p:sp>
      <p:sp>
        <p:nvSpPr>
          <p:cNvPr id="77" name="Rounded Rectangle 95"/>
          <p:cNvSpPr/>
          <p:nvPr/>
        </p:nvSpPr>
        <p:spPr>
          <a:xfrm>
            <a:off x="8246860" y="2776413"/>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7.1%</a:t>
            </a:r>
          </a:p>
        </p:txBody>
      </p:sp>
      <p:sp>
        <p:nvSpPr>
          <p:cNvPr id="78" name="Rounded Rectangle 68"/>
          <p:cNvSpPr/>
          <p:nvPr/>
        </p:nvSpPr>
        <p:spPr>
          <a:xfrm>
            <a:off x="56961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79" name="Rounded Rectangle 70"/>
          <p:cNvSpPr/>
          <p:nvPr/>
        </p:nvSpPr>
        <p:spPr>
          <a:xfrm>
            <a:off x="65458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80" name="Rounded Rectangle 92"/>
          <p:cNvSpPr/>
          <p:nvPr/>
        </p:nvSpPr>
        <p:spPr>
          <a:xfrm>
            <a:off x="73960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81" name="Rounded Rectangle 92"/>
          <p:cNvSpPr/>
          <p:nvPr/>
        </p:nvSpPr>
        <p:spPr>
          <a:xfrm>
            <a:off x="82369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4"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45"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10</a:t>
            </a:r>
          </a:p>
          <a:p>
            <a:pPr algn="ctr"/>
            <a:r>
              <a:rPr lang="es-PE" sz="800" b="1" dirty="0">
                <a:solidFill>
                  <a:schemeClr val="bg1"/>
                </a:solidFill>
              </a:rPr>
              <a:t>VaR acumulado</a:t>
            </a:r>
            <a:endParaRPr lang="en-US" sz="800" b="1" dirty="0">
              <a:solidFill>
                <a:schemeClr val="bg1"/>
              </a:solidFill>
            </a:endParaRPr>
          </a:p>
        </p:txBody>
      </p:sp>
      <p:sp>
        <p:nvSpPr>
          <p:cNvPr id="46"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43.5MM</a:t>
            </a:r>
          </a:p>
        </p:txBody>
      </p:sp>
      <p:sp>
        <p:nvSpPr>
          <p:cNvPr id="47"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10</a:t>
            </a:r>
          </a:p>
          <a:p>
            <a:pPr algn="ctr"/>
            <a:r>
              <a:rPr lang="es-PE" sz="800" b="1" dirty="0">
                <a:solidFill>
                  <a:schemeClr val="bg1"/>
                </a:solidFill>
              </a:rPr>
              <a:t>PEA acumulado</a:t>
            </a:r>
            <a:endParaRPr lang="en-US" sz="800" b="1" dirty="0">
              <a:solidFill>
                <a:schemeClr val="bg1"/>
              </a:solidFill>
            </a:endParaRPr>
          </a:p>
        </p:txBody>
      </p:sp>
      <p:sp>
        <p:nvSpPr>
          <p:cNvPr id="48"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21.2MM</a:t>
            </a:r>
          </a:p>
        </p:txBody>
      </p:sp>
      <p:sp>
        <p:nvSpPr>
          <p:cNvPr id="49"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51"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142468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64029"/>
            <a:ext cx="8627715" cy="587723"/>
          </a:xfrm>
        </p:spPr>
        <p:txBody>
          <a:bodyPr/>
          <a:lstStyle/>
          <a:p>
            <a:r>
              <a:rPr lang="es-PE" dirty="0"/>
              <a:t>Planes de Acción</a:t>
            </a:r>
          </a:p>
        </p:txBody>
      </p:sp>
      <p:pic>
        <p:nvPicPr>
          <p:cNvPr id="7" name="Picture 9"/>
          <p:cNvPicPr>
            <a:picLocks noChangeAspect="1" noChangeArrowheads="1"/>
          </p:cNvPicPr>
          <p:nvPr/>
        </p:nvPicPr>
        <p:blipFill>
          <a:blip r:embed="rId2" cstate="print"/>
          <a:srcRect/>
          <a:stretch>
            <a:fillRect/>
          </a:stretch>
        </p:blipFill>
        <p:spPr bwMode="auto">
          <a:xfrm>
            <a:off x="879246" y="2478225"/>
            <a:ext cx="3043238" cy="3044825"/>
          </a:xfrm>
          <a:prstGeom prst="rect">
            <a:avLst/>
          </a:prstGeom>
          <a:noFill/>
          <a:ln w="9525" algn="ctr">
            <a:noFill/>
            <a:miter lim="800000"/>
            <a:headEnd/>
            <a:tailEnd/>
          </a:ln>
          <a:effectLst/>
        </p:spPr>
      </p:pic>
      <p:sp>
        <p:nvSpPr>
          <p:cNvPr id="8" name="Text Box 10"/>
          <p:cNvSpPr txBox="1">
            <a:spLocks noChangeArrowheads="1"/>
          </p:cNvSpPr>
          <p:nvPr/>
        </p:nvSpPr>
        <p:spPr bwMode="auto">
          <a:xfrm>
            <a:off x="387911" y="4600712"/>
            <a:ext cx="543739" cy="246221"/>
          </a:xfrm>
          <a:prstGeom prst="rect">
            <a:avLst/>
          </a:prstGeom>
          <a:noFill/>
          <a:ln w="9525" algn="ctr">
            <a:noFill/>
            <a:miter lim="800000"/>
            <a:headEnd/>
            <a:tailEnd/>
          </a:ln>
          <a:effectLst/>
        </p:spPr>
        <p:txBody>
          <a:bodyPr wrap="none">
            <a:spAutoFit/>
          </a:bodyPr>
          <a:lstStyle/>
          <a:p>
            <a:pPr algn="r"/>
            <a:r>
              <a:rPr lang="es-ES" sz="1000" dirty="0"/>
              <a:t>&lt;1,000</a:t>
            </a:r>
            <a:endParaRPr lang="en-US" sz="1000" dirty="0"/>
          </a:p>
        </p:txBody>
      </p:sp>
      <p:sp>
        <p:nvSpPr>
          <p:cNvPr id="9" name="Text Box 11"/>
          <p:cNvSpPr txBox="1">
            <a:spLocks noChangeArrowheads="1"/>
          </p:cNvSpPr>
          <p:nvPr/>
        </p:nvSpPr>
        <p:spPr bwMode="auto">
          <a:xfrm>
            <a:off x="322188" y="3854587"/>
            <a:ext cx="609462" cy="246221"/>
          </a:xfrm>
          <a:prstGeom prst="rect">
            <a:avLst/>
          </a:prstGeom>
          <a:noFill/>
          <a:ln w="9525" algn="ctr">
            <a:noFill/>
            <a:miter lim="800000"/>
            <a:headEnd/>
            <a:tailEnd/>
          </a:ln>
          <a:effectLst/>
        </p:spPr>
        <p:txBody>
          <a:bodyPr wrap="none">
            <a:spAutoFit/>
          </a:bodyPr>
          <a:lstStyle/>
          <a:p>
            <a:pPr algn="r"/>
            <a:r>
              <a:rPr lang="es-ES" sz="1000" dirty="0"/>
              <a:t>&lt;10,000</a:t>
            </a:r>
            <a:endParaRPr lang="en-US" sz="1000" dirty="0"/>
          </a:p>
        </p:txBody>
      </p:sp>
      <p:sp>
        <p:nvSpPr>
          <p:cNvPr id="10" name="Text Box 12"/>
          <p:cNvSpPr txBox="1">
            <a:spLocks noChangeArrowheads="1"/>
          </p:cNvSpPr>
          <p:nvPr/>
        </p:nvSpPr>
        <p:spPr bwMode="auto">
          <a:xfrm>
            <a:off x="322188" y="3100525"/>
            <a:ext cx="609462" cy="246221"/>
          </a:xfrm>
          <a:prstGeom prst="rect">
            <a:avLst/>
          </a:prstGeom>
          <a:noFill/>
          <a:ln w="9525" algn="ctr">
            <a:noFill/>
            <a:miter lim="800000"/>
            <a:headEnd/>
            <a:tailEnd/>
          </a:ln>
          <a:effectLst/>
        </p:spPr>
        <p:txBody>
          <a:bodyPr wrap="none">
            <a:spAutoFit/>
          </a:bodyPr>
          <a:lstStyle/>
          <a:p>
            <a:pPr algn="r"/>
            <a:r>
              <a:rPr lang="es-ES" sz="1000" dirty="0"/>
              <a:t>&lt;30,000</a:t>
            </a:r>
            <a:endParaRPr lang="en-US" sz="1000" dirty="0"/>
          </a:p>
        </p:txBody>
      </p:sp>
      <p:sp>
        <p:nvSpPr>
          <p:cNvPr id="11" name="Text Box 13"/>
          <p:cNvSpPr txBox="1">
            <a:spLocks noChangeArrowheads="1"/>
          </p:cNvSpPr>
          <p:nvPr/>
        </p:nvSpPr>
        <p:spPr bwMode="auto">
          <a:xfrm>
            <a:off x="1407438" y="5505904"/>
            <a:ext cx="543739" cy="246221"/>
          </a:xfrm>
          <a:prstGeom prst="rect">
            <a:avLst/>
          </a:prstGeom>
          <a:noFill/>
          <a:ln w="9525" algn="ctr">
            <a:noFill/>
            <a:miter lim="800000"/>
            <a:headEnd/>
            <a:tailEnd/>
          </a:ln>
          <a:effectLst/>
        </p:spPr>
        <p:txBody>
          <a:bodyPr wrap="none">
            <a:spAutoFit/>
          </a:bodyPr>
          <a:lstStyle/>
          <a:p>
            <a:r>
              <a:rPr lang="es-ES" sz="1000" dirty="0"/>
              <a:t>&lt;1,000</a:t>
            </a:r>
            <a:endParaRPr lang="en-US" sz="1000" dirty="0"/>
          </a:p>
        </p:txBody>
      </p:sp>
      <p:sp>
        <p:nvSpPr>
          <p:cNvPr id="12" name="Text Box 14"/>
          <p:cNvSpPr txBox="1">
            <a:spLocks noChangeArrowheads="1"/>
          </p:cNvSpPr>
          <p:nvPr/>
        </p:nvSpPr>
        <p:spPr bwMode="auto">
          <a:xfrm>
            <a:off x="2104796" y="5499237"/>
            <a:ext cx="543739" cy="246221"/>
          </a:xfrm>
          <a:prstGeom prst="rect">
            <a:avLst/>
          </a:prstGeom>
          <a:noFill/>
          <a:ln w="9525" algn="ctr">
            <a:noFill/>
            <a:miter lim="800000"/>
            <a:headEnd/>
            <a:tailEnd/>
          </a:ln>
          <a:effectLst/>
        </p:spPr>
        <p:txBody>
          <a:bodyPr wrap="none">
            <a:spAutoFit/>
          </a:bodyPr>
          <a:lstStyle/>
          <a:p>
            <a:r>
              <a:rPr lang="es-ES" sz="1000" dirty="0"/>
              <a:t>&lt;5,000</a:t>
            </a:r>
            <a:endParaRPr lang="en-US" sz="1000" dirty="0"/>
          </a:p>
        </p:txBody>
      </p:sp>
      <p:sp>
        <p:nvSpPr>
          <p:cNvPr id="13" name="Text Box 15"/>
          <p:cNvSpPr txBox="1">
            <a:spLocks noChangeArrowheads="1"/>
          </p:cNvSpPr>
          <p:nvPr/>
        </p:nvSpPr>
        <p:spPr bwMode="auto">
          <a:xfrm>
            <a:off x="2825521" y="5499237"/>
            <a:ext cx="609462" cy="246221"/>
          </a:xfrm>
          <a:prstGeom prst="rect">
            <a:avLst/>
          </a:prstGeom>
          <a:noFill/>
          <a:ln w="9525" algn="ctr">
            <a:noFill/>
            <a:miter lim="800000"/>
            <a:headEnd/>
            <a:tailEnd/>
          </a:ln>
          <a:effectLst/>
        </p:spPr>
        <p:txBody>
          <a:bodyPr wrap="none">
            <a:spAutoFit/>
          </a:bodyPr>
          <a:lstStyle/>
          <a:p>
            <a:r>
              <a:rPr lang="es-ES" sz="1000" dirty="0"/>
              <a:t>&lt;15,000</a:t>
            </a:r>
            <a:endParaRPr lang="en-US" sz="1000" dirty="0"/>
          </a:p>
        </p:txBody>
      </p:sp>
      <p:sp>
        <p:nvSpPr>
          <p:cNvPr id="14" name="AutoShape 16"/>
          <p:cNvSpPr>
            <a:spLocks noChangeArrowheads="1"/>
          </p:cNvSpPr>
          <p:nvPr/>
        </p:nvSpPr>
        <p:spPr bwMode="auto">
          <a:xfrm>
            <a:off x="4358662" y="2484555"/>
            <a:ext cx="509822" cy="3097212"/>
          </a:xfrm>
          <a:prstGeom prst="homePlate">
            <a:avLst>
              <a:gd name="adj" fmla="val 32356"/>
            </a:avLst>
          </a:prstGeom>
          <a:solidFill>
            <a:schemeClr val="tx1">
              <a:lumMod val="10000"/>
              <a:lumOff val="90000"/>
            </a:schemeClr>
          </a:solidFill>
          <a:ln w="9525" algn="ctr">
            <a:noFill/>
            <a:miter lim="800000"/>
            <a:headEnd/>
            <a:tailEnd/>
          </a:ln>
          <a:effectLst>
            <a:prstShdw prst="shdw17" dist="17961" dir="2700000">
              <a:srgbClr val="ECECEC">
                <a:gamma/>
                <a:shade val="60000"/>
                <a:invGamma/>
              </a:srgbClr>
            </a:prstShdw>
          </a:effectLst>
        </p:spPr>
        <p:txBody>
          <a:bodyPr rot="10800000" vert="eaVert" anchor="ctr"/>
          <a:lstStyle/>
          <a:p>
            <a:pPr algn="ctr">
              <a:lnSpc>
                <a:spcPct val="90000"/>
              </a:lnSpc>
            </a:pPr>
            <a:r>
              <a:rPr lang="es-ES" sz="1100" b="1" dirty="0">
                <a:cs typeface="Arial" pitchFamily="34" charset="0"/>
              </a:rPr>
              <a:t>Planes de Acción</a:t>
            </a:r>
          </a:p>
        </p:txBody>
      </p:sp>
      <p:sp>
        <p:nvSpPr>
          <p:cNvPr id="16" name="Oval 90"/>
          <p:cNvSpPr>
            <a:spLocks noChangeArrowheads="1"/>
          </p:cNvSpPr>
          <p:nvPr/>
        </p:nvSpPr>
        <p:spPr bwMode="auto">
          <a:xfrm>
            <a:off x="1014221" y="5214187"/>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20" name="Text Box 34"/>
          <p:cNvSpPr txBox="1">
            <a:spLocks noChangeArrowheads="1"/>
          </p:cNvSpPr>
          <p:nvPr/>
        </p:nvSpPr>
        <p:spPr bwMode="auto">
          <a:xfrm>
            <a:off x="296254" y="2381387"/>
            <a:ext cx="823152" cy="369332"/>
          </a:xfrm>
          <a:prstGeom prst="rect">
            <a:avLst/>
          </a:prstGeom>
          <a:noFill/>
          <a:ln w="9525" algn="ctr">
            <a:noFill/>
            <a:miter lim="800000"/>
            <a:headEnd/>
            <a:tailEnd/>
          </a:ln>
          <a:effectLst/>
        </p:spPr>
        <p:txBody>
          <a:bodyPr wrap="square">
            <a:spAutoFit/>
          </a:bodyPr>
          <a:lstStyle/>
          <a:p>
            <a:r>
              <a:rPr lang="es-ES" sz="900" b="1" i="1" dirty="0"/>
              <a:t>PMA</a:t>
            </a:r>
          </a:p>
          <a:p>
            <a:r>
              <a:rPr lang="es-ES" sz="900" b="1" i="1" dirty="0"/>
              <a:t>(Miles)</a:t>
            </a:r>
            <a:endParaRPr lang="en-US" sz="900" b="1" i="1" dirty="0"/>
          </a:p>
        </p:txBody>
      </p:sp>
      <p:sp>
        <p:nvSpPr>
          <p:cNvPr id="22" name="Text Box 35"/>
          <p:cNvSpPr txBox="1">
            <a:spLocks noChangeArrowheads="1"/>
          </p:cNvSpPr>
          <p:nvPr/>
        </p:nvSpPr>
        <p:spPr bwMode="auto">
          <a:xfrm>
            <a:off x="3523488" y="5517281"/>
            <a:ext cx="780724" cy="230832"/>
          </a:xfrm>
          <a:prstGeom prst="rect">
            <a:avLst/>
          </a:prstGeom>
          <a:noFill/>
          <a:ln w="9525" algn="ctr">
            <a:noFill/>
            <a:miter lim="800000"/>
            <a:headEnd/>
            <a:tailEnd/>
          </a:ln>
          <a:effectLst/>
        </p:spPr>
        <p:txBody>
          <a:bodyPr wrap="square">
            <a:spAutoFit/>
          </a:bodyPr>
          <a:lstStyle/>
          <a:p>
            <a:r>
              <a:rPr lang="es-ES" sz="900" b="1" i="1" dirty="0"/>
              <a:t>PEA (Miles)</a:t>
            </a:r>
            <a:endParaRPr lang="en-US" sz="900" b="1" i="1" dirty="0"/>
          </a:p>
        </p:txBody>
      </p:sp>
      <p:pic>
        <p:nvPicPr>
          <p:cNvPr id="25" name="Picture 9"/>
          <p:cNvPicPr>
            <a:picLocks noChangeAspect="1" noChangeArrowheads="1"/>
          </p:cNvPicPr>
          <p:nvPr/>
        </p:nvPicPr>
        <p:blipFill>
          <a:blip r:embed="rId2" cstate="print"/>
          <a:srcRect/>
          <a:stretch>
            <a:fillRect/>
          </a:stretch>
        </p:blipFill>
        <p:spPr bwMode="auto">
          <a:xfrm>
            <a:off x="5556167" y="2476500"/>
            <a:ext cx="3043238" cy="3044825"/>
          </a:xfrm>
          <a:prstGeom prst="rect">
            <a:avLst/>
          </a:prstGeom>
          <a:noFill/>
          <a:ln w="9525" algn="ctr">
            <a:noFill/>
            <a:miter lim="800000"/>
            <a:headEnd/>
            <a:tailEnd/>
          </a:ln>
          <a:effectLst/>
        </p:spPr>
      </p:pic>
      <p:sp>
        <p:nvSpPr>
          <p:cNvPr id="26" name="Text Box 10"/>
          <p:cNvSpPr txBox="1">
            <a:spLocks noChangeArrowheads="1"/>
          </p:cNvSpPr>
          <p:nvPr/>
        </p:nvSpPr>
        <p:spPr bwMode="auto">
          <a:xfrm>
            <a:off x="5064832" y="4598987"/>
            <a:ext cx="543739" cy="246221"/>
          </a:xfrm>
          <a:prstGeom prst="rect">
            <a:avLst/>
          </a:prstGeom>
          <a:noFill/>
          <a:ln w="9525" algn="ctr">
            <a:noFill/>
            <a:miter lim="800000"/>
            <a:headEnd/>
            <a:tailEnd/>
          </a:ln>
          <a:effectLst/>
        </p:spPr>
        <p:txBody>
          <a:bodyPr wrap="none">
            <a:spAutoFit/>
          </a:bodyPr>
          <a:lstStyle/>
          <a:p>
            <a:pPr algn="r"/>
            <a:r>
              <a:rPr lang="es-ES" sz="1000" dirty="0"/>
              <a:t>&lt;1,000</a:t>
            </a:r>
            <a:endParaRPr lang="en-US" sz="1000" dirty="0"/>
          </a:p>
        </p:txBody>
      </p:sp>
      <p:sp>
        <p:nvSpPr>
          <p:cNvPr id="27" name="Text Box 11"/>
          <p:cNvSpPr txBox="1">
            <a:spLocks noChangeArrowheads="1"/>
          </p:cNvSpPr>
          <p:nvPr/>
        </p:nvSpPr>
        <p:spPr bwMode="auto">
          <a:xfrm>
            <a:off x="4999109" y="3852862"/>
            <a:ext cx="609462" cy="246221"/>
          </a:xfrm>
          <a:prstGeom prst="rect">
            <a:avLst/>
          </a:prstGeom>
          <a:noFill/>
          <a:ln w="9525" algn="ctr">
            <a:noFill/>
            <a:miter lim="800000"/>
            <a:headEnd/>
            <a:tailEnd/>
          </a:ln>
          <a:effectLst/>
        </p:spPr>
        <p:txBody>
          <a:bodyPr wrap="none">
            <a:spAutoFit/>
          </a:bodyPr>
          <a:lstStyle/>
          <a:p>
            <a:pPr algn="r"/>
            <a:r>
              <a:rPr lang="es-ES" sz="1000" dirty="0"/>
              <a:t>&lt;10,000</a:t>
            </a:r>
            <a:endParaRPr lang="en-US" sz="1000" dirty="0"/>
          </a:p>
        </p:txBody>
      </p:sp>
      <p:sp>
        <p:nvSpPr>
          <p:cNvPr id="28" name="Text Box 12"/>
          <p:cNvSpPr txBox="1">
            <a:spLocks noChangeArrowheads="1"/>
          </p:cNvSpPr>
          <p:nvPr/>
        </p:nvSpPr>
        <p:spPr bwMode="auto">
          <a:xfrm>
            <a:off x="4999109" y="3098800"/>
            <a:ext cx="609462" cy="246221"/>
          </a:xfrm>
          <a:prstGeom prst="rect">
            <a:avLst/>
          </a:prstGeom>
          <a:noFill/>
          <a:ln w="9525" algn="ctr">
            <a:noFill/>
            <a:miter lim="800000"/>
            <a:headEnd/>
            <a:tailEnd/>
          </a:ln>
          <a:effectLst/>
        </p:spPr>
        <p:txBody>
          <a:bodyPr wrap="none">
            <a:spAutoFit/>
          </a:bodyPr>
          <a:lstStyle/>
          <a:p>
            <a:pPr algn="r"/>
            <a:r>
              <a:rPr lang="es-ES" sz="1000" dirty="0"/>
              <a:t>&lt;30,000</a:t>
            </a:r>
            <a:endParaRPr lang="en-US" sz="1000" dirty="0"/>
          </a:p>
        </p:txBody>
      </p:sp>
      <p:sp>
        <p:nvSpPr>
          <p:cNvPr id="29" name="Text Box 13"/>
          <p:cNvSpPr txBox="1">
            <a:spLocks noChangeArrowheads="1"/>
          </p:cNvSpPr>
          <p:nvPr/>
        </p:nvSpPr>
        <p:spPr bwMode="auto">
          <a:xfrm>
            <a:off x="6084359" y="5504179"/>
            <a:ext cx="543739" cy="246221"/>
          </a:xfrm>
          <a:prstGeom prst="rect">
            <a:avLst/>
          </a:prstGeom>
          <a:noFill/>
          <a:ln w="9525" algn="ctr">
            <a:noFill/>
            <a:miter lim="800000"/>
            <a:headEnd/>
            <a:tailEnd/>
          </a:ln>
          <a:effectLst/>
        </p:spPr>
        <p:txBody>
          <a:bodyPr wrap="none">
            <a:spAutoFit/>
          </a:bodyPr>
          <a:lstStyle/>
          <a:p>
            <a:r>
              <a:rPr lang="es-ES" sz="1000" dirty="0"/>
              <a:t>&lt;1,000</a:t>
            </a:r>
            <a:endParaRPr lang="en-US" sz="1000" dirty="0"/>
          </a:p>
        </p:txBody>
      </p:sp>
      <p:sp>
        <p:nvSpPr>
          <p:cNvPr id="30" name="Text Box 14"/>
          <p:cNvSpPr txBox="1">
            <a:spLocks noChangeArrowheads="1"/>
          </p:cNvSpPr>
          <p:nvPr/>
        </p:nvSpPr>
        <p:spPr bwMode="auto">
          <a:xfrm>
            <a:off x="6781717" y="5497512"/>
            <a:ext cx="543739" cy="246221"/>
          </a:xfrm>
          <a:prstGeom prst="rect">
            <a:avLst/>
          </a:prstGeom>
          <a:noFill/>
          <a:ln w="9525" algn="ctr">
            <a:noFill/>
            <a:miter lim="800000"/>
            <a:headEnd/>
            <a:tailEnd/>
          </a:ln>
          <a:effectLst/>
        </p:spPr>
        <p:txBody>
          <a:bodyPr wrap="none">
            <a:spAutoFit/>
          </a:bodyPr>
          <a:lstStyle/>
          <a:p>
            <a:r>
              <a:rPr lang="es-ES" sz="1000" dirty="0"/>
              <a:t>&lt;5,000</a:t>
            </a:r>
            <a:endParaRPr lang="en-US" sz="1000" dirty="0"/>
          </a:p>
        </p:txBody>
      </p:sp>
      <p:sp>
        <p:nvSpPr>
          <p:cNvPr id="31" name="Text Box 15"/>
          <p:cNvSpPr txBox="1">
            <a:spLocks noChangeArrowheads="1"/>
          </p:cNvSpPr>
          <p:nvPr/>
        </p:nvSpPr>
        <p:spPr bwMode="auto">
          <a:xfrm>
            <a:off x="7502442" y="5497512"/>
            <a:ext cx="609462" cy="246221"/>
          </a:xfrm>
          <a:prstGeom prst="rect">
            <a:avLst/>
          </a:prstGeom>
          <a:noFill/>
          <a:ln w="9525" algn="ctr">
            <a:noFill/>
            <a:miter lim="800000"/>
            <a:headEnd/>
            <a:tailEnd/>
          </a:ln>
          <a:effectLst/>
        </p:spPr>
        <p:txBody>
          <a:bodyPr wrap="none">
            <a:spAutoFit/>
          </a:bodyPr>
          <a:lstStyle/>
          <a:p>
            <a:r>
              <a:rPr lang="es-ES" sz="1000" dirty="0"/>
              <a:t>&lt;15,000</a:t>
            </a:r>
            <a:endParaRPr lang="en-US" sz="1000" dirty="0"/>
          </a:p>
        </p:txBody>
      </p:sp>
      <p:sp>
        <p:nvSpPr>
          <p:cNvPr id="38" name="Text Box 34"/>
          <p:cNvSpPr txBox="1">
            <a:spLocks noChangeArrowheads="1"/>
          </p:cNvSpPr>
          <p:nvPr/>
        </p:nvSpPr>
        <p:spPr bwMode="auto">
          <a:xfrm>
            <a:off x="4973175" y="2379662"/>
            <a:ext cx="823152" cy="369332"/>
          </a:xfrm>
          <a:prstGeom prst="rect">
            <a:avLst/>
          </a:prstGeom>
          <a:noFill/>
          <a:ln w="9525" algn="ctr">
            <a:noFill/>
            <a:miter lim="800000"/>
            <a:headEnd/>
            <a:tailEnd/>
          </a:ln>
          <a:effectLst/>
        </p:spPr>
        <p:txBody>
          <a:bodyPr wrap="square">
            <a:spAutoFit/>
          </a:bodyPr>
          <a:lstStyle/>
          <a:p>
            <a:r>
              <a:rPr lang="es-ES" sz="900" b="1" i="1" dirty="0"/>
              <a:t>PMA</a:t>
            </a:r>
          </a:p>
          <a:p>
            <a:r>
              <a:rPr lang="es-ES" sz="900" b="1" i="1" dirty="0"/>
              <a:t>(Miles)</a:t>
            </a:r>
            <a:endParaRPr lang="en-US" sz="900" b="1" i="1" dirty="0"/>
          </a:p>
        </p:txBody>
      </p:sp>
      <p:sp>
        <p:nvSpPr>
          <p:cNvPr id="46" name="Oval 90"/>
          <p:cNvSpPr>
            <a:spLocks noChangeArrowheads="1"/>
          </p:cNvSpPr>
          <p:nvPr/>
        </p:nvSpPr>
        <p:spPr bwMode="auto">
          <a:xfrm>
            <a:off x="1005410" y="5043560"/>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7</a:t>
            </a:r>
          </a:p>
        </p:txBody>
      </p:sp>
      <p:sp>
        <p:nvSpPr>
          <p:cNvPr id="50" name="Oval 90"/>
          <p:cNvSpPr>
            <a:spLocks noChangeArrowheads="1"/>
          </p:cNvSpPr>
          <p:nvPr/>
        </p:nvSpPr>
        <p:spPr bwMode="auto">
          <a:xfrm>
            <a:off x="1123950" y="4399841"/>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6</a:t>
            </a:r>
          </a:p>
        </p:txBody>
      </p:sp>
      <p:sp>
        <p:nvSpPr>
          <p:cNvPr id="67" name="Rectangle 29"/>
          <p:cNvSpPr txBox="1">
            <a:spLocks noChangeArrowheads="1"/>
          </p:cNvSpPr>
          <p:nvPr/>
        </p:nvSpPr>
        <p:spPr bwMode="gray">
          <a:xfrm>
            <a:off x="293254" y="764704"/>
            <a:ext cx="4060100"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noProof="0" dirty="0">
                <a:solidFill>
                  <a:schemeClr val="tx1">
                    <a:lumMod val="65000"/>
                    <a:lumOff val="35000"/>
                  </a:schemeClr>
                </a:solidFill>
                <a:latin typeface="+mj-lt"/>
                <a:sym typeface="Wingdings" pitchFamily="2" charset="2"/>
              </a:rPr>
              <a:t>Exposición Riesgo Residual</a:t>
            </a:r>
            <a:endParaRPr kumimoji="0" lang="es-ES_tradnl" sz="1800" b="1" i="0" u="none" strike="noStrike" kern="0" cap="none" spc="0" normalizeH="0" baseline="30000" noProof="0" dirty="0">
              <a:ln>
                <a:noFill/>
              </a:ln>
              <a:solidFill>
                <a:schemeClr val="tx1">
                  <a:lumMod val="65000"/>
                  <a:lumOff val="35000"/>
                </a:schemeClr>
              </a:solidFill>
              <a:effectLst/>
              <a:uLnTx/>
              <a:uFillTx/>
              <a:latin typeface="+mj-lt"/>
              <a:ea typeface="+mj-ea"/>
              <a:cs typeface="+mj-cs"/>
            </a:endParaRPr>
          </a:p>
        </p:txBody>
      </p:sp>
      <p:sp>
        <p:nvSpPr>
          <p:cNvPr id="68" name="Rectangle 29"/>
          <p:cNvSpPr txBox="1">
            <a:spLocks noChangeArrowheads="1"/>
          </p:cNvSpPr>
          <p:nvPr/>
        </p:nvSpPr>
        <p:spPr bwMode="gray">
          <a:xfrm>
            <a:off x="4871595" y="764704"/>
            <a:ext cx="4272405"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noProof="0" dirty="0">
                <a:solidFill>
                  <a:schemeClr val="tx1">
                    <a:lumMod val="65000"/>
                    <a:lumOff val="35000"/>
                  </a:schemeClr>
                </a:solidFill>
                <a:latin typeface="+mj-lt"/>
                <a:sym typeface="Wingdings" pitchFamily="2" charset="2"/>
              </a:rPr>
              <a:t>Exposición Riesgo Residual con Planes de Acción</a:t>
            </a:r>
            <a:endParaRPr kumimoji="0" lang="es-ES_tradnl" sz="1800" b="1" i="0" u="none" strike="noStrike" kern="0" cap="none" spc="0" normalizeH="0" baseline="-25000" noProof="0" dirty="0">
              <a:ln>
                <a:noFill/>
              </a:ln>
              <a:solidFill>
                <a:schemeClr val="tx1">
                  <a:lumMod val="65000"/>
                  <a:lumOff val="35000"/>
                </a:schemeClr>
              </a:solidFill>
              <a:effectLst/>
              <a:uLnTx/>
              <a:uFillTx/>
              <a:latin typeface="+mj-lt"/>
              <a:ea typeface="+mj-ea"/>
              <a:cs typeface="+mj-cs"/>
            </a:endParaRPr>
          </a:p>
        </p:txBody>
      </p:sp>
      <p:sp>
        <p:nvSpPr>
          <p:cNvPr id="118" name="Text Box 24"/>
          <p:cNvSpPr txBox="1">
            <a:spLocks noChangeArrowheads="1"/>
          </p:cNvSpPr>
          <p:nvPr/>
        </p:nvSpPr>
        <p:spPr bwMode="auto">
          <a:xfrm>
            <a:off x="2054338" y="1629361"/>
            <a:ext cx="338554" cy="215444"/>
          </a:xfrm>
          <a:prstGeom prst="rect">
            <a:avLst/>
          </a:prstGeom>
          <a:solidFill>
            <a:schemeClr val="bg1"/>
          </a:solidFill>
          <a:ln w="9525" algn="ctr">
            <a:noFill/>
            <a:miter lim="800000"/>
            <a:headEnd/>
            <a:tailEnd/>
          </a:ln>
          <a:effectLst/>
        </p:spPr>
        <p:txBody>
          <a:bodyPr wrap="none">
            <a:spAutoFit/>
          </a:bodyPr>
          <a:lstStyle/>
          <a:p>
            <a:r>
              <a:rPr lang="es-ES" sz="800" dirty="0">
                <a:solidFill>
                  <a:schemeClr val="bg2"/>
                </a:solidFill>
              </a:rPr>
              <a:t>&lt;22</a:t>
            </a:r>
            <a:endParaRPr lang="en-US" sz="800" dirty="0">
              <a:solidFill>
                <a:schemeClr val="bg2"/>
              </a:solidFill>
            </a:endParaRPr>
          </a:p>
        </p:txBody>
      </p:sp>
      <p:sp>
        <p:nvSpPr>
          <p:cNvPr id="137" name="AutoShape 179"/>
          <p:cNvSpPr>
            <a:spLocks noChangeArrowheads="1"/>
          </p:cNvSpPr>
          <p:nvPr/>
        </p:nvSpPr>
        <p:spPr bwMode="auto">
          <a:xfrm>
            <a:off x="405955" y="1206798"/>
            <a:ext cx="3516529" cy="1021071"/>
          </a:xfrm>
          <a:prstGeom prst="roundRect">
            <a:avLst>
              <a:gd name="adj" fmla="val 9481"/>
            </a:avLst>
          </a:prstGeom>
          <a:solidFill>
            <a:schemeClr val="bg1">
              <a:lumMod val="75000"/>
              <a:alpha val="69000"/>
            </a:schemeClr>
          </a:solidFill>
          <a:ln w="9525" algn="ctr">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2060"/>
              </a:solidFill>
              <a:effectLst/>
              <a:uLnTx/>
              <a:uFillTx/>
            </a:endParaRPr>
          </a:p>
        </p:txBody>
      </p:sp>
      <p:sp>
        <p:nvSpPr>
          <p:cNvPr id="138" name="AutoShape 182"/>
          <p:cNvSpPr>
            <a:spLocks noChangeArrowheads="1"/>
          </p:cNvSpPr>
          <p:nvPr/>
        </p:nvSpPr>
        <p:spPr bwMode="auto">
          <a:xfrm>
            <a:off x="482705" y="1262889"/>
            <a:ext cx="2342816" cy="255588"/>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PEA Acumulada Top 10</a:t>
            </a:r>
            <a:endParaRPr lang="en-US" sz="1200" dirty="0">
              <a:solidFill>
                <a:schemeClr val="bg1"/>
              </a:solidFill>
            </a:endParaRPr>
          </a:p>
        </p:txBody>
      </p:sp>
      <p:sp>
        <p:nvSpPr>
          <p:cNvPr id="139" name="AutoShape 183"/>
          <p:cNvSpPr>
            <a:spLocks noChangeArrowheads="1"/>
          </p:cNvSpPr>
          <p:nvPr/>
        </p:nvSpPr>
        <p:spPr bwMode="auto">
          <a:xfrm>
            <a:off x="2768008" y="1262888"/>
            <a:ext cx="985514" cy="255588"/>
          </a:xfrm>
          <a:prstGeom prst="roundRect">
            <a:avLst>
              <a:gd name="adj" fmla="val 7157"/>
            </a:avLst>
          </a:prstGeom>
          <a:solidFill>
            <a:srgbClr val="FFFFFF"/>
          </a:solidFill>
          <a:ln w="9525" algn="ctr">
            <a:noFill/>
            <a:round/>
            <a:headEnd/>
            <a:tailEnd/>
          </a:ln>
          <a:effectLst/>
        </p:spPr>
        <p:txBody>
          <a:bodyPr anchor="ctr"/>
          <a:lstStyle/>
          <a:p>
            <a:pPr algn="ctr"/>
            <a:r>
              <a:rPr lang="en-US" sz="1200" dirty="0"/>
              <a:t>S/.21.2MM</a:t>
            </a:r>
          </a:p>
        </p:txBody>
      </p:sp>
      <p:sp>
        <p:nvSpPr>
          <p:cNvPr id="140" name="AutoShape 185"/>
          <p:cNvSpPr>
            <a:spLocks noChangeArrowheads="1"/>
          </p:cNvSpPr>
          <p:nvPr/>
        </p:nvSpPr>
        <p:spPr bwMode="auto">
          <a:xfrm>
            <a:off x="482705" y="1591501"/>
            <a:ext cx="2342816" cy="235078"/>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PMA Acumulada Top 10</a:t>
            </a:r>
            <a:endParaRPr lang="en-US" sz="1200" dirty="0">
              <a:solidFill>
                <a:schemeClr val="bg1"/>
              </a:solidFill>
            </a:endParaRPr>
          </a:p>
        </p:txBody>
      </p:sp>
      <p:sp>
        <p:nvSpPr>
          <p:cNvPr id="141" name="AutoShape 186"/>
          <p:cNvSpPr>
            <a:spLocks noChangeArrowheads="1"/>
          </p:cNvSpPr>
          <p:nvPr/>
        </p:nvSpPr>
        <p:spPr bwMode="auto">
          <a:xfrm>
            <a:off x="2768008" y="1591501"/>
            <a:ext cx="985514" cy="234950"/>
          </a:xfrm>
          <a:prstGeom prst="roundRect">
            <a:avLst>
              <a:gd name="adj" fmla="val 7157"/>
            </a:avLst>
          </a:prstGeom>
          <a:solidFill>
            <a:srgbClr val="FFFFFF"/>
          </a:solidFill>
          <a:ln w="9525" algn="ctr">
            <a:noFill/>
            <a:round/>
            <a:headEnd/>
            <a:tailEnd/>
          </a:ln>
          <a:effectLst/>
        </p:spPr>
        <p:txBody>
          <a:bodyPr anchor="ctr"/>
          <a:lstStyle/>
          <a:p>
            <a:pPr algn="ctr"/>
            <a:r>
              <a:rPr lang="en-US" sz="1200" dirty="0"/>
              <a:t>S/.43.5MM</a:t>
            </a:r>
          </a:p>
        </p:txBody>
      </p:sp>
      <p:sp>
        <p:nvSpPr>
          <p:cNvPr id="142" name="AutoShape 188"/>
          <p:cNvSpPr>
            <a:spLocks noChangeArrowheads="1"/>
          </p:cNvSpPr>
          <p:nvPr/>
        </p:nvSpPr>
        <p:spPr bwMode="auto">
          <a:xfrm>
            <a:off x="481118" y="1899476"/>
            <a:ext cx="2342816" cy="235078"/>
          </a:xfrm>
          <a:prstGeom prst="roundRect">
            <a:avLst>
              <a:gd name="adj" fmla="val 7157"/>
            </a:avLst>
          </a:prstGeom>
          <a:solidFill>
            <a:srgbClr val="DB0613"/>
          </a:solidFill>
          <a:ln w="9525" algn="ctr">
            <a:noFill/>
            <a:miter lim="800000"/>
            <a:headEnd/>
            <a:tailEnd/>
          </a:ln>
          <a:effectLst/>
        </p:spPr>
        <p:txBody>
          <a:bodyPr wrap="none" anchor="ctr"/>
          <a:lstStyle/>
          <a:p>
            <a:r>
              <a:rPr lang="es-CL" sz="1200" dirty="0">
                <a:solidFill>
                  <a:schemeClr val="bg1"/>
                </a:solidFill>
              </a:rPr>
              <a:t>Riesgos con alta exposición</a:t>
            </a:r>
            <a:endParaRPr lang="en-US" sz="1200" dirty="0">
              <a:solidFill>
                <a:schemeClr val="bg1"/>
              </a:solidFill>
            </a:endParaRPr>
          </a:p>
        </p:txBody>
      </p:sp>
      <p:sp>
        <p:nvSpPr>
          <p:cNvPr id="143" name="AutoShape 189"/>
          <p:cNvSpPr>
            <a:spLocks noChangeArrowheads="1"/>
          </p:cNvSpPr>
          <p:nvPr/>
        </p:nvSpPr>
        <p:spPr bwMode="auto">
          <a:xfrm>
            <a:off x="2766421" y="1899476"/>
            <a:ext cx="985514" cy="234950"/>
          </a:xfrm>
          <a:prstGeom prst="roundRect">
            <a:avLst>
              <a:gd name="adj" fmla="val 7157"/>
            </a:avLst>
          </a:prstGeom>
          <a:solidFill>
            <a:srgbClr val="FFFFFF"/>
          </a:solidFill>
          <a:ln w="9525" algn="ctr">
            <a:noFill/>
            <a:round/>
            <a:headEnd/>
            <a:tailEnd/>
          </a:ln>
          <a:effectLst/>
        </p:spPr>
        <p:txBody>
          <a:bodyPr anchor="ctr"/>
          <a:lstStyle/>
          <a:p>
            <a:pPr algn="ctr"/>
            <a:r>
              <a:rPr lang="en-US" sz="1200" b="1" kern="0" dirty="0">
                <a:solidFill>
                  <a:srgbClr val="454545"/>
                </a:solidFill>
              </a:rPr>
              <a:t>1</a:t>
            </a:r>
            <a:endParaRPr lang="en-US" sz="1100" b="1" kern="0" dirty="0">
              <a:solidFill>
                <a:srgbClr val="454545"/>
              </a:solidFill>
            </a:endParaRPr>
          </a:p>
        </p:txBody>
      </p:sp>
      <p:sp>
        <p:nvSpPr>
          <p:cNvPr id="149" name="Line 30"/>
          <p:cNvSpPr>
            <a:spLocks noChangeShapeType="1"/>
          </p:cNvSpPr>
          <p:nvPr/>
        </p:nvSpPr>
        <p:spPr bwMode="auto">
          <a:xfrm rot="5400000" flipV="1">
            <a:off x="3609304" y="1784706"/>
            <a:ext cx="0" cy="1223963"/>
          </a:xfrm>
          <a:prstGeom prst="line">
            <a:avLst/>
          </a:prstGeom>
          <a:noFill/>
          <a:ln w="6350">
            <a:solidFill>
              <a:schemeClr val="bg2"/>
            </a:solidFill>
            <a:round/>
            <a:headEnd/>
            <a:tailEnd type="triangle" w="med" len="med"/>
          </a:ln>
          <a:effectLst/>
        </p:spPr>
        <p:txBody>
          <a:bodyPr wrap="none" anchor="ctr"/>
          <a:lstStyle/>
          <a:p>
            <a:endParaRPr lang="es-CL"/>
          </a:p>
        </p:txBody>
      </p:sp>
      <p:sp>
        <p:nvSpPr>
          <p:cNvPr id="173" name="AutoShape 49"/>
          <p:cNvSpPr>
            <a:spLocks noChangeArrowheads="1"/>
          </p:cNvSpPr>
          <p:nvPr/>
        </p:nvSpPr>
        <p:spPr bwMode="auto">
          <a:xfrm>
            <a:off x="3218688" y="5778019"/>
            <a:ext cx="3666290" cy="352151"/>
          </a:xfrm>
          <a:prstGeom prst="homePlate">
            <a:avLst>
              <a:gd name="adj" fmla="val 0"/>
            </a:avLst>
          </a:prstGeom>
          <a:solidFill>
            <a:schemeClr val="bg1"/>
          </a:solidFill>
          <a:ln w="9525" algn="ctr">
            <a:solidFill>
              <a:schemeClr val="bg1">
                <a:lumMod val="75000"/>
              </a:schemeClr>
            </a:solidFill>
            <a:miter lim="800000"/>
            <a:headEnd/>
            <a:tailEnd/>
          </a:ln>
          <a:effectLst/>
        </p:spPr>
        <p:txBody>
          <a:bodyPr wrap="none" anchor="ctr"/>
          <a:lstStyle/>
          <a:p>
            <a:pPr algn="ctr"/>
            <a:endParaRPr lang="en-US" sz="1200" i="1" dirty="0">
              <a:solidFill>
                <a:schemeClr val="tx1">
                  <a:lumMod val="85000"/>
                  <a:lumOff val="15000"/>
                </a:schemeClr>
              </a:solidFill>
            </a:endParaRPr>
          </a:p>
        </p:txBody>
      </p:sp>
      <p:sp>
        <p:nvSpPr>
          <p:cNvPr id="174" name="Oval 90"/>
          <p:cNvSpPr>
            <a:spLocks noChangeArrowheads="1"/>
          </p:cNvSpPr>
          <p:nvPr/>
        </p:nvSpPr>
        <p:spPr bwMode="auto">
          <a:xfrm>
            <a:off x="3258416" y="581371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175" name="Text Box 12"/>
          <p:cNvSpPr txBox="1">
            <a:spLocks noChangeArrowheads="1"/>
          </p:cNvSpPr>
          <p:nvPr/>
        </p:nvSpPr>
        <p:spPr bwMode="auto">
          <a:xfrm>
            <a:off x="3509469" y="5833388"/>
            <a:ext cx="1056700" cy="246221"/>
          </a:xfrm>
          <a:prstGeom prst="rect">
            <a:avLst/>
          </a:prstGeom>
          <a:noFill/>
          <a:ln w="9525" algn="ctr">
            <a:noFill/>
            <a:miter lim="800000"/>
            <a:headEnd/>
            <a:tailEnd/>
          </a:ln>
          <a:effectLst/>
        </p:spPr>
        <p:txBody>
          <a:bodyPr wrap="none">
            <a:spAutoFit/>
          </a:bodyPr>
          <a:lstStyle/>
          <a:p>
            <a:r>
              <a:rPr lang="es-ES" sz="1000" dirty="0"/>
              <a:t>Riesgo individual</a:t>
            </a:r>
            <a:endParaRPr lang="en-US" sz="1000" dirty="0"/>
          </a:p>
        </p:txBody>
      </p:sp>
      <p:sp>
        <p:nvSpPr>
          <p:cNvPr id="177" name="Text Box 12"/>
          <p:cNvSpPr txBox="1">
            <a:spLocks noChangeArrowheads="1"/>
          </p:cNvSpPr>
          <p:nvPr/>
        </p:nvSpPr>
        <p:spPr bwMode="auto">
          <a:xfrm>
            <a:off x="4862003" y="5837178"/>
            <a:ext cx="2050561" cy="246221"/>
          </a:xfrm>
          <a:prstGeom prst="rect">
            <a:avLst/>
          </a:prstGeom>
          <a:noFill/>
          <a:ln w="9525" algn="ctr">
            <a:noFill/>
            <a:miter lim="800000"/>
            <a:headEnd/>
            <a:tailEnd/>
          </a:ln>
          <a:effectLst/>
        </p:spPr>
        <p:txBody>
          <a:bodyPr wrap="none">
            <a:spAutoFit/>
          </a:bodyPr>
          <a:lstStyle/>
          <a:p>
            <a:r>
              <a:rPr lang="es-ES" sz="1000" dirty="0"/>
              <a:t>Riesgo individual con plan de acción</a:t>
            </a:r>
            <a:endParaRPr lang="en-US" sz="1000" dirty="0"/>
          </a:p>
        </p:txBody>
      </p:sp>
      <p:sp>
        <p:nvSpPr>
          <p:cNvPr id="178" name="Text Box 35"/>
          <p:cNvSpPr txBox="1">
            <a:spLocks noChangeArrowheads="1"/>
          </p:cNvSpPr>
          <p:nvPr/>
        </p:nvSpPr>
        <p:spPr bwMode="auto">
          <a:xfrm>
            <a:off x="8183047" y="5512901"/>
            <a:ext cx="780724" cy="230832"/>
          </a:xfrm>
          <a:prstGeom prst="rect">
            <a:avLst/>
          </a:prstGeom>
          <a:noFill/>
          <a:ln w="9525" algn="ctr">
            <a:noFill/>
            <a:miter lim="800000"/>
            <a:headEnd/>
            <a:tailEnd/>
          </a:ln>
          <a:effectLst/>
        </p:spPr>
        <p:txBody>
          <a:bodyPr wrap="square">
            <a:spAutoFit/>
          </a:bodyPr>
          <a:lstStyle/>
          <a:p>
            <a:r>
              <a:rPr lang="es-ES" sz="900" b="1" i="1" dirty="0"/>
              <a:t>PEA (Miles)</a:t>
            </a:r>
            <a:endParaRPr lang="en-US" sz="900" b="1" i="1" dirty="0"/>
          </a:p>
        </p:txBody>
      </p:sp>
      <p:sp>
        <p:nvSpPr>
          <p:cNvPr id="105" name="Oval 90"/>
          <p:cNvSpPr>
            <a:spLocks noChangeArrowheads="1"/>
          </p:cNvSpPr>
          <p:nvPr/>
        </p:nvSpPr>
        <p:spPr bwMode="auto">
          <a:xfrm>
            <a:off x="1630298" y="4203333"/>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2</a:t>
            </a:r>
          </a:p>
        </p:txBody>
      </p:sp>
      <p:sp>
        <p:nvSpPr>
          <p:cNvPr id="130" name="Oval 90"/>
          <p:cNvSpPr>
            <a:spLocks noChangeArrowheads="1"/>
          </p:cNvSpPr>
          <p:nvPr/>
        </p:nvSpPr>
        <p:spPr bwMode="auto">
          <a:xfrm>
            <a:off x="4711548" y="5855850"/>
            <a:ext cx="180000" cy="18000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88" name="Oval 90"/>
          <p:cNvSpPr>
            <a:spLocks noChangeArrowheads="1"/>
          </p:cNvSpPr>
          <p:nvPr/>
        </p:nvSpPr>
        <p:spPr bwMode="auto">
          <a:xfrm>
            <a:off x="2972316" y="3421054"/>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a:t>
            </a:r>
          </a:p>
        </p:txBody>
      </p:sp>
      <p:sp>
        <p:nvSpPr>
          <p:cNvPr id="89" name="Oval 90"/>
          <p:cNvSpPr>
            <a:spLocks noChangeArrowheads="1"/>
          </p:cNvSpPr>
          <p:nvPr/>
        </p:nvSpPr>
        <p:spPr bwMode="auto">
          <a:xfrm>
            <a:off x="1547173" y="4375197"/>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a:t>
            </a:r>
          </a:p>
        </p:txBody>
      </p:sp>
      <p:sp>
        <p:nvSpPr>
          <p:cNvPr id="90" name="Oval 90"/>
          <p:cNvSpPr>
            <a:spLocks noChangeArrowheads="1"/>
          </p:cNvSpPr>
          <p:nvPr/>
        </p:nvSpPr>
        <p:spPr bwMode="auto">
          <a:xfrm>
            <a:off x="1424041" y="4531891"/>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4</a:t>
            </a:r>
          </a:p>
        </p:txBody>
      </p:sp>
      <p:sp>
        <p:nvSpPr>
          <p:cNvPr id="91" name="Oval 90"/>
          <p:cNvSpPr>
            <a:spLocks noChangeArrowheads="1"/>
          </p:cNvSpPr>
          <p:nvPr/>
        </p:nvSpPr>
        <p:spPr bwMode="auto">
          <a:xfrm>
            <a:off x="1244509" y="4531724"/>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5</a:t>
            </a:r>
          </a:p>
        </p:txBody>
      </p:sp>
      <p:sp>
        <p:nvSpPr>
          <p:cNvPr id="116" name="Oval 90"/>
          <p:cNvSpPr>
            <a:spLocks noChangeArrowheads="1"/>
          </p:cNvSpPr>
          <p:nvPr/>
        </p:nvSpPr>
        <p:spPr bwMode="auto">
          <a:xfrm>
            <a:off x="6863873" y="4177275"/>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a:t>
            </a:r>
          </a:p>
        </p:txBody>
      </p:sp>
      <p:sp>
        <p:nvSpPr>
          <p:cNvPr id="129" name="Oval 90"/>
          <p:cNvSpPr>
            <a:spLocks noChangeArrowheads="1"/>
          </p:cNvSpPr>
          <p:nvPr/>
        </p:nvSpPr>
        <p:spPr bwMode="auto">
          <a:xfrm>
            <a:off x="5641942" y="4546593"/>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a:t>
            </a:r>
          </a:p>
        </p:txBody>
      </p:sp>
      <p:sp>
        <p:nvSpPr>
          <p:cNvPr id="154" name="Oval 90"/>
          <p:cNvSpPr>
            <a:spLocks noChangeArrowheads="1"/>
          </p:cNvSpPr>
          <p:nvPr/>
        </p:nvSpPr>
        <p:spPr bwMode="auto">
          <a:xfrm>
            <a:off x="5444794" y="5043066"/>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4</a:t>
            </a:r>
          </a:p>
        </p:txBody>
      </p:sp>
      <p:sp>
        <p:nvSpPr>
          <p:cNvPr id="165" name="Oval 90"/>
          <p:cNvSpPr>
            <a:spLocks noChangeArrowheads="1"/>
          </p:cNvSpPr>
          <p:nvPr/>
        </p:nvSpPr>
        <p:spPr bwMode="auto">
          <a:xfrm>
            <a:off x="5616324" y="5049943"/>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5</a:t>
            </a:r>
          </a:p>
        </p:txBody>
      </p:sp>
      <p:sp>
        <p:nvSpPr>
          <p:cNvPr id="167" name="Oval 90"/>
          <p:cNvSpPr>
            <a:spLocks noChangeArrowheads="1"/>
          </p:cNvSpPr>
          <p:nvPr/>
        </p:nvSpPr>
        <p:spPr bwMode="auto">
          <a:xfrm>
            <a:off x="5503994" y="4687858"/>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6</a:t>
            </a:r>
          </a:p>
        </p:txBody>
      </p:sp>
      <p:sp>
        <p:nvSpPr>
          <p:cNvPr id="169" name="Oval 90"/>
          <p:cNvSpPr>
            <a:spLocks noChangeArrowheads="1"/>
          </p:cNvSpPr>
          <p:nvPr/>
        </p:nvSpPr>
        <p:spPr bwMode="auto">
          <a:xfrm>
            <a:off x="5594922" y="5211259"/>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7</a:t>
            </a:r>
          </a:p>
        </p:txBody>
      </p:sp>
      <p:sp>
        <p:nvSpPr>
          <p:cNvPr id="170" name="Oval 90"/>
          <p:cNvSpPr>
            <a:spLocks noChangeArrowheads="1"/>
          </p:cNvSpPr>
          <p:nvPr/>
        </p:nvSpPr>
        <p:spPr bwMode="auto">
          <a:xfrm>
            <a:off x="5405142" y="5211458"/>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172" name="Oval 90"/>
          <p:cNvSpPr>
            <a:spLocks noChangeArrowheads="1"/>
          </p:cNvSpPr>
          <p:nvPr/>
        </p:nvSpPr>
        <p:spPr bwMode="auto">
          <a:xfrm>
            <a:off x="5496671" y="5370332"/>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9</a:t>
            </a:r>
          </a:p>
        </p:txBody>
      </p:sp>
      <p:sp>
        <p:nvSpPr>
          <p:cNvPr id="176" name="Oval 90"/>
          <p:cNvSpPr>
            <a:spLocks noChangeArrowheads="1"/>
          </p:cNvSpPr>
          <p:nvPr/>
        </p:nvSpPr>
        <p:spPr bwMode="auto">
          <a:xfrm>
            <a:off x="5473808" y="4508953"/>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10</a:t>
            </a:r>
          </a:p>
        </p:txBody>
      </p:sp>
      <p:sp>
        <p:nvSpPr>
          <p:cNvPr id="125" name="Oval 90"/>
          <p:cNvSpPr>
            <a:spLocks noChangeArrowheads="1"/>
          </p:cNvSpPr>
          <p:nvPr/>
        </p:nvSpPr>
        <p:spPr bwMode="auto">
          <a:xfrm>
            <a:off x="5852243" y="4470758"/>
            <a:ext cx="236449" cy="235711"/>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2</a:t>
            </a:r>
          </a:p>
        </p:txBody>
      </p:sp>
      <p:sp>
        <p:nvSpPr>
          <p:cNvPr id="75" name="Oval 90"/>
          <p:cNvSpPr>
            <a:spLocks noChangeArrowheads="1"/>
          </p:cNvSpPr>
          <p:nvPr/>
        </p:nvSpPr>
        <p:spPr bwMode="auto">
          <a:xfrm>
            <a:off x="826585" y="5227259"/>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9</a:t>
            </a:r>
          </a:p>
        </p:txBody>
      </p:sp>
      <p:sp>
        <p:nvSpPr>
          <p:cNvPr id="76" name="Oval 90"/>
          <p:cNvSpPr>
            <a:spLocks noChangeArrowheads="1"/>
          </p:cNvSpPr>
          <p:nvPr/>
        </p:nvSpPr>
        <p:spPr bwMode="auto">
          <a:xfrm>
            <a:off x="921919" y="4305714"/>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10</a:t>
            </a:r>
          </a:p>
        </p:txBody>
      </p:sp>
      <p:sp>
        <p:nvSpPr>
          <p:cNvPr id="92" name="Text Box 24"/>
          <p:cNvSpPr txBox="1">
            <a:spLocks noChangeArrowheads="1"/>
          </p:cNvSpPr>
          <p:nvPr/>
        </p:nvSpPr>
        <p:spPr bwMode="auto">
          <a:xfrm>
            <a:off x="6724226" y="1631633"/>
            <a:ext cx="338554" cy="215444"/>
          </a:xfrm>
          <a:prstGeom prst="rect">
            <a:avLst/>
          </a:prstGeom>
          <a:solidFill>
            <a:schemeClr val="bg1"/>
          </a:solidFill>
          <a:ln w="9525" algn="ctr">
            <a:noFill/>
            <a:miter lim="800000"/>
            <a:headEnd/>
            <a:tailEnd/>
          </a:ln>
          <a:effectLst/>
        </p:spPr>
        <p:txBody>
          <a:bodyPr wrap="none">
            <a:spAutoFit/>
          </a:bodyPr>
          <a:lstStyle/>
          <a:p>
            <a:r>
              <a:rPr lang="es-ES" sz="800" dirty="0">
                <a:solidFill>
                  <a:schemeClr val="bg2"/>
                </a:solidFill>
              </a:rPr>
              <a:t>&lt;22</a:t>
            </a:r>
            <a:endParaRPr lang="en-US" sz="800" dirty="0">
              <a:solidFill>
                <a:schemeClr val="bg2"/>
              </a:solidFill>
            </a:endParaRPr>
          </a:p>
        </p:txBody>
      </p:sp>
      <p:sp>
        <p:nvSpPr>
          <p:cNvPr id="93" name="AutoShape 179"/>
          <p:cNvSpPr>
            <a:spLocks noChangeArrowheads="1"/>
          </p:cNvSpPr>
          <p:nvPr/>
        </p:nvSpPr>
        <p:spPr bwMode="auto">
          <a:xfrm>
            <a:off x="5075843" y="1209070"/>
            <a:ext cx="3516529" cy="1021071"/>
          </a:xfrm>
          <a:prstGeom prst="roundRect">
            <a:avLst>
              <a:gd name="adj" fmla="val 9481"/>
            </a:avLst>
          </a:prstGeom>
          <a:solidFill>
            <a:schemeClr val="bg1">
              <a:lumMod val="75000"/>
              <a:alpha val="69000"/>
            </a:schemeClr>
          </a:solidFill>
          <a:ln w="9525" algn="ctr">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2060"/>
              </a:solidFill>
              <a:effectLst/>
              <a:uLnTx/>
              <a:uFillTx/>
            </a:endParaRPr>
          </a:p>
        </p:txBody>
      </p:sp>
      <p:sp>
        <p:nvSpPr>
          <p:cNvPr id="102" name="AutoShape 182"/>
          <p:cNvSpPr>
            <a:spLocks noChangeArrowheads="1"/>
          </p:cNvSpPr>
          <p:nvPr/>
        </p:nvSpPr>
        <p:spPr bwMode="auto">
          <a:xfrm>
            <a:off x="5152593" y="1265161"/>
            <a:ext cx="2342816" cy="255588"/>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PEA Acumulada Top 10</a:t>
            </a:r>
            <a:endParaRPr lang="en-US" sz="1200" dirty="0">
              <a:solidFill>
                <a:schemeClr val="bg1"/>
              </a:solidFill>
            </a:endParaRPr>
          </a:p>
        </p:txBody>
      </p:sp>
      <p:sp>
        <p:nvSpPr>
          <p:cNvPr id="103" name="AutoShape 183"/>
          <p:cNvSpPr>
            <a:spLocks noChangeArrowheads="1"/>
          </p:cNvSpPr>
          <p:nvPr/>
        </p:nvSpPr>
        <p:spPr bwMode="auto">
          <a:xfrm>
            <a:off x="7437896" y="1265160"/>
            <a:ext cx="985514" cy="255588"/>
          </a:xfrm>
          <a:prstGeom prst="roundRect">
            <a:avLst>
              <a:gd name="adj" fmla="val 7157"/>
            </a:avLst>
          </a:prstGeom>
          <a:solidFill>
            <a:srgbClr val="FFFFFF"/>
          </a:solidFill>
          <a:ln w="9525" algn="ctr">
            <a:noFill/>
            <a:round/>
            <a:headEnd/>
            <a:tailEnd/>
          </a:ln>
          <a:effectLst/>
        </p:spPr>
        <p:txBody>
          <a:bodyPr anchor="ctr"/>
          <a:lstStyle/>
          <a:p>
            <a:pPr algn="ctr"/>
            <a:r>
              <a:rPr lang="en-US" sz="1200" dirty="0"/>
              <a:t>S/.5.6MM</a:t>
            </a:r>
          </a:p>
        </p:txBody>
      </p:sp>
      <p:sp>
        <p:nvSpPr>
          <p:cNvPr id="104" name="AutoShape 185"/>
          <p:cNvSpPr>
            <a:spLocks noChangeArrowheads="1"/>
          </p:cNvSpPr>
          <p:nvPr/>
        </p:nvSpPr>
        <p:spPr bwMode="auto">
          <a:xfrm>
            <a:off x="5152593" y="1593773"/>
            <a:ext cx="2342816" cy="235078"/>
          </a:xfrm>
          <a:prstGeom prst="roundRect">
            <a:avLst>
              <a:gd name="adj" fmla="val 7157"/>
            </a:avLst>
          </a:prstGeom>
          <a:solidFill>
            <a:srgbClr val="DB0613"/>
          </a:solidFill>
          <a:ln w="9525" algn="ctr">
            <a:noFill/>
            <a:miter lim="800000"/>
            <a:headEnd/>
            <a:tailEnd/>
          </a:ln>
          <a:effectLst/>
        </p:spPr>
        <p:txBody>
          <a:bodyPr wrap="none" anchor="ctr"/>
          <a:lstStyle/>
          <a:p>
            <a:r>
              <a:rPr lang="es-ES" sz="1200" dirty="0">
                <a:solidFill>
                  <a:schemeClr val="bg1"/>
                </a:solidFill>
              </a:rPr>
              <a:t>PMA Acumulada Top 10</a:t>
            </a:r>
            <a:endParaRPr lang="en-US" sz="1200" dirty="0">
              <a:solidFill>
                <a:schemeClr val="bg1"/>
              </a:solidFill>
            </a:endParaRPr>
          </a:p>
        </p:txBody>
      </p:sp>
      <p:sp>
        <p:nvSpPr>
          <p:cNvPr id="106" name="AutoShape 186"/>
          <p:cNvSpPr>
            <a:spLocks noChangeArrowheads="1"/>
          </p:cNvSpPr>
          <p:nvPr/>
        </p:nvSpPr>
        <p:spPr bwMode="auto">
          <a:xfrm>
            <a:off x="7437896" y="1593773"/>
            <a:ext cx="985514" cy="234950"/>
          </a:xfrm>
          <a:prstGeom prst="roundRect">
            <a:avLst>
              <a:gd name="adj" fmla="val 7157"/>
            </a:avLst>
          </a:prstGeom>
          <a:solidFill>
            <a:srgbClr val="FFFFFF"/>
          </a:solidFill>
          <a:ln w="9525" algn="ctr">
            <a:noFill/>
            <a:round/>
            <a:headEnd/>
            <a:tailEnd/>
          </a:ln>
          <a:effectLst/>
        </p:spPr>
        <p:txBody>
          <a:bodyPr anchor="ctr"/>
          <a:lstStyle/>
          <a:p>
            <a:pPr algn="ctr"/>
            <a:r>
              <a:rPr lang="en-US" sz="1200" dirty="0"/>
              <a:t>S/.18.0MM</a:t>
            </a:r>
          </a:p>
        </p:txBody>
      </p:sp>
      <p:sp>
        <p:nvSpPr>
          <p:cNvPr id="107" name="AutoShape 188"/>
          <p:cNvSpPr>
            <a:spLocks noChangeArrowheads="1"/>
          </p:cNvSpPr>
          <p:nvPr/>
        </p:nvSpPr>
        <p:spPr bwMode="auto">
          <a:xfrm>
            <a:off x="5151006" y="1901748"/>
            <a:ext cx="2342816" cy="235078"/>
          </a:xfrm>
          <a:prstGeom prst="roundRect">
            <a:avLst>
              <a:gd name="adj" fmla="val 7157"/>
            </a:avLst>
          </a:prstGeom>
          <a:solidFill>
            <a:srgbClr val="DB0613"/>
          </a:solidFill>
          <a:ln w="9525" algn="ctr">
            <a:noFill/>
            <a:miter lim="800000"/>
            <a:headEnd/>
            <a:tailEnd/>
          </a:ln>
          <a:effectLst/>
        </p:spPr>
        <p:txBody>
          <a:bodyPr wrap="none" anchor="ctr"/>
          <a:lstStyle/>
          <a:p>
            <a:r>
              <a:rPr lang="es-CL" sz="1200" dirty="0">
                <a:solidFill>
                  <a:schemeClr val="bg1"/>
                </a:solidFill>
              </a:rPr>
              <a:t>Riesgos con alta exposición</a:t>
            </a:r>
            <a:endParaRPr lang="en-US" sz="1200" dirty="0">
              <a:solidFill>
                <a:schemeClr val="bg1"/>
              </a:solidFill>
            </a:endParaRPr>
          </a:p>
        </p:txBody>
      </p:sp>
      <p:sp>
        <p:nvSpPr>
          <p:cNvPr id="108" name="AutoShape 189"/>
          <p:cNvSpPr>
            <a:spLocks noChangeArrowheads="1"/>
          </p:cNvSpPr>
          <p:nvPr/>
        </p:nvSpPr>
        <p:spPr bwMode="auto">
          <a:xfrm>
            <a:off x="7436309" y="1901748"/>
            <a:ext cx="985514" cy="234950"/>
          </a:xfrm>
          <a:prstGeom prst="roundRect">
            <a:avLst>
              <a:gd name="adj" fmla="val 7157"/>
            </a:avLst>
          </a:prstGeom>
          <a:solidFill>
            <a:srgbClr val="FFFFFF"/>
          </a:solidFill>
          <a:ln w="9525" algn="ctr">
            <a:noFill/>
            <a:round/>
            <a:headEnd/>
            <a:tailEnd/>
          </a:ln>
          <a:effectLst/>
        </p:spPr>
        <p:txBody>
          <a:bodyPr anchor="ctr"/>
          <a:lstStyle/>
          <a:p>
            <a:pPr algn="ctr"/>
            <a:r>
              <a:rPr lang="en-US" sz="1100" b="1" kern="0" dirty="0">
                <a:solidFill>
                  <a:srgbClr val="454545"/>
                </a:solidFill>
              </a:rPr>
              <a:t>0</a:t>
            </a:r>
          </a:p>
        </p:txBody>
      </p:sp>
    </p:spTree>
    <p:extLst>
      <p:ext uri="{BB962C8B-B14F-4D97-AF65-F5344CB8AC3E}">
        <p14:creationId xmlns:p14="http://schemas.microsoft.com/office/powerpoint/2010/main" val="1130684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47624" y="50381"/>
            <a:ext cx="8627715" cy="587723"/>
          </a:xfrm>
        </p:spPr>
        <p:txBody>
          <a:bodyPr/>
          <a:lstStyle/>
          <a:p>
            <a:r>
              <a:rPr lang="es-PE" dirty="0"/>
              <a:t>Planes de Acción</a:t>
            </a:r>
          </a:p>
        </p:txBody>
      </p:sp>
      <p:sp>
        <p:nvSpPr>
          <p:cNvPr id="14" name="Rounded Rectangle 13"/>
          <p:cNvSpPr/>
          <p:nvPr/>
        </p:nvSpPr>
        <p:spPr>
          <a:xfrm>
            <a:off x="86403" y="1590839"/>
            <a:ext cx="36576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p>
        </p:txBody>
      </p:sp>
      <p:sp>
        <p:nvSpPr>
          <p:cNvPr id="15" name="Rounded Rectangle 14"/>
          <p:cNvSpPr/>
          <p:nvPr/>
        </p:nvSpPr>
        <p:spPr>
          <a:xfrm>
            <a:off x="505513" y="1590839"/>
            <a:ext cx="1115648"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Plan de Acción</a:t>
            </a:r>
          </a:p>
        </p:txBody>
      </p:sp>
      <p:sp>
        <p:nvSpPr>
          <p:cNvPr id="16" name="Rounded Rectangle 15"/>
          <p:cNvSpPr/>
          <p:nvPr/>
        </p:nvSpPr>
        <p:spPr>
          <a:xfrm>
            <a:off x="505513" y="2146598"/>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Base de datos y validaciones automáticas</a:t>
            </a:r>
            <a:endParaRPr lang="es-CL" sz="1000" dirty="0">
              <a:solidFill>
                <a:schemeClr val="tx1">
                  <a:lumMod val="85000"/>
                  <a:lumOff val="15000"/>
                </a:schemeClr>
              </a:solidFill>
            </a:endParaRPr>
          </a:p>
        </p:txBody>
      </p:sp>
      <p:sp>
        <p:nvSpPr>
          <p:cNvPr id="17" name="Rounded Rectangle 16"/>
          <p:cNvSpPr/>
          <p:nvPr/>
        </p:nvSpPr>
        <p:spPr>
          <a:xfrm>
            <a:off x="86403" y="2146598"/>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18" name="Rounded Rectangle 17"/>
          <p:cNvSpPr/>
          <p:nvPr/>
        </p:nvSpPr>
        <p:spPr>
          <a:xfrm>
            <a:off x="1684642" y="1590839"/>
            <a:ext cx="331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Descripción</a:t>
            </a:r>
          </a:p>
        </p:txBody>
      </p:sp>
      <p:sp>
        <p:nvSpPr>
          <p:cNvPr id="19" name="Rounded Rectangle 18"/>
          <p:cNvSpPr/>
          <p:nvPr/>
        </p:nvSpPr>
        <p:spPr>
          <a:xfrm>
            <a:off x="1684642" y="2146597"/>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AutoNum type="arabicPeriod"/>
            </a:pPr>
            <a:r>
              <a:rPr lang="es-ES" sz="1000" dirty="0">
                <a:solidFill>
                  <a:schemeClr val="tx1">
                    <a:lumMod val="85000"/>
                    <a:lumOff val="15000"/>
                  </a:schemeClr>
                </a:solidFill>
              </a:rPr>
              <a:t>Se propone crear una base de datos con una lista de las personas diagnosticadas con enfermedad profesional, su diagnóstico y documentación sustentatoria.</a:t>
            </a:r>
          </a:p>
          <a:p>
            <a:pPr marL="228600" indent="-228600">
              <a:buAutoNum type="arabicPeriod"/>
            </a:pPr>
            <a:r>
              <a:rPr lang="es-CL" sz="1000" dirty="0">
                <a:solidFill>
                  <a:schemeClr val="tx1">
                    <a:lumMod val="85000"/>
                    <a:lumOff val="15000"/>
                  </a:schemeClr>
                </a:solidFill>
              </a:rPr>
              <a:t>Validaciones por web.</a:t>
            </a:r>
          </a:p>
          <a:p>
            <a:pPr marL="228600" indent="-228600">
              <a:buAutoNum type="arabicPeriod"/>
            </a:pPr>
            <a:r>
              <a:rPr lang="es-ES" sz="1000" dirty="0">
                <a:solidFill>
                  <a:schemeClr val="tx1">
                    <a:lumMod val="85000"/>
                    <a:lumOff val="15000"/>
                  </a:schemeClr>
                </a:solidFill>
              </a:rPr>
              <a:t>Para alimentar la base de datos propuesta se propone continuar con las labores de delimitación periódica y expandir la delimitación inicial.</a:t>
            </a:r>
          </a:p>
          <a:p>
            <a:pPr marL="228600" indent="-228600">
              <a:buAutoNum type="arabicPeriod"/>
            </a:pPr>
            <a:r>
              <a:rPr lang="es-ES" sz="1000" dirty="0">
                <a:solidFill>
                  <a:schemeClr val="tx1">
                    <a:lumMod val="85000"/>
                    <a:lumOff val="15000"/>
                  </a:schemeClr>
                </a:solidFill>
              </a:rPr>
              <a:t>Validaciones por web II.</a:t>
            </a:r>
            <a:endParaRPr lang="es-CL" sz="1000" dirty="0">
              <a:solidFill>
                <a:schemeClr val="tx1">
                  <a:lumMod val="85000"/>
                  <a:lumOff val="15000"/>
                </a:schemeClr>
              </a:solidFill>
            </a:endParaRPr>
          </a:p>
        </p:txBody>
      </p:sp>
      <p:sp>
        <p:nvSpPr>
          <p:cNvPr id="43" name="Rounded Rectangle 42"/>
          <p:cNvSpPr/>
          <p:nvPr/>
        </p:nvSpPr>
        <p:spPr>
          <a:xfrm>
            <a:off x="7380507" y="1590839"/>
            <a:ext cx="1693047"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Riesgo </a:t>
            </a:r>
          </a:p>
        </p:txBody>
      </p:sp>
      <p:sp>
        <p:nvSpPr>
          <p:cNvPr id="44" name="Rounded Rectangle 43"/>
          <p:cNvSpPr/>
          <p:nvPr/>
        </p:nvSpPr>
        <p:spPr>
          <a:xfrm>
            <a:off x="7380507" y="2140482"/>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Falencias en el procedimiento de suscripción. P. ej. Se evalúa una empresa de minería de socavón con 100 trabajadores y se emite la póliza SCTR respectiva, 3 meses después la empresa puede emitir su constancia por otras 100 personas diferentes o por un número mayor.</a:t>
            </a:r>
            <a:endParaRPr lang="es-CL" sz="900" dirty="0">
              <a:solidFill>
                <a:schemeClr val="tx1"/>
              </a:solidFill>
            </a:endParaRPr>
          </a:p>
        </p:txBody>
      </p:sp>
      <p:sp>
        <p:nvSpPr>
          <p:cNvPr id="45" name="Rounded Rectangle 44"/>
          <p:cNvSpPr/>
          <p:nvPr/>
        </p:nvSpPr>
        <p:spPr>
          <a:xfrm>
            <a:off x="5053762" y="1590839"/>
            <a:ext cx="72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Potencial de mejora</a:t>
            </a:r>
          </a:p>
        </p:txBody>
      </p:sp>
      <p:sp>
        <p:nvSpPr>
          <p:cNvPr id="46" name="Rounded Rectangle 45"/>
          <p:cNvSpPr/>
          <p:nvPr/>
        </p:nvSpPr>
        <p:spPr>
          <a:xfrm>
            <a:off x="5053762" y="2141132"/>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70%</a:t>
            </a:r>
          </a:p>
        </p:txBody>
      </p:sp>
      <p:sp>
        <p:nvSpPr>
          <p:cNvPr id="47" name="Rounded Rectangle 46"/>
          <p:cNvSpPr/>
          <p:nvPr/>
        </p:nvSpPr>
        <p:spPr>
          <a:xfrm>
            <a:off x="5815223" y="1590839"/>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Costo Estimado</a:t>
            </a:r>
          </a:p>
        </p:txBody>
      </p:sp>
      <p:sp>
        <p:nvSpPr>
          <p:cNvPr id="48" name="Rounded Rectangle 47"/>
          <p:cNvSpPr/>
          <p:nvPr/>
        </p:nvSpPr>
        <p:spPr>
          <a:xfrm>
            <a:off x="5815223" y="2141132"/>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 S./ &gt; 50,000</a:t>
            </a:r>
          </a:p>
        </p:txBody>
      </p:sp>
      <p:sp>
        <p:nvSpPr>
          <p:cNvPr id="49" name="Rounded Rectangle 48"/>
          <p:cNvSpPr/>
          <p:nvPr/>
        </p:nvSpPr>
        <p:spPr>
          <a:xfrm>
            <a:off x="6655240" y="1590839"/>
            <a:ext cx="684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Tiempo Estimado</a:t>
            </a:r>
          </a:p>
        </p:txBody>
      </p:sp>
      <p:sp>
        <p:nvSpPr>
          <p:cNvPr id="50" name="Rounded Rectangle 49"/>
          <p:cNvSpPr/>
          <p:nvPr/>
        </p:nvSpPr>
        <p:spPr>
          <a:xfrm>
            <a:off x="6655240" y="2141132"/>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&gt; 1 año</a:t>
            </a:r>
          </a:p>
        </p:txBody>
      </p:sp>
      <p:sp>
        <p:nvSpPr>
          <p:cNvPr id="67" name="Rounded Rectangle 61"/>
          <p:cNvSpPr/>
          <p:nvPr/>
        </p:nvSpPr>
        <p:spPr>
          <a:xfrm>
            <a:off x="265237" y="1255283"/>
            <a:ext cx="8656951"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Planes de Acción</a:t>
            </a:r>
          </a:p>
        </p:txBody>
      </p:sp>
      <p:sp>
        <p:nvSpPr>
          <p:cNvPr id="58"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a:t>
            </a:r>
            <a:r>
              <a:rPr lang="es-ES_tradnl" sz="1600" b="1" dirty="0">
                <a:solidFill>
                  <a:srgbClr val="4D4D4D"/>
                </a:solidFill>
                <a:latin typeface="+mj-lt"/>
                <a:sym typeface="Wingdings" pitchFamily="2" charset="2"/>
              </a:rPr>
              <a:t>, los </a:t>
            </a:r>
            <a:r>
              <a:rPr lang="es-ES_tradnl" sz="1600" b="1" dirty="0">
                <a:solidFill>
                  <a:srgbClr val="DB0613"/>
                </a:solidFill>
                <a:latin typeface="+mj-lt"/>
                <a:sym typeface="Wingdings" pitchFamily="2" charset="2"/>
              </a:rPr>
              <a:t>planes de acción </a:t>
            </a:r>
            <a:r>
              <a:rPr lang="es-ES_tradnl" sz="1600" b="1" dirty="0">
                <a:solidFill>
                  <a:srgbClr val="4D4D4D"/>
                </a:solidFill>
                <a:sym typeface="Wingdings" pitchFamily="2" charset="2"/>
              </a:rPr>
              <a:t>asociados a los 10 riesgos más críticos son los siguientes:</a:t>
            </a:r>
            <a:r>
              <a:rPr lang="es-ES_tradnl" sz="1600" b="1" dirty="0">
                <a:solidFill>
                  <a:srgbClr val="DB0613"/>
                </a:solidFill>
                <a:latin typeface="+mj-lt"/>
                <a:sym typeface="Wingdings" pitchFamily="2" charset="2"/>
              </a:rPr>
              <a:t> </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35" name="Rounded Rectangle 34"/>
          <p:cNvSpPr/>
          <p:nvPr/>
        </p:nvSpPr>
        <p:spPr>
          <a:xfrm>
            <a:off x="505513" y="4128481"/>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CL" sz="1000" dirty="0">
                <a:solidFill>
                  <a:schemeClr val="tx1">
                    <a:lumMod val="85000"/>
                    <a:lumOff val="15000"/>
                  </a:schemeClr>
                </a:solidFill>
              </a:rPr>
              <a:t>Definición de procedimientos </a:t>
            </a:r>
          </a:p>
        </p:txBody>
      </p:sp>
      <p:sp>
        <p:nvSpPr>
          <p:cNvPr id="36" name="Rounded Rectangle 35"/>
          <p:cNvSpPr/>
          <p:nvPr/>
        </p:nvSpPr>
        <p:spPr>
          <a:xfrm>
            <a:off x="86403" y="4128481"/>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37" name="Rounded Rectangle 36"/>
          <p:cNvSpPr/>
          <p:nvPr/>
        </p:nvSpPr>
        <p:spPr>
          <a:xfrm>
            <a:off x="1684642" y="4128481"/>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Definición de procedimientos que exijan que, en caso de cotizaciones nuevas sobre 1,000 asegurados posibles, éstas deban pasar por la aprobación de la Unidad de Negocio.  Se evaluará el ajuste de este control a 300 afiliados potenciales.</a:t>
            </a:r>
            <a:endParaRPr lang="es-CL" sz="1000" dirty="0">
              <a:solidFill>
                <a:schemeClr val="tx1">
                  <a:lumMod val="85000"/>
                  <a:lumOff val="15000"/>
                </a:schemeClr>
              </a:solidFill>
            </a:endParaRPr>
          </a:p>
        </p:txBody>
      </p:sp>
      <p:sp>
        <p:nvSpPr>
          <p:cNvPr id="38" name="Rounded Rectangle 37"/>
          <p:cNvSpPr/>
          <p:nvPr/>
        </p:nvSpPr>
        <p:spPr>
          <a:xfrm>
            <a:off x="7380507" y="4122365"/>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Selección errónea de plan de EPS como consecuencia de falencias en los criterios adoptados para determinar si aplicar un plan estándar o enviar la solicitud a la unidad de negocio para su evaluación. Por ejemplo, casos </a:t>
            </a:r>
            <a:r>
              <a:rPr lang="es-ES" sz="1000" dirty="0" err="1">
                <a:solidFill>
                  <a:schemeClr val="tx1">
                    <a:lumMod val="85000"/>
                    <a:lumOff val="15000"/>
                  </a:schemeClr>
                </a:solidFill>
              </a:rPr>
              <a:t>Topytop</a:t>
            </a:r>
            <a:r>
              <a:rPr lang="es-ES" sz="1000" dirty="0">
                <a:solidFill>
                  <a:schemeClr val="tx1">
                    <a:lumMod val="85000"/>
                    <a:lumOff val="15000"/>
                  </a:schemeClr>
                </a:solidFill>
              </a:rPr>
              <a:t> y Policía Nacional.</a:t>
            </a:r>
            <a:endParaRPr lang="es-CL" sz="1000" dirty="0">
              <a:solidFill>
                <a:schemeClr val="tx1">
                  <a:lumMod val="85000"/>
                  <a:lumOff val="15000"/>
                </a:schemeClr>
              </a:solidFill>
            </a:endParaRPr>
          </a:p>
        </p:txBody>
      </p:sp>
      <p:sp>
        <p:nvSpPr>
          <p:cNvPr id="39" name="Rounded Rectangle 38"/>
          <p:cNvSpPr/>
          <p:nvPr/>
        </p:nvSpPr>
        <p:spPr>
          <a:xfrm>
            <a:off x="5053762" y="4123014"/>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50" dirty="0">
                <a:solidFill>
                  <a:schemeClr val="tx1">
                    <a:lumMod val="85000"/>
                    <a:lumOff val="15000"/>
                  </a:schemeClr>
                </a:solidFill>
              </a:rPr>
              <a:t>80%</a:t>
            </a:r>
          </a:p>
        </p:txBody>
      </p:sp>
      <p:sp>
        <p:nvSpPr>
          <p:cNvPr id="40" name="Rounded Rectangle 39"/>
          <p:cNvSpPr/>
          <p:nvPr/>
        </p:nvSpPr>
        <p:spPr>
          <a:xfrm>
            <a:off x="5815223" y="4123014"/>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50" dirty="0">
                <a:solidFill>
                  <a:schemeClr val="tx1">
                    <a:lumMod val="85000"/>
                    <a:lumOff val="15000"/>
                  </a:schemeClr>
                </a:solidFill>
              </a:rPr>
              <a:t>S./ 0 - 3,000</a:t>
            </a:r>
          </a:p>
        </p:txBody>
      </p:sp>
      <p:sp>
        <p:nvSpPr>
          <p:cNvPr id="41" name="Rounded Rectangle 40"/>
          <p:cNvSpPr/>
          <p:nvPr/>
        </p:nvSpPr>
        <p:spPr>
          <a:xfrm>
            <a:off x="6655240" y="4123014"/>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50" dirty="0">
                <a:solidFill>
                  <a:schemeClr val="tx1">
                    <a:lumMod val="85000"/>
                    <a:lumOff val="15000"/>
                  </a:schemeClr>
                </a:solidFill>
              </a:rPr>
              <a:t>1 – 30 días</a:t>
            </a:r>
          </a:p>
        </p:txBody>
      </p:sp>
    </p:spTree>
    <p:extLst>
      <p:ext uri="{BB962C8B-B14F-4D97-AF65-F5344CB8AC3E}">
        <p14:creationId xmlns:p14="http://schemas.microsoft.com/office/powerpoint/2010/main" val="3867509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86403" y="1590839"/>
            <a:ext cx="36576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p>
        </p:txBody>
      </p:sp>
      <p:sp>
        <p:nvSpPr>
          <p:cNvPr id="15" name="Rounded Rectangle 14"/>
          <p:cNvSpPr/>
          <p:nvPr/>
        </p:nvSpPr>
        <p:spPr>
          <a:xfrm>
            <a:off x="505513" y="1590839"/>
            <a:ext cx="1115648"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Plan de Acción</a:t>
            </a:r>
          </a:p>
        </p:txBody>
      </p:sp>
      <p:sp>
        <p:nvSpPr>
          <p:cNvPr id="17" name="Rounded Rectangle 16"/>
          <p:cNvSpPr/>
          <p:nvPr/>
        </p:nvSpPr>
        <p:spPr>
          <a:xfrm>
            <a:off x="86403" y="2157231"/>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18" name="Rounded Rectangle 17"/>
          <p:cNvSpPr/>
          <p:nvPr/>
        </p:nvSpPr>
        <p:spPr>
          <a:xfrm>
            <a:off x="1684642" y="1590839"/>
            <a:ext cx="331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Descripción</a:t>
            </a:r>
          </a:p>
        </p:txBody>
      </p:sp>
      <p:sp>
        <p:nvSpPr>
          <p:cNvPr id="43" name="Rounded Rectangle 42"/>
          <p:cNvSpPr/>
          <p:nvPr/>
        </p:nvSpPr>
        <p:spPr>
          <a:xfrm>
            <a:off x="7380507" y="1590839"/>
            <a:ext cx="1693047"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Riesgo </a:t>
            </a:r>
          </a:p>
        </p:txBody>
      </p:sp>
      <p:sp>
        <p:nvSpPr>
          <p:cNvPr id="45" name="Rounded Rectangle 44"/>
          <p:cNvSpPr/>
          <p:nvPr/>
        </p:nvSpPr>
        <p:spPr>
          <a:xfrm>
            <a:off x="5053762" y="1590839"/>
            <a:ext cx="72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Potencial de mejora</a:t>
            </a:r>
          </a:p>
        </p:txBody>
      </p:sp>
      <p:sp>
        <p:nvSpPr>
          <p:cNvPr id="47" name="Rounded Rectangle 46"/>
          <p:cNvSpPr/>
          <p:nvPr/>
        </p:nvSpPr>
        <p:spPr>
          <a:xfrm>
            <a:off x="5815223" y="1590839"/>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Costo Estimado</a:t>
            </a:r>
          </a:p>
        </p:txBody>
      </p:sp>
      <p:sp>
        <p:nvSpPr>
          <p:cNvPr id="49" name="Rounded Rectangle 48"/>
          <p:cNvSpPr/>
          <p:nvPr/>
        </p:nvSpPr>
        <p:spPr>
          <a:xfrm>
            <a:off x="6655240" y="1590839"/>
            <a:ext cx="684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Tiempo Estimado</a:t>
            </a:r>
          </a:p>
        </p:txBody>
      </p:sp>
      <p:sp>
        <p:nvSpPr>
          <p:cNvPr id="67" name="Rounded Rectangle 61"/>
          <p:cNvSpPr/>
          <p:nvPr/>
        </p:nvSpPr>
        <p:spPr>
          <a:xfrm>
            <a:off x="265237" y="1255283"/>
            <a:ext cx="8656951"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Planes de Acción</a:t>
            </a:r>
          </a:p>
        </p:txBody>
      </p:sp>
      <p:sp>
        <p:nvSpPr>
          <p:cNvPr id="58"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a:t>
            </a:r>
            <a:r>
              <a:rPr lang="es-ES_tradnl" sz="1600" b="1" dirty="0">
                <a:solidFill>
                  <a:srgbClr val="4D4D4D"/>
                </a:solidFill>
                <a:latin typeface="+mj-lt"/>
                <a:sym typeface="Wingdings" pitchFamily="2" charset="2"/>
              </a:rPr>
              <a:t>, los </a:t>
            </a:r>
            <a:r>
              <a:rPr lang="es-ES_tradnl" sz="1600" b="1" dirty="0">
                <a:solidFill>
                  <a:srgbClr val="DB0613"/>
                </a:solidFill>
                <a:latin typeface="+mj-lt"/>
                <a:sym typeface="Wingdings" pitchFamily="2" charset="2"/>
              </a:rPr>
              <a:t>planes de acción </a:t>
            </a:r>
            <a:r>
              <a:rPr lang="es-ES_tradnl" sz="1600" b="1" dirty="0">
                <a:solidFill>
                  <a:srgbClr val="4D4D4D"/>
                </a:solidFill>
                <a:sym typeface="Wingdings" pitchFamily="2" charset="2"/>
              </a:rPr>
              <a:t>asociados a los 10 riesgos más críticos son los siguientes:</a:t>
            </a:r>
            <a:r>
              <a:rPr lang="es-ES_tradnl" sz="1600" b="1" dirty="0">
                <a:solidFill>
                  <a:srgbClr val="DB0613"/>
                </a:solidFill>
                <a:latin typeface="+mj-lt"/>
                <a:sym typeface="Wingdings" pitchFamily="2" charset="2"/>
              </a:rPr>
              <a:t> </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76" name="Rounded Rectangle 75"/>
          <p:cNvSpPr/>
          <p:nvPr/>
        </p:nvSpPr>
        <p:spPr>
          <a:xfrm>
            <a:off x="505513" y="4119435"/>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Digitalización de documentación en custodia del canal</a:t>
            </a:r>
            <a:endParaRPr lang="es-CL" sz="1000" dirty="0">
              <a:solidFill>
                <a:schemeClr val="tx1">
                  <a:lumMod val="85000"/>
                  <a:lumOff val="15000"/>
                </a:schemeClr>
              </a:solidFill>
            </a:endParaRPr>
          </a:p>
        </p:txBody>
      </p:sp>
      <p:sp>
        <p:nvSpPr>
          <p:cNvPr id="77" name="Rounded Rectangle 76"/>
          <p:cNvSpPr/>
          <p:nvPr/>
        </p:nvSpPr>
        <p:spPr>
          <a:xfrm>
            <a:off x="86403" y="4119435"/>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8" name="Rounded Rectangle 77"/>
          <p:cNvSpPr/>
          <p:nvPr/>
        </p:nvSpPr>
        <p:spPr>
          <a:xfrm>
            <a:off x="1684642" y="4119434"/>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lumMod val="85000"/>
                    <a:lumOff val="15000"/>
                  </a:schemeClr>
                </a:solidFill>
              </a:rPr>
              <a:t>Se evaluará la implementación de un proceso de digitalización (</a:t>
            </a:r>
            <a:r>
              <a:rPr lang="es-ES" sz="1000" dirty="0" err="1">
                <a:solidFill>
                  <a:schemeClr val="tx1">
                    <a:lumMod val="85000"/>
                    <a:lumOff val="15000"/>
                  </a:schemeClr>
                </a:solidFill>
              </a:rPr>
              <a:t>scan</a:t>
            </a:r>
            <a:r>
              <a:rPr lang="es-ES" sz="1000" dirty="0">
                <a:solidFill>
                  <a:schemeClr val="tx1">
                    <a:lumMod val="85000"/>
                    <a:lumOff val="15000"/>
                  </a:schemeClr>
                </a:solidFill>
              </a:rPr>
              <a:t>) de la siguiente documentación:</a:t>
            </a:r>
          </a:p>
          <a:p>
            <a:pPr algn="just"/>
            <a:r>
              <a:rPr lang="es-ES" sz="1000" dirty="0">
                <a:solidFill>
                  <a:schemeClr val="tx1">
                    <a:lumMod val="85000"/>
                    <a:lumOff val="15000"/>
                  </a:schemeClr>
                </a:solidFill>
              </a:rPr>
              <a:t>a. Solicitud del seguro incluyendo la DPS en productos Humanos.</a:t>
            </a:r>
          </a:p>
          <a:p>
            <a:pPr algn="just"/>
            <a:r>
              <a:rPr lang="es-ES" sz="1000" dirty="0">
                <a:solidFill>
                  <a:schemeClr val="tx1">
                    <a:lumMod val="85000"/>
                    <a:lumOff val="15000"/>
                  </a:schemeClr>
                </a:solidFill>
              </a:rPr>
              <a:t>b. Cargo firmado por el asegurado al momento de entrega del certificado por el ejecutivo del canal.</a:t>
            </a:r>
          </a:p>
          <a:p>
            <a:pPr algn="just"/>
            <a:r>
              <a:rPr lang="es-ES" sz="1000" dirty="0">
                <a:solidFill>
                  <a:schemeClr val="tx1">
                    <a:lumMod val="85000"/>
                    <a:lumOff val="15000"/>
                  </a:schemeClr>
                </a:solidFill>
              </a:rPr>
              <a:t>c. Solicitud de un siniestro </a:t>
            </a:r>
            <a:r>
              <a:rPr lang="es-ES" sz="1000" dirty="0" err="1">
                <a:solidFill>
                  <a:schemeClr val="tx1">
                    <a:lumMod val="85000"/>
                    <a:lumOff val="15000"/>
                  </a:schemeClr>
                </a:solidFill>
              </a:rPr>
              <a:t>recepcionada</a:t>
            </a:r>
            <a:r>
              <a:rPr lang="es-ES" sz="1000" dirty="0">
                <a:solidFill>
                  <a:schemeClr val="tx1">
                    <a:lumMod val="85000"/>
                    <a:lumOff val="15000"/>
                  </a:schemeClr>
                </a:solidFill>
              </a:rPr>
              <a:t> por el canal.</a:t>
            </a:r>
          </a:p>
        </p:txBody>
      </p:sp>
      <p:sp>
        <p:nvSpPr>
          <p:cNvPr id="35" name="Rounded Rectangle 34"/>
          <p:cNvSpPr/>
          <p:nvPr/>
        </p:nvSpPr>
        <p:spPr>
          <a:xfrm>
            <a:off x="503538" y="2158085"/>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CL" sz="1000" dirty="0">
                <a:solidFill>
                  <a:schemeClr val="tx1">
                    <a:lumMod val="85000"/>
                    <a:lumOff val="15000"/>
                  </a:schemeClr>
                </a:solidFill>
              </a:rPr>
              <a:t>Medidas disuasivas</a:t>
            </a:r>
          </a:p>
        </p:txBody>
      </p:sp>
      <p:sp>
        <p:nvSpPr>
          <p:cNvPr id="36" name="Rounded Rectangle 35"/>
          <p:cNvSpPr/>
          <p:nvPr/>
        </p:nvSpPr>
        <p:spPr>
          <a:xfrm>
            <a:off x="1682667" y="2158084"/>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Actualmente es política de no autorizar pólizas retroactivas. El análisis de excepciones debe considerar la exigencia da la firma de una carta con la declaración de no siniestros y el acuerdo de repetición en caso de siniestro. Medida disuasiva.</a:t>
            </a:r>
          </a:p>
        </p:txBody>
      </p:sp>
      <p:sp>
        <p:nvSpPr>
          <p:cNvPr id="37" name="Rounded Rectangle 36"/>
          <p:cNvSpPr/>
          <p:nvPr/>
        </p:nvSpPr>
        <p:spPr>
          <a:xfrm>
            <a:off x="7378532" y="2152904"/>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Emisión de pólizas retroactivas en donde no se declara un siniestro ocurrido en el lapso sin cobertura.</a:t>
            </a:r>
            <a:endParaRPr lang="es-CL" sz="1000" dirty="0">
              <a:solidFill>
                <a:schemeClr val="tx1">
                  <a:lumMod val="85000"/>
                  <a:lumOff val="15000"/>
                </a:schemeClr>
              </a:solidFill>
            </a:endParaRPr>
          </a:p>
        </p:txBody>
      </p:sp>
      <p:sp>
        <p:nvSpPr>
          <p:cNvPr id="38" name="Rounded Rectangle 37"/>
          <p:cNvSpPr/>
          <p:nvPr/>
        </p:nvSpPr>
        <p:spPr>
          <a:xfrm>
            <a:off x="5051787" y="2153454"/>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50" dirty="0">
                <a:solidFill>
                  <a:schemeClr val="tx1">
                    <a:lumMod val="85000"/>
                    <a:lumOff val="15000"/>
                  </a:schemeClr>
                </a:solidFill>
              </a:rPr>
              <a:t>80%</a:t>
            </a:r>
          </a:p>
        </p:txBody>
      </p:sp>
      <p:sp>
        <p:nvSpPr>
          <p:cNvPr id="39" name="Rounded Rectangle 38"/>
          <p:cNvSpPr/>
          <p:nvPr/>
        </p:nvSpPr>
        <p:spPr>
          <a:xfrm>
            <a:off x="5813248" y="2153454"/>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50" dirty="0">
                <a:solidFill>
                  <a:prstClr val="black">
                    <a:lumMod val="85000"/>
                    <a:lumOff val="15000"/>
                  </a:prstClr>
                </a:solidFill>
              </a:rPr>
              <a:t>S./ 0 - 3,000</a:t>
            </a:r>
          </a:p>
          <a:p>
            <a:endParaRPr lang="es-CL" sz="800" dirty="0">
              <a:solidFill>
                <a:schemeClr val="tx1">
                  <a:lumMod val="85000"/>
                  <a:lumOff val="15000"/>
                </a:schemeClr>
              </a:solidFill>
            </a:endParaRPr>
          </a:p>
        </p:txBody>
      </p:sp>
      <p:sp>
        <p:nvSpPr>
          <p:cNvPr id="40" name="Rounded Rectangle 39"/>
          <p:cNvSpPr/>
          <p:nvPr/>
        </p:nvSpPr>
        <p:spPr>
          <a:xfrm>
            <a:off x="6653265" y="2153454"/>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50" dirty="0">
                <a:solidFill>
                  <a:prstClr val="black">
                    <a:lumMod val="85000"/>
                    <a:lumOff val="15000"/>
                  </a:prstClr>
                </a:solidFill>
              </a:rPr>
              <a:t>1 – 30 días</a:t>
            </a:r>
          </a:p>
        </p:txBody>
      </p:sp>
      <p:sp>
        <p:nvSpPr>
          <p:cNvPr id="42" name="1 Título"/>
          <p:cNvSpPr>
            <a:spLocks noGrp="1"/>
          </p:cNvSpPr>
          <p:nvPr>
            <p:ph type="title"/>
          </p:nvPr>
        </p:nvSpPr>
        <p:spPr>
          <a:xfrm>
            <a:off x="47624" y="64029"/>
            <a:ext cx="8627715" cy="587723"/>
          </a:xfrm>
        </p:spPr>
        <p:txBody>
          <a:bodyPr/>
          <a:lstStyle/>
          <a:p>
            <a:r>
              <a:rPr lang="es-PE" dirty="0"/>
              <a:t>Planes de Acción</a:t>
            </a:r>
          </a:p>
        </p:txBody>
      </p:sp>
      <p:sp>
        <p:nvSpPr>
          <p:cNvPr id="26" name="Rounded Rectangle 25"/>
          <p:cNvSpPr/>
          <p:nvPr/>
        </p:nvSpPr>
        <p:spPr>
          <a:xfrm>
            <a:off x="7392382" y="4130414"/>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Pérdida de documentación y/o no localización de la información de respaldo del proceso.</a:t>
            </a:r>
          </a:p>
          <a:p>
            <a:r>
              <a:rPr lang="es-ES" sz="1000" dirty="0">
                <a:solidFill>
                  <a:schemeClr val="tx1">
                    <a:lumMod val="85000"/>
                    <a:lumOff val="15000"/>
                  </a:schemeClr>
                </a:solidFill>
              </a:rPr>
              <a:t> P. ej. Declaración personal de Salud (DPS) y / o cargo de certificado en CNT.</a:t>
            </a:r>
            <a:endParaRPr lang="es-CL" sz="1000" dirty="0">
              <a:solidFill>
                <a:schemeClr val="tx1">
                  <a:lumMod val="85000"/>
                  <a:lumOff val="15000"/>
                </a:schemeClr>
              </a:solidFill>
            </a:endParaRPr>
          </a:p>
        </p:txBody>
      </p:sp>
      <p:sp>
        <p:nvSpPr>
          <p:cNvPr id="27" name="Rounded Rectangle 26"/>
          <p:cNvSpPr/>
          <p:nvPr/>
        </p:nvSpPr>
        <p:spPr>
          <a:xfrm>
            <a:off x="5065637" y="4131809"/>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90%</a:t>
            </a:r>
          </a:p>
        </p:txBody>
      </p:sp>
      <p:sp>
        <p:nvSpPr>
          <p:cNvPr id="28" name="Rounded Rectangle 27"/>
          <p:cNvSpPr/>
          <p:nvPr/>
        </p:nvSpPr>
        <p:spPr>
          <a:xfrm>
            <a:off x="5827098" y="4131809"/>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S./ 20.001 - 50,000</a:t>
            </a:r>
          </a:p>
        </p:txBody>
      </p:sp>
      <p:sp>
        <p:nvSpPr>
          <p:cNvPr id="29" name="Rounded Rectangle 28"/>
          <p:cNvSpPr/>
          <p:nvPr/>
        </p:nvSpPr>
        <p:spPr>
          <a:xfrm>
            <a:off x="6667115" y="4131809"/>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&gt; 1 año</a:t>
            </a:r>
          </a:p>
        </p:txBody>
      </p:sp>
    </p:spTree>
    <p:extLst>
      <p:ext uri="{BB962C8B-B14F-4D97-AF65-F5344CB8AC3E}">
        <p14:creationId xmlns:p14="http://schemas.microsoft.com/office/powerpoint/2010/main" val="3863754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86403" y="1590839"/>
            <a:ext cx="36576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p>
        </p:txBody>
      </p:sp>
      <p:sp>
        <p:nvSpPr>
          <p:cNvPr id="15" name="Rounded Rectangle 14"/>
          <p:cNvSpPr/>
          <p:nvPr/>
        </p:nvSpPr>
        <p:spPr>
          <a:xfrm>
            <a:off x="505513" y="1590839"/>
            <a:ext cx="1115648"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Plan de Acción</a:t>
            </a:r>
          </a:p>
        </p:txBody>
      </p:sp>
      <p:sp>
        <p:nvSpPr>
          <p:cNvPr id="18" name="Rounded Rectangle 17"/>
          <p:cNvSpPr/>
          <p:nvPr/>
        </p:nvSpPr>
        <p:spPr>
          <a:xfrm>
            <a:off x="1684642" y="1590839"/>
            <a:ext cx="331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Descripción</a:t>
            </a:r>
          </a:p>
        </p:txBody>
      </p:sp>
      <p:sp>
        <p:nvSpPr>
          <p:cNvPr id="43" name="Rounded Rectangle 42"/>
          <p:cNvSpPr/>
          <p:nvPr/>
        </p:nvSpPr>
        <p:spPr>
          <a:xfrm>
            <a:off x="7380507" y="1590839"/>
            <a:ext cx="1693047"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Riesgo </a:t>
            </a:r>
          </a:p>
        </p:txBody>
      </p:sp>
      <p:sp>
        <p:nvSpPr>
          <p:cNvPr id="45" name="Rounded Rectangle 44"/>
          <p:cNvSpPr/>
          <p:nvPr/>
        </p:nvSpPr>
        <p:spPr>
          <a:xfrm>
            <a:off x="5053762" y="1590839"/>
            <a:ext cx="72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Potencial de mejora</a:t>
            </a:r>
          </a:p>
        </p:txBody>
      </p:sp>
      <p:sp>
        <p:nvSpPr>
          <p:cNvPr id="47" name="Rounded Rectangle 46"/>
          <p:cNvSpPr/>
          <p:nvPr/>
        </p:nvSpPr>
        <p:spPr>
          <a:xfrm>
            <a:off x="5815223" y="1590839"/>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Costo Estimado</a:t>
            </a:r>
          </a:p>
        </p:txBody>
      </p:sp>
      <p:sp>
        <p:nvSpPr>
          <p:cNvPr id="49" name="Rounded Rectangle 48"/>
          <p:cNvSpPr/>
          <p:nvPr/>
        </p:nvSpPr>
        <p:spPr>
          <a:xfrm>
            <a:off x="6655240" y="1590839"/>
            <a:ext cx="684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Tiempo Estimado</a:t>
            </a:r>
          </a:p>
        </p:txBody>
      </p:sp>
      <p:sp>
        <p:nvSpPr>
          <p:cNvPr id="67" name="Rounded Rectangle 61"/>
          <p:cNvSpPr/>
          <p:nvPr/>
        </p:nvSpPr>
        <p:spPr>
          <a:xfrm>
            <a:off x="265237" y="1255283"/>
            <a:ext cx="8656951"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Planes de Acción</a:t>
            </a:r>
          </a:p>
        </p:txBody>
      </p:sp>
      <p:sp>
        <p:nvSpPr>
          <p:cNvPr id="58"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a:t>
            </a:r>
            <a:r>
              <a:rPr lang="es-ES_tradnl" sz="1600" b="1" dirty="0">
                <a:solidFill>
                  <a:srgbClr val="4D4D4D"/>
                </a:solidFill>
                <a:latin typeface="+mj-lt"/>
                <a:sym typeface="Wingdings" pitchFamily="2" charset="2"/>
              </a:rPr>
              <a:t>, los </a:t>
            </a:r>
            <a:r>
              <a:rPr lang="es-ES_tradnl" sz="1600" b="1" dirty="0">
                <a:solidFill>
                  <a:srgbClr val="DB0613"/>
                </a:solidFill>
                <a:latin typeface="+mj-lt"/>
                <a:sym typeface="Wingdings" pitchFamily="2" charset="2"/>
              </a:rPr>
              <a:t>planes de acción </a:t>
            </a:r>
            <a:r>
              <a:rPr lang="es-ES_tradnl" sz="1600" b="1" dirty="0">
                <a:solidFill>
                  <a:srgbClr val="4D4D4D"/>
                </a:solidFill>
                <a:sym typeface="Wingdings" pitchFamily="2" charset="2"/>
              </a:rPr>
              <a:t>asociados a los 10 riesgos más críticos son los siguientes:</a:t>
            </a:r>
            <a:r>
              <a:rPr lang="es-ES_tradnl" sz="1600" b="1" dirty="0">
                <a:solidFill>
                  <a:srgbClr val="DB0613"/>
                </a:solidFill>
                <a:latin typeface="+mj-lt"/>
                <a:sym typeface="Wingdings" pitchFamily="2" charset="2"/>
              </a:rPr>
              <a:t> </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35" name="Rounded Rectangle 34"/>
          <p:cNvSpPr/>
          <p:nvPr/>
        </p:nvSpPr>
        <p:spPr>
          <a:xfrm>
            <a:off x="512884" y="2158537"/>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Digitalización de documentación en custodia del canal</a:t>
            </a:r>
            <a:endParaRPr lang="es-CL" sz="1000" dirty="0">
              <a:solidFill>
                <a:schemeClr val="tx1">
                  <a:lumMod val="85000"/>
                  <a:lumOff val="15000"/>
                </a:schemeClr>
              </a:solidFill>
            </a:endParaRPr>
          </a:p>
        </p:txBody>
      </p:sp>
      <p:sp>
        <p:nvSpPr>
          <p:cNvPr id="36" name="Rounded Rectangle 35"/>
          <p:cNvSpPr/>
          <p:nvPr/>
        </p:nvSpPr>
        <p:spPr>
          <a:xfrm>
            <a:off x="93774" y="2158537"/>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5</a:t>
            </a:r>
          </a:p>
        </p:txBody>
      </p:sp>
      <p:sp>
        <p:nvSpPr>
          <p:cNvPr id="37" name="Rounded Rectangle 36"/>
          <p:cNvSpPr/>
          <p:nvPr/>
        </p:nvSpPr>
        <p:spPr>
          <a:xfrm>
            <a:off x="1692013" y="2158536"/>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lumMod val="85000"/>
                    <a:lumOff val="15000"/>
                  </a:schemeClr>
                </a:solidFill>
              </a:rPr>
              <a:t>Se evaluará la implementación de un proceso de digitalización (</a:t>
            </a:r>
            <a:r>
              <a:rPr lang="es-ES" sz="1000" dirty="0" err="1">
                <a:solidFill>
                  <a:schemeClr val="tx1">
                    <a:lumMod val="85000"/>
                    <a:lumOff val="15000"/>
                  </a:schemeClr>
                </a:solidFill>
              </a:rPr>
              <a:t>scan</a:t>
            </a:r>
            <a:r>
              <a:rPr lang="es-ES" sz="1000" dirty="0">
                <a:solidFill>
                  <a:schemeClr val="tx1">
                    <a:lumMod val="85000"/>
                    <a:lumOff val="15000"/>
                  </a:schemeClr>
                </a:solidFill>
              </a:rPr>
              <a:t>) de la siguiente documentación:</a:t>
            </a:r>
          </a:p>
          <a:p>
            <a:pPr algn="just"/>
            <a:r>
              <a:rPr lang="es-ES" sz="1000" dirty="0">
                <a:solidFill>
                  <a:schemeClr val="tx1">
                    <a:lumMod val="85000"/>
                    <a:lumOff val="15000"/>
                  </a:schemeClr>
                </a:solidFill>
              </a:rPr>
              <a:t>a. Solicitud del seguro incluyendo la DPS en productos Humanos.</a:t>
            </a:r>
          </a:p>
          <a:p>
            <a:pPr algn="just"/>
            <a:r>
              <a:rPr lang="es-ES" sz="1000" dirty="0">
                <a:solidFill>
                  <a:schemeClr val="tx1">
                    <a:lumMod val="85000"/>
                    <a:lumOff val="15000"/>
                  </a:schemeClr>
                </a:solidFill>
              </a:rPr>
              <a:t>b. Cargo firmado por el asegurado al momento de entrega del certificado por el ejecutivo del canal.</a:t>
            </a:r>
          </a:p>
          <a:p>
            <a:pPr algn="just"/>
            <a:r>
              <a:rPr lang="es-ES" sz="1000" dirty="0">
                <a:solidFill>
                  <a:schemeClr val="tx1">
                    <a:lumMod val="85000"/>
                    <a:lumOff val="15000"/>
                  </a:schemeClr>
                </a:solidFill>
              </a:rPr>
              <a:t>c. Solicitud de un siniestro </a:t>
            </a:r>
            <a:r>
              <a:rPr lang="es-ES" sz="1000" dirty="0" err="1">
                <a:solidFill>
                  <a:schemeClr val="tx1">
                    <a:lumMod val="85000"/>
                    <a:lumOff val="15000"/>
                  </a:schemeClr>
                </a:solidFill>
              </a:rPr>
              <a:t>recepcionada</a:t>
            </a:r>
            <a:r>
              <a:rPr lang="es-ES" sz="1000" dirty="0">
                <a:solidFill>
                  <a:schemeClr val="tx1">
                    <a:lumMod val="85000"/>
                    <a:lumOff val="15000"/>
                  </a:schemeClr>
                </a:solidFill>
              </a:rPr>
              <a:t> por el canal.</a:t>
            </a:r>
          </a:p>
        </p:txBody>
      </p:sp>
      <p:sp>
        <p:nvSpPr>
          <p:cNvPr id="38" name="Rounded Rectangle 37"/>
          <p:cNvSpPr/>
          <p:nvPr/>
        </p:nvSpPr>
        <p:spPr>
          <a:xfrm>
            <a:off x="7387878" y="2153356"/>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No captura de la firma del cargo de recepción del certificado y/o firma de la póliza durante el proceso de envío / entrega de la documentación. P. ej. DPS sin firma.</a:t>
            </a:r>
            <a:endParaRPr lang="es-CL" sz="1000" dirty="0">
              <a:solidFill>
                <a:schemeClr val="tx1">
                  <a:lumMod val="85000"/>
                  <a:lumOff val="15000"/>
                </a:schemeClr>
              </a:solidFill>
            </a:endParaRPr>
          </a:p>
        </p:txBody>
      </p:sp>
      <p:sp>
        <p:nvSpPr>
          <p:cNvPr id="39" name="Rounded Rectangle 38"/>
          <p:cNvSpPr/>
          <p:nvPr/>
        </p:nvSpPr>
        <p:spPr>
          <a:xfrm>
            <a:off x="5061133" y="2153907"/>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90%</a:t>
            </a:r>
          </a:p>
        </p:txBody>
      </p:sp>
      <p:sp>
        <p:nvSpPr>
          <p:cNvPr id="40" name="Rounded Rectangle 39"/>
          <p:cNvSpPr/>
          <p:nvPr/>
        </p:nvSpPr>
        <p:spPr>
          <a:xfrm>
            <a:off x="5822594" y="2153907"/>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S./ 20.001 - 50,000</a:t>
            </a:r>
          </a:p>
        </p:txBody>
      </p:sp>
      <p:sp>
        <p:nvSpPr>
          <p:cNvPr id="41" name="Rounded Rectangle 40"/>
          <p:cNvSpPr/>
          <p:nvPr/>
        </p:nvSpPr>
        <p:spPr>
          <a:xfrm>
            <a:off x="6662611" y="2153907"/>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&gt; 1 año</a:t>
            </a:r>
          </a:p>
        </p:txBody>
      </p:sp>
      <p:sp>
        <p:nvSpPr>
          <p:cNvPr id="42" name="Rounded Rectangle 41"/>
          <p:cNvSpPr/>
          <p:nvPr/>
        </p:nvSpPr>
        <p:spPr>
          <a:xfrm>
            <a:off x="517388" y="4143553"/>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CL" sz="1000" dirty="0">
                <a:solidFill>
                  <a:schemeClr val="tx1">
                    <a:lumMod val="85000"/>
                    <a:lumOff val="15000"/>
                  </a:schemeClr>
                </a:solidFill>
              </a:rPr>
              <a:t>Configuración de alertas e indicadores</a:t>
            </a:r>
          </a:p>
        </p:txBody>
      </p:sp>
      <p:sp>
        <p:nvSpPr>
          <p:cNvPr id="51" name="Rounded Rectangle 50"/>
          <p:cNvSpPr/>
          <p:nvPr/>
        </p:nvSpPr>
        <p:spPr>
          <a:xfrm>
            <a:off x="98278" y="4143553"/>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6</a:t>
            </a:r>
          </a:p>
        </p:txBody>
      </p:sp>
      <p:sp>
        <p:nvSpPr>
          <p:cNvPr id="52" name="Rounded Rectangle 51"/>
          <p:cNvSpPr/>
          <p:nvPr/>
        </p:nvSpPr>
        <p:spPr>
          <a:xfrm>
            <a:off x="1696517" y="4143551"/>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dirty="0">
                <a:solidFill>
                  <a:schemeClr val="tx1">
                    <a:lumMod val="85000"/>
                    <a:lumOff val="15000"/>
                  </a:schemeClr>
                </a:solidFill>
              </a:rPr>
              <a:t>Alertas en el sistema</a:t>
            </a:r>
            <a:r>
              <a:rPr lang="es-ES" sz="1000" dirty="0">
                <a:solidFill>
                  <a:schemeClr val="tx1">
                    <a:lumMod val="85000"/>
                    <a:lumOff val="15000"/>
                  </a:schemeClr>
                </a:solidFill>
              </a:rPr>
              <a:t>: Configuración de una alerta en el sistema (</a:t>
            </a:r>
            <a:r>
              <a:rPr lang="es-ES" sz="1000" dirty="0" err="1">
                <a:solidFill>
                  <a:schemeClr val="tx1">
                    <a:lumMod val="85000"/>
                    <a:lumOff val="15000"/>
                  </a:schemeClr>
                </a:solidFill>
              </a:rPr>
              <a:t>Acsel</a:t>
            </a:r>
            <a:r>
              <a:rPr lang="es-ES" sz="1000" dirty="0">
                <a:solidFill>
                  <a:schemeClr val="tx1">
                    <a:lumMod val="85000"/>
                    <a:lumOff val="15000"/>
                  </a:schemeClr>
                </a:solidFill>
              </a:rPr>
              <a:t>/X), previa a la emisión de la póliza, que reconozca aquellos trámites con una suma asegurada mayor a los USD 300,000. </a:t>
            </a:r>
          </a:p>
          <a:p>
            <a:r>
              <a:rPr lang="es-ES" sz="1000" b="1" dirty="0">
                <a:solidFill>
                  <a:schemeClr val="tx1">
                    <a:lumMod val="85000"/>
                    <a:lumOff val="15000"/>
                  </a:schemeClr>
                </a:solidFill>
              </a:rPr>
              <a:t>Indicadores</a:t>
            </a:r>
            <a:r>
              <a:rPr lang="es-ES" sz="1000" dirty="0">
                <a:solidFill>
                  <a:schemeClr val="tx1">
                    <a:lumMod val="85000"/>
                    <a:lumOff val="15000"/>
                  </a:schemeClr>
                </a:solidFill>
              </a:rPr>
              <a:t>: Implantación de indicadores derivados del control de calidad (formalización) realizado sobre los datos incluidos en la DPS. Estos indicadores se presentarían en los Comités mensuales a los emisores junto con la casuística de errores encontrados.</a:t>
            </a:r>
          </a:p>
          <a:p>
            <a:r>
              <a:rPr lang="es-ES" sz="1000" b="1" dirty="0">
                <a:solidFill>
                  <a:schemeClr val="tx1">
                    <a:lumMod val="85000"/>
                    <a:lumOff val="15000"/>
                  </a:schemeClr>
                </a:solidFill>
              </a:rPr>
              <a:t>Control de calidad</a:t>
            </a:r>
            <a:r>
              <a:rPr lang="es-ES" sz="1000" dirty="0">
                <a:solidFill>
                  <a:schemeClr val="tx1">
                    <a:lumMod val="85000"/>
                    <a:lumOff val="15000"/>
                  </a:schemeClr>
                </a:solidFill>
              </a:rPr>
              <a:t>: Evaluación de la posibilidad de incrementar el porcentaje de trámites revisados.</a:t>
            </a:r>
          </a:p>
        </p:txBody>
      </p:sp>
      <p:sp>
        <p:nvSpPr>
          <p:cNvPr id="53" name="Rounded Rectangle 52"/>
          <p:cNvSpPr/>
          <p:nvPr/>
        </p:nvSpPr>
        <p:spPr>
          <a:xfrm>
            <a:off x="7392382" y="4130414"/>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Envío erróneo de cotizaciones para su emisión por parte de Formalización, por considerar incorrectamente que se trata de un producto modular y, por lo tanto, no requiere de la evaluación de la unidad de negocio.  - Caso de Accidentes Personales -</a:t>
            </a:r>
            <a:endParaRPr lang="es-CL" sz="1000" dirty="0">
              <a:solidFill>
                <a:schemeClr val="tx1">
                  <a:lumMod val="85000"/>
                  <a:lumOff val="15000"/>
                </a:schemeClr>
              </a:solidFill>
            </a:endParaRPr>
          </a:p>
        </p:txBody>
      </p:sp>
      <p:sp>
        <p:nvSpPr>
          <p:cNvPr id="54" name="Rounded Rectangle 53"/>
          <p:cNvSpPr/>
          <p:nvPr/>
        </p:nvSpPr>
        <p:spPr>
          <a:xfrm>
            <a:off x="5065637" y="4131809"/>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80%</a:t>
            </a:r>
          </a:p>
        </p:txBody>
      </p:sp>
      <p:sp>
        <p:nvSpPr>
          <p:cNvPr id="55" name="Rounded Rectangle 54"/>
          <p:cNvSpPr/>
          <p:nvPr/>
        </p:nvSpPr>
        <p:spPr>
          <a:xfrm>
            <a:off x="5827098" y="4131809"/>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S./ 0 - 3,000</a:t>
            </a:r>
          </a:p>
        </p:txBody>
      </p:sp>
      <p:sp>
        <p:nvSpPr>
          <p:cNvPr id="56" name="Rounded Rectangle 55"/>
          <p:cNvSpPr/>
          <p:nvPr/>
        </p:nvSpPr>
        <p:spPr>
          <a:xfrm>
            <a:off x="6667115" y="4131809"/>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31 – 90 días</a:t>
            </a:r>
          </a:p>
        </p:txBody>
      </p:sp>
      <p:sp>
        <p:nvSpPr>
          <p:cNvPr id="44" name="1 Título"/>
          <p:cNvSpPr>
            <a:spLocks noGrp="1"/>
          </p:cNvSpPr>
          <p:nvPr>
            <p:ph type="title"/>
          </p:nvPr>
        </p:nvSpPr>
        <p:spPr>
          <a:xfrm>
            <a:off x="47624" y="64029"/>
            <a:ext cx="8627715" cy="587723"/>
          </a:xfrm>
        </p:spPr>
        <p:txBody>
          <a:bodyPr/>
          <a:lstStyle/>
          <a:p>
            <a:r>
              <a:rPr lang="es-PE" dirty="0"/>
              <a:t>Planes de Acción</a:t>
            </a:r>
          </a:p>
        </p:txBody>
      </p:sp>
    </p:spTree>
    <p:extLst>
      <p:ext uri="{BB962C8B-B14F-4D97-AF65-F5344CB8AC3E}">
        <p14:creationId xmlns:p14="http://schemas.microsoft.com/office/powerpoint/2010/main" val="4111823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86403" y="1590839"/>
            <a:ext cx="36576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p>
        </p:txBody>
      </p:sp>
      <p:sp>
        <p:nvSpPr>
          <p:cNvPr id="15" name="Rounded Rectangle 14"/>
          <p:cNvSpPr/>
          <p:nvPr/>
        </p:nvSpPr>
        <p:spPr>
          <a:xfrm>
            <a:off x="505513" y="1590839"/>
            <a:ext cx="1115648"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Plan de Acción</a:t>
            </a:r>
          </a:p>
        </p:txBody>
      </p:sp>
      <p:sp>
        <p:nvSpPr>
          <p:cNvPr id="18" name="Rounded Rectangle 17"/>
          <p:cNvSpPr/>
          <p:nvPr/>
        </p:nvSpPr>
        <p:spPr>
          <a:xfrm>
            <a:off x="1684642" y="1590839"/>
            <a:ext cx="331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Descripción</a:t>
            </a:r>
          </a:p>
        </p:txBody>
      </p:sp>
      <p:sp>
        <p:nvSpPr>
          <p:cNvPr id="43" name="Rounded Rectangle 42"/>
          <p:cNvSpPr/>
          <p:nvPr/>
        </p:nvSpPr>
        <p:spPr>
          <a:xfrm>
            <a:off x="7380507" y="1590839"/>
            <a:ext cx="1693047"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Riesgo </a:t>
            </a:r>
          </a:p>
        </p:txBody>
      </p:sp>
      <p:sp>
        <p:nvSpPr>
          <p:cNvPr id="45" name="Rounded Rectangle 44"/>
          <p:cNvSpPr/>
          <p:nvPr/>
        </p:nvSpPr>
        <p:spPr>
          <a:xfrm>
            <a:off x="5053762" y="1590839"/>
            <a:ext cx="72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Potencial de mejora</a:t>
            </a:r>
          </a:p>
        </p:txBody>
      </p:sp>
      <p:sp>
        <p:nvSpPr>
          <p:cNvPr id="47" name="Rounded Rectangle 46"/>
          <p:cNvSpPr/>
          <p:nvPr/>
        </p:nvSpPr>
        <p:spPr>
          <a:xfrm>
            <a:off x="5815223" y="1590839"/>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Costo Estimado</a:t>
            </a:r>
          </a:p>
        </p:txBody>
      </p:sp>
      <p:sp>
        <p:nvSpPr>
          <p:cNvPr id="49" name="Rounded Rectangle 48"/>
          <p:cNvSpPr/>
          <p:nvPr/>
        </p:nvSpPr>
        <p:spPr>
          <a:xfrm>
            <a:off x="6655240" y="1590839"/>
            <a:ext cx="684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Tiempo Estimado</a:t>
            </a:r>
          </a:p>
        </p:txBody>
      </p:sp>
      <p:sp>
        <p:nvSpPr>
          <p:cNvPr id="67" name="Rounded Rectangle 61"/>
          <p:cNvSpPr/>
          <p:nvPr/>
        </p:nvSpPr>
        <p:spPr>
          <a:xfrm>
            <a:off x="265237" y="1255283"/>
            <a:ext cx="8656951"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Planes de Acción</a:t>
            </a:r>
          </a:p>
        </p:txBody>
      </p:sp>
      <p:sp>
        <p:nvSpPr>
          <p:cNvPr id="58"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a:t>
            </a:r>
            <a:r>
              <a:rPr lang="es-ES_tradnl" sz="1600" b="1" dirty="0">
                <a:solidFill>
                  <a:srgbClr val="4D4D4D"/>
                </a:solidFill>
                <a:latin typeface="+mj-lt"/>
                <a:sym typeface="Wingdings" pitchFamily="2" charset="2"/>
              </a:rPr>
              <a:t>, los </a:t>
            </a:r>
            <a:r>
              <a:rPr lang="es-ES_tradnl" sz="1600" b="1" dirty="0">
                <a:solidFill>
                  <a:srgbClr val="DB0613"/>
                </a:solidFill>
                <a:latin typeface="+mj-lt"/>
                <a:sym typeface="Wingdings" pitchFamily="2" charset="2"/>
              </a:rPr>
              <a:t>planes de acción </a:t>
            </a:r>
            <a:r>
              <a:rPr lang="es-ES_tradnl" sz="1600" b="1" dirty="0">
                <a:solidFill>
                  <a:srgbClr val="4D4D4D"/>
                </a:solidFill>
                <a:sym typeface="Wingdings" pitchFamily="2" charset="2"/>
              </a:rPr>
              <a:t>asociados a los 10 riesgos más críticos son los siguientes:</a:t>
            </a:r>
            <a:r>
              <a:rPr lang="es-ES_tradnl" sz="1600" b="1" dirty="0">
                <a:solidFill>
                  <a:srgbClr val="DB0613"/>
                </a:solidFill>
                <a:latin typeface="+mj-lt"/>
                <a:sym typeface="Wingdings" pitchFamily="2" charset="2"/>
              </a:rPr>
              <a:t> </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76" name="Rounded Rectangle 75"/>
          <p:cNvSpPr/>
          <p:nvPr/>
        </p:nvSpPr>
        <p:spPr>
          <a:xfrm>
            <a:off x="505513" y="2160589"/>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Capacitaciones a procuradores</a:t>
            </a:r>
            <a:endParaRPr lang="es-CL" sz="1000" dirty="0">
              <a:solidFill>
                <a:schemeClr val="tx1">
                  <a:lumMod val="85000"/>
                  <a:lumOff val="15000"/>
                </a:schemeClr>
              </a:solidFill>
            </a:endParaRPr>
          </a:p>
        </p:txBody>
      </p:sp>
      <p:sp>
        <p:nvSpPr>
          <p:cNvPr id="77" name="Rounded Rectangle 76"/>
          <p:cNvSpPr/>
          <p:nvPr/>
        </p:nvSpPr>
        <p:spPr>
          <a:xfrm>
            <a:off x="86403" y="2160589"/>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7</a:t>
            </a:r>
          </a:p>
        </p:txBody>
      </p:sp>
      <p:sp>
        <p:nvSpPr>
          <p:cNvPr id="79" name="Rounded Rectangle 78"/>
          <p:cNvSpPr/>
          <p:nvPr/>
        </p:nvSpPr>
        <p:spPr>
          <a:xfrm>
            <a:off x="7380507" y="2149566"/>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Errores o falencias en la ejecución de los procedimientos del Asesor/Procurador.  Estas falencias pueden derivar en la aceptación de siniestros que debieron haber sido rechazados o rechazado siniestros que debieron haber sido aceptados.</a:t>
            </a:r>
            <a:endParaRPr lang="es-CL" sz="1000" dirty="0">
              <a:solidFill>
                <a:schemeClr val="tx1">
                  <a:lumMod val="85000"/>
                  <a:lumOff val="15000"/>
                </a:schemeClr>
              </a:solidFill>
            </a:endParaRPr>
          </a:p>
        </p:txBody>
      </p:sp>
      <p:sp>
        <p:nvSpPr>
          <p:cNvPr id="80" name="Rounded Rectangle 79"/>
          <p:cNvSpPr/>
          <p:nvPr/>
        </p:nvSpPr>
        <p:spPr>
          <a:xfrm>
            <a:off x="5053762" y="2150739"/>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50%</a:t>
            </a:r>
          </a:p>
        </p:txBody>
      </p:sp>
      <p:sp>
        <p:nvSpPr>
          <p:cNvPr id="81" name="Rounded Rectangle 80"/>
          <p:cNvSpPr/>
          <p:nvPr/>
        </p:nvSpPr>
        <p:spPr>
          <a:xfrm>
            <a:off x="5815223" y="2150739"/>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00" dirty="0">
                <a:solidFill>
                  <a:prstClr val="black">
                    <a:lumMod val="85000"/>
                    <a:lumOff val="15000"/>
                  </a:prstClr>
                </a:solidFill>
              </a:rPr>
              <a:t>S./ 0 - 3,000</a:t>
            </a:r>
          </a:p>
        </p:txBody>
      </p:sp>
      <p:sp>
        <p:nvSpPr>
          <p:cNvPr id="82" name="Rounded Rectangle 81"/>
          <p:cNvSpPr/>
          <p:nvPr/>
        </p:nvSpPr>
        <p:spPr>
          <a:xfrm>
            <a:off x="6655240" y="2150739"/>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00" dirty="0">
                <a:solidFill>
                  <a:prstClr val="black">
                    <a:lumMod val="85000"/>
                    <a:lumOff val="15000"/>
                  </a:prstClr>
                </a:solidFill>
              </a:rPr>
              <a:t>1 – 30 días</a:t>
            </a:r>
          </a:p>
        </p:txBody>
      </p:sp>
      <p:sp>
        <p:nvSpPr>
          <p:cNvPr id="35" name="Rounded Rectangle 34"/>
          <p:cNvSpPr/>
          <p:nvPr/>
        </p:nvSpPr>
        <p:spPr>
          <a:xfrm>
            <a:off x="512884" y="4130521"/>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Proveedor de Back Up</a:t>
            </a:r>
            <a:endParaRPr lang="es-CL" sz="1000" dirty="0">
              <a:solidFill>
                <a:schemeClr val="tx1">
                  <a:lumMod val="85000"/>
                  <a:lumOff val="15000"/>
                </a:schemeClr>
              </a:solidFill>
            </a:endParaRPr>
          </a:p>
        </p:txBody>
      </p:sp>
      <p:sp>
        <p:nvSpPr>
          <p:cNvPr id="36" name="Rounded Rectangle 35"/>
          <p:cNvSpPr/>
          <p:nvPr/>
        </p:nvSpPr>
        <p:spPr>
          <a:xfrm>
            <a:off x="93774" y="4130521"/>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8</a:t>
            </a:r>
          </a:p>
        </p:txBody>
      </p:sp>
      <p:sp>
        <p:nvSpPr>
          <p:cNvPr id="37" name="Rounded Rectangle 36"/>
          <p:cNvSpPr/>
          <p:nvPr/>
        </p:nvSpPr>
        <p:spPr>
          <a:xfrm>
            <a:off x="1692013" y="4130520"/>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lumMod val="85000"/>
                    <a:lumOff val="15000"/>
                  </a:schemeClr>
                </a:solidFill>
              </a:rPr>
              <a:t>Búsqueda, contratación y capacitación de un back up / apoyo del proveedor actual para la digitación de las solicitudes que </a:t>
            </a:r>
            <a:r>
              <a:rPr lang="es-ES" sz="1000" dirty="0" err="1">
                <a:solidFill>
                  <a:schemeClr val="tx1">
                    <a:lumMod val="85000"/>
                    <a:lumOff val="15000"/>
                  </a:schemeClr>
                </a:solidFill>
              </a:rPr>
              <a:t>Worksite</a:t>
            </a:r>
            <a:r>
              <a:rPr lang="es-ES" sz="1000" dirty="0">
                <a:solidFill>
                  <a:schemeClr val="tx1">
                    <a:lumMod val="85000"/>
                    <a:lumOff val="15000"/>
                  </a:schemeClr>
                </a:solidFill>
              </a:rPr>
              <a:t> maneja.</a:t>
            </a:r>
          </a:p>
          <a:p>
            <a:pPr algn="just"/>
            <a:endParaRPr lang="es-ES" sz="1000" dirty="0">
              <a:solidFill>
                <a:schemeClr val="tx1">
                  <a:lumMod val="85000"/>
                  <a:lumOff val="15000"/>
                </a:schemeClr>
              </a:solidFill>
            </a:endParaRPr>
          </a:p>
          <a:p>
            <a:pPr algn="just"/>
            <a:r>
              <a:rPr lang="es-ES" sz="1000" dirty="0">
                <a:solidFill>
                  <a:schemeClr val="tx1">
                    <a:lumMod val="85000"/>
                    <a:lumOff val="15000"/>
                  </a:schemeClr>
                </a:solidFill>
              </a:rPr>
              <a:t>Se debe elaborar una política de activación de dicho back up / apoyo. Entre los escenarios a considerar deberá estar la concentración de solicitudes a fin de mes.</a:t>
            </a:r>
          </a:p>
        </p:txBody>
      </p:sp>
      <p:sp>
        <p:nvSpPr>
          <p:cNvPr id="38" name="Rounded Rectangle 37"/>
          <p:cNvSpPr/>
          <p:nvPr/>
        </p:nvSpPr>
        <p:spPr>
          <a:xfrm>
            <a:off x="7387878" y="4125340"/>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Retrasos en las emisiones de pólizas de </a:t>
            </a:r>
            <a:r>
              <a:rPr lang="es-ES" sz="1000" dirty="0" err="1">
                <a:solidFill>
                  <a:schemeClr val="tx1">
                    <a:lumMod val="85000"/>
                    <a:lumOff val="15000"/>
                  </a:schemeClr>
                </a:solidFill>
              </a:rPr>
              <a:t>Worksite</a:t>
            </a:r>
            <a:r>
              <a:rPr lang="es-ES" sz="1000" dirty="0">
                <a:solidFill>
                  <a:schemeClr val="tx1">
                    <a:lumMod val="85000"/>
                    <a:lumOff val="15000"/>
                  </a:schemeClr>
                </a:solidFill>
              </a:rPr>
              <a:t> debido a  (1) </a:t>
            </a:r>
            <a:r>
              <a:rPr lang="es-ES" sz="1000" dirty="0" err="1">
                <a:solidFill>
                  <a:schemeClr val="tx1">
                    <a:lumMod val="85000"/>
                    <a:lumOff val="15000"/>
                  </a:schemeClr>
                </a:solidFill>
              </a:rPr>
              <a:t>reprocesos</a:t>
            </a:r>
            <a:r>
              <a:rPr lang="es-ES" sz="1000" dirty="0">
                <a:solidFill>
                  <a:schemeClr val="tx1">
                    <a:lumMod val="85000"/>
                    <a:lumOff val="15000"/>
                  </a:schemeClr>
                </a:solidFill>
              </a:rPr>
              <a:t> originados por errores en la digitación, (2) incumplimiento de los ANS (tiempos) por estacionalidad en la llegada de solicitudes a gestionar (fin de mes). Canal </a:t>
            </a:r>
            <a:r>
              <a:rPr lang="es-ES" sz="1000" dirty="0" err="1">
                <a:solidFill>
                  <a:schemeClr val="tx1">
                    <a:lumMod val="85000"/>
                    <a:lumOff val="15000"/>
                  </a:schemeClr>
                </a:solidFill>
              </a:rPr>
              <a:t>worksite</a:t>
            </a:r>
            <a:r>
              <a:rPr lang="es-ES" sz="1000" dirty="0">
                <a:solidFill>
                  <a:schemeClr val="tx1">
                    <a:lumMod val="85000"/>
                    <a:lumOff val="15000"/>
                  </a:schemeClr>
                </a:solidFill>
              </a:rPr>
              <a:t>.</a:t>
            </a:r>
            <a:endParaRPr lang="es-CL" sz="1000" dirty="0">
              <a:solidFill>
                <a:schemeClr val="tx1">
                  <a:lumMod val="85000"/>
                  <a:lumOff val="15000"/>
                </a:schemeClr>
              </a:solidFill>
            </a:endParaRPr>
          </a:p>
        </p:txBody>
      </p:sp>
      <p:sp>
        <p:nvSpPr>
          <p:cNvPr id="39" name="Rounded Rectangle 38"/>
          <p:cNvSpPr/>
          <p:nvPr/>
        </p:nvSpPr>
        <p:spPr>
          <a:xfrm>
            <a:off x="5061133" y="4125890"/>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80%</a:t>
            </a:r>
          </a:p>
        </p:txBody>
      </p:sp>
      <p:sp>
        <p:nvSpPr>
          <p:cNvPr id="40" name="Rounded Rectangle 39"/>
          <p:cNvSpPr/>
          <p:nvPr/>
        </p:nvSpPr>
        <p:spPr>
          <a:xfrm>
            <a:off x="5822594" y="4125890"/>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es-ES_tradnl" sz="1000" dirty="0">
                <a:solidFill>
                  <a:schemeClr val="tx1"/>
                </a:solidFill>
                <a:sym typeface="Wingdings" pitchFamily="2" charset="2"/>
              </a:rPr>
              <a:t>S/. 3,001 &lt; C &lt; S/. 10,000</a:t>
            </a:r>
            <a:endParaRPr lang="es-ES_tradnl" sz="1000" b="1" dirty="0">
              <a:solidFill>
                <a:schemeClr val="tx1"/>
              </a:solidFill>
              <a:sym typeface="Wingdings" pitchFamily="2" charset="2"/>
            </a:endParaRPr>
          </a:p>
          <a:p>
            <a:endParaRPr lang="es-CL" sz="1000" dirty="0">
              <a:solidFill>
                <a:schemeClr val="tx1">
                  <a:lumMod val="85000"/>
                  <a:lumOff val="15000"/>
                </a:schemeClr>
              </a:solidFill>
            </a:endParaRPr>
          </a:p>
        </p:txBody>
      </p:sp>
      <p:sp>
        <p:nvSpPr>
          <p:cNvPr id="41" name="Rounded Rectangle 40"/>
          <p:cNvSpPr/>
          <p:nvPr/>
        </p:nvSpPr>
        <p:spPr>
          <a:xfrm>
            <a:off x="6662611" y="4125890"/>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lumMod val="85000"/>
                    <a:lumOff val="15000"/>
                  </a:schemeClr>
                </a:solidFill>
              </a:rPr>
              <a:t>31 – 90 días</a:t>
            </a:r>
          </a:p>
        </p:txBody>
      </p:sp>
      <p:sp>
        <p:nvSpPr>
          <p:cNvPr id="42" name="Rounded Rectangle 41"/>
          <p:cNvSpPr/>
          <p:nvPr/>
        </p:nvSpPr>
        <p:spPr>
          <a:xfrm>
            <a:off x="1684642" y="2149566"/>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Se requiere de un programa de capacitaciones constantes para (1) procuradores y (2) ejecutivos de siniestros. Estas capacitaciones tendrán por objetivo ser un recordatorio de la casuística de los posibles siniestros con demostraciones de ejemplos prácticos.</a:t>
            </a:r>
          </a:p>
        </p:txBody>
      </p:sp>
      <p:sp>
        <p:nvSpPr>
          <p:cNvPr id="44" name="1 Título"/>
          <p:cNvSpPr>
            <a:spLocks noGrp="1"/>
          </p:cNvSpPr>
          <p:nvPr>
            <p:ph type="title"/>
          </p:nvPr>
        </p:nvSpPr>
        <p:spPr>
          <a:xfrm>
            <a:off x="47624" y="64029"/>
            <a:ext cx="8627715" cy="587723"/>
          </a:xfrm>
        </p:spPr>
        <p:txBody>
          <a:bodyPr/>
          <a:lstStyle/>
          <a:p>
            <a:r>
              <a:rPr lang="es-PE" dirty="0"/>
              <a:t>Planes de Acción</a:t>
            </a:r>
          </a:p>
        </p:txBody>
      </p:sp>
    </p:spTree>
    <p:extLst>
      <p:ext uri="{BB962C8B-B14F-4D97-AF65-F5344CB8AC3E}">
        <p14:creationId xmlns:p14="http://schemas.microsoft.com/office/powerpoint/2010/main" val="1861531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86403" y="1590839"/>
            <a:ext cx="36576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p>
        </p:txBody>
      </p:sp>
      <p:sp>
        <p:nvSpPr>
          <p:cNvPr id="15" name="Rounded Rectangle 14"/>
          <p:cNvSpPr/>
          <p:nvPr/>
        </p:nvSpPr>
        <p:spPr>
          <a:xfrm>
            <a:off x="505513" y="1590839"/>
            <a:ext cx="1115648"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Plan de Acción</a:t>
            </a:r>
          </a:p>
        </p:txBody>
      </p:sp>
      <p:sp>
        <p:nvSpPr>
          <p:cNvPr id="18" name="Rounded Rectangle 17"/>
          <p:cNvSpPr/>
          <p:nvPr/>
        </p:nvSpPr>
        <p:spPr>
          <a:xfrm>
            <a:off x="1684642" y="1590839"/>
            <a:ext cx="331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Descripción</a:t>
            </a:r>
          </a:p>
        </p:txBody>
      </p:sp>
      <p:sp>
        <p:nvSpPr>
          <p:cNvPr id="43" name="Rounded Rectangle 42"/>
          <p:cNvSpPr/>
          <p:nvPr/>
        </p:nvSpPr>
        <p:spPr>
          <a:xfrm>
            <a:off x="7380507" y="1590839"/>
            <a:ext cx="1693047"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00" b="1" dirty="0"/>
              <a:t>Riesgo </a:t>
            </a:r>
          </a:p>
        </p:txBody>
      </p:sp>
      <p:sp>
        <p:nvSpPr>
          <p:cNvPr id="45" name="Rounded Rectangle 44"/>
          <p:cNvSpPr/>
          <p:nvPr/>
        </p:nvSpPr>
        <p:spPr>
          <a:xfrm>
            <a:off x="5053762" y="1590839"/>
            <a:ext cx="72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Potencial de mejora</a:t>
            </a:r>
          </a:p>
        </p:txBody>
      </p:sp>
      <p:sp>
        <p:nvSpPr>
          <p:cNvPr id="47" name="Rounded Rectangle 46"/>
          <p:cNvSpPr/>
          <p:nvPr/>
        </p:nvSpPr>
        <p:spPr>
          <a:xfrm>
            <a:off x="5815223" y="1590839"/>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Costo Estimado</a:t>
            </a:r>
          </a:p>
        </p:txBody>
      </p:sp>
      <p:sp>
        <p:nvSpPr>
          <p:cNvPr id="49" name="Rounded Rectangle 48"/>
          <p:cNvSpPr/>
          <p:nvPr/>
        </p:nvSpPr>
        <p:spPr>
          <a:xfrm>
            <a:off x="6655240" y="1590839"/>
            <a:ext cx="684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900" b="1" dirty="0"/>
              <a:t>Tiempo Estimado</a:t>
            </a:r>
          </a:p>
        </p:txBody>
      </p:sp>
      <p:sp>
        <p:nvSpPr>
          <p:cNvPr id="67" name="Rounded Rectangle 61"/>
          <p:cNvSpPr/>
          <p:nvPr/>
        </p:nvSpPr>
        <p:spPr>
          <a:xfrm>
            <a:off x="265237" y="1255283"/>
            <a:ext cx="8656951"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Planes de Acción</a:t>
            </a:r>
          </a:p>
        </p:txBody>
      </p:sp>
      <p:sp>
        <p:nvSpPr>
          <p:cNvPr id="58"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600" b="1" dirty="0">
                <a:solidFill>
                  <a:srgbClr val="4D4D4D"/>
                </a:solidFill>
                <a:sym typeface="Wingdings" pitchFamily="2" charset="2"/>
              </a:rPr>
              <a:t>Dentro de los 8 procesos evaluados</a:t>
            </a:r>
            <a:r>
              <a:rPr lang="es-ES_tradnl" sz="1600" b="1" dirty="0">
                <a:solidFill>
                  <a:srgbClr val="4D4D4D"/>
                </a:solidFill>
                <a:latin typeface="+mj-lt"/>
                <a:sym typeface="Wingdings" pitchFamily="2" charset="2"/>
              </a:rPr>
              <a:t>, los </a:t>
            </a:r>
            <a:r>
              <a:rPr lang="es-ES_tradnl" sz="1600" b="1" dirty="0">
                <a:solidFill>
                  <a:srgbClr val="DB0613"/>
                </a:solidFill>
                <a:latin typeface="+mj-lt"/>
                <a:sym typeface="Wingdings" pitchFamily="2" charset="2"/>
              </a:rPr>
              <a:t>planes de acción </a:t>
            </a:r>
            <a:r>
              <a:rPr lang="es-ES_tradnl" sz="1600" b="1" dirty="0">
                <a:solidFill>
                  <a:srgbClr val="4D4D4D"/>
                </a:solidFill>
                <a:sym typeface="Wingdings" pitchFamily="2" charset="2"/>
              </a:rPr>
              <a:t>asociados a los 10 riesgos más críticos son los siguientes:</a:t>
            </a:r>
            <a:r>
              <a:rPr lang="es-ES_tradnl" sz="1600" b="1" dirty="0">
                <a:solidFill>
                  <a:srgbClr val="DB0613"/>
                </a:solidFill>
                <a:latin typeface="+mj-lt"/>
                <a:sym typeface="Wingdings" pitchFamily="2" charset="2"/>
              </a:rPr>
              <a:t> </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35" name="Rounded Rectangle 34"/>
          <p:cNvSpPr/>
          <p:nvPr/>
        </p:nvSpPr>
        <p:spPr>
          <a:xfrm>
            <a:off x="512884" y="4130521"/>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Implementación de política de suscripción</a:t>
            </a:r>
            <a:endParaRPr lang="es-CL" sz="1000" dirty="0">
              <a:solidFill>
                <a:schemeClr val="tx1">
                  <a:lumMod val="85000"/>
                  <a:lumOff val="15000"/>
                </a:schemeClr>
              </a:solidFill>
            </a:endParaRPr>
          </a:p>
        </p:txBody>
      </p:sp>
      <p:sp>
        <p:nvSpPr>
          <p:cNvPr id="36" name="Rounded Rectangle 35"/>
          <p:cNvSpPr/>
          <p:nvPr/>
        </p:nvSpPr>
        <p:spPr>
          <a:xfrm>
            <a:off x="93774" y="4130521"/>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10</a:t>
            </a:r>
          </a:p>
        </p:txBody>
      </p:sp>
      <p:sp>
        <p:nvSpPr>
          <p:cNvPr id="37" name="Rounded Rectangle 36"/>
          <p:cNvSpPr/>
          <p:nvPr/>
        </p:nvSpPr>
        <p:spPr>
          <a:xfrm>
            <a:off x="1692013" y="4130520"/>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lumMod val="85000"/>
                    <a:lumOff val="15000"/>
                  </a:schemeClr>
                </a:solidFill>
              </a:rPr>
              <a:t>Implementación de política de suscripción para determinar si las personas son aptas para ser aseguradas. Identificación de las personas por la UN RRLL y posterior evaluación con la UN Vida. Plan de acción ya implementado.</a:t>
            </a:r>
          </a:p>
        </p:txBody>
      </p:sp>
      <p:sp>
        <p:nvSpPr>
          <p:cNvPr id="38" name="Rounded Rectangle 37"/>
          <p:cNvSpPr/>
          <p:nvPr/>
        </p:nvSpPr>
        <p:spPr>
          <a:xfrm>
            <a:off x="7387878" y="4125340"/>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Incumplimiento de las políticas de reaseguro debido a la alta manualidad en el proceso suscripción. (P. ej. Error en la verificación de la edad del asegurado, error en la verificación de sueldos duplicados por gratificación, etc.)</a:t>
            </a:r>
            <a:endParaRPr lang="es-CL" sz="1000" dirty="0">
              <a:solidFill>
                <a:schemeClr val="tx1">
                  <a:lumMod val="85000"/>
                  <a:lumOff val="15000"/>
                </a:schemeClr>
              </a:solidFill>
            </a:endParaRPr>
          </a:p>
        </p:txBody>
      </p:sp>
      <p:sp>
        <p:nvSpPr>
          <p:cNvPr id="39" name="Rounded Rectangle 38"/>
          <p:cNvSpPr/>
          <p:nvPr/>
        </p:nvSpPr>
        <p:spPr>
          <a:xfrm>
            <a:off x="5061133" y="4125890"/>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a:solidFill>
                  <a:schemeClr val="tx1">
                    <a:lumMod val="85000"/>
                    <a:lumOff val="15000"/>
                  </a:schemeClr>
                </a:solidFill>
              </a:rPr>
              <a:t>95%</a:t>
            </a:r>
          </a:p>
        </p:txBody>
      </p:sp>
      <p:sp>
        <p:nvSpPr>
          <p:cNvPr id="40" name="Rounded Rectangle 39"/>
          <p:cNvSpPr/>
          <p:nvPr/>
        </p:nvSpPr>
        <p:spPr>
          <a:xfrm>
            <a:off x="5822594" y="4125890"/>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00" dirty="0">
                <a:solidFill>
                  <a:prstClr val="black">
                    <a:lumMod val="85000"/>
                    <a:lumOff val="15000"/>
                  </a:prstClr>
                </a:solidFill>
              </a:rPr>
              <a:t>S./ 0 - 3,000</a:t>
            </a:r>
          </a:p>
        </p:txBody>
      </p:sp>
      <p:sp>
        <p:nvSpPr>
          <p:cNvPr id="41" name="Rounded Rectangle 40"/>
          <p:cNvSpPr/>
          <p:nvPr/>
        </p:nvSpPr>
        <p:spPr>
          <a:xfrm>
            <a:off x="6662611" y="4125890"/>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00" dirty="0">
                <a:solidFill>
                  <a:prstClr val="black">
                    <a:lumMod val="85000"/>
                    <a:lumOff val="15000"/>
                  </a:prstClr>
                </a:solidFill>
              </a:rPr>
              <a:t>1 – 30 días</a:t>
            </a:r>
          </a:p>
        </p:txBody>
      </p:sp>
      <p:sp>
        <p:nvSpPr>
          <p:cNvPr id="44" name="Rounded Rectangle 43"/>
          <p:cNvSpPr/>
          <p:nvPr/>
        </p:nvSpPr>
        <p:spPr>
          <a:xfrm>
            <a:off x="86403" y="2157231"/>
            <a:ext cx="365760" cy="1800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9</a:t>
            </a:r>
          </a:p>
        </p:txBody>
      </p:sp>
      <p:sp>
        <p:nvSpPr>
          <p:cNvPr id="46" name="Rounded Rectangle 45"/>
          <p:cNvSpPr/>
          <p:nvPr/>
        </p:nvSpPr>
        <p:spPr>
          <a:xfrm>
            <a:off x="503538" y="2158085"/>
            <a:ext cx="1115428"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r>
              <a:rPr lang="es-ES" sz="1000" dirty="0">
                <a:solidFill>
                  <a:schemeClr val="tx1">
                    <a:lumMod val="85000"/>
                    <a:lumOff val="15000"/>
                  </a:schemeClr>
                </a:solidFill>
              </a:rPr>
              <a:t>Capacitaciones a los asesores</a:t>
            </a:r>
            <a:endParaRPr lang="es-CL" sz="1000" dirty="0">
              <a:solidFill>
                <a:schemeClr val="tx1">
                  <a:lumMod val="85000"/>
                  <a:lumOff val="15000"/>
                </a:schemeClr>
              </a:solidFill>
            </a:endParaRPr>
          </a:p>
        </p:txBody>
      </p:sp>
      <p:sp>
        <p:nvSpPr>
          <p:cNvPr id="48" name="Rounded Rectangle 47"/>
          <p:cNvSpPr/>
          <p:nvPr/>
        </p:nvSpPr>
        <p:spPr>
          <a:xfrm>
            <a:off x="1682667" y="2158084"/>
            <a:ext cx="331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Evaluar la posibilidad de implementar de un control, una vez emitida la póliza, a través de un </a:t>
            </a:r>
            <a:r>
              <a:rPr lang="es-ES" sz="1000" dirty="0" err="1">
                <a:solidFill>
                  <a:schemeClr val="tx1">
                    <a:lumMod val="85000"/>
                    <a:lumOff val="15000"/>
                  </a:schemeClr>
                </a:solidFill>
              </a:rPr>
              <a:t>call</a:t>
            </a:r>
            <a:r>
              <a:rPr lang="es-ES" sz="1000" dirty="0">
                <a:solidFill>
                  <a:schemeClr val="tx1">
                    <a:lumMod val="85000"/>
                    <a:lumOff val="15000"/>
                  </a:schemeClr>
                </a:solidFill>
              </a:rPr>
              <a:t> center que verifique los datos más relevantes del 100% de las pólizas emitidas.</a:t>
            </a:r>
          </a:p>
          <a:p>
            <a:endParaRPr lang="es-ES" sz="1000" dirty="0">
              <a:solidFill>
                <a:schemeClr val="tx1">
                  <a:lumMod val="85000"/>
                  <a:lumOff val="15000"/>
                </a:schemeClr>
              </a:solidFill>
            </a:endParaRPr>
          </a:p>
          <a:p>
            <a:r>
              <a:rPr lang="es-ES" sz="1000" dirty="0">
                <a:solidFill>
                  <a:schemeClr val="tx1">
                    <a:lumMod val="85000"/>
                    <a:lumOff val="15000"/>
                  </a:schemeClr>
                </a:solidFill>
              </a:rPr>
              <a:t>Además, se han de reforzar las capacitaciones continuas dirigidas a los asesores con el objetivo de mejorar los filtros para reducir el número de errores y los retrasos en la emisión. </a:t>
            </a:r>
          </a:p>
        </p:txBody>
      </p:sp>
      <p:sp>
        <p:nvSpPr>
          <p:cNvPr id="50" name="Rounded Rectangle 49"/>
          <p:cNvSpPr/>
          <p:nvPr/>
        </p:nvSpPr>
        <p:spPr>
          <a:xfrm>
            <a:off x="7378532" y="2152904"/>
            <a:ext cx="1693047"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lumMod val="85000"/>
                    <a:lumOff val="15000"/>
                  </a:schemeClr>
                </a:solidFill>
              </a:rPr>
              <a:t>Ingreso de información errónea o incompleta por parte del asesor, lo cual genera (1) errores en la emisión de la póliza o (2) retraso en la emisión. Canal </a:t>
            </a:r>
            <a:r>
              <a:rPr lang="es-ES" sz="1000" dirty="0" err="1">
                <a:solidFill>
                  <a:schemeClr val="tx1">
                    <a:lumMod val="85000"/>
                    <a:lumOff val="15000"/>
                  </a:schemeClr>
                </a:solidFill>
              </a:rPr>
              <a:t>Worksite</a:t>
            </a:r>
            <a:r>
              <a:rPr lang="es-ES" sz="1000" dirty="0">
                <a:solidFill>
                  <a:schemeClr val="tx1">
                    <a:lumMod val="85000"/>
                    <a:lumOff val="15000"/>
                  </a:schemeClr>
                </a:solidFill>
              </a:rPr>
              <a:t>.</a:t>
            </a:r>
            <a:endParaRPr lang="es-CL" sz="1000" dirty="0">
              <a:solidFill>
                <a:schemeClr val="tx1">
                  <a:lumMod val="85000"/>
                  <a:lumOff val="15000"/>
                </a:schemeClr>
              </a:solidFill>
            </a:endParaRPr>
          </a:p>
        </p:txBody>
      </p:sp>
      <p:sp>
        <p:nvSpPr>
          <p:cNvPr id="51" name="Rounded Rectangle 50"/>
          <p:cNvSpPr/>
          <p:nvPr/>
        </p:nvSpPr>
        <p:spPr>
          <a:xfrm>
            <a:off x="5051787" y="2153454"/>
            <a:ext cx="720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50" dirty="0">
                <a:solidFill>
                  <a:schemeClr val="tx1">
                    <a:lumMod val="85000"/>
                    <a:lumOff val="15000"/>
                  </a:schemeClr>
                </a:solidFill>
              </a:rPr>
              <a:t>70%</a:t>
            </a:r>
          </a:p>
        </p:txBody>
      </p:sp>
      <p:sp>
        <p:nvSpPr>
          <p:cNvPr id="52" name="Rounded Rectangle 51"/>
          <p:cNvSpPr/>
          <p:nvPr/>
        </p:nvSpPr>
        <p:spPr>
          <a:xfrm>
            <a:off x="5813248" y="2153454"/>
            <a:ext cx="792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50" dirty="0">
                <a:solidFill>
                  <a:prstClr val="black">
                    <a:lumMod val="85000"/>
                    <a:lumOff val="15000"/>
                  </a:prstClr>
                </a:solidFill>
              </a:rPr>
              <a:t>S./ 50,000  &lt; C</a:t>
            </a:r>
          </a:p>
        </p:txBody>
      </p:sp>
      <p:sp>
        <p:nvSpPr>
          <p:cNvPr id="53" name="Rounded Rectangle 52"/>
          <p:cNvSpPr/>
          <p:nvPr/>
        </p:nvSpPr>
        <p:spPr>
          <a:xfrm>
            <a:off x="6653265" y="2153454"/>
            <a:ext cx="684000" cy="1800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CL" sz="1050" dirty="0">
                <a:solidFill>
                  <a:prstClr val="black">
                    <a:lumMod val="85000"/>
                    <a:lumOff val="15000"/>
                  </a:prstClr>
                </a:solidFill>
              </a:rPr>
              <a:t>&gt; 365 días</a:t>
            </a:r>
          </a:p>
        </p:txBody>
      </p:sp>
      <p:sp>
        <p:nvSpPr>
          <p:cNvPr id="42" name="1 Título"/>
          <p:cNvSpPr>
            <a:spLocks noGrp="1"/>
          </p:cNvSpPr>
          <p:nvPr>
            <p:ph type="title"/>
          </p:nvPr>
        </p:nvSpPr>
        <p:spPr>
          <a:xfrm>
            <a:off x="47624" y="64029"/>
            <a:ext cx="8627715" cy="587723"/>
          </a:xfrm>
        </p:spPr>
        <p:txBody>
          <a:bodyPr/>
          <a:lstStyle/>
          <a:p>
            <a:r>
              <a:rPr lang="es-PE" dirty="0"/>
              <a:t>Planes de Acción</a:t>
            </a:r>
          </a:p>
        </p:txBody>
      </p:sp>
    </p:spTree>
    <p:extLst>
      <p:ext uri="{BB962C8B-B14F-4D97-AF65-F5344CB8AC3E}">
        <p14:creationId xmlns:p14="http://schemas.microsoft.com/office/powerpoint/2010/main" val="333644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29"/>
          <p:cNvSpPr txBox="1">
            <a:spLocks noChangeArrowheads="1"/>
          </p:cNvSpPr>
          <p:nvPr/>
        </p:nvSpPr>
        <p:spPr bwMode="gray">
          <a:xfrm>
            <a:off x="115129" y="764704"/>
            <a:ext cx="4060100"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noProof="0" dirty="0">
                <a:solidFill>
                  <a:schemeClr val="tx1">
                    <a:lumMod val="65000"/>
                    <a:lumOff val="35000"/>
                  </a:schemeClr>
                </a:solidFill>
                <a:latin typeface="+mj-lt"/>
                <a:sym typeface="Wingdings" pitchFamily="2" charset="2"/>
              </a:rPr>
              <a:t>Matriz de Priorización de Planes de Acción</a:t>
            </a:r>
            <a:endParaRPr kumimoji="0" lang="es-ES_tradnl" sz="1800" b="1" i="0" u="none" strike="noStrike" kern="0" cap="none" spc="0" normalizeH="0" baseline="30000" noProof="0" dirty="0">
              <a:ln>
                <a:noFill/>
              </a:ln>
              <a:solidFill>
                <a:schemeClr val="tx1">
                  <a:lumMod val="65000"/>
                  <a:lumOff val="35000"/>
                </a:schemeClr>
              </a:solidFill>
              <a:effectLst/>
              <a:uLnTx/>
              <a:uFillTx/>
              <a:latin typeface="+mj-lt"/>
              <a:ea typeface="+mj-ea"/>
              <a:cs typeface="+mj-cs"/>
            </a:endParaRPr>
          </a:p>
        </p:txBody>
      </p:sp>
      <p:sp>
        <p:nvSpPr>
          <p:cNvPr id="76" name="Rectangle 29"/>
          <p:cNvSpPr txBox="1">
            <a:spLocks noChangeArrowheads="1"/>
          </p:cNvSpPr>
          <p:nvPr/>
        </p:nvSpPr>
        <p:spPr bwMode="gray">
          <a:xfrm>
            <a:off x="5262025" y="1302683"/>
            <a:ext cx="4060100"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chemeClr val="tx1">
                    <a:lumMod val="65000"/>
                    <a:lumOff val="35000"/>
                  </a:schemeClr>
                </a:solidFill>
                <a:latin typeface="+mj-lt"/>
                <a:sym typeface="Wingdings" pitchFamily="2" charset="2"/>
              </a:rPr>
              <a:t>Potencial de mejora ( % Potencial de mejora x PEA)</a:t>
            </a:r>
            <a:endParaRPr kumimoji="0" lang="es-ES_tradnl" sz="1200" b="1" i="0" u="none" strike="noStrike" kern="0" cap="none" spc="0" normalizeH="0" baseline="30000" noProof="0" dirty="0">
              <a:ln>
                <a:noFill/>
              </a:ln>
              <a:solidFill>
                <a:schemeClr val="tx1">
                  <a:lumMod val="65000"/>
                  <a:lumOff val="35000"/>
                </a:schemeClr>
              </a:solidFill>
              <a:effectLst/>
              <a:uLnTx/>
              <a:uFillTx/>
              <a:latin typeface="+mj-lt"/>
              <a:ea typeface="+mj-ea"/>
              <a:cs typeface="+mj-cs"/>
            </a:endParaRPr>
          </a:p>
        </p:txBody>
      </p:sp>
      <p:cxnSp>
        <p:nvCxnSpPr>
          <p:cNvPr id="78" name="Straight Connector 77"/>
          <p:cNvCxnSpPr/>
          <p:nvPr/>
        </p:nvCxnSpPr>
        <p:spPr>
          <a:xfrm>
            <a:off x="5262025" y="1624369"/>
            <a:ext cx="371886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5879677" y="1641661"/>
            <a:ext cx="2946791" cy="96600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fontAlgn="base">
              <a:spcBef>
                <a:spcPct val="0"/>
              </a:spcBef>
              <a:spcAft>
                <a:spcPct val="0"/>
              </a:spcAft>
              <a:defRPr/>
            </a:pPr>
            <a:endParaRPr lang="es-ES_tradnl" sz="1200" dirty="0">
              <a:solidFill>
                <a:prstClr val="black"/>
              </a:solidFill>
              <a:sym typeface="Wingdings" pitchFamily="2" charset="2"/>
            </a:endParaRPr>
          </a:p>
        </p:txBody>
      </p:sp>
      <p:sp>
        <p:nvSpPr>
          <p:cNvPr id="83" name="Rectangle 29"/>
          <p:cNvSpPr txBox="1">
            <a:spLocks noChangeArrowheads="1"/>
          </p:cNvSpPr>
          <p:nvPr/>
        </p:nvSpPr>
        <p:spPr bwMode="gray">
          <a:xfrm>
            <a:off x="5257278" y="1641540"/>
            <a:ext cx="1000017" cy="103110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rgbClr val="C00000"/>
                </a:solidFill>
                <a:latin typeface="+mj-lt"/>
                <a:sym typeface="Wingdings" pitchFamily="2" charset="2"/>
              </a:rPr>
              <a:t>Muy bajo</a:t>
            </a:r>
          </a:p>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rgbClr val="C00000"/>
                </a:solidFill>
                <a:latin typeface="+mj-lt"/>
                <a:sym typeface="Wingdings" pitchFamily="2" charset="2"/>
              </a:rPr>
              <a:t>Bajo</a:t>
            </a:r>
          </a:p>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rgbClr val="C00000"/>
                </a:solidFill>
                <a:latin typeface="+mj-lt"/>
                <a:sym typeface="Wingdings" pitchFamily="2" charset="2"/>
              </a:rPr>
              <a:t>Medio</a:t>
            </a:r>
          </a:p>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rgbClr val="C00000"/>
                </a:solidFill>
                <a:latin typeface="+mj-lt"/>
                <a:sym typeface="Wingdings" pitchFamily="2" charset="2"/>
              </a:rPr>
              <a:t>Alto</a:t>
            </a:r>
          </a:p>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rgbClr val="C00000"/>
                </a:solidFill>
                <a:latin typeface="+mj-lt"/>
                <a:sym typeface="Wingdings" pitchFamily="2" charset="2"/>
              </a:rPr>
              <a:t>Muy alto</a:t>
            </a:r>
          </a:p>
        </p:txBody>
      </p:sp>
      <p:sp>
        <p:nvSpPr>
          <p:cNvPr id="85" name="Rectangle 29"/>
          <p:cNvSpPr txBox="1">
            <a:spLocks noChangeArrowheads="1"/>
          </p:cNvSpPr>
          <p:nvPr/>
        </p:nvSpPr>
        <p:spPr bwMode="gray">
          <a:xfrm>
            <a:off x="6334725" y="1653938"/>
            <a:ext cx="1955341" cy="103110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s-ES_tradnl" sz="1200" dirty="0">
                <a:solidFill>
                  <a:prstClr val="black"/>
                </a:solidFill>
                <a:sym typeface="Wingdings" pitchFamily="2" charset="2"/>
              </a:rPr>
              <a:t>0% - 20%</a:t>
            </a:r>
            <a:endParaRPr lang="es-ES_tradnl" sz="1200" dirty="0">
              <a:solidFill>
                <a:schemeClr val="tx1">
                  <a:lumMod val="85000"/>
                  <a:lumOff val="15000"/>
                </a:schemeClr>
              </a:solidFill>
              <a:sym typeface="Wingdings" pitchFamily="2" charset="2"/>
            </a:endParaRPr>
          </a:p>
          <a:p>
            <a:pPr lvl="0" fontAlgn="base">
              <a:spcBef>
                <a:spcPct val="0"/>
              </a:spcBef>
              <a:spcAft>
                <a:spcPct val="0"/>
              </a:spcAft>
              <a:defRPr/>
            </a:pPr>
            <a:r>
              <a:rPr lang="es-ES_tradnl" sz="1200" dirty="0">
                <a:solidFill>
                  <a:prstClr val="black"/>
                </a:solidFill>
                <a:sym typeface="Wingdings" pitchFamily="2" charset="2"/>
              </a:rPr>
              <a:t>20% - 40%</a:t>
            </a:r>
          </a:p>
          <a:p>
            <a:pPr lvl="0" fontAlgn="base">
              <a:spcBef>
                <a:spcPct val="0"/>
              </a:spcBef>
              <a:spcAft>
                <a:spcPct val="0"/>
              </a:spcAft>
              <a:defRPr/>
            </a:pPr>
            <a:r>
              <a:rPr lang="es-ES_tradnl" sz="1200" dirty="0">
                <a:solidFill>
                  <a:prstClr val="black"/>
                </a:solidFill>
                <a:sym typeface="Wingdings" pitchFamily="2" charset="2"/>
              </a:rPr>
              <a:t>40% - 60%</a:t>
            </a:r>
          </a:p>
          <a:p>
            <a:pPr lvl="0" fontAlgn="base">
              <a:spcBef>
                <a:spcPct val="0"/>
              </a:spcBef>
              <a:spcAft>
                <a:spcPct val="0"/>
              </a:spcAft>
              <a:defRPr/>
            </a:pPr>
            <a:r>
              <a:rPr lang="es-ES_tradnl" sz="1200" dirty="0">
                <a:solidFill>
                  <a:prstClr val="black"/>
                </a:solidFill>
                <a:sym typeface="Wingdings" pitchFamily="2" charset="2"/>
              </a:rPr>
              <a:t>60% - 80%</a:t>
            </a:r>
          </a:p>
          <a:p>
            <a:pPr lvl="0" fontAlgn="base">
              <a:spcBef>
                <a:spcPct val="0"/>
              </a:spcBef>
              <a:spcAft>
                <a:spcPct val="0"/>
              </a:spcAft>
              <a:defRPr/>
            </a:pPr>
            <a:r>
              <a:rPr lang="es-ES_tradnl" sz="1200" dirty="0">
                <a:solidFill>
                  <a:prstClr val="black"/>
                </a:solidFill>
                <a:sym typeface="Wingdings" pitchFamily="2" charset="2"/>
              </a:rPr>
              <a:t>80% - 100%</a:t>
            </a:r>
          </a:p>
        </p:txBody>
      </p:sp>
      <p:sp>
        <p:nvSpPr>
          <p:cNvPr id="91" name="Rectangle 29"/>
          <p:cNvSpPr txBox="1">
            <a:spLocks noChangeArrowheads="1"/>
          </p:cNvSpPr>
          <p:nvPr/>
        </p:nvSpPr>
        <p:spPr bwMode="gray">
          <a:xfrm>
            <a:off x="5269153" y="2604998"/>
            <a:ext cx="4060100"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noProof="0" dirty="0">
                <a:solidFill>
                  <a:schemeClr val="tx1">
                    <a:lumMod val="65000"/>
                    <a:lumOff val="35000"/>
                  </a:schemeClr>
                </a:solidFill>
                <a:latin typeface="+mj-lt"/>
                <a:sym typeface="Wingdings" pitchFamily="2" charset="2"/>
              </a:rPr>
              <a:t>Esfuerzo estimado (Tiempo vs Costo de implementación)</a:t>
            </a:r>
            <a:endParaRPr kumimoji="0" lang="es-ES_tradnl" sz="1200" b="1" i="0" u="none" strike="noStrike" kern="0" cap="none" spc="0" normalizeH="0" baseline="30000" noProof="0" dirty="0">
              <a:ln>
                <a:noFill/>
              </a:ln>
              <a:solidFill>
                <a:schemeClr val="tx1">
                  <a:lumMod val="65000"/>
                  <a:lumOff val="35000"/>
                </a:schemeClr>
              </a:solidFill>
              <a:effectLst/>
              <a:uLnTx/>
              <a:uFillTx/>
              <a:latin typeface="+mj-lt"/>
              <a:ea typeface="+mj-ea"/>
              <a:cs typeface="+mj-cs"/>
            </a:endParaRPr>
          </a:p>
        </p:txBody>
      </p:sp>
      <p:cxnSp>
        <p:nvCxnSpPr>
          <p:cNvPr id="92" name="Straight Connector 91"/>
          <p:cNvCxnSpPr/>
          <p:nvPr/>
        </p:nvCxnSpPr>
        <p:spPr>
          <a:xfrm>
            <a:off x="5269153" y="2926684"/>
            <a:ext cx="371886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0" name="Rectangle 159"/>
          <p:cNvSpPr/>
          <p:nvPr/>
        </p:nvSpPr>
        <p:spPr>
          <a:xfrm>
            <a:off x="1608822" y="237110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1" name="Rectangle 160"/>
          <p:cNvSpPr/>
          <p:nvPr/>
        </p:nvSpPr>
        <p:spPr>
          <a:xfrm>
            <a:off x="1608822" y="319337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2" name="Rectangle 161"/>
          <p:cNvSpPr/>
          <p:nvPr/>
        </p:nvSpPr>
        <p:spPr>
          <a:xfrm>
            <a:off x="1608822" y="401852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3" name="Rectangle 162"/>
          <p:cNvSpPr/>
          <p:nvPr/>
        </p:nvSpPr>
        <p:spPr>
          <a:xfrm>
            <a:off x="1608822" y="4849428"/>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4" name="Rectangle 163"/>
          <p:cNvSpPr/>
          <p:nvPr/>
        </p:nvSpPr>
        <p:spPr>
          <a:xfrm>
            <a:off x="1608822" y="154595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5" name="Rectangle 164"/>
          <p:cNvSpPr/>
          <p:nvPr/>
        </p:nvSpPr>
        <p:spPr>
          <a:xfrm>
            <a:off x="777546" y="237110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6" name="Rectangle 165"/>
          <p:cNvSpPr/>
          <p:nvPr/>
        </p:nvSpPr>
        <p:spPr>
          <a:xfrm>
            <a:off x="777546" y="319337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7" name="Rectangle 166"/>
          <p:cNvSpPr/>
          <p:nvPr/>
        </p:nvSpPr>
        <p:spPr>
          <a:xfrm>
            <a:off x="777546" y="401852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8" name="Rectangle 167"/>
          <p:cNvSpPr/>
          <p:nvPr/>
        </p:nvSpPr>
        <p:spPr>
          <a:xfrm>
            <a:off x="777546" y="4849428"/>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9" name="Rectangle 168"/>
          <p:cNvSpPr/>
          <p:nvPr/>
        </p:nvSpPr>
        <p:spPr>
          <a:xfrm>
            <a:off x="777546" y="154595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0" name="Rectangle 169"/>
          <p:cNvSpPr/>
          <p:nvPr/>
        </p:nvSpPr>
        <p:spPr>
          <a:xfrm>
            <a:off x="2440098" y="237110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1" name="Rectangle 170"/>
          <p:cNvSpPr/>
          <p:nvPr/>
        </p:nvSpPr>
        <p:spPr>
          <a:xfrm>
            <a:off x="2440098" y="319337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2" name="Rectangle 171"/>
          <p:cNvSpPr/>
          <p:nvPr/>
        </p:nvSpPr>
        <p:spPr>
          <a:xfrm>
            <a:off x="2440098" y="401852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3" name="Rectangle 172"/>
          <p:cNvSpPr/>
          <p:nvPr/>
        </p:nvSpPr>
        <p:spPr>
          <a:xfrm>
            <a:off x="2440098" y="4849428"/>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4" name="Rectangle 173"/>
          <p:cNvSpPr/>
          <p:nvPr/>
        </p:nvSpPr>
        <p:spPr>
          <a:xfrm>
            <a:off x="2440098" y="154595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5" name="Rectangle 174"/>
          <p:cNvSpPr/>
          <p:nvPr/>
        </p:nvSpPr>
        <p:spPr>
          <a:xfrm>
            <a:off x="3259499" y="237110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6" name="Rectangle 175"/>
          <p:cNvSpPr/>
          <p:nvPr/>
        </p:nvSpPr>
        <p:spPr>
          <a:xfrm>
            <a:off x="3259499" y="319337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7" name="Rectangle 176"/>
          <p:cNvSpPr/>
          <p:nvPr/>
        </p:nvSpPr>
        <p:spPr>
          <a:xfrm>
            <a:off x="3259499" y="401852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8" name="Rectangle 177"/>
          <p:cNvSpPr/>
          <p:nvPr/>
        </p:nvSpPr>
        <p:spPr>
          <a:xfrm>
            <a:off x="3259499" y="4849428"/>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9" name="Rectangle 178"/>
          <p:cNvSpPr/>
          <p:nvPr/>
        </p:nvSpPr>
        <p:spPr>
          <a:xfrm>
            <a:off x="3259499" y="154595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0" name="Rectangle 179"/>
          <p:cNvSpPr/>
          <p:nvPr/>
        </p:nvSpPr>
        <p:spPr>
          <a:xfrm>
            <a:off x="4090775" y="237110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1" name="Rectangle 180"/>
          <p:cNvSpPr/>
          <p:nvPr/>
        </p:nvSpPr>
        <p:spPr>
          <a:xfrm>
            <a:off x="4090775" y="319337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2" name="Rectangle 181"/>
          <p:cNvSpPr/>
          <p:nvPr/>
        </p:nvSpPr>
        <p:spPr>
          <a:xfrm>
            <a:off x="4090775" y="4018527"/>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3" name="Rectangle 182"/>
          <p:cNvSpPr/>
          <p:nvPr/>
        </p:nvSpPr>
        <p:spPr>
          <a:xfrm>
            <a:off x="4090775" y="4849428"/>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4" name="Rectangle 183"/>
          <p:cNvSpPr/>
          <p:nvPr/>
        </p:nvSpPr>
        <p:spPr>
          <a:xfrm>
            <a:off x="4090775" y="1545952"/>
            <a:ext cx="828000" cy="8280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5" name="Rectangle 184"/>
          <p:cNvSpPr/>
          <p:nvPr/>
        </p:nvSpPr>
        <p:spPr>
          <a:xfrm>
            <a:off x="191340" y="2371102"/>
            <a:ext cx="586206" cy="8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L" sz="1000" b="1" dirty="0">
                <a:solidFill>
                  <a:schemeClr val="tx1">
                    <a:lumMod val="75000"/>
                    <a:lumOff val="25000"/>
                  </a:schemeClr>
                </a:solidFill>
              </a:rPr>
              <a:t>Alto</a:t>
            </a:r>
            <a:endParaRPr lang="es-ES" sz="1000" b="1" dirty="0">
              <a:solidFill>
                <a:schemeClr val="tx1">
                  <a:lumMod val="75000"/>
                  <a:lumOff val="25000"/>
                </a:schemeClr>
              </a:solidFill>
            </a:endParaRPr>
          </a:p>
        </p:txBody>
      </p:sp>
      <p:sp>
        <p:nvSpPr>
          <p:cNvPr id="186" name="Rectangle 185"/>
          <p:cNvSpPr/>
          <p:nvPr/>
        </p:nvSpPr>
        <p:spPr>
          <a:xfrm>
            <a:off x="191340" y="3190501"/>
            <a:ext cx="586206" cy="8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L" sz="1000" b="1" dirty="0">
                <a:solidFill>
                  <a:schemeClr val="tx1">
                    <a:lumMod val="75000"/>
                    <a:lumOff val="25000"/>
                  </a:schemeClr>
                </a:solidFill>
              </a:rPr>
              <a:t>Medio</a:t>
            </a:r>
            <a:endParaRPr lang="es-ES" sz="1000" b="1" dirty="0">
              <a:solidFill>
                <a:schemeClr val="tx1">
                  <a:lumMod val="75000"/>
                  <a:lumOff val="25000"/>
                </a:schemeClr>
              </a:solidFill>
            </a:endParaRPr>
          </a:p>
        </p:txBody>
      </p:sp>
      <p:sp>
        <p:nvSpPr>
          <p:cNvPr id="187" name="Rectangle 186"/>
          <p:cNvSpPr/>
          <p:nvPr/>
        </p:nvSpPr>
        <p:spPr>
          <a:xfrm>
            <a:off x="191340" y="4009900"/>
            <a:ext cx="586206" cy="8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L" sz="1000" b="1" dirty="0">
                <a:solidFill>
                  <a:schemeClr val="tx1">
                    <a:lumMod val="75000"/>
                    <a:lumOff val="25000"/>
                  </a:schemeClr>
                </a:solidFill>
              </a:rPr>
              <a:t>Bajo</a:t>
            </a:r>
            <a:endParaRPr lang="es-ES" sz="1000" b="1" dirty="0">
              <a:solidFill>
                <a:schemeClr val="tx1">
                  <a:lumMod val="75000"/>
                  <a:lumOff val="25000"/>
                </a:schemeClr>
              </a:solidFill>
            </a:endParaRPr>
          </a:p>
        </p:txBody>
      </p:sp>
      <p:sp>
        <p:nvSpPr>
          <p:cNvPr id="188" name="Rectangle 187"/>
          <p:cNvSpPr/>
          <p:nvPr/>
        </p:nvSpPr>
        <p:spPr>
          <a:xfrm>
            <a:off x="191340" y="4829299"/>
            <a:ext cx="586206" cy="8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L" sz="1000" b="1" dirty="0">
                <a:solidFill>
                  <a:schemeClr val="tx1">
                    <a:lumMod val="75000"/>
                    <a:lumOff val="25000"/>
                  </a:schemeClr>
                </a:solidFill>
              </a:rPr>
              <a:t>Muy bajo</a:t>
            </a:r>
            <a:endParaRPr lang="es-ES" sz="1000" b="1" dirty="0">
              <a:solidFill>
                <a:schemeClr val="tx1">
                  <a:lumMod val="75000"/>
                  <a:lumOff val="25000"/>
                </a:schemeClr>
              </a:solidFill>
            </a:endParaRPr>
          </a:p>
        </p:txBody>
      </p:sp>
      <p:sp>
        <p:nvSpPr>
          <p:cNvPr id="189" name="Rectangle 188"/>
          <p:cNvSpPr/>
          <p:nvPr/>
        </p:nvSpPr>
        <p:spPr>
          <a:xfrm>
            <a:off x="191340" y="1551703"/>
            <a:ext cx="586206" cy="8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L" sz="1000" b="1" dirty="0">
                <a:solidFill>
                  <a:schemeClr val="tx1">
                    <a:lumMod val="75000"/>
                    <a:lumOff val="25000"/>
                  </a:schemeClr>
                </a:solidFill>
              </a:rPr>
              <a:t>Muy alto</a:t>
            </a:r>
            <a:endParaRPr lang="es-ES" sz="1000" b="1" dirty="0">
              <a:solidFill>
                <a:schemeClr val="tx1">
                  <a:lumMod val="75000"/>
                  <a:lumOff val="25000"/>
                </a:schemeClr>
              </a:solidFill>
            </a:endParaRPr>
          </a:p>
        </p:txBody>
      </p:sp>
      <p:sp>
        <p:nvSpPr>
          <p:cNvPr id="190" name="Rectangle 189"/>
          <p:cNvSpPr/>
          <p:nvPr/>
        </p:nvSpPr>
        <p:spPr>
          <a:xfrm>
            <a:off x="1615458" y="5708073"/>
            <a:ext cx="828000" cy="22958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dirty="0">
                <a:solidFill>
                  <a:schemeClr val="tx1">
                    <a:lumMod val="75000"/>
                    <a:lumOff val="25000"/>
                  </a:schemeClr>
                </a:solidFill>
              </a:rPr>
              <a:t>Bajo</a:t>
            </a:r>
            <a:endParaRPr lang="es-ES" sz="1000" b="1" dirty="0">
              <a:solidFill>
                <a:schemeClr val="tx1">
                  <a:lumMod val="75000"/>
                  <a:lumOff val="25000"/>
                </a:schemeClr>
              </a:solidFill>
            </a:endParaRPr>
          </a:p>
        </p:txBody>
      </p:sp>
      <p:sp>
        <p:nvSpPr>
          <p:cNvPr id="191" name="Rectangle 190"/>
          <p:cNvSpPr/>
          <p:nvPr/>
        </p:nvSpPr>
        <p:spPr>
          <a:xfrm>
            <a:off x="784182" y="5708073"/>
            <a:ext cx="828000" cy="22958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dirty="0">
                <a:solidFill>
                  <a:schemeClr val="tx1">
                    <a:lumMod val="75000"/>
                    <a:lumOff val="25000"/>
                  </a:schemeClr>
                </a:solidFill>
              </a:rPr>
              <a:t>Muy bajo</a:t>
            </a:r>
            <a:endParaRPr lang="es-ES" sz="1000" b="1" dirty="0">
              <a:solidFill>
                <a:schemeClr val="tx1">
                  <a:lumMod val="75000"/>
                  <a:lumOff val="25000"/>
                </a:schemeClr>
              </a:solidFill>
            </a:endParaRPr>
          </a:p>
        </p:txBody>
      </p:sp>
      <p:sp>
        <p:nvSpPr>
          <p:cNvPr id="192" name="Rectangle 191"/>
          <p:cNvSpPr/>
          <p:nvPr/>
        </p:nvSpPr>
        <p:spPr>
          <a:xfrm>
            <a:off x="2446734" y="5708073"/>
            <a:ext cx="828000" cy="22958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dirty="0">
                <a:solidFill>
                  <a:schemeClr val="tx1">
                    <a:lumMod val="75000"/>
                    <a:lumOff val="25000"/>
                  </a:schemeClr>
                </a:solidFill>
              </a:rPr>
              <a:t>Medio</a:t>
            </a:r>
            <a:endParaRPr lang="es-ES" sz="1000" b="1" dirty="0">
              <a:solidFill>
                <a:schemeClr val="tx1">
                  <a:lumMod val="75000"/>
                  <a:lumOff val="25000"/>
                </a:schemeClr>
              </a:solidFill>
            </a:endParaRPr>
          </a:p>
        </p:txBody>
      </p:sp>
      <p:sp>
        <p:nvSpPr>
          <p:cNvPr id="193" name="Rectangle 192"/>
          <p:cNvSpPr/>
          <p:nvPr/>
        </p:nvSpPr>
        <p:spPr>
          <a:xfrm>
            <a:off x="3278010" y="5708073"/>
            <a:ext cx="828000" cy="22958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dirty="0">
                <a:solidFill>
                  <a:schemeClr val="tx1">
                    <a:lumMod val="75000"/>
                    <a:lumOff val="25000"/>
                  </a:schemeClr>
                </a:solidFill>
              </a:rPr>
              <a:t>Alto</a:t>
            </a:r>
            <a:endParaRPr lang="es-ES" sz="1000" b="1" dirty="0">
              <a:solidFill>
                <a:schemeClr val="tx1">
                  <a:lumMod val="75000"/>
                  <a:lumOff val="25000"/>
                </a:schemeClr>
              </a:solidFill>
            </a:endParaRPr>
          </a:p>
        </p:txBody>
      </p:sp>
      <p:sp>
        <p:nvSpPr>
          <p:cNvPr id="194" name="Rectangle 193"/>
          <p:cNvSpPr/>
          <p:nvPr/>
        </p:nvSpPr>
        <p:spPr>
          <a:xfrm>
            <a:off x="4109286" y="5708073"/>
            <a:ext cx="828000" cy="22958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dirty="0">
                <a:solidFill>
                  <a:schemeClr val="tx1">
                    <a:lumMod val="75000"/>
                    <a:lumOff val="25000"/>
                  </a:schemeClr>
                </a:solidFill>
              </a:rPr>
              <a:t>Muy alto</a:t>
            </a:r>
            <a:endParaRPr lang="es-ES" sz="1000" b="1" dirty="0">
              <a:solidFill>
                <a:schemeClr val="tx1">
                  <a:lumMod val="75000"/>
                  <a:lumOff val="25000"/>
                </a:schemeClr>
              </a:solidFill>
            </a:endParaRPr>
          </a:p>
        </p:txBody>
      </p:sp>
      <p:sp>
        <p:nvSpPr>
          <p:cNvPr id="195" name="Rectangle 194"/>
          <p:cNvSpPr/>
          <p:nvPr/>
        </p:nvSpPr>
        <p:spPr>
          <a:xfrm>
            <a:off x="766913" y="6004496"/>
            <a:ext cx="4141229" cy="139708"/>
          </a:xfrm>
          <a:prstGeom prst="rect">
            <a:avLst/>
          </a:prstGeom>
          <a:no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500" b="1" i="1" dirty="0">
                <a:solidFill>
                  <a:srgbClr val="C00000"/>
                </a:solidFill>
              </a:rPr>
              <a:t>(-) Esfuerzo estimado (+)</a:t>
            </a:r>
            <a:endParaRPr lang="es-ES" sz="1500" b="1" i="1" dirty="0">
              <a:solidFill>
                <a:srgbClr val="C00000"/>
              </a:solidFill>
            </a:endParaRPr>
          </a:p>
        </p:txBody>
      </p:sp>
      <p:sp>
        <p:nvSpPr>
          <p:cNvPr id="196" name="Rectangle 195"/>
          <p:cNvSpPr/>
          <p:nvPr/>
        </p:nvSpPr>
        <p:spPr>
          <a:xfrm rot="16200000">
            <a:off x="-1928285" y="3541836"/>
            <a:ext cx="4131478" cy="139708"/>
          </a:xfrm>
          <a:prstGeom prst="rect">
            <a:avLst/>
          </a:prstGeom>
          <a:no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500" b="1" i="1" dirty="0">
                <a:solidFill>
                  <a:srgbClr val="C00000"/>
                </a:solidFill>
              </a:rPr>
              <a:t>(-) Potencial de mejora estimado (+)</a:t>
            </a:r>
            <a:endParaRPr lang="es-ES" sz="1500" b="1" i="1" dirty="0">
              <a:solidFill>
                <a:srgbClr val="C00000"/>
              </a:solidFill>
            </a:endParaRPr>
          </a:p>
        </p:txBody>
      </p:sp>
      <p:sp>
        <p:nvSpPr>
          <p:cNvPr id="199" name="Oval 90"/>
          <p:cNvSpPr>
            <a:spLocks noChangeAspect="1" noChangeArrowheads="1"/>
          </p:cNvSpPr>
          <p:nvPr/>
        </p:nvSpPr>
        <p:spPr bwMode="auto">
          <a:xfrm>
            <a:off x="4506187" y="2447837"/>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a:t>
            </a:r>
          </a:p>
        </p:txBody>
      </p:sp>
      <p:sp>
        <p:nvSpPr>
          <p:cNvPr id="203" name="Rectangle 202"/>
          <p:cNvSpPr/>
          <p:nvPr/>
        </p:nvSpPr>
        <p:spPr>
          <a:xfrm>
            <a:off x="3183781" y="2461061"/>
            <a:ext cx="1413147" cy="249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s-ES" sz="800" dirty="0">
                <a:solidFill>
                  <a:schemeClr val="tx1">
                    <a:lumMod val="85000"/>
                    <a:lumOff val="15000"/>
                  </a:schemeClr>
                </a:solidFill>
              </a:rPr>
              <a:t>Base de datos y validaciones automáticas</a:t>
            </a:r>
            <a:endParaRPr lang="es-CL" sz="800" dirty="0">
              <a:solidFill>
                <a:schemeClr val="tx1">
                  <a:lumMod val="85000"/>
                  <a:lumOff val="15000"/>
                </a:schemeClr>
              </a:solidFill>
            </a:endParaRPr>
          </a:p>
        </p:txBody>
      </p:sp>
      <p:sp>
        <p:nvSpPr>
          <p:cNvPr id="205" name="Rectangle 204"/>
          <p:cNvSpPr/>
          <p:nvPr/>
        </p:nvSpPr>
        <p:spPr>
          <a:xfrm>
            <a:off x="2966237" y="2006414"/>
            <a:ext cx="1633006" cy="237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chemeClr val="tx1">
                    <a:lumMod val="85000"/>
                    <a:lumOff val="15000"/>
                  </a:schemeClr>
                </a:solidFill>
              </a:rPr>
              <a:t>Digitalización de documentación en custodia del canal</a:t>
            </a:r>
            <a:endParaRPr lang="es-CL" sz="800" dirty="0">
              <a:solidFill>
                <a:schemeClr val="tx1">
                  <a:lumMod val="85000"/>
                  <a:lumOff val="15000"/>
                </a:schemeClr>
              </a:solidFill>
            </a:endParaRPr>
          </a:p>
        </p:txBody>
      </p:sp>
      <p:sp>
        <p:nvSpPr>
          <p:cNvPr id="206" name="Rectangle 205"/>
          <p:cNvSpPr/>
          <p:nvPr/>
        </p:nvSpPr>
        <p:spPr>
          <a:xfrm>
            <a:off x="1113667" y="2681422"/>
            <a:ext cx="1258558" cy="215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800" dirty="0">
                <a:solidFill>
                  <a:schemeClr val="tx1">
                    <a:lumMod val="85000"/>
                    <a:lumOff val="15000"/>
                  </a:schemeClr>
                </a:solidFill>
              </a:rPr>
              <a:t>Medidas disuasivas</a:t>
            </a:r>
          </a:p>
        </p:txBody>
      </p:sp>
      <p:sp>
        <p:nvSpPr>
          <p:cNvPr id="207" name="Rectangle 206"/>
          <p:cNvSpPr/>
          <p:nvPr/>
        </p:nvSpPr>
        <p:spPr>
          <a:xfrm>
            <a:off x="3187777" y="2894661"/>
            <a:ext cx="1507498" cy="24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chemeClr val="tx1">
                    <a:lumMod val="85000"/>
                    <a:lumOff val="15000"/>
                  </a:schemeClr>
                </a:solidFill>
              </a:rPr>
              <a:t>Capacitaciones a asesores</a:t>
            </a:r>
            <a:endParaRPr lang="es-CL" sz="800" dirty="0">
              <a:solidFill>
                <a:schemeClr val="tx1">
                  <a:lumMod val="85000"/>
                  <a:lumOff val="15000"/>
                </a:schemeClr>
              </a:solidFill>
            </a:endParaRPr>
          </a:p>
        </p:txBody>
      </p:sp>
      <p:sp>
        <p:nvSpPr>
          <p:cNvPr id="208" name="Rectangle 207"/>
          <p:cNvSpPr/>
          <p:nvPr/>
        </p:nvSpPr>
        <p:spPr>
          <a:xfrm>
            <a:off x="1110091" y="2402090"/>
            <a:ext cx="1924839" cy="139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800" dirty="0">
                <a:solidFill>
                  <a:schemeClr val="tx1">
                    <a:lumMod val="85000"/>
                    <a:lumOff val="15000"/>
                  </a:schemeClr>
                </a:solidFill>
              </a:rPr>
              <a:t>Definición de procedimientos AMC </a:t>
            </a:r>
          </a:p>
        </p:txBody>
      </p:sp>
      <p:sp>
        <p:nvSpPr>
          <p:cNvPr id="80" name="Rectangle 79"/>
          <p:cNvSpPr/>
          <p:nvPr/>
        </p:nvSpPr>
        <p:spPr>
          <a:xfrm>
            <a:off x="780822" y="1551703"/>
            <a:ext cx="4127320" cy="4125726"/>
          </a:xfrm>
          <a:prstGeom prst="rect">
            <a:avLst/>
          </a:prstGeom>
          <a:noFill/>
          <a:ln w="19050">
            <a:solidFill>
              <a:schemeClr val="tx1"/>
            </a:solidFill>
          </a:ln>
          <a:effectLst>
            <a:outerShdw blurRad="50800" dist="50800" dir="5400000" algn="ctr" rotWithShape="0">
              <a:schemeClr val="bg1">
                <a:lumMod val="8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Oval 1"/>
          <p:cNvSpPr/>
          <p:nvPr/>
        </p:nvSpPr>
        <p:spPr>
          <a:xfrm>
            <a:off x="484443" y="1469836"/>
            <a:ext cx="2476965" cy="1937191"/>
          </a:xfrm>
          <a:prstGeom prst="ellipse">
            <a:avLst/>
          </a:prstGeom>
          <a:solidFill>
            <a:srgbClr val="FF0000">
              <a:alpha val="9000"/>
            </a:srgbClr>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Oval 90"/>
          <p:cNvSpPr>
            <a:spLocks noChangeAspect="1" noChangeArrowheads="1"/>
          </p:cNvSpPr>
          <p:nvPr/>
        </p:nvSpPr>
        <p:spPr bwMode="auto">
          <a:xfrm>
            <a:off x="867398" y="2352540"/>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2</a:t>
            </a:r>
          </a:p>
        </p:txBody>
      </p:sp>
      <p:sp>
        <p:nvSpPr>
          <p:cNvPr id="87" name="Oval 90"/>
          <p:cNvSpPr>
            <a:spLocks noChangeAspect="1" noChangeArrowheads="1"/>
          </p:cNvSpPr>
          <p:nvPr/>
        </p:nvSpPr>
        <p:spPr bwMode="auto">
          <a:xfrm>
            <a:off x="868839" y="2648330"/>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a:t>
            </a:r>
          </a:p>
        </p:txBody>
      </p:sp>
      <p:sp>
        <p:nvSpPr>
          <p:cNvPr id="88" name="Oval 90"/>
          <p:cNvSpPr>
            <a:spLocks noChangeAspect="1" noChangeArrowheads="1"/>
          </p:cNvSpPr>
          <p:nvPr/>
        </p:nvSpPr>
        <p:spPr bwMode="auto">
          <a:xfrm>
            <a:off x="4403539" y="1986580"/>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4</a:t>
            </a:r>
          </a:p>
        </p:txBody>
      </p:sp>
      <p:cxnSp>
        <p:nvCxnSpPr>
          <p:cNvPr id="14" name="Straight Arrow Connector 13"/>
          <p:cNvCxnSpPr/>
          <p:nvPr/>
        </p:nvCxnSpPr>
        <p:spPr>
          <a:xfrm flipV="1">
            <a:off x="2358881" y="1428804"/>
            <a:ext cx="331646" cy="15494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29"/>
          <p:cNvSpPr txBox="1">
            <a:spLocks noChangeArrowheads="1"/>
          </p:cNvSpPr>
          <p:nvPr/>
        </p:nvSpPr>
        <p:spPr bwMode="gray">
          <a:xfrm>
            <a:off x="2647995" y="1206258"/>
            <a:ext cx="977626" cy="32432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200" b="1" dirty="0">
                <a:solidFill>
                  <a:schemeClr val="tx1">
                    <a:lumMod val="75000"/>
                    <a:lumOff val="25000"/>
                  </a:schemeClr>
                </a:solidFill>
                <a:latin typeface="+mj-lt"/>
                <a:sym typeface="Wingdings" pitchFamily="2" charset="2"/>
              </a:rPr>
              <a:t>Quick-</a:t>
            </a:r>
            <a:r>
              <a:rPr lang="es-ES_tradnl" sz="1200" b="1" dirty="0" err="1">
                <a:solidFill>
                  <a:schemeClr val="tx1">
                    <a:lumMod val="75000"/>
                    <a:lumOff val="25000"/>
                  </a:schemeClr>
                </a:solidFill>
                <a:latin typeface="+mj-lt"/>
                <a:sym typeface="Wingdings" pitchFamily="2" charset="2"/>
              </a:rPr>
              <a:t>Wins</a:t>
            </a:r>
            <a:endParaRPr kumimoji="0" lang="es-ES_tradnl" sz="1200" b="1" i="0" strike="noStrike" kern="0" cap="none" spc="0" normalizeH="0" baseline="30000" noProof="0" dirty="0">
              <a:ln>
                <a:noFill/>
              </a:ln>
              <a:solidFill>
                <a:schemeClr val="tx1">
                  <a:lumMod val="75000"/>
                  <a:lumOff val="25000"/>
                </a:schemeClr>
              </a:solidFill>
              <a:effectLst/>
              <a:uLnTx/>
              <a:uFillTx/>
              <a:latin typeface="+mj-lt"/>
              <a:ea typeface="+mj-ea"/>
              <a:cs typeface="+mj-cs"/>
            </a:endParaRPr>
          </a:p>
        </p:txBody>
      </p:sp>
      <p:pic>
        <p:nvPicPr>
          <p:cNvPr id="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5849" t="18957" r="43159" b="13541"/>
          <a:stretch/>
        </p:blipFill>
        <p:spPr bwMode="auto">
          <a:xfrm>
            <a:off x="5346437" y="3092928"/>
            <a:ext cx="3258314" cy="3016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 name="Rectangle 80"/>
          <p:cNvSpPr/>
          <p:nvPr/>
        </p:nvSpPr>
        <p:spPr>
          <a:xfrm>
            <a:off x="1126939" y="2995689"/>
            <a:ext cx="1320973" cy="139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800" dirty="0">
                <a:solidFill>
                  <a:schemeClr val="tx1">
                    <a:lumMod val="85000"/>
                    <a:lumOff val="15000"/>
                  </a:schemeClr>
                </a:solidFill>
              </a:rPr>
              <a:t>Configuración de alertas</a:t>
            </a:r>
          </a:p>
        </p:txBody>
      </p:sp>
      <p:sp>
        <p:nvSpPr>
          <p:cNvPr id="90" name="Oval 90"/>
          <p:cNvSpPr>
            <a:spLocks noChangeAspect="1" noChangeArrowheads="1"/>
          </p:cNvSpPr>
          <p:nvPr/>
        </p:nvSpPr>
        <p:spPr bwMode="auto">
          <a:xfrm>
            <a:off x="863631" y="2946139"/>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6</a:t>
            </a:r>
          </a:p>
        </p:txBody>
      </p:sp>
      <p:sp>
        <p:nvSpPr>
          <p:cNvPr id="93" name="Rectangle 92"/>
          <p:cNvSpPr/>
          <p:nvPr/>
        </p:nvSpPr>
        <p:spPr>
          <a:xfrm>
            <a:off x="1129616" y="1895219"/>
            <a:ext cx="1494236" cy="215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chemeClr val="tx1">
                    <a:lumMod val="85000"/>
                    <a:lumOff val="15000"/>
                  </a:schemeClr>
                </a:solidFill>
              </a:rPr>
              <a:t>Implementación de política de suscripción</a:t>
            </a:r>
            <a:endParaRPr lang="es-CL" sz="800" dirty="0">
              <a:solidFill>
                <a:schemeClr val="tx1">
                  <a:lumMod val="85000"/>
                  <a:lumOff val="15000"/>
                </a:schemeClr>
              </a:solidFill>
            </a:endParaRPr>
          </a:p>
        </p:txBody>
      </p:sp>
      <p:sp>
        <p:nvSpPr>
          <p:cNvPr id="94" name="Oval 90"/>
          <p:cNvSpPr>
            <a:spLocks noChangeAspect="1" noChangeArrowheads="1"/>
          </p:cNvSpPr>
          <p:nvPr/>
        </p:nvSpPr>
        <p:spPr bwMode="auto">
          <a:xfrm>
            <a:off x="863631" y="1869254"/>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10</a:t>
            </a:r>
          </a:p>
        </p:txBody>
      </p:sp>
      <p:sp>
        <p:nvSpPr>
          <p:cNvPr id="96" name="Oval 90"/>
          <p:cNvSpPr>
            <a:spLocks noChangeAspect="1" noChangeArrowheads="1"/>
          </p:cNvSpPr>
          <p:nvPr/>
        </p:nvSpPr>
        <p:spPr bwMode="auto">
          <a:xfrm>
            <a:off x="4514315" y="2861077"/>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9</a:t>
            </a:r>
          </a:p>
        </p:txBody>
      </p:sp>
      <p:sp>
        <p:nvSpPr>
          <p:cNvPr id="97" name="Oval 90"/>
          <p:cNvSpPr>
            <a:spLocks noChangeAspect="1" noChangeArrowheads="1"/>
          </p:cNvSpPr>
          <p:nvPr/>
        </p:nvSpPr>
        <p:spPr bwMode="auto">
          <a:xfrm>
            <a:off x="4651475" y="1988852"/>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5</a:t>
            </a:r>
          </a:p>
        </p:txBody>
      </p:sp>
      <p:sp>
        <p:nvSpPr>
          <p:cNvPr id="98" name="Oval 90"/>
          <p:cNvSpPr>
            <a:spLocks noChangeAspect="1" noChangeArrowheads="1"/>
          </p:cNvSpPr>
          <p:nvPr/>
        </p:nvSpPr>
        <p:spPr bwMode="auto">
          <a:xfrm>
            <a:off x="2071894" y="2648434"/>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99" name="Rectangle 98"/>
          <p:cNvSpPr/>
          <p:nvPr/>
        </p:nvSpPr>
        <p:spPr>
          <a:xfrm>
            <a:off x="2289845" y="2667380"/>
            <a:ext cx="1149971" cy="252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s-ES" sz="800" dirty="0">
                <a:solidFill>
                  <a:schemeClr val="tx1">
                    <a:lumMod val="85000"/>
                    <a:lumOff val="15000"/>
                  </a:schemeClr>
                </a:solidFill>
              </a:rPr>
              <a:t>Proveedor de Back Up</a:t>
            </a:r>
            <a:endParaRPr lang="es-CL" sz="800" dirty="0">
              <a:solidFill>
                <a:schemeClr val="tx1">
                  <a:lumMod val="85000"/>
                  <a:lumOff val="15000"/>
                </a:schemeClr>
              </a:solidFill>
            </a:endParaRPr>
          </a:p>
        </p:txBody>
      </p:sp>
      <p:sp>
        <p:nvSpPr>
          <p:cNvPr id="82" name="1 Título"/>
          <p:cNvSpPr>
            <a:spLocks noGrp="1"/>
          </p:cNvSpPr>
          <p:nvPr>
            <p:ph type="title"/>
          </p:nvPr>
        </p:nvSpPr>
        <p:spPr>
          <a:xfrm>
            <a:off x="47624" y="64029"/>
            <a:ext cx="8627715" cy="587723"/>
          </a:xfrm>
        </p:spPr>
        <p:txBody>
          <a:bodyPr/>
          <a:lstStyle/>
          <a:p>
            <a:r>
              <a:rPr lang="es-PE" dirty="0"/>
              <a:t>Planes de Acción</a:t>
            </a:r>
          </a:p>
        </p:txBody>
      </p:sp>
      <p:sp>
        <p:nvSpPr>
          <p:cNvPr id="71" name="Rectangle 70"/>
          <p:cNvSpPr/>
          <p:nvPr/>
        </p:nvSpPr>
        <p:spPr>
          <a:xfrm>
            <a:off x="1129616" y="3495419"/>
            <a:ext cx="1494236" cy="215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800" dirty="0">
                <a:solidFill>
                  <a:schemeClr val="tx1">
                    <a:lumMod val="85000"/>
                    <a:lumOff val="15000"/>
                  </a:schemeClr>
                </a:solidFill>
              </a:rPr>
              <a:t>Capacitaciones a procuradores</a:t>
            </a:r>
            <a:endParaRPr lang="es-CL" sz="800" dirty="0">
              <a:solidFill>
                <a:schemeClr val="tx1">
                  <a:lumMod val="85000"/>
                  <a:lumOff val="15000"/>
                </a:schemeClr>
              </a:solidFill>
            </a:endParaRPr>
          </a:p>
        </p:txBody>
      </p:sp>
      <p:sp>
        <p:nvSpPr>
          <p:cNvPr id="72" name="Oval 90"/>
          <p:cNvSpPr>
            <a:spLocks noChangeAspect="1" noChangeArrowheads="1"/>
          </p:cNvSpPr>
          <p:nvPr/>
        </p:nvSpPr>
        <p:spPr bwMode="auto">
          <a:xfrm>
            <a:off x="873156" y="3469454"/>
            <a:ext cx="274320" cy="274320"/>
          </a:xfrm>
          <a:prstGeom prst="ellipse">
            <a:avLst/>
          </a:prstGeom>
          <a:gradFill rotWithShape="1">
            <a:gsLst>
              <a:gs pos="0">
                <a:srgbClr val="C00000"/>
              </a:gs>
              <a:gs pos="100000">
                <a:srgbClr val="FF0000"/>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7</a:t>
            </a:r>
          </a:p>
        </p:txBody>
      </p:sp>
    </p:spTree>
    <p:extLst>
      <p:ext uri="{BB962C8B-B14F-4D97-AF65-F5344CB8AC3E}">
        <p14:creationId xmlns:p14="http://schemas.microsoft.com/office/powerpoint/2010/main" val="1343591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Prospección</a:t>
            </a:r>
            <a:r>
              <a:rPr lang="es-ES_tradnl" sz="1600" b="1" dirty="0">
                <a:solidFill>
                  <a:srgbClr val="4D4D4D"/>
                </a:solidFill>
                <a:latin typeface="+mj-lt"/>
                <a:sym typeface="Wingdings" pitchFamily="2" charset="2"/>
              </a:rPr>
              <a:t> 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Prospección</a:t>
            </a:r>
          </a:p>
          <a:p>
            <a:pPr algn="ctr"/>
            <a:r>
              <a:rPr lang="es-PE" sz="800" b="1" dirty="0">
                <a:solidFill>
                  <a:schemeClr val="bg1"/>
                </a:solidFill>
              </a:rPr>
              <a:t>VaR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0.37MM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RRVV y Previsionales</a:t>
            </a:r>
            <a:endParaRPr lang="es-CL" sz="1000" dirty="0">
              <a:solidFill>
                <a:schemeClr val="tx1"/>
              </a:solidFill>
            </a:endParaRP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Incumplimiento de las directrices comerciales generado por malas prácticas de fidelización por parte del asesor en las visitas a clientes (p.ej. Entrega de dinero al cliente a cambio de la selección de Rimac en el proceso de cotización de RRVV).</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6</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311.5</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34.7%</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RRVV y Previsionales</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Declaración fraudulenta del asesor de FFVV por un mayor número de visitas al cliente de las que ha efectuado; esto con el objetivo de obtener una mayor remuneración (en función del número de visitas).</a:t>
            </a:r>
            <a:endParaRPr lang="es-CL" sz="10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11.25</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53.57</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65%</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Prospección</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Prospección</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85.1%</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14.6%</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Prospección</a:t>
            </a: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0.02MM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48"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5</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3</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RRVV y Previsionales</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Declaración fraudulenta de los gastos por viáticos de los asesores de RRVV en provincias (p.ej. Asesores entregan boletas y recibos como respaldo de visitas que no se llevaron a cabo).</a:t>
            </a:r>
            <a:endParaRPr lang="es-CL" sz="10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0.06</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1.06</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RRVV y Previsionales</a:t>
            </a:r>
            <a:endParaRPr lang="es-CL" sz="1000" dirty="0">
              <a:solidFill>
                <a:schemeClr val="tx1"/>
              </a:solidFill>
            </a:endParaRP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Uso fraudulento de las bases de datos de clientes debido a inexistencia de perfiles de acceso.</a:t>
            </a:r>
            <a:endParaRPr lang="es-CL" sz="10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0.3%</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Prospección</a:t>
            </a:r>
            <a:endParaRPr lang="es-CL" sz="1000" dirty="0">
              <a:solidFill>
                <a:schemeClr val="tx1"/>
              </a:solidFill>
              <a:latin typeface="+mj-lt"/>
            </a:endParaRP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Prospección</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0.3%</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a:t>
            </a:r>
          </a:p>
        </p:txBody>
      </p:sp>
    </p:spTree>
    <p:extLst>
      <p:ext uri="{BB962C8B-B14F-4D97-AF65-F5344CB8AC3E}">
        <p14:creationId xmlns:p14="http://schemas.microsoft.com/office/powerpoint/2010/main" val="2114849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Suscripción</a:t>
            </a:r>
            <a:r>
              <a:rPr lang="es-ES_tradnl" sz="1600" b="1" dirty="0">
                <a:solidFill>
                  <a:srgbClr val="4D4D4D"/>
                </a:solidFill>
                <a:latin typeface="+mj-lt"/>
                <a:sym typeface="Wingdings" pitchFamily="2" charset="2"/>
              </a:rPr>
              <a:t> 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Suscripción</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38.31MM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Salud</a:t>
            </a:r>
            <a:endParaRPr lang="es-CL" sz="1000" dirty="0">
              <a:solidFill>
                <a:schemeClr val="tx1"/>
              </a:solidFill>
            </a:endParaRP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Selección errónea de plan de EPS como consecuencia de falencias en los criterios adoptados para determinar si aplicar un plan estándar o enviar la solicitud a la unidad de negocio para su evaluación. Por ejemplo, casos </a:t>
            </a:r>
            <a:r>
              <a:rPr lang="es-ES" sz="1000" dirty="0" err="1">
                <a:solidFill>
                  <a:schemeClr val="tx1"/>
                </a:solidFill>
              </a:rPr>
              <a:t>Topytop</a:t>
            </a:r>
            <a:r>
              <a:rPr lang="es-ES" sz="1000" dirty="0">
                <a:solidFill>
                  <a:schemeClr val="tx1"/>
                </a:solidFill>
              </a:rPr>
              <a:t> y Policía Nacional.</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2,250</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6,650.2</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12.7%</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RRLL</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Falencias en el procedimiento de delimitación inicial. P. ej. Se evalúa una empresa de minería de socavón con 100 trabajadores y se emite su póliza, 3 meses después la empresa puede emitir su constancia por otras 100 personas diferentes o por un número mayor</a:t>
            </a:r>
            <a:r>
              <a:rPr lang="es-ES" sz="900" dirty="0">
                <a:solidFill>
                  <a:schemeClr val="tx1"/>
                </a:solidFill>
              </a:rPr>
              <a:t>.</a:t>
            </a:r>
            <a:endParaRPr lang="es-CL" sz="9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14,400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22,357.2</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81%</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Suscripción</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Suscripción</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17.4%</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58.4%</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Suscripción</a:t>
            </a: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17.78MM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41</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48</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Vida</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Envío erróneo de cotizaciones para su emisión por parte de Formalización, por considerar incorrectamente que se trata de un producto modular y, por lo tanto, no requiere de la evaluación de la unidad de negocio.  - Caso de Accidentes Personales -</a:t>
            </a:r>
            <a:endParaRPr lang="es-CL" sz="10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500</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2,130.6</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RRLL</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Incumplimiento de las políticas de reaseguro debido a la alta manualidad en el proceso suscripción. (P. ej. Error en la verificación de la edad del asegurado, error en la verificación de sueldos duplicados por gratificación, etc.)</a:t>
            </a:r>
            <a:endParaRPr lang="es-CL" sz="10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256</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4,357.1</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2.8%</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1.4%</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Suscripción</a:t>
            </a: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Suscripción</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5.6%</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11.4%</a:t>
            </a:r>
          </a:p>
        </p:txBody>
      </p:sp>
      <p:sp>
        <p:nvSpPr>
          <p:cNvPr id="6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6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997990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Venta</a:t>
            </a:r>
            <a:r>
              <a:rPr lang="es-ES_tradnl" sz="1600" b="1" dirty="0">
                <a:solidFill>
                  <a:srgbClr val="4D4D4D"/>
                </a:solidFill>
                <a:latin typeface="+mj-lt"/>
                <a:sym typeface="Wingdings" pitchFamily="2" charset="2"/>
              </a:rPr>
              <a:t> 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Venta</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0.82MM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endParaRPr lang="es-CL" sz="1000" dirty="0">
              <a:solidFill>
                <a:schemeClr val="tx1"/>
              </a:solidFill>
            </a:endParaRP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Pérdida o no localización de documentación (i.e.: Pérdida de los Pago Fácil) enviada desde las agencias para la emisión de pólizas de </a:t>
            </a:r>
            <a:r>
              <a:rPr lang="es-ES" sz="1000" dirty="0" err="1">
                <a:solidFill>
                  <a:schemeClr val="tx1"/>
                </a:solidFill>
              </a:rPr>
              <a:t>Multiproducto</a:t>
            </a:r>
            <a:r>
              <a:rPr lang="es-ES" sz="1000" dirty="0">
                <a:solidFill>
                  <a:schemeClr val="tx1"/>
                </a:solidFill>
              </a:rPr>
              <a:t>.</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54.0</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85.9</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16.3%</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Vida</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Ingreso de información errónea o incompleta por parte del asesor, lo cual genera (1) errores en la emisión de la póliza o (2) retraso en la emisión. Canal </a:t>
            </a:r>
            <a:r>
              <a:rPr lang="es-ES" sz="1000" dirty="0" err="1">
                <a:solidFill>
                  <a:schemeClr val="tx1"/>
                </a:solidFill>
              </a:rPr>
              <a:t>Worksite</a:t>
            </a:r>
            <a:r>
              <a:rPr lang="es-ES" sz="1000" dirty="0">
                <a:solidFill>
                  <a:schemeClr val="tx1"/>
                </a:solidFill>
              </a:rPr>
              <a:t>.</a:t>
            </a:r>
            <a:endParaRPr lang="es-CL" sz="10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264.0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272.1</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79.6%</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Venta</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Venta</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10.5%</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33.4%</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Venta</a:t>
            </a: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0.33MM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13</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14</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SOAT</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Declaración fraudulenta de los corredores o los puntos de venta de </a:t>
            </a:r>
            <a:r>
              <a:rPr lang="es-ES" sz="1000" dirty="0" err="1">
                <a:solidFill>
                  <a:schemeClr val="tx1"/>
                </a:solidFill>
              </a:rPr>
              <a:t>Rimac</a:t>
            </a:r>
            <a:r>
              <a:rPr lang="es-ES" sz="1000" dirty="0">
                <a:solidFill>
                  <a:schemeClr val="tx1"/>
                </a:solidFill>
              </a:rPr>
              <a:t> al momento de la venta de la póliza SOAT. P.ej. La solicitud entregada a </a:t>
            </a:r>
            <a:r>
              <a:rPr lang="es-ES" sz="1000" dirty="0" err="1">
                <a:solidFill>
                  <a:schemeClr val="tx1"/>
                </a:solidFill>
              </a:rPr>
              <a:t>Rimac</a:t>
            </a:r>
            <a:r>
              <a:rPr lang="es-ES" sz="1000" dirty="0">
                <a:solidFill>
                  <a:schemeClr val="tx1"/>
                </a:solidFill>
              </a:rPr>
              <a:t> y la solicitud del cliente no conversan - Caso del papel </a:t>
            </a:r>
            <a:r>
              <a:rPr lang="es-ES" sz="1000" dirty="0" err="1">
                <a:solidFill>
                  <a:schemeClr val="tx1"/>
                </a:solidFill>
              </a:rPr>
              <a:t>autocopiativo</a:t>
            </a:r>
            <a:endParaRPr lang="es-CL" sz="10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3.6</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10.4</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Incumplimiento de la Política de Suscripción de Vida generado por deficiencias en la venta de productos a través de los distintos canales. (P.ej. Venta de pólizas de seguros de desgravamen que no cumplen con los requerimientos de </a:t>
            </a:r>
            <a:r>
              <a:rPr lang="es-ES" sz="1000" dirty="0" err="1">
                <a:solidFill>
                  <a:schemeClr val="tx1"/>
                </a:solidFill>
              </a:rPr>
              <a:t>asegurabilidad</a:t>
            </a:r>
            <a:r>
              <a:rPr lang="es-ES" sz="1000" dirty="0">
                <a:solidFill>
                  <a:schemeClr val="tx1"/>
                </a:solidFill>
              </a:rPr>
              <a:t>)</a:t>
            </a:r>
            <a:endParaRPr lang="es-CL" sz="10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3.5</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282.9</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1.0%</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Venta</a:t>
            </a: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Venta</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1.3%</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34.6%</a:t>
            </a:r>
          </a:p>
        </p:txBody>
      </p:sp>
      <p:sp>
        <p:nvSpPr>
          <p:cNvPr id="6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6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3587474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Renovación y Ajustes</a:t>
            </a:r>
            <a:r>
              <a:rPr lang="es-ES_tradnl" sz="1600" b="1" dirty="0">
                <a:solidFill>
                  <a:srgbClr val="4D4D4D"/>
                </a:solidFill>
                <a:latin typeface="+mj-lt"/>
                <a:sym typeface="Wingdings" pitchFamily="2" charset="2"/>
              </a:rPr>
              <a:t> 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Renovación y Aj</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0.37MM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Salud</a:t>
            </a:r>
            <a:endParaRPr lang="es-CL" sz="1000" dirty="0">
              <a:solidFill>
                <a:schemeClr val="tx1"/>
              </a:solidFill>
            </a:endParaRP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Errores en los procesos de renovaciones debido a incongruencias en el sistema y a la alta manualidad del proceso. P. ej. Error en recargos y descuentos debido a errores en la revisión de la siniestralidad</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28.8</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40.9</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28%</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RRGG</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Error en el cálculo del resultado técnico del ramo o cliente (primas, siniestros, etc.) debido a que la información extraída de los sistema de Rimac contiene errores. P. ej. Siniestralidad revisada en </a:t>
            </a:r>
            <a:r>
              <a:rPr lang="es-ES" sz="900" dirty="0" err="1">
                <a:solidFill>
                  <a:schemeClr val="tx1"/>
                </a:solidFill>
              </a:rPr>
              <a:t>Discoverer</a:t>
            </a:r>
            <a:r>
              <a:rPr lang="es-ES" sz="900" dirty="0">
                <a:solidFill>
                  <a:schemeClr val="tx1"/>
                </a:solidFill>
              </a:rPr>
              <a:t> o Business Object no está actualizada, usualmente presenta un mes de retraso y/o inconsistencias.</a:t>
            </a:r>
            <a:endParaRPr lang="es-CL" sz="8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235.1</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48.6%</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Renovación y Ajustes</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Renovación y Ajustes</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11.1%</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63.8%</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Renovación y Aj</a:t>
            </a: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0.10MM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Salud</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Modificaciones de planes de salud por personas no autorizadas como consecuencias fallas en los privilegios de  perfiles de usuarios. P.ej. Algunos ejecutivos comerciales poseen privilegios para modificar planes de salud.</a:t>
            </a:r>
            <a:endParaRPr lang="es-CL" sz="10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12</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57.4</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RRLL</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Errores en las renovación de pólizas de Riesgos Laborales debido a que el corredor renueva a través de la web sin aplicar los ajustes requeridos por la Unidad de Negocio.</a:t>
            </a:r>
            <a:endParaRPr lang="es-CL" sz="10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12</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34.9</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11.7%</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11.7%</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Renovación y Ajustes</a:t>
            </a: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Renovación y Ajustes</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15.6%</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9.5%</a:t>
            </a:r>
          </a:p>
        </p:txBody>
      </p:sp>
      <p:sp>
        <p:nvSpPr>
          <p:cNvPr id="6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6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2630987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Emisión y Endoso</a:t>
            </a:r>
            <a:r>
              <a:rPr lang="es-ES_tradnl" sz="1600" b="1" dirty="0">
                <a:solidFill>
                  <a:srgbClr val="4D4D4D"/>
                </a:solidFill>
                <a:latin typeface="+mj-lt"/>
                <a:sym typeface="Wingdings" pitchFamily="2" charset="2"/>
              </a:rPr>
              <a:t> 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Emisión y </a:t>
            </a:r>
            <a:r>
              <a:rPr lang="es-PE" sz="800" b="1" dirty="0" err="1">
                <a:solidFill>
                  <a:schemeClr val="bg1"/>
                </a:solidFill>
              </a:rPr>
              <a:t>Endos</a:t>
            </a:r>
            <a:endParaRPr lang="es-PE" sz="800" b="1" dirty="0">
              <a:solidFill>
                <a:schemeClr val="bg1"/>
              </a:solidFill>
            </a:endParaRP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10.91MM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Vida</a:t>
            </a: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Retrasos en las emisiones de pólizas de Worksite debido a  (1) </a:t>
            </a:r>
            <a:r>
              <a:rPr lang="es-ES" sz="1000" dirty="0" err="1">
                <a:solidFill>
                  <a:schemeClr val="tx1"/>
                </a:solidFill>
              </a:rPr>
              <a:t>reprocesos</a:t>
            </a:r>
            <a:r>
              <a:rPr lang="es-ES" sz="1000" dirty="0">
                <a:solidFill>
                  <a:schemeClr val="tx1"/>
                </a:solidFill>
              </a:rPr>
              <a:t> originados por errores en la digitación, (2) incumplimiento de los ANS (tiempos) por estacionalidad en la llegada de solicitudes a gestionar (fin de mes). Canal </a:t>
            </a:r>
            <a:r>
              <a:rPr lang="es-ES" sz="1000" dirty="0" err="1">
                <a:solidFill>
                  <a:schemeClr val="tx1"/>
                </a:solidFill>
              </a:rPr>
              <a:t>worksite</a:t>
            </a:r>
            <a:r>
              <a:rPr lang="es-ES" sz="1000" dirty="0">
                <a:solidFill>
                  <a:schemeClr val="tx1"/>
                </a:solidFill>
              </a:rPr>
              <a:t>.</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288</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296.3</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15%</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RRLL</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Emisión de pólizas retroactivas en donde no se declara un siniestro ocurrido en el lapso sin cobertura.</a:t>
            </a:r>
            <a:endParaRPr lang="es-CL" sz="10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1,200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3,937.7</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62.3%</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Emisión y Endoso</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Emisión y Endoso</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2.7%</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36.1%</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Emisión y </a:t>
            </a:r>
            <a:r>
              <a:rPr lang="es-PE" sz="800" b="1" dirty="0" err="1">
                <a:solidFill>
                  <a:schemeClr val="bg1"/>
                </a:solidFill>
              </a:rPr>
              <a:t>Endos</a:t>
            </a:r>
            <a:endParaRPr lang="es-PE" sz="800" b="1" dirty="0">
              <a:solidFill>
                <a:schemeClr val="bg1"/>
              </a:solidFill>
            </a:endParaRP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1.93MM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44</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43</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Salud</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Fallos en la armado del plan de salud por parte del Gestor de Rentabilidad como consecuencia de la elevada manualidad del proceso (confección de Plan en base a archivo Excel).</a:t>
            </a:r>
            <a:endParaRPr lang="es-CL" sz="10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180</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328.8</a:t>
            </a:r>
          </a:p>
        </p:txBody>
      </p:sp>
      <p:sp>
        <p:nvSpPr>
          <p:cNvPr id="75" name="Rounded Rectangle 72"/>
          <p:cNvSpPr/>
          <p:nvPr/>
        </p:nvSpPr>
        <p:spPr>
          <a:xfrm>
            <a:off x="1441590" y="4611006"/>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Vehicular</a:t>
            </a:r>
          </a:p>
        </p:txBody>
      </p:sp>
      <p:sp>
        <p:nvSpPr>
          <p:cNvPr id="76" name="Rounded Rectangle 73"/>
          <p:cNvSpPr/>
          <p:nvPr/>
        </p:nvSpPr>
        <p:spPr>
          <a:xfrm>
            <a:off x="97624" y="4611006"/>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1100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Error en el ingreso manual de los datos para la creación de la póliza. Por ejemplo,  tasa de interés, comisión, coberturas, etc.</a:t>
            </a:r>
            <a:endParaRPr lang="es-CL" sz="1000" dirty="0">
              <a:solidFill>
                <a:schemeClr val="tx1"/>
              </a:solidFill>
            </a:endParaRPr>
          </a:p>
        </p:txBody>
      </p:sp>
      <p:sp>
        <p:nvSpPr>
          <p:cNvPr id="78" name="Rounded Rectangle 75"/>
          <p:cNvSpPr/>
          <p:nvPr/>
        </p:nvSpPr>
        <p:spPr>
          <a:xfrm>
            <a:off x="5743657" y="4611006"/>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46.7</a:t>
            </a:r>
          </a:p>
        </p:txBody>
      </p:sp>
      <p:sp>
        <p:nvSpPr>
          <p:cNvPr id="79" name="Rounded Rectangle 76"/>
          <p:cNvSpPr/>
          <p:nvPr/>
        </p:nvSpPr>
        <p:spPr>
          <a:xfrm>
            <a:off x="6593356" y="4611006"/>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524.1</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9.4%</a:t>
            </a:r>
          </a:p>
        </p:txBody>
      </p:sp>
      <p:sp>
        <p:nvSpPr>
          <p:cNvPr id="81" name="Rounded Rectangle 94"/>
          <p:cNvSpPr/>
          <p:nvPr/>
        </p:nvSpPr>
        <p:spPr>
          <a:xfrm>
            <a:off x="7461578" y="4611006"/>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2.4%</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Emisión y Endoso</a:t>
            </a:r>
          </a:p>
        </p:txBody>
      </p:sp>
      <p:sp>
        <p:nvSpPr>
          <p:cNvPr id="83" name="Rounded Rectangle 72"/>
          <p:cNvSpPr/>
          <p:nvPr/>
        </p:nvSpPr>
        <p:spPr>
          <a:xfrm>
            <a:off x="490012" y="4611006"/>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Emisión y Endoso</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a:t>
            </a:r>
          </a:p>
        </p:txBody>
      </p:sp>
      <p:sp>
        <p:nvSpPr>
          <p:cNvPr id="85" name="Rounded Rectangle 94"/>
          <p:cNvSpPr/>
          <p:nvPr/>
        </p:nvSpPr>
        <p:spPr>
          <a:xfrm>
            <a:off x="8284460" y="4611006"/>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4.8%</a:t>
            </a:r>
          </a:p>
        </p:txBody>
      </p:sp>
      <p:sp>
        <p:nvSpPr>
          <p:cNvPr id="6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6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287137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Impresión y Despacho </a:t>
            </a:r>
            <a:r>
              <a:rPr lang="es-ES_tradnl" sz="1600" b="1" dirty="0">
                <a:solidFill>
                  <a:srgbClr val="4D4D4D"/>
                </a:solidFill>
                <a:latin typeface="+mj-lt"/>
                <a:sym typeface="Wingdings" pitchFamily="2" charset="2"/>
              </a:rPr>
              <a:t>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Pérdida de documentación y/o no localización de la información de respaldo del proceso.</a:t>
            </a:r>
          </a:p>
          <a:p>
            <a:pPr algn="just"/>
            <a:r>
              <a:rPr lang="es-ES" sz="1000" dirty="0">
                <a:solidFill>
                  <a:schemeClr val="tx1"/>
                </a:solidFill>
              </a:rPr>
              <a:t> P. ej. Declaración personal de Salud (DPS) y / o cargo de certificado en CNT</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760</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1,412.9</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38.7%</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Vida</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No captura de la firma del cargo de recepción del certificado y/o firma de la póliza durante el proceso de envío / entrega de la documentación. P. ej. DPS sin firma.</a:t>
            </a:r>
            <a:endParaRPr lang="es-CL" sz="9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960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1,683.6</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48.9%</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Impresión y Despacho</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Impresión y Despacho</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36.7%</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43.7%</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18</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14</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RRGG</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Pérdida de documentación y/o no localización de la información de respaldo del proceso.</a:t>
            </a:r>
          </a:p>
          <a:p>
            <a:pPr algn="just"/>
            <a:r>
              <a:rPr lang="es-ES" sz="1000" dirty="0">
                <a:solidFill>
                  <a:schemeClr val="tx1"/>
                </a:solidFill>
              </a:rPr>
              <a:t> P. ej. Cargo de certificado / póliza en CNT</a:t>
            </a:r>
            <a:endParaRPr lang="es-CL" sz="10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100</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391.8</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Solicitud de anulación de pólizas y aceptación de devolución de primas debido a la inexistencia de cargos firmados de la póliza recepcionada por el asegurado que sustenten el conocimiento y aceptación de las condiciones contratadas. Canal Multiproducto.</a:t>
            </a:r>
            <a:endParaRPr lang="es-CL" sz="10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90</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150</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5.1%</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4.6%</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Impresión y Despacho</a:t>
            </a: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Impresión y Despacho</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10.2%</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3.9%</a:t>
            </a:r>
          </a:p>
        </p:txBody>
      </p:sp>
      <p:sp>
        <p:nvSpPr>
          <p:cNvPr id="60"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61"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Impresión y Des</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62"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3.85MM</a:t>
            </a:r>
          </a:p>
        </p:txBody>
      </p:sp>
      <p:sp>
        <p:nvSpPr>
          <p:cNvPr id="63"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Impresión y Des</a:t>
            </a:r>
          </a:p>
          <a:p>
            <a:pPr algn="ctr"/>
            <a:r>
              <a:rPr lang="es-PE" sz="800" b="1" dirty="0">
                <a:solidFill>
                  <a:schemeClr val="bg1"/>
                </a:solidFill>
              </a:rPr>
              <a:t>PEA acumulado</a:t>
            </a:r>
            <a:endParaRPr lang="en-US" sz="800" b="1" dirty="0">
              <a:solidFill>
                <a:schemeClr val="bg1"/>
              </a:solidFill>
            </a:endParaRPr>
          </a:p>
        </p:txBody>
      </p:sp>
      <p:sp>
        <p:nvSpPr>
          <p:cNvPr id="64"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1.96MM</a:t>
            </a:r>
          </a:p>
        </p:txBody>
      </p:sp>
      <p:sp>
        <p:nvSpPr>
          <p:cNvPr id="65"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67"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87"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88"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2314015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Gestión de Siniestros </a:t>
            </a:r>
            <a:r>
              <a:rPr lang="es-ES_tradnl" sz="1600" b="1" dirty="0">
                <a:solidFill>
                  <a:srgbClr val="4D4D4D"/>
                </a:solidFill>
                <a:latin typeface="+mj-lt"/>
                <a:sym typeface="Wingdings" pitchFamily="2" charset="2"/>
              </a:rPr>
              <a:t>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G. De Siniestros</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2.69MM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Falencias en la verificación de la vigencia de la póliza o del estado de cuenta del cliente debido a que no se cuenta con la información de la póliza en los sistemas. P.ej. Póliza contratada por CNT o Worksite no dada de alta en los sistemas. </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150</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344</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13.7%</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Vehicular</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Errores o falencias en la ejecución de los procedimientos del Asesor/Procurador.  Estas falencias pueden derivar en la aceptación de siniestros que debieron haber sido rechazados o rechazado siniestros que debieron haber sido aceptados.</a:t>
            </a:r>
            <a:endParaRPr lang="es-CL" sz="9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300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431.3</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27.4%</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Gestión de Siniestros</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Gestión de Siniestros</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12.8%</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16.1%</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G. De Siniestros</a:t>
            </a: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1.10MM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60</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81</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RRLL</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Incorrecta aceptación de asegurados por las clínicas (SCTR Salud), debido a que el listado de personas afiliadas a una póliza no se encuentra detallado en su sistema. P. ej. Errores en la migración de planillas (i.e. no migra la completitud de las plantillas) en el sistema de Rimac Salud cuando las emisiones se realizan a través de la web. </a:t>
            </a:r>
            <a:endParaRPr lang="es-CL" sz="9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143.2</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206.8</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SOAT</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Falencias en la verificación de pólizas SOAT que no permitan identificar las pólizas vigentes. P. ej. Desfases de tiempo entre la venta del certificado y la emisión de la póliza (emisión manual o por tramas), la pérdida se asocia a certificados robados, deteriorados, anulados o </a:t>
            </a:r>
            <a:r>
              <a:rPr lang="es-ES" sz="900" dirty="0" err="1">
                <a:solidFill>
                  <a:schemeClr val="tx1"/>
                </a:solidFill>
              </a:rPr>
              <a:t>excluídos</a:t>
            </a:r>
            <a:r>
              <a:rPr lang="es-ES" sz="900" dirty="0">
                <a:solidFill>
                  <a:schemeClr val="tx1"/>
                </a:solidFill>
              </a:rPr>
              <a:t>.</a:t>
            </a:r>
            <a:endParaRPr lang="es-CL" sz="9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72</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168.1</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13.1%</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6.6%</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Gestión de Siniestros</a:t>
            </a: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Gestión de Siniestros</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7.7%</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6.3%</a:t>
            </a:r>
          </a:p>
        </p:txBody>
      </p:sp>
      <p:sp>
        <p:nvSpPr>
          <p:cNvPr id="6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6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1037724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Análisis por proceso</a:t>
            </a:r>
          </a:p>
        </p:txBody>
      </p:sp>
      <p:sp>
        <p:nvSpPr>
          <p:cNvPr id="5" name="Rectangle 29"/>
          <p:cNvSpPr txBox="1">
            <a:spLocks noChangeArrowheads="1"/>
          </p:cNvSpPr>
          <p:nvPr/>
        </p:nvSpPr>
        <p:spPr bwMode="gray">
          <a:xfrm>
            <a:off x="107504" y="692696"/>
            <a:ext cx="863759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asociados al proceso de </a:t>
            </a:r>
            <a:r>
              <a:rPr lang="es-ES_tradnl" sz="1600" b="1" dirty="0">
                <a:solidFill>
                  <a:srgbClr val="DB0613"/>
                </a:solidFill>
                <a:latin typeface="+mj-lt"/>
                <a:sym typeface="Wingdings" pitchFamily="2" charset="2"/>
              </a:rPr>
              <a:t>Desarrollo de Nuevos Productos </a:t>
            </a:r>
            <a:r>
              <a:rPr lang="es-ES_tradnl" sz="1600" b="1" dirty="0">
                <a:solidFill>
                  <a:srgbClr val="4D4D4D"/>
                </a:solidFill>
                <a:latin typeface="+mj-lt"/>
                <a:sym typeface="Wingdings" pitchFamily="2" charset="2"/>
              </a:rPr>
              <a:t>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6" name="AutoShape 220"/>
          <p:cNvSpPr>
            <a:spLocks noChangeArrowheads="1"/>
          </p:cNvSpPr>
          <p:nvPr/>
        </p:nvSpPr>
        <p:spPr bwMode="auto">
          <a:xfrm>
            <a:off x="5024602" y="5504275"/>
            <a:ext cx="3888000" cy="607716"/>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8" name="Rectangle 219"/>
          <p:cNvSpPr>
            <a:spLocks noChangeArrowheads="1"/>
          </p:cNvSpPr>
          <p:nvPr/>
        </p:nvSpPr>
        <p:spPr bwMode="auto">
          <a:xfrm>
            <a:off x="6102726"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D. De Nuevos Pr</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9" name="Rectangle 224"/>
          <p:cNvSpPr>
            <a:spLocks noChangeArrowheads="1"/>
          </p:cNvSpPr>
          <p:nvPr/>
        </p:nvSpPr>
        <p:spPr bwMode="auto">
          <a:xfrm>
            <a:off x="6102726"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4.00MM</a:t>
            </a:r>
          </a:p>
        </p:txBody>
      </p:sp>
      <p:sp>
        <p:nvSpPr>
          <p:cNvPr id="10" name="Rounded Rectangle 61"/>
          <p:cNvSpPr/>
          <p:nvPr/>
        </p:nvSpPr>
        <p:spPr>
          <a:xfrm>
            <a:off x="107504" y="1058559"/>
            <a:ext cx="8964000" cy="27432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b="1" dirty="0"/>
              <a:t>Ranking TOP 4 Pérdida Esperada Anual (PEA)</a:t>
            </a:r>
          </a:p>
        </p:txBody>
      </p:sp>
      <p:sp>
        <p:nvSpPr>
          <p:cNvPr id="11" name="Rounded Rectangle 60"/>
          <p:cNvSpPr/>
          <p:nvPr/>
        </p:nvSpPr>
        <p:spPr>
          <a:xfrm>
            <a:off x="97624" y="1374854"/>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 name="Rounded Rectangle 62"/>
          <p:cNvSpPr/>
          <p:nvPr/>
        </p:nvSpPr>
        <p:spPr>
          <a:xfrm>
            <a:off x="1441590" y="1374854"/>
            <a:ext cx="97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Producto</a:t>
            </a:r>
          </a:p>
        </p:txBody>
      </p:sp>
      <p:sp>
        <p:nvSpPr>
          <p:cNvPr id="13" name="Rounded Rectangle 66"/>
          <p:cNvSpPr/>
          <p:nvPr/>
        </p:nvSpPr>
        <p:spPr>
          <a:xfrm>
            <a:off x="2465732" y="1374854"/>
            <a:ext cx="320027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4" name="Rounded Rectangle 68"/>
          <p:cNvSpPr/>
          <p:nvPr/>
        </p:nvSpPr>
        <p:spPr>
          <a:xfrm>
            <a:off x="5743657"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 </a:t>
            </a:r>
            <a:r>
              <a:rPr lang="es-CL" sz="800" b="1" dirty="0">
                <a:solidFill>
                  <a:schemeClr val="lt1"/>
                </a:solidFill>
              </a:rPr>
              <a:t>(miles)</a:t>
            </a:r>
            <a:endParaRPr lang="es-CL" sz="1100" b="1" dirty="0">
              <a:solidFill>
                <a:schemeClr val="lt1"/>
              </a:solidFill>
            </a:endParaRPr>
          </a:p>
        </p:txBody>
      </p:sp>
      <p:sp>
        <p:nvSpPr>
          <p:cNvPr id="15" name="Rounded Rectangle 70"/>
          <p:cNvSpPr/>
          <p:nvPr/>
        </p:nvSpPr>
        <p:spPr>
          <a:xfrm>
            <a:off x="6593356" y="1374854"/>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 </a:t>
            </a:r>
            <a:r>
              <a:rPr lang="es-CL" sz="800" b="1" dirty="0"/>
              <a:t>(miles)</a:t>
            </a:r>
            <a:endParaRPr lang="es-CL" sz="1100" b="1" dirty="0">
              <a:solidFill>
                <a:schemeClr val="lt1"/>
              </a:solidFill>
            </a:endParaRPr>
          </a:p>
        </p:txBody>
      </p:sp>
      <p:sp>
        <p:nvSpPr>
          <p:cNvPr id="16" name="Rounded Rectangle 77"/>
          <p:cNvSpPr/>
          <p:nvPr/>
        </p:nvSpPr>
        <p:spPr>
          <a:xfrm>
            <a:off x="1441590" y="2766514"/>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p>
        </p:txBody>
      </p:sp>
      <p:sp>
        <p:nvSpPr>
          <p:cNvPr id="17" name="Rounded Rectangle 78"/>
          <p:cNvSpPr/>
          <p:nvPr/>
        </p:nvSpPr>
        <p:spPr>
          <a:xfrm>
            <a:off x="97624" y="2766514"/>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 name="Rounded Rectangle 79"/>
          <p:cNvSpPr/>
          <p:nvPr/>
        </p:nvSpPr>
        <p:spPr>
          <a:xfrm>
            <a:off x="2465732" y="2766514"/>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000" dirty="0">
                <a:solidFill>
                  <a:schemeClr val="tx1"/>
                </a:solidFill>
              </a:rPr>
              <a:t>Errores en la evaluación preliminar de nuevos productos entregada por el área Comercial que pudiera afectar la evaluación económica y la tarificación. Se acota a la información que ha sido generada por los comerciales, no la que proviene del canal.</a:t>
            </a:r>
            <a:endParaRPr lang="es-CL" sz="1000" dirty="0">
              <a:solidFill>
                <a:schemeClr val="tx1"/>
              </a:solidFill>
            </a:endParaRPr>
          </a:p>
        </p:txBody>
      </p:sp>
      <p:sp>
        <p:nvSpPr>
          <p:cNvPr id="19" name="Rounded Rectangle 80"/>
          <p:cNvSpPr/>
          <p:nvPr/>
        </p:nvSpPr>
        <p:spPr>
          <a:xfrm>
            <a:off x="5743657"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250</a:t>
            </a:r>
          </a:p>
        </p:txBody>
      </p:sp>
      <p:sp>
        <p:nvSpPr>
          <p:cNvPr id="20" name="Rounded Rectangle 81"/>
          <p:cNvSpPr/>
          <p:nvPr/>
        </p:nvSpPr>
        <p:spPr>
          <a:xfrm>
            <a:off x="6593356" y="2766514"/>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1,009.9</a:t>
            </a:r>
          </a:p>
        </p:txBody>
      </p:sp>
      <p:sp>
        <p:nvSpPr>
          <p:cNvPr id="21" name="Rounded Rectangle 92"/>
          <p:cNvSpPr/>
          <p:nvPr/>
        </p:nvSpPr>
        <p:spPr>
          <a:xfrm>
            <a:off x="7443578" y="1374854"/>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%PEA***</a:t>
            </a:r>
          </a:p>
        </p:txBody>
      </p:sp>
      <p:sp>
        <p:nvSpPr>
          <p:cNvPr id="22" name="Rounded Rectangle 95"/>
          <p:cNvSpPr/>
          <p:nvPr/>
        </p:nvSpPr>
        <p:spPr>
          <a:xfrm>
            <a:off x="7461578"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rPr>
              <a:t>25.6%</a:t>
            </a:r>
          </a:p>
        </p:txBody>
      </p:sp>
      <p:sp>
        <p:nvSpPr>
          <p:cNvPr id="23" name="Rounded Rectangle 63"/>
          <p:cNvSpPr/>
          <p:nvPr/>
        </p:nvSpPr>
        <p:spPr>
          <a:xfrm>
            <a:off x="1441590" y="1835218"/>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Vehicular</a:t>
            </a:r>
          </a:p>
        </p:txBody>
      </p:sp>
      <p:sp>
        <p:nvSpPr>
          <p:cNvPr id="24" name="Rounded Rectangle 64"/>
          <p:cNvSpPr/>
          <p:nvPr/>
        </p:nvSpPr>
        <p:spPr>
          <a:xfrm>
            <a:off x="97624" y="1835218"/>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25" name="Rounded Rectangle 67"/>
          <p:cNvSpPr/>
          <p:nvPr/>
        </p:nvSpPr>
        <p:spPr>
          <a:xfrm>
            <a:off x="2465732" y="1834697"/>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Falencias en las especificaciones del condicionado general de contratación y el condicionado general de vehículos. P.ej. Cláusula de GPS (vehículos sobre USD 20,000) indica que debe estar operativo. Pero no existe completa claridad respecto a la definición de "no operatividad". </a:t>
            </a:r>
            <a:endParaRPr lang="es-CL" sz="900" dirty="0">
              <a:solidFill>
                <a:schemeClr val="tx1"/>
              </a:solidFill>
            </a:endParaRPr>
          </a:p>
        </p:txBody>
      </p:sp>
      <p:sp>
        <p:nvSpPr>
          <p:cNvPr id="26" name="Rounded Rectangle 69"/>
          <p:cNvSpPr/>
          <p:nvPr/>
        </p:nvSpPr>
        <p:spPr>
          <a:xfrm>
            <a:off x="5743657"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250</a:t>
            </a:r>
          </a:p>
        </p:txBody>
      </p:sp>
      <p:sp>
        <p:nvSpPr>
          <p:cNvPr id="27" name="Rounded Rectangle 71"/>
          <p:cNvSpPr/>
          <p:nvPr/>
        </p:nvSpPr>
        <p:spPr>
          <a:xfrm>
            <a:off x="6593356" y="1835218"/>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739.1</a:t>
            </a:r>
          </a:p>
        </p:txBody>
      </p:sp>
      <p:sp>
        <p:nvSpPr>
          <p:cNvPr id="33" name="Rounded Rectangle 93"/>
          <p:cNvSpPr/>
          <p:nvPr/>
        </p:nvSpPr>
        <p:spPr>
          <a:xfrm>
            <a:off x="7461578"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25.6%</a:t>
            </a:r>
          </a:p>
        </p:txBody>
      </p:sp>
      <p:sp>
        <p:nvSpPr>
          <p:cNvPr id="35" name="Rounded Rectangle 116"/>
          <p:cNvSpPr/>
          <p:nvPr/>
        </p:nvSpPr>
        <p:spPr>
          <a:xfrm>
            <a:off x="490012" y="1374854"/>
            <a:ext cx="900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36" name="Rounded Rectangle 128"/>
          <p:cNvSpPr/>
          <p:nvPr/>
        </p:nvSpPr>
        <p:spPr>
          <a:xfrm>
            <a:off x="490012" y="2766514"/>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Desarrollo de Nuevos Productos</a:t>
            </a:r>
          </a:p>
        </p:txBody>
      </p:sp>
      <p:sp>
        <p:nvSpPr>
          <p:cNvPr id="37" name="Rounded Rectangle 63"/>
          <p:cNvSpPr/>
          <p:nvPr/>
        </p:nvSpPr>
        <p:spPr>
          <a:xfrm>
            <a:off x="490012" y="1835218"/>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latin typeface="+mj-lt"/>
              </a:rPr>
              <a:t>Desarrollo de Nuevos Productos</a:t>
            </a:r>
          </a:p>
        </p:txBody>
      </p:sp>
      <p:sp>
        <p:nvSpPr>
          <p:cNvPr id="39" name="Rounded Rectangle 92"/>
          <p:cNvSpPr/>
          <p:nvPr/>
        </p:nvSpPr>
        <p:spPr>
          <a:xfrm>
            <a:off x="8284460" y="1374854"/>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050" b="1" dirty="0"/>
              <a:t>%PMA***</a:t>
            </a:r>
          </a:p>
        </p:txBody>
      </p:sp>
      <p:sp>
        <p:nvSpPr>
          <p:cNvPr id="40" name="Rounded Rectangle 95"/>
          <p:cNvSpPr/>
          <p:nvPr/>
        </p:nvSpPr>
        <p:spPr>
          <a:xfrm>
            <a:off x="8284460" y="2766514"/>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25.2%</a:t>
            </a:r>
          </a:p>
        </p:txBody>
      </p:sp>
      <p:sp>
        <p:nvSpPr>
          <p:cNvPr id="41" name="Rounded Rectangle 93"/>
          <p:cNvSpPr/>
          <p:nvPr/>
        </p:nvSpPr>
        <p:spPr>
          <a:xfrm>
            <a:off x="8284460" y="1835218"/>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18.5%</a:t>
            </a:r>
          </a:p>
        </p:txBody>
      </p:sp>
      <p:sp>
        <p:nvSpPr>
          <p:cNvPr id="44" name="Rectangle 219"/>
          <p:cNvSpPr>
            <a:spLocks noChangeArrowheads="1"/>
          </p:cNvSpPr>
          <p:nvPr/>
        </p:nvSpPr>
        <p:spPr bwMode="auto">
          <a:xfrm>
            <a:off x="518650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D. De Nuevos Pr</a:t>
            </a:r>
          </a:p>
          <a:p>
            <a:pPr algn="ctr"/>
            <a:r>
              <a:rPr lang="es-PE" sz="800" b="1" dirty="0">
                <a:solidFill>
                  <a:schemeClr val="bg1"/>
                </a:solidFill>
              </a:rPr>
              <a:t>PEA acumulado</a:t>
            </a:r>
            <a:endParaRPr lang="en-US" sz="800" b="1" dirty="0">
              <a:solidFill>
                <a:schemeClr val="bg1"/>
              </a:solidFill>
            </a:endParaRPr>
          </a:p>
        </p:txBody>
      </p:sp>
      <p:sp>
        <p:nvSpPr>
          <p:cNvPr id="45" name="Rectangle 224"/>
          <p:cNvSpPr>
            <a:spLocks noChangeArrowheads="1"/>
          </p:cNvSpPr>
          <p:nvPr/>
        </p:nvSpPr>
        <p:spPr bwMode="auto">
          <a:xfrm>
            <a:off x="518650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0.98MM</a:t>
            </a:r>
          </a:p>
        </p:txBody>
      </p:sp>
      <p:sp>
        <p:nvSpPr>
          <p:cNvPr id="47" name="Rectangle 219"/>
          <p:cNvSpPr>
            <a:spLocks noChangeArrowheads="1"/>
          </p:cNvSpPr>
          <p:nvPr/>
        </p:nvSpPr>
        <p:spPr bwMode="auto">
          <a:xfrm>
            <a:off x="7909359"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PMA</a:t>
            </a:r>
          </a:p>
          <a:p>
            <a:pPr algn="ctr"/>
            <a:r>
              <a:rPr lang="es-PE" sz="800" b="1" dirty="0">
                <a:solidFill>
                  <a:schemeClr val="bg1"/>
                </a:solidFill>
              </a:rPr>
              <a:t>Acumulado</a:t>
            </a:r>
          </a:p>
        </p:txBody>
      </p:sp>
      <p:sp>
        <p:nvSpPr>
          <p:cNvPr id="50" name="Rectangle 219"/>
          <p:cNvSpPr>
            <a:spLocks noChangeArrowheads="1"/>
          </p:cNvSpPr>
          <p:nvPr/>
        </p:nvSpPr>
        <p:spPr bwMode="auto">
          <a:xfrm>
            <a:off x="7006582" y="5616570"/>
            <a:ext cx="864000" cy="2160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52" name="AutoShape 220"/>
          <p:cNvSpPr>
            <a:spLocks noChangeArrowheads="1"/>
          </p:cNvSpPr>
          <p:nvPr/>
        </p:nvSpPr>
        <p:spPr bwMode="auto">
          <a:xfrm>
            <a:off x="362407" y="5503933"/>
            <a:ext cx="2153811" cy="608400"/>
          </a:xfrm>
          <a:prstGeom prst="roundRect">
            <a:avLst>
              <a:gd name="adj" fmla="val 4611"/>
            </a:avLst>
          </a:prstGeom>
          <a:solidFill>
            <a:schemeClr val="bg1">
              <a:lumMod val="75000"/>
              <a:alpha val="69000"/>
            </a:schemeClr>
          </a:solidFill>
          <a:ln w="9525" algn="ctr">
            <a:noFill/>
            <a:round/>
            <a:headEnd/>
            <a:tailEnd/>
          </a:ln>
          <a:effectLst/>
        </p:spPr>
        <p:txBody>
          <a:bodyPr wrap="none" anchor="ctr"/>
          <a:lstStyle/>
          <a:p>
            <a:endParaRPr lang="en-US" kern="0" dirty="0">
              <a:solidFill>
                <a:srgbClr val="002060"/>
              </a:solidFill>
            </a:endParaRPr>
          </a:p>
        </p:txBody>
      </p:sp>
      <p:sp>
        <p:nvSpPr>
          <p:cNvPr id="54" name="Rectangle 208"/>
          <p:cNvSpPr>
            <a:spLocks noChangeArrowheads="1"/>
          </p:cNvSpPr>
          <p:nvPr/>
        </p:nvSpPr>
        <p:spPr bwMode="auto">
          <a:xfrm>
            <a:off x="533719" y="5582879"/>
            <a:ext cx="864000" cy="215900"/>
          </a:xfrm>
          <a:prstGeom prst="rect">
            <a:avLst/>
          </a:prstGeom>
          <a:solidFill>
            <a:srgbClr val="DB0613"/>
          </a:solidFill>
          <a:ln w="9525" algn="ctr">
            <a:noFill/>
            <a:miter lim="800000"/>
            <a:headEnd/>
            <a:tailEnd/>
          </a:ln>
          <a:effectLst/>
        </p:spPr>
        <p:txBody>
          <a:bodyPr anchor="ctr"/>
          <a:lstStyle/>
          <a:p>
            <a:pPr algn="ctr"/>
            <a:r>
              <a:rPr lang="es-ES" sz="800" b="1" u="none" dirty="0">
                <a:solidFill>
                  <a:schemeClr val="bg1"/>
                </a:solidFill>
              </a:rPr>
              <a:t>Riesgos totales</a:t>
            </a:r>
            <a:endParaRPr lang="en-US" sz="800" b="1" u="none" dirty="0">
              <a:solidFill>
                <a:schemeClr val="bg1"/>
              </a:solidFill>
            </a:endParaRPr>
          </a:p>
        </p:txBody>
      </p:sp>
      <p:sp>
        <p:nvSpPr>
          <p:cNvPr id="57" name="Rectangle 217"/>
          <p:cNvSpPr>
            <a:spLocks noChangeArrowheads="1"/>
          </p:cNvSpPr>
          <p:nvPr/>
        </p:nvSpPr>
        <p:spPr bwMode="auto">
          <a:xfrm>
            <a:off x="1467479" y="5582879"/>
            <a:ext cx="864000" cy="215900"/>
          </a:xfrm>
          <a:prstGeom prst="rect">
            <a:avLst/>
          </a:prstGeom>
          <a:solidFill>
            <a:srgbClr val="DB0613"/>
          </a:solidFill>
          <a:ln w="9525" algn="ctr">
            <a:noFill/>
            <a:miter lim="800000"/>
            <a:headEnd/>
            <a:tailEnd/>
          </a:ln>
          <a:effectLst/>
        </p:spPr>
        <p:txBody>
          <a:bodyPr anchor="ctr"/>
          <a:lstStyle/>
          <a:p>
            <a:pPr lvl="0" algn="ctr"/>
            <a:r>
              <a:rPr lang="es-ES" sz="800" b="1" dirty="0">
                <a:solidFill>
                  <a:schemeClr val="bg1"/>
                </a:solidFill>
              </a:rPr>
              <a:t>Nº Controles</a:t>
            </a:r>
            <a:endParaRPr lang="en-US" sz="800" b="1" dirty="0">
              <a:solidFill>
                <a:schemeClr val="bg1"/>
              </a:solidFill>
            </a:endParaRPr>
          </a:p>
        </p:txBody>
      </p:sp>
      <p:sp>
        <p:nvSpPr>
          <p:cNvPr id="59" name="TextBox 58"/>
          <p:cNvSpPr txBox="1"/>
          <p:nvPr/>
        </p:nvSpPr>
        <p:spPr>
          <a:xfrm>
            <a:off x="1565294" y="6223664"/>
            <a:ext cx="4989074" cy="553998"/>
          </a:xfrm>
          <a:prstGeom prst="rect">
            <a:avLst/>
          </a:prstGeom>
          <a:noFill/>
        </p:spPr>
        <p:txBody>
          <a:bodyPr wrap="square" rtlCol="0">
            <a:spAutoFit/>
          </a:bodyPr>
          <a:lstStyle/>
          <a:p>
            <a:r>
              <a:rPr lang="es-ES" sz="1000" dirty="0">
                <a:solidFill>
                  <a:schemeClr val="bg1"/>
                </a:solidFill>
              </a:rPr>
              <a:t>*     PEA: Pérdida Esperada Anual.</a:t>
            </a:r>
          </a:p>
          <a:p>
            <a:r>
              <a:rPr lang="es-ES" sz="1000" dirty="0">
                <a:solidFill>
                  <a:schemeClr val="bg1"/>
                </a:solidFill>
              </a:rPr>
              <a:t>**   PMA: Pérdida Máxima Anual (VaR).</a:t>
            </a:r>
          </a:p>
          <a:p>
            <a:r>
              <a:rPr lang="es-ES" sz="1000" dirty="0">
                <a:solidFill>
                  <a:schemeClr val="bg1"/>
                </a:solidFill>
              </a:rPr>
              <a:t>*** Porcentaje calculado en base al total de riesgos.</a:t>
            </a:r>
          </a:p>
        </p:txBody>
      </p:sp>
      <p:sp>
        <p:nvSpPr>
          <p:cNvPr id="68" name="Rectangle 224"/>
          <p:cNvSpPr>
            <a:spLocks noChangeArrowheads="1"/>
          </p:cNvSpPr>
          <p:nvPr/>
        </p:nvSpPr>
        <p:spPr bwMode="auto">
          <a:xfrm>
            <a:off x="53371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10</a:t>
            </a:r>
          </a:p>
        </p:txBody>
      </p:sp>
      <p:sp>
        <p:nvSpPr>
          <p:cNvPr id="69" name="Rectangle 224"/>
          <p:cNvSpPr>
            <a:spLocks noChangeArrowheads="1"/>
          </p:cNvSpPr>
          <p:nvPr/>
        </p:nvSpPr>
        <p:spPr bwMode="auto">
          <a:xfrm>
            <a:off x="1467479" y="5851010"/>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11</a:t>
            </a:r>
          </a:p>
        </p:txBody>
      </p:sp>
      <p:sp>
        <p:nvSpPr>
          <p:cNvPr id="70" name="Rounded Rectangle 63"/>
          <p:cNvSpPr/>
          <p:nvPr/>
        </p:nvSpPr>
        <p:spPr>
          <a:xfrm>
            <a:off x="1441590" y="3686477"/>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mj-lt"/>
              </a:rPr>
              <a:t>Salud</a:t>
            </a:r>
          </a:p>
        </p:txBody>
      </p:sp>
      <p:sp>
        <p:nvSpPr>
          <p:cNvPr id="71" name="Rounded Rectangle 64"/>
          <p:cNvSpPr/>
          <p:nvPr/>
        </p:nvSpPr>
        <p:spPr>
          <a:xfrm>
            <a:off x="97624" y="3686477"/>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72" name="Rounded Rectangle 67"/>
          <p:cNvSpPr/>
          <p:nvPr/>
        </p:nvSpPr>
        <p:spPr>
          <a:xfrm>
            <a:off x="2465732" y="3685956"/>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Condicionado de pólizas incompleto que pueda ocasionar pérdidas para entidad. P.ej. Incompleto inventario de deportes de alto riesgo detallado en la póliza.</a:t>
            </a:r>
            <a:endParaRPr lang="es-CL" sz="900" dirty="0">
              <a:solidFill>
                <a:schemeClr val="tx1"/>
              </a:solidFill>
            </a:endParaRPr>
          </a:p>
        </p:txBody>
      </p:sp>
      <p:sp>
        <p:nvSpPr>
          <p:cNvPr id="73" name="Rounded Rectangle 69"/>
          <p:cNvSpPr/>
          <p:nvPr/>
        </p:nvSpPr>
        <p:spPr>
          <a:xfrm>
            <a:off x="5743657"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150</a:t>
            </a:r>
          </a:p>
        </p:txBody>
      </p:sp>
      <p:sp>
        <p:nvSpPr>
          <p:cNvPr id="74" name="Rounded Rectangle 71"/>
          <p:cNvSpPr/>
          <p:nvPr/>
        </p:nvSpPr>
        <p:spPr>
          <a:xfrm>
            <a:off x="6593356" y="3686477"/>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509.2</a:t>
            </a:r>
          </a:p>
        </p:txBody>
      </p:sp>
      <p:sp>
        <p:nvSpPr>
          <p:cNvPr id="75" name="Rounded Rectangle 72"/>
          <p:cNvSpPr/>
          <p:nvPr/>
        </p:nvSpPr>
        <p:spPr>
          <a:xfrm>
            <a:off x="1441590" y="4600285"/>
            <a:ext cx="97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rPr>
              <a:t>Vida</a:t>
            </a:r>
          </a:p>
        </p:txBody>
      </p:sp>
      <p:sp>
        <p:nvSpPr>
          <p:cNvPr id="76" name="Rounded Rectangle 73"/>
          <p:cNvSpPr/>
          <p:nvPr/>
        </p:nvSpPr>
        <p:spPr>
          <a:xfrm>
            <a:off x="97624" y="4600285"/>
            <a:ext cx="361123" cy="864000"/>
          </a:xfrm>
          <a:prstGeom prst="roundRect">
            <a:avLst/>
          </a:prstGeom>
          <a:solidFill>
            <a:srgbClr val="969696"/>
          </a:solidFill>
          <a:ln w="9525" algn="ctr">
            <a:solidFill>
              <a:schemeClr val="bg1">
                <a:lumMod val="65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77" name="Rounded Rectangle 74"/>
          <p:cNvSpPr/>
          <p:nvPr/>
        </p:nvSpPr>
        <p:spPr>
          <a:xfrm>
            <a:off x="2465732" y="4600285"/>
            <a:ext cx="320027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900" dirty="0">
                <a:solidFill>
                  <a:schemeClr val="tx1"/>
                </a:solidFill>
              </a:rPr>
              <a:t>Falencias en las especificaciones de los nuevos productos, que incluyan errores en: Condicionado general de la póliza, cláusulas adicionales, informe técnico, etc.</a:t>
            </a:r>
            <a:endParaRPr lang="es-CL" sz="900" dirty="0">
              <a:solidFill>
                <a:schemeClr val="tx1"/>
              </a:solidFill>
            </a:endParaRPr>
          </a:p>
        </p:txBody>
      </p:sp>
      <p:sp>
        <p:nvSpPr>
          <p:cNvPr id="78" name="Rounded Rectangle 75"/>
          <p:cNvSpPr/>
          <p:nvPr/>
        </p:nvSpPr>
        <p:spPr>
          <a:xfrm>
            <a:off x="5743657"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150</a:t>
            </a:r>
          </a:p>
        </p:txBody>
      </p:sp>
      <p:sp>
        <p:nvSpPr>
          <p:cNvPr id="79" name="Rounded Rectangle 76"/>
          <p:cNvSpPr/>
          <p:nvPr/>
        </p:nvSpPr>
        <p:spPr>
          <a:xfrm>
            <a:off x="6593356" y="4600285"/>
            <a:ext cx="794472" cy="864000"/>
          </a:xfrm>
          <a:prstGeom prst="roundRect">
            <a:avLst/>
          </a:prstGeom>
          <a:solidFill>
            <a:srgbClr val="969696"/>
          </a:solidFill>
          <a:ln w="9525" algn="ctr">
            <a:solidFill>
              <a:schemeClr val="bg1">
                <a:lumMod val="65000"/>
              </a:schemeClr>
            </a:solidFill>
            <a:miter lim="800000"/>
            <a:headEnd/>
            <a:tailEnd/>
          </a:ln>
          <a:effectLst/>
        </p:spPr>
        <p:txBody>
          <a:bodyPr wrap="none" anchor="ctr"/>
          <a:lstStyle/>
          <a:p>
            <a:pPr algn="ctr"/>
            <a:r>
              <a:rPr lang="es-CL" sz="1200" b="1" dirty="0">
                <a:solidFill>
                  <a:schemeClr val="bg1"/>
                </a:solidFill>
              </a:rPr>
              <a:t>623.1</a:t>
            </a:r>
          </a:p>
        </p:txBody>
      </p:sp>
      <p:sp>
        <p:nvSpPr>
          <p:cNvPr id="80" name="Rounded Rectangle 93"/>
          <p:cNvSpPr/>
          <p:nvPr/>
        </p:nvSpPr>
        <p:spPr>
          <a:xfrm>
            <a:off x="7461578"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15.4%</a:t>
            </a:r>
          </a:p>
        </p:txBody>
      </p:sp>
      <p:sp>
        <p:nvSpPr>
          <p:cNvPr id="81" name="Rounded Rectangle 94"/>
          <p:cNvSpPr/>
          <p:nvPr/>
        </p:nvSpPr>
        <p:spPr>
          <a:xfrm>
            <a:off x="7461578"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rPr>
              <a:t>15.4%</a:t>
            </a:r>
          </a:p>
        </p:txBody>
      </p:sp>
      <p:sp>
        <p:nvSpPr>
          <p:cNvPr id="82" name="Rounded Rectangle 63"/>
          <p:cNvSpPr/>
          <p:nvPr/>
        </p:nvSpPr>
        <p:spPr>
          <a:xfrm>
            <a:off x="490012" y="3686477"/>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Desarrollo de Nuevos Productos</a:t>
            </a:r>
          </a:p>
        </p:txBody>
      </p:sp>
      <p:sp>
        <p:nvSpPr>
          <p:cNvPr id="83" name="Rounded Rectangle 72"/>
          <p:cNvSpPr/>
          <p:nvPr/>
        </p:nvSpPr>
        <p:spPr>
          <a:xfrm>
            <a:off x="490012" y="4600285"/>
            <a:ext cx="900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tx1"/>
                </a:solidFill>
              </a:rPr>
              <a:t>Desarrollo de Nuevos Productos</a:t>
            </a:r>
          </a:p>
        </p:txBody>
      </p:sp>
      <p:sp>
        <p:nvSpPr>
          <p:cNvPr id="84" name="Rounded Rectangle 93"/>
          <p:cNvSpPr/>
          <p:nvPr/>
        </p:nvSpPr>
        <p:spPr>
          <a:xfrm>
            <a:off x="8284460" y="3686477"/>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latin typeface="+mj-lt"/>
              </a:rPr>
              <a:t>12.7%</a:t>
            </a:r>
          </a:p>
        </p:txBody>
      </p:sp>
      <p:sp>
        <p:nvSpPr>
          <p:cNvPr id="85" name="Rounded Rectangle 94"/>
          <p:cNvSpPr/>
          <p:nvPr/>
        </p:nvSpPr>
        <p:spPr>
          <a:xfrm>
            <a:off x="8284460" y="4600285"/>
            <a:ext cx="792000" cy="864000"/>
          </a:xfrm>
          <a:prstGeom prst="roundRect">
            <a:avLst/>
          </a:prstGeom>
          <a:solidFill>
            <a:schemeClr val="bg1"/>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solidFill>
                  <a:schemeClr val="tx1"/>
                </a:solidFill>
              </a:rPr>
              <a:t>15.6%</a:t>
            </a:r>
          </a:p>
        </p:txBody>
      </p:sp>
      <p:sp>
        <p:nvSpPr>
          <p:cNvPr id="60" name="Rectangle 224"/>
          <p:cNvSpPr>
            <a:spLocks noChangeArrowheads="1"/>
          </p:cNvSpPr>
          <p:nvPr/>
        </p:nvSpPr>
        <p:spPr bwMode="auto">
          <a:xfrm>
            <a:off x="7909359"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latin typeface="+mj-lt"/>
              </a:rPr>
              <a:t>61.3MM</a:t>
            </a:r>
          </a:p>
        </p:txBody>
      </p:sp>
      <p:sp>
        <p:nvSpPr>
          <p:cNvPr id="61" name="Rectangle 224"/>
          <p:cNvSpPr>
            <a:spLocks noChangeArrowheads="1"/>
          </p:cNvSpPr>
          <p:nvPr/>
        </p:nvSpPr>
        <p:spPr bwMode="auto">
          <a:xfrm>
            <a:off x="7006582" y="5869645"/>
            <a:ext cx="864000" cy="172244"/>
          </a:xfrm>
          <a:prstGeom prst="rect">
            <a:avLst/>
          </a:prstGeom>
          <a:solidFill>
            <a:schemeClr val="bg1"/>
          </a:solidFill>
          <a:ln w="9525" algn="ctr">
            <a:noFill/>
            <a:miter lim="800000"/>
            <a:headEnd/>
            <a:tailEnd/>
          </a:ln>
          <a:effectLst/>
        </p:spPr>
        <p:txBody>
          <a:bodyPr anchor="ctr"/>
          <a:lstStyle/>
          <a:p>
            <a:pPr algn="ctr"/>
            <a:r>
              <a:rPr lang="en-US" sz="1000" b="1" dirty="0"/>
              <a:t>24.2MM</a:t>
            </a:r>
          </a:p>
        </p:txBody>
      </p:sp>
    </p:spTree>
    <p:extLst>
      <p:ext uri="{BB962C8B-B14F-4D97-AF65-F5344CB8AC3E}">
        <p14:creationId xmlns:p14="http://schemas.microsoft.com/office/powerpoint/2010/main" val="441398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9230" y="3357349"/>
            <a:ext cx="3534770" cy="584775"/>
          </a:xfrm>
          <a:prstGeom prst="rect">
            <a:avLst/>
          </a:prstGeom>
          <a:noFill/>
        </p:spPr>
        <p:txBody>
          <a:bodyPr wrap="square" rtlCol="0">
            <a:spAutoFit/>
          </a:bodyPr>
          <a:lstStyle/>
          <a:p>
            <a:pPr algn="r"/>
            <a:r>
              <a:rPr lang="es-ES" sz="3200" dirty="0">
                <a:solidFill>
                  <a:schemeClr val="bg1"/>
                </a:solidFill>
              </a:rPr>
              <a:t>GRACIAS</a:t>
            </a:r>
          </a:p>
        </p:txBody>
      </p:sp>
    </p:spTree>
    <p:extLst>
      <p:ext uri="{BB962C8B-B14F-4D97-AF65-F5344CB8AC3E}">
        <p14:creationId xmlns:p14="http://schemas.microsoft.com/office/powerpoint/2010/main" val="4288298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3">
            <a:hlinkClick r:id="rId2" action="ppaction://hlinksldjump"/>
          </p:cNvPr>
          <p:cNvSpPr/>
          <p:nvPr/>
        </p:nvSpPr>
        <p:spPr>
          <a:xfrm>
            <a:off x="899592" y="1519118"/>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dirty="0"/>
              <a:t>8</a:t>
            </a:r>
            <a:endParaRPr lang="es-ES" sz="1400" b="1" dirty="0"/>
          </a:p>
        </p:txBody>
      </p:sp>
      <p:sp>
        <p:nvSpPr>
          <p:cNvPr id="4" name="Rectangle 11"/>
          <p:cNvSpPr/>
          <p:nvPr/>
        </p:nvSpPr>
        <p:spPr>
          <a:xfrm>
            <a:off x="1303226" y="1376843"/>
            <a:ext cx="1000980" cy="646331"/>
          </a:xfrm>
          <a:prstGeom prst="rect">
            <a:avLst/>
          </a:prstGeom>
        </p:spPr>
        <p:txBody>
          <a:bodyPr wrap="none">
            <a:spAutoFit/>
          </a:bodyPr>
          <a:lstStyle/>
          <a:p>
            <a:pPr marL="468000" indent="-342900">
              <a:lnSpc>
                <a:spcPct val="200000"/>
              </a:lnSpc>
            </a:pPr>
            <a:r>
              <a:rPr lang="es-PE" b="1" dirty="0">
                <a:solidFill>
                  <a:schemeClr val="tx1">
                    <a:lumMod val="65000"/>
                    <a:lumOff val="35000"/>
                  </a:schemeClr>
                </a:solidFill>
                <a:cs typeface="Arial" pitchFamily="34" charset="0"/>
              </a:rPr>
              <a:t>Anexo</a:t>
            </a:r>
            <a:r>
              <a:rPr lang="es-PE" b="1" dirty="0">
                <a:solidFill>
                  <a:schemeClr val="bg1">
                    <a:lumMod val="50000"/>
                  </a:schemeClr>
                </a:solidFill>
                <a:cs typeface="Arial" pitchFamily="34" charset="0"/>
              </a:rPr>
              <a:t>s</a:t>
            </a:r>
          </a:p>
        </p:txBody>
      </p:sp>
      <p:sp>
        <p:nvSpPr>
          <p:cNvPr id="6" name="Rectangle 12"/>
          <p:cNvSpPr/>
          <p:nvPr/>
        </p:nvSpPr>
        <p:spPr>
          <a:xfrm>
            <a:off x="1331640" y="1951166"/>
            <a:ext cx="6424323" cy="2585323"/>
          </a:xfrm>
          <a:prstGeom prst="rect">
            <a:avLst/>
          </a:prstGeom>
        </p:spPr>
        <p:txBody>
          <a:bodyPr wrap="none">
            <a:spAutoFit/>
          </a:bodyPr>
          <a:lstStyle/>
          <a:p>
            <a:pPr marL="468000" indent="-342900">
              <a:lnSpc>
                <a:spcPct val="150000"/>
              </a:lnSpc>
              <a:buFont typeface="+mj-lt"/>
              <a:buAutoNum type="arabicPeriod"/>
            </a:pPr>
            <a:r>
              <a:rPr lang="es-PE" b="1" dirty="0">
                <a:solidFill>
                  <a:schemeClr val="tx1">
                    <a:lumMod val="65000"/>
                    <a:lumOff val="35000"/>
                  </a:schemeClr>
                </a:solidFill>
                <a:cs typeface="Arial" pitchFamily="34" charset="0"/>
              </a:rPr>
              <a:t>Anexo 1: Metodología de Evaluación Cualitativa</a:t>
            </a:r>
          </a:p>
          <a:p>
            <a:pPr marL="468000" indent="-342900">
              <a:lnSpc>
                <a:spcPct val="150000"/>
              </a:lnSpc>
              <a:buFont typeface="+mj-lt"/>
              <a:buAutoNum type="arabicPeriod"/>
            </a:pPr>
            <a:r>
              <a:rPr lang="es-PE" b="1" dirty="0">
                <a:solidFill>
                  <a:schemeClr val="tx1">
                    <a:lumMod val="65000"/>
                    <a:lumOff val="35000"/>
                  </a:schemeClr>
                </a:solidFill>
                <a:cs typeface="Arial" pitchFamily="34" charset="0"/>
              </a:rPr>
              <a:t>Anexo 2: Metodología de valoración Planes de Acción y </a:t>
            </a:r>
            <a:r>
              <a:rPr lang="es-PE" b="1" dirty="0" err="1">
                <a:solidFill>
                  <a:schemeClr val="tx1">
                    <a:lumMod val="65000"/>
                    <a:lumOff val="35000"/>
                  </a:schemeClr>
                </a:solidFill>
                <a:cs typeface="Arial" pitchFamily="34" charset="0"/>
              </a:rPr>
              <a:t>KRI’s</a:t>
            </a:r>
            <a:endParaRPr lang="es-PE" b="1" dirty="0">
              <a:solidFill>
                <a:schemeClr val="tx1">
                  <a:lumMod val="65000"/>
                  <a:lumOff val="35000"/>
                </a:schemeClr>
              </a:solidFill>
              <a:cs typeface="Arial" pitchFamily="34" charset="0"/>
            </a:endParaRPr>
          </a:p>
          <a:p>
            <a:pPr marL="468000" indent="-342900">
              <a:lnSpc>
                <a:spcPct val="150000"/>
              </a:lnSpc>
              <a:buFont typeface="+mj-lt"/>
              <a:buAutoNum type="arabicPeriod"/>
            </a:pPr>
            <a:r>
              <a:rPr lang="es-PE" b="1" dirty="0">
                <a:solidFill>
                  <a:schemeClr val="tx1">
                    <a:lumMod val="65000"/>
                    <a:lumOff val="35000"/>
                  </a:schemeClr>
                </a:solidFill>
                <a:cs typeface="Arial" pitchFamily="34" charset="0"/>
              </a:rPr>
              <a:t>Anexo 3: Visión Global de Exposición al Riesgo Operacional</a:t>
            </a:r>
          </a:p>
          <a:p>
            <a:pPr marL="468000" indent="-342900">
              <a:lnSpc>
                <a:spcPct val="150000"/>
              </a:lnSpc>
              <a:buFont typeface="+mj-lt"/>
              <a:buAutoNum type="arabicPeriod"/>
            </a:pPr>
            <a:r>
              <a:rPr lang="es-PE" b="1" dirty="0">
                <a:solidFill>
                  <a:schemeClr val="tx1">
                    <a:lumMod val="65000"/>
                    <a:lumOff val="35000"/>
                  </a:schemeClr>
                </a:solidFill>
                <a:cs typeface="Arial" pitchFamily="34" charset="0"/>
              </a:rPr>
              <a:t>Anexo 4: Exposición al RO por Proceso</a:t>
            </a:r>
          </a:p>
          <a:p>
            <a:pPr marL="468000" indent="-342900">
              <a:lnSpc>
                <a:spcPct val="150000"/>
              </a:lnSpc>
              <a:buFont typeface="+mj-lt"/>
              <a:buAutoNum type="arabicPeriod"/>
            </a:pPr>
            <a:r>
              <a:rPr lang="es-PE" b="1" dirty="0">
                <a:solidFill>
                  <a:schemeClr val="tx1">
                    <a:lumMod val="65000"/>
                    <a:lumOff val="35000"/>
                  </a:schemeClr>
                </a:solidFill>
                <a:cs typeface="Arial" pitchFamily="34" charset="0"/>
              </a:rPr>
              <a:t>Anexo 5: Exposición al RO por Producto</a:t>
            </a:r>
          </a:p>
          <a:p>
            <a:pPr marL="468000" indent="-342900">
              <a:lnSpc>
                <a:spcPct val="150000"/>
              </a:lnSpc>
              <a:buFont typeface="+mj-lt"/>
              <a:buAutoNum type="arabicPeriod"/>
            </a:pPr>
            <a:r>
              <a:rPr lang="es-PE" b="1" dirty="0">
                <a:solidFill>
                  <a:schemeClr val="tx1">
                    <a:lumMod val="65000"/>
                    <a:lumOff val="35000"/>
                  </a:schemeClr>
                </a:solidFill>
                <a:cs typeface="Arial" pitchFamily="34" charset="0"/>
              </a:rPr>
              <a:t>Anexo 6: </a:t>
            </a:r>
            <a:r>
              <a:rPr lang="es-ES" b="1" dirty="0">
                <a:solidFill>
                  <a:schemeClr val="tx1">
                    <a:lumMod val="65000"/>
                    <a:lumOff val="35000"/>
                  </a:schemeClr>
                </a:solidFill>
                <a:cs typeface="Arial" pitchFamily="34" charset="0"/>
              </a:rPr>
              <a:t>Análisis del impacto </a:t>
            </a:r>
            <a:r>
              <a:rPr lang="es-ES" b="1" dirty="0" err="1">
                <a:solidFill>
                  <a:schemeClr val="tx1">
                    <a:lumMod val="65000"/>
                    <a:lumOff val="35000"/>
                  </a:schemeClr>
                </a:solidFill>
                <a:cs typeface="Arial" pitchFamily="34" charset="0"/>
              </a:rPr>
              <a:t>reputacional</a:t>
            </a:r>
            <a:endParaRPr lang="es-PE" b="1" dirty="0">
              <a:solidFill>
                <a:schemeClr val="tx1">
                  <a:lumMod val="65000"/>
                  <a:lumOff val="35000"/>
                </a:schemeClr>
              </a:solidFill>
              <a:cs typeface="Arial" pitchFamily="34" charset="0"/>
            </a:endParaRPr>
          </a:p>
        </p:txBody>
      </p:sp>
      <p:sp>
        <p:nvSpPr>
          <p:cNvPr id="19" name="1 Título"/>
          <p:cNvSpPr>
            <a:spLocks noGrp="1"/>
          </p:cNvSpPr>
          <p:nvPr>
            <p:ph type="title"/>
          </p:nvPr>
        </p:nvSpPr>
        <p:spPr>
          <a:xfrm>
            <a:off x="47624" y="32965"/>
            <a:ext cx="8627715" cy="587723"/>
          </a:xfrm>
        </p:spPr>
        <p:txBody>
          <a:bodyPr/>
          <a:lstStyle/>
          <a:p>
            <a:r>
              <a:rPr lang="es-PE" dirty="0"/>
              <a:t>          Anexos</a:t>
            </a:r>
          </a:p>
        </p:txBody>
      </p:sp>
      <p:sp>
        <p:nvSpPr>
          <p:cNvPr id="20" name="Rounded Rectangle 19">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Tree>
    <p:extLst>
      <p:ext uri="{BB962C8B-B14F-4D97-AF65-F5344CB8AC3E}">
        <p14:creationId xmlns:p14="http://schemas.microsoft.com/office/powerpoint/2010/main" val="41847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 Título"/>
          <p:cNvSpPr>
            <a:spLocks noGrp="1"/>
          </p:cNvSpPr>
          <p:nvPr>
            <p:ph type="title"/>
          </p:nvPr>
        </p:nvSpPr>
        <p:spPr>
          <a:xfrm>
            <a:off x="47624" y="32965"/>
            <a:ext cx="8627715" cy="587723"/>
          </a:xfrm>
        </p:spPr>
        <p:txBody>
          <a:bodyPr/>
          <a:lstStyle/>
          <a:p>
            <a:r>
              <a:rPr lang="es-PE" dirty="0"/>
              <a:t>          Introducción</a:t>
            </a:r>
          </a:p>
        </p:txBody>
      </p:sp>
      <p:sp>
        <p:nvSpPr>
          <p:cNvPr id="17"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1</a:t>
            </a:r>
            <a:endParaRPr lang="es-ES" sz="1400" b="1" dirty="0"/>
          </a:p>
        </p:txBody>
      </p:sp>
      <p:sp>
        <p:nvSpPr>
          <p:cNvPr id="20" name="Rectangle 7"/>
          <p:cNvSpPr>
            <a:spLocks noChangeArrowheads="1"/>
          </p:cNvSpPr>
          <p:nvPr/>
        </p:nvSpPr>
        <p:spPr bwMode="auto">
          <a:xfrm rot="16200000">
            <a:off x="-402445" y="2407686"/>
            <a:ext cx="4284000" cy="3169097"/>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t" anchorCtr="0"/>
          <a:lstStyle/>
          <a:p>
            <a:pPr algn="ctr"/>
            <a:r>
              <a:rPr lang="es-PE" sz="1600" b="1" dirty="0">
                <a:solidFill>
                  <a:schemeClr val="bg1"/>
                </a:solidFill>
              </a:rPr>
              <a:t>ENFOQUE DE TRABAJO</a:t>
            </a:r>
            <a:endParaRPr lang="es-ES" sz="1600" b="1" dirty="0">
              <a:solidFill>
                <a:schemeClr val="bg1"/>
              </a:solidFill>
            </a:endParaRPr>
          </a:p>
        </p:txBody>
      </p:sp>
      <p:sp>
        <p:nvSpPr>
          <p:cNvPr id="21" name="Rectangle 29"/>
          <p:cNvSpPr txBox="1">
            <a:spLocks noChangeArrowheads="1"/>
          </p:cNvSpPr>
          <p:nvPr/>
        </p:nvSpPr>
        <p:spPr bwMode="gray">
          <a:xfrm>
            <a:off x="107504" y="553453"/>
            <a:ext cx="8856000" cy="107837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lang="es-ES" sz="1600" dirty="0">
                <a:solidFill>
                  <a:schemeClr val="tx1">
                    <a:lumMod val="85000"/>
                    <a:lumOff val="15000"/>
                  </a:schemeClr>
                </a:solidFill>
                <a:latin typeface="+mj-lt"/>
                <a:sym typeface="Wingdings" pitchFamily="2" charset="2"/>
              </a:rPr>
              <a:t>El objetivo global de Rimac en la gestión de Riesgo Operacional es: “</a:t>
            </a:r>
            <a:r>
              <a:rPr lang="es-ES" sz="1600" b="1" i="1" dirty="0">
                <a:solidFill>
                  <a:schemeClr val="tx1">
                    <a:lumMod val="85000"/>
                    <a:lumOff val="15000"/>
                  </a:schemeClr>
                </a:solidFill>
                <a:latin typeface="+mj-lt"/>
                <a:sym typeface="Wingdings" pitchFamily="2" charset="2"/>
              </a:rPr>
              <a:t>Poseer un enfoque proactivo y estructurado para identificar, evaluar, monitorear y reportar los riesgos operativos a los que está expuesta la organización en todas sus operaciones</a:t>
            </a:r>
            <a:r>
              <a:rPr lang="es-ES" sz="1600" i="1" dirty="0">
                <a:solidFill>
                  <a:schemeClr val="tx1">
                    <a:lumMod val="85000"/>
                    <a:lumOff val="15000"/>
                  </a:schemeClr>
                </a:solidFill>
                <a:latin typeface="+mj-lt"/>
                <a:sym typeface="Wingdings" pitchFamily="2" charset="2"/>
              </a:rPr>
              <a:t>.</a:t>
            </a:r>
            <a:r>
              <a:rPr lang="es-ES" sz="1600" dirty="0">
                <a:solidFill>
                  <a:schemeClr val="tx1">
                    <a:lumMod val="85000"/>
                    <a:lumOff val="15000"/>
                  </a:schemeClr>
                </a:solidFill>
                <a:latin typeface="+mj-lt"/>
                <a:sym typeface="Wingdings" pitchFamily="2" charset="2"/>
              </a:rPr>
              <a:t>” </a:t>
            </a:r>
            <a:endParaRPr lang="es-ES_tradnl" sz="1600" dirty="0">
              <a:solidFill>
                <a:schemeClr val="tx1">
                  <a:lumMod val="85000"/>
                  <a:lumOff val="15000"/>
                </a:schemeClr>
              </a:solidFill>
              <a:latin typeface="+mj-lt"/>
              <a:sym typeface="Wingdings" pitchFamily="2" charset="2"/>
            </a:endParaRPr>
          </a:p>
        </p:txBody>
      </p:sp>
      <p:sp>
        <p:nvSpPr>
          <p:cNvPr id="22" name="TextBox 2"/>
          <p:cNvSpPr txBox="1"/>
          <p:nvPr/>
        </p:nvSpPr>
        <p:spPr>
          <a:xfrm>
            <a:off x="35496" y="1473667"/>
            <a:ext cx="8352928" cy="338554"/>
          </a:xfrm>
          <a:prstGeom prst="rect">
            <a:avLst/>
          </a:prstGeom>
          <a:noFill/>
          <a:ln w="57150">
            <a:noFill/>
            <a:miter lim="800000"/>
            <a:headEnd/>
            <a:tailEnd/>
          </a:ln>
        </p:spPr>
        <p:txBody>
          <a:bodyPr wrap="square">
            <a:spAutoFit/>
          </a:bodyPr>
          <a:lstStyle/>
          <a:p>
            <a:pPr marL="174625" indent="-174625" algn="just">
              <a:spcBef>
                <a:spcPct val="40000"/>
              </a:spcBef>
              <a:buSzPct val="80000"/>
            </a:pPr>
            <a:r>
              <a:rPr lang="es-ES_tradnl" sz="1600" dirty="0">
                <a:solidFill>
                  <a:schemeClr val="tx1">
                    <a:lumMod val="85000"/>
                    <a:lumOff val="15000"/>
                  </a:schemeClr>
                </a:solidFill>
              </a:rPr>
              <a:t>Adecuar la actual metodología de RO a las mejores prácticas del mercado de seguros a través de:</a:t>
            </a:r>
            <a:endParaRPr lang="es-ES" sz="1600" dirty="0">
              <a:solidFill>
                <a:schemeClr val="tx1">
                  <a:lumMod val="85000"/>
                  <a:lumOff val="15000"/>
                </a:schemeClr>
              </a:solidFill>
            </a:endParaRPr>
          </a:p>
        </p:txBody>
      </p:sp>
      <p:grpSp>
        <p:nvGrpSpPr>
          <p:cNvPr id="23" name="88 Grupo"/>
          <p:cNvGrpSpPr>
            <a:grpSpLocks/>
          </p:cNvGrpSpPr>
          <p:nvPr/>
        </p:nvGrpSpPr>
        <p:grpSpPr>
          <a:xfrm>
            <a:off x="508504" y="5423537"/>
            <a:ext cx="2480400" cy="684000"/>
            <a:chOff x="946998" y="5504971"/>
            <a:chExt cx="2581398" cy="612000"/>
          </a:xfrm>
        </p:grpSpPr>
        <p:sp>
          <p:nvSpPr>
            <p:cNvPr id="25" name="AutoShape 10"/>
            <p:cNvSpPr>
              <a:spLocks noChangeArrowheads="1"/>
            </p:cNvSpPr>
            <p:nvPr/>
          </p:nvSpPr>
          <p:spPr bwMode="auto">
            <a:xfrm rot="5400000">
              <a:off x="1925740" y="4532971"/>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26" name="Rectangle 7"/>
            <p:cNvSpPr>
              <a:spLocks noChangeArrowheads="1"/>
            </p:cNvSpPr>
            <p:nvPr/>
          </p:nvSpPr>
          <p:spPr bwMode="auto">
            <a:xfrm>
              <a:off x="946998" y="5741578"/>
              <a:ext cx="2581398"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200" b="1" dirty="0">
                  <a:solidFill>
                    <a:schemeClr val="bg1"/>
                  </a:solidFill>
                </a:rPr>
                <a:t>Resultados</a:t>
              </a:r>
              <a:endParaRPr lang="es-ES" sz="1200" b="1" dirty="0">
                <a:solidFill>
                  <a:schemeClr val="bg1"/>
                </a:solidFill>
              </a:endParaRPr>
            </a:p>
          </p:txBody>
        </p:sp>
      </p:grpSp>
      <p:grpSp>
        <p:nvGrpSpPr>
          <p:cNvPr id="27" name="89 Grupo"/>
          <p:cNvGrpSpPr>
            <a:grpSpLocks/>
          </p:cNvGrpSpPr>
          <p:nvPr/>
        </p:nvGrpSpPr>
        <p:grpSpPr>
          <a:xfrm>
            <a:off x="508504" y="4915713"/>
            <a:ext cx="2480400" cy="684000"/>
            <a:chOff x="953740" y="5072923"/>
            <a:chExt cx="2556000" cy="612000"/>
          </a:xfrm>
        </p:grpSpPr>
        <p:sp>
          <p:nvSpPr>
            <p:cNvPr id="29" name="AutoShape 10"/>
            <p:cNvSpPr>
              <a:spLocks noChangeArrowheads="1"/>
            </p:cNvSpPr>
            <p:nvPr/>
          </p:nvSpPr>
          <p:spPr bwMode="auto">
            <a:xfrm rot="5400000">
              <a:off x="1925740" y="4100923"/>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31" name="Rectangle 7"/>
            <p:cNvSpPr>
              <a:spLocks noChangeArrowheads="1"/>
            </p:cNvSpPr>
            <p:nvPr/>
          </p:nvSpPr>
          <p:spPr bwMode="auto">
            <a:xfrm>
              <a:off x="953740" y="5288983"/>
              <a:ext cx="2549258"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square" anchor="ctr"/>
            <a:lstStyle/>
            <a:p>
              <a:pPr algn="ctr"/>
              <a:r>
                <a:rPr lang="es-ES" sz="1200" b="1" dirty="0">
                  <a:solidFill>
                    <a:schemeClr val="bg1"/>
                  </a:solidFill>
                </a:rPr>
                <a:t>Documentación de Planes de Acción y KRI’s</a:t>
              </a:r>
            </a:p>
          </p:txBody>
        </p:sp>
      </p:grpSp>
      <p:grpSp>
        <p:nvGrpSpPr>
          <p:cNvPr id="32" name="90 Grupo"/>
          <p:cNvGrpSpPr>
            <a:grpSpLocks/>
          </p:cNvGrpSpPr>
          <p:nvPr/>
        </p:nvGrpSpPr>
        <p:grpSpPr>
          <a:xfrm>
            <a:off x="508504" y="4406793"/>
            <a:ext cx="2480400" cy="684000"/>
            <a:chOff x="953740" y="4640875"/>
            <a:chExt cx="2573971" cy="612000"/>
          </a:xfrm>
        </p:grpSpPr>
        <p:sp>
          <p:nvSpPr>
            <p:cNvPr id="33" name="AutoShape 10"/>
            <p:cNvSpPr>
              <a:spLocks noChangeArrowheads="1"/>
            </p:cNvSpPr>
            <p:nvPr/>
          </p:nvSpPr>
          <p:spPr bwMode="auto">
            <a:xfrm rot="5400000">
              <a:off x="1925740" y="3668875"/>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34" name="Rectangle 7"/>
            <p:cNvSpPr>
              <a:spLocks noChangeArrowheads="1"/>
            </p:cNvSpPr>
            <p:nvPr/>
          </p:nvSpPr>
          <p:spPr bwMode="auto">
            <a:xfrm>
              <a:off x="953740" y="4847039"/>
              <a:ext cx="2573971"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Revisión y análisis de coherencia</a:t>
              </a:r>
            </a:p>
          </p:txBody>
        </p:sp>
      </p:grpSp>
      <p:grpSp>
        <p:nvGrpSpPr>
          <p:cNvPr id="37" name="91 Grupo"/>
          <p:cNvGrpSpPr>
            <a:grpSpLocks/>
          </p:cNvGrpSpPr>
          <p:nvPr/>
        </p:nvGrpSpPr>
        <p:grpSpPr>
          <a:xfrm>
            <a:off x="508504" y="3902737"/>
            <a:ext cx="2480400" cy="684000"/>
            <a:chOff x="946998" y="4208827"/>
            <a:chExt cx="2581398" cy="612000"/>
          </a:xfrm>
        </p:grpSpPr>
        <p:sp>
          <p:nvSpPr>
            <p:cNvPr id="38" name="AutoShape 10"/>
            <p:cNvSpPr>
              <a:spLocks noChangeArrowheads="1"/>
            </p:cNvSpPr>
            <p:nvPr/>
          </p:nvSpPr>
          <p:spPr bwMode="auto">
            <a:xfrm rot="5400000">
              <a:off x="1925740" y="3236827"/>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39" name="Rectangle 7"/>
            <p:cNvSpPr>
              <a:spLocks noChangeArrowheads="1"/>
            </p:cNvSpPr>
            <p:nvPr/>
          </p:nvSpPr>
          <p:spPr bwMode="auto">
            <a:xfrm>
              <a:off x="946998" y="4414991"/>
              <a:ext cx="2581398"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Autoevaluación de Riesgos y Controles</a:t>
              </a:r>
            </a:p>
          </p:txBody>
        </p:sp>
      </p:grpSp>
      <p:grpSp>
        <p:nvGrpSpPr>
          <p:cNvPr id="40" name="92 Grupo"/>
          <p:cNvGrpSpPr>
            <a:grpSpLocks/>
          </p:cNvGrpSpPr>
          <p:nvPr/>
        </p:nvGrpSpPr>
        <p:grpSpPr>
          <a:xfrm>
            <a:off x="508504" y="3398681"/>
            <a:ext cx="2480400" cy="684000"/>
            <a:chOff x="946998" y="3776779"/>
            <a:chExt cx="2580713" cy="612000"/>
          </a:xfrm>
        </p:grpSpPr>
        <p:sp>
          <p:nvSpPr>
            <p:cNvPr id="41" name="AutoShape 10"/>
            <p:cNvSpPr>
              <a:spLocks noChangeArrowheads="1"/>
            </p:cNvSpPr>
            <p:nvPr/>
          </p:nvSpPr>
          <p:spPr bwMode="auto">
            <a:xfrm rot="5400000">
              <a:off x="1925740" y="2804779"/>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42" name="Rectangle 7"/>
            <p:cNvSpPr>
              <a:spLocks noChangeArrowheads="1"/>
            </p:cNvSpPr>
            <p:nvPr/>
          </p:nvSpPr>
          <p:spPr bwMode="auto">
            <a:xfrm>
              <a:off x="946998" y="3985676"/>
              <a:ext cx="2580713"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Documentación de Controles</a:t>
              </a:r>
            </a:p>
          </p:txBody>
        </p:sp>
      </p:grpSp>
      <p:sp>
        <p:nvSpPr>
          <p:cNvPr id="78" name="25 Elipse"/>
          <p:cNvSpPr/>
          <p:nvPr>
            <p:custDataLst>
              <p:tags r:id="rId1"/>
            </p:custDataLst>
          </p:nvPr>
        </p:nvSpPr>
        <p:spPr>
          <a:xfrm>
            <a:off x="6732240"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79"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80"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81"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82"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83"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84" name="26 Elipse"/>
          <p:cNvSpPr/>
          <p:nvPr>
            <p:custDataLst>
              <p:tags r:id="rId7"/>
            </p:custDataLst>
          </p:nvPr>
        </p:nvSpPr>
        <p:spPr>
          <a:xfrm>
            <a:off x="85507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85"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grpSp>
        <p:nvGrpSpPr>
          <p:cNvPr id="90" name="92 Grupo"/>
          <p:cNvGrpSpPr>
            <a:grpSpLocks/>
          </p:cNvGrpSpPr>
          <p:nvPr/>
        </p:nvGrpSpPr>
        <p:grpSpPr>
          <a:xfrm>
            <a:off x="508504" y="2889016"/>
            <a:ext cx="2480400" cy="684000"/>
            <a:chOff x="953740" y="3776779"/>
            <a:chExt cx="2580713" cy="612000"/>
          </a:xfrm>
        </p:grpSpPr>
        <p:sp>
          <p:nvSpPr>
            <p:cNvPr id="91" name="AutoShape 10"/>
            <p:cNvSpPr>
              <a:spLocks noChangeArrowheads="1"/>
            </p:cNvSpPr>
            <p:nvPr/>
          </p:nvSpPr>
          <p:spPr bwMode="auto">
            <a:xfrm rot="5400000">
              <a:off x="1925740" y="2804779"/>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92" name="Rectangle 7"/>
            <p:cNvSpPr>
              <a:spLocks noChangeArrowheads="1"/>
            </p:cNvSpPr>
            <p:nvPr/>
          </p:nvSpPr>
          <p:spPr bwMode="auto">
            <a:xfrm>
              <a:off x="960482" y="3957359"/>
              <a:ext cx="2573971" cy="302563"/>
            </a:xfrm>
            <a:prstGeom prst="rect">
              <a:avLst/>
            </a:prstGeom>
            <a:noFill/>
            <a:ln w="9525" algn="ctr">
              <a:noFill/>
              <a:miter lim="800000"/>
              <a:headEnd/>
              <a:tailEnd/>
            </a:ln>
            <a:effectLst>
              <a:prstShdw prst="shdw17" dist="17961" dir="2700000">
                <a:srgbClr val="DDDDDD">
                  <a:gamma/>
                  <a:shade val="60000"/>
                  <a:invGamma/>
                </a:srgbClr>
              </a:prstShdw>
            </a:effectLst>
          </p:spPr>
          <p:txBody>
            <a:bodyPr wrap="square" anchor="ctr"/>
            <a:lstStyle/>
            <a:p>
              <a:pPr algn="ctr"/>
              <a:r>
                <a:rPr lang="es-ES" sz="1200" b="1" dirty="0">
                  <a:solidFill>
                    <a:schemeClr val="bg1"/>
                  </a:solidFill>
                </a:rPr>
                <a:t>Validación de Riesgos</a:t>
              </a:r>
            </a:p>
          </p:txBody>
        </p:sp>
      </p:grpSp>
      <p:grpSp>
        <p:nvGrpSpPr>
          <p:cNvPr id="93" name="94 Grupo"/>
          <p:cNvGrpSpPr>
            <a:grpSpLocks/>
          </p:cNvGrpSpPr>
          <p:nvPr/>
        </p:nvGrpSpPr>
        <p:grpSpPr>
          <a:xfrm>
            <a:off x="508504" y="2395433"/>
            <a:ext cx="2480400" cy="684000"/>
            <a:chOff x="946998" y="2912683"/>
            <a:chExt cx="2581398" cy="612000"/>
          </a:xfrm>
        </p:grpSpPr>
        <p:sp>
          <p:nvSpPr>
            <p:cNvPr id="94" name="AutoShape 10"/>
            <p:cNvSpPr>
              <a:spLocks noChangeArrowheads="1"/>
            </p:cNvSpPr>
            <p:nvPr/>
          </p:nvSpPr>
          <p:spPr bwMode="auto">
            <a:xfrm rot="5400000">
              <a:off x="1925740" y="1940683"/>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95" name="Rectangle 7"/>
            <p:cNvSpPr>
              <a:spLocks noChangeArrowheads="1"/>
            </p:cNvSpPr>
            <p:nvPr/>
          </p:nvSpPr>
          <p:spPr bwMode="auto">
            <a:xfrm>
              <a:off x="946998" y="3110525"/>
              <a:ext cx="2581398"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Identificación de Riesgos</a:t>
              </a:r>
            </a:p>
          </p:txBody>
        </p:sp>
      </p:grpSp>
      <p:grpSp>
        <p:nvGrpSpPr>
          <p:cNvPr id="96" name="94 Grupo"/>
          <p:cNvGrpSpPr>
            <a:grpSpLocks/>
          </p:cNvGrpSpPr>
          <p:nvPr/>
        </p:nvGrpSpPr>
        <p:grpSpPr>
          <a:xfrm>
            <a:off x="508503" y="1916832"/>
            <a:ext cx="2482297" cy="684000"/>
            <a:chOff x="953740" y="2912683"/>
            <a:chExt cx="2556000" cy="612000"/>
          </a:xfrm>
          <a:pattFill prst="pct70">
            <a:fgClr>
              <a:srgbClr val="DB0613"/>
            </a:fgClr>
            <a:bgClr>
              <a:schemeClr val="bg1"/>
            </a:bgClr>
          </a:pattFill>
        </p:grpSpPr>
        <p:sp>
          <p:nvSpPr>
            <p:cNvPr id="97" name="AutoShape 10"/>
            <p:cNvSpPr>
              <a:spLocks noChangeArrowheads="1"/>
            </p:cNvSpPr>
            <p:nvPr/>
          </p:nvSpPr>
          <p:spPr bwMode="auto">
            <a:xfrm rot="5400000">
              <a:off x="1925740" y="1940683"/>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98" name="Rectangle 7"/>
            <p:cNvSpPr>
              <a:spLocks noChangeArrowheads="1"/>
            </p:cNvSpPr>
            <p:nvPr/>
          </p:nvSpPr>
          <p:spPr bwMode="auto">
            <a:xfrm>
              <a:off x="953740" y="3012834"/>
              <a:ext cx="255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Mapa de Procesos </a:t>
              </a:r>
            </a:p>
          </p:txBody>
        </p:sp>
      </p:grpSp>
      <p:sp>
        <p:nvSpPr>
          <p:cNvPr id="99" name="AutoShape 10"/>
          <p:cNvSpPr>
            <a:spLocks noChangeArrowheads="1"/>
          </p:cNvSpPr>
          <p:nvPr/>
        </p:nvSpPr>
        <p:spPr bwMode="auto">
          <a:xfrm rot="10800000">
            <a:off x="2928134" y="3460649"/>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00" name="Text Box 20"/>
          <p:cNvSpPr txBox="1">
            <a:spLocks noChangeArrowheads="1"/>
          </p:cNvSpPr>
          <p:nvPr/>
        </p:nvSpPr>
        <p:spPr bwMode="auto">
          <a:xfrm>
            <a:off x="2995022" y="3527430"/>
            <a:ext cx="5852160" cy="261610"/>
          </a:xfrm>
          <a:prstGeom prst="rect">
            <a:avLst/>
          </a:prstGeom>
          <a:noFill/>
          <a:ln w="9525" algn="ctr">
            <a:noFill/>
            <a:miter lim="800000"/>
            <a:headEnd/>
            <a:tailEnd/>
          </a:ln>
          <a:effectLst/>
        </p:spPr>
        <p:txBody>
          <a:bodyPr wrap="square">
            <a:spAutoFit/>
          </a:bodyPr>
          <a:lstStyle/>
          <a:p>
            <a:pPr algn="just"/>
            <a:r>
              <a:rPr lang="es-ES" sz="1100" dirty="0">
                <a:solidFill>
                  <a:schemeClr val="tx1">
                    <a:lumMod val="85000"/>
                    <a:lumOff val="15000"/>
                  </a:schemeClr>
                </a:solidFill>
              </a:rPr>
              <a:t>Identificación de </a:t>
            </a:r>
            <a:r>
              <a:rPr lang="es-ES" sz="1100" b="1" dirty="0">
                <a:solidFill>
                  <a:schemeClr val="tx1">
                    <a:lumMod val="85000"/>
                    <a:lumOff val="15000"/>
                  </a:schemeClr>
                </a:solidFill>
              </a:rPr>
              <a:t>controles</a:t>
            </a:r>
            <a:r>
              <a:rPr lang="es-ES" sz="1100" dirty="0">
                <a:solidFill>
                  <a:schemeClr val="tx1">
                    <a:lumMod val="85000"/>
                    <a:lumOff val="15000"/>
                  </a:schemeClr>
                </a:solidFill>
              </a:rPr>
              <a:t> / </a:t>
            </a:r>
            <a:r>
              <a:rPr lang="es-ES" sz="1100" b="1" dirty="0">
                <a:solidFill>
                  <a:schemeClr val="tx1">
                    <a:lumMod val="85000"/>
                    <a:lumOff val="15000"/>
                  </a:schemeClr>
                </a:solidFill>
              </a:rPr>
              <a:t>factores mitigantes </a:t>
            </a:r>
            <a:r>
              <a:rPr lang="es-ES" sz="1100" dirty="0">
                <a:solidFill>
                  <a:schemeClr val="tx1">
                    <a:lumMod val="85000"/>
                    <a:lumOff val="15000"/>
                  </a:schemeClr>
                </a:solidFill>
              </a:rPr>
              <a:t>asociados a cada uno de los riesgos levantados.</a:t>
            </a:r>
            <a:endParaRPr lang="en-US" sz="1100" dirty="0">
              <a:solidFill>
                <a:schemeClr val="tx1">
                  <a:lumMod val="85000"/>
                  <a:lumOff val="15000"/>
                </a:schemeClr>
              </a:solidFill>
            </a:endParaRPr>
          </a:p>
        </p:txBody>
      </p:sp>
      <p:sp>
        <p:nvSpPr>
          <p:cNvPr id="101" name="AutoShape 10"/>
          <p:cNvSpPr>
            <a:spLocks noChangeArrowheads="1"/>
          </p:cNvSpPr>
          <p:nvPr/>
        </p:nvSpPr>
        <p:spPr bwMode="auto">
          <a:xfrm rot="10800000">
            <a:off x="2928134" y="3964704"/>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02" name="Text Box 21"/>
          <p:cNvSpPr txBox="1">
            <a:spLocks noChangeArrowheads="1"/>
          </p:cNvSpPr>
          <p:nvPr/>
        </p:nvSpPr>
        <p:spPr bwMode="auto">
          <a:xfrm>
            <a:off x="2995022" y="4029829"/>
            <a:ext cx="5852160" cy="261610"/>
          </a:xfrm>
          <a:prstGeom prst="rect">
            <a:avLst/>
          </a:prstGeom>
          <a:noFill/>
          <a:ln w="9525" algn="ctr">
            <a:noFill/>
            <a:miter lim="800000"/>
            <a:headEnd/>
            <a:tailEnd/>
          </a:ln>
          <a:effectLst/>
        </p:spPr>
        <p:txBody>
          <a:bodyPr wrap="square">
            <a:spAutoFit/>
          </a:bodyPr>
          <a:lstStyle/>
          <a:p>
            <a:pPr algn="just"/>
            <a:r>
              <a:rPr lang="es-ES" sz="1100" b="1" u="none" dirty="0">
                <a:solidFill>
                  <a:schemeClr val="tx1">
                    <a:lumMod val="85000"/>
                    <a:lumOff val="15000"/>
                  </a:schemeClr>
                </a:solidFill>
              </a:rPr>
              <a:t>Evaluación a través de cuestionarios</a:t>
            </a:r>
            <a:r>
              <a:rPr lang="es-ES" sz="1100" u="none" dirty="0">
                <a:solidFill>
                  <a:schemeClr val="tx1">
                    <a:lumMod val="85000"/>
                    <a:lumOff val="15000"/>
                  </a:schemeClr>
                </a:solidFill>
              </a:rPr>
              <a:t>, de los riesgos y controles relativos a los procesos evaluados.</a:t>
            </a:r>
          </a:p>
        </p:txBody>
      </p:sp>
      <p:sp>
        <p:nvSpPr>
          <p:cNvPr id="103" name="AutoShape 10"/>
          <p:cNvSpPr>
            <a:spLocks noChangeArrowheads="1"/>
          </p:cNvSpPr>
          <p:nvPr/>
        </p:nvSpPr>
        <p:spPr bwMode="auto">
          <a:xfrm rot="10800000">
            <a:off x="2928134" y="4468760"/>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04" name="Text Box 22"/>
          <p:cNvSpPr txBox="1">
            <a:spLocks noChangeArrowheads="1"/>
          </p:cNvSpPr>
          <p:nvPr/>
        </p:nvSpPr>
        <p:spPr bwMode="auto">
          <a:xfrm>
            <a:off x="2995022" y="4450760"/>
            <a:ext cx="5852160" cy="432000"/>
          </a:xfrm>
          <a:prstGeom prst="rect">
            <a:avLst/>
          </a:prstGeom>
          <a:noFill/>
          <a:ln w="9525" algn="ctr">
            <a:noFill/>
            <a:miter lim="800000"/>
            <a:headEnd/>
            <a:tailEnd/>
          </a:ln>
          <a:effectLst/>
        </p:spPr>
        <p:txBody>
          <a:bodyPr wrap="square">
            <a:spAutoFit/>
          </a:bodyPr>
          <a:lstStyle/>
          <a:p>
            <a:pPr algn="just"/>
            <a:r>
              <a:rPr lang="es-ES" sz="1100" b="1" u="none" dirty="0">
                <a:solidFill>
                  <a:schemeClr val="tx1">
                    <a:lumMod val="85000"/>
                    <a:lumOff val="15000"/>
                  </a:schemeClr>
                </a:solidFill>
              </a:rPr>
              <a:t>Revisión interna de la coherencia</a:t>
            </a:r>
            <a:r>
              <a:rPr lang="es-ES" sz="1100" u="none" dirty="0">
                <a:solidFill>
                  <a:schemeClr val="tx1">
                    <a:lumMod val="85000"/>
                    <a:lumOff val="15000"/>
                  </a:schemeClr>
                </a:solidFill>
              </a:rPr>
              <a:t> de respuestas suministradas en función de: respuestas de otras    unidades y revisiones con los gerentes de UN</a:t>
            </a:r>
            <a:r>
              <a:rPr lang="es-ES" sz="1100" u="none" baseline="30000" dirty="0">
                <a:solidFill>
                  <a:schemeClr val="tx1">
                    <a:lumMod val="85000"/>
                    <a:lumOff val="15000"/>
                  </a:schemeClr>
                </a:solidFill>
              </a:rPr>
              <a:t>(1)</a:t>
            </a:r>
            <a:r>
              <a:rPr lang="es-ES" sz="1100" u="none" dirty="0">
                <a:solidFill>
                  <a:schemeClr val="tx1">
                    <a:lumMod val="85000"/>
                    <a:lumOff val="15000"/>
                  </a:schemeClr>
                </a:solidFill>
              </a:rPr>
              <a:t>.</a:t>
            </a:r>
          </a:p>
        </p:txBody>
      </p:sp>
      <p:sp>
        <p:nvSpPr>
          <p:cNvPr id="105" name="AutoShape 10"/>
          <p:cNvSpPr>
            <a:spLocks noChangeArrowheads="1"/>
          </p:cNvSpPr>
          <p:nvPr/>
        </p:nvSpPr>
        <p:spPr bwMode="auto">
          <a:xfrm rot="10800000">
            <a:off x="2928134" y="4963816"/>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06" name="Text Box 23"/>
          <p:cNvSpPr txBox="1">
            <a:spLocks noChangeArrowheads="1"/>
          </p:cNvSpPr>
          <p:nvPr/>
        </p:nvSpPr>
        <p:spPr bwMode="auto">
          <a:xfrm>
            <a:off x="2995022" y="4936853"/>
            <a:ext cx="5852160" cy="430887"/>
          </a:xfrm>
          <a:prstGeom prst="rect">
            <a:avLst/>
          </a:prstGeom>
          <a:noFill/>
          <a:ln w="9525" algn="ctr">
            <a:noFill/>
            <a:miter lim="800000"/>
            <a:headEnd/>
            <a:tailEnd/>
          </a:ln>
          <a:effectLst/>
        </p:spPr>
        <p:txBody>
          <a:bodyPr>
            <a:spAutoFit/>
          </a:bodyPr>
          <a:lstStyle/>
          <a:p>
            <a:pPr algn="just"/>
            <a:r>
              <a:rPr lang="es-ES" sz="1100" dirty="0">
                <a:solidFill>
                  <a:schemeClr val="tx1">
                    <a:lumMod val="85000"/>
                    <a:lumOff val="15000"/>
                  </a:schemeClr>
                </a:solidFill>
              </a:rPr>
              <a:t>Identificación de </a:t>
            </a:r>
            <a:r>
              <a:rPr lang="es-ES" sz="1100" b="1" dirty="0">
                <a:solidFill>
                  <a:schemeClr val="tx1">
                    <a:lumMod val="85000"/>
                    <a:lumOff val="15000"/>
                  </a:schemeClr>
                </a:solidFill>
              </a:rPr>
              <a:t>planes de acción y KRI’s </a:t>
            </a:r>
            <a:r>
              <a:rPr lang="es-ES" sz="1100" dirty="0">
                <a:solidFill>
                  <a:schemeClr val="tx1">
                    <a:lumMod val="85000"/>
                    <a:lumOff val="15000"/>
                  </a:schemeClr>
                </a:solidFill>
              </a:rPr>
              <a:t>en base a conocimiento experto de los usuarios y recomendaciones de actuación propuestas. </a:t>
            </a:r>
            <a:endParaRPr lang="en-US" sz="1100" u="none" dirty="0">
              <a:solidFill>
                <a:schemeClr val="tx1">
                  <a:lumMod val="85000"/>
                  <a:lumOff val="15000"/>
                </a:schemeClr>
              </a:solidFill>
            </a:endParaRPr>
          </a:p>
        </p:txBody>
      </p:sp>
      <p:sp>
        <p:nvSpPr>
          <p:cNvPr id="107" name="AutoShape 10"/>
          <p:cNvSpPr>
            <a:spLocks noChangeArrowheads="1"/>
          </p:cNvSpPr>
          <p:nvPr/>
        </p:nvSpPr>
        <p:spPr bwMode="auto">
          <a:xfrm rot="10800000">
            <a:off x="2928134" y="5476872"/>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08" name="Text Box 24"/>
          <p:cNvSpPr txBox="1">
            <a:spLocks noChangeArrowheads="1"/>
          </p:cNvSpPr>
          <p:nvPr/>
        </p:nvSpPr>
        <p:spPr bwMode="auto">
          <a:xfrm>
            <a:off x="2995023" y="5458872"/>
            <a:ext cx="5852159" cy="430887"/>
          </a:xfrm>
          <a:prstGeom prst="rect">
            <a:avLst/>
          </a:prstGeom>
          <a:noFill/>
          <a:ln w="9525" algn="ctr">
            <a:noFill/>
            <a:miter lim="800000"/>
            <a:headEnd/>
            <a:tailEnd/>
          </a:ln>
          <a:effectLst/>
        </p:spPr>
        <p:txBody>
          <a:bodyPr wrap="square">
            <a:spAutoFit/>
          </a:bodyPr>
          <a:lstStyle/>
          <a:p>
            <a:pPr algn="just"/>
            <a:r>
              <a:rPr lang="es-ES" sz="1100" b="1" u="none" dirty="0">
                <a:solidFill>
                  <a:schemeClr val="tx1">
                    <a:lumMod val="85000"/>
                    <a:lumOff val="15000"/>
                  </a:schemeClr>
                </a:solidFill>
              </a:rPr>
              <a:t>Obtención de resultados y conclusiones</a:t>
            </a:r>
            <a:r>
              <a:rPr lang="es-ES" sz="1100" u="none" dirty="0">
                <a:solidFill>
                  <a:schemeClr val="tx1">
                    <a:lumMod val="85000"/>
                    <a:lumOff val="15000"/>
                  </a:schemeClr>
                </a:solidFill>
              </a:rPr>
              <a:t> (Informe de Exposición al RO: conclusiones, focos de riesgo, análisis de controles, documentación de </a:t>
            </a:r>
            <a:r>
              <a:rPr lang="es-ES" sz="1100" dirty="0">
                <a:solidFill>
                  <a:schemeClr val="tx1">
                    <a:lumMod val="85000"/>
                    <a:lumOff val="15000"/>
                  </a:schemeClr>
                </a:solidFill>
              </a:rPr>
              <a:t>Panes de Acción e Indicadores de Riesgo (KRI’s)</a:t>
            </a:r>
            <a:endParaRPr lang="en-US" sz="1100" u="none" dirty="0">
              <a:solidFill>
                <a:schemeClr val="tx1">
                  <a:lumMod val="85000"/>
                  <a:lumOff val="15000"/>
                </a:schemeClr>
              </a:solidFill>
            </a:endParaRPr>
          </a:p>
        </p:txBody>
      </p:sp>
      <p:sp>
        <p:nvSpPr>
          <p:cNvPr id="109" name="AutoShape 10"/>
          <p:cNvSpPr>
            <a:spLocks noChangeArrowheads="1"/>
          </p:cNvSpPr>
          <p:nvPr/>
        </p:nvSpPr>
        <p:spPr bwMode="auto">
          <a:xfrm rot="10800000">
            <a:off x="2928134" y="2956593"/>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10" name="Text Box 18"/>
          <p:cNvSpPr txBox="1">
            <a:spLocks noChangeArrowheads="1"/>
          </p:cNvSpPr>
          <p:nvPr/>
        </p:nvSpPr>
        <p:spPr bwMode="auto">
          <a:xfrm>
            <a:off x="2990801" y="2938592"/>
            <a:ext cx="5860603" cy="430887"/>
          </a:xfrm>
          <a:prstGeom prst="rect">
            <a:avLst/>
          </a:prstGeom>
          <a:noFill/>
          <a:ln w="9525" algn="ctr">
            <a:noFill/>
            <a:miter lim="800000"/>
            <a:headEnd/>
            <a:tailEnd/>
          </a:ln>
          <a:effectLst/>
        </p:spPr>
        <p:txBody>
          <a:bodyPr wrap="square">
            <a:spAutoFit/>
          </a:bodyPr>
          <a:lstStyle/>
          <a:p>
            <a:pPr algn="just"/>
            <a:r>
              <a:rPr lang="es-CL" sz="1100" dirty="0"/>
              <a:t>Verificación de </a:t>
            </a:r>
            <a:r>
              <a:rPr lang="es-CL" sz="1100" b="1" dirty="0"/>
              <a:t>razonabilidad y completitud </a:t>
            </a:r>
            <a:r>
              <a:rPr lang="es-CL" sz="1100" dirty="0"/>
              <a:t>de los riesgos identificados con los responsables  y/o  expertos del proceso.</a:t>
            </a:r>
            <a:endParaRPr lang="en-US" sz="1100" u="none" dirty="0"/>
          </a:p>
        </p:txBody>
      </p:sp>
      <p:sp>
        <p:nvSpPr>
          <p:cNvPr id="111" name="AutoShape 10"/>
          <p:cNvSpPr>
            <a:spLocks noChangeArrowheads="1"/>
          </p:cNvSpPr>
          <p:nvPr/>
        </p:nvSpPr>
        <p:spPr bwMode="auto">
          <a:xfrm rot="10800000">
            <a:off x="2928134" y="2466580"/>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12" name="Text Box 18"/>
          <p:cNvSpPr txBox="1">
            <a:spLocks noChangeArrowheads="1"/>
          </p:cNvSpPr>
          <p:nvPr/>
        </p:nvSpPr>
        <p:spPr bwMode="auto">
          <a:xfrm>
            <a:off x="2995023" y="2519318"/>
            <a:ext cx="5852159" cy="261610"/>
          </a:xfrm>
          <a:prstGeom prst="rect">
            <a:avLst/>
          </a:prstGeom>
          <a:noFill/>
          <a:ln w="9525" algn="ctr">
            <a:noFill/>
            <a:miter lim="800000"/>
            <a:headEnd/>
            <a:tailEnd/>
          </a:ln>
          <a:effectLst/>
        </p:spPr>
        <p:txBody>
          <a:bodyPr wrap="square">
            <a:spAutoFit/>
          </a:bodyPr>
          <a:lstStyle/>
          <a:p>
            <a:pPr algn="just"/>
            <a:r>
              <a:rPr lang="es-ES" sz="1100" u="none" dirty="0">
                <a:solidFill>
                  <a:schemeClr val="tx1">
                    <a:lumMod val="85000"/>
                    <a:lumOff val="15000"/>
                  </a:schemeClr>
                </a:solidFill>
              </a:rPr>
              <a:t>Elaboración de un </a:t>
            </a:r>
            <a:r>
              <a:rPr lang="es-ES" sz="1100" b="1" u="none" dirty="0">
                <a:solidFill>
                  <a:schemeClr val="tx1">
                    <a:lumMod val="85000"/>
                    <a:lumOff val="15000"/>
                  </a:schemeClr>
                </a:solidFill>
              </a:rPr>
              <a:t>inventario de riesgos operacionales</a:t>
            </a:r>
            <a:r>
              <a:rPr lang="es-ES" sz="1100" u="none" dirty="0">
                <a:solidFill>
                  <a:schemeClr val="tx1">
                    <a:lumMod val="85000"/>
                    <a:lumOff val="15000"/>
                  </a:schemeClr>
                </a:solidFill>
              </a:rPr>
              <a:t> para cada uno de los procesos evaluados</a:t>
            </a:r>
            <a:r>
              <a:rPr lang="es-ES" sz="1100" dirty="0">
                <a:solidFill>
                  <a:schemeClr val="tx1">
                    <a:lumMod val="85000"/>
                    <a:lumOff val="15000"/>
                  </a:schemeClr>
                </a:solidFill>
              </a:rPr>
              <a:t>. </a:t>
            </a:r>
            <a:endParaRPr lang="en-US" sz="1100" dirty="0">
              <a:solidFill>
                <a:schemeClr val="tx1">
                  <a:lumMod val="85000"/>
                  <a:lumOff val="15000"/>
                </a:schemeClr>
              </a:solidFill>
            </a:endParaRPr>
          </a:p>
        </p:txBody>
      </p:sp>
      <p:sp>
        <p:nvSpPr>
          <p:cNvPr id="113" name="AutoShape 10"/>
          <p:cNvSpPr>
            <a:spLocks noChangeArrowheads="1"/>
          </p:cNvSpPr>
          <p:nvPr/>
        </p:nvSpPr>
        <p:spPr bwMode="auto">
          <a:xfrm rot="10800000">
            <a:off x="2928134" y="1934276"/>
            <a:ext cx="5985936" cy="396000"/>
          </a:xfrm>
          <a:prstGeom prst="homePlate">
            <a:avLst>
              <a:gd name="adj" fmla="val 28726"/>
            </a:avLst>
          </a:prstGeom>
          <a:solidFill>
            <a:srgbClr val="DDDDDD"/>
          </a:solidFill>
          <a:ln w="9525" algn="ctr">
            <a:noFill/>
            <a:miter lim="800000"/>
            <a:headEnd/>
            <a:tailEnd/>
          </a:ln>
          <a:effectLst>
            <a:prstShdw prst="shdw17" dist="17961" dir="2700000">
              <a:srgbClr val="DDDDDD">
                <a:gamma/>
                <a:shade val="60000"/>
                <a:invGamma/>
              </a:srgbClr>
            </a:prstShdw>
          </a:effectLst>
        </p:spPr>
        <p:txBody>
          <a:bodyPr wrap="square" anchor="ctr"/>
          <a:lstStyle/>
          <a:p>
            <a:pPr algn="ctr"/>
            <a:endParaRPr lang="en-US" sz="1300" b="1" dirty="0">
              <a:solidFill>
                <a:schemeClr val="tx1">
                  <a:lumMod val="85000"/>
                  <a:lumOff val="15000"/>
                </a:schemeClr>
              </a:solidFill>
            </a:endParaRPr>
          </a:p>
        </p:txBody>
      </p:sp>
      <p:sp>
        <p:nvSpPr>
          <p:cNvPr id="114" name="Text Box 18"/>
          <p:cNvSpPr txBox="1">
            <a:spLocks noChangeArrowheads="1"/>
          </p:cNvSpPr>
          <p:nvPr/>
        </p:nvSpPr>
        <p:spPr bwMode="auto">
          <a:xfrm>
            <a:off x="2995023" y="1999957"/>
            <a:ext cx="5852159" cy="261610"/>
          </a:xfrm>
          <a:prstGeom prst="rect">
            <a:avLst/>
          </a:prstGeom>
          <a:noFill/>
          <a:ln w="9525" algn="ctr">
            <a:noFill/>
            <a:miter lim="800000"/>
            <a:headEnd/>
            <a:tailEnd/>
          </a:ln>
          <a:effectLst/>
        </p:spPr>
        <p:txBody>
          <a:bodyPr wrap="square">
            <a:spAutoFit/>
          </a:bodyPr>
          <a:lstStyle/>
          <a:p>
            <a:pPr algn="just"/>
            <a:r>
              <a:rPr lang="es-ES" sz="1100" u="none" dirty="0">
                <a:solidFill>
                  <a:schemeClr val="tx1">
                    <a:lumMod val="85000"/>
                    <a:lumOff val="15000"/>
                  </a:schemeClr>
                </a:solidFill>
              </a:rPr>
              <a:t>Revisión de la estructura organizativa y del </a:t>
            </a:r>
            <a:r>
              <a:rPr lang="es-ES" sz="1100" b="1" u="none" dirty="0">
                <a:solidFill>
                  <a:schemeClr val="tx1">
                    <a:lumMod val="85000"/>
                    <a:lumOff val="15000"/>
                  </a:schemeClr>
                </a:solidFill>
              </a:rPr>
              <a:t>mapa de procesos </a:t>
            </a:r>
            <a:r>
              <a:rPr lang="es-ES" sz="1100" u="none" dirty="0">
                <a:solidFill>
                  <a:schemeClr val="tx1">
                    <a:lumMod val="85000"/>
                    <a:lumOff val="15000"/>
                  </a:schemeClr>
                </a:solidFill>
              </a:rPr>
              <a:t>de la compañía.</a:t>
            </a:r>
            <a:endParaRPr lang="en-US" sz="1100" dirty="0">
              <a:solidFill>
                <a:schemeClr val="tx1">
                  <a:lumMod val="85000"/>
                  <a:lumOff val="15000"/>
                </a:schemeClr>
              </a:solidFill>
            </a:endParaRPr>
          </a:p>
        </p:txBody>
      </p:sp>
      <p:sp>
        <p:nvSpPr>
          <p:cNvPr id="2" name="TextBox 1"/>
          <p:cNvSpPr txBox="1"/>
          <p:nvPr/>
        </p:nvSpPr>
        <p:spPr>
          <a:xfrm>
            <a:off x="1736828" y="6277970"/>
            <a:ext cx="4336426" cy="246221"/>
          </a:xfrm>
          <a:prstGeom prst="rect">
            <a:avLst/>
          </a:prstGeom>
          <a:noFill/>
        </p:spPr>
        <p:txBody>
          <a:bodyPr wrap="square" rtlCol="0">
            <a:spAutoFit/>
          </a:bodyPr>
          <a:lstStyle/>
          <a:p>
            <a:r>
              <a:rPr lang="es-ES" sz="1000" baseline="30000" dirty="0">
                <a:solidFill>
                  <a:schemeClr val="bg1"/>
                </a:solidFill>
              </a:rPr>
              <a:t>(1) </a:t>
            </a:r>
            <a:r>
              <a:rPr lang="es-ES" sz="1000" dirty="0">
                <a:solidFill>
                  <a:schemeClr val="bg1"/>
                </a:solidFill>
              </a:rPr>
              <a:t>Pendiente validaciones con Vehicular y Productos Personales</a:t>
            </a:r>
          </a:p>
        </p:txBody>
      </p:sp>
    </p:spTree>
    <p:extLst>
      <p:ext uri="{BB962C8B-B14F-4D97-AF65-F5344CB8AC3E}">
        <p14:creationId xmlns:p14="http://schemas.microsoft.com/office/powerpoint/2010/main" val="669812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Rectangle 29"/>
          <p:cNvSpPr txBox="1">
            <a:spLocks noChangeArrowheads="1"/>
          </p:cNvSpPr>
          <p:nvPr/>
        </p:nvSpPr>
        <p:spPr bwMode="gray">
          <a:xfrm>
            <a:off x="357158" y="827683"/>
            <a:ext cx="8607330" cy="8731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latin typeface="+mj-lt"/>
                <a:sym typeface="Wingdings" pitchFamily="2" charset="2"/>
              </a:rPr>
              <a:t>Visión global y características </a:t>
            </a:r>
            <a:r>
              <a:rPr lang="es-ES_tradnl" sz="1600" dirty="0">
                <a:latin typeface="+mj-lt"/>
                <a:sym typeface="Wingdings" pitchFamily="2" charset="2"/>
              </a:rPr>
              <a:t>principales de la </a:t>
            </a:r>
            <a:r>
              <a:rPr lang="es-ES_tradnl" sz="1600" b="1" dirty="0">
                <a:latin typeface="+mj-lt"/>
                <a:sym typeface="Wingdings" pitchFamily="2" charset="2"/>
              </a:rPr>
              <a:t>Metodología de Evaluación </a:t>
            </a:r>
            <a:r>
              <a:rPr lang="es-ES_tradnl" sz="1600" dirty="0">
                <a:latin typeface="+mj-lt"/>
                <a:sym typeface="Wingdings" pitchFamily="2" charset="2"/>
              </a:rPr>
              <a:t>de Riesgos Operacionales  a emplear en RIMAC.</a:t>
            </a:r>
            <a:br>
              <a:rPr kumimoji="0" lang="es-ES_tradnl" sz="2200" b="1" i="0" u="none" strike="noStrike" kern="0" cap="none" spc="0" normalizeH="0" baseline="0" noProof="0" dirty="0">
                <a:ln>
                  <a:noFill/>
                </a:ln>
                <a:solidFill>
                  <a:srgbClr val="4B4B4B"/>
                </a:solidFill>
                <a:effectLst/>
                <a:uLnTx/>
                <a:uFillTx/>
                <a:latin typeface="+mj-lt"/>
                <a:ea typeface="+mj-ea"/>
                <a:cs typeface="+mj-cs"/>
              </a:rPr>
            </a:br>
            <a:r>
              <a:rPr kumimoji="0" lang="es-ES_tradnl" sz="1800" b="1" i="0" u="none" strike="noStrike" kern="0" cap="none" spc="0" normalizeH="0" baseline="0" noProof="0" dirty="0">
                <a:ln>
                  <a:noFill/>
                </a:ln>
                <a:solidFill>
                  <a:schemeClr val="hlink"/>
                </a:solidFill>
                <a:effectLst/>
                <a:uLnTx/>
                <a:uFillTx/>
                <a:latin typeface="+mj-lt"/>
                <a:ea typeface="+mj-ea"/>
                <a:cs typeface="+mj-cs"/>
              </a:rPr>
              <a:t> </a:t>
            </a:r>
          </a:p>
        </p:txBody>
      </p:sp>
      <p:sp>
        <p:nvSpPr>
          <p:cNvPr id="6" name="Rectangle 12"/>
          <p:cNvSpPr>
            <a:spLocks noChangeArrowheads="1"/>
          </p:cNvSpPr>
          <p:nvPr/>
        </p:nvSpPr>
        <p:spPr bwMode="auto">
          <a:xfrm>
            <a:off x="1277321" y="1779046"/>
            <a:ext cx="6553200" cy="4052887"/>
          </a:xfrm>
          <a:prstGeom prst="rect">
            <a:avLst/>
          </a:prstGeom>
          <a:solidFill>
            <a:schemeClr val="bg1"/>
          </a:solidFill>
          <a:ln w="9525" algn="ctr">
            <a:solidFill>
              <a:schemeClr val="bg1">
                <a:lumMod val="50000"/>
              </a:schemeClr>
            </a:solidFill>
            <a:miter lim="800000"/>
            <a:headEnd/>
            <a:tailEnd/>
          </a:ln>
          <a:effec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 name="Rectangle 13"/>
          <p:cNvSpPr>
            <a:spLocks noChangeArrowheads="1"/>
          </p:cNvSpPr>
          <p:nvPr/>
        </p:nvSpPr>
        <p:spPr bwMode="auto">
          <a:xfrm>
            <a:off x="1628158" y="2136233"/>
            <a:ext cx="5913438" cy="3530600"/>
          </a:xfrm>
          <a:prstGeom prst="rect">
            <a:avLst/>
          </a:prstGeom>
          <a:solidFill>
            <a:schemeClr val="bg1">
              <a:lumMod val="85000"/>
            </a:schemeClr>
          </a:solidFill>
          <a:ln w="25400">
            <a:solidFill>
              <a:schemeClr val="bg1">
                <a:lumMod val="50000"/>
              </a:schemeClr>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 name="Rectangle 14"/>
          <p:cNvSpPr>
            <a:spLocks noChangeArrowheads="1"/>
          </p:cNvSpPr>
          <p:nvPr/>
        </p:nvSpPr>
        <p:spPr bwMode="auto">
          <a:xfrm>
            <a:off x="1631333" y="2137821"/>
            <a:ext cx="2814638" cy="646112"/>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¿Qué se evalúa?</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1" i="0" u="sng" strike="noStrike" kern="0" cap="none" spc="0" normalizeH="0" baseline="0" noProof="0" dirty="0">
                <a:ln>
                  <a:noFill/>
                </a:ln>
                <a:effectLst/>
                <a:uLnTx/>
                <a:uFillTx/>
              </a:rPr>
              <a:t>Evaluar riesgos</a:t>
            </a:r>
            <a:r>
              <a:rPr kumimoji="0" lang="es-ES" sz="1400" b="1" i="0" u="none" strike="noStrike" kern="0" cap="none" spc="0" normalizeH="0" baseline="0" noProof="0" dirty="0">
                <a:ln>
                  <a:noFill/>
                </a:ln>
                <a:effectLst/>
                <a:uLnTx/>
                <a:uFillTx/>
              </a:rPr>
              <a:t> </a:t>
            </a:r>
            <a:r>
              <a:rPr kumimoji="0" lang="es-ES" sz="1400" b="0" i="0" u="none" strike="noStrike" kern="0" cap="none" spc="0" normalizeH="0" baseline="0" noProof="0" dirty="0">
                <a:ln>
                  <a:noFill/>
                </a:ln>
                <a:effectLst/>
                <a:uLnTx/>
                <a:uFillTx/>
              </a:rPr>
              <a:t>(y complementariamente los controles)</a:t>
            </a:r>
            <a:endParaRPr kumimoji="0" lang="es-ES" sz="1400" b="0" i="0" u="sng" strike="noStrike" kern="0" cap="none" spc="0" normalizeH="0" baseline="0" noProof="0" dirty="0">
              <a:ln>
                <a:noFill/>
              </a:ln>
              <a:effectLst/>
              <a:uLnTx/>
              <a:uFillTx/>
            </a:endParaRP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Evaluar la eficacia del entorno de control</a:t>
            </a:r>
          </a:p>
        </p:txBody>
      </p:sp>
      <p:sp>
        <p:nvSpPr>
          <p:cNvPr id="9" name="Line 15"/>
          <p:cNvSpPr>
            <a:spLocks noChangeShapeType="1"/>
          </p:cNvSpPr>
          <p:nvPr/>
        </p:nvSpPr>
        <p:spPr bwMode="auto">
          <a:xfrm>
            <a:off x="4517408" y="2136233"/>
            <a:ext cx="0" cy="3530600"/>
          </a:xfrm>
          <a:prstGeom prst="line">
            <a:avLst/>
          </a:prstGeom>
          <a:noFill/>
          <a:ln w="9525" algn="ctr">
            <a:solidFill>
              <a:schemeClr val="bg1">
                <a:lumMod val="50000"/>
              </a:schemeClr>
            </a:solidFill>
            <a:miter lim="800000"/>
            <a:headEnd/>
            <a:tailEnd/>
          </a:ln>
          <a:effectLst/>
        </p:spPr>
        <p:txBody>
          <a:bodyPr wrap="none" lIns="90000" tIns="46800" rIns="90000" bIns="46800" anchor="ctr"/>
          <a:lstStyle/>
          <a:p>
            <a:pPr marR="0" lvl="0" indent="0" fontAlgn="auto">
              <a:lnSpc>
                <a:spcPct val="100000"/>
              </a:lnSpc>
              <a:spcBef>
                <a:spcPts val="0"/>
              </a:spcBef>
              <a:spcAft>
                <a:spcPts val="0"/>
              </a:spcAft>
              <a:buClrTx/>
              <a:buSzTx/>
              <a:buFontTx/>
              <a:buNone/>
              <a:tabLst/>
              <a:defRPr/>
            </a:pPr>
            <a:endParaRPr lang="en-US" kern="0">
              <a:solidFill>
                <a:sysClr val="windowText" lastClr="000000"/>
              </a:solidFill>
            </a:endParaRPr>
          </a:p>
        </p:txBody>
      </p:sp>
      <p:sp>
        <p:nvSpPr>
          <p:cNvPr id="10" name="Line 16"/>
          <p:cNvSpPr>
            <a:spLocks noChangeShapeType="1"/>
          </p:cNvSpPr>
          <p:nvPr/>
        </p:nvSpPr>
        <p:spPr bwMode="auto">
          <a:xfrm>
            <a:off x="1348758" y="3901533"/>
            <a:ext cx="6418263" cy="0"/>
          </a:xfrm>
          <a:prstGeom prst="line">
            <a:avLst/>
          </a:prstGeom>
          <a:noFill/>
          <a:ln w="9525" algn="ctr">
            <a:solidFill>
              <a:schemeClr val="bg1">
                <a:lumMod val="50000"/>
              </a:schemeClr>
            </a:solidFill>
            <a:miter lim="800000"/>
            <a:headEnd/>
            <a:tailEnd/>
          </a:ln>
          <a:effectLst/>
        </p:spPr>
        <p:txBody>
          <a:bodyPr wrap="none" lIns="90000" tIns="46800" rIns="90000" bIns="46800" anchor="ctr"/>
          <a:lstStyle/>
          <a:p>
            <a:pPr>
              <a:defRPr/>
            </a:pPr>
            <a:endParaRPr lang="en-US" kern="0">
              <a:solidFill>
                <a:sysClr val="windowText" lastClr="000000"/>
              </a:solidFill>
            </a:endParaRPr>
          </a:p>
        </p:txBody>
      </p:sp>
      <p:sp>
        <p:nvSpPr>
          <p:cNvPr id="11" name="Rectangle 17"/>
          <p:cNvSpPr>
            <a:spLocks noChangeArrowheads="1"/>
          </p:cNvSpPr>
          <p:nvPr/>
        </p:nvSpPr>
        <p:spPr bwMode="auto">
          <a:xfrm>
            <a:off x="4445971" y="2137821"/>
            <a:ext cx="2930525" cy="646112"/>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¿Cómo se evalúa el riesgo?</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Directa </a:t>
            </a:r>
            <a:r>
              <a:rPr kumimoji="0" lang="es-ES" sz="1400" b="0" i="0" u="none" strike="noStrike" kern="0" cap="none" spc="0" normalizeH="0" baseline="0" noProof="0" dirty="0">
                <a:ln>
                  <a:noFill/>
                </a:ln>
                <a:effectLst/>
                <a:uLnTx/>
                <a:uFillTx/>
                <a:sym typeface="Wingdings" pitchFamily="2" charset="2"/>
              </a:rPr>
              <a:t></a:t>
            </a:r>
            <a:r>
              <a:rPr kumimoji="0" lang="es-ES" sz="1400" b="0" i="0" u="none" strike="noStrike" kern="0" cap="none" spc="0" normalizeH="0" baseline="0" noProof="0" dirty="0">
                <a:ln>
                  <a:noFill/>
                </a:ln>
                <a:effectLst/>
                <a:uLnTx/>
                <a:uFillTx/>
              </a:rPr>
              <a:t> </a:t>
            </a:r>
            <a:r>
              <a:rPr kumimoji="0" lang="es-ES" sz="1400" b="1" i="0" u="sng" strike="noStrike" kern="0" cap="none" spc="0" normalizeH="0" baseline="0" noProof="0" dirty="0">
                <a:ln>
                  <a:noFill/>
                </a:ln>
                <a:effectLst/>
                <a:uLnTx/>
                <a:uFillTx/>
              </a:rPr>
              <a:t>Riesgo real existente</a:t>
            </a:r>
            <a:r>
              <a:rPr kumimoji="0" lang="es-ES" sz="1400" b="0" i="0" u="none" strike="noStrike" kern="0" cap="none" spc="0" normalizeH="0" baseline="0" noProof="0" dirty="0">
                <a:ln>
                  <a:noFill/>
                </a:ln>
                <a:effectLst/>
                <a:uLnTx/>
                <a:uFillTx/>
              </a:rPr>
              <a:t>, considerando controles</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Riesgo inherente y mitigación por la efectividad del control</a:t>
            </a:r>
          </a:p>
        </p:txBody>
      </p:sp>
      <p:sp>
        <p:nvSpPr>
          <p:cNvPr id="12" name="Rectangle 18"/>
          <p:cNvSpPr>
            <a:spLocks noChangeArrowheads="1"/>
          </p:cNvSpPr>
          <p:nvPr/>
        </p:nvSpPr>
        <p:spPr bwMode="auto">
          <a:xfrm>
            <a:off x="1520208" y="3939633"/>
            <a:ext cx="2997200" cy="646113"/>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¿Cómo cuantifico?</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1" i="0" u="sng" strike="noStrike" kern="0" cap="none" spc="0" normalizeH="0" baseline="0" noProof="0" dirty="0">
                <a:ln>
                  <a:noFill/>
                </a:ln>
                <a:effectLst/>
                <a:uLnTx/>
                <a:uFillTx/>
              </a:rPr>
              <a:t>Evaluación económica</a:t>
            </a:r>
            <a:r>
              <a:rPr kumimoji="0" lang="es-ES" sz="1400" b="1" i="0" u="none" strike="noStrike" kern="0" cap="none" spc="0" normalizeH="0" baseline="0" noProof="0" dirty="0">
                <a:ln>
                  <a:noFill/>
                </a:ln>
                <a:effectLst/>
                <a:uLnTx/>
                <a:uFillTx/>
              </a:rPr>
              <a:t> </a:t>
            </a:r>
            <a:r>
              <a:rPr kumimoji="0" lang="es-ES" sz="1400" b="0" i="0" u="none" strike="noStrike" kern="0" cap="none" spc="0" normalizeH="0" baseline="0" noProof="0" dirty="0">
                <a:ln>
                  <a:noFill/>
                </a:ln>
                <a:effectLst/>
                <a:uLnTx/>
                <a:uFillTx/>
              </a:rPr>
              <a:t>de los impactos patrimoniales</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Evaluación cualitativa (escala por letras o números)</a:t>
            </a:r>
          </a:p>
        </p:txBody>
      </p:sp>
      <p:sp>
        <p:nvSpPr>
          <p:cNvPr id="13" name="Rectangle 19"/>
          <p:cNvSpPr>
            <a:spLocks noChangeArrowheads="1"/>
          </p:cNvSpPr>
          <p:nvPr/>
        </p:nvSpPr>
        <p:spPr bwMode="auto">
          <a:xfrm>
            <a:off x="4445971" y="3941221"/>
            <a:ext cx="2930525" cy="646112"/>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¿Qué variables evalúo?</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Un parámetro de frecuencia y un parámetro de severidad</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1" i="0" u="sng" strike="noStrike" kern="0" cap="none" spc="0" normalizeH="0" baseline="0" noProof="0" dirty="0">
                <a:ln>
                  <a:noFill/>
                </a:ln>
                <a:effectLst/>
                <a:uLnTx/>
                <a:uFillTx/>
              </a:rPr>
              <a:t>Un parámetro de frecuencia y </a:t>
            </a:r>
            <a:br>
              <a:rPr kumimoji="0" lang="es-ES" sz="1400" b="1" i="0" u="sng" strike="noStrike" kern="0" cap="none" spc="0" normalizeH="0" baseline="0" noProof="0" dirty="0">
                <a:ln>
                  <a:noFill/>
                </a:ln>
                <a:effectLst/>
                <a:uLnTx/>
                <a:uFillTx/>
              </a:rPr>
            </a:br>
            <a:r>
              <a:rPr kumimoji="0" lang="es-ES" sz="1400" b="1" i="0" u="sng" strike="noStrike" kern="0" cap="none" spc="0" normalizeH="0" baseline="0" noProof="0" dirty="0">
                <a:ln>
                  <a:noFill/>
                </a:ln>
                <a:effectLst/>
                <a:uLnTx/>
                <a:uFillTx/>
              </a:rPr>
              <a:t>2 parámetros de severidad</a:t>
            </a:r>
          </a:p>
        </p:txBody>
      </p:sp>
      <p:sp>
        <p:nvSpPr>
          <p:cNvPr id="14" name="Text Box 20"/>
          <p:cNvSpPr txBox="1">
            <a:spLocks noChangeArrowheads="1"/>
          </p:cNvSpPr>
          <p:nvPr/>
        </p:nvSpPr>
        <p:spPr bwMode="auto">
          <a:xfrm>
            <a:off x="1493221" y="1612358"/>
            <a:ext cx="6192837" cy="365760"/>
          </a:xfrm>
          <a:prstGeom prst="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PE"/>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dirty="0"/>
              <a:t>ALTERNATIVAS QUE EXISTEN EN EL MERCADO</a:t>
            </a:r>
            <a:br>
              <a:rPr lang="es-ES" dirty="0"/>
            </a:br>
            <a:r>
              <a:rPr lang="es-ES" dirty="0"/>
              <a:t> EN LA APLICACIÓN DE METODOLOGÍAS CUALITATIVAS</a:t>
            </a:r>
            <a:endParaRPr lang="es-ES_tradnl" dirty="0"/>
          </a:p>
        </p:txBody>
      </p:sp>
      <p:sp>
        <p:nvSpPr>
          <p:cNvPr id="15" name="AutoShape 22"/>
          <p:cNvSpPr>
            <a:spLocks noChangeArrowheads="1"/>
          </p:cNvSpPr>
          <p:nvPr/>
        </p:nvSpPr>
        <p:spPr bwMode="auto">
          <a:xfrm>
            <a:off x="160837" y="2323972"/>
            <a:ext cx="1692275" cy="1465068"/>
          </a:xfrm>
          <a:prstGeom prst="rightArrowCallout">
            <a:avLst>
              <a:gd name="adj1" fmla="val 25083"/>
              <a:gd name="adj2" fmla="val 25000"/>
              <a:gd name="adj3" fmla="val 17081"/>
              <a:gd name="adj4" fmla="val 77440"/>
            </a:avLst>
          </a:prstGeom>
          <a:solidFill>
            <a:srgbClr val="DB0613"/>
          </a:solidFill>
          <a:ln w="9525" algn="ctr">
            <a:noFill/>
            <a:miter lim="800000"/>
            <a:headEnd/>
            <a:tailEnd/>
          </a:ln>
          <a:effectLst/>
        </p:spPr>
        <p:txBody>
          <a:bodyPr tIns="82800"/>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sng" strike="noStrike" kern="0" cap="none" spc="0" normalizeH="0" baseline="0" noProof="0" dirty="0">
                <a:ln>
                  <a:noFill/>
                </a:ln>
                <a:solidFill>
                  <a:schemeClr val="bg1"/>
                </a:solidFill>
                <a:effectLst/>
                <a:uLnTx/>
                <a:uFillTx/>
              </a:rPr>
              <a:t>Metodología </a:t>
            </a:r>
            <a:r>
              <a:rPr lang="es-ES" sz="1200" u="sng" kern="0" noProof="0" dirty="0" err="1">
                <a:solidFill>
                  <a:schemeClr val="bg1"/>
                </a:solidFill>
              </a:rPr>
              <a:t>Rimac</a:t>
            </a:r>
            <a:endParaRPr kumimoji="0" lang="es-ES" sz="1200" b="0" i="0" u="sng" strike="noStrike" kern="0" cap="none" spc="0" normalizeH="0" baseline="0" noProof="0" dirty="0">
              <a:ln>
                <a:noFill/>
              </a:ln>
              <a:solidFill>
                <a:schemeClr val="bg1"/>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chemeClr val="bg1"/>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r>
              <a:rPr kumimoji="0" lang="es-ES_tradnl" sz="1200" b="0" i="0" u="none" strike="noStrike" kern="0" cap="none" spc="0" normalizeH="0" baseline="0" noProof="0" dirty="0">
                <a:ln>
                  <a:noFill/>
                </a:ln>
                <a:solidFill>
                  <a:schemeClr val="bg1"/>
                </a:solidFill>
                <a:effectLst/>
                <a:uLnTx/>
                <a:uFillTx/>
              </a:rPr>
              <a:t>Se pretende </a:t>
            </a:r>
            <a:r>
              <a:rPr kumimoji="0" lang="es-ES_tradnl" sz="1200" i="0" u="none" strike="noStrike" kern="0" cap="none" spc="0" normalizeH="0" baseline="0" noProof="0" dirty="0">
                <a:ln>
                  <a:noFill/>
                </a:ln>
                <a:solidFill>
                  <a:schemeClr val="bg1"/>
                </a:solidFill>
                <a:effectLst/>
                <a:uLnTx/>
                <a:uFillTx/>
              </a:rPr>
              <a:t>medir el riesgo </a:t>
            </a:r>
            <a:r>
              <a:rPr kumimoji="0" lang="es-ES_tradnl" sz="1200" b="0" i="0" u="none" strike="noStrike" kern="0" cap="none" spc="0" normalizeH="0" baseline="0" noProof="0" dirty="0">
                <a:ln>
                  <a:noFill/>
                </a:ln>
                <a:solidFill>
                  <a:schemeClr val="bg1"/>
                </a:solidFill>
                <a:effectLst/>
                <a:uLnTx/>
                <a:uFillTx/>
              </a:rPr>
              <a:t>como tal, así como la</a:t>
            </a:r>
            <a:r>
              <a:rPr kumimoji="0" lang="es-ES_tradnl" sz="1200" b="0" i="0" u="none" strike="noStrike" kern="0" cap="none" spc="0" normalizeH="0" noProof="0" dirty="0">
                <a:ln>
                  <a:noFill/>
                </a:ln>
                <a:solidFill>
                  <a:schemeClr val="bg1"/>
                </a:solidFill>
                <a:effectLst/>
                <a:uLnTx/>
                <a:uFillTx/>
              </a:rPr>
              <a:t> eficacia de su entorno de control</a:t>
            </a:r>
            <a:endParaRPr kumimoji="0" lang="es-ES_tradnl" sz="1200" b="0" i="0" u="none" strike="noStrike" kern="0" cap="none" spc="0" normalizeH="0" baseline="0" noProof="0" dirty="0">
              <a:ln>
                <a:noFill/>
              </a:ln>
              <a:solidFill>
                <a:schemeClr val="bg1"/>
              </a:solidFill>
              <a:effectLst/>
              <a:uLnTx/>
              <a:uFillTx/>
            </a:endParaRPr>
          </a:p>
        </p:txBody>
      </p:sp>
      <p:sp>
        <p:nvSpPr>
          <p:cNvPr id="16" name="AutoShape 23"/>
          <p:cNvSpPr>
            <a:spLocks noChangeArrowheads="1"/>
          </p:cNvSpPr>
          <p:nvPr/>
        </p:nvSpPr>
        <p:spPr bwMode="auto">
          <a:xfrm>
            <a:off x="160837" y="4073624"/>
            <a:ext cx="1692275" cy="1371600"/>
          </a:xfrm>
          <a:prstGeom prst="rightArrowCallout">
            <a:avLst>
              <a:gd name="adj1" fmla="val 25083"/>
              <a:gd name="adj2" fmla="val 25000"/>
              <a:gd name="adj3" fmla="val 14486"/>
              <a:gd name="adj4" fmla="val 77440"/>
            </a:avLst>
          </a:prstGeom>
          <a:solidFill>
            <a:srgbClr val="DB0613"/>
          </a:solidFill>
          <a:ln w="9525" algn="ctr">
            <a:noFill/>
            <a:miter lim="800000"/>
            <a:headEnd/>
            <a:tailEnd/>
          </a:ln>
          <a:effectLst/>
        </p:spPr>
        <p:txBody>
          <a:bodyPr tIns="82800"/>
          <a:lstStyle/>
          <a:p>
            <a:pPr algn="ctr">
              <a:lnSpc>
                <a:spcPct val="80000"/>
              </a:lnSpc>
            </a:pPr>
            <a:r>
              <a:rPr lang="es-ES" sz="1200" u="sng" kern="0" dirty="0">
                <a:solidFill>
                  <a:srgbClr val="FFFFFF"/>
                </a:solidFill>
              </a:rPr>
              <a:t>Metodología </a:t>
            </a:r>
            <a:r>
              <a:rPr lang="es-ES" sz="1200" u="sng" kern="0" dirty="0" err="1">
                <a:solidFill>
                  <a:srgbClr val="FFFFFF"/>
                </a:solidFill>
              </a:rPr>
              <a:t>Rimac</a:t>
            </a:r>
            <a:endParaRPr lang="es-ES" sz="1200" u="sng" kern="0" dirty="0">
              <a:solidFill>
                <a:srgbClr val="FFFFFF"/>
              </a:solidFill>
            </a:endParaRPr>
          </a:p>
          <a:p>
            <a:pPr algn="ctr">
              <a:lnSpc>
                <a:spcPct val="80000"/>
              </a:lnSpc>
            </a:pPr>
            <a:endParaRPr lang="es-ES" sz="1200" u="sng" kern="0" dirty="0">
              <a:solidFill>
                <a:srgbClr val="FFFFFF"/>
              </a:solidFill>
            </a:endParaRPr>
          </a:p>
          <a:p>
            <a:pPr algn="ctr">
              <a:lnSpc>
                <a:spcPct val="80000"/>
              </a:lnSpc>
            </a:pPr>
            <a:r>
              <a:rPr lang="es-ES_tradnl" sz="1200" kern="0" dirty="0">
                <a:solidFill>
                  <a:srgbClr val="FFFFFF"/>
                </a:solidFill>
              </a:rPr>
              <a:t>La medición del riesgo se cuantifica en términos económicos</a:t>
            </a:r>
          </a:p>
        </p:txBody>
      </p:sp>
      <p:sp>
        <p:nvSpPr>
          <p:cNvPr id="17" name="AutoShape 24"/>
          <p:cNvSpPr>
            <a:spLocks noChangeArrowheads="1"/>
          </p:cNvSpPr>
          <p:nvPr/>
        </p:nvSpPr>
        <p:spPr bwMode="auto">
          <a:xfrm flipH="1">
            <a:off x="7324746" y="2156384"/>
            <a:ext cx="1692275" cy="1376317"/>
          </a:xfrm>
          <a:prstGeom prst="rightArrowCallout">
            <a:avLst>
              <a:gd name="adj1" fmla="val 25083"/>
              <a:gd name="adj2" fmla="val 25000"/>
              <a:gd name="adj3" fmla="val 17081"/>
              <a:gd name="adj4" fmla="val 77440"/>
            </a:avLst>
          </a:prstGeom>
          <a:solidFill>
            <a:srgbClr val="DB0613"/>
          </a:solidFill>
          <a:ln w="9525" algn="ctr">
            <a:noFill/>
            <a:miter lim="800000"/>
            <a:headEnd/>
            <a:tailEnd/>
          </a:ln>
          <a:effectLst/>
        </p:spPr>
        <p:txBody>
          <a:bodyPr tIns="82800"/>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sng" strike="noStrike" kern="0" cap="none" spc="0" normalizeH="0" baseline="0" noProof="0" dirty="0">
                <a:ln>
                  <a:noFill/>
                </a:ln>
                <a:solidFill>
                  <a:schemeClr val="bg1"/>
                </a:solidFill>
                <a:effectLst/>
                <a:uLnTx/>
                <a:uFillTx/>
              </a:rPr>
              <a:t>Metodología </a:t>
            </a:r>
            <a:r>
              <a:rPr lang="es-ES" sz="1200" u="sng" kern="0" dirty="0" err="1">
                <a:solidFill>
                  <a:schemeClr val="bg1"/>
                </a:solidFill>
              </a:rPr>
              <a:t>Rimac</a:t>
            </a:r>
            <a:endParaRPr kumimoji="0" lang="es-ES" sz="1200" b="0" i="0" u="sng" strike="noStrike" kern="0" cap="none" spc="0" normalizeH="0" baseline="0" noProof="0" dirty="0">
              <a:ln>
                <a:noFill/>
              </a:ln>
              <a:solidFill>
                <a:schemeClr val="bg1"/>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chemeClr val="bg1"/>
              </a:solidFill>
              <a:effectLst/>
              <a:uLnTx/>
              <a:uFillTx/>
            </a:endParaRPr>
          </a:p>
          <a:p>
            <a:pPr algn="ctr">
              <a:lnSpc>
                <a:spcPct val="80000"/>
              </a:lnSpc>
              <a:defRPr/>
            </a:pPr>
            <a:r>
              <a:rPr lang="es-ES_tradnl" sz="1200" kern="0" dirty="0">
                <a:solidFill>
                  <a:srgbClr val="FFFFFF"/>
                </a:solidFill>
              </a:rPr>
              <a:t>Evaluación directa del riesgo “residual”</a:t>
            </a: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chemeClr val="bg1"/>
              </a:solidFill>
              <a:effectLst/>
              <a:uLnTx/>
              <a:uFillTx/>
            </a:endParaRPr>
          </a:p>
        </p:txBody>
      </p:sp>
      <p:sp>
        <p:nvSpPr>
          <p:cNvPr id="18" name="AutoShape 25"/>
          <p:cNvSpPr>
            <a:spLocks noChangeArrowheads="1"/>
          </p:cNvSpPr>
          <p:nvPr/>
        </p:nvSpPr>
        <p:spPr bwMode="auto">
          <a:xfrm flipH="1">
            <a:off x="7338396" y="4390482"/>
            <a:ext cx="1692275" cy="1463040"/>
          </a:xfrm>
          <a:prstGeom prst="rightArrowCallout">
            <a:avLst>
              <a:gd name="adj1" fmla="val 25083"/>
              <a:gd name="adj2" fmla="val 25000"/>
              <a:gd name="adj3" fmla="val 13494"/>
              <a:gd name="adj4" fmla="val 77440"/>
            </a:avLst>
          </a:prstGeom>
          <a:solidFill>
            <a:srgbClr val="DB0613"/>
          </a:solidFill>
          <a:ln w="9525" algn="ctr">
            <a:noFill/>
            <a:miter lim="800000"/>
            <a:headEnd/>
            <a:tailEnd/>
          </a:ln>
          <a:effectLst/>
        </p:spPr>
        <p:txBody>
          <a:bodyPr tIns="82800"/>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sng" strike="noStrike" kern="0" cap="none" spc="0" normalizeH="0" baseline="0" noProof="0" dirty="0">
                <a:ln>
                  <a:noFill/>
                </a:ln>
                <a:solidFill>
                  <a:srgbClr val="FFFFFF"/>
                </a:solidFill>
                <a:effectLst/>
                <a:uLnTx/>
                <a:uFillTx/>
              </a:rPr>
              <a:t>Metodología </a:t>
            </a:r>
            <a:r>
              <a:rPr kumimoji="0" lang="es-ES" sz="1200" b="0" i="0" u="sng" strike="noStrike" kern="0" cap="none" spc="0" normalizeH="0" baseline="0" noProof="0" dirty="0" err="1">
                <a:ln>
                  <a:noFill/>
                </a:ln>
                <a:solidFill>
                  <a:srgbClr val="FFFFFF"/>
                </a:solidFill>
                <a:effectLst/>
                <a:uLnTx/>
                <a:uFillTx/>
              </a:rPr>
              <a:t>Rimac</a:t>
            </a: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none" strike="noStrike" kern="0" cap="none" spc="0" normalizeH="0" baseline="0" noProof="0" dirty="0">
                <a:ln>
                  <a:noFill/>
                </a:ln>
                <a:solidFill>
                  <a:srgbClr val="FFFFFF"/>
                </a:solidFill>
                <a:effectLst/>
                <a:uLnTx/>
                <a:uFillTx/>
              </a:rPr>
              <a:t>Considerando escenarios “normales” pero también “peores escenarios” de ocurrencia</a:t>
            </a:r>
            <a:endParaRPr kumimoji="0" lang="es-ES_tradnl" sz="1200" b="0" i="0" u="none" strike="noStrike" kern="0" cap="none" spc="0" normalizeH="0" baseline="0" noProof="0" dirty="0">
              <a:ln>
                <a:noFill/>
              </a:ln>
              <a:solidFill>
                <a:srgbClr val="FFFFFF"/>
              </a:solidFill>
              <a:effectLst/>
              <a:uLnTx/>
              <a:uFillTx/>
            </a:endParaRPr>
          </a:p>
        </p:txBody>
      </p:sp>
      <p:sp>
        <p:nvSpPr>
          <p:cNvPr id="19"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20"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21"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22"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23"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24"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25"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26"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1055332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AutoShape 21"/>
          <p:cNvSpPr>
            <a:spLocks noChangeArrowheads="1"/>
          </p:cNvSpPr>
          <p:nvPr/>
        </p:nvSpPr>
        <p:spPr bwMode="auto">
          <a:xfrm>
            <a:off x="1867812" y="1933295"/>
            <a:ext cx="1589088" cy="373062"/>
          </a:xfrm>
          <a:prstGeom prst="roundRect">
            <a:avLst>
              <a:gd name="adj" fmla="val 16667"/>
            </a:avLst>
          </a:prstGeom>
          <a:solidFill>
            <a:srgbClr val="DDDDDD"/>
          </a:solidFill>
          <a:ln w="9525" algn="ctr">
            <a:noFill/>
            <a:round/>
            <a:headEnd/>
            <a:tailEnd/>
          </a:ln>
        </p:spPr>
        <p:txBody>
          <a:bodyPr wrap="none" anchor="ctr"/>
          <a:lstStyle/>
          <a:p>
            <a:pPr algn="ctr"/>
            <a:r>
              <a:rPr lang="es-ES" sz="1100" b="1" dirty="0"/>
              <a:t>Frecuencia</a:t>
            </a:r>
          </a:p>
          <a:p>
            <a:pPr algn="ctr"/>
            <a:r>
              <a:rPr lang="es-ES" sz="1100" b="1" dirty="0"/>
              <a:t>Evento Pérdida</a:t>
            </a:r>
            <a:endParaRPr lang="en-US" sz="1100" b="1" dirty="0"/>
          </a:p>
        </p:txBody>
      </p:sp>
      <p:sp>
        <p:nvSpPr>
          <p:cNvPr id="6" name="AutoShape 22"/>
          <p:cNvSpPr>
            <a:spLocks noChangeArrowheads="1"/>
          </p:cNvSpPr>
          <p:nvPr/>
        </p:nvSpPr>
        <p:spPr bwMode="auto">
          <a:xfrm>
            <a:off x="1867812" y="2502832"/>
            <a:ext cx="1589088" cy="373063"/>
          </a:xfrm>
          <a:prstGeom prst="roundRect">
            <a:avLst>
              <a:gd name="adj" fmla="val 16667"/>
            </a:avLst>
          </a:prstGeom>
          <a:solidFill>
            <a:srgbClr val="DDDDDD"/>
          </a:solidFill>
          <a:ln w="9525" algn="ctr">
            <a:noFill/>
            <a:round/>
            <a:headEnd/>
            <a:tailEnd/>
          </a:ln>
        </p:spPr>
        <p:txBody>
          <a:bodyPr wrap="none" anchor="ctr"/>
          <a:lstStyle/>
          <a:p>
            <a:pPr algn="ctr"/>
            <a:r>
              <a:rPr lang="es-ES" sz="1100" b="1" dirty="0"/>
              <a:t>Periodicidad Frecuencia </a:t>
            </a:r>
          </a:p>
          <a:p>
            <a:pPr algn="ctr"/>
            <a:r>
              <a:rPr lang="es-ES" sz="1100" b="1" dirty="0"/>
              <a:t>Evento Pérdida </a:t>
            </a:r>
            <a:endParaRPr lang="en-US" sz="1100" b="1" dirty="0"/>
          </a:p>
        </p:txBody>
      </p:sp>
      <p:sp>
        <p:nvSpPr>
          <p:cNvPr id="7" name="AutoShape 23"/>
          <p:cNvSpPr>
            <a:spLocks noChangeArrowheads="1"/>
          </p:cNvSpPr>
          <p:nvPr/>
        </p:nvSpPr>
        <p:spPr bwMode="auto">
          <a:xfrm>
            <a:off x="1867812" y="3174654"/>
            <a:ext cx="1589088" cy="373062"/>
          </a:xfrm>
          <a:prstGeom prst="roundRect">
            <a:avLst>
              <a:gd name="adj" fmla="val 16667"/>
            </a:avLst>
          </a:prstGeom>
          <a:solidFill>
            <a:srgbClr val="DDDDDD"/>
          </a:solidFill>
          <a:ln w="9525" algn="ctr">
            <a:noFill/>
            <a:round/>
            <a:headEnd/>
            <a:tailEnd/>
          </a:ln>
        </p:spPr>
        <p:txBody>
          <a:bodyPr wrap="none" anchor="ctr"/>
          <a:lstStyle/>
          <a:p>
            <a:pPr algn="ctr"/>
            <a:r>
              <a:rPr lang="es-ES" sz="1100" b="1" dirty="0"/>
              <a:t>Impacto Medio </a:t>
            </a:r>
          </a:p>
        </p:txBody>
      </p:sp>
      <p:sp>
        <p:nvSpPr>
          <p:cNvPr id="8" name="AutoShape 24"/>
          <p:cNvSpPr>
            <a:spLocks noChangeArrowheads="1"/>
          </p:cNvSpPr>
          <p:nvPr/>
        </p:nvSpPr>
        <p:spPr bwMode="auto">
          <a:xfrm>
            <a:off x="1867812" y="3951772"/>
            <a:ext cx="1589088" cy="373063"/>
          </a:xfrm>
          <a:prstGeom prst="roundRect">
            <a:avLst>
              <a:gd name="adj" fmla="val 16667"/>
            </a:avLst>
          </a:prstGeom>
          <a:solidFill>
            <a:srgbClr val="DDDDDD"/>
          </a:solidFill>
          <a:ln w="9525" algn="ctr">
            <a:noFill/>
            <a:round/>
            <a:headEnd/>
            <a:tailEnd/>
          </a:ln>
        </p:spPr>
        <p:txBody>
          <a:bodyPr wrap="none" anchor="ctr"/>
          <a:lstStyle/>
          <a:p>
            <a:pPr algn="ctr"/>
            <a:r>
              <a:rPr lang="es-ES" sz="1100" b="1" dirty="0"/>
              <a:t>Peor Escenario </a:t>
            </a:r>
          </a:p>
        </p:txBody>
      </p:sp>
      <p:sp>
        <p:nvSpPr>
          <p:cNvPr id="9" name="AutoShape 28"/>
          <p:cNvSpPr>
            <a:spLocks noChangeArrowheads="1"/>
          </p:cNvSpPr>
          <p:nvPr/>
        </p:nvSpPr>
        <p:spPr bwMode="auto">
          <a:xfrm>
            <a:off x="1872575" y="4673948"/>
            <a:ext cx="1589087" cy="548640"/>
          </a:xfrm>
          <a:prstGeom prst="roundRect">
            <a:avLst>
              <a:gd name="adj" fmla="val 16667"/>
            </a:avLst>
          </a:prstGeom>
          <a:solidFill>
            <a:srgbClr val="DDDDDD"/>
          </a:solidFill>
          <a:ln w="9525" algn="ctr">
            <a:noFill/>
            <a:round/>
            <a:headEnd/>
            <a:tailEnd/>
          </a:ln>
        </p:spPr>
        <p:txBody>
          <a:bodyPr wrap="none" anchor="ctr"/>
          <a:lstStyle/>
          <a:p>
            <a:pPr algn="ctr"/>
            <a:r>
              <a:rPr lang="es-ES" sz="1100" b="1" dirty="0"/>
              <a:t>Riesgo Reputacional</a:t>
            </a:r>
            <a:endParaRPr lang="en-US" sz="1100" b="1" dirty="0"/>
          </a:p>
        </p:txBody>
      </p:sp>
      <p:sp>
        <p:nvSpPr>
          <p:cNvPr id="10" name="Rectangle 29"/>
          <p:cNvSpPr>
            <a:spLocks noChangeArrowheads="1"/>
          </p:cNvSpPr>
          <p:nvPr/>
        </p:nvSpPr>
        <p:spPr bwMode="auto">
          <a:xfrm>
            <a:off x="385087" y="1952463"/>
            <a:ext cx="1406525" cy="914400"/>
          </a:xfrm>
          <a:prstGeom prst="rect">
            <a:avLst/>
          </a:prstGeom>
          <a:solidFill>
            <a:schemeClr val="bg1">
              <a:lumMod val="50000"/>
            </a:schemeClr>
          </a:solidFill>
          <a:ln w="9525" algn="ctr">
            <a:noFill/>
            <a:miter lim="800000"/>
            <a:headEnd/>
            <a:tailEnd/>
          </a:ln>
        </p:spPr>
        <p:txBody>
          <a:bodyPr wrap="none" anchor="ctr"/>
          <a:lstStyle/>
          <a:p>
            <a:pPr algn="ctr"/>
            <a:r>
              <a:rPr lang="es-ES" sz="1200" b="1">
                <a:solidFill>
                  <a:schemeClr val="bg1"/>
                </a:solidFill>
              </a:rPr>
              <a:t>Frecuencia</a:t>
            </a:r>
          </a:p>
          <a:p>
            <a:pPr algn="ctr"/>
            <a:r>
              <a:rPr lang="es-ES" sz="1200">
                <a:solidFill>
                  <a:schemeClr val="bg1"/>
                </a:solidFill>
              </a:rPr>
              <a:t>(</a:t>
            </a:r>
            <a:r>
              <a:rPr lang="es-ES" sz="1200" i="1">
                <a:solidFill>
                  <a:schemeClr val="bg1"/>
                </a:solidFill>
              </a:rPr>
              <a:t>del evento </a:t>
            </a:r>
          </a:p>
          <a:p>
            <a:pPr algn="ctr"/>
            <a:r>
              <a:rPr lang="es-ES" sz="1200" i="1">
                <a:solidFill>
                  <a:schemeClr val="bg1"/>
                </a:solidFill>
              </a:rPr>
              <a:t>de pérdida</a:t>
            </a:r>
            <a:r>
              <a:rPr lang="es-ES" sz="1200">
                <a:solidFill>
                  <a:schemeClr val="bg1"/>
                </a:solidFill>
              </a:rPr>
              <a:t>)</a:t>
            </a:r>
            <a:endParaRPr lang="en-US" sz="1200">
              <a:solidFill>
                <a:schemeClr val="bg1"/>
              </a:solidFill>
            </a:endParaRPr>
          </a:p>
        </p:txBody>
      </p:sp>
      <p:sp>
        <p:nvSpPr>
          <p:cNvPr id="11" name="Rectangle 30"/>
          <p:cNvSpPr>
            <a:spLocks noChangeArrowheads="1"/>
          </p:cNvSpPr>
          <p:nvPr/>
        </p:nvSpPr>
        <p:spPr bwMode="auto">
          <a:xfrm>
            <a:off x="385087" y="3155578"/>
            <a:ext cx="1406525" cy="1188720"/>
          </a:xfrm>
          <a:prstGeom prst="rect">
            <a:avLst/>
          </a:prstGeom>
          <a:solidFill>
            <a:schemeClr val="bg1">
              <a:lumMod val="50000"/>
            </a:schemeClr>
          </a:solidFill>
          <a:ln w="9525" algn="ctr">
            <a:noFill/>
            <a:miter lim="800000"/>
            <a:headEnd/>
            <a:tailEnd/>
          </a:ln>
        </p:spPr>
        <p:txBody>
          <a:bodyPr wrap="none" anchor="ctr"/>
          <a:lstStyle/>
          <a:p>
            <a:pPr algn="ctr"/>
            <a:r>
              <a:rPr lang="es-ES" sz="1200" b="1" dirty="0">
                <a:solidFill>
                  <a:schemeClr val="bg1"/>
                </a:solidFill>
              </a:rPr>
              <a:t>Impacto</a:t>
            </a:r>
          </a:p>
          <a:p>
            <a:pPr algn="ctr"/>
            <a:r>
              <a:rPr lang="es-ES" sz="1200" b="1" dirty="0">
                <a:solidFill>
                  <a:schemeClr val="bg1"/>
                </a:solidFill>
              </a:rPr>
              <a:t>Financiero</a:t>
            </a:r>
            <a:r>
              <a:rPr lang="es-ES" sz="1200" b="1" baseline="30000" dirty="0">
                <a:solidFill>
                  <a:schemeClr val="bg1"/>
                </a:solidFill>
              </a:rPr>
              <a:t>1</a:t>
            </a:r>
            <a:endParaRPr lang="en-US" sz="1200" b="1" baseline="30000" dirty="0">
              <a:solidFill>
                <a:schemeClr val="bg1"/>
              </a:solidFill>
            </a:endParaRPr>
          </a:p>
        </p:txBody>
      </p:sp>
      <p:sp>
        <p:nvSpPr>
          <p:cNvPr id="12" name="Rectangle 32"/>
          <p:cNvSpPr>
            <a:spLocks noChangeArrowheads="1"/>
          </p:cNvSpPr>
          <p:nvPr/>
        </p:nvSpPr>
        <p:spPr bwMode="auto">
          <a:xfrm>
            <a:off x="385087" y="4673948"/>
            <a:ext cx="1406525" cy="548640"/>
          </a:xfrm>
          <a:prstGeom prst="rect">
            <a:avLst/>
          </a:prstGeom>
          <a:solidFill>
            <a:schemeClr val="bg1">
              <a:lumMod val="50000"/>
            </a:schemeClr>
          </a:solidFill>
          <a:ln w="9525" algn="ctr">
            <a:noFill/>
            <a:miter lim="800000"/>
            <a:headEnd/>
            <a:tailEnd/>
          </a:ln>
        </p:spPr>
        <p:txBody>
          <a:bodyPr wrap="none" anchor="ctr"/>
          <a:lstStyle/>
          <a:p>
            <a:pPr algn="ctr"/>
            <a:r>
              <a:rPr lang="es-ES" sz="1200" b="1">
                <a:solidFill>
                  <a:schemeClr val="bg1"/>
                </a:solidFill>
              </a:rPr>
              <a:t>Impactos</a:t>
            </a:r>
          </a:p>
          <a:p>
            <a:pPr algn="ctr"/>
            <a:r>
              <a:rPr lang="es-ES" sz="1200" b="1">
                <a:solidFill>
                  <a:schemeClr val="bg1"/>
                </a:solidFill>
              </a:rPr>
              <a:t> No Financieros</a:t>
            </a:r>
            <a:endParaRPr lang="en-US" sz="1200" b="1">
              <a:solidFill>
                <a:schemeClr val="bg1"/>
              </a:solidFill>
            </a:endParaRPr>
          </a:p>
        </p:txBody>
      </p:sp>
      <p:sp>
        <p:nvSpPr>
          <p:cNvPr id="13" name="Text Box 35"/>
          <p:cNvSpPr txBox="1">
            <a:spLocks noChangeArrowheads="1"/>
          </p:cNvSpPr>
          <p:nvPr/>
        </p:nvSpPr>
        <p:spPr bwMode="auto">
          <a:xfrm>
            <a:off x="371714" y="5723376"/>
            <a:ext cx="8772286" cy="507831"/>
          </a:xfrm>
          <a:prstGeom prst="rect">
            <a:avLst/>
          </a:prstGeom>
          <a:noFill/>
          <a:ln w="9525" algn="ctr">
            <a:noFill/>
            <a:miter lim="800000"/>
            <a:headEnd/>
            <a:tailEnd/>
          </a:ln>
        </p:spPr>
        <p:txBody>
          <a:bodyPr wrap="square">
            <a:spAutoFit/>
          </a:bodyPr>
          <a:lstStyle/>
          <a:p>
            <a:pPr algn="l"/>
            <a:r>
              <a:rPr lang="es-ES" sz="900" b="0" baseline="30000" dirty="0"/>
              <a:t>(1)</a:t>
            </a:r>
            <a:r>
              <a:rPr lang="es-ES" sz="900" b="0" dirty="0"/>
              <a:t> Se ofrecen dos posibilidades a la hora de valorar el impacto. Por un lado se permite bien la introducción de un importe exacto -en el caso de conocerlo con cierta exactitud o resultar más fácil estimarlo en una cifra concreta- o, en su defecto, se facilitan unos intervalos para aproximarse al impacto. En cualquier caso es preferible facilitar el importe exacto ya que es más preciso.</a:t>
            </a:r>
            <a:endParaRPr lang="en-US" sz="900" b="0" dirty="0"/>
          </a:p>
        </p:txBody>
      </p:sp>
      <p:sp>
        <p:nvSpPr>
          <p:cNvPr id="14" name="Text Box 36"/>
          <p:cNvSpPr txBox="1">
            <a:spLocks noChangeArrowheads="1"/>
          </p:cNvSpPr>
          <p:nvPr/>
        </p:nvSpPr>
        <p:spPr bwMode="auto">
          <a:xfrm>
            <a:off x="5834975" y="1253872"/>
            <a:ext cx="1053494" cy="307777"/>
          </a:xfrm>
          <a:prstGeom prst="rect">
            <a:avLst/>
          </a:prstGeom>
          <a:noFill/>
          <a:ln w="9525" algn="ctr">
            <a:noFill/>
            <a:miter lim="800000"/>
            <a:headEnd/>
            <a:tailEnd/>
          </a:ln>
        </p:spPr>
        <p:txBody>
          <a:bodyPr wrap="none">
            <a:spAutoFit/>
          </a:bodyPr>
          <a:lstStyle/>
          <a:p>
            <a:r>
              <a:rPr lang="es-ES" sz="1400" b="1" dirty="0"/>
              <a:t>Descripción</a:t>
            </a:r>
            <a:endParaRPr lang="en-US" sz="1400" b="1" dirty="0"/>
          </a:p>
        </p:txBody>
      </p:sp>
      <p:sp>
        <p:nvSpPr>
          <p:cNvPr id="15" name="Text Box 38"/>
          <p:cNvSpPr txBox="1">
            <a:spLocks noChangeArrowheads="1"/>
          </p:cNvSpPr>
          <p:nvPr/>
        </p:nvSpPr>
        <p:spPr bwMode="auto">
          <a:xfrm rot="16200000">
            <a:off x="-357828" y="2201949"/>
            <a:ext cx="984180" cy="307777"/>
          </a:xfrm>
          <a:prstGeom prst="rect">
            <a:avLst/>
          </a:prstGeom>
          <a:noFill/>
          <a:ln w="9525" algn="ctr">
            <a:noFill/>
            <a:miter lim="800000"/>
            <a:headEnd/>
            <a:tailEnd/>
          </a:ln>
        </p:spPr>
        <p:txBody>
          <a:bodyPr wrap="none">
            <a:spAutoFit/>
          </a:bodyPr>
          <a:lstStyle/>
          <a:p>
            <a:r>
              <a:rPr lang="es-ES" sz="1400" b="1" dirty="0">
                <a:solidFill>
                  <a:schemeClr val="bg1">
                    <a:lumMod val="50000"/>
                  </a:schemeClr>
                </a:solidFill>
              </a:rPr>
              <a:t>Frecuencia</a:t>
            </a:r>
            <a:endParaRPr lang="en-US" sz="1400" b="1" dirty="0">
              <a:solidFill>
                <a:schemeClr val="bg1">
                  <a:lumMod val="50000"/>
                </a:schemeClr>
              </a:solidFill>
            </a:endParaRPr>
          </a:p>
        </p:txBody>
      </p:sp>
      <p:sp>
        <p:nvSpPr>
          <p:cNvPr id="16" name="Text Box 39"/>
          <p:cNvSpPr txBox="1">
            <a:spLocks noChangeArrowheads="1"/>
          </p:cNvSpPr>
          <p:nvPr/>
        </p:nvSpPr>
        <p:spPr bwMode="auto">
          <a:xfrm rot="16200000">
            <a:off x="-263407" y="4025240"/>
            <a:ext cx="814387" cy="304800"/>
          </a:xfrm>
          <a:prstGeom prst="rect">
            <a:avLst/>
          </a:prstGeom>
          <a:noFill/>
          <a:ln w="9525" algn="ctr">
            <a:noFill/>
            <a:miter lim="800000"/>
            <a:headEnd/>
            <a:tailEnd/>
          </a:ln>
        </p:spPr>
        <p:txBody>
          <a:bodyPr wrap="none">
            <a:spAutoFit/>
          </a:bodyPr>
          <a:lstStyle/>
          <a:p>
            <a:r>
              <a:rPr lang="es-ES" sz="1400" b="1" dirty="0">
                <a:solidFill>
                  <a:schemeClr val="bg1">
                    <a:lumMod val="50000"/>
                  </a:schemeClr>
                </a:solidFill>
              </a:rPr>
              <a:t>Impacto</a:t>
            </a:r>
            <a:endParaRPr lang="en-US" sz="1400" b="1" dirty="0">
              <a:solidFill>
                <a:schemeClr val="bg1">
                  <a:lumMod val="50000"/>
                </a:schemeClr>
              </a:solidFill>
            </a:endParaRPr>
          </a:p>
        </p:txBody>
      </p:sp>
      <p:sp>
        <p:nvSpPr>
          <p:cNvPr id="17" name="AutoShape 41"/>
          <p:cNvSpPr>
            <a:spLocks/>
          </p:cNvSpPr>
          <p:nvPr/>
        </p:nvSpPr>
        <p:spPr bwMode="auto">
          <a:xfrm>
            <a:off x="269200" y="1873920"/>
            <a:ext cx="46831" cy="979016"/>
          </a:xfrm>
          <a:prstGeom prst="leftBracket">
            <a:avLst>
              <a:gd name="adj" fmla="val 58679"/>
            </a:avLst>
          </a:prstGeom>
          <a:noFill/>
          <a:ln w="9525">
            <a:solidFill>
              <a:schemeClr val="bg1">
                <a:lumMod val="50000"/>
              </a:schemeClr>
            </a:solidFill>
            <a:round/>
            <a:headEnd/>
            <a:tailEnd/>
          </a:ln>
        </p:spPr>
        <p:txBody>
          <a:bodyPr wrap="none" anchor="ctr"/>
          <a:lstStyle/>
          <a:p>
            <a:pPr algn="ctr"/>
            <a:endParaRPr lang="en-US"/>
          </a:p>
        </p:txBody>
      </p:sp>
      <p:sp>
        <p:nvSpPr>
          <p:cNvPr id="18" name="AutoShape 42"/>
          <p:cNvSpPr>
            <a:spLocks/>
          </p:cNvSpPr>
          <p:nvPr/>
        </p:nvSpPr>
        <p:spPr bwMode="auto">
          <a:xfrm>
            <a:off x="280312" y="3126080"/>
            <a:ext cx="71438" cy="2103120"/>
          </a:xfrm>
          <a:prstGeom prst="leftBracket">
            <a:avLst>
              <a:gd name="adj" fmla="val 89198"/>
            </a:avLst>
          </a:prstGeom>
          <a:noFill/>
          <a:ln w="9525">
            <a:solidFill>
              <a:schemeClr val="bg1">
                <a:lumMod val="50000"/>
              </a:schemeClr>
            </a:solidFill>
            <a:round/>
            <a:headEnd/>
            <a:tailEnd/>
          </a:ln>
        </p:spPr>
        <p:txBody>
          <a:bodyPr wrap="none" anchor="ctr"/>
          <a:lstStyle/>
          <a:p>
            <a:pPr algn="ctr"/>
            <a:endParaRPr lang="en-US"/>
          </a:p>
        </p:txBody>
      </p:sp>
      <p:sp>
        <p:nvSpPr>
          <p:cNvPr id="19" name="Text Box 45"/>
          <p:cNvSpPr txBox="1">
            <a:spLocks noChangeArrowheads="1"/>
          </p:cNvSpPr>
          <p:nvPr/>
        </p:nvSpPr>
        <p:spPr bwMode="auto">
          <a:xfrm>
            <a:off x="3496814" y="1873920"/>
            <a:ext cx="5655232" cy="646331"/>
          </a:xfrm>
          <a:prstGeom prst="rect">
            <a:avLst/>
          </a:prstGeom>
          <a:noFill/>
          <a:ln w="9525" algn="ctr">
            <a:noFill/>
            <a:miter lim="800000"/>
            <a:headEnd/>
            <a:tailEnd/>
          </a:ln>
        </p:spPr>
        <p:txBody>
          <a:bodyPr wrap="square">
            <a:spAutoFit/>
          </a:bodyPr>
          <a:lstStyle/>
          <a:p>
            <a:pPr algn="just"/>
            <a:r>
              <a:rPr lang="es-ES" sz="1200" b="1" dirty="0">
                <a:latin typeface="+mj-lt"/>
              </a:rPr>
              <a:t>Número de ocasiones (a futuro) en que la ocurrencia del evento produciría pérdidas patrimoniales directas</a:t>
            </a:r>
            <a:r>
              <a:rPr lang="es-ES" sz="1200" b="0" dirty="0">
                <a:latin typeface="+mj-lt"/>
              </a:rPr>
              <a:t> para la entidad. Frecuencia neta (con efecto controles).</a:t>
            </a:r>
            <a:endParaRPr lang="en-US" sz="1200" b="0" dirty="0">
              <a:latin typeface="+mj-lt"/>
            </a:endParaRPr>
          </a:p>
          <a:p>
            <a:pPr algn="just"/>
            <a:endParaRPr lang="en-US" sz="1200" b="0" dirty="0">
              <a:latin typeface="+mj-lt"/>
            </a:endParaRPr>
          </a:p>
        </p:txBody>
      </p:sp>
      <p:sp>
        <p:nvSpPr>
          <p:cNvPr id="20" name="Text Box 47"/>
          <p:cNvSpPr txBox="1">
            <a:spLocks noChangeArrowheads="1"/>
          </p:cNvSpPr>
          <p:nvPr/>
        </p:nvSpPr>
        <p:spPr bwMode="auto">
          <a:xfrm>
            <a:off x="3496814" y="2413698"/>
            <a:ext cx="5647186" cy="646331"/>
          </a:xfrm>
          <a:prstGeom prst="rect">
            <a:avLst/>
          </a:prstGeom>
          <a:noFill/>
          <a:ln w="9525" algn="ctr">
            <a:noFill/>
            <a:miter lim="800000"/>
            <a:headEnd/>
            <a:tailEnd/>
          </a:ln>
        </p:spPr>
        <p:txBody>
          <a:bodyPr wrap="square">
            <a:spAutoFit/>
          </a:bodyPr>
          <a:lstStyle/>
          <a:p>
            <a:pPr algn="just"/>
            <a:r>
              <a:rPr lang="es-ES" sz="1200" b="1" dirty="0">
                <a:latin typeface="+mj-lt"/>
              </a:rPr>
              <a:t>Periodicidad</a:t>
            </a:r>
            <a:r>
              <a:rPr lang="es-ES" sz="1200" dirty="0">
                <a:latin typeface="+mj-lt"/>
              </a:rPr>
              <a:t> (semanal, mensual, anual, etc.) con la que ocurre </a:t>
            </a:r>
            <a:r>
              <a:rPr lang="es-ES" sz="1200" b="1" dirty="0">
                <a:latin typeface="+mj-lt"/>
              </a:rPr>
              <a:t>el evento que produciría pérdidas patrimoniales directas </a:t>
            </a:r>
            <a:r>
              <a:rPr lang="es-ES" sz="1200" b="0" dirty="0">
                <a:latin typeface="+mj-lt"/>
              </a:rPr>
              <a:t>para la entidad. Periodicidad neta (con efecto controles).</a:t>
            </a:r>
            <a:endParaRPr lang="en-US" sz="1200" b="0" dirty="0">
              <a:latin typeface="+mj-lt"/>
            </a:endParaRPr>
          </a:p>
        </p:txBody>
      </p:sp>
      <p:sp>
        <p:nvSpPr>
          <p:cNvPr id="21" name="Text Box 48"/>
          <p:cNvSpPr txBox="1">
            <a:spLocks noChangeArrowheads="1"/>
          </p:cNvSpPr>
          <p:nvPr/>
        </p:nvSpPr>
        <p:spPr bwMode="auto">
          <a:xfrm>
            <a:off x="3496814" y="3110028"/>
            <a:ext cx="5647186" cy="646331"/>
          </a:xfrm>
          <a:prstGeom prst="rect">
            <a:avLst/>
          </a:prstGeom>
          <a:noFill/>
          <a:ln w="9525" algn="ctr">
            <a:noFill/>
            <a:miter lim="800000"/>
            <a:headEnd/>
            <a:tailEnd/>
          </a:ln>
        </p:spPr>
        <p:txBody>
          <a:bodyPr wrap="square">
            <a:spAutoFit/>
          </a:bodyPr>
          <a:lstStyle/>
          <a:p>
            <a:pPr algn="just"/>
            <a:r>
              <a:rPr lang="es-ES" sz="1200" b="1" dirty="0">
                <a:latin typeface="+mj-lt"/>
              </a:rPr>
              <a:t>Se estima en base a la experiencia histórica</a:t>
            </a:r>
            <a:r>
              <a:rPr lang="es-ES" sz="1200" b="0" dirty="0">
                <a:latin typeface="+mj-lt"/>
              </a:rPr>
              <a:t>, para aquellas </a:t>
            </a:r>
            <a:r>
              <a:rPr lang="es-ES" sz="1200" b="1" dirty="0">
                <a:latin typeface="+mj-lt"/>
              </a:rPr>
              <a:t>pérdidas que ya se hayan producido alguna vez </a:t>
            </a:r>
            <a:r>
              <a:rPr lang="es-ES" sz="1200" b="0" dirty="0">
                <a:latin typeface="+mj-lt"/>
              </a:rPr>
              <a:t>en la Entidad, y se utiliza un </a:t>
            </a:r>
            <a:r>
              <a:rPr lang="es-ES" sz="1200" b="1" dirty="0">
                <a:latin typeface="+mj-lt"/>
              </a:rPr>
              <a:t>criterio razonable para aquéllas que nunca hayan acontecido.</a:t>
            </a:r>
            <a:endParaRPr lang="en-US" sz="1200" b="1" dirty="0">
              <a:latin typeface="+mj-lt"/>
            </a:endParaRPr>
          </a:p>
        </p:txBody>
      </p:sp>
      <p:sp>
        <p:nvSpPr>
          <p:cNvPr id="22" name="Text Box 49"/>
          <p:cNvSpPr txBox="1">
            <a:spLocks noChangeArrowheads="1"/>
          </p:cNvSpPr>
          <p:nvPr/>
        </p:nvSpPr>
        <p:spPr bwMode="auto">
          <a:xfrm>
            <a:off x="3496814" y="3907471"/>
            <a:ext cx="5647186" cy="646331"/>
          </a:xfrm>
          <a:prstGeom prst="rect">
            <a:avLst/>
          </a:prstGeom>
          <a:noFill/>
          <a:ln w="9525" algn="ctr">
            <a:noFill/>
            <a:miter lim="800000"/>
            <a:headEnd/>
            <a:tailEnd/>
          </a:ln>
        </p:spPr>
        <p:txBody>
          <a:bodyPr wrap="square">
            <a:spAutoFit/>
          </a:bodyPr>
          <a:lstStyle/>
          <a:p>
            <a:pPr algn="just"/>
            <a:r>
              <a:rPr lang="es-ES" sz="1200" b="1" dirty="0">
                <a:latin typeface="+mj-lt"/>
              </a:rPr>
              <a:t>Escenario más pesimista </a:t>
            </a:r>
            <a:r>
              <a:rPr lang="es-ES" sz="1200" b="0" dirty="0">
                <a:latin typeface="+mj-lt"/>
              </a:rPr>
              <a:t>que pueda producirse dentro de una </a:t>
            </a:r>
            <a:r>
              <a:rPr lang="es-ES" sz="1200" b="1" dirty="0">
                <a:latin typeface="+mj-lt"/>
              </a:rPr>
              <a:t>situación “razonable”, </a:t>
            </a:r>
            <a:r>
              <a:rPr lang="es-ES" sz="1200" b="0" dirty="0">
                <a:latin typeface="+mj-lt"/>
              </a:rPr>
              <a:t>esto es, </a:t>
            </a:r>
            <a:r>
              <a:rPr lang="es-ES" sz="1200" dirty="0">
                <a:latin typeface="+mj-lt"/>
              </a:rPr>
              <a:t>sin llegar a considerar sucesos catastróficos </a:t>
            </a:r>
            <a:r>
              <a:rPr lang="es-ES" sz="1200" b="0" dirty="0">
                <a:latin typeface="+mj-lt"/>
              </a:rPr>
              <a:t>(terremotos, inundaciones, incendio, etc.)</a:t>
            </a:r>
            <a:endParaRPr lang="en-US" sz="1200" b="0" dirty="0">
              <a:latin typeface="+mj-lt"/>
            </a:endParaRPr>
          </a:p>
        </p:txBody>
      </p:sp>
      <p:sp>
        <p:nvSpPr>
          <p:cNvPr id="23" name="Text Box 52"/>
          <p:cNvSpPr txBox="1">
            <a:spLocks noChangeArrowheads="1"/>
          </p:cNvSpPr>
          <p:nvPr/>
        </p:nvSpPr>
        <p:spPr bwMode="auto">
          <a:xfrm>
            <a:off x="3496814" y="4717436"/>
            <a:ext cx="5647186" cy="461665"/>
          </a:xfrm>
          <a:prstGeom prst="rect">
            <a:avLst/>
          </a:prstGeom>
          <a:noFill/>
          <a:ln w="9525" algn="ctr">
            <a:noFill/>
            <a:miter lim="800000"/>
            <a:headEnd/>
            <a:tailEnd/>
          </a:ln>
        </p:spPr>
        <p:txBody>
          <a:bodyPr wrap="square">
            <a:spAutoFit/>
          </a:bodyPr>
          <a:lstStyle/>
          <a:p>
            <a:pPr algn="just"/>
            <a:r>
              <a:rPr lang="es-ES" sz="1200" b="0" dirty="0">
                <a:latin typeface="+mj-lt"/>
              </a:rPr>
              <a:t>La valoración de este riesgo se realiza a través de una </a:t>
            </a:r>
            <a:r>
              <a:rPr lang="es-ES" sz="1200" b="1" dirty="0">
                <a:latin typeface="+mj-lt"/>
              </a:rPr>
              <a:t>escala cualitativa</a:t>
            </a:r>
            <a:r>
              <a:rPr lang="es-ES" sz="1200" dirty="0">
                <a:latin typeface="+mj-lt"/>
              </a:rPr>
              <a:t> con definiciones objetivas que facilitan su comparación.</a:t>
            </a:r>
            <a:endParaRPr lang="en-US" sz="1200" dirty="0">
              <a:latin typeface="+mj-lt"/>
            </a:endParaRPr>
          </a:p>
        </p:txBody>
      </p:sp>
      <p:sp>
        <p:nvSpPr>
          <p:cNvPr id="24" name="Line 30"/>
          <p:cNvSpPr>
            <a:spLocks noChangeShapeType="1"/>
          </p:cNvSpPr>
          <p:nvPr/>
        </p:nvSpPr>
        <p:spPr bwMode="auto">
          <a:xfrm flipV="1">
            <a:off x="3473494" y="1537759"/>
            <a:ext cx="5268858" cy="3175"/>
          </a:xfrm>
          <a:prstGeom prst="line">
            <a:avLst/>
          </a:prstGeom>
          <a:noFill/>
          <a:ln w="9525">
            <a:solidFill>
              <a:srgbClr val="C0C0C0"/>
            </a:solidFill>
            <a:round/>
            <a:headEnd/>
            <a:tailEnd/>
          </a:ln>
        </p:spPr>
        <p:txBody>
          <a:bodyPr wrap="none" anchor="ctr"/>
          <a:lstStyle/>
          <a:p>
            <a:endParaRPr lang="en-US"/>
          </a:p>
        </p:txBody>
      </p:sp>
      <p:sp>
        <p:nvSpPr>
          <p:cNvPr id="2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2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2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2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2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3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3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3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
        <p:nvSpPr>
          <p:cNvPr id="33" name="Rectangle 32"/>
          <p:cNvSpPr>
            <a:spLocks noChangeArrowheads="1"/>
          </p:cNvSpPr>
          <p:nvPr/>
        </p:nvSpPr>
        <p:spPr bwMode="auto">
          <a:xfrm>
            <a:off x="102344" y="683656"/>
            <a:ext cx="8574112"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a:t>
            </a:r>
          </a:p>
        </p:txBody>
      </p:sp>
    </p:spTree>
    <p:extLst>
      <p:ext uri="{BB962C8B-B14F-4D97-AF65-F5344CB8AC3E}">
        <p14:creationId xmlns:p14="http://schemas.microsoft.com/office/powerpoint/2010/main" val="4170948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Rectangle 4"/>
          <p:cNvSpPr>
            <a:spLocks noChangeArrowheads="1"/>
          </p:cNvSpPr>
          <p:nvPr/>
        </p:nvSpPr>
        <p:spPr bwMode="auto">
          <a:xfrm>
            <a:off x="102344" y="683656"/>
            <a:ext cx="8574112"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 - Riesgos</a:t>
            </a:r>
          </a:p>
        </p:txBody>
      </p:sp>
      <p:sp>
        <p:nvSpPr>
          <p:cNvPr id="6" name="AutoShape 40">
            <a:hlinkClick r:id="" action="ppaction://noaction"/>
          </p:cNvPr>
          <p:cNvSpPr>
            <a:spLocks noChangeArrowheads="1"/>
          </p:cNvSpPr>
          <p:nvPr/>
        </p:nvSpPr>
        <p:spPr bwMode="auto">
          <a:xfrm>
            <a:off x="69854" y="1052736"/>
            <a:ext cx="9030604" cy="288925"/>
          </a:xfrm>
          <a:prstGeom prst="roundRect">
            <a:avLst>
              <a:gd name="adj" fmla="val 16667"/>
            </a:avLst>
          </a:prstGeom>
          <a:solidFill>
            <a:schemeClr val="bg1">
              <a:lumMod val="50000"/>
            </a:schemeClr>
          </a:solidFill>
          <a:ln w="9525" algn="ctr">
            <a:solidFill>
              <a:srgbClr val="FFFFFF"/>
            </a:solidFill>
            <a:round/>
            <a:headEnd/>
            <a:tailEnd/>
          </a:ln>
        </p:spPr>
        <p:txBody>
          <a:bodyPr anchor="ctr"/>
          <a:lstStyle/>
          <a:p>
            <a:pPr eaLnBrk="1" hangingPunct="1"/>
            <a:r>
              <a:rPr lang="es-ES" sz="1400" b="1" i="1" dirty="0">
                <a:solidFill>
                  <a:schemeClr val="bg1"/>
                </a:solidFill>
              </a:rPr>
              <a:t>Frecuencia (del evento de pérdida) – Principales Consideraciones</a:t>
            </a:r>
            <a:endParaRPr lang="en-US" sz="1400" b="1" i="1" dirty="0">
              <a:solidFill>
                <a:schemeClr val="bg1"/>
              </a:solidFill>
            </a:endParaRPr>
          </a:p>
        </p:txBody>
      </p:sp>
      <p:sp>
        <p:nvSpPr>
          <p:cNvPr id="7" name="AutoShape 41"/>
          <p:cNvSpPr>
            <a:spLocks noChangeArrowheads="1"/>
          </p:cNvSpPr>
          <p:nvPr/>
        </p:nvSpPr>
        <p:spPr bwMode="auto">
          <a:xfrm>
            <a:off x="96882" y="1575206"/>
            <a:ext cx="1920240" cy="1296987"/>
          </a:xfrm>
          <a:prstGeom prst="roundRect">
            <a:avLst>
              <a:gd name="adj" fmla="val 16667"/>
            </a:avLst>
          </a:prstGeom>
          <a:solidFill>
            <a:srgbClr val="DDDDDD"/>
          </a:solidFill>
          <a:ln w="9525" algn="ctr">
            <a:noFill/>
            <a:round/>
            <a:headEnd/>
            <a:tailEnd/>
          </a:ln>
        </p:spPr>
        <p:txBody>
          <a:bodyPr wrap="none" anchor="ctr"/>
          <a:lstStyle/>
          <a:p>
            <a:pPr algn="ctr"/>
            <a:r>
              <a:rPr lang="es-ES" sz="1300" b="1" dirty="0"/>
              <a:t>Frecuencia </a:t>
            </a:r>
            <a:r>
              <a:rPr lang="es-ES" sz="1300" b="1" i="1" dirty="0"/>
              <a:t>Neta</a:t>
            </a:r>
            <a:r>
              <a:rPr lang="es-ES" sz="1300" b="1" dirty="0"/>
              <a:t> </a:t>
            </a:r>
            <a:endParaRPr lang="en-US" sz="1300" b="1" i="1" dirty="0"/>
          </a:p>
        </p:txBody>
      </p:sp>
      <p:sp>
        <p:nvSpPr>
          <p:cNvPr id="8" name="Text Box 42"/>
          <p:cNvSpPr txBox="1">
            <a:spLocks noChangeArrowheads="1"/>
          </p:cNvSpPr>
          <p:nvPr/>
        </p:nvSpPr>
        <p:spPr bwMode="auto">
          <a:xfrm>
            <a:off x="2135603" y="1531202"/>
            <a:ext cx="6855729" cy="1384995"/>
          </a:xfrm>
          <a:prstGeom prst="rect">
            <a:avLst/>
          </a:prstGeom>
          <a:noFill/>
          <a:ln w="9525" algn="ctr">
            <a:noFill/>
            <a:miter lim="800000"/>
            <a:headEnd/>
            <a:tailEnd/>
          </a:ln>
        </p:spPr>
        <p:txBody>
          <a:bodyPr wrap="square">
            <a:spAutoFit/>
          </a:bodyPr>
          <a:lstStyle/>
          <a:p>
            <a:pPr algn="just"/>
            <a:r>
              <a:rPr lang="es-ES" sz="1200" b="0" dirty="0"/>
              <a:t>La frecuencia debe </a:t>
            </a:r>
            <a:r>
              <a:rPr lang="es-ES" sz="1200" b="1" dirty="0"/>
              <a:t>ser estimada “neta” del efecto de los controles y otros factores de reducción del número de eventos de pérdida</a:t>
            </a:r>
            <a:r>
              <a:rPr lang="es-ES" sz="1200" b="0" dirty="0"/>
              <a:t>. Esto es, se estima la frecuencia considerando la existencia de unos determinados controles.</a:t>
            </a:r>
          </a:p>
          <a:p>
            <a:pPr algn="just"/>
            <a:endParaRPr lang="es-ES" sz="1200" b="0" dirty="0"/>
          </a:p>
          <a:p>
            <a:pPr algn="just"/>
            <a:r>
              <a:rPr lang="es-ES" sz="1200" b="0" dirty="0"/>
              <a:t>Ejemplo: el número de eventos que pueden producirse por un error en la introducción de datos podrá ser reducido por la existencia de chequeos que sean realizados de forma recurrente a posteriori. La frecuencia en este caso deberá considerar la existencia de estos controles.</a:t>
            </a:r>
          </a:p>
        </p:txBody>
      </p:sp>
      <p:sp>
        <p:nvSpPr>
          <p:cNvPr id="9" name="AutoShape 51"/>
          <p:cNvSpPr>
            <a:spLocks noChangeArrowheads="1"/>
          </p:cNvSpPr>
          <p:nvPr/>
        </p:nvSpPr>
        <p:spPr bwMode="auto">
          <a:xfrm>
            <a:off x="96882" y="3133032"/>
            <a:ext cx="1920240" cy="1296988"/>
          </a:xfrm>
          <a:prstGeom prst="roundRect">
            <a:avLst>
              <a:gd name="adj" fmla="val 16667"/>
            </a:avLst>
          </a:prstGeom>
          <a:solidFill>
            <a:srgbClr val="DDDDDD"/>
          </a:solidFill>
          <a:ln w="9525" algn="ctr">
            <a:noFill/>
            <a:round/>
            <a:headEnd/>
            <a:tailEnd/>
          </a:ln>
        </p:spPr>
        <p:txBody>
          <a:bodyPr wrap="none" anchor="ctr"/>
          <a:lstStyle/>
          <a:p>
            <a:pPr algn="ctr"/>
            <a:r>
              <a:rPr lang="es-ES" sz="1300" b="1" dirty="0"/>
              <a:t>Frecuencia a Futuro</a:t>
            </a:r>
            <a:endParaRPr lang="en-US" sz="1300" b="1" dirty="0"/>
          </a:p>
        </p:txBody>
      </p:sp>
      <p:sp>
        <p:nvSpPr>
          <p:cNvPr id="10" name="Text Box 52"/>
          <p:cNvSpPr txBox="1">
            <a:spLocks noChangeArrowheads="1"/>
          </p:cNvSpPr>
          <p:nvPr/>
        </p:nvSpPr>
        <p:spPr bwMode="auto">
          <a:xfrm>
            <a:off x="2123728" y="3181362"/>
            <a:ext cx="6855729" cy="1200329"/>
          </a:xfrm>
          <a:prstGeom prst="rect">
            <a:avLst/>
          </a:prstGeom>
          <a:noFill/>
          <a:ln w="9525" algn="ctr">
            <a:noFill/>
            <a:miter lim="800000"/>
            <a:headEnd/>
            <a:tailEnd/>
          </a:ln>
        </p:spPr>
        <p:txBody>
          <a:bodyPr wrap="square">
            <a:spAutoFit/>
          </a:bodyPr>
          <a:lstStyle/>
          <a:p>
            <a:pPr algn="just"/>
            <a:r>
              <a:rPr lang="es-ES" sz="1200" b="0" dirty="0"/>
              <a:t>Se estima la </a:t>
            </a:r>
            <a:r>
              <a:rPr lang="es-ES" sz="1200" b="1" dirty="0"/>
              <a:t>frecuencia de ocurrencia del evento a futuro (no las ocurrencias en el pasado). </a:t>
            </a:r>
          </a:p>
          <a:p>
            <a:pPr algn="just"/>
            <a:r>
              <a:rPr lang="es-ES" sz="1200" b="0" dirty="0"/>
              <a:t>Por tanto, la estimación, además de basarse en la experiencia histórica de la Entidad, </a:t>
            </a:r>
            <a:r>
              <a:rPr lang="es-ES" sz="1200" dirty="0"/>
              <a:t>i</a:t>
            </a:r>
            <a:r>
              <a:rPr lang="es-ES" sz="1200" b="1" dirty="0"/>
              <a:t>ncorpora la visión del responsable sobre la probabilidad de ocurrencia futura </a:t>
            </a:r>
            <a:r>
              <a:rPr lang="es-ES" sz="1200" b="0" dirty="0"/>
              <a:t>considerando todos los factores que estime necesarios .</a:t>
            </a:r>
          </a:p>
          <a:p>
            <a:pPr algn="just"/>
            <a:endParaRPr lang="es-ES" sz="1200" b="0" dirty="0"/>
          </a:p>
          <a:p>
            <a:pPr algn="just"/>
            <a:r>
              <a:rPr lang="es-ES" sz="1200" b="0" dirty="0"/>
              <a:t>Ejemplo: cambios efectuados en nuevos procesos, mejoras en sistemas, mejoras en controles, etc.</a:t>
            </a:r>
          </a:p>
        </p:txBody>
      </p:sp>
      <p:sp>
        <p:nvSpPr>
          <p:cNvPr id="11" name="AutoShape 55"/>
          <p:cNvSpPr>
            <a:spLocks noChangeArrowheads="1"/>
          </p:cNvSpPr>
          <p:nvPr/>
        </p:nvSpPr>
        <p:spPr bwMode="auto">
          <a:xfrm>
            <a:off x="96882" y="4713014"/>
            <a:ext cx="1920240" cy="1296987"/>
          </a:xfrm>
          <a:prstGeom prst="roundRect">
            <a:avLst>
              <a:gd name="adj" fmla="val 16667"/>
            </a:avLst>
          </a:prstGeom>
          <a:solidFill>
            <a:srgbClr val="DDDDDD"/>
          </a:solidFill>
          <a:ln w="9525" algn="ctr">
            <a:noFill/>
            <a:round/>
            <a:headEnd/>
            <a:tailEnd/>
          </a:ln>
        </p:spPr>
        <p:txBody>
          <a:bodyPr anchor="ctr"/>
          <a:lstStyle/>
          <a:p>
            <a:pPr algn="ctr"/>
            <a:r>
              <a:rPr lang="es-ES" sz="1300" b="1" dirty="0"/>
              <a:t>Concurrencia de varios factores</a:t>
            </a:r>
            <a:endParaRPr lang="en-US" sz="1300" b="1" dirty="0"/>
          </a:p>
        </p:txBody>
      </p:sp>
      <p:sp>
        <p:nvSpPr>
          <p:cNvPr id="12" name="Text Box 56"/>
          <p:cNvSpPr txBox="1">
            <a:spLocks noChangeArrowheads="1"/>
          </p:cNvSpPr>
          <p:nvPr/>
        </p:nvSpPr>
        <p:spPr bwMode="auto">
          <a:xfrm>
            <a:off x="2123728" y="4576677"/>
            <a:ext cx="6855729" cy="1569660"/>
          </a:xfrm>
          <a:prstGeom prst="rect">
            <a:avLst/>
          </a:prstGeom>
          <a:noFill/>
          <a:ln w="9525" algn="ctr">
            <a:noFill/>
            <a:miter lim="800000"/>
            <a:headEnd/>
            <a:tailEnd/>
          </a:ln>
        </p:spPr>
        <p:txBody>
          <a:bodyPr wrap="square">
            <a:spAutoFit/>
          </a:bodyPr>
          <a:lstStyle/>
          <a:p>
            <a:pPr algn="just"/>
            <a:r>
              <a:rPr lang="es-ES" sz="1200" b="0" dirty="0"/>
              <a:t>En algunos casos en que un evento </a:t>
            </a:r>
            <a:r>
              <a:rPr lang="es-ES" sz="1200" dirty="0"/>
              <a:t>sea la suma de ocurrencia de un conjunto de factores</a:t>
            </a:r>
            <a:r>
              <a:rPr lang="es-ES" sz="1200" b="0" dirty="0"/>
              <a:t>, la </a:t>
            </a:r>
            <a:r>
              <a:rPr lang="es-ES" sz="1200" dirty="0"/>
              <a:t>estimación de la </a:t>
            </a:r>
            <a:r>
              <a:rPr lang="es-ES" sz="1200" b="1" dirty="0"/>
              <a:t>frecuencia podrá verse facilitada a partir de la descomposición de los mismos </a:t>
            </a:r>
            <a:r>
              <a:rPr lang="es-ES" sz="1200" b="0" dirty="0"/>
              <a:t>y la valoración de </a:t>
            </a:r>
            <a:r>
              <a:rPr lang="es-ES" sz="1200" b="1" dirty="0"/>
              <a:t>probabilidad de ocurrencia total. </a:t>
            </a:r>
          </a:p>
          <a:p>
            <a:pPr algn="just"/>
            <a:endParaRPr lang="es-ES" sz="1200" b="0" dirty="0"/>
          </a:p>
          <a:p>
            <a:pPr algn="just"/>
            <a:r>
              <a:rPr lang="es-ES" sz="1200" b="0" dirty="0"/>
              <a:t>Ejemplo: en el caso de caídas de sistemas o fallos en las aplicaciones que generan primas  por debajo de lo originalmente establecido, se debería considerar la coincidencia de dos factores: el que suceda una caída de sistemas y/o errores humanos en el ingreso manual de datos, que produzca un cálculo de </a:t>
            </a:r>
            <a:r>
              <a:rPr lang="es-ES" sz="1200" dirty="0"/>
              <a:t>primas</a:t>
            </a:r>
            <a:r>
              <a:rPr lang="es-ES" sz="1200" b="0" dirty="0"/>
              <a:t> por debajo de lo establecido. </a:t>
            </a:r>
          </a:p>
        </p:txBody>
      </p:sp>
      <p:sp>
        <p:nvSpPr>
          <p:cNvPr id="13"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4"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5"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16"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17"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18"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19"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20"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482392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Line 26"/>
          <p:cNvSpPr>
            <a:spLocks noChangeShapeType="1"/>
          </p:cNvSpPr>
          <p:nvPr/>
        </p:nvSpPr>
        <p:spPr bwMode="auto">
          <a:xfrm>
            <a:off x="8883501" y="4868382"/>
            <a:ext cx="0" cy="771525"/>
          </a:xfrm>
          <a:prstGeom prst="line">
            <a:avLst/>
          </a:prstGeom>
          <a:noFill/>
          <a:ln w="28575" cap="sq">
            <a:noFill/>
            <a:round/>
            <a:headEnd/>
            <a:tailEnd/>
          </a:ln>
        </p:spPr>
        <p:txBody>
          <a:bodyPr lIns="95782" tIns="47891" rIns="95782" bIns="47891"/>
          <a:lstStyle/>
          <a:p>
            <a:endParaRPr lang="es-ES"/>
          </a:p>
        </p:txBody>
      </p:sp>
      <p:sp>
        <p:nvSpPr>
          <p:cNvPr id="6" name="Line 29"/>
          <p:cNvSpPr>
            <a:spLocks noChangeShapeType="1"/>
          </p:cNvSpPr>
          <p:nvPr/>
        </p:nvSpPr>
        <p:spPr bwMode="auto">
          <a:xfrm>
            <a:off x="4921101" y="5254144"/>
            <a:ext cx="3962400" cy="0"/>
          </a:xfrm>
          <a:prstGeom prst="line">
            <a:avLst/>
          </a:prstGeom>
          <a:noFill/>
          <a:ln w="28575" cap="sq">
            <a:noFill/>
            <a:round/>
            <a:headEnd/>
            <a:tailEnd/>
          </a:ln>
        </p:spPr>
        <p:txBody>
          <a:bodyPr lIns="95782" tIns="47891" rIns="95782" bIns="47891"/>
          <a:lstStyle/>
          <a:p>
            <a:endParaRPr lang="es-ES"/>
          </a:p>
        </p:txBody>
      </p:sp>
      <p:sp>
        <p:nvSpPr>
          <p:cNvPr id="7" name="Rectangle 4"/>
          <p:cNvSpPr>
            <a:spLocks noChangeArrowheads="1"/>
          </p:cNvSpPr>
          <p:nvPr/>
        </p:nvSpPr>
        <p:spPr bwMode="auto">
          <a:xfrm>
            <a:off x="96871" y="683569"/>
            <a:ext cx="8525805"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 - Riesgos</a:t>
            </a:r>
          </a:p>
        </p:txBody>
      </p:sp>
      <p:sp>
        <p:nvSpPr>
          <p:cNvPr id="8" name="AutoShape 40">
            <a:hlinkClick r:id="" action="ppaction://noaction"/>
          </p:cNvPr>
          <p:cNvSpPr>
            <a:spLocks noChangeArrowheads="1"/>
          </p:cNvSpPr>
          <p:nvPr/>
        </p:nvSpPr>
        <p:spPr bwMode="auto">
          <a:xfrm>
            <a:off x="69854" y="1052736"/>
            <a:ext cx="9030604" cy="288925"/>
          </a:xfrm>
          <a:prstGeom prst="roundRect">
            <a:avLst>
              <a:gd name="adj" fmla="val 16667"/>
            </a:avLst>
          </a:prstGeom>
          <a:solidFill>
            <a:schemeClr val="bg1">
              <a:lumMod val="50000"/>
            </a:schemeClr>
          </a:solidFill>
          <a:ln w="9525" algn="ctr">
            <a:solidFill>
              <a:srgbClr val="FFFFFF"/>
            </a:solidFill>
            <a:round/>
            <a:headEnd/>
            <a:tailEnd/>
          </a:ln>
        </p:spPr>
        <p:txBody>
          <a:bodyPr anchor="ctr"/>
          <a:lstStyle/>
          <a:p>
            <a:r>
              <a:rPr lang="es-ES" sz="1400" b="1" i="1" dirty="0">
                <a:solidFill>
                  <a:schemeClr val="bg1"/>
                </a:solidFill>
              </a:rPr>
              <a:t>Impacto Financiero  – Principales Consideraciones</a:t>
            </a:r>
            <a:endParaRPr lang="en-US" sz="1400" b="1" i="1" dirty="0">
              <a:solidFill>
                <a:schemeClr val="bg1"/>
              </a:solidFill>
            </a:endParaRPr>
          </a:p>
        </p:txBody>
      </p:sp>
      <p:sp>
        <p:nvSpPr>
          <p:cNvPr id="9" name="AutoShape 7"/>
          <p:cNvSpPr>
            <a:spLocks noChangeArrowheads="1"/>
          </p:cNvSpPr>
          <p:nvPr/>
        </p:nvSpPr>
        <p:spPr bwMode="auto">
          <a:xfrm>
            <a:off x="86262" y="1585350"/>
            <a:ext cx="1920240" cy="1296987"/>
          </a:xfrm>
          <a:prstGeom prst="roundRect">
            <a:avLst>
              <a:gd name="adj" fmla="val 16667"/>
            </a:avLst>
          </a:prstGeom>
          <a:solidFill>
            <a:srgbClr val="DDDDDD"/>
          </a:solidFill>
          <a:ln w="9525" algn="ctr">
            <a:noFill/>
            <a:round/>
            <a:headEnd/>
            <a:tailEnd/>
          </a:ln>
        </p:spPr>
        <p:txBody>
          <a:bodyPr wrap="none" anchor="ctr"/>
          <a:lstStyle/>
          <a:p>
            <a:pPr algn="ctr"/>
            <a:r>
              <a:rPr lang="es-ES" sz="1300" b="1"/>
              <a:t>Impacto </a:t>
            </a:r>
            <a:r>
              <a:rPr lang="es-ES" sz="1300" b="1" i="1"/>
              <a:t>Medio</a:t>
            </a:r>
            <a:endParaRPr lang="en-US" sz="1300" b="1" i="1"/>
          </a:p>
        </p:txBody>
      </p:sp>
      <p:sp>
        <p:nvSpPr>
          <p:cNvPr id="10" name="Text Box 8"/>
          <p:cNvSpPr txBox="1">
            <a:spLocks noChangeArrowheads="1"/>
          </p:cNvSpPr>
          <p:nvPr/>
        </p:nvSpPr>
        <p:spPr bwMode="auto">
          <a:xfrm>
            <a:off x="2033882" y="1602716"/>
            <a:ext cx="6898707" cy="1277273"/>
          </a:xfrm>
          <a:prstGeom prst="rect">
            <a:avLst/>
          </a:prstGeom>
          <a:noFill/>
          <a:ln w="9525" algn="ctr">
            <a:noFill/>
            <a:miter lim="800000"/>
            <a:headEnd/>
            <a:tailEnd/>
          </a:ln>
        </p:spPr>
        <p:txBody>
          <a:bodyPr wrap="square">
            <a:spAutoFit/>
          </a:bodyPr>
          <a:lstStyle/>
          <a:p>
            <a:pPr algn="just"/>
            <a:r>
              <a:rPr lang="es-ES" sz="1200" b="0" dirty="0"/>
              <a:t>Se estima </a:t>
            </a:r>
            <a:r>
              <a:rPr lang="es-ES" sz="1200" b="1" dirty="0"/>
              <a:t>el impacto medio que la ocurrencia de dicho evento de pérdida puede originar en un futuro próximo</a:t>
            </a:r>
            <a:r>
              <a:rPr lang="es-ES" sz="1200" b="0" dirty="0"/>
              <a:t>, en base a la </a:t>
            </a:r>
            <a:r>
              <a:rPr lang="es-ES" sz="1200" b="1" dirty="0"/>
              <a:t>experiencia histórica</a:t>
            </a:r>
            <a:r>
              <a:rPr lang="es-ES" sz="1200" b="0" dirty="0"/>
              <a:t>, para aquellas pérdidas que ya se hayan producido alguna vez en la Entidad, y se utiliza un </a:t>
            </a:r>
            <a:r>
              <a:rPr lang="es-ES" sz="1200" b="1" dirty="0"/>
              <a:t>criterio razonable </a:t>
            </a:r>
            <a:r>
              <a:rPr lang="es-ES" sz="1200" b="0" dirty="0"/>
              <a:t>para aquéllas que nunca hayan acontecido.</a:t>
            </a:r>
          </a:p>
          <a:p>
            <a:pPr algn="just"/>
            <a:endParaRPr lang="es-ES" sz="500" b="0" dirty="0"/>
          </a:p>
          <a:p>
            <a:pPr algn="just"/>
            <a:r>
              <a:rPr lang="es-ES" sz="1200" b="0" dirty="0"/>
              <a:t>Estimar un valor “medio” implica que </a:t>
            </a:r>
            <a:r>
              <a:rPr lang="es-ES" sz="1200" dirty="0"/>
              <a:t>si para un determinado riesgo existe un evento de pérdida con una frecuencia y un impacto y otro evento de pérdida </a:t>
            </a:r>
            <a:r>
              <a:rPr lang="es-ES" sz="1200" b="0" dirty="0"/>
              <a:t>con </a:t>
            </a:r>
            <a:r>
              <a:rPr lang="es-ES" sz="1200" dirty="0"/>
              <a:t>frecuencia e impacto diferentes</a:t>
            </a:r>
            <a:r>
              <a:rPr lang="es-ES" sz="1200" b="0" dirty="0"/>
              <a:t>, el importe a introducir en el cuestionario </a:t>
            </a:r>
            <a:r>
              <a:rPr lang="es-ES" sz="1200" dirty="0"/>
              <a:t>son la frecuencia y el impacto medios.</a:t>
            </a:r>
          </a:p>
        </p:txBody>
      </p:sp>
      <p:sp>
        <p:nvSpPr>
          <p:cNvPr id="11" name="AutoShape 9"/>
          <p:cNvSpPr>
            <a:spLocks noChangeArrowheads="1"/>
          </p:cNvSpPr>
          <p:nvPr/>
        </p:nvSpPr>
        <p:spPr bwMode="auto">
          <a:xfrm>
            <a:off x="86262" y="3219873"/>
            <a:ext cx="1920240" cy="1296988"/>
          </a:xfrm>
          <a:prstGeom prst="roundRect">
            <a:avLst>
              <a:gd name="adj" fmla="val 16667"/>
            </a:avLst>
          </a:prstGeom>
          <a:solidFill>
            <a:srgbClr val="DDDDDD"/>
          </a:solidFill>
          <a:ln w="9525" algn="ctr">
            <a:noFill/>
            <a:round/>
            <a:headEnd/>
            <a:tailEnd/>
          </a:ln>
        </p:spPr>
        <p:txBody>
          <a:bodyPr wrap="none" anchor="ctr"/>
          <a:lstStyle/>
          <a:p>
            <a:pPr algn="ctr"/>
            <a:r>
              <a:rPr lang="es-ES" sz="1300" b="1"/>
              <a:t>Costes Extras</a:t>
            </a:r>
            <a:endParaRPr lang="en-US" sz="1300" b="1"/>
          </a:p>
        </p:txBody>
      </p:sp>
      <p:sp>
        <p:nvSpPr>
          <p:cNvPr id="12" name="Text Box 10"/>
          <p:cNvSpPr txBox="1">
            <a:spLocks noChangeArrowheads="1"/>
          </p:cNvSpPr>
          <p:nvPr/>
        </p:nvSpPr>
        <p:spPr bwMode="auto">
          <a:xfrm>
            <a:off x="2033882" y="3263836"/>
            <a:ext cx="6826699" cy="1200329"/>
          </a:xfrm>
          <a:prstGeom prst="rect">
            <a:avLst/>
          </a:prstGeom>
          <a:noFill/>
          <a:ln w="9525" algn="ctr">
            <a:noFill/>
            <a:miter lim="800000"/>
            <a:headEnd/>
            <a:tailEnd/>
          </a:ln>
        </p:spPr>
        <p:txBody>
          <a:bodyPr wrap="square">
            <a:spAutoFit/>
          </a:bodyPr>
          <a:lstStyle/>
          <a:p>
            <a:pPr algn="just"/>
            <a:r>
              <a:rPr lang="es-ES" sz="1200" b="0" dirty="0"/>
              <a:t>La </a:t>
            </a:r>
            <a:r>
              <a:rPr lang="es-ES" sz="1200" dirty="0"/>
              <a:t>cuantificación del impacto debe recoger </a:t>
            </a:r>
            <a:r>
              <a:rPr lang="es-ES" sz="1200" b="1" dirty="0"/>
              <a:t>todos los costos extras derivados del evento operacional de pérdida en que no se hubiera incurrido de no haberse producido</a:t>
            </a:r>
            <a:r>
              <a:rPr lang="es-ES" sz="1200" b="0" dirty="0"/>
              <a:t>: (1) </a:t>
            </a:r>
            <a:r>
              <a:rPr lang="es-ES" sz="1200" b="1" dirty="0"/>
              <a:t>indemnizaciones</a:t>
            </a:r>
            <a:r>
              <a:rPr lang="es-ES" sz="1200" b="0" dirty="0"/>
              <a:t> (ej. Indemnizaciones por retraso en la liquidación de los siniestros</a:t>
            </a:r>
            <a:r>
              <a:rPr lang="es-ES" sz="1200" dirty="0"/>
              <a:t>)</a:t>
            </a:r>
            <a:r>
              <a:rPr lang="es-ES" sz="1200" b="0" dirty="0"/>
              <a:t>; (2</a:t>
            </a:r>
            <a:r>
              <a:rPr lang="es-ES" sz="1200" dirty="0"/>
              <a:t>)</a:t>
            </a:r>
            <a:r>
              <a:rPr lang="es-ES" sz="1200" b="1" dirty="0"/>
              <a:t> pérdida de recursos  </a:t>
            </a:r>
            <a:r>
              <a:rPr lang="es-ES" sz="1200" b="0" dirty="0"/>
              <a:t>(ej. errores en la documentación legal que impiden la reclamación a terceros); (</a:t>
            </a:r>
            <a:r>
              <a:rPr lang="es-ES" sz="1200" dirty="0"/>
              <a:t>3</a:t>
            </a:r>
            <a:r>
              <a:rPr lang="es-ES" sz="1200" b="0" dirty="0"/>
              <a:t>) </a:t>
            </a:r>
            <a:r>
              <a:rPr lang="es-ES" sz="1200" b="1" dirty="0"/>
              <a:t>acciones regulatorias </a:t>
            </a:r>
            <a:r>
              <a:rPr lang="es-ES" sz="1200" b="0" dirty="0"/>
              <a:t>(</a:t>
            </a:r>
            <a:r>
              <a:rPr lang="es-ES" sz="1200" b="0" dirty="0" err="1"/>
              <a:t>ej</a:t>
            </a:r>
            <a:r>
              <a:rPr lang="es-ES" sz="1200" b="0" dirty="0"/>
              <a:t>: multas.); (</a:t>
            </a:r>
            <a:r>
              <a:rPr lang="es-ES" sz="1200" dirty="0"/>
              <a:t>4</a:t>
            </a:r>
            <a:r>
              <a:rPr lang="es-ES" sz="1200" b="0" dirty="0"/>
              <a:t>) </a:t>
            </a:r>
            <a:r>
              <a:rPr lang="es-ES" sz="1200" b="1" dirty="0"/>
              <a:t>pérdidas o daños en los activos</a:t>
            </a:r>
            <a:r>
              <a:rPr lang="es-ES" sz="1200" b="0" dirty="0"/>
              <a:t>: (</a:t>
            </a:r>
            <a:r>
              <a:rPr lang="es-ES" sz="1200" b="0" dirty="0" err="1"/>
              <a:t>ej</a:t>
            </a:r>
            <a:r>
              <a:rPr lang="es-ES" sz="1200" b="0" dirty="0"/>
              <a:t>: negligencias, accidentes, fuegos, etc.); (5) </a:t>
            </a:r>
            <a:r>
              <a:rPr lang="es-ES" sz="1200" b="1" dirty="0"/>
              <a:t>contingencias legales </a:t>
            </a:r>
            <a:r>
              <a:rPr lang="es-ES" sz="1200" b="0" dirty="0"/>
              <a:t>(ej. gastos de abogados)</a:t>
            </a:r>
          </a:p>
        </p:txBody>
      </p:sp>
      <p:sp>
        <p:nvSpPr>
          <p:cNvPr id="13" name="AutoShape 11"/>
          <p:cNvSpPr>
            <a:spLocks noChangeArrowheads="1"/>
          </p:cNvSpPr>
          <p:nvPr/>
        </p:nvSpPr>
        <p:spPr bwMode="auto">
          <a:xfrm>
            <a:off x="86262" y="4720290"/>
            <a:ext cx="1920240" cy="1296987"/>
          </a:xfrm>
          <a:prstGeom prst="roundRect">
            <a:avLst>
              <a:gd name="adj" fmla="val 16667"/>
            </a:avLst>
          </a:prstGeom>
          <a:solidFill>
            <a:srgbClr val="DDDDDD"/>
          </a:solidFill>
          <a:ln w="9525" algn="ctr">
            <a:noFill/>
            <a:round/>
            <a:headEnd/>
            <a:tailEnd/>
          </a:ln>
        </p:spPr>
        <p:txBody>
          <a:bodyPr anchor="ctr"/>
          <a:lstStyle/>
          <a:p>
            <a:pPr algn="ctr"/>
            <a:r>
              <a:rPr lang="es-ES" sz="1300" b="1"/>
              <a:t>Impactos </a:t>
            </a:r>
            <a:r>
              <a:rPr lang="es-ES" sz="1300" b="1" i="1"/>
              <a:t>Netos</a:t>
            </a:r>
            <a:endParaRPr lang="en-US" sz="1300" b="1" i="1"/>
          </a:p>
        </p:txBody>
      </p:sp>
      <p:sp>
        <p:nvSpPr>
          <p:cNvPr id="14" name="Text Box 12"/>
          <p:cNvSpPr txBox="1">
            <a:spLocks noChangeArrowheads="1"/>
          </p:cNvSpPr>
          <p:nvPr/>
        </p:nvSpPr>
        <p:spPr bwMode="auto">
          <a:xfrm>
            <a:off x="2033882" y="4884035"/>
            <a:ext cx="7034677" cy="938719"/>
          </a:xfrm>
          <a:prstGeom prst="rect">
            <a:avLst/>
          </a:prstGeom>
          <a:noFill/>
          <a:ln w="9525" algn="ctr">
            <a:noFill/>
            <a:miter lim="800000"/>
            <a:headEnd/>
            <a:tailEnd/>
          </a:ln>
        </p:spPr>
        <p:txBody>
          <a:bodyPr wrap="square">
            <a:spAutoFit/>
          </a:bodyPr>
          <a:lstStyle/>
          <a:p>
            <a:pPr algn="just"/>
            <a:r>
              <a:rPr lang="es-ES" sz="1200" b="0" dirty="0"/>
              <a:t>Los impactos </a:t>
            </a:r>
            <a:r>
              <a:rPr lang="es-ES" sz="1200" b="1" dirty="0"/>
              <a:t>deberán ser estimados “netos” del efecto de los controles</a:t>
            </a:r>
            <a:r>
              <a:rPr lang="es-ES" sz="1200" dirty="0"/>
              <a:t> y </a:t>
            </a:r>
            <a:r>
              <a:rPr lang="es-ES" sz="1200" b="1" dirty="0"/>
              <a:t>otros factores de reducción de pérdidas . </a:t>
            </a:r>
          </a:p>
          <a:p>
            <a:pPr algn="just"/>
            <a:endParaRPr lang="es-ES" sz="700" b="0" dirty="0"/>
          </a:p>
          <a:p>
            <a:pPr algn="just"/>
            <a:r>
              <a:rPr lang="es-ES" sz="1200" b="0" dirty="0"/>
              <a:t>Ejemplo: en el caso de que existan controles a partir de un determinado importe, niveles de autorización, etc. el impacto medio del evento deberá considerar la existencia de estos controles.</a:t>
            </a:r>
          </a:p>
        </p:txBody>
      </p:sp>
      <p:sp>
        <p:nvSpPr>
          <p:cNvPr id="1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1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1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2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2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2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334628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Rectangle 4"/>
          <p:cNvSpPr>
            <a:spLocks noChangeArrowheads="1"/>
          </p:cNvSpPr>
          <p:nvPr/>
        </p:nvSpPr>
        <p:spPr bwMode="auto">
          <a:xfrm>
            <a:off x="102344" y="683869"/>
            <a:ext cx="8574112"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 - Riesgos</a:t>
            </a:r>
          </a:p>
        </p:txBody>
      </p:sp>
      <p:sp>
        <p:nvSpPr>
          <p:cNvPr id="6" name="AutoShape 8"/>
          <p:cNvSpPr>
            <a:spLocks noChangeArrowheads="1"/>
          </p:cNvSpPr>
          <p:nvPr/>
        </p:nvSpPr>
        <p:spPr bwMode="auto">
          <a:xfrm>
            <a:off x="683890" y="1844824"/>
            <a:ext cx="7633845" cy="301625"/>
          </a:xfrm>
          <a:prstGeom prst="roundRect">
            <a:avLst>
              <a:gd name="adj" fmla="val 16667"/>
            </a:avLst>
          </a:prstGeom>
          <a:noFill/>
          <a:ln w="9525" algn="ctr">
            <a:noFill/>
            <a:round/>
            <a:headEnd/>
            <a:tailEnd/>
          </a:ln>
        </p:spPr>
        <p:txBody>
          <a:bodyPr wrap="none" anchor="ctr"/>
          <a:lstStyle/>
          <a:p>
            <a:pPr algn="just"/>
            <a:r>
              <a:rPr lang="es-ES" sz="1200" b="1" dirty="0"/>
              <a:t>Interna y limitada. No es percibida por el cliente.</a:t>
            </a:r>
          </a:p>
        </p:txBody>
      </p:sp>
      <p:sp>
        <p:nvSpPr>
          <p:cNvPr id="7" name="AutoShape 9"/>
          <p:cNvSpPr>
            <a:spLocks noChangeArrowheads="1"/>
          </p:cNvSpPr>
          <p:nvPr/>
        </p:nvSpPr>
        <p:spPr bwMode="auto">
          <a:xfrm>
            <a:off x="323528" y="1846943"/>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dirty="0">
                <a:solidFill>
                  <a:schemeClr val="bg1"/>
                </a:solidFill>
              </a:rPr>
              <a:t>1</a:t>
            </a:r>
            <a:endParaRPr lang="en-US" sz="1100" b="1" dirty="0">
              <a:solidFill>
                <a:schemeClr val="bg1"/>
              </a:solidFill>
            </a:endParaRPr>
          </a:p>
        </p:txBody>
      </p:sp>
      <p:sp>
        <p:nvSpPr>
          <p:cNvPr id="8" name="AutoShape 10"/>
          <p:cNvSpPr>
            <a:spLocks noChangeArrowheads="1"/>
          </p:cNvSpPr>
          <p:nvPr/>
        </p:nvSpPr>
        <p:spPr bwMode="auto">
          <a:xfrm>
            <a:off x="683888" y="2348880"/>
            <a:ext cx="7633845" cy="449879"/>
          </a:xfrm>
          <a:prstGeom prst="roundRect">
            <a:avLst>
              <a:gd name="adj" fmla="val 16667"/>
            </a:avLst>
          </a:prstGeom>
          <a:noFill/>
          <a:ln w="9525" algn="ctr">
            <a:noFill/>
            <a:round/>
            <a:headEnd/>
            <a:tailEnd/>
          </a:ln>
        </p:spPr>
        <p:txBody>
          <a:bodyPr wrap="none" anchor="ctr"/>
          <a:lstStyle/>
          <a:p>
            <a:pPr algn="just"/>
            <a:r>
              <a:rPr lang="es-ES" sz="1200" b="1" dirty="0"/>
              <a:t>Interna pero no limitada</a:t>
            </a:r>
            <a:r>
              <a:rPr lang="es-ES" sz="1200" dirty="0"/>
              <a:t>. Defecto ligero. No provoca molestias al Cliente, pero algunos clientes pueden sentir </a:t>
            </a:r>
          </a:p>
          <a:p>
            <a:pPr algn="just"/>
            <a:r>
              <a:rPr lang="es-ES" sz="1200" dirty="0"/>
              <a:t>la necesidad de pedir aclaraciones a Rimac.</a:t>
            </a:r>
          </a:p>
        </p:txBody>
      </p:sp>
      <p:sp>
        <p:nvSpPr>
          <p:cNvPr id="9" name="AutoShape 11"/>
          <p:cNvSpPr>
            <a:spLocks noChangeArrowheads="1"/>
          </p:cNvSpPr>
          <p:nvPr/>
        </p:nvSpPr>
        <p:spPr bwMode="auto">
          <a:xfrm>
            <a:off x="323528" y="2346639"/>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a:solidFill>
                  <a:schemeClr val="bg1"/>
                </a:solidFill>
              </a:rPr>
              <a:t>2</a:t>
            </a:r>
            <a:endParaRPr lang="en-US" sz="1100" b="1">
              <a:solidFill>
                <a:schemeClr val="bg1"/>
              </a:solidFill>
            </a:endParaRPr>
          </a:p>
        </p:txBody>
      </p:sp>
      <p:sp>
        <p:nvSpPr>
          <p:cNvPr id="10" name="AutoShape 12"/>
          <p:cNvSpPr>
            <a:spLocks noChangeArrowheads="1"/>
          </p:cNvSpPr>
          <p:nvPr/>
        </p:nvSpPr>
        <p:spPr bwMode="auto">
          <a:xfrm>
            <a:off x="683890" y="2875871"/>
            <a:ext cx="7633845" cy="395288"/>
          </a:xfrm>
          <a:prstGeom prst="roundRect">
            <a:avLst>
              <a:gd name="adj" fmla="val 16667"/>
            </a:avLst>
          </a:prstGeom>
          <a:noFill/>
          <a:ln w="9525" algn="ctr">
            <a:noFill/>
            <a:round/>
            <a:headEnd/>
            <a:tailEnd/>
          </a:ln>
        </p:spPr>
        <p:txBody>
          <a:bodyPr anchor="ctr"/>
          <a:lstStyle/>
          <a:p>
            <a:pPr algn="just"/>
            <a:r>
              <a:rPr lang="es-ES" sz="1200" b="1" dirty="0"/>
              <a:t>Interna y externa, impacto medio. </a:t>
            </a:r>
            <a:r>
              <a:rPr lang="es-ES" sz="1200" dirty="0"/>
              <a:t>El Cliente se ha de contactar necesariamente con </a:t>
            </a:r>
            <a:r>
              <a:rPr lang="es-ES" sz="1200" dirty="0" err="1"/>
              <a:t>Rimac</a:t>
            </a:r>
            <a:r>
              <a:rPr lang="es-ES" sz="1200" dirty="0"/>
              <a:t> o desplazarse a la oficina para solucionar el problema. La resolución es fácil y no genera complicaciones.</a:t>
            </a:r>
            <a:endParaRPr lang="en-US" sz="1200" dirty="0"/>
          </a:p>
        </p:txBody>
      </p:sp>
      <p:sp>
        <p:nvSpPr>
          <p:cNvPr id="11" name="AutoShape 13"/>
          <p:cNvSpPr>
            <a:spLocks noChangeArrowheads="1"/>
          </p:cNvSpPr>
          <p:nvPr/>
        </p:nvSpPr>
        <p:spPr bwMode="auto">
          <a:xfrm>
            <a:off x="323528" y="2892848"/>
            <a:ext cx="360363" cy="301625"/>
          </a:xfrm>
          <a:prstGeom prst="roundRect">
            <a:avLst>
              <a:gd name="adj" fmla="val 16667"/>
            </a:avLst>
          </a:prstGeom>
          <a:solidFill>
            <a:srgbClr val="DB0613"/>
          </a:solidFill>
          <a:ln w="9525" algn="ctr">
            <a:noFill/>
            <a:round/>
            <a:headEnd/>
            <a:tailEnd/>
          </a:ln>
        </p:spPr>
        <p:txBody>
          <a:bodyPr anchor="ctr"/>
          <a:lstStyle/>
          <a:p>
            <a:pPr algn="ctr"/>
            <a:r>
              <a:rPr lang="es-ES" sz="1100" b="1">
                <a:solidFill>
                  <a:schemeClr val="bg1"/>
                </a:solidFill>
              </a:rPr>
              <a:t>3</a:t>
            </a:r>
            <a:endParaRPr lang="en-US" sz="1100" b="1">
              <a:solidFill>
                <a:schemeClr val="bg1"/>
              </a:solidFill>
            </a:endParaRPr>
          </a:p>
        </p:txBody>
      </p:sp>
      <p:sp>
        <p:nvSpPr>
          <p:cNvPr id="12" name="AutoShape 14"/>
          <p:cNvSpPr>
            <a:spLocks noChangeArrowheads="1"/>
          </p:cNvSpPr>
          <p:nvPr/>
        </p:nvSpPr>
        <p:spPr bwMode="auto">
          <a:xfrm>
            <a:off x="683890" y="3421287"/>
            <a:ext cx="7633845" cy="396875"/>
          </a:xfrm>
          <a:prstGeom prst="roundRect">
            <a:avLst>
              <a:gd name="adj" fmla="val 16667"/>
            </a:avLst>
          </a:prstGeom>
          <a:noFill/>
          <a:ln w="9525" algn="ctr">
            <a:noFill/>
            <a:round/>
            <a:headEnd/>
            <a:tailEnd/>
          </a:ln>
        </p:spPr>
        <p:txBody>
          <a:bodyPr anchor="ctr"/>
          <a:lstStyle/>
          <a:p>
            <a:pPr algn="just"/>
            <a:r>
              <a:rPr lang="es-ES" sz="1200" b="1" dirty="0"/>
              <a:t>Interna y externa, impacto alto</a:t>
            </a:r>
            <a:r>
              <a:rPr lang="es-ES" sz="1200" dirty="0"/>
              <a:t>. Importantes molestias al Cliente. Además de las gestiones con Rimac, habrá que hacer gestiones con terceros implicados en el error, justificar el error, hacer cartas, etc. Incluye costos económicos directos.</a:t>
            </a:r>
          </a:p>
        </p:txBody>
      </p:sp>
      <p:sp>
        <p:nvSpPr>
          <p:cNvPr id="13" name="AutoShape 15"/>
          <p:cNvSpPr>
            <a:spLocks noChangeArrowheads="1"/>
          </p:cNvSpPr>
          <p:nvPr/>
        </p:nvSpPr>
        <p:spPr bwMode="auto">
          <a:xfrm>
            <a:off x="323528" y="3494499"/>
            <a:ext cx="360363" cy="301752"/>
          </a:xfrm>
          <a:prstGeom prst="roundRect">
            <a:avLst>
              <a:gd name="adj" fmla="val 16667"/>
            </a:avLst>
          </a:prstGeom>
          <a:solidFill>
            <a:srgbClr val="DB0613"/>
          </a:solidFill>
          <a:ln w="9525" algn="ctr">
            <a:noFill/>
            <a:round/>
            <a:headEnd/>
            <a:tailEnd/>
          </a:ln>
        </p:spPr>
        <p:txBody>
          <a:bodyPr anchor="ctr"/>
          <a:lstStyle/>
          <a:p>
            <a:pPr algn="ctr"/>
            <a:r>
              <a:rPr lang="es-ES" sz="1100" b="1">
                <a:solidFill>
                  <a:schemeClr val="bg1"/>
                </a:solidFill>
              </a:rPr>
              <a:t>4</a:t>
            </a:r>
            <a:endParaRPr lang="en-US" sz="1100" b="1">
              <a:solidFill>
                <a:schemeClr val="bg1"/>
              </a:solidFill>
            </a:endParaRPr>
          </a:p>
        </p:txBody>
      </p:sp>
      <p:sp>
        <p:nvSpPr>
          <p:cNvPr id="14" name="AutoShape 15"/>
          <p:cNvSpPr>
            <a:spLocks noChangeArrowheads="1"/>
          </p:cNvSpPr>
          <p:nvPr/>
        </p:nvSpPr>
        <p:spPr bwMode="auto">
          <a:xfrm>
            <a:off x="330070" y="4054032"/>
            <a:ext cx="360363" cy="301625"/>
          </a:xfrm>
          <a:prstGeom prst="roundRect">
            <a:avLst>
              <a:gd name="adj" fmla="val 16667"/>
            </a:avLst>
          </a:prstGeom>
          <a:solidFill>
            <a:srgbClr val="DB0613"/>
          </a:solidFill>
          <a:ln w="9525" algn="ctr">
            <a:noFill/>
            <a:round/>
            <a:headEnd/>
            <a:tailEnd/>
          </a:ln>
        </p:spPr>
        <p:txBody>
          <a:bodyPr anchor="ctr"/>
          <a:lstStyle/>
          <a:p>
            <a:pPr algn="ctr"/>
            <a:r>
              <a:rPr lang="es-ES" sz="1100" b="1" dirty="0">
                <a:solidFill>
                  <a:schemeClr val="bg1"/>
                </a:solidFill>
              </a:rPr>
              <a:t>5</a:t>
            </a:r>
            <a:endParaRPr lang="en-US" sz="1100" b="1" dirty="0">
              <a:solidFill>
                <a:schemeClr val="bg1"/>
              </a:solidFill>
            </a:endParaRPr>
          </a:p>
        </p:txBody>
      </p:sp>
      <p:sp>
        <p:nvSpPr>
          <p:cNvPr id="15" name="AutoShape 14"/>
          <p:cNvSpPr>
            <a:spLocks noChangeArrowheads="1"/>
          </p:cNvSpPr>
          <p:nvPr/>
        </p:nvSpPr>
        <p:spPr bwMode="auto">
          <a:xfrm>
            <a:off x="682571" y="3968808"/>
            <a:ext cx="7633845" cy="472072"/>
          </a:xfrm>
          <a:prstGeom prst="roundRect">
            <a:avLst>
              <a:gd name="adj" fmla="val 16667"/>
            </a:avLst>
          </a:prstGeom>
          <a:noFill/>
          <a:ln w="9525" algn="ctr">
            <a:noFill/>
            <a:round/>
            <a:headEnd/>
            <a:tailEnd/>
          </a:ln>
        </p:spPr>
        <p:txBody>
          <a:bodyPr anchor="ctr"/>
          <a:lstStyle/>
          <a:p>
            <a:pPr algn="just"/>
            <a:r>
              <a:rPr lang="es-ES" sz="1200" b="1" dirty="0"/>
              <a:t>Impacto negativo prolongado</a:t>
            </a:r>
            <a:r>
              <a:rPr lang="es-ES" sz="1200" dirty="0"/>
              <a:t>. Igual que el caso anterior, pero con la pérdida inmediata del Cliente y la posibilidad de imputar responsabilidades legales a </a:t>
            </a:r>
            <a:r>
              <a:rPr lang="es-ES" sz="1200" dirty="0" err="1"/>
              <a:t>Rimac</a:t>
            </a:r>
            <a:r>
              <a:rPr lang="es-ES" sz="1200" dirty="0"/>
              <a:t>.</a:t>
            </a:r>
          </a:p>
        </p:txBody>
      </p:sp>
      <p:sp>
        <p:nvSpPr>
          <p:cNvPr id="16" name="AutoShape 40">
            <a:hlinkClick r:id="" action="ppaction://noaction"/>
          </p:cNvPr>
          <p:cNvSpPr>
            <a:spLocks noChangeArrowheads="1"/>
          </p:cNvSpPr>
          <p:nvPr/>
        </p:nvSpPr>
        <p:spPr bwMode="auto">
          <a:xfrm>
            <a:off x="69854" y="1052736"/>
            <a:ext cx="9030604" cy="288925"/>
          </a:xfrm>
          <a:prstGeom prst="roundRect">
            <a:avLst>
              <a:gd name="adj" fmla="val 16667"/>
            </a:avLst>
          </a:prstGeom>
          <a:solidFill>
            <a:schemeClr val="bg1">
              <a:lumMod val="50000"/>
            </a:schemeClr>
          </a:solidFill>
          <a:ln w="9525" algn="ctr">
            <a:solidFill>
              <a:srgbClr val="FFFFFF"/>
            </a:solidFill>
            <a:round/>
            <a:headEnd/>
            <a:tailEnd/>
          </a:ln>
        </p:spPr>
        <p:txBody>
          <a:bodyPr anchor="ctr"/>
          <a:lstStyle/>
          <a:p>
            <a:r>
              <a:rPr lang="es-ES" sz="1400" b="1" i="1" dirty="0">
                <a:solidFill>
                  <a:schemeClr val="bg1"/>
                </a:solidFill>
              </a:rPr>
              <a:t>Impactos No Financieros – Escalas de valoración impacto en Riesgo Reputacional</a:t>
            </a:r>
            <a:endParaRPr lang="en-US" sz="1400" b="1" i="1" dirty="0">
              <a:solidFill>
                <a:schemeClr val="bg1"/>
              </a:solidFill>
            </a:endParaRPr>
          </a:p>
        </p:txBody>
      </p:sp>
      <p:sp>
        <p:nvSpPr>
          <p:cNvPr id="17"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8"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9"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20"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21"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22"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23"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24"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1442693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17" name="Rectangle 4"/>
          <p:cNvSpPr>
            <a:spLocks noChangeArrowheads="1"/>
          </p:cNvSpPr>
          <p:nvPr/>
        </p:nvSpPr>
        <p:spPr bwMode="auto">
          <a:xfrm>
            <a:off x="107504" y="692696"/>
            <a:ext cx="8536462" cy="494659"/>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 - Controles</a:t>
            </a:r>
          </a:p>
        </p:txBody>
      </p:sp>
      <p:sp>
        <p:nvSpPr>
          <p:cNvPr id="18" name="Line 30"/>
          <p:cNvSpPr>
            <a:spLocks noChangeShapeType="1"/>
          </p:cNvSpPr>
          <p:nvPr/>
        </p:nvSpPr>
        <p:spPr bwMode="auto">
          <a:xfrm flipV="1">
            <a:off x="3473494" y="2017552"/>
            <a:ext cx="5268858" cy="3175"/>
          </a:xfrm>
          <a:prstGeom prst="line">
            <a:avLst/>
          </a:prstGeom>
          <a:noFill/>
          <a:ln w="9525">
            <a:solidFill>
              <a:schemeClr val="bg1">
                <a:lumMod val="50000"/>
              </a:schemeClr>
            </a:solidFill>
            <a:round/>
            <a:headEnd/>
            <a:tailEnd/>
          </a:ln>
        </p:spPr>
        <p:txBody>
          <a:bodyPr wrap="none" anchor="ctr"/>
          <a:lstStyle/>
          <a:p>
            <a:endParaRPr lang="en-US"/>
          </a:p>
        </p:txBody>
      </p:sp>
      <p:sp>
        <p:nvSpPr>
          <p:cNvPr id="19" name="AutoShape 36"/>
          <p:cNvSpPr>
            <a:spLocks noChangeArrowheads="1"/>
          </p:cNvSpPr>
          <p:nvPr/>
        </p:nvSpPr>
        <p:spPr bwMode="auto">
          <a:xfrm>
            <a:off x="1859006" y="2338919"/>
            <a:ext cx="1589088" cy="1160462"/>
          </a:xfrm>
          <a:prstGeom prst="roundRect">
            <a:avLst>
              <a:gd name="adj" fmla="val 16667"/>
            </a:avLst>
          </a:prstGeom>
          <a:solidFill>
            <a:srgbClr val="DDDDDD"/>
          </a:solidFill>
          <a:ln w="9525" algn="ctr">
            <a:noFill/>
            <a:round/>
            <a:headEnd/>
            <a:tailEnd/>
          </a:ln>
        </p:spPr>
        <p:txBody>
          <a:bodyPr wrap="none" anchor="ctr"/>
          <a:lstStyle/>
          <a:p>
            <a:pPr algn="ctr"/>
            <a:r>
              <a:rPr lang="es-ES" sz="1200" b="1" dirty="0"/>
              <a:t>Cobertura</a:t>
            </a:r>
            <a:endParaRPr lang="en-US" sz="1200" b="1" dirty="0"/>
          </a:p>
        </p:txBody>
      </p:sp>
      <p:sp>
        <p:nvSpPr>
          <p:cNvPr id="20" name="AutoShape 38"/>
          <p:cNvSpPr>
            <a:spLocks noChangeArrowheads="1"/>
          </p:cNvSpPr>
          <p:nvPr/>
        </p:nvSpPr>
        <p:spPr bwMode="auto">
          <a:xfrm>
            <a:off x="1859006" y="3615962"/>
            <a:ext cx="1589088" cy="1158875"/>
          </a:xfrm>
          <a:prstGeom prst="roundRect">
            <a:avLst>
              <a:gd name="adj" fmla="val 16667"/>
            </a:avLst>
          </a:prstGeom>
          <a:solidFill>
            <a:srgbClr val="DDDDDD"/>
          </a:solidFill>
          <a:ln w="9525" algn="ctr">
            <a:noFill/>
            <a:round/>
            <a:headEnd/>
            <a:tailEnd/>
          </a:ln>
        </p:spPr>
        <p:txBody>
          <a:bodyPr wrap="none" anchor="ctr"/>
          <a:lstStyle/>
          <a:p>
            <a:pPr algn="ctr"/>
            <a:r>
              <a:rPr lang="es-ES" sz="1200" b="1"/>
              <a:t>Efectividad</a:t>
            </a:r>
            <a:endParaRPr lang="en-US" sz="1200" b="1"/>
          </a:p>
        </p:txBody>
      </p:sp>
      <p:sp>
        <p:nvSpPr>
          <p:cNvPr id="21" name="Rectangle 42"/>
          <p:cNvSpPr>
            <a:spLocks noChangeArrowheads="1"/>
          </p:cNvSpPr>
          <p:nvPr/>
        </p:nvSpPr>
        <p:spPr bwMode="auto">
          <a:xfrm>
            <a:off x="376281" y="2325324"/>
            <a:ext cx="1406525" cy="2449513"/>
          </a:xfrm>
          <a:prstGeom prst="flowChartAlternateProcess">
            <a:avLst/>
          </a:prstGeom>
          <a:solidFill>
            <a:schemeClr val="bg1">
              <a:lumMod val="50000"/>
            </a:schemeClr>
          </a:solidFill>
          <a:ln w="9525" algn="ctr">
            <a:noFill/>
            <a:miter lim="800000"/>
            <a:headEnd/>
            <a:tailEnd/>
          </a:ln>
        </p:spPr>
        <p:txBody>
          <a:bodyPr wrap="none" anchor="ctr"/>
          <a:lstStyle/>
          <a:p>
            <a:pPr algn="ctr"/>
            <a:r>
              <a:rPr lang="es-ES" sz="1200" b="1" dirty="0">
                <a:solidFill>
                  <a:schemeClr val="bg1"/>
                </a:solidFill>
              </a:rPr>
              <a:t>Control/</a:t>
            </a:r>
          </a:p>
          <a:p>
            <a:pPr algn="ctr"/>
            <a:r>
              <a:rPr lang="es-ES" sz="1200" b="1" dirty="0">
                <a:solidFill>
                  <a:schemeClr val="bg1"/>
                </a:solidFill>
              </a:rPr>
              <a:t>Factor Mitigante</a:t>
            </a:r>
            <a:endParaRPr lang="en-US" sz="1200" b="1" baseline="30000" dirty="0">
              <a:solidFill>
                <a:schemeClr val="bg1"/>
              </a:solidFill>
            </a:endParaRPr>
          </a:p>
        </p:txBody>
      </p:sp>
      <p:sp>
        <p:nvSpPr>
          <p:cNvPr id="22" name="Text Box 54"/>
          <p:cNvSpPr txBox="1">
            <a:spLocks noChangeArrowheads="1"/>
          </p:cNvSpPr>
          <p:nvPr/>
        </p:nvSpPr>
        <p:spPr bwMode="auto">
          <a:xfrm>
            <a:off x="3473494" y="2318986"/>
            <a:ext cx="5268858" cy="1015663"/>
          </a:xfrm>
          <a:prstGeom prst="rect">
            <a:avLst/>
          </a:prstGeom>
          <a:noFill/>
          <a:ln w="9525" algn="ctr">
            <a:noFill/>
            <a:miter lim="800000"/>
            <a:headEnd/>
            <a:tailEnd/>
          </a:ln>
        </p:spPr>
        <p:txBody>
          <a:bodyPr wrap="square">
            <a:spAutoFit/>
          </a:bodyPr>
          <a:lstStyle/>
          <a:p>
            <a:pPr algn="just">
              <a:spcAft>
                <a:spcPct val="100000"/>
              </a:spcAft>
            </a:pPr>
            <a:r>
              <a:rPr lang="es-ES" sz="1200" b="0" dirty="0"/>
              <a:t>Se valora la cobertura, entendida como el </a:t>
            </a:r>
            <a:r>
              <a:rPr lang="es-ES" sz="1200" b="1" dirty="0"/>
              <a:t>grado de implantación </a:t>
            </a:r>
            <a:r>
              <a:rPr lang="es-ES" sz="1200" b="0" dirty="0"/>
              <a:t>de dicho control en el seno de la Entidad </a:t>
            </a:r>
            <a:r>
              <a:rPr lang="es-ES" sz="1200" dirty="0"/>
              <a:t>para el c</a:t>
            </a:r>
            <a:r>
              <a:rPr lang="es-ES" sz="1200" b="1" dirty="0"/>
              <a:t>onjunto de las operaciones a las que puede afectar ese riesgo</a:t>
            </a:r>
            <a:r>
              <a:rPr lang="es-ES" sz="1200" b="0" dirty="0"/>
              <a:t>. De esta forma, se permite identificar aquellos controles que siendo relevantes no están implantados en </a:t>
            </a:r>
            <a:r>
              <a:rPr lang="es-ES" sz="1200" b="0" dirty="0" err="1"/>
              <a:t>Rimac</a:t>
            </a:r>
            <a:r>
              <a:rPr lang="es-ES" sz="1200" b="0" dirty="0"/>
              <a:t>, identificándose de este modo posibles acciones de mejora (Planes de Acción).</a:t>
            </a:r>
            <a:endParaRPr lang="en-US" sz="1200" b="0" dirty="0"/>
          </a:p>
        </p:txBody>
      </p:sp>
      <p:sp>
        <p:nvSpPr>
          <p:cNvPr id="23" name="Text Box 56"/>
          <p:cNvSpPr txBox="1">
            <a:spLocks noChangeArrowheads="1"/>
          </p:cNvSpPr>
          <p:nvPr/>
        </p:nvSpPr>
        <p:spPr bwMode="auto">
          <a:xfrm>
            <a:off x="3473494" y="3779901"/>
            <a:ext cx="5268858" cy="830997"/>
          </a:xfrm>
          <a:prstGeom prst="rect">
            <a:avLst/>
          </a:prstGeom>
          <a:noFill/>
          <a:ln w="9525" algn="ctr">
            <a:noFill/>
            <a:miter lim="800000"/>
            <a:headEnd/>
            <a:tailEnd/>
          </a:ln>
        </p:spPr>
        <p:txBody>
          <a:bodyPr wrap="square">
            <a:spAutoFit/>
          </a:bodyPr>
          <a:lstStyle/>
          <a:p>
            <a:pPr algn="just">
              <a:spcAft>
                <a:spcPct val="100000"/>
              </a:spcAft>
            </a:pPr>
            <a:r>
              <a:rPr lang="es-ES" sz="1200" b="0" dirty="0"/>
              <a:t>Se evalúa la efectividad del control, entendida como </a:t>
            </a:r>
            <a:r>
              <a:rPr lang="es-ES" sz="1200" b="1" dirty="0"/>
              <a:t>el “poder mitigante” de dicho control</a:t>
            </a:r>
            <a:r>
              <a:rPr lang="es-ES" sz="1200" b="0" dirty="0"/>
              <a:t>, ya sea para </a:t>
            </a:r>
            <a:r>
              <a:rPr lang="es-ES" sz="1200" b="1" dirty="0"/>
              <a:t>evitar la ocurrencia del riesgo</a:t>
            </a:r>
            <a:r>
              <a:rPr lang="es-ES" sz="1200" b="0" dirty="0"/>
              <a:t>, </a:t>
            </a:r>
            <a:r>
              <a:rPr lang="es-ES" sz="1200" dirty="0"/>
              <a:t>(</a:t>
            </a:r>
            <a:r>
              <a:rPr lang="es-ES" sz="1200" b="0" dirty="0"/>
              <a:t>por su </a:t>
            </a:r>
            <a:r>
              <a:rPr lang="es-ES" sz="1200" dirty="0"/>
              <a:t>rápida detección) </a:t>
            </a:r>
            <a:r>
              <a:rPr lang="es-ES" sz="1200" b="1" dirty="0"/>
              <a:t>o por su efecto limitante del impacto </a:t>
            </a:r>
            <a:r>
              <a:rPr lang="es-ES" sz="1200" b="0" dirty="0"/>
              <a:t>por el mismo (preventivo, detectivo, reactivo).</a:t>
            </a:r>
            <a:endParaRPr lang="en-US" sz="1200" b="0" dirty="0"/>
          </a:p>
        </p:txBody>
      </p:sp>
      <p:sp>
        <p:nvSpPr>
          <p:cNvPr id="24" name="Text Box 36"/>
          <p:cNvSpPr txBox="1">
            <a:spLocks noChangeArrowheads="1"/>
          </p:cNvSpPr>
          <p:nvPr/>
        </p:nvSpPr>
        <p:spPr bwMode="auto">
          <a:xfrm>
            <a:off x="5390714" y="1717446"/>
            <a:ext cx="1053494" cy="307777"/>
          </a:xfrm>
          <a:prstGeom prst="rect">
            <a:avLst/>
          </a:prstGeom>
          <a:noFill/>
          <a:ln w="9525" algn="ctr">
            <a:noFill/>
            <a:miter lim="800000"/>
            <a:headEnd/>
            <a:tailEnd/>
          </a:ln>
        </p:spPr>
        <p:txBody>
          <a:bodyPr wrap="none">
            <a:spAutoFit/>
          </a:bodyPr>
          <a:lstStyle/>
          <a:p>
            <a:r>
              <a:rPr lang="es-ES" sz="1400" b="1" dirty="0"/>
              <a:t>Descripción</a:t>
            </a:r>
            <a:endParaRPr lang="en-US" sz="1400" b="1" dirty="0"/>
          </a:p>
        </p:txBody>
      </p:sp>
      <p:sp>
        <p:nvSpPr>
          <p:cNvPr id="2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2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2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2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2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3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3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3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3667191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41" name="Rectangle 4"/>
          <p:cNvSpPr>
            <a:spLocks noChangeArrowheads="1"/>
          </p:cNvSpPr>
          <p:nvPr/>
        </p:nvSpPr>
        <p:spPr bwMode="auto">
          <a:xfrm>
            <a:off x="107504" y="692696"/>
            <a:ext cx="8536462"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 - Controles</a:t>
            </a:r>
          </a:p>
        </p:txBody>
      </p:sp>
      <p:sp>
        <p:nvSpPr>
          <p:cNvPr id="42" name="AutoShape 4">
            <a:hlinkClick r:id="" action="ppaction://noaction"/>
          </p:cNvPr>
          <p:cNvSpPr>
            <a:spLocks noChangeArrowheads="1"/>
          </p:cNvSpPr>
          <p:nvPr/>
        </p:nvSpPr>
        <p:spPr bwMode="auto">
          <a:xfrm>
            <a:off x="325873" y="1361481"/>
            <a:ext cx="8494600" cy="288925"/>
          </a:xfrm>
          <a:prstGeom prst="roundRect">
            <a:avLst>
              <a:gd name="adj" fmla="val 16667"/>
            </a:avLst>
          </a:prstGeom>
          <a:solidFill>
            <a:schemeClr val="bg1">
              <a:lumMod val="50000"/>
            </a:schemeClr>
          </a:solidFill>
          <a:ln w="9525" algn="ctr">
            <a:solidFill>
              <a:srgbClr val="FFFFFF"/>
            </a:solidFill>
            <a:round/>
            <a:headEnd/>
            <a:tailEnd/>
          </a:ln>
        </p:spPr>
        <p:txBody>
          <a:bodyPr anchor="ctr"/>
          <a:lstStyle/>
          <a:p>
            <a:pPr algn="ctr" eaLnBrk="1" hangingPunct="1"/>
            <a:r>
              <a:rPr lang="es-ES" sz="1400" b="1" i="1" dirty="0">
                <a:solidFill>
                  <a:schemeClr val="bg1"/>
                </a:solidFill>
              </a:rPr>
              <a:t>Escalas de Valoración – Cobertura y Efectividad</a:t>
            </a:r>
            <a:endParaRPr lang="en-US" sz="1400" b="1" i="1" dirty="0">
              <a:solidFill>
                <a:schemeClr val="bg1"/>
              </a:solidFill>
            </a:endParaRPr>
          </a:p>
        </p:txBody>
      </p:sp>
      <p:sp>
        <p:nvSpPr>
          <p:cNvPr id="43" name="AutoShape 5"/>
          <p:cNvSpPr>
            <a:spLocks noChangeArrowheads="1"/>
          </p:cNvSpPr>
          <p:nvPr/>
        </p:nvSpPr>
        <p:spPr bwMode="auto">
          <a:xfrm>
            <a:off x="325872" y="1802806"/>
            <a:ext cx="4123944" cy="350837"/>
          </a:xfrm>
          <a:prstGeom prst="roundRect">
            <a:avLst>
              <a:gd name="adj" fmla="val 16667"/>
            </a:avLst>
          </a:prstGeom>
          <a:solidFill>
            <a:srgbClr val="DDDDDD"/>
          </a:solidFill>
          <a:ln w="9525" algn="ctr">
            <a:noFill/>
            <a:round/>
            <a:headEnd/>
            <a:tailEnd/>
          </a:ln>
        </p:spPr>
        <p:txBody>
          <a:bodyPr wrap="none" anchor="ctr"/>
          <a:lstStyle/>
          <a:p>
            <a:pPr algn="ctr"/>
            <a:r>
              <a:rPr lang="es-ES" sz="1300" b="1" dirty="0"/>
              <a:t>Cobertura</a:t>
            </a:r>
            <a:endParaRPr lang="en-US" sz="1300" b="1" i="1" dirty="0"/>
          </a:p>
        </p:txBody>
      </p:sp>
      <p:sp>
        <p:nvSpPr>
          <p:cNvPr id="44" name="AutoShape 7"/>
          <p:cNvSpPr>
            <a:spLocks noChangeArrowheads="1"/>
          </p:cNvSpPr>
          <p:nvPr/>
        </p:nvSpPr>
        <p:spPr bwMode="auto">
          <a:xfrm>
            <a:off x="316986" y="2428695"/>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a:solidFill>
                  <a:schemeClr val="bg1"/>
                </a:solidFill>
              </a:rPr>
              <a:t>0</a:t>
            </a:r>
            <a:endParaRPr lang="en-US" sz="1100" b="1">
              <a:solidFill>
                <a:schemeClr val="bg1"/>
              </a:solidFill>
            </a:endParaRPr>
          </a:p>
        </p:txBody>
      </p:sp>
      <p:sp>
        <p:nvSpPr>
          <p:cNvPr id="45" name="AutoShape 8"/>
          <p:cNvSpPr>
            <a:spLocks noChangeArrowheads="1"/>
          </p:cNvSpPr>
          <p:nvPr/>
        </p:nvSpPr>
        <p:spPr bwMode="auto">
          <a:xfrm>
            <a:off x="677349" y="2428695"/>
            <a:ext cx="3606620" cy="301625"/>
          </a:xfrm>
          <a:prstGeom prst="roundRect">
            <a:avLst>
              <a:gd name="adj" fmla="val 16667"/>
            </a:avLst>
          </a:prstGeom>
          <a:noFill/>
          <a:ln w="9525" algn="ctr">
            <a:noFill/>
            <a:round/>
            <a:headEnd/>
            <a:tailEnd/>
          </a:ln>
        </p:spPr>
        <p:txBody>
          <a:bodyPr wrap="none" anchor="ctr"/>
          <a:lstStyle/>
          <a:p>
            <a:pPr algn="just"/>
            <a:r>
              <a:rPr lang="es-CL" sz="1200" u="sng" dirty="0"/>
              <a:t>No existe </a:t>
            </a:r>
            <a:r>
              <a:rPr lang="es-CL" sz="1200" b="0" dirty="0"/>
              <a:t>- </a:t>
            </a:r>
            <a:r>
              <a:rPr lang="es-CL" sz="1200" b="1" dirty="0"/>
              <a:t>El control no existe</a:t>
            </a:r>
            <a:r>
              <a:rPr lang="es-CL" sz="1200" dirty="0"/>
              <a:t>,  </a:t>
            </a:r>
            <a:r>
              <a:rPr lang="es-CL" sz="1200" b="0" dirty="0"/>
              <a:t>por lo tanto </a:t>
            </a:r>
            <a:r>
              <a:rPr lang="es-CL" sz="1200" dirty="0"/>
              <a:t>no hay </a:t>
            </a:r>
          </a:p>
          <a:p>
            <a:pPr algn="just"/>
            <a:r>
              <a:rPr lang="es-CL" sz="1200" dirty="0"/>
              <a:t>cobertura.</a:t>
            </a:r>
          </a:p>
        </p:txBody>
      </p:sp>
      <p:sp>
        <p:nvSpPr>
          <p:cNvPr id="46" name="AutoShape 9"/>
          <p:cNvSpPr>
            <a:spLocks noChangeArrowheads="1"/>
          </p:cNvSpPr>
          <p:nvPr/>
        </p:nvSpPr>
        <p:spPr bwMode="auto">
          <a:xfrm>
            <a:off x="316986" y="3127026"/>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dirty="0">
                <a:solidFill>
                  <a:schemeClr val="bg1"/>
                </a:solidFill>
              </a:rPr>
              <a:t>1</a:t>
            </a:r>
            <a:endParaRPr lang="en-US" sz="1100" b="1" dirty="0">
              <a:solidFill>
                <a:schemeClr val="bg1"/>
              </a:solidFill>
            </a:endParaRPr>
          </a:p>
        </p:txBody>
      </p:sp>
      <p:sp>
        <p:nvSpPr>
          <p:cNvPr id="47" name="AutoShape 10"/>
          <p:cNvSpPr>
            <a:spLocks noChangeArrowheads="1"/>
          </p:cNvSpPr>
          <p:nvPr/>
        </p:nvSpPr>
        <p:spPr bwMode="auto">
          <a:xfrm>
            <a:off x="677348" y="3127026"/>
            <a:ext cx="3894652" cy="301625"/>
          </a:xfrm>
          <a:prstGeom prst="roundRect">
            <a:avLst>
              <a:gd name="adj" fmla="val 16667"/>
            </a:avLst>
          </a:prstGeom>
          <a:noFill/>
          <a:ln w="9525" algn="ctr">
            <a:noFill/>
            <a:round/>
            <a:headEnd/>
            <a:tailEnd/>
          </a:ln>
        </p:spPr>
        <p:txBody>
          <a:bodyPr wrap="none" anchor="ctr"/>
          <a:lstStyle/>
          <a:p>
            <a:pPr algn="just"/>
            <a:r>
              <a:rPr lang="es-CL" sz="1200" u="sng" dirty="0"/>
              <a:t>Existe y no se aplica </a:t>
            </a:r>
            <a:r>
              <a:rPr lang="es-CL" sz="1200" b="0" dirty="0"/>
              <a:t>- El </a:t>
            </a:r>
            <a:r>
              <a:rPr lang="es-CL" sz="1200" dirty="0"/>
              <a:t>control existe pero </a:t>
            </a:r>
            <a:r>
              <a:rPr lang="es-CL" sz="1200" b="1" dirty="0"/>
              <a:t>no se</a:t>
            </a:r>
          </a:p>
          <a:p>
            <a:pPr algn="just"/>
            <a:r>
              <a:rPr lang="es-CL" sz="1200" b="1" dirty="0"/>
              <a:t>encuentra implantado.</a:t>
            </a:r>
          </a:p>
        </p:txBody>
      </p:sp>
      <p:sp>
        <p:nvSpPr>
          <p:cNvPr id="48" name="AutoShape 11"/>
          <p:cNvSpPr>
            <a:spLocks noChangeArrowheads="1"/>
          </p:cNvSpPr>
          <p:nvPr/>
        </p:nvSpPr>
        <p:spPr bwMode="auto">
          <a:xfrm>
            <a:off x="316986" y="3914875"/>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a:solidFill>
                  <a:schemeClr val="bg1"/>
                </a:solidFill>
              </a:rPr>
              <a:t>2</a:t>
            </a:r>
            <a:endParaRPr lang="en-US" sz="1100" b="1">
              <a:solidFill>
                <a:schemeClr val="bg1"/>
              </a:solidFill>
            </a:endParaRPr>
          </a:p>
        </p:txBody>
      </p:sp>
      <p:sp>
        <p:nvSpPr>
          <p:cNvPr id="49" name="AutoShape 12"/>
          <p:cNvSpPr>
            <a:spLocks noChangeArrowheads="1"/>
          </p:cNvSpPr>
          <p:nvPr/>
        </p:nvSpPr>
        <p:spPr bwMode="auto">
          <a:xfrm>
            <a:off x="677349" y="3919059"/>
            <a:ext cx="3602736" cy="398108"/>
          </a:xfrm>
          <a:prstGeom prst="roundRect">
            <a:avLst>
              <a:gd name="adj" fmla="val 16667"/>
            </a:avLst>
          </a:prstGeom>
          <a:noFill/>
          <a:ln w="9525" algn="ctr">
            <a:noFill/>
            <a:round/>
            <a:headEnd/>
            <a:tailEnd/>
          </a:ln>
        </p:spPr>
        <p:txBody>
          <a:bodyPr anchor="ctr"/>
          <a:lstStyle/>
          <a:p>
            <a:pPr algn="just"/>
            <a:r>
              <a:rPr lang="es-CL" sz="1200" u="sng" dirty="0"/>
              <a:t>Se aplica ocasionalmente </a:t>
            </a:r>
            <a:r>
              <a:rPr lang="es-CL" sz="1200" b="0" dirty="0"/>
              <a:t>-  El control está definido </a:t>
            </a:r>
            <a:r>
              <a:rPr lang="es-CL" sz="1200" dirty="0"/>
              <a:t>pero </a:t>
            </a:r>
            <a:r>
              <a:rPr lang="es-CL" sz="1200" b="1" dirty="0"/>
              <a:t>no se aplica con la periodicidad establecida </a:t>
            </a:r>
            <a:r>
              <a:rPr lang="es-CL" sz="1200" b="0" dirty="0"/>
              <a:t>y </a:t>
            </a:r>
            <a:r>
              <a:rPr lang="es-CL" sz="1200" b="1" dirty="0"/>
              <a:t>da sólo cobertura a un porcentaje de las operaciones.</a:t>
            </a:r>
          </a:p>
        </p:txBody>
      </p:sp>
      <p:sp>
        <p:nvSpPr>
          <p:cNvPr id="50" name="AutoShape 13"/>
          <p:cNvSpPr>
            <a:spLocks noChangeArrowheads="1"/>
          </p:cNvSpPr>
          <p:nvPr/>
        </p:nvSpPr>
        <p:spPr bwMode="auto">
          <a:xfrm>
            <a:off x="316986" y="4618010"/>
            <a:ext cx="360363" cy="301625"/>
          </a:xfrm>
          <a:prstGeom prst="roundRect">
            <a:avLst>
              <a:gd name="adj" fmla="val 16667"/>
            </a:avLst>
          </a:prstGeom>
          <a:solidFill>
            <a:srgbClr val="DB0613"/>
          </a:solidFill>
          <a:ln w="9525" algn="ctr">
            <a:noFill/>
            <a:round/>
            <a:headEnd/>
            <a:tailEnd/>
          </a:ln>
        </p:spPr>
        <p:txBody>
          <a:bodyPr anchor="ctr"/>
          <a:lstStyle/>
          <a:p>
            <a:pPr algn="ctr"/>
            <a:r>
              <a:rPr lang="es-ES" sz="1100" b="1">
                <a:solidFill>
                  <a:schemeClr val="bg1"/>
                </a:solidFill>
              </a:rPr>
              <a:t>3</a:t>
            </a:r>
            <a:endParaRPr lang="en-US" sz="1100" b="1">
              <a:solidFill>
                <a:schemeClr val="bg1"/>
              </a:solidFill>
            </a:endParaRPr>
          </a:p>
        </p:txBody>
      </p:sp>
      <p:sp>
        <p:nvSpPr>
          <p:cNvPr id="51" name="AutoShape 14"/>
          <p:cNvSpPr>
            <a:spLocks noChangeArrowheads="1"/>
          </p:cNvSpPr>
          <p:nvPr/>
        </p:nvSpPr>
        <p:spPr bwMode="auto">
          <a:xfrm>
            <a:off x="677349" y="4599759"/>
            <a:ext cx="3602736" cy="419769"/>
          </a:xfrm>
          <a:prstGeom prst="roundRect">
            <a:avLst>
              <a:gd name="adj" fmla="val 16667"/>
            </a:avLst>
          </a:prstGeom>
          <a:noFill/>
          <a:ln w="9525" algn="ctr">
            <a:noFill/>
            <a:round/>
            <a:headEnd/>
            <a:tailEnd/>
          </a:ln>
        </p:spPr>
        <p:txBody>
          <a:bodyPr anchor="ctr"/>
          <a:lstStyle/>
          <a:p>
            <a:pPr algn="just"/>
            <a:r>
              <a:rPr lang="es-CL" sz="1200" u="sng" dirty="0"/>
              <a:t>Se aplica con frecuencia</a:t>
            </a:r>
            <a:r>
              <a:rPr lang="es-CL" sz="1200" b="0" dirty="0"/>
              <a:t> -  El control </a:t>
            </a:r>
            <a:r>
              <a:rPr lang="es-CL" sz="1200" dirty="0"/>
              <a:t>es </a:t>
            </a:r>
            <a:r>
              <a:rPr lang="es-CL" sz="1200" b="1" dirty="0"/>
              <a:t>aplicado con frecuencia</a:t>
            </a:r>
            <a:r>
              <a:rPr lang="es-CL" sz="1200" dirty="0"/>
              <a:t> </a:t>
            </a:r>
            <a:r>
              <a:rPr lang="es-CL" sz="1200" b="0" dirty="0"/>
              <a:t>y </a:t>
            </a:r>
            <a:r>
              <a:rPr lang="es-CL" sz="1200" dirty="0"/>
              <a:t>cubre de </a:t>
            </a:r>
            <a:r>
              <a:rPr lang="es-CL" sz="1200" b="1" dirty="0"/>
              <a:t>manera significativa las operaciones.</a:t>
            </a:r>
          </a:p>
        </p:txBody>
      </p:sp>
      <p:sp>
        <p:nvSpPr>
          <p:cNvPr id="52" name="AutoShape 15"/>
          <p:cNvSpPr>
            <a:spLocks noChangeArrowheads="1"/>
          </p:cNvSpPr>
          <p:nvPr/>
        </p:nvSpPr>
        <p:spPr bwMode="auto">
          <a:xfrm>
            <a:off x="316986" y="5215203"/>
            <a:ext cx="360363" cy="301625"/>
          </a:xfrm>
          <a:prstGeom prst="roundRect">
            <a:avLst>
              <a:gd name="adj" fmla="val 16667"/>
            </a:avLst>
          </a:prstGeom>
          <a:solidFill>
            <a:srgbClr val="DB0613"/>
          </a:solidFill>
          <a:ln w="9525" algn="ctr">
            <a:noFill/>
            <a:round/>
            <a:headEnd/>
            <a:tailEnd/>
          </a:ln>
        </p:spPr>
        <p:txBody>
          <a:bodyPr anchor="ctr"/>
          <a:lstStyle/>
          <a:p>
            <a:pPr algn="ctr"/>
            <a:r>
              <a:rPr lang="es-ES" sz="1100" b="1">
                <a:solidFill>
                  <a:schemeClr val="bg1"/>
                </a:solidFill>
              </a:rPr>
              <a:t>4</a:t>
            </a:r>
            <a:endParaRPr lang="en-US" sz="1100" b="1">
              <a:solidFill>
                <a:schemeClr val="bg1"/>
              </a:solidFill>
            </a:endParaRPr>
          </a:p>
        </p:txBody>
      </p:sp>
      <p:sp>
        <p:nvSpPr>
          <p:cNvPr id="53" name="AutoShape 16"/>
          <p:cNvSpPr>
            <a:spLocks noChangeArrowheads="1"/>
          </p:cNvSpPr>
          <p:nvPr/>
        </p:nvSpPr>
        <p:spPr bwMode="auto">
          <a:xfrm>
            <a:off x="677349" y="5174259"/>
            <a:ext cx="3602736" cy="576064"/>
          </a:xfrm>
          <a:prstGeom prst="roundRect">
            <a:avLst>
              <a:gd name="adj" fmla="val 16667"/>
            </a:avLst>
          </a:prstGeom>
          <a:noFill/>
          <a:ln w="9525" algn="ctr">
            <a:noFill/>
            <a:round/>
            <a:headEnd/>
            <a:tailEnd/>
          </a:ln>
        </p:spPr>
        <p:txBody>
          <a:bodyPr anchor="ctr"/>
          <a:lstStyle/>
          <a:p>
            <a:pPr algn="just"/>
            <a:r>
              <a:rPr lang="es-CL" sz="1200" u="sng" dirty="0"/>
              <a:t>Se aplica siempre </a:t>
            </a:r>
            <a:r>
              <a:rPr lang="es-CL" sz="1200" b="0" dirty="0"/>
              <a:t>- El control </a:t>
            </a:r>
            <a:r>
              <a:rPr lang="es-CL" sz="1200" dirty="0"/>
              <a:t>se aplica siempre </a:t>
            </a:r>
            <a:r>
              <a:rPr lang="es-CL" sz="1200" b="0" dirty="0"/>
              <a:t>con la </a:t>
            </a:r>
            <a:r>
              <a:rPr lang="es-CL" sz="1200" dirty="0"/>
              <a:t>periodicidad definida </a:t>
            </a:r>
            <a:r>
              <a:rPr lang="es-CL" sz="1200" b="0" dirty="0"/>
              <a:t>y </a:t>
            </a:r>
            <a:r>
              <a:rPr lang="es-CL" sz="1200" b="1" dirty="0"/>
              <a:t>cubre el total de las operaciones.</a:t>
            </a:r>
          </a:p>
        </p:txBody>
      </p:sp>
      <p:sp>
        <p:nvSpPr>
          <p:cNvPr id="54" name="AutoShape 57"/>
          <p:cNvSpPr>
            <a:spLocks noChangeArrowheads="1"/>
          </p:cNvSpPr>
          <p:nvPr/>
        </p:nvSpPr>
        <p:spPr bwMode="auto">
          <a:xfrm>
            <a:off x="4700945" y="1802806"/>
            <a:ext cx="4119527" cy="350837"/>
          </a:xfrm>
          <a:prstGeom prst="roundRect">
            <a:avLst>
              <a:gd name="adj" fmla="val 16667"/>
            </a:avLst>
          </a:prstGeom>
          <a:solidFill>
            <a:srgbClr val="DDDDDD"/>
          </a:solidFill>
          <a:ln w="9525" algn="ctr">
            <a:noFill/>
            <a:round/>
            <a:headEnd/>
            <a:tailEnd/>
          </a:ln>
        </p:spPr>
        <p:txBody>
          <a:bodyPr wrap="none" anchor="ctr"/>
          <a:lstStyle/>
          <a:p>
            <a:pPr algn="ctr"/>
            <a:r>
              <a:rPr lang="es-ES" sz="1300" b="1"/>
              <a:t>Efectividad</a:t>
            </a:r>
            <a:endParaRPr lang="en-US" sz="1300" b="1" i="1"/>
          </a:p>
        </p:txBody>
      </p:sp>
      <p:sp>
        <p:nvSpPr>
          <p:cNvPr id="55" name="AutoShape 34"/>
          <p:cNvSpPr>
            <a:spLocks noChangeArrowheads="1"/>
          </p:cNvSpPr>
          <p:nvPr/>
        </p:nvSpPr>
        <p:spPr bwMode="auto">
          <a:xfrm>
            <a:off x="4992493" y="2546742"/>
            <a:ext cx="3827980" cy="372777"/>
          </a:xfrm>
          <a:prstGeom prst="roundRect">
            <a:avLst>
              <a:gd name="adj" fmla="val 16667"/>
            </a:avLst>
          </a:prstGeom>
          <a:noFill/>
          <a:ln w="9525" algn="ctr">
            <a:noFill/>
            <a:round/>
            <a:headEnd/>
            <a:tailEnd/>
          </a:ln>
        </p:spPr>
        <p:txBody>
          <a:bodyPr wrap="none" anchor="ctr"/>
          <a:lstStyle/>
          <a:p>
            <a:pPr lvl="0" algn="just"/>
            <a:r>
              <a:rPr lang="es-ES" sz="1200" u="sng" dirty="0"/>
              <a:t> Muy baja </a:t>
            </a:r>
            <a:r>
              <a:rPr lang="es-ES" sz="1200" b="0" dirty="0"/>
              <a:t>- </a:t>
            </a:r>
            <a:r>
              <a:rPr lang="es-ES_tradnl" sz="1200" b="0" dirty="0"/>
              <a:t>El control se aplica pero </a:t>
            </a:r>
            <a:r>
              <a:rPr lang="es-ES_tradnl" sz="1200" b="1" dirty="0"/>
              <a:t>su grado de detección de</a:t>
            </a:r>
          </a:p>
          <a:p>
            <a:pPr lvl="0" algn="just"/>
            <a:r>
              <a:rPr lang="es-ES_tradnl" sz="1200" b="1" dirty="0"/>
              <a:t> errores</a:t>
            </a:r>
            <a:r>
              <a:rPr lang="es-ES_tradnl" sz="1200" b="0" dirty="0"/>
              <a:t> </a:t>
            </a:r>
            <a:r>
              <a:rPr lang="es-ES_tradnl" sz="1200" dirty="0"/>
              <a:t>para impedir que sucedan </a:t>
            </a:r>
            <a:r>
              <a:rPr lang="es-ES_tradnl" sz="1200" b="1" dirty="0"/>
              <a:t>o facilitar su resolución es</a:t>
            </a:r>
          </a:p>
          <a:p>
            <a:pPr lvl="0" algn="just"/>
            <a:r>
              <a:rPr lang="es-ES_tradnl" sz="1200" b="1" dirty="0"/>
              <a:t> muy limitada </a:t>
            </a:r>
            <a:r>
              <a:rPr lang="es-ES_tradnl" sz="1200" b="0" dirty="0"/>
              <a:t>(entre el 0 y el 25%).</a:t>
            </a:r>
            <a:endParaRPr lang="en-US" sz="1200" b="0" dirty="0"/>
          </a:p>
          <a:p>
            <a:pPr algn="just"/>
            <a:endParaRPr lang="en-US" sz="1200" b="0" dirty="0"/>
          </a:p>
        </p:txBody>
      </p:sp>
      <p:sp>
        <p:nvSpPr>
          <p:cNvPr id="56" name="AutoShape 36"/>
          <p:cNvSpPr>
            <a:spLocks noChangeArrowheads="1"/>
          </p:cNvSpPr>
          <p:nvPr/>
        </p:nvSpPr>
        <p:spPr bwMode="auto">
          <a:xfrm>
            <a:off x="5006141" y="3158356"/>
            <a:ext cx="3831336" cy="497146"/>
          </a:xfrm>
          <a:prstGeom prst="roundRect">
            <a:avLst>
              <a:gd name="adj" fmla="val 16667"/>
            </a:avLst>
          </a:prstGeom>
          <a:noFill/>
          <a:ln w="9525" algn="ctr">
            <a:noFill/>
            <a:round/>
            <a:headEnd/>
            <a:tailEnd/>
          </a:ln>
        </p:spPr>
        <p:txBody>
          <a:bodyPr anchor="ctr"/>
          <a:lstStyle/>
          <a:p>
            <a:pPr algn="just"/>
            <a:r>
              <a:rPr lang="es-ES" sz="1200" u="sng" dirty="0"/>
              <a:t>Baja</a:t>
            </a:r>
            <a:r>
              <a:rPr lang="es-ES" sz="1200" b="0" dirty="0"/>
              <a:t> - </a:t>
            </a:r>
            <a:r>
              <a:rPr lang="es-ES_tradnl" sz="1200" b="0" dirty="0"/>
              <a:t>El control se aplica pero su </a:t>
            </a:r>
            <a:r>
              <a:rPr lang="es-ES_tradnl" sz="1200" b="1" dirty="0"/>
              <a:t>grado de detección de errores </a:t>
            </a:r>
            <a:r>
              <a:rPr lang="es-ES_tradnl" sz="1200" b="0" dirty="0"/>
              <a:t>para impedir que sucedan o </a:t>
            </a:r>
            <a:r>
              <a:rPr lang="es-ES_tradnl" sz="1200" b="1" dirty="0"/>
              <a:t>facilitar su resolución es limitada, pero facilita la detección del evento </a:t>
            </a:r>
            <a:r>
              <a:rPr lang="es-ES_tradnl" sz="1200" b="0" dirty="0"/>
              <a:t>entre un </a:t>
            </a:r>
            <a:r>
              <a:rPr lang="es-ES_tradnl" sz="1200" b="1" dirty="0"/>
              <a:t>25% y un 50% de los casos.</a:t>
            </a:r>
            <a:endParaRPr lang="en-US" sz="1200" b="1" dirty="0"/>
          </a:p>
        </p:txBody>
      </p:sp>
      <p:sp>
        <p:nvSpPr>
          <p:cNvPr id="57" name="AutoShape 38"/>
          <p:cNvSpPr>
            <a:spLocks noChangeArrowheads="1"/>
          </p:cNvSpPr>
          <p:nvPr/>
        </p:nvSpPr>
        <p:spPr bwMode="auto">
          <a:xfrm>
            <a:off x="4992493" y="3951024"/>
            <a:ext cx="3831336" cy="403674"/>
          </a:xfrm>
          <a:prstGeom prst="roundRect">
            <a:avLst>
              <a:gd name="adj" fmla="val 16667"/>
            </a:avLst>
          </a:prstGeom>
          <a:noFill/>
          <a:ln w="9525" algn="ctr">
            <a:noFill/>
            <a:round/>
            <a:headEnd/>
            <a:tailEnd/>
          </a:ln>
        </p:spPr>
        <p:txBody>
          <a:bodyPr anchor="ctr"/>
          <a:lstStyle/>
          <a:p>
            <a:pPr algn="just"/>
            <a:r>
              <a:rPr lang="es-ES" sz="1200" u="sng" dirty="0"/>
              <a:t>Media</a:t>
            </a:r>
            <a:r>
              <a:rPr lang="es-ES" sz="1200" b="0" dirty="0"/>
              <a:t> - </a:t>
            </a:r>
            <a:r>
              <a:rPr lang="es-ES_tradnl" sz="1200" b="0" dirty="0"/>
              <a:t>El control se aplica y su </a:t>
            </a:r>
            <a:r>
              <a:rPr lang="es-ES_tradnl" sz="1200" b="1" dirty="0"/>
              <a:t>grado de detección de errores</a:t>
            </a:r>
            <a:r>
              <a:rPr lang="es-ES_tradnl" sz="1200" b="0" dirty="0"/>
              <a:t> o facilitar la detección del evento </a:t>
            </a:r>
            <a:r>
              <a:rPr lang="es-ES_tradnl" sz="1200" dirty="0"/>
              <a:t>se sitúa entre un </a:t>
            </a:r>
            <a:r>
              <a:rPr lang="es-ES_tradnl" sz="1200" b="1" dirty="0"/>
              <a:t>50% y un 75% de los casos.</a:t>
            </a:r>
            <a:endParaRPr lang="en-US" sz="1200" b="1" dirty="0"/>
          </a:p>
        </p:txBody>
      </p:sp>
      <p:sp>
        <p:nvSpPr>
          <p:cNvPr id="58" name="AutoShape 40"/>
          <p:cNvSpPr>
            <a:spLocks noChangeArrowheads="1"/>
          </p:cNvSpPr>
          <p:nvPr/>
        </p:nvSpPr>
        <p:spPr bwMode="auto">
          <a:xfrm>
            <a:off x="4992493" y="4593972"/>
            <a:ext cx="3831336" cy="396875"/>
          </a:xfrm>
          <a:prstGeom prst="roundRect">
            <a:avLst>
              <a:gd name="adj" fmla="val 16667"/>
            </a:avLst>
          </a:prstGeom>
          <a:noFill/>
          <a:ln w="9525" algn="ctr">
            <a:noFill/>
            <a:round/>
            <a:headEnd/>
            <a:tailEnd/>
          </a:ln>
        </p:spPr>
        <p:txBody>
          <a:bodyPr anchor="ctr"/>
          <a:lstStyle/>
          <a:p>
            <a:pPr algn="just"/>
            <a:r>
              <a:rPr lang="es-ES" sz="1200" u="sng" dirty="0"/>
              <a:t>Alta</a:t>
            </a:r>
            <a:r>
              <a:rPr lang="es-ES" sz="1200" b="0" dirty="0"/>
              <a:t> - </a:t>
            </a:r>
            <a:r>
              <a:rPr lang="es-ES_tradnl" sz="1200" b="0" dirty="0"/>
              <a:t>El c</a:t>
            </a:r>
            <a:r>
              <a:rPr lang="es-ES_tradnl" sz="1200" b="1" dirty="0"/>
              <a:t>ontrol se aplica y el grado de detección de errores es alto</a:t>
            </a:r>
            <a:r>
              <a:rPr lang="es-ES_tradnl" sz="1200" b="0" dirty="0"/>
              <a:t> y </a:t>
            </a:r>
            <a:r>
              <a:rPr lang="es-ES_tradnl" sz="1200" b="1" dirty="0"/>
              <a:t>facilita la detección </a:t>
            </a:r>
            <a:r>
              <a:rPr lang="es-ES_tradnl" sz="1200" b="0" dirty="0"/>
              <a:t>del evento </a:t>
            </a:r>
            <a:r>
              <a:rPr lang="es-ES_tradnl" sz="1200" dirty="0"/>
              <a:t>en </a:t>
            </a:r>
            <a:r>
              <a:rPr lang="es-ES_tradnl" sz="1200" b="1" dirty="0"/>
              <a:t>más de 75% de los casos.</a:t>
            </a:r>
            <a:endParaRPr lang="en-US" sz="1200" b="1" dirty="0"/>
          </a:p>
        </p:txBody>
      </p:sp>
      <p:sp>
        <p:nvSpPr>
          <p:cNvPr id="59" name="AutoShape 42"/>
          <p:cNvSpPr>
            <a:spLocks noChangeArrowheads="1"/>
          </p:cNvSpPr>
          <p:nvPr/>
        </p:nvSpPr>
        <p:spPr bwMode="auto">
          <a:xfrm>
            <a:off x="4992493" y="5261463"/>
            <a:ext cx="3831336" cy="301625"/>
          </a:xfrm>
          <a:prstGeom prst="roundRect">
            <a:avLst>
              <a:gd name="adj" fmla="val 16667"/>
            </a:avLst>
          </a:prstGeom>
          <a:noFill/>
          <a:ln w="9525" algn="ctr">
            <a:noFill/>
            <a:round/>
            <a:headEnd/>
            <a:tailEnd/>
          </a:ln>
        </p:spPr>
        <p:txBody>
          <a:bodyPr anchor="ctr"/>
          <a:lstStyle/>
          <a:p>
            <a:pPr algn="just"/>
            <a:r>
              <a:rPr lang="es-ES" sz="1200" u="sng" dirty="0"/>
              <a:t>Muy alta </a:t>
            </a:r>
            <a:r>
              <a:rPr lang="es-ES" sz="1200" b="0" dirty="0"/>
              <a:t>- </a:t>
            </a:r>
            <a:r>
              <a:rPr lang="es-ES_tradnl" sz="1200" b="0" dirty="0"/>
              <a:t>el control </a:t>
            </a:r>
            <a:r>
              <a:rPr lang="es-ES_tradnl" sz="1200" dirty="0"/>
              <a:t>permite </a:t>
            </a:r>
            <a:r>
              <a:rPr lang="es-ES_tradnl" sz="1200" b="1" dirty="0"/>
              <a:t>siempre identificar que el riesgo ha sucedido </a:t>
            </a:r>
            <a:r>
              <a:rPr lang="es-ES_tradnl" sz="1200" dirty="0"/>
              <a:t>o</a:t>
            </a:r>
            <a:r>
              <a:rPr lang="es-ES_tradnl" sz="1200" b="1" dirty="0"/>
              <a:t> puede suceder </a:t>
            </a:r>
            <a:r>
              <a:rPr lang="es-ES_tradnl" sz="1200" b="0" dirty="0"/>
              <a:t>y </a:t>
            </a:r>
            <a:r>
              <a:rPr lang="es-ES_tradnl" sz="1200" b="1" dirty="0"/>
              <a:t>mitigar el efecto de las pérdidas.</a:t>
            </a:r>
            <a:endParaRPr lang="en-US" sz="1200" b="1" dirty="0"/>
          </a:p>
        </p:txBody>
      </p:sp>
      <p:sp>
        <p:nvSpPr>
          <p:cNvPr id="60" name="AutoShape 7"/>
          <p:cNvSpPr>
            <a:spLocks noChangeArrowheads="1"/>
          </p:cNvSpPr>
          <p:nvPr/>
        </p:nvSpPr>
        <p:spPr bwMode="auto">
          <a:xfrm>
            <a:off x="4688397" y="2431843"/>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a:solidFill>
                  <a:schemeClr val="bg1"/>
                </a:solidFill>
              </a:rPr>
              <a:t>0</a:t>
            </a:r>
            <a:endParaRPr lang="en-US" sz="1100" b="1">
              <a:solidFill>
                <a:schemeClr val="bg1"/>
              </a:solidFill>
            </a:endParaRPr>
          </a:p>
        </p:txBody>
      </p:sp>
      <p:sp>
        <p:nvSpPr>
          <p:cNvPr id="61" name="AutoShape 9"/>
          <p:cNvSpPr>
            <a:spLocks noChangeArrowheads="1"/>
          </p:cNvSpPr>
          <p:nvPr/>
        </p:nvSpPr>
        <p:spPr bwMode="auto">
          <a:xfrm>
            <a:off x="4688397" y="3127387"/>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dirty="0">
                <a:solidFill>
                  <a:schemeClr val="bg1"/>
                </a:solidFill>
              </a:rPr>
              <a:t>1</a:t>
            </a:r>
            <a:endParaRPr lang="en-US" sz="1100" b="1" dirty="0">
              <a:solidFill>
                <a:schemeClr val="bg1"/>
              </a:solidFill>
            </a:endParaRPr>
          </a:p>
        </p:txBody>
      </p:sp>
      <p:sp>
        <p:nvSpPr>
          <p:cNvPr id="62" name="AutoShape 11"/>
          <p:cNvSpPr>
            <a:spLocks noChangeArrowheads="1"/>
          </p:cNvSpPr>
          <p:nvPr/>
        </p:nvSpPr>
        <p:spPr bwMode="auto">
          <a:xfrm>
            <a:off x="4688397" y="3959410"/>
            <a:ext cx="360363" cy="301625"/>
          </a:xfrm>
          <a:prstGeom prst="roundRect">
            <a:avLst>
              <a:gd name="adj" fmla="val 16667"/>
            </a:avLst>
          </a:prstGeom>
          <a:solidFill>
            <a:srgbClr val="DB0613"/>
          </a:solidFill>
          <a:ln w="9525" algn="ctr">
            <a:noFill/>
            <a:round/>
            <a:headEnd/>
            <a:tailEnd/>
          </a:ln>
        </p:spPr>
        <p:txBody>
          <a:bodyPr wrap="none" anchor="ctr"/>
          <a:lstStyle/>
          <a:p>
            <a:pPr algn="ctr"/>
            <a:r>
              <a:rPr lang="es-ES" sz="1100" b="1">
                <a:solidFill>
                  <a:schemeClr val="bg1"/>
                </a:solidFill>
              </a:rPr>
              <a:t>2</a:t>
            </a:r>
            <a:endParaRPr lang="en-US" sz="1100" b="1">
              <a:solidFill>
                <a:schemeClr val="bg1"/>
              </a:solidFill>
            </a:endParaRPr>
          </a:p>
        </p:txBody>
      </p:sp>
      <p:sp>
        <p:nvSpPr>
          <p:cNvPr id="63" name="AutoShape 13"/>
          <p:cNvSpPr>
            <a:spLocks noChangeArrowheads="1"/>
          </p:cNvSpPr>
          <p:nvPr/>
        </p:nvSpPr>
        <p:spPr bwMode="auto">
          <a:xfrm>
            <a:off x="4688397" y="4602359"/>
            <a:ext cx="360363" cy="301625"/>
          </a:xfrm>
          <a:prstGeom prst="roundRect">
            <a:avLst>
              <a:gd name="adj" fmla="val 16667"/>
            </a:avLst>
          </a:prstGeom>
          <a:solidFill>
            <a:srgbClr val="DB0613"/>
          </a:solidFill>
          <a:ln w="9525" algn="ctr">
            <a:noFill/>
            <a:round/>
            <a:headEnd/>
            <a:tailEnd/>
          </a:ln>
        </p:spPr>
        <p:txBody>
          <a:bodyPr anchor="ctr"/>
          <a:lstStyle/>
          <a:p>
            <a:pPr algn="ctr"/>
            <a:r>
              <a:rPr lang="es-ES" sz="1100" b="1">
                <a:solidFill>
                  <a:schemeClr val="bg1"/>
                </a:solidFill>
              </a:rPr>
              <a:t>3</a:t>
            </a:r>
            <a:endParaRPr lang="en-US" sz="1100" b="1">
              <a:solidFill>
                <a:schemeClr val="bg1"/>
              </a:solidFill>
            </a:endParaRPr>
          </a:p>
        </p:txBody>
      </p:sp>
      <p:sp>
        <p:nvSpPr>
          <p:cNvPr id="64" name="AutoShape 15"/>
          <p:cNvSpPr>
            <a:spLocks noChangeArrowheads="1"/>
          </p:cNvSpPr>
          <p:nvPr/>
        </p:nvSpPr>
        <p:spPr bwMode="auto">
          <a:xfrm>
            <a:off x="4688397" y="5201610"/>
            <a:ext cx="360363" cy="301625"/>
          </a:xfrm>
          <a:prstGeom prst="roundRect">
            <a:avLst>
              <a:gd name="adj" fmla="val 16667"/>
            </a:avLst>
          </a:prstGeom>
          <a:solidFill>
            <a:srgbClr val="DB0613"/>
          </a:solidFill>
          <a:ln w="9525" algn="ctr">
            <a:noFill/>
            <a:round/>
            <a:headEnd/>
            <a:tailEnd/>
          </a:ln>
        </p:spPr>
        <p:txBody>
          <a:bodyPr anchor="ctr"/>
          <a:lstStyle/>
          <a:p>
            <a:pPr algn="ctr"/>
            <a:r>
              <a:rPr lang="es-ES" sz="1100" b="1">
                <a:solidFill>
                  <a:schemeClr val="bg1"/>
                </a:solidFill>
              </a:rPr>
              <a:t>4</a:t>
            </a:r>
            <a:endParaRPr lang="en-US" sz="1100" b="1">
              <a:solidFill>
                <a:schemeClr val="bg1"/>
              </a:solidFill>
            </a:endParaRPr>
          </a:p>
        </p:txBody>
      </p:sp>
      <p:sp>
        <p:nvSpPr>
          <p:cNvPr id="6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6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6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6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6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7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7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7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2539625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1: Metodología de Evaluación Cualitativa</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8" name="Rectangle 4"/>
          <p:cNvSpPr>
            <a:spLocks noChangeArrowheads="1"/>
          </p:cNvSpPr>
          <p:nvPr/>
        </p:nvSpPr>
        <p:spPr bwMode="auto">
          <a:xfrm>
            <a:off x="107504" y="692696"/>
            <a:ext cx="8536462" cy="440068"/>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Elementos a evaluar - Controles</a:t>
            </a:r>
          </a:p>
        </p:txBody>
      </p:sp>
      <p:sp>
        <p:nvSpPr>
          <p:cNvPr id="9" name="Content Placeholder 2"/>
          <p:cNvSpPr txBox="1">
            <a:spLocks/>
          </p:cNvSpPr>
          <p:nvPr/>
        </p:nvSpPr>
        <p:spPr>
          <a:xfrm>
            <a:off x="289061" y="1268760"/>
            <a:ext cx="8579892" cy="4114800"/>
          </a:xfrm>
          <a:prstGeom prst="rect">
            <a:avLst/>
          </a:prstGeom>
        </p:spPr>
        <p:txBody>
          <a:bodyPr/>
          <a:lstStyle/>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_tradnl" sz="1400" b="0" i="0" u="none" strike="noStrike" kern="1200" cap="none" spc="0" normalizeH="0" baseline="0" noProof="0" dirty="0">
                <a:ln>
                  <a:noFill/>
                </a:ln>
                <a:effectLst/>
                <a:uLnTx/>
                <a:uFillTx/>
                <a:latin typeface="+mn-lt"/>
                <a:ea typeface="+mn-ea"/>
                <a:cs typeface="+mn-cs"/>
              </a:rPr>
              <a:t>Otras consideraciones al momento de realizar la evaluación de controles, las podemos resumir en los siguientes puntos:</a:t>
            </a:r>
          </a:p>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ES_tradnl" sz="1200" b="0" i="0" u="none" strike="noStrike" kern="1200" cap="none" spc="0" normalizeH="0" baseline="0" noProof="0" dirty="0">
              <a:ln>
                <a:noFill/>
              </a:ln>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DB0613"/>
              </a:buClr>
              <a:buSzTx/>
              <a:buFont typeface="Arial" pitchFamily="34" charset="0"/>
              <a:buChar char="•"/>
              <a:tabLst/>
              <a:defRPr/>
            </a:pPr>
            <a:r>
              <a:rPr kumimoji="0" lang="es-ES_tradnl" sz="1400" b="0" i="0" u="none" strike="noStrike" kern="1200" cap="none" spc="0" normalizeH="0" baseline="0" noProof="0" dirty="0">
                <a:ln>
                  <a:noFill/>
                </a:ln>
                <a:effectLst/>
                <a:uLnTx/>
                <a:uFillTx/>
                <a:latin typeface="+mn-lt"/>
                <a:ea typeface="+mn-ea"/>
                <a:cs typeface="+mn-cs"/>
              </a:rPr>
              <a:t>En lo que respecta a </a:t>
            </a:r>
            <a:r>
              <a:rPr kumimoji="0" lang="es-ES_tradnl" sz="1400" b="1" i="0" u="none" strike="noStrike" kern="1200" cap="none" spc="0" normalizeH="0" baseline="0" noProof="0" dirty="0">
                <a:ln>
                  <a:noFill/>
                </a:ln>
                <a:effectLst/>
                <a:uLnTx/>
                <a:uFillTx/>
                <a:latin typeface="+mn-lt"/>
                <a:ea typeface="+mn-ea"/>
                <a:cs typeface="+mn-cs"/>
              </a:rPr>
              <a:t>controles ex – post</a:t>
            </a:r>
            <a:r>
              <a:rPr kumimoji="0" lang="es-ES_tradnl" sz="1400" b="0" i="0" u="none" strike="noStrike" kern="1200" cap="none" spc="0" normalizeH="0" baseline="0" noProof="0" dirty="0">
                <a:ln>
                  <a:noFill/>
                </a:ln>
                <a:effectLst/>
                <a:uLnTx/>
                <a:uFillTx/>
                <a:latin typeface="+mn-lt"/>
                <a:ea typeface="+mn-ea"/>
                <a:cs typeface="+mn-cs"/>
              </a:rPr>
              <a:t>, esto es, aquellos que se realizan a posteriori de suceder el riesgo y </a:t>
            </a:r>
            <a:r>
              <a:rPr kumimoji="0" lang="es-ES_tradnl" sz="1400" b="1" i="0" u="none" strike="noStrike" kern="1200" cap="none" spc="0" normalizeH="0" baseline="0" noProof="0" dirty="0">
                <a:ln>
                  <a:noFill/>
                </a:ln>
                <a:effectLst/>
                <a:uLnTx/>
                <a:uFillTx/>
                <a:latin typeface="+mn-lt"/>
                <a:ea typeface="+mn-ea"/>
                <a:cs typeface="+mn-cs"/>
              </a:rPr>
              <a:t>que permiten detectarlo pero la pérdida es posible que ya se esté produciendo</a:t>
            </a:r>
            <a:r>
              <a:rPr kumimoji="0" lang="es-ES_tradnl" sz="1400" b="0" i="0" u="none" strike="noStrike" kern="1200" cap="none" spc="0" normalizeH="0" baseline="0" noProof="0" dirty="0">
                <a:ln>
                  <a:noFill/>
                </a:ln>
                <a:effectLst/>
                <a:uLnTx/>
                <a:uFillTx/>
                <a:latin typeface="+mn-lt"/>
                <a:ea typeface="+mn-ea"/>
                <a:cs typeface="+mn-cs"/>
              </a:rPr>
              <a:t>, habría que considerar en la </a:t>
            </a:r>
            <a:r>
              <a:rPr kumimoji="0" lang="es-ES_tradnl" sz="1400" b="1" i="0" u="none" strike="noStrike" kern="1200" cap="none" spc="0" normalizeH="0" baseline="0" noProof="0" dirty="0">
                <a:ln>
                  <a:noFill/>
                </a:ln>
                <a:effectLst/>
                <a:uLnTx/>
                <a:uFillTx/>
                <a:latin typeface="+mn-lt"/>
                <a:ea typeface="+mn-ea"/>
                <a:cs typeface="+mn-cs"/>
              </a:rPr>
              <a:t>valoración el efecto temporal.</a:t>
            </a:r>
            <a:endParaRPr kumimoji="0" lang="en-US" sz="1400" b="1" i="0" u="none" strike="noStrike" kern="1200" cap="none" spc="0" normalizeH="0" baseline="0" noProof="0" dirty="0">
              <a:ln>
                <a:noFill/>
              </a:ln>
              <a:effectLst/>
              <a:uLnTx/>
              <a:uFillTx/>
              <a:latin typeface="+mn-lt"/>
              <a:ea typeface="+mn-ea"/>
              <a:cs typeface="+mn-cs"/>
            </a:endParaRPr>
          </a:p>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_tradnl" sz="1400" b="0" i="0" u="none" strike="noStrike" kern="1200" cap="none" spc="0" normalizeH="0" baseline="0" noProof="0" dirty="0">
                <a:ln>
                  <a:noFill/>
                </a:ln>
                <a:effectLst/>
                <a:uLnTx/>
                <a:uFillTx/>
                <a:latin typeface="+mn-lt"/>
                <a:ea typeface="+mn-ea"/>
                <a:cs typeface="+mn-cs"/>
              </a:rPr>
              <a:t>Esto es, un </a:t>
            </a:r>
            <a:r>
              <a:rPr kumimoji="0" lang="es-ES_tradnl" sz="1400" b="1" i="0" u="none" strike="noStrike" kern="1200" cap="none" spc="0" normalizeH="0" baseline="0" noProof="0" dirty="0">
                <a:ln>
                  <a:noFill/>
                </a:ln>
                <a:effectLst/>
                <a:uLnTx/>
                <a:uFillTx/>
                <a:latin typeface="+mn-lt"/>
                <a:ea typeface="+mn-ea"/>
                <a:cs typeface="+mn-cs"/>
              </a:rPr>
              <a:t>control ‘on-line</a:t>
            </a:r>
            <a:r>
              <a:rPr kumimoji="0" lang="es-ES_tradnl" sz="1400" b="0" i="0" u="none" strike="noStrike" kern="1200" cap="none" spc="0" normalizeH="0" baseline="0" noProof="0" dirty="0">
                <a:ln>
                  <a:noFill/>
                </a:ln>
                <a:effectLst/>
                <a:uLnTx/>
                <a:uFillTx/>
                <a:latin typeface="+mn-lt"/>
                <a:ea typeface="+mn-ea"/>
                <a:cs typeface="+mn-cs"/>
              </a:rPr>
              <a:t>’ </a:t>
            </a:r>
            <a:r>
              <a:rPr kumimoji="0" lang="es-ES_tradnl" sz="1400" b="1" i="0" u="none" strike="noStrike" kern="1200" cap="none" spc="0" normalizeH="0" baseline="0" noProof="0" dirty="0">
                <a:ln>
                  <a:noFill/>
                </a:ln>
                <a:effectLst/>
                <a:uLnTx/>
                <a:uFillTx/>
                <a:latin typeface="+mn-lt"/>
                <a:ea typeface="+mn-ea"/>
                <a:cs typeface="+mn-cs"/>
              </a:rPr>
              <a:t>que detecta el 100% de la operativa errónea </a:t>
            </a:r>
            <a:r>
              <a:rPr kumimoji="0" lang="es-ES_tradnl" sz="1400" b="0" i="0" u="none" strike="noStrike" kern="1200" cap="none" spc="0" normalizeH="0" baseline="0" noProof="0" dirty="0">
                <a:ln>
                  <a:noFill/>
                </a:ln>
                <a:effectLst/>
                <a:uLnTx/>
                <a:uFillTx/>
                <a:latin typeface="+mn-lt"/>
                <a:ea typeface="+mn-ea"/>
                <a:cs typeface="+mn-cs"/>
              </a:rPr>
              <a:t>en el momento que sucede </a:t>
            </a:r>
            <a:r>
              <a:rPr kumimoji="0" lang="es-ES_tradnl" sz="1400" b="1" i="0" u="none" strike="noStrike" kern="1200" cap="none" spc="0" normalizeH="0" baseline="0" noProof="0" dirty="0">
                <a:ln>
                  <a:noFill/>
                </a:ln>
                <a:effectLst/>
                <a:uLnTx/>
                <a:uFillTx/>
                <a:latin typeface="+mn-lt"/>
                <a:ea typeface="+mn-ea"/>
                <a:cs typeface="+mn-cs"/>
              </a:rPr>
              <a:t>e impida que suceda </a:t>
            </a:r>
            <a:r>
              <a:rPr kumimoji="0" lang="es-ES_tradnl" sz="1400" b="0" i="0" u="none" strike="noStrike" kern="1200" cap="none" spc="0" normalizeH="0" baseline="0" noProof="0" dirty="0">
                <a:ln>
                  <a:noFill/>
                </a:ln>
                <a:effectLst/>
                <a:uLnTx/>
                <a:uFillTx/>
                <a:latin typeface="+mn-lt"/>
                <a:ea typeface="+mn-ea"/>
                <a:cs typeface="+mn-cs"/>
              </a:rPr>
              <a:t>puede recibir la evaluación de </a:t>
            </a:r>
            <a:r>
              <a:rPr kumimoji="0" lang="es-ES_tradnl" sz="1400" b="1" i="0" u="none" strike="noStrike" kern="1200" cap="none" spc="0" normalizeH="0" baseline="0" noProof="0" dirty="0">
                <a:ln>
                  <a:noFill/>
                </a:ln>
                <a:effectLst/>
                <a:uLnTx/>
                <a:uFillTx/>
                <a:latin typeface="+mn-lt"/>
                <a:ea typeface="+mn-ea"/>
                <a:cs typeface="+mn-cs"/>
              </a:rPr>
              <a:t>"Muy Alta".</a:t>
            </a:r>
            <a:endParaRPr kumimoji="0" lang="en-US" sz="1400" b="1" i="0" u="none" strike="noStrike" kern="1200" cap="none" spc="0" normalizeH="0" baseline="0" noProof="0" dirty="0">
              <a:ln>
                <a:noFill/>
              </a:ln>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DB0613"/>
              </a:buClr>
              <a:buSzTx/>
              <a:buFont typeface="Arial" pitchFamily="34" charset="0"/>
              <a:buChar char="•"/>
              <a:tabLst/>
              <a:defRPr/>
            </a:pPr>
            <a:r>
              <a:rPr kumimoji="0" lang="es-ES_tradnl" sz="1400" b="0" i="0" u="none" strike="noStrike" kern="1200" cap="none" spc="0" normalizeH="0" baseline="0" noProof="0" dirty="0">
                <a:ln>
                  <a:noFill/>
                </a:ln>
                <a:effectLst/>
                <a:uLnTx/>
                <a:uFillTx/>
                <a:latin typeface="+mn-lt"/>
                <a:ea typeface="+mn-ea"/>
                <a:cs typeface="+mn-cs"/>
              </a:rPr>
              <a:t>Un </a:t>
            </a:r>
            <a:r>
              <a:rPr kumimoji="0" lang="es-ES_tradnl" sz="1400" b="1" i="0" u="none" strike="noStrike" kern="1200" cap="none" spc="0" normalizeH="0" baseline="0" noProof="0" dirty="0">
                <a:ln>
                  <a:noFill/>
                </a:ln>
                <a:effectLst/>
                <a:uLnTx/>
                <a:uFillTx/>
                <a:latin typeface="+mn-lt"/>
                <a:ea typeface="+mn-ea"/>
                <a:cs typeface="+mn-cs"/>
              </a:rPr>
              <a:t>control ex - post</a:t>
            </a:r>
            <a:r>
              <a:rPr kumimoji="0" lang="es-ES_tradnl" sz="1400" b="0" i="0" u="none" strike="noStrike" kern="1200" cap="none" spc="0" normalizeH="0" baseline="0" noProof="0" dirty="0">
                <a:ln>
                  <a:noFill/>
                </a:ln>
                <a:effectLst/>
                <a:uLnTx/>
                <a:uFillTx/>
                <a:latin typeface="+mn-lt"/>
                <a:ea typeface="+mn-ea"/>
                <a:cs typeface="+mn-cs"/>
              </a:rPr>
              <a:t> que </a:t>
            </a:r>
            <a:r>
              <a:rPr kumimoji="0" lang="es-ES_tradnl" sz="1400" b="1" i="0" u="none" strike="noStrike" kern="1200" cap="none" spc="0" normalizeH="0" baseline="0" noProof="0" dirty="0">
                <a:ln>
                  <a:noFill/>
                </a:ln>
                <a:effectLst/>
                <a:uLnTx/>
                <a:uFillTx/>
                <a:latin typeface="+mn-lt"/>
                <a:ea typeface="+mn-ea"/>
                <a:cs typeface="+mn-cs"/>
              </a:rPr>
              <a:t>detecta también el 100% de la operativa pero que se aplica en "d+1" </a:t>
            </a:r>
            <a:r>
              <a:rPr kumimoji="0" lang="es-ES_tradnl" sz="1400" b="0" i="0" u="none" strike="noStrike" kern="1200" cap="none" spc="0" normalizeH="0" baseline="0" noProof="0" dirty="0">
                <a:ln>
                  <a:noFill/>
                </a:ln>
                <a:effectLst/>
                <a:uLnTx/>
                <a:uFillTx/>
                <a:latin typeface="+mn-lt"/>
                <a:ea typeface="+mn-ea"/>
                <a:cs typeface="+mn-cs"/>
              </a:rPr>
              <a:t>(y lo que hace es limitar la pérdida a 1 día) debe recibir una </a:t>
            </a:r>
            <a:r>
              <a:rPr kumimoji="0" lang="es-ES_tradnl" sz="1400" b="1" i="0" u="none" strike="noStrike" kern="1200" cap="none" spc="0" normalizeH="0" baseline="0" noProof="0" dirty="0">
                <a:ln>
                  <a:noFill/>
                </a:ln>
                <a:effectLst/>
                <a:uLnTx/>
                <a:uFillTx/>
                <a:latin typeface="+mn-lt"/>
                <a:ea typeface="+mn-ea"/>
                <a:cs typeface="+mn-cs"/>
              </a:rPr>
              <a:t>valoración como máximo de "Alta", </a:t>
            </a:r>
            <a:r>
              <a:rPr kumimoji="0" lang="es-ES_tradnl" sz="1400" b="0" i="0" u="none" strike="noStrike" kern="1200" cap="none" spc="0" normalizeH="0" baseline="0" noProof="0" dirty="0">
                <a:ln>
                  <a:noFill/>
                </a:ln>
                <a:effectLst/>
                <a:uLnTx/>
                <a:uFillTx/>
                <a:latin typeface="+mn-lt"/>
                <a:ea typeface="+mn-ea"/>
                <a:cs typeface="+mn-cs"/>
              </a:rPr>
              <a:t>si el control es en "d+7" (semanal) o en "d+30" (mensual) </a:t>
            </a:r>
            <a:r>
              <a:rPr kumimoji="0" lang="es-ES_tradnl" sz="1400" b="1" i="0" u="none" strike="noStrike" kern="1200" cap="none" spc="0" normalizeH="0" baseline="0" noProof="0" dirty="0">
                <a:ln>
                  <a:noFill/>
                </a:ln>
                <a:effectLst/>
                <a:uLnTx/>
                <a:uFillTx/>
                <a:latin typeface="+mn-lt"/>
                <a:ea typeface="+mn-ea"/>
                <a:cs typeface="+mn-cs"/>
              </a:rPr>
              <a:t>el control debe recibir evaluaciones de Media o incluso de Baja</a:t>
            </a:r>
            <a:r>
              <a:rPr kumimoji="0" lang="es-ES_tradnl" sz="1400" b="0" i="0" u="none" strike="noStrike" kern="1200" cap="none" spc="0" normalizeH="0" baseline="0" noProof="0" dirty="0">
                <a:ln>
                  <a:noFill/>
                </a:ln>
                <a:effectLst/>
                <a:uLnTx/>
                <a:uFillTx/>
                <a:latin typeface="+mn-lt"/>
                <a:ea typeface="+mn-ea"/>
                <a:cs typeface="+mn-cs"/>
              </a:rPr>
              <a:t> (dependiendo de la naturaleza del riesgo).</a:t>
            </a:r>
            <a:endParaRPr kumimoji="0" lang="en-US" sz="1400" b="0" i="0" u="none" strike="noStrike" kern="1200" cap="none" spc="0" normalizeH="0" baseline="0" noProof="0" dirty="0">
              <a:ln>
                <a:noFill/>
              </a:ln>
              <a:effectLst/>
              <a:uLnTx/>
              <a:uFillTx/>
              <a:latin typeface="+mn-lt"/>
              <a:ea typeface="+mn-ea"/>
              <a:cs typeface="+mn-cs"/>
            </a:endParaRPr>
          </a:p>
          <a:p>
            <a:pPr marL="225425" marR="0" lvl="0" indent="-106363"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rgbClr val="DB0613"/>
              </a:buClr>
              <a:buSzTx/>
              <a:buFont typeface="Arial" pitchFamily="34" charset="0"/>
              <a:buChar char="•"/>
              <a:tabLst/>
              <a:defRPr/>
            </a:pPr>
            <a:r>
              <a:rPr kumimoji="0" lang="es-ES_tradnl" sz="1400" b="0" i="0" u="none" strike="noStrike" kern="1200" cap="none" spc="0" normalizeH="0" baseline="0" noProof="0" dirty="0">
                <a:ln>
                  <a:noFill/>
                </a:ln>
                <a:effectLst/>
                <a:uLnTx/>
                <a:uFillTx/>
                <a:latin typeface="+mn-lt"/>
                <a:ea typeface="+mn-ea"/>
                <a:cs typeface="+mn-cs"/>
              </a:rPr>
              <a:t>Al momento de valorar la </a:t>
            </a:r>
            <a:r>
              <a:rPr kumimoji="0" lang="es-ES_tradnl" sz="1400" b="1" i="0" u="none" strike="noStrike" kern="1200" cap="none" spc="0" normalizeH="0" baseline="0" noProof="0" dirty="0">
                <a:ln>
                  <a:noFill/>
                </a:ln>
                <a:effectLst/>
                <a:uLnTx/>
                <a:uFillTx/>
                <a:latin typeface="+mn-lt"/>
                <a:ea typeface="+mn-ea"/>
                <a:cs typeface="+mn-cs"/>
              </a:rPr>
              <a:t>“cobertura” </a:t>
            </a:r>
            <a:r>
              <a:rPr kumimoji="0" lang="es-ES_tradnl" sz="1400" b="0" i="0" u="none" strike="noStrike" kern="1200" cap="none" spc="0" normalizeH="0" baseline="0" noProof="0" dirty="0">
                <a:ln>
                  <a:noFill/>
                </a:ln>
                <a:effectLst/>
                <a:uLnTx/>
                <a:uFillTx/>
                <a:latin typeface="+mn-lt"/>
                <a:ea typeface="+mn-ea"/>
                <a:cs typeface="+mn-cs"/>
              </a:rPr>
              <a:t>del control </a:t>
            </a:r>
            <a:r>
              <a:rPr kumimoji="0" lang="es-ES_tradnl" sz="1400" b="1" i="0" u="none" strike="noStrike" kern="1200" cap="none" spc="0" normalizeH="0" baseline="0" noProof="0" dirty="0">
                <a:ln>
                  <a:noFill/>
                </a:ln>
                <a:effectLst/>
                <a:uLnTx/>
                <a:uFillTx/>
                <a:latin typeface="+mn-lt"/>
                <a:ea typeface="+mn-ea"/>
                <a:cs typeface="+mn-cs"/>
              </a:rPr>
              <a:t>se deberá tener en consideración la “base de operaciones” sobre el cual es aplicado</a:t>
            </a:r>
            <a:r>
              <a:rPr kumimoji="0" lang="es-ES_tradnl" sz="1400" b="0" i="0" u="none" strike="noStrike" kern="1200" cap="none" spc="0" normalizeH="0" baseline="0" noProof="0" dirty="0">
                <a:ln>
                  <a:noFill/>
                </a:ln>
                <a:effectLst/>
                <a:uLnTx/>
                <a:uFillTx/>
                <a:latin typeface="+mn-lt"/>
                <a:ea typeface="+mn-ea"/>
                <a:cs typeface="+mn-cs"/>
              </a:rPr>
              <a:t>. Por ejemplo, si el </a:t>
            </a:r>
            <a:r>
              <a:rPr kumimoji="0" lang="es-ES_tradnl" sz="1400" b="1" i="0" u="none" strike="noStrike" kern="1200" cap="none" spc="0" normalizeH="0" baseline="0" noProof="0" dirty="0">
                <a:ln>
                  <a:noFill/>
                </a:ln>
                <a:effectLst/>
                <a:uLnTx/>
                <a:uFillTx/>
                <a:latin typeface="+mn-lt"/>
                <a:ea typeface="+mn-ea"/>
                <a:cs typeface="+mn-cs"/>
              </a:rPr>
              <a:t>control es aplicado frecuentemente</a:t>
            </a:r>
            <a:r>
              <a:rPr kumimoji="0" lang="es-ES_tradnl" sz="1400" b="0" i="0" u="none" strike="noStrike" kern="1200" cap="none" spc="0" normalizeH="0" baseline="0" noProof="0" dirty="0">
                <a:ln>
                  <a:noFill/>
                </a:ln>
                <a:effectLst/>
                <a:uLnTx/>
                <a:uFillTx/>
                <a:latin typeface="+mn-lt"/>
                <a:ea typeface="+mn-ea"/>
                <a:cs typeface="+mn-cs"/>
              </a:rPr>
              <a:t>, pero </a:t>
            </a:r>
            <a:r>
              <a:rPr kumimoji="0" lang="es-ES_tradnl" sz="1400" b="1" i="0" u="none" strike="noStrike" kern="1200" cap="none" spc="0" normalizeH="0" baseline="0" noProof="0" dirty="0">
                <a:ln>
                  <a:noFill/>
                </a:ln>
                <a:effectLst/>
                <a:uLnTx/>
                <a:uFillTx/>
                <a:latin typeface="+mn-lt"/>
                <a:ea typeface="+mn-ea"/>
                <a:cs typeface="+mn-cs"/>
              </a:rPr>
              <a:t>no da cobertura a todas las operaciones </a:t>
            </a:r>
            <a:r>
              <a:rPr kumimoji="0" lang="es-ES_tradnl" sz="1400" b="0" i="0" u="none" strike="noStrike" kern="1200" cap="none" spc="0" normalizeH="0" baseline="0" noProof="0" dirty="0">
                <a:ln>
                  <a:noFill/>
                </a:ln>
                <a:effectLst/>
                <a:uLnTx/>
                <a:uFillTx/>
                <a:latin typeface="+mn-lt"/>
                <a:ea typeface="+mn-ea"/>
                <a:cs typeface="+mn-cs"/>
              </a:rPr>
              <a:t>deberá valorarse como </a:t>
            </a:r>
            <a:r>
              <a:rPr kumimoji="0" lang="es-ES_tradnl" sz="1400" b="1" i="0" u="none" strike="noStrike" kern="1200" cap="none" spc="0" normalizeH="0" baseline="0" noProof="0" dirty="0">
                <a:ln>
                  <a:noFill/>
                </a:ln>
                <a:effectLst/>
                <a:uLnTx/>
                <a:uFillTx/>
                <a:latin typeface="+mn-lt"/>
                <a:ea typeface="+mn-ea"/>
                <a:cs typeface="+mn-cs"/>
              </a:rPr>
              <a:t>“Se aplica con frecuencia”.  </a:t>
            </a:r>
          </a:p>
          <a:p>
            <a:pPr marL="342900" marR="0" lvl="0" indent="-342900" algn="just" defTabSz="914400" rtl="0" eaLnBrk="1" fontAlgn="auto" latinLnBrk="0" hangingPunct="1">
              <a:lnSpc>
                <a:spcPct val="100000"/>
              </a:lnSpc>
              <a:spcBef>
                <a:spcPct val="20000"/>
              </a:spcBef>
              <a:spcAft>
                <a:spcPts val="0"/>
              </a:spcAft>
              <a:buClr>
                <a:srgbClr val="DB0613"/>
              </a:buClr>
              <a:buSzTx/>
              <a:buFont typeface="Arial" pitchFamily="34" charset="0"/>
              <a:buChar char="•"/>
              <a:tabLst/>
              <a:defRPr/>
            </a:pPr>
            <a:endParaRPr lang="es-ES_tradnl" sz="1400" b="1" dirty="0"/>
          </a:p>
          <a:p>
            <a:pPr marL="342900" marR="0" lvl="0" indent="-342900" algn="just" defTabSz="914400" rtl="0" eaLnBrk="1" fontAlgn="auto" latinLnBrk="0" hangingPunct="1">
              <a:lnSpc>
                <a:spcPct val="100000"/>
              </a:lnSpc>
              <a:spcBef>
                <a:spcPct val="20000"/>
              </a:spcBef>
              <a:spcAft>
                <a:spcPts val="0"/>
              </a:spcAft>
              <a:buClr>
                <a:srgbClr val="DB0613"/>
              </a:buClr>
              <a:buSzTx/>
              <a:buFont typeface="Arial" pitchFamily="34" charset="0"/>
              <a:buChar char="•"/>
              <a:tabLst/>
              <a:defRPr/>
            </a:pPr>
            <a:r>
              <a:rPr kumimoji="0" lang="es-ES_tradnl" sz="1400" i="0" u="none" strike="noStrike" kern="1200" cap="none" spc="0" normalizeH="0" baseline="0" noProof="0" dirty="0">
                <a:ln>
                  <a:noFill/>
                </a:ln>
                <a:effectLst/>
                <a:uLnTx/>
                <a:uFillTx/>
                <a:latin typeface="+mn-lt"/>
                <a:ea typeface="+mn-ea"/>
                <a:cs typeface="+mn-cs"/>
              </a:rPr>
              <a:t>Si el control se aplica pero </a:t>
            </a:r>
            <a:r>
              <a:rPr kumimoji="0" lang="es-ES_tradnl" sz="1400" b="1" i="0" u="none" strike="noStrike" kern="1200" cap="none" spc="0" normalizeH="0" baseline="0" noProof="0" dirty="0">
                <a:ln>
                  <a:noFill/>
                </a:ln>
                <a:effectLst/>
                <a:uLnTx/>
                <a:uFillTx/>
                <a:latin typeface="+mn-lt"/>
                <a:ea typeface="+mn-ea"/>
                <a:cs typeface="+mn-cs"/>
              </a:rPr>
              <a:t>no se encuentra formalizado, </a:t>
            </a:r>
            <a:r>
              <a:rPr kumimoji="0" lang="es-ES_tradnl" sz="1400" i="0" u="none" strike="noStrike" kern="1200" cap="none" spc="0" normalizeH="0" baseline="0" noProof="0" dirty="0">
                <a:ln>
                  <a:noFill/>
                </a:ln>
                <a:effectLst/>
                <a:uLnTx/>
                <a:uFillTx/>
                <a:latin typeface="+mn-lt"/>
                <a:ea typeface="+mn-ea"/>
                <a:cs typeface="+mn-cs"/>
              </a:rPr>
              <a:t>en la</a:t>
            </a:r>
            <a:r>
              <a:rPr kumimoji="0" lang="es-ES_tradnl" sz="1400" i="0" u="none" strike="noStrike" kern="1200" cap="none" spc="0" normalizeH="0" noProof="0" dirty="0">
                <a:ln>
                  <a:noFill/>
                </a:ln>
                <a:effectLst/>
                <a:uLnTx/>
                <a:uFillTx/>
                <a:latin typeface="+mn-lt"/>
                <a:ea typeface="+mn-ea"/>
                <a:cs typeface="+mn-cs"/>
              </a:rPr>
              <a:t> valoración de cobertura,  podrá recibir como máximo la evaluación de </a:t>
            </a:r>
            <a:r>
              <a:rPr kumimoji="0" lang="es-ES_tradnl" sz="1400" b="1" i="0" u="none" strike="noStrike" kern="1200" cap="none" spc="0" normalizeH="0" noProof="0" dirty="0">
                <a:ln>
                  <a:noFill/>
                </a:ln>
                <a:effectLst/>
                <a:uLnTx/>
                <a:uFillTx/>
                <a:latin typeface="+mn-lt"/>
                <a:ea typeface="+mn-ea"/>
                <a:cs typeface="+mn-cs"/>
              </a:rPr>
              <a:t>“Se aplica ocasionalmente”.</a:t>
            </a:r>
            <a:endParaRPr kumimoji="0" lang="en-US" sz="1400" b="1" i="0" u="none" strike="noStrike" kern="1200" cap="none" spc="0" normalizeH="0" baseline="0" noProof="0" dirty="0">
              <a:ln>
                <a:noFill/>
              </a:ln>
              <a:effectLst/>
              <a:uLnTx/>
              <a:uFillTx/>
              <a:latin typeface="+mn-lt"/>
              <a:ea typeface="+mn-ea"/>
              <a:cs typeface="+mn-cs"/>
            </a:endParaRPr>
          </a:p>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effectLst/>
              <a:uLnTx/>
              <a:uFillTx/>
              <a:latin typeface="+mn-lt"/>
              <a:ea typeface="+mn-ea"/>
              <a:cs typeface="+mn-cs"/>
            </a:endParaRPr>
          </a:p>
        </p:txBody>
      </p:sp>
      <p:sp>
        <p:nvSpPr>
          <p:cNvPr id="10"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1"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2"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13"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14"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15"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16"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17"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3650442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2: Planes de Acción y KRI’s</a:t>
            </a:r>
          </a:p>
        </p:txBody>
      </p:sp>
      <p:sp>
        <p:nvSpPr>
          <p:cNvPr id="4" name="Rounded Rectangle 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6" name="Rectangle 29"/>
          <p:cNvSpPr txBox="1">
            <a:spLocks noChangeArrowheads="1"/>
          </p:cNvSpPr>
          <p:nvPr/>
        </p:nvSpPr>
        <p:spPr bwMode="gray">
          <a:xfrm>
            <a:off x="357158" y="827683"/>
            <a:ext cx="8607330" cy="51574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fontAlgn="base">
              <a:spcBef>
                <a:spcPct val="0"/>
              </a:spcBef>
              <a:spcAft>
                <a:spcPct val="0"/>
              </a:spcAft>
              <a:defRPr/>
            </a:pPr>
            <a:endParaRPr lang="es-CL" sz="1400" dirty="0">
              <a:latin typeface="+mj-lt"/>
            </a:endParaRPr>
          </a:p>
          <a:p>
            <a:pPr algn="just" fontAlgn="base">
              <a:spcBef>
                <a:spcPct val="0"/>
              </a:spcBef>
              <a:spcAft>
                <a:spcPct val="0"/>
              </a:spcAft>
              <a:defRPr/>
            </a:pPr>
            <a:endParaRPr lang="es-CL" sz="1400" dirty="0">
              <a:latin typeface="+mj-lt"/>
            </a:endParaRPr>
          </a:p>
          <a:p>
            <a:pPr algn="just" fontAlgn="base">
              <a:spcBef>
                <a:spcPct val="0"/>
              </a:spcBef>
              <a:spcAft>
                <a:spcPct val="0"/>
              </a:spcAft>
              <a:defRPr/>
            </a:pPr>
            <a:r>
              <a:rPr lang="es-CL" sz="1400" dirty="0">
                <a:latin typeface="+mj-lt"/>
              </a:rPr>
              <a:t>Los planes de acción asociados a cada uno de los riesgos deberán contener al menos la siguiente información:</a:t>
            </a:r>
          </a:p>
          <a:p>
            <a:pPr algn="just" fontAlgn="base">
              <a:spcBef>
                <a:spcPct val="0"/>
              </a:spcBef>
              <a:spcAft>
                <a:spcPct val="0"/>
              </a:spcAft>
              <a:defRPr/>
            </a:pPr>
            <a:endParaRPr lang="es-CL" sz="1400" dirty="0">
              <a:latin typeface="+mj-lt"/>
            </a:endParaRPr>
          </a:p>
          <a:p>
            <a:pPr marL="342900" indent="-342900" algn="just" fontAlgn="base">
              <a:spcBef>
                <a:spcPct val="0"/>
              </a:spcBef>
              <a:spcAft>
                <a:spcPct val="0"/>
              </a:spcAft>
              <a:buFont typeface="+mj-lt"/>
              <a:buAutoNum type="arabicPeriod"/>
              <a:defRPr/>
            </a:pPr>
            <a:r>
              <a:rPr lang="es-ES_tradnl" sz="1400" b="1" noProof="0" dirty="0">
                <a:sym typeface="Wingdings" pitchFamily="2" charset="2"/>
              </a:rPr>
              <a:t>Nombre del Plan de Acción: </a:t>
            </a:r>
            <a:r>
              <a:rPr lang="es-ES_tradnl" sz="1400" dirty="0">
                <a:sym typeface="Wingdings" pitchFamily="2" charset="2"/>
              </a:rPr>
              <a:t>Descripción breve del plan de acción.</a:t>
            </a:r>
            <a:endParaRPr lang="es-ES_tradnl" sz="1400" b="1" dirty="0">
              <a:sym typeface="Wingdings" pitchFamily="2" charset="2"/>
            </a:endParaRPr>
          </a:p>
          <a:p>
            <a:pPr algn="just" fontAlgn="base">
              <a:spcBef>
                <a:spcPct val="0"/>
              </a:spcBef>
              <a:spcAft>
                <a:spcPct val="0"/>
              </a:spcAft>
              <a:defRPr/>
            </a:pPr>
            <a:endParaRPr lang="es-ES_tradnl" sz="1400" b="1" noProof="0" dirty="0">
              <a:sym typeface="Wingdings" pitchFamily="2" charset="2"/>
            </a:endParaRPr>
          </a:p>
          <a:p>
            <a:pPr marL="342900" indent="-342900" algn="just" fontAlgn="base">
              <a:spcBef>
                <a:spcPct val="0"/>
              </a:spcBef>
              <a:spcAft>
                <a:spcPct val="0"/>
              </a:spcAft>
              <a:buFont typeface="+mj-lt"/>
              <a:buAutoNum type="arabicPeriod"/>
              <a:defRPr/>
            </a:pPr>
            <a:r>
              <a:rPr lang="es-ES_tradnl" sz="1400" b="1" noProof="0" dirty="0">
                <a:sym typeface="Wingdings" pitchFamily="2" charset="2"/>
              </a:rPr>
              <a:t>Descripción del Plan de Acción: </a:t>
            </a:r>
            <a:r>
              <a:rPr lang="es-ES_tradnl" sz="1400" dirty="0">
                <a:sym typeface="Wingdings" pitchFamily="2" charset="2"/>
              </a:rPr>
              <a:t>Descripción detallada del plan de acción.  </a:t>
            </a:r>
            <a:endParaRPr lang="es-ES_tradnl" sz="1400" b="1" noProof="0" dirty="0">
              <a:sym typeface="Wingdings" pitchFamily="2" charset="2"/>
            </a:endParaRPr>
          </a:p>
          <a:p>
            <a:pPr marL="342900" indent="-342900" algn="just" fontAlgn="base">
              <a:spcBef>
                <a:spcPct val="0"/>
              </a:spcBef>
              <a:spcAft>
                <a:spcPct val="0"/>
              </a:spcAft>
              <a:buFont typeface="+mj-lt"/>
              <a:buAutoNum type="arabicPeriod"/>
              <a:defRPr/>
            </a:pPr>
            <a:endParaRPr lang="es-ES_tradnl" sz="1400" b="1" dirty="0">
              <a:latin typeface="+mj-lt"/>
              <a:sym typeface="Wingdings" pitchFamily="2" charset="2"/>
            </a:endParaRPr>
          </a:p>
          <a:p>
            <a:pPr marL="342900" indent="-342900" algn="just" fontAlgn="base">
              <a:spcBef>
                <a:spcPct val="0"/>
              </a:spcBef>
              <a:spcAft>
                <a:spcPct val="0"/>
              </a:spcAft>
              <a:buFont typeface="+mj-lt"/>
              <a:buAutoNum type="arabicPeriod"/>
              <a:defRPr/>
            </a:pPr>
            <a:r>
              <a:rPr lang="es-ES_tradnl" sz="1400" b="1" noProof="0" dirty="0">
                <a:latin typeface="+mj-lt"/>
                <a:sym typeface="Wingdings" pitchFamily="2" charset="2"/>
              </a:rPr>
              <a:t>Unidad de negocio involucradas: </a:t>
            </a:r>
            <a:r>
              <a:rPr lang="es-ES_tradnl" sz="1400" noProof="0" dirty="0">
                <a:latin typeface="+mj-lt"/>
                <a:sym typeface="Wingdings" pitchFamily="2" charset="2"/>
              </a:rPr>
              <a:t>Unidades de negocio involucradas en la implementación del plan de acción.</a:t>
            </a:r>
          </a:p>
          <a:p>
            <a:pPr marL="342900" indent="-342900" algn="just" fontAlgn="base">
              <a:spcBef>
                <a:spcPct val="0"/>
              </a:spcBef>
              <a:spcAft>
                <a:spcPct val="0"/>
              </a:spcAft>
              <a:buFont typeface="+mj-lt"/>
              <a:buAutoNum type="arabicPeriod"/>
              <a:defRPr/>
            </a:pPr>
            <a:endParaRPr lang="es-ES_tradnl" sz="1400" b="1" dirty="0">
              <a:latin typeface="+mj-lt"/>
              <a:sym typeface="Wingdings" pitchFamily="2" charset="2"/>
            </a:endParaRPr>
          </a:p>
          <a:p>
            <a:pPr marL="342900" indent="-342900" algn="just" fontAlgn="base">
              <a:spcBef>
                <a:spcPct val="0"/>
              </a:spcBef>
              <a:spcAft>
                <a:spcPct val="0"/>
              </a:spcAft>
              <a:buFont typeface="+mj-lt"/>
              <a:buAutoNum type="arabicPeriod"/>
              <a:defRPr/>
            </a:pPr>
            <a:r>
              <a:rPr lang="es-ES_tradnl" sz="1400" b="1" noProof="0" dirty="0">
                <a:latin typeface="+mj-lt"/>
                <a:sym typeface="Wingdings" pitchFamily="2" charset="2"/>
              </a:rPr>
              <a:t>Estimación de Potencial de mejora: </a:t>
            </a:r>
            <a:r>
              <a:rPr lang="es-ES_tradnl" sz="1400" noProof="0" dirty="0">
                <a:latin typeface="+mj-lt"/>
                <a:sym typeface="Wingdings" pitchFamily="2" charset="2"/>
              </a:rPr>
              <a:t>Poder mitigante del plan de acción en una </a:t>
            </a:r>
            <a:r>
              <a:rPr lang="es-ES_tradnl" sz="1400" b="1" noProof="0" dirty="0">
                <a:latin typeface="+mj-lt"/>
                <a:sym typeface="Wingdings" pitchFamily="2" charset="2"/>
              </a:rPr>
              <a:t>escala de 0% a 100%</a:t>
            </a:r>
            <a:r>
              <a:rPr lang="es-ES_tradnl" sz="1400" noProof="0" dirty="0">
                <a:latin typeface="+mj-lt"/>
                <a:sym typeface="Wingdings" pitchFamily="2" charset="2"/>
              </a:rPr>
              <a:t>, donde 100% implica que el plan de acción mitiga completamente las </a:t>
            </a:r>
            <a:r>
              <a:rPr lang="es-ES_tradnl" sz="1400" b="1" noProof="0" dirty="0">
                <a:latin typeface="+mj-lt"/>
                <a:sym typeface="Wingdings" pitchFamily="2" charset="2"/>
              </a:rPr>
              <a:t>pérdidas operativas </a:t>
            </a:r>
            <a:r>
              <a:rPr lang="es-ES_tradnl" sz="1400" noProof="0" dirty="0">
                <a:latin typeface="+mj-lt"/>
                <a:sym typeface="Wingdings" pitchFamily="2" charset="2"/>
              </a:rPr>
              <a:t>asociadas al riesgo. Por ejemplo, si Pérdida Esperada Anual (PEA) del riesgo “Caída de sistemas Bloomberg y Datatec” es S/. 1,000,000 y el potencial del mejora se estima en 50%, quiere decir que se espera reducir las pérdida operativas a S/. 500,000.</a:t>
            </a:r>
          </a:p>
          <a:p>
            <a:pPr marL="342900" indent="-342900" algn="just" fontAlgn="base">
              <a:spcBef>
                <a:spcPct val="0"/>
              </a:spcBef>
              <a:spcAft>
                <a:spcPct val="0"/>
              </a:spcAft>
              <a:buFont typeface="+mj-lt"/>
              <a:buAutoNum type="arabicPeriod"/>
              <a:defRPr/>
            </a:pPr>
            <a:endParaRPr lang="es-ES_tradnl" sz="1400" b="1" dirty="0">
              <a:latin typeface="+mj-lt"/>
              <a:sym typeface="Wingdings" pitchFamily="2" charset="2"/>
            </a:endParaRPr>
          </a:p>
          <a:p>
            <a:pPr marL="342900" indent="-342900" algn="just" fontAlgn="base">
              <a:spcBef>
                <a:spcPct val="0"/>
              </a:spcBef>
              <a:spcAft>
                <a:spcPct val="0"/>
              </a:spcAft>
              <a:buFont typeface="+mj-lt"/>
              <a:buAutoNum type="arabicPeriod"/>
              <a:defRPr/>
            </a:pPr>
            <a:r>
              <a:rPr lang="es-ES_tradnl" sz="1400" b="1" noProof="0" dirty="0">
                <a:latin typeface="+mj-lt"/>
                <a:sym typeface="Wingdings" pitchFamily="2" charset="2"/>
              </a:rPr>
              <a:t>Esfuerzo de implementación – Costo estimado: </a:t>
            </a:r>
            <a:r>
              <a:rPr lang="es-ES_tradnl" sz="1400" noProof="0" dirty="0">
                <a:latin typeface="+mj-lt"/>
                <a:sym typeface="Wingdings" pitchFamily="2" charset="2"/>
              </a:rPr>
              <a:t>El costo estimado del plan de acción deberá ser clasificado en base a la siguiente escala:</a:t>
            </a:r>
          </a:p>
          <a:p>
            <a:pPr algn="just" fontAlgn="base">
              <a:spcBef>
                <a:spcPct val="0"/>
              </a:spcBef>
              <a:spcAft>
                <a:spcPct val="0"/>
              </a:spcAft>
              <a:defRPr/>
            </a:pPr>
            <a:endParaRPr lang="es-ES_tradnl" sz="1400" noProof="0" dirty="0">
              <a:latin typeface="+mj-lt"/>
              <a:sym typeface="Wingdings" pitchFamily="2" charset="2"/>
            </a:endParaRP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Muy Bajo: </a:t>
            </a:r>
            <a:r>
              <a:rPr lang="es-ES_tradnl" sz="1400" dirty="0">
                <a:latin typeface="+mj-lt"/>
                <a:sym typeface="Wingdings" pitchFamily="2" charset="2"/>
              </a:rPr>
              <a:t>S/.0 &lt; C &lt; S/. 3,000</a:t>
            </a: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Bajo: </a:t>
            </a:r>
            <a:r>
              <a:rPr lang="es-ES_tradnl" sz="1400" b="1" dirty="0">
                <a:sym typeface="Wingdings" pitchFamily="2" charset="2"/>
              </a:rPr>
              <a:t> </a:t>
            </a:r>
            <a:r>
              <a:rPr lang="es-ES_tradnl" sz="1400" dirty="0">
                <a:sym typeface="Wingdings" pitchFamily="2" charset="2"/>
              </a:rPr>
              <a:t>S/. 3,001 &lt; C &lt; S/. 10,000</a:t>
            </a:r>
            <a:endParaRPr lang="es-ES_tradnl" sz="1400" b="1" dirty="0">
              <a:latin typeface="+mj-lt"/>
              <a:sym typeface="Wingdings" pitchFamily="2" charset="2"/>
            </a:endParaRP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Medio: </a:t>
            </a:r>
            <a:r>
              <a:rPr lang="es-ES_tradnl" sz="1400" dirty="0">
                <a:latin typeface="+mj-lt"/>
                <a:sym typeface="Wingdings" pitchFamily="2" charset="2"/>
              </a:rPr>
              <a:t>S/. 10,001 &lt; C &lt; 20,000</a:t>
            </a: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Alto: </a:t>
            </a:r>
            <a:r>
              <a:rPr lang="es-ES_tradnl" sz="1400" dirty="0">
                <a:latin typeface="+mj-lt"/>
                <a:sym typeface="Wingdings" pitchFamily="2" charset="2"/>
              </a:rPr>
              <a:t>S/. 20,001 &lt; C &lt; 50,000</a:t>
            </a: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Muy alto: </a:t>
            </a:r>
            <a:r>
              <a:rPr lang="es-ES_tradnl" sz="1400" dirty="0">
                <a:latin typeface="+mj-lt"/>
                <a:sym typeface="Wingdings" pitchFamily="2" charset="2"/>
              </a:rPr>
              <a:t>S/.50,000 &lt; C</a:t>
            </a:r>
          </a:p>
          <a:p>
            <a:pPr marL="342900" indent="-342900" algn="just" fontAlgn="base">
              <a:spcBef>
                <a:spcPct val="0"/>
              </a:spcBef>
              <a:spcAft>
                <a:spcPct val="0"/>
              </a:spcAft>
              <a:buFont typeface="+mj-lt"/>
              <a:buAutoNum type="arabicPeriod"/>
              <a:defRPr/>
            </a:pPr>
            <a:endParaRPr lang="es-ES_tradnl" sz="1600" noProof="0" dirty="0">
              <a:latin typeface="+mj-lt"/>
              <a:sym typeface="Wingdings" pitchFamily="2" charset="2"/>
            </a:endParaRPr>
          </a:p>
          <a:p>
            <a:pPr marL="0" marR="0" lvl="0" indent="0" algn="l" defTabSz="914400" rtl="0" eaLnBrk="1" fontAlgn="base" latinLnBrk="0" hangingPunct="1">
              <a:lnSpc>
                <a:spcPct val="100000"/>
              </a:lnSpc>
              <a:spcBef>
                <a:spcPct val="0"/>
              </a:spcBef>
              <a:spcAft>
                <a:spcPct val="0"/>
              </a:spcAft>
              <a:buClrTx/>
              <a:buSzTx/>
              <a:buFontTx/>
              <a:buNone/>
              <a:tabLst/>
              <a:defRPr/>
            </a:pPr>
            <a:br>
              <a:rPr kumimoji="0" lang="es-ES_tradnl" sz="2200" b="1" i="0" u="none" strike="noStrike" kern="0" cap="none" spc="0" normalizeH="0" baseline="0" noProof="0" dirty="0">
                <a:ln>
                  <a:noFill/>
                </a:ln>
                <a:solidFill>
                  <a:srgbClr val="4B4B4B"/>
                </a:solidFill>
                <a:effectLst/>
                <a:uLnTx/>
                <a:uFillTx/>
                <a:latin typeface="+mj-lt"/>
                <a:ea typeface="+mj-ea"/>
                <a:cs typeface="+mj-cs"/>
              </a:rPr>
            </a:br>
            <a:r>
              <a:rPr kumimoji="0" lang="es-ES_tradnl" sz="1800" b="1" i="0" u="none" strike="noStrike" kern="0" cap="none" spc="0" normalizeH="0" baseline="0" noProof="0" dirty="0">
                <a:ln>
                  <a:noFill/>
                </a:ln>
                <a:solidFill>
                  <a:schemeClr val="hlink"/>
                </a:solidFill>
                <a:effectLst/>
                <a:uLnTx/>
                <a:uFillTx/>
                <a:latin typeface="+mj-lt"/>
                <a:ea typeface="+mj-ea"/>
                <a:cs typeface="+mj-cs"/>
              </a:rPr>
              <a:t> </a:t>
            </a:r>
          </a:p>
        </p:txBody>
      </p:sp>
      <p:sp>
        <p:nvSpPr>
          <p:cNvPr id="7" name="Rectangle 4"/>
          <p:cNvSpPr>
            <a:spLocks noChangeArrowheads="1"/>
          </p:cNvSpPr>
          <p:nvPr/>
        </p:nvSpPr>
        <p:spPr bwMode="auto">
          <a:xfrm>
            <a:off x="107504" y="692696"/>
            <a:ext cx="8536462" cy="440068"/>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Documentación de Planes de Acción</a:t>
            </a:r>
          </a:p>
        </p:txBody>
      </p:sp>
      <p:sp>
        <p:nvSpPr>
          <p:cNvPr id="10"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1"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2"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13"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14"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15"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16"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17"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2932090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9"/>
          <p:cNvSpPr txBox="1">
            <a:spLocks noChangeArrowheads="1"/>
          </p:cNvSpPr>
          <p:nvPr/>
        </p:nvSpPr>
        <p:spPr bwMode="gray">
          <a:xfrm>
            <a:off x="357158" y="827683"/>
            <a:ext cx="8607330" cy="51574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fontAlgn="base">
              <a:spcBef>
                <a:spcPct val="0"/>
              </a:spcBef>
              <a:spcAft>
                <a:spcPct val="0"/>
              </a:spcAft>
              <a:defRPr/>
            </a:pPr>
            <a:endParaRPr lang="es-CL" sz="1400" dirty="0">
              <a:latin typeface="+mj-lt"/>
            </a:endParaRPr>
          </a:p>
          <a:p>
            <a:pPr algn="just" fontAlgn="base">
              <a:spcBef>
                <a:spcPct val="0"/>
              </a:spcBef>
              <a:spcAft>
                <a:spcPct val="0"/>
              </a:spcAft>
              <a:defRPr/>
            </a:pPr>
            <a:endParaRPr lang="es-CL" sz="1400" dirty="0">
              <a:latin typeface="+mj-lt"/>
            </a:endParaRPr>
          </a:p>
          <a:p>
            <a:pPr algn="just" fontAlgn="base">
              <a:spcBef>
                <a:spcPct val="0"/>
              </a:spcBef>
              <a:spcAft>
                <a:spcPct val="0"/>
              </a:spcAft>
              <a:defRPr/>
            </a:pPr>
            <a:r>
              <a:rPr lang="es-CL" sz="1400" dirty="0">
                <a:latin typeface="+mj-lt"/>
              </a:rPr>
              <a:t>Los planes de acción asociados a cada uno de los riesgos deberán contener al menos la siguiente información:</a:t>
            </a:r>
          </a:p>
          <a:p>
            <a:pPr lvl="1" algn="just" fontAlgn="base">
              <a:spcBef>
                <a:spcPct val="0"/>
              </a:spcBef>
              <a:spcAft>
                <a:spcPct val="0"/>
              </a:spcAft>
              <a:defRPr/>
            </a:pPr>
            <a:endParaRPr lang="es-ES_tradnl" sz="1400" b="1" dirty="0">
              <a:latin typeface="+mj-lt"/>
              <a:sym typeface="Wingdings" pitchFamily="2" charset="2"/>
            </a:endParaRPr>
          </a:p>
          <a:p>
            <a:pPr marL="342900" indent="-342900" algn="just" fontAlgn="base">
              <a:spcBef>
                <a:spcPct val="0"/>
              </a:spcBef>
              <a:spcAft>
                <a:spcPct val="0"/>
              </a:spcAft>
              <a:buFont typeface="+mj-lt"/>
              <a:buAutoNum type="arabicPeriod" startAt="5"/>
              <a:defRPr/>
            </a:pPr>
            <a:r>
              <a:rPr lang="es-ES_tradnl" sz="1400" b="1" noProof="0" dirty="0">
                <a:latin typeface="+mj-lt"/>
                <a:sym typeface="Wingdings" pitchFamily="2" charset="2"/>
              </a:rPr>
              <a:t>Esfuerzo de implementación – Tiempo estimado: </a:t>
            </a:r>
            <a:r>
              <a:rPr lang="es-ES_tradnl" sz="1400" dirty="0">
                <a:sym typeface="Wingdings" pitchFamily="2" charset="2"/>
              </a:rPr>
              <a:t>El tiempo estimado del plan de acción deberá ser clasificado en base a la siguiente escala:</a:t>
            </a:r>
          </a:p>
          <a:p>
            <a:pPr algn="just" fontAlgn="base">
              <a:spcBef>
                <a:spcPct val="0"/>
              </a:spcBef>
              <a:spcAft>
                <a:spcPct val="0"/>
              </a:spcAft>
              <a:defRPr/>
            </a:pPr>
            <a:endParaRPr lang="es-ES_tradnl" sz="1400" b="1" dirty="0">
              <a:latin typeface="+mj-lt"/>
              <a:sym typeface="Wingdings" pitchFamily="2" charset="2"/>
            </a:endParaRP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Muy b</a:t>
            </a:r>
            <a:r>
              <a:rPr lang="es-ES_tradnl" sz="1400" b="1" noProof="0" dirty="0">
                <a:latin typeface="+mj-lt"/>
                <a:sym typeface="Wingdings" pitchFamily="2" charset="2"/>
              </a:rPr>
              <a:t>ajo: </a:t>
            </a:r>
            <a:r>
              <a:rPr lang="es-ES_tradnl" sz="1400" noProof="0" dirty="0">
                <a:latin typeface="+mj-lt"/>
                <a:sym typeface="Wingdings" pitchFamily="2" charset="2"/>
              </a:rPr>
              <a:t>1 día – 30 días (1 mes)</a:t>
            </a: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Bajo: </a:t>
            </a:r>
            <a:r>
              <a:rPr lang="es-ES_tradnl" sz="1400" dirty="0">
                <a:latin typeface="+mj-lt"/>
                <a:sym typeface="Wingdings" pitchFamily="2" charset="2"/>
              </a:rPr>
              <a:t>31 días – 90 días (3 meses)</a:t>
            </a:r>
          </a:p>
          <a:p>
            <a:pPr marL="800100" lvl="1" indent="-342900" algn="just" fontAlgn="base">
              <a:spcBef>
                <a:spcPct val="0"/>
              </a:spcBef>
              <a:spcAft>
                <a:spcPct val="0"/>
              </a:spcAft>
              <a:buFont typeface="Arial" pitchFamily="34" charset="0"/>
              <a:buChar char="•"/>
              <a:defRPr/>
            </a:pPr>
            <a:r>
              <a:rPr lang="es-ES_tradnl" sz="1400" b="1" noProof="0" dirty="0">
                <a:latin typeface="+mj-lt"/>
                <a:sym typeface="Wingdings" pitchFamily="2" charset="2"/>
              </a:rPr>
              <a:t>Medio: </a:t>
            </a:r>
            <a:r>
              <a:rPr lang="es-ES_tradnl" sz="1400" noProof="0" dirty="0">
                <a:latin typeface="+mj-lt"/>
                <a:sym typeface="Wingdings" pitchFamily="2" charset="2"/>
              </a:rPr>
              <a:t> 91 días – </a:t>
            </a:r>
            <a:r>
              <a:rPr lang="es-ES_tradnl" sz="1400" dirty="0">
                <a:latin typeface="+mj-lt"/>
                <a:sym typeface="Wingdings" pitchFamily="2" charset="2"/>
              </a:rPr>
              <a:t>180 días (6 meses)</a:t>
            </a:r>
            <a:endParaRPr lang="es-ES_tradnl" sz="1400" noProof="0" dirty="0">
              <a:latin typeface="+mj-lt"/>
              <a:sym typeface="Wingdings" pitchFamily="2" charset="2"/>
            </a:endParaRPr>
          </a:p>
          <a:p>
            <a:pPr marL="800100" lvl="1" indent="-342900" algn="just" fontAlgn="base">
              <a:spcBef>
                <a:spcPct val="0"/>
              </a:spcBef>
              <a:spcAft>
                <a:spcPct val="0"/>
              </a:spcAft>
              <a:buFont typeface="Arial" pitchFamily="34" charset="0"/>
              <a:buChar char="•"/>
              <a:defRPr/>
            </a:pPr>
            <a:r>
              <a:rPr lang="es-ES_tradnl" sz="1400" b="1" dirty="0">
                <a:latin typeface="+mj-lt"/>
                <a:sym typeface="Wingdings" pitchFamily="2" charset="2"/>
              </a:rPr>
              <a:t>Alto: </a:t>
            </a:r>
            <a:r>
              <a:rPr lang="es-ES_tradnl" sz="1400" dirty="0">
                <a:latin typeface="+mj-lt"/>
                <a:sym typeface="Wingdings" pitchFamily="2" charset="2"/>
              </a:rPr>
              <a:t>181 días – 365 días (1 año)</a:t>
            </a:r>
          </a:p>
          <a:p>
            <a:pPr marL="800100" lvl="1" indent="-342900" algn="just" fontAlgn="base">
              <a:spcBef>
                <a:spcPct val="0"/>
              </a:spcBef>
              <a:spcAft>
                <a:spcPct val="0"/>
              </a:spcAft>
              <a:buFont typeface="Arial" pitchFamily="34" charset="0"/>
              <a:buChar char="•"/>
              <a:defRPr/>
            </a:pPr>
            <a:r>
              <a:rPr lang="es-ES_tradnl" sz="1400" b="1" noProof="0" dirty="0">
                <a:latin typeface="+mj-lt"/>
                <a:sym typeface="Wingdings" pitchFamily="2" charset="2"/>
              </a:rPr>
              <a:t>Muy alto: </a:t>
            </a:r>
            <a:r>
              <a:rPr lang="es-ES_tradnl" sz="1400" noProof="0" dirty="0">
                <a:latin typeface="+mj-lt"/>
                <a:sym typeface="Wingdings" pitchFamily="2" charset="2"/>
              </a:rPr>
              <a:t>&gt; </a:t>
            </a:r>
            <a:r>
              <a:rPr lang="es-ES_tradnl" sz="1400" dirty="0">
                <a:latin typeface="+mj-lt"/>
                <a:sym typeface="Wingdings" pitchFamily="2" charset="2"/>
              </a:rPr>
              <a:t>365 días (1 año)</a:t>
            </a:r>
          </a:p>
          <a:p>
            <a:pPr marL="800100" lvl="1" indent="-342900" algn="just" fontAlgn="base">
              <a:spcBef>
                <a:spcPct val="0"/>
              </a:spcBef>
              <a:spcAft>
                <a:spcPct val="0"/>
              </a:spcAft>
              <a:buFont typeface="Arial" pitchFamily="34" charset="0"/>
              <a:buChar char="•"/>
              <a:defRPr/>
            </a:pPr>
            <a:endParaRPr lang="es-ES_tradnl" sz="1400" b="1" noProof="0" dirty="0">
              <a:latin typeface="+mj-lt"/>
              <a:sym typeface="Wingdings" pitchFamily="2" charset="2"/>
            </a:endParaRPr>
          </a:p>
          <a:p>
            <a:pPr marL="342900" indent="-342900" algn="just" fontAlgn="base">
              <a:spcBef>
                <a:spcPct val="0"/>
              </a:spcBef>
              <a:spcAft>
                <a:spcPct val="0"/>
              </a:spcAft>
              <a:buFont typeface="+mj-lt"/>
              <a:buAutoNum type="arabicPeriod" startAt="6"/>
              <a:defRPr/>
            </a:pPr>
            <a:r>
              <a:rPr lang="es-ES_tradnl" sz="1400" b="1" dirty="0">
                <a:latin typeface="+mj-lt"/>
                <a:sym typeface="Wingdings" pitchFamily="2" charset="2"/>
              </a:rPr>
              <a:t>Tipo de Plan de Acción: </a:t>
            </a:r>
            <a:r>
              <a:rPr lang="es-ES_tradnl" sz="1400" dirty="0">
                <a:latin typeface="+mj-lt"/>
                <a:sym typeface="Wingdings" pitchFamily="2" charset="2"/>
              </a:rPr>
              <a:t>Define el tipo de plan de acción a desarrollar, pudiendo ser (1) Tecnología, (2) Procesos  y/o (3) Organización. Será posible asignar a un plan de acción un máximo de dos tipologías.</a:t>
            </a:r>
            <a:endParaRPr lang="es-ES_tradnl" sz="1400" b="1" noProof="0" dirty="0">
              <a:latin typeface="+mj-lt"/>
              <a:sym typeface="Wingdings" pitchFamily="2" charset="2"/>
            </a:endParaRPr>
          </a:p>
          <a:p>
            <a:pPr marL="342900" indent="-342900" algn="just" fontAlgn="base">
              <a:spcBef>
                <a:spcPct val="0"/>
              </a:spcBef>
              <a:spcAft>
                <a:spcPct val="0"/>
              </a:spcAft>
              <a:buFont typeface="+mj-lt"/>
              <a:buAutoNum type="arabicPeriod"/>
              <a:defRPr/>
            </a:pPr>
            <a:endParaRPr lang="es-ES_tradnl" sz="1400" b="1" dirty="0">
              <a:latin typeface="+mj-lt"/>
              <a:sym typeface="Wingdings" pitchFamily="2" charset="2"/>
            </a:endParaRPr>
          </a:p>
          <a:p>
            <a:pPr marL="342900" indent="-342900" algn="just" fontAlgn="base">
              <a:spcBef>
                <a:spcPct val="0"/>
              </a:spcBef>
              <a:spcAft>
                <a:spcPct val="0"/>
              </a:spcAft>
              <a:buFont typeface="+mj-lt"/>
              <a:buAutoNum type="arabicPeriod"/>
              <a:defRPr/>
            </a:pPr>
            <a:endParaRPr lang="es-ES_tradnl" sz="1600" noProof="0" dirty="0">
              <a:latin typeface="+mj-lt"/>
              <a:sym typeface="Wingdings" pitchFamily="2" charset="2"/>
            </a:endParaRPr>
          </a:p>
          <a:p>
            <a:pPr marL="0" marR="0" lvl="0" indent="0" algn="l" defTabSz="914400" rtl="0" eaLnBrk="1" fontAlgn="base" latinLnBrk="0" hangingPunct="1">
              <a:lnSpc>
                <a:spcPct val="100000"/>
              </a:lnSpc>
              <a:spcBef>
                <a:spcPct val="0"/>
              </a:spcBef>
              <a:spcAft>
                <a:spcPct val="0"/>
              </a:spcAft>
              <a:buClrTx/>
              <a:buSzTx/>
              <a:buFontTx/>
              <a:buNone/>
              <a:tabLst/>
              <a:defRPr/>
            </a:pPr>
            <a:br>
              <a:rPr kumimoji="0" lang="es-ES_tradnl" sz="2200" b="1" i="0" u="none" strike="noStrike" kern="0" cap="none" spc="0" normalizeH="0" baseline="0" noProof="0" dirty="0">
                <a:ln>
                  <a:noFill/>
                </a:ln>
                <a:solidFill>
                  <a:srgbClr val="4B4B4B"/>
                </a:solidFill>
                <a:effectLst/>
                <a:uLnTx/>
                <a:uFillTx/>
                <a:latin typeface="+mj-lt"/>
                <a:ea typeface="+mj-ea"/>
                <a:cs typeface="+mj-cs"/>
              </a:rPr>
            </a:br>
            <a:r>
              <a:rPr kumimoji="0" lang="es-ES_tradnl" sz="1800" b="1" i="0" u="none" strike="noStrike" kern="0" cap="none" spc="0" normalizeH="0" baseline="0" noProof="0" dirty="0">
                <a:ln>
                  <a:noFill/>
                </a:ln>
                <a:solidFill>
                  <a:schemeClr val="hlink"/>
                </a:solidFill>
                <a:effectLst/>
                <a:uLnTx/>
                <a:uFillTx/>
                <a:latin typeface="+mj-lt"/>
                <a:ea typeface="+mj-ea"/>
                <a:cs typeface="+mj-cs"/>
              </a:rPr>
              <a:t> </a:t>
            </a:r>
          </a:p>
        </p:txBody>
      </p:sp>
      <p:sp>
        <p:nvSpPr>
          <p:cNvPr id="7" name="Rectangle 4"/>
          <p:cNvSpPr>
            <a:spLocks noChangeArrowheads="1"/>
          </p:cNvSpPr>
          <p:nvPr/>
        </p:nvSpPr>
        <p:spPr bwMode="auto">
          <a:xfrm>
            <a:off x="107504" y="692696"/>
            <a:ext cx="8536462" cy="440068"/>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Documentación de Planes de Acción</a:t>
            </a:r>
          </a:p>
        </p:txBody>
      </p:sp>
      <p:sp>
        <p:nvSpPr>
          <p:cNvPr id="28" name="1 Título"/>
          <p:cNvSpPr>
            <a:spLocks noGrp="1"/>
          </p:cNvSpPr>
          <p:nvPr>
            <p:ph type="title"/>
          </p:nvPr>
        </p:nvSpPr>
        <p:spPr>
          <a:xfrm>
            <a:off x="47624" y="32965"/>
            <a:ext cx="8627715" cy="587723"/>
          </a:xfrm>
        </p:spPr>
        <p:txBody>
          <a:bodyPr/>
          <a:lstStyle/>
          <a:p>
            <a:r>
              <a:rPr lang="es-PE" dirty="0"/>
              <a:t>          Anexo 2: Planes de Acción y KRI’s</a:t>
            </a:r>
          </a:p>
        </p:txBody>
      </p:sp>
      <p:sp>
        <p:nvSpPr>
          <p:cNvPr id="29" name="Rounded Rectangle 28">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30"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31"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32"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33"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34"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35"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36"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37"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Tree>
    <p:extLst>
      <p:ext uri="{BB962C8B-B14F-4D97-AF65-F5344CB8AC3E}">
        <p14:creationId xmlns:p14="http://schemas.microsoft.com/office/powerpoint/2010/main" val="4880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9"/>
          <p:cNvSpPr txBox="1">
            <a:spLocks noChangeArrowheads="1"/>
          </p:cNvSpPr>
          <p:nvPr/>
        </p:nvSpPr>
        <p:spPr bwMode="gray">
          <a:xfrm>
            <a:off x="357158" y="827683"/>
            <a:ext cx="8607330" cy="45063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s-ES" sz="1400" dirty="0"/>
          </a:p>
          <a:p>
            <a:endParaRPr lang="es-ES" sz="1400" dirty="0"/>
          </a:p>
          <a:p>
            <a:pPr algn="just"/>
            <a:r>
              <a:rPr lang="es-ES" sz="1400" dirty="0"/>
              <a:t>Los </a:t>
            </a:r>
            <a:r>
              <a:rPr lang="es-ES" sz="1400" b="1" dirty="0"/>
              <a:t>indicadores de riesgo</a:t>
            </a:r>
            <a:r>
              <a:rPr lang="es-ES" sz="1400" dirty="0"/>
              <a:t> (Key Risk Indicators o KRI’s) son estadísticas o parámetros, a menudo financieros, que pueden revelar qué riesgos asume la Entidad. La evolución de dichos indicadores debe ser revisada periódicamente para </a:t>
            </a:r>
            <a:r>
              <a:rPr lang="es-ES" sz="1400" b="1" dirty="0"/>
              <a:t>alertar a la Entidad sobre cambios </a:t>
            </a:r>
            <a:r>
              <a:rPr lang="es-ES" sz="1400" dirty="0"/>
              <a:t>que puedan ser reveladores de problemas con el riesgo. </a:t>
            </a:r>
          </a:p>
          <a:p>
            <a:pPr algn="just"/>
            <a:endParaRPr lang="es-CL" sz="1400" dirty="0"/>
          </a:p>
          <a:p>
            <a:pPr algn="just"/>
            <a:r>
              <a:rPr lang="es-CL" sz="1400" dirty="0"/>
              <a:t>Para la documentación de los KRI’s, se deberá documentar la siguiente información:</a:t>
            </a:r>
          </a:p>
          <a:p>
            <a:pPr algn="just"/>
            <a:endParaRPr lang="es-CL" sz="1400" b="1" dirty="0"/>
          </a:p>
          <a:p>
            <a:pPr marL="342900" indent="-342900" algn="just">
              <a:buFont typeface="+mj-lt"/>
              <a:buAutoNum type="arabicPeriod"/>
            </a:pPr>
            <a:r>
              <a:rPr lang="es-CL" sz="1400" b="1" dirty="0"/>
              <a:t>Nombre: </a:t>
            </a:r>
            <a:r>
              <a:rPr lang="es-CL" sz="1400" dirty="0"/>
              <a:t>Nombre referencial del indicador</a:t>
            </a:r>
            <a:endParaRPr lang="es-CL" sz="1400" b="1" dirty="0"/>
          </a:p>
          <a:p>
            <a:pPr marL="342900" indent="-342900" algn="just">
              <a:buFont typeface="+mj-lt"/>
              <a:buAutoNum type="arabicPeriod"/>
            </a:pPr>
            <a:endParaRPr lang="es-CL" sz="1400" b="1" dirty="0"/>
          </a:p>
          <a:p>
            <a:pPr marL="342900" indent="-342900" algn="just">
              <a:buFont typeface="+mj-lt"/>
              <a:buAutoNum type="arabicPeriod"/>
            </a:pPr>
            <a:r>
              <a:rPr lang="es-CL" sz="1400" b="1" dirty="0"/>
              <a:t>Descripción: </a:t>
            </a:r>
            <a:r>
              <a:rPr lang="es-CL" sz="1400" dirty="0"/>
              <a:t>Descripción detallada del indicador</a:t>
            </a:r>
          </a:p>
          <a:p>
            <a:pPr marL="342900" indent="-342900" algn="just">
              <a:buFont typeface="+mj-lt"/>
              <a:buAutoNum type="arabicPeriod"/>
            </a:pPr>
            <a:endParaRPr lang="es-CL" sz="1400" b="1" dirty="0"/>
          </a:p>
          <a:p>
            <a:pPr marL="342900" indent="-342900" algn="just">
              <a:buFont typeface="+mj-lt"/>
              <a:buAutoNum type="arabicPeriod"/>
            </a:pPr>
            <a:r>
              <a:rPr lang="es-CL" sz="1400" b="1" dirty="0"/>
              <a:t>Escala de valoración: </a:t>
            </a:r>
            <a:r>
              <a:rPr lang="es-CL" sz="1400" dirty="0"/>
              <a:t>Las escalas de valoración serán definidas en umbrales semafóricos que indican el estado de la medición. Las escalas de valoración son </a:t>
            </a:r>
            <a:r>
              <a:rPr lang="es-CL" sz="1400" b="1" dirty="0"/>
              <a:t>(1) verde</a:t>
            </a:r>
            <a:r>
              <a:rPr lang="es-CL" sz="1400" dirty="0"/>
              <a:t>: Sin riesgo relevante, </a:t>
            </a:r>
            <a:r>
              <a:rPr lang="es-CL" sz="1400" b="1" dirty="0"/>
              <a:t>(2) amarillo</a:t>
            </a:r>
            <a:r>
              <a:rPr lang="es-CL" sz="1400" dirty="0"/>
              <a:t>: Riesgo a vigilar y </a:t>
            </a:r>
            <a:r>
              <a:rPr lang="es-CL" sz="1400" b="1" dirty="0"/>
              <a:t>(3) rojo</a:t>
            </a:r>
            <a:r>
              <a:rPr lang="es-CL" sz="1400" dirty="0"/>
              <a:t>: Riesgo significativo</a:t>
            </a:r>
            <a:endParaRPr lang="es-CL" sz="1400" b="1" dirty="0"/>
          </a:p>
          <a:p>
            <a:pPr marL="342900" indent="-342900" algn="just">
              <a:buFont typeface="+mj-lt"/>
              <a:buAutoNum type="arabicPeriod"/>
            </a:pPr>
            <a:endParaRPr lang="es-CL" sz="1400" b="1" dirty="0"/>
          </a:p>
          <a:p>
            <a:pPr marL="342900" indent="-342900" algn="just">
              <a:buFont typeface="+mj-lt"/>
              <a:buAutoNum type="arabicPeriod"/>
            </a:pPr>
            <a:r>
              <a:rPr lang="es-CL" sz="1400" b="1" dirty="0"/>
              <a:t>Periodicidad: </a:t>
            </a:r>
            <a:r>
              <a:rPr lang="es-CL" sz="1400" dirty="0"/>
              <a:t>Indica la frecuencia con la que se reportará el indicador</a:t>
            </a:r>
          </a:p>
          <a:p>
            <a:pPr marL="342900" indent="-342900" algn="just">
              <a:buFont typeface="+mj-lt"/>
              <a:buAutoNum type="arabicPeriod"/>
            </a:pPr>
            <a:endParaRPr lang="es-CL" sz="1400" b="1" dirty="0"/>
          </a:p>
          <a:p>
            <a:pPr marL="342900" indent="-342900" algn="just">
              <a:buFont typeface="+mj-lt"/>
              <a:buAutoNum type="arabicPeriod"/>
            </a:pPr>
            <a:r>
              <a:rPr lang="es-CL" sz="1400" b="1" dirty="0"/>
              <a:t>Estado del indicador: </a:t>
            </a:r>
            <a:r>
              <a:rPr lang="es-CL" sz="1400" dirty="0"/>
              <a:t>Indica el estado de implementación del indicador, pudiendo estar </a:t>
            </a:r>
            <a:r>
              <a:rPr lang="es-CL" sz="1400" b="1" dirty="0"/>
              <a:t>(1) implementado</a:t>
            </a:r>
            <a:r>
              <a:rPr lang="es-CL" sz="1400" dirty="0"/>
              <a:t> o </a:t>
            </a:r>
            <a:r>
              <a:rPr lang="es-CL" sz="1400" b="1" dirty="0"/>
              <a:t>(2) no implementado</a:t>
            </a:r>
          </a:p>
          <a:p>
            <a:pPr marL="342900" indent="-342900" algn="just">
              <a:buFont typeface="+mj-lt"/>
              <a:buAutoNum type="arabicPeriod"/>
            </a:pPr>
            <a:endParaRPr lang="es-CL" sz="1400" b="1" dirty="0"/>
          </a:p>
          <a:p>
            <a:pPr marL="342900" indent="-342900" algn="just">
              <a:buFont typeface="+mj-lt"/>
              <a:buAutoNum type="arabicPeriod"/>
            </a:pPr>
            <a:r>
              <a:rPr lang="es-CL" sz="1400" b="1" dirty="0"/>
              <a:t>Responsable: </a:t>
            </a:r>
            <a:r>
              <a:rPr lang="es-CL" sz="1400" dirty="0"/>
              <a:t>Responsable de la unidad que gestiona el indicador</a:t>
            </a:r>
            <a:endParaRPr lang="es-ES" sz="1400" b="1" dirty="0"/>
          </a:p>
          <a:p>
            <a:pPr marL="0" marR="0" lvl="0" indent="0" algn="l" defTabSz="914400" rtl="0" eaLnBrk="1" fontAlgn="base" latinLnBrk="0" hangingPunct="1">
              <a:lnSpc>
                <a:spcPct val="100000"/>
              </a:lnSpc>
              <a:spcBef>
                <a:spcPct val="0"/>
              </a:spcBef>
              <a:spcAft>
                <a:spcPct val="0"/>
              </a:spcAft>
              <a:buClrTx/>
              <a:buSzTx/>
              <a:buFontTx/>
              <a:buNone/>
              <a:tabLst/>
              <a:defRPr/>
            </a:pPr>
            <a:endParaRPr lang="es-ES_tradnl" sz="1600" noProof="0" dirty="0">
              <a:latin typeface="+mj-lt"/>
              <a:sym typeface="Wingdings" pitchFamily="2" charset="2"/>
            </a:endParaRPr>
          </a:p>
          <a:p>
            <a:pPr marL="0" marR="0" lvl="0" indent="0" algn="l" defTabSz="914400" rtl="0" eaLnBrk="1" fontAlgn="base" latinLnBrk="0" hangingPunct="1">
              <a:lnSpc>
                <a:spcPct val="100000"/>
              </a:lnSpc>
              <a:spcBef>
                <a:spcPct val="0"/>
              </a:spcBef>
              <a:spcAft>
                <a:spcPct val="0"/>
              </a:spcAft>
              <a:buClrTx/>
              <a:buSzTx/>
              <a:buFontTx/>
              <a:buNone/>
              <a:tabLst/>
              <a:defRPr/>
            </a:pPr>
            <a:br>
              <a:rPr kumimoji="0" lang="es-ES_tradnl" sz="2200" b="1" i="0" u="none" strike="noStrike" kern="0" cap="none" spc="0" normalizeH="0" baseline="0" noProof="0" dirty="0">
                <a:ln>
                  <a:noFill/>
                </a:ln>
                <a:solidFill>
                  <a:srgbClr val="4B4B4B"/>
                </a:solidFill>
                <a:effectLst/>
                <a:uLnTx/>
                <a:uFillTx/>
                <a:latin typeface="+mj-lt"/>
                <a:ea typeface="+mj-ea"/>
                <a:cs typeface="+mj-cs"/>
              </a:rPr>
            </a:br>
            <a:r>
              <a:rPr kumimoji="0" lang="es-ES_tradnl" sz="1800" b="1" i="0" u="none" strike="noStrike" kern="0" cap="none" spc="0" normalizeH="0" baseline="0" noProof="0" dirty="0">
                <a:ln>
                  <a:noFill/>
                </a:ln>
                <a:solidFill>
                  <a:schemeClr val="hlink"/>
                </a:solidFill>
                <a:effectLst/>
                <a:uLnTx/>
                <a:uFillTx/>
                <a:latin typeface="+mj-lt"/>
                <a:ea typeface="+mj-ea"/>
                <a:cs typeface="+mj-cs"/>
              </a:rPr>
              <a:t> </a:t>
            </a:r>
          </a:p>
        </p:txBody>
      </p:sp>
      <p:sp>
        <p:nvSpPr>
          <p:cNvPr id="14" name="1 Título"/>
          <p:cNvSpPr>
            <a:spLocks noGrp="1"/>
          </p:cNvSpPr>
          <p:nvPr>
            <p:ph type="title"/>
          </p:nvPr>
        </p:nvSpPr>
        <p:spPr>
          <a:xfrm>
            <a:off x="47624" y="32965"/>
            <a:ext cx="8627715" cy="587723"/>
          </a:xfrm>
        </p:spPr>
        <p:txBody>
          <a:bodyPr/>
          <a:lstStyle/>
          <a:p>
            <a:r>
              <a:rPr lang="es-PE" dirty="0"/>
              <a:t>          Anexo 2: Planes de Acción y KRI’s</a:t>
            </a:r>
          </a:p>
        </p:txBody>
      </p:sp>
      <p:sp>
        <p:nvSpPr>
          <p:cNvPr id="15" name="Rounded Rectangle 14">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16"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7"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8"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19"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20"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21"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22"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23"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
        <p:nvSpPr>
          <p:cNvPr id="24" name="Rectangle 4"/>
          <p:cNvSpPr>
            <a:spLocks noChangeArrowheads="1"/>
          </p:cNvSpPr>
          <p:nvPr/>
        </p:nvSpPr>
        <p:spPr bwMode="auto">
          <a:xfrm>
            <a:off x="107504" y="692696"/>
            <a:ext cx="8536462" cy="440068"/>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latin typeface="+mj-lt"/>
                <a:sym typeface="Wingdings" pitchFamily="2" charset="2"/>
              </a:rPr>
              <a:t>Documentación de KRI’s</a:t>
            </a:r>
          </a:p>
        </p:txBody>
      </p:sp>
    </p:spTree>
    <p:extLst>
      <p:ext uri="{BB962C8B-B14F-4D97-AF65-F5344CB8AC3E}">
        <p14:creationId xmlns:p14="http://schemas.microsoft.com/office/powerpoint/2010/main" val="1659811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1 Título"/>
          <p:cNvSpPr>
            <a:spLocks noGrp="1"/>
          </p:cNvSpPr>
          <p:nvPr>
            <p:ph type="title"/>
          </p:nvPr>
        </p:nvSpPr>
        <p:spPr>
          <a:xfrm>
            <a:off x="47624" y="32965"/>
            <a:ext cx="8627715" cy="587723"/>
          </a:xfrm>
        </p:spPr>
        <p:txBody>
          <a:bodyPr/>
          <a:lstStyle/>
          <a:p>
            <a:r>
              <a:rPr lang="es-PE" dirty="0"/>
              <a:t>          Anexo 3: Visión Global de Exposición al RO</a:t>
            </a:r>
          </a:p>
        </p:txBody>
      </p:sp>
      <p:sp>
        <p:nvSpPr>
          <p:cNvPr id="14" name="Rounded Rectangle 13">
            <a:hlinkClick r:id="rId10"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1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1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1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1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1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2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2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2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
        <p:nvSpPr>
          <p:cNvPr id="36" name="Rounded Rectangle 35"/>
          <p:cNvSpPr/>
          <p:nvPr/>
        </p:nvSpPr>
        <p:spPr>
          <a:xfrm>
            <a:off x="202172" y="3635287"/>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Pérdida Esperada Anual por origen</a:t>
            </a:r>
            <a:endParaRPr lang="en-US" sz="1200" b="1" dirty="0"/>
          </a:p>
        </p:txBody>
      </p:sp>
      <p:sp>
        <p:nvSpPr>
          <p:cNvPr id="37" name="Rounded Rectangle 36"/>
          <p:cNvSpPr/>
          <p:nvPr/>
        </p:nvSpPr>
        <p:spPr>
          <a:xfrm>
            <a:off x="4747079" y="3635287"/>
            <a:ext cx="4114801"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ES" sz="1200" b="1" dirty="0">
                <a:solidFill>
                  <a:schemeClr val="lt1"/>
                </a:solidFill>
              </a:rPr>
              <a:t>Pérdida Máxima </a:t>
            </a:r>
            <a:r>
              <a:rPr lang="es-ES" sz="1200" b="1" dirty="0"/>
              <a:t>Anual</a:t>
            </a:r>
            <a:r>
              <a:rPr lang="es-ES" sz="1200" b="1" dirty="0">
                <a:solidFill>
                  <a:schemeClr val="lt1"/>
                </a:solidFill>
              </a:rPr>
              <a:t> por origen</a:t>
            </a:r>
          </a:p>
        </p:txBody>
      </p:sp>
      <p:sp>
        <p:nvSpPr>
          <p:cNvPr id="42" name="AutoShape 179"/>
          <p:cNvSpPr>
            <a:spLocks noChangeArrowheads="1"/>
          </p:cNvSpPr>
          <p:nvPr/>
        </p:nvSpPr>
        <p:spPr bwMode="auto">
          <a:xfrm>
            <a:off x="202172" y="3985418"/>
            <a:ext cx="4114800" cy="2133784"/>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a:solidFill>
                <a:schemeClr val="bg1">
                  <a:lumMod val="50000"/>
                </a:schemeClr>
              </a:solidFill>
              <a:latin typeface="+mj-lt"/>
            </a:endParaRPr>
          </a:p>
        </p:txBody>
      </p:sp>
      <p:sp>
        <p:nvSpPr>
          <p:cNvPr id="24" name="Rounded Rectangle 23"/>
          <p:cNvSpPr/>
          <p:nvPr/>
        </p:nvSpPr>
        <p:spPr>
          <a:xfrm>
            <a:off x="202172" y="782510"/>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Pérdida Esperada Anual por Categoría BIS II</a:t>
            </a:r>
            <a:endParaRPr lang="en-US" sz="1200" b="1" dirty="0"/>
          </a:p>
        </p:txBody>
      </p:sp>
      <p:sp>
        <p:nvSpPr>
          <p:cNvPr id="25" name="Rounded Rectangle 24"/>
          <p:cNvSpPr/>
          <p:nvPr/>
        </p:nvSpPr>
        <p:spPr>
          <a:xfrm>
            <a:off x="4747080" y="782510"/>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Pérdida Máxima Anual por Categoría BIS II</a:t>
            </a:r>
            <a:endParaRPr lang="en-US" sz="1200" b="1" dirty="0"/>
          </a:p>
        </p:txBody>
      </p:sp>
      <p:sp>
        <p:nvSpPr>
          <p:cNvPr id="26" name="AutoShape 179"/>
          <p:cNvSpPr>
            <a:spLocks noChangeArrowheads="1"/>
          </p:cNvSpPr>
          <p:nvPr/>
        </p:nvSpPr>
        <p:spPr bwMode="auto">
          <a:xfrm>
            <a:off x="4747080" y="1140800"/>
            <a:ext cx="4114800" cy="2403063"/>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27" name="AutoShape 179"/>
          <p:cNvSpPr>
            <a:spLocks noChangeArrowheads="1"/>
          </p:cNvSpPr>
          <p:nvPr/>
        </p:nvSpPr>
        <p:spPr bwMode="auto">
          <a:xfrm>
            <a:off x="202172" y="1140740"/>
            <a:ext cx="4114800" cy="2403182"/>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a:solidFill>
                <a:schemeClr val="bg1">
                  <a:lumMod val="50000"/>
                </a:schemeClr>
              </a:solidFill>
              <a:latin typeface="+mj-lt"/>
            </a:endParaRPr>
          </a:p>
        </p:txBody>
      </p:sp>
      <p:sp>
        <p:nvSpPr>
          <p:cNvPr id="31" name="AutoShape 179"/>
          <p:cNvSpPr>
            <a:spLocks noChangeArrowheads="1"/>
          </p:cNvSpPr>
          <p:nvPr/>
        </p:nvSpPr>
        <p:spPr bwMode="auto">
          <a:xfrm>
            <a:off x="4747081" y="3985418"/>
            <a:ext cx="4114800" cy="2133784"/>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a:solidFill>
                <a:schemeClr val="bg1">
                  <a:lumMod val="50000"/>
                </a:schemeClr>
              </a:solidFill>
              <a:latin typeface="+mj-lt"/>
            </a:endParaRPr>
          </a:p>
        </p:txBody>
      </p:sp>
      <p:graphicFrame>
        <p:nvGraphicFramePr>
          <p:cNvPr id="28" name="Chart 27"/>
          <p:cNvGraphicFramePr>
            <a:graphicFrameLocks/>
          </p:cNvGraphicFramePr>
          <p:nvPr>
            <p:extLst>
              <p:ext uri="{D42A27DB-BD31-4B8C-83A1-F6EECF244321}">
                <p14:modId xmlns:p14="http://schemas.microsoft.com/office/powerpoint/2010/main" val="3557699147"/>
              </p:ext>
            </p:extLst>
          </p:nvPr>
        </p:nvGraphicFramePr>
        <p:xfrm>
          <a:off x="85717" y="1140800"/>
          <a:ext cx="4404396" cy="2403122"/>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32" name="Chart 31"/>
          <p:cNvGraphicFramePr>
            <a:graphicFrameLocks/>
          </p:cNvGraphicFramePr>
          <p:nvPr>
            <p:extLst>
              <p:ext uri="{D42A27DB-BD31-4B8C-83A1-F6EECF244321}">
                <p14:modId xmlns:p14="http://schemas.microsoft.com/office/powerpoint/2010/main" val="3465510649"/>
              </p:ext>
            </p:extLst>
          </p:nvPr>
        </p:nvGraphicFramePr>
        <p:xfrm>
          <a:off x="4648083" y="1037727"/>
          <a:ext cx="4312791" cy="2741576"/>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33" name="Chart 32"/>
          <p:cNvGraphicFramePr>
            <a:graphicFrameLocks/>
          </p:cNvGraphicFramePr>
          <p:nvPr>
            <p:extLst>
              <p:ext uri="{D42A27DB-BD31-4B8C-83A1-F6EECF244321}">
                <p14:modId xmlns:p14="http://schemas.microsoft.com/office/powerpoint/2010/main" val="143366726"/>
              </p:ext>
            </p:extLst>
          </p:nvPr>
        </p:nvGraphicFramePr>
        <p:xfrm>
          <a:off x="0" y="3779303"/>
          <a:ext cx="4572000" cy="2743200"/>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34" name="Chart 33"/>
          <p:cNvGraphicFramePr>
            <a:graphicFrameLocks/>
          </p:cNvGraphicFramePr>
          <p:nvPr>
            <p:extLst>
              <p:ext uri="{D42A27DB-BD31-4B8C-83A1-F6EECF244321}">
                <p14:modId xmlns:p14="http://schemas.microsoft.com/office/powerpoint/2010/main" val="415207516"/>
              </p:ext>
            </p:extLst>
          </p:nvPr>
        </p:nvGraphicFramePr>
        <p:xfrm>
          <a:off x="4572240" y="3819119"/>
          <a:ext cx="4572000" cy="2743200"/>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130503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4: Exposición al RO por Proceso</a:t>
            </a:r>
          </a:p>
        </p:txBody>
      </p:sp>
      <p:sp>
        <p:nvSpPr>
          <p:cNvPr id="4" name="Rounded Rectangle 3">
            <a:hlinkClick r:id="rId10" action="ppaction://hlinksldjump"/>
          </p:cNvPr>
          <p:cNvSpPr/>
          <p:nvPr/>
        </p:nvSpPr>
        <p:spPr>
          <a:xfrm>
            <a:off x="202172" y="156952"/>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1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1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1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
        <p:nvSpPr>
          <p:cNvPr id="20" name="Rounded Rectangle 19"/>
          <p:cNvSpPr/>
          <p:nvPr/>
        </p:nvSpPr>
        <p:spPr>
          <a:xfrm>
            <a:off x="342539" y="743524"/>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Distribución de PEA por Proceso</a:t>
            </a:r>
            <a:endParaRPr lang="en-US" sz="1200" b="1" dirty="0"/>
          </a:p>
        </p:txBody>
      </p:sp>
      <p:sp>
        <p:nvSpPr>
          <p:cNvPr id="21" name="Rounded Rectangle 20"/>
          <p:cNvSpPr/>
          <p:nvPr/>
        </p:nvSpPr>
        <p:spPr>
          <a:xfrm>
            <a:off x="342539" y="3529951"/>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Distribución de PMA por Proceso</a:t>
            </a:r>
            <a:endParaRPr lang="en-US" sz="1200" b="1" dirty="0"/>
          </a:p>
        </p:txBody>
      </p:sp>
      <p:sp>
        <p:nvSpPr>
          <p:cNvPr id="22" name="AutoShape 179"/>
          <p:cNvSpPr>
            <a:spLocks noChangeArrowheads="1"/>
          </p:cNvSpPr>
          <p:nvPr/>
        </p:nvSpPr>
        <p:spPr bwMode="auto">
          <a:xfrm>
            <a:off x="342539" y="3886751"/>
            <a:ext cx="4114800" cy="2213799"/>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32" name="AutoShape 179"/>
          <p:cNvSpPr>
            <a:spLocks noChangeArrowheads="1"/>
          </p:cNvSpPr>
          <p:nvPr/>
        </p:nvSpPr>
        <p:spPr bwMode="auto">
          <a:xfrm>
            <a:off x="342539" y="1101754"/>
            <a:ext cx="4114800" cy="2241947"/>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a:solidFill>
                <a:schemeClr val="bg1">
                  <a:lumMod val="50000"/>
                </a:schemeClr>
              </a:solidFill>
              <a:latin typeface="+mj-lt"/>
            </a:endParaRPr>
          </a:p>
        </p:txBody>
      </p:sp>
      <p:sp>
        <p:nvSpPr>
          <p:cNvPr id="46" name="Rounded Rectangle 31">
            <a:hlinkClick r:id="rId10" action="ppaction://hlinksldjump"/>
          </p:cNvPr>
          <p:cNvSpPr/>
          <p:nvPr/>
        </p:nvSpPr>
        <p:spPr>
          <a:xfrm>
            <a:off x="1638012" y="6322807"/>
            <a:ext cx="1241666"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i="1" dirty="0">
                <a:solidFill>
                  <a:schemeClr val="bg1"/>
                </a:solidFill>
                <a:cs typeface="Arial" pitchFamily="34" charset="0"/>
              </a:rPr>
              <a:t>Exposición al RO </a:t>
            </a:r>
          </a:p>
        </p:txBody>
      </p:sp>
      <p:graphicFrame>
        <p:nvGraphicFramePr>
          <p:cNvPr id="17" name="Table 16"/>
          <p:cNvGraphicFramePr>
            <a:graphicFrameLocks noGrp="1"/>
          </p:cNvGraphicFramePr>
          <p:nvPr>
            <p:extLst>
              <p:ext uri="{D42A27DB-BD31-4B8C-83A1-F6EECF244321}">
                <p14:modId xmlns:p14="http://schemas.microsoft.com/office/powerpoint/2010/main" val="733874910"/>
              </p:ext>
            </p:extLst>
          </p:nvPr>
        </p:nvGraphicFramePr>
        <p:xfrm>
          <a:off x="4926230" y="1315869"/>
          <a:ext cx="4000500" cy="1905000"/>
        </p:xfrm>
        <a:graphic>
          <a:graphicData uri="http://schemas.openxmlformats.org/drawingml/2006/table">
            <a:tbl>
              <a:tblPr/>
              <a:tblGrid>
                <a:gridCol w="17653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tblGrid>
              <a:tr h="190500">
                <a:tc>
                  <a:txBody>
                    <a:bodyPr/>
                    <a:lstStyle/>
                    <a:p>
                      <a:pPr algn="l" fontAlgn="b"/>
                      <a:endParaRPr lang="es-ES" sz="11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r>
                        <a:rPr lang="es-ES" sz="1100" b="1" i="0" u="none" strike="noStrike">
                          <a:solidFill>
                            <a:srgbClr val="000000"/>
                          </a:solidFill>
                          <a:effectLst/>
                          <a:latin typeface="Calibri"/>
                        </a:rPr>
                        <a:t>PEA (miles)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1" i="0" u="none" strike="noStrike">
                          <a:solidFill>
                            <a:srgbClr val="000000"/>
                          </a:solidFill>
                          <a:effectLst/>
                          <a:latin typeface="Calibri"/>
                        </a:rPr>
                        <a:t>% sobre PEA</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b"/>
                      <a:r>
                        <a:rPr lang="es-ES" sz="1100" b="1" i="0" u="none" strike="noStrike">
                          <a:solidFill>
                            <a:srgbClr val="000000"/>
                          </a:solidFill>
                          <a:effectLst/>
                          <a:latin typeface="Calibri"/>
                        </a:rPr>
                        <a:t>Suscripción</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17,776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a:rPr>
                        <a:t>73,5%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l" fontAlgn="b"/>
                      <a:r>
                        <a:rPr lang="es-ES" sz="1100" b="1" i="0" u="none" strike="noStrike">
                          <a:solidFill>
                            <a:srgbClr val="000000"/>
                          </a:solidFill>
                          <a:effectLst/>
                          <a:latin typeface="Calibri"/>
                        </a:rPr>
                        <a:t>Impresión y despacho</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1,964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8,1%</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l" fontAlgn="b"/>
                      <a:r>
                        <a:rPr lang="es-ES" sz="1100" b="1" i="0" u="none" strike="noStrike">
                          <a:solidFill>
                            <a:srgbClr val="000000"/>
                          </a:solidFill>
                          <a:effectLst/>
                          <a:latin typeface="Calibri"/>
                        </a:rPr>
                        <a:t>Emisión y endoso</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1,925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8,0%</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l" fontAlgn="b"/>
                      <a:r>
                        <a:rPr lang="es-ES" sz="1100" b="1" i="0" u="none" strike="noStrike">
                          <a:solidFill>
                            <a:srgbClr val="000000"/>
                          </a:solidFill>
                          <a:effectLst/>
                          <a:latin typeface="Calibri"/>
                        </a:rPr>
                        <a:t>Gestión de siniestros</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1,095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4,5%</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l" fontAlgn="b"/>
                      <a:r>
                        <a:rPr lang="es-ES" sz="1100" b="1" i="0" u="none" strike="noStrike">
                          <a:solidFill>
                            <a:srgbClr val="000000"/>
                          </a:solidFill>
                          <a:effectLst/>
                          <a:latin typeface="Calibri"/>
                        </a:rPr>
                        <a:t>Desarrollo de productos</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977</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4,0%</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l" fontAlgn="b"/>
                      <a:r>
                        <a:rPr lang="es-ES" sz="1100" b="1" i="0" u="none" strike="noStrike">
                          <a:solidFill>
                            <a:srgbClr val="000000"/>
                          </a:solidFill>
                          <a:effectLst/>
                          <a:latin typeface="Calibri"/>
                        </a:rPr>
                        <a:t>Venta</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331</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1,4%</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l" fontAlgn="b"/>
                      <a:r>
                        <a:rPr lang="es-ES" sz="1100" b="1" i="0" u="none" strike="noStrike">
                          <a:solidFill>
                            <a:srgbClr val="000000"/>
                          </a:solidFill>
                          <a:effectLst/>
                          <a:latin typeface="Calibri"/>
                        </a:rPr>
                        <a:t>Renovación y ajustes</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                           103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0,4%</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l" fontAlgn="b"/>
                      <a:r>
                        <a:rPr lang="es-ES" sz="1100" b="1" i="0" u="none" strike="noStrike" dirty="0">
                          <a:solidFill>
                            <a:srgbClr val="000000"/>
                          </a:solidFill>
                          <a:effectLst/>
                          <a:latin typeface="Calibri"/>
                        </a:rPr>
                        <a:t>Prospección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                             17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a:solidFill>
                            <a:srgbClr val="000000"/>
                          </a:solidFill>
                          <a:effectLst/>
                          <a:latin typeface="Calibri"/>
                        </a:rPr>
                        <a:t>0,1%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b"/>
                      <a:r>
                        <a:rPr lang="es-ES" sz="1100" b="1" i="0" u="none" strike="noStrike" dirty="0">
                          <a:solidFill>
                            <a:srgbClr val="FFFFFF"/>
                          </a:solidFill>
                          <a:effectLst/>
                          <a:latin typeface="Calibri"/>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r" fontAlgn="b"/>
                      <a:r>
                        <a:rPr lang="es-ES" sz="1100" b="1" i="0" u="none" strike="noStrike" dirty="0">
                          <a:solidFill>
                            <a:srgbClr val="FFFFFF"/>
                          </a:solidFill>
                          <a:effectLst/>
                          <a:latin typeface="Calibri"/>
                        </a:rPr>
                        <a:t>                    24,190   </a:t>
                      </a:r>
                    </a:p>
                  </a:txBody>
                  <a:tcPr marL="9525" marR="9525" marT="9525" marB="0">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r" fontAlgn="b"/>
                      <a:r>
                        <a:rPr lang="es-ES" sz="1100" b="1" i="0" u="none" strike="noStrike" dirty="0">
                          <a:solidFill>
                            <a:srgbClr val="FFFFFF"/>
                          </a:solidFill>
                          <a:effectLst/>
                          <a:latin typeface="Calibri"/>
                        </a:rPr>
                        <a:t>100%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extLst>
                  <a:ext uri="{0D108BD9-81ED-4DB2-BD59-A6C34878D82A}">
                    <a16:rowId xmlns:a16="http://schemas.microsoft.com/office/drawing/2014/main" val="10009"/>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71051778"/>
              </p:ext>
            </p:extLst>
          </p:nvPr>
        </p:nvGraphicFramePr>
        <p:xfrm>
          <a:off x="4926230" y="4041150"/>
          <a:ext cx="4000500" cy="1905000"/>
        </p:xfrm>
        <a:graphic>
          <a:graphicData uri="http://schemas.openxmlformats.org/drawingml/2006/table">
            <a:tbl>
              <a:tblPr/>
              <a:tblGrid>
                <a:gridCol w="17653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tblGrid>
              <a:tr h="190500">
                <a:tc>
                  <a:txBody>
                    <a:bodyPr/>
                    <a:lstStyle/>
                    <a:p>
                      <a:pPr algn="l" fontAlgn="b"/>
                      <a:endParaRPr lang="es-ES" sz="11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r>
                        <a:rPr lang="es-ES" sz="1100" b="1" i="0" u="none" strike="noStrike">
                          <a:solidFill>
                            <a:srgbClr val="000000"/>
                          </a:solidFill>
                          <a:effectLst/>
                          <a:latin typeface="Calibri"/>
                        </a:rPr>
                        <a:t>PMA (miles)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1" i="0" u="none" strike="noStrike">
                          <a:solidFill>
                            <a:srgbClr val="000000"/>
                          </a:solidFill>
                          <a:effectLst/>
                          <a:latin typeface="Calibri"/>
                        </a:rPr>
                        <a:t>% sobre PMA</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b"/>
                      <a:r>
                        <a:rPr lang="es-ES" sz="1100" b="1" i="0" u="none" strike="noStrike">
                          <a:solidFill>
                            <a:srgbClr val="000000"/>
                          </a:solidFill>
                          <a:effectLst/>
                          <a:latin typeface="Calibri"/>
                        </a:rPr>
                        <a:t>Suscripción</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38.305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a:rPr>
                        <a:t>62,5%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l" fontAlgn="b"/>
                      <a:r>
                        <a:rPr lang="es-ES" sz="1100" b="1" i="0" u="none" strike="noStrike">
                          <a:solidFill>
                            <a:srgbClr val="000000"/>
                          </a:solidFill>
                          <a:effectLst/>
                          <a:latin typeface="Calibri"/>
                        </a:rPr>
                        <a:t>Emisión y endoso</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10.908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17,8%</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l" fontAlgn="b"/>
                      <a:r>
                        <a:rPr lang="es-ES" sz="1100" b="1" i="0" u="none" strike="noStrike">
                          <a:solidFill>
                            <a:srgbClr val="000000"/>
                          </a:solidFill>
                          <a:effectLst/>
                          <a:latin typeface="Calibri"/>
                        </a:rPr>
                        <a:t>Desarrollo de productos</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4.001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6,5%</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l" fontAlgn="b"/>
                      <a:r>
                        <a:rPr lang="es-ES" sz="1100" b="1" i="0" u="none" strike="noStrike">
                          <a:solidFill>
                            <a:srgbClr val="000000"/>
                          </a:solidFill>
                          <a:effectLst/>
                          <a:latin typeface="Calibri"/>
                        </a:rPr>
                        <a:t>Impresión y despacho</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3.853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6,3%</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l" fontAlgn="b"/>
                      <a:r>
                        <a:rPr lang="es-ES" sz="1100" b="1" i="0" u="none" strike="noStrike">
                          <a:solidFill>
                            <a:srgbClr val="000000"/>
                          </a:solidFill>
                          <a:effectLst/>
                          <a:latin typeface="Calibri"/>
                        </a:rPr>
                        <a:t>Gestión de siniestros</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2.686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4,4%</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l" fontAlgn="b"/>
                      <a:r>
                        <a:rPr lang="es-ES" sz="1100" b="1" i="0" u="none" strike="noStrike">
                          <a:solidFill>
                            <a:srgbClr val="000000"/>
                          </a:solidFill>
                          <a:effectLst/>
                          <a:latin typeface="Calibri"/>
                        </a:rPr>
                        <a:t>Venta</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815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1,3%</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l" fontAlgn="b"/>
                      <a:r>
                        <a:rPr lang="es-ES" sz="1100" b="1" i="0" u="none" strike="noStrike">
                          <a:solidFill>
                            <a:srgbClr val="000000"/>
                          </a:solidFill>
                          <a:effectLst/>
                          <a:latin typeface="Calibri"/>
                        </a:rPr>
                        <a:t>Renovación y ajustes</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                   368   </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0,6%</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l" fontAlgn="b"/>
                      <a:r>
                        <a:rPr lang="es-ES" sz="1100" b="1" i="0" u="none" strike="noStrike" dirty="0">
                          <a:solidFill>
                            <a:srgbClr val="000000"/>
                          </a:solidFill>
                          <a:effectLst/>
                          <a:latin typeface="Calibri"/>
                        </a:rPr>
                        <a:t>Prospección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                   366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0,6%</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b"/>
                      <a:r>
                        <a:rPr lang="es-ES" sz="1100" b="1" i="0" u="none" strike="noStrike" dirty="0">
                          <a:solidFill>
                            <a:srgbClr val="FFFFFF"/>
                          </a:solidFill>
                          <a:effectLst/>
                          <a:latin typeface="Calibri"/>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l" fontAlgn="b"/>
                      <a:r>
                        <a:rPr lang="es-ES" sz="1100" b="1" i="0" u="none" strike="noStrike" dirty="0">
                          <a:solidFill>
                            <a:srgbClr val="FFFFFF"/>
                          </a:solidFill>
                          <a:effectLst/>
                          <a:latin typeface="Calibri"/>
                        </a:rPr>
                        <a:t>                     61.303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r" fontAlgn="b"/>
                      <a:r>
                        <a:rPr lang="es-ES" sz="1100" b="1" i="0" u="none" strike="noStrike" dirty="0">
                          <a:solidFill>
                            <a:srgbClr val="FFFFFF"/>
                          </a:solidFill>
                          <a:effectLst/>
                          <a:latin typeface="Calibri"/>
                        </a:rPr>
                        <a:t>100,0%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extLst>
                  <a:ext uri="{0D108BD9-81ED-4DB2-BD59-A6C34878D82A}">
                    <a16:rowId xmlns:a16="http://schemas.microsoft.com/office/drawing/2014/main" val="10009"/>
                  </a:ext>
                </a:extLst>
              </a:tr>
            </a:tbl>
          </a:graphicData>
        </a:graphic>
      </p:graphicFrame>
      <p:graphicFrame>
        <p:nvGraphicFramePr>
          <p:cNvPr id="23" name="Chart 22"/>
          <p:cNvGraphicFramePr>
            <a:graphicFrameLocks/>
          </p:cNvGraphicFramePr>
          <p:nvPr>
            <p:extLst>
              <p:ext uri="{D42A27DB-BD31-4B8C-83A1-F6EECF244321}">
                <p14:modId xmlns:p14="http://schemas.microsoft.com/office/powerpoint/2010/main" val="1145953353"/>
              </p:ext>
            </p:extLst>
          </p:nvPr>
        </p:nvGraphicFramePr>
        <p:xfrm>
          <a:off x="342539" y="1116291"/>
          <a:ext cx="4114800" cy="241366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4" name="Chart 23"/>
          <p:cNvGraphicFramePr>
            <a:graphicFrameLocks/>
          </p:cNvGraphicFramePr>
          <p:nvPr>
            <p:extLst>
              <p:ext uri="{D42A27DB-BD31-4B8C-83A1-F6EECF244321}">
                <p14:modId xmlns:p14="http://schemas.microsoft.com/office/powerpoint/2010/main" val="1865683978"/>
              </p:ext>
            </p:extLst>
          </p:nvPr>
        </p:nvGraphicFramePr>
        <p:xfrm>
          <a:off x="342539" y="3811242"/>
          <a:ext cx="4215814" cy="2511565"/>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7447818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47624" y="32965"/>
            <a:ext cx="8627715" cy="587723"/>
          </a:xfrm>
        </p:spPr>
        <p:txBody>
          <a:bodyPr/>
          <a:lstStyle/>
          <a:p>
            <a:r>
              <a:rPr lang="es-PE" dirty="0"/>
              <a:t>          Anexo 5: Exposición al RO por Producto</a:t>
            </a:r>
          </a:p>
        </p:txBody>
      </p:sp>
      <p:sp>
        <p:nvSpPr>
          <p:cNvPr id="4" name="Rounded Rectangle 3">
            <a:hlinkClick r:id="rId10" action="ppaction://hlinksldjump"/>
          </p:cNvPr>
          <p:cNvSpPr/>
          <p:nvPr/>
        </p:nvSpPr>
        <p:spPr>
          <a:xfrm>
            <a:off x="202172" y="170652"/>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5" name="25 Elipse"/>
          <p:cNvSpPr/>
          <p:nvPr>
            <p:custDataLst>
              <p:tags r:id="rId1"/>
            </p:custDataLst>
          </p:nvPr>
        </p:nvSpPr>
        <p:spPr>
          <a:xfrm>
            <a:off x="6732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1</a:t>
            </a:r>
          </a:p>
        </p:txBody>
      </p:sp>
      <p:sp>
        <p:nvSpPr>
          <p:cNvPr id="6" name="26 Elipse"/>
          <p:cNvSpPr/>
          <p:nvPr>
            <p:custDataLst>
              <p:tags r:id="rId2"/>
            </p:custDataLst>
          </p:nvPr>
        </p:nvSpPr>
        <p:spPr>
          <a:xfrm>
            <a:off x="72555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3</a:t>
            </a:r>
          </a:p>
        </p:txBody>
      </p:sp>
      <p:sp>
        <p:nvSpPr>
          <p:cNvPr id="7" name="26 Elipse"/>
          <p:cNvSpPr/>
          <p:nvPr>
            <p:custDataLst>
              <p:tags r:id="rId3"/>
            </p:custDataLst>
          </p:nvPr>
        </p:nvSpPr>
        <p:spPr>
          <a:xfrm>
            <a:off x="6997240"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2</a:t>
            </a:r>
          </a:p>
        </p:txBody>
      </p:sp>
      <p:sp>
        <p:nvSpPr>
          <p:cNvPr id="8" name="25 Elipse"/>
          <p:cNvSpPr/>
          <p:nvPr>
            <p:custDataLst>
              <p:tags r:id="rId4"/>
            </p:custDataLst>
          </p:nvPr>
        </p:nvSpPr>
        <p:spPr>
          <a:xfrm>
            <a:off x="751562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4</a:t>
            </a:r>
          </a:p>
        </p:txBody>
      </p:sp>
      <p:sp>
        <p:nvSpPr>
          <p:cNvPr id="9" name="26 Elipse"/>
          <p:cNvSpPr/>
          <p:nvPr>
            <p:custDataLst>
              <p:tags r:id="rId5"/>
            </p:custDataLst>
          </p:nvPr>
        </p:nvSpPr>
        <p:spPr>
          <a:xfrm>
            <a:off x="80351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6</a:t>
            </a:r>
          </a:p>
        </p:txBody>
      </p:sp>
      <p:sp>
        <p:nvSpPr>
          <p:cNvPr id="10" name="26 Elipse"/>
          <p:cNvSpPr/>
          <p:nvPr>
            <p:custDataLst>
              <p:tags r:id="rId6"/>
            </p:custDataLst>
          </p:nvPr>
        </p:nvSpPr>
        <p:spPr>
          <a:xfrm>
            <a:off x="7776816"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5</a:t>
            </a:r>
          </a:p>
        </p:txBody>
      </p:sp>
      <p:sp>
        <p:nvSpPr>
          <p:cNvPr id="11" name="26 Elipse"/>
          <p:cNvSpPr/>
          <p:nvPr>
            <p:custDataLst>
              <p:tags r:id="rId7"/>
            </p:custDataLst>
          </p:nvPr>
        </p:nvSpPr>
        <p:spPr>
          <a:xfrm>
            <a:off x="8550763" y="224672"/>
            <a:ext cx="252000" cy="252000"/>
          </a:xfrm>
          <a:prstGeom prst="ellipse">
            <a:avLst/>
          </a:prstGeom>
          <a:solidFill>
            <a:srgbClr val="DB0613"/>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8</a:t>
            </a:r>
          </a:p>
        </p:txBody>
      </p:sp>
      <p:sp>
        <p:nvSpPr>
          <p:cNvPr id="12" name="26 Elipse"/>
          <p:cNvSpPr/>
          <p:nvPr>
            <p:custDataLst>
              <p:tags r:id="rId8"/>
            </p:custDataLst>
          </p:nvPr>
        </p:nvSpPr>
        <p:spPr>
          <a:xfrm>
            <a:off x="8292463" y="224672"/>
            <a:ext cx="252000" cy="252000"/>
          </a:xfrm>
          <a:prstGeom prst="ellipse">
            <a:avLst/>
          </a:prstGeom>
          <a:solidFill>
            <a:schemeClr val="bg1">
              <a:lumMod val="75000"/>
            </a:schemeClr>
          </a:solidFill>
          <a:ln>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s-CL" sz="1000" b="1" dirty="0"/>
              <a:t>7</a:t>
            </a:r>
          </a:p>
        </p:txBody>
      </p:sp>
      <p:sp>
        <p:nvSpPr>
          <p:cNvPr id="20" name="Rounded Rectangle 19"/>
          <p:cNvSpPr/>
          <p:nvPr/>
        </p:nvSpPr>
        <p:spPr>
          <a:xfrm>
            <a:off x="342539" y="743524"/>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Distribución de PEA por Producto</a:t>
            </a:r>
            <a:endParaRPr lang="en-US" sz="1200" b="1" dirty="0"/>
          </a:p>
        </p:txBody>
      </p:sp>
      <p:sp>
        <p:nvSpPr>
          <p:cNvPr id="21" name="Rounded Rectangle 20"/>
          <p:cNvSpPr/>
          <p:nvPr/>
        </p:nvSpPr>
        <p:spPr>
          <a:xfrm>
            <a:off x="342539" y="3529951"/>
            <a:ext cx="4114800" cy="288032"/>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t>Distribución de PMA por Producto</a:t>
            </a:r>
            <a:endParaRPr lang="en-US" sz="1200" b="1" dirty="0"/>
          </a:p>
        </p:txBody>
      </p:sp>
      <p:sp>
        <p:nvSpPr>
          <p:cNvPr id="22" name="AutoShape 179"/>
          <p:cNvSpPr>
            <a:spLocks noChangeArrowheads="1"/>
          </p:cNvSpPr>
          <p:nvPr/>
        </p:nvSpPr>
        <p:spPr bwMode="auto">
          <a:xfrm>
            <a:off x="342539" y="3886751"/>
            <a:ext cx="4114800" cy="2213799"/>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25" name="AutoShape 179"/>
          <p:cNvSpPr>
            <a:spLocks noChangeArrowheads="1"/>
          </p:cNvSpPr>
          <p:nvPr/>
        </p:nvSpPr>
        <p:spPr bwMode="auto">
          <a:xfrm>
            <a:off x="342539" y="1101754"/>
            <a:ext cx="4114800" cy="2241947"/>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a:solidFill>
                <a:schemeClr val="bg1">
                  <a:lumMod val="50000"/>
                </a:schemeClr>
              </a:solidFill>
              <a:latin typeface="+mj-lt"/>
            </a:endParaRPr>
          </a:p>
        </p:txBody>
      </p:sp>
      <p:sp>
        <p:nvSpPr>
          <p:cNvPr id="32" name="Rounded Rectangle 31">
            <a:hlinkClick r:id="rId10" action="ppaction://hlinksldjump"/>
          </p:cNvPr>
          <p:cNvSpPr/>
          <p:nvPr/>
        </p:nvSpPr>
        <p:spPr>
          <a:xfrm>
            <a:off x="1638012" y="6322807"/>
            <a:ext cx="1241666"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i="1" dirty="0">
                <a:solidFill>
                  <a:schemeClr val="bg1"/>
                </a:solidFill>
                <a:cs typeface="Arial" pitchFamily="34" charset="0"/>
              </a:rPr>
              <a:t>Exposición al RO </a:t>
            </a:r>
          </a:p>
        </p:txBody>
      </p:sp>
      <p:graphicFrame>
        <p:nvGraphicFramePr>
          <p:cNvPr id="18" name="Table 17"/>
          <p:cNvGraphicFramePr>
            <a:graphicFrameLocks noGrp="1"/>
          </p:cNvGraphicFramePr>
          <p:nvPr>
            <p:extLst>
              <p:ext uri="{D42A27DB-BD31-4B8C-83A1-F6EECF244321}">
                <p14:modId xmlns:p14="http://schemas.microsoft.com/office/powerpoint/2010/main" val="405489513"/>
              </p:ext>
            </p:extLst>
          </p:nvPr>
        </p:nvGraphicFramePr>
        <p:xfrm>
          <a:off x="4912582" y="1311171"/>
          <a:ext cx="4000500" cy="1905000"/>
        </p:xfrm>
        <a:graphic>
          <a:graphicData uri="http://schemas.openxmlformats.org/drawingml/2006/table">
            <a:tbl>
              <a:tblPr/>
              <a:tblGrid>
                <a:gridCol w="17653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tblGrid>
              <a:tr h="190500">
                <a:tc>
                  <a:txBody>
                    <a:bodyPr/>
                    <a:lstStyle/>
                    <a:p>
                      <a:pPr algn="l" fontAlgn="b"/>
                      <a:endParaRPr lang="es-ES" sz="11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r>
                        <a:rPr lang="es-ES" sz="1100" b="1" i="0" u="none" strike="noStrike">
                          <a:solidFill>
                            <a:srgbClr val="000000"/>
                          </a:solidFill>
                          <a:effectLst/>
                          <a:latin typeface="Calibri"/>
                        </a:rPr>
                        <a:t>PEA (miles)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1" i="0" u="none" strike="noStrike">
                          <a:solidFill>
                            <a:srgbClr val="000000"/>
                          </a:solidFill>
                          <a:effectLst/>
                          <a:latin typeface="Calibri"/>
                        </a:rPr>
                        <a:t>% sobre PEA</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b"/>
                      <a:r>
                        <a:rPr lang="es-ES" sz="1100" b="1" i="0" u="none" strike="noStrike">
                          <a:solidFill>
                            <a:srgbClr val="000000"/>
                          </a:solidFill>
                          <a:effectLst/>
                          <a:latin typeface="Calibri"/>
                        </a:rPr>
                        <a:t>Riesgos laborales</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16,038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a:rPr>
                        <a:t>66,3%</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l" fontAlgn="b"/>
                      <a:r>
                        <a:rPr lang="es-ES" sz="1100" b="1" i="0" u="none" strike="noStrike">
                          <a:solidFill>
                            <a:srgbClr val="000000"/>
                          </a:solidFill>
                          <a:effectLst/>
                          <a:latin typeface="Calibri"/>
                        </a:rPr>
                        <a:t>Vida</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3920</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16,2%</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l" fontAlgn="b"/>
                      <a:r>
                        <a:rPr lang="es-ES" sz="1100" b="1" i="0" u="none" strike="noStrike">
                          <a:solidFill>
                            <a:srgbClr val="000000"/>
                          </a:solidFill>
                          <a:effectLst/>
                          <a:latin typeface="Calibri"/>
                        </a:rPr>
                        <a:t>Salud</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2739</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11,3%</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l" fontAlgn="b"/>
                      <a:r>
                        <a:rPr lang="es-ES" sz="1100" b="1" i="0" u="none" strike="noStrike">
                          <a:solidFill>
                            <a:srgbClr val="000000"/>
                          </a:solidFill>
                          <a:effectLst/>
                          <a:latin typeface="Calibri"/>
                        </a:rPr>
                        <a:t>Vehicular</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859</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3,6%</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l" fontAlgn="b"/>
                      <a:r>
                        <a:rPr lang="es-ES" sz="1100" b="1" i="0" u="none" strike="noStrike">
                          <a:solidFill>
                            <a:srgbClr val="000000"/>
                          </a:solidFill>
                          <a:effectLst/>
                          <a:latin typeface="Calibri"/>
                        </a:rPr>
                        <a:t>Riesgos generales</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346</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1,4%</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l" fontAlgn="b"/>
                      <a:r>
                        <a:rPr lang="es-ES" sz="1100" b="1" i="0" u="none" strike="noStrike">
                          <a:solidFill>
                            <a:srgbClr val="000000"/>
                          </a:solidFill>
                          <a:effectLst/>
                          <a:latin typeface="Calibri"/>
                        </a:rPr>
                        <a:t>SOAT</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210</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0,9%</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l" fontAlgn="b"/>
                      <a:r>
                        <a:rPr lang="es-ES" sz="1100" b="1" i="0" u="none" strike="noStrike">
                          <a:solidFill>
                            <a:srgbClr val="000000"/>
                          </a:solidFill>
                          <a:effectLst/>
                          <a:latin typeface="Calibri"/>
                        </a:rPr>
                        <a:t>RRVV y Previsionales</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53</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0,2%</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l" fontAlgn="b"/>
                      <a:r>
                        <a:rPr lang="es-ES" sz="1100" b="1" i="0" u="none" strike="noStrike" dirty="0">
                          <a:solidFill>
                            <a:srgbClr val="000000"/>
                          </a:solidFill>
                          <a:effectLst/>
                          <a:latin typeface="Calibri"/>
                        </a:rPr>
                        <a:t>Cascos, transportes y aviación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25</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0,1%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b"/>
                      <a:r>
                        <a:rPr lang="es-ES" sz="1100" b="1" i="0" u="none" strike="noStrike" dirty="0">
                          <a:solidFill>
                            <a:srgbClr val="FFFFFF"/>
                          </a:solidFill>
                          <a:effectLst/>
                          <a:latin typeface="Calibri"/>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r" fontAlgn="b"/>
                      <a:r>
                        <a:rPr lang="es-ES" sz="1100" b="1" i="0" u="none" strike="noStrike" dirty="0">
                          <a:solidFill>
                            <a:srgbClr val="FFFFFF"/>
                          </a:solidFill>
                          <a:effectLst/>
                          <a:latin typeface="+mn-lt"/>
                        </a:rPr>
                        <a:t> 24,190                     </a:t>
                      </a:r>
                      <a:endParaRPr lang="es-ES" sz="1100" b="1" i="0" u="none" strike="noStrike" dirty="0">
                        <a:solidFill>
                          <a:srgbClr val="FFFFFF"/>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r" fontAlgn="b"/>
                      <a:r>
                        <a:rPr lang="es-ES" sz="1100" b="1" i="0" u="none" strike="noStrike" dirty="0">
                          <a:solidFill>
                            <a:srgbClr val="FFFFFF"/>
                          </a:solidFill>
                          <a:effectLst/>
                          <a:latin typeface="Calibri"/>
                        </a:rPr>
                        <a:t>100,0%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extLst>
                  <a:ext uri="{0D108BD9-81ED-4DB2-BD59-A6C34878D82A}">
                    <a16:rowId xmlns:a16="http://schemas.microsoft.com/office/drawing/2014/main" val="10009"/>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435792819"/>
              </p:ext>
            </p:extLst>
          </p:nvPr>
        </p:nvGraphicFramePr>
        <p:xfrm>
          <a:off x="4926230" y="4041150"/>
          <a:ext cx="4000500" cy="1905000"/>
        </p:xfrm>
        <a:graphic>
          <a:graphicData uri="http://schemas.openxmlformats.org/drawingml/2006/table">
            <a:tbl>
              <a:tblPr/>
              <a:tblGrid>
                <a:gridCol w="17653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tblGrid>
              <a:tr h="190500">
                <a:tc>
                  <a:txBody>
                    <a:bodyPr/>
                    <a:lstStyle/>
                    <a:p>
                      <a:pPr algn="l" fontAlgn="b"/>
                      <a:endParaRPr lang="es-ES" sz="11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r>
                        <a:rPr lang="es-ES" sz="1100" b="1" i="0" u="none" strike="noStrike">
                          <a:solidFill>
                            <a:srgbClr val="000000"/>
                          </a:solidFill>
                          <a:effectLst/>
                          <a:latin typeface="Calibri"/>
                        </a:rPr>
                        <a:t>PMA (miles)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1" i="0" u="none" strike="noStrike">
                          <a:solidFill>
                            <a:srgbClr val="000000"/>
                          </a:solidFill>
                          <a:effectLst/>
                          <a:latin typeface="Calibri"/>
                        </a:rPr>
                        <a:t>% sobre PMA</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b"/>
                      <a:r>
                        <a:rPr lang="es-ES" sz="1100" b="1" i="0" u="none" strike="noStrike">
                          <a:solidFill>
                            <a:srgbClr val="000000"/>
                          </a:solidFill>
                          <a:effectLst/>
                          <a:latin typeface="Calibri"/>
                        </a:rPr>
                        <a:t>Riesgos laborales</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31,065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a:rPr>
                        <a:t>50,7%</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l" fontAlgn="b"/>
                      <a:r>
                        <a:rPr lang="es-ES" sz="1100" b="1" i="0" u="none" strike="noStrike">
                          <a:solidFill>
                            <a:srgbClr val="000000"/>
                          </a:solidFill>
                          <a:effectLst/>
                          <a:latin typeface="Calibri"/>
                        </a:rPr>
                        <a:t>Vida</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11,063</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18,0%</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l" fontAlgn="b"/>
                      <a:r>
                        <a:rPr lang="es-ES" sz="1100" b="1" i="0" u="none" strike="noStrike">
                          <a:solidFill>
                            <a:srgbClr val="000000"/>
                          </a:solidFill>
                          <a:effectLst/>
                          <a:latin typeface="Calibri"/>
                        </a:rPr>
                        <a:t>Salud</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8,612</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14,0%</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l" fontAlgn="b"/>
                      <a:r>
                        <a:rPr lang="es-ES" sz="1100" b="1" i="0" u="none" strike="noStrike">
                          <a:solidFill>
                            <a:srgbClr val="000000"/>
                          </a:solidFill>
                          <a:effectLst/>
                          <a:latin typeface="Calibri"/>
                        </a:rPr>
                        <a:t>Cascos, transportes y aviación</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4,335</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7,1%</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l" fontAlgn="b"/>
                      <a:r>
                        <a:rPr lang="es-ES" sz="1100" b="1" i="0" u="none" strike="noStrike">
                          <a:solidFill>
                            <a:srgbClr val="000000"/>
                          </a:solidFill>
                          <a:effectLst/>
                          <a:latin typeface="Calibri"/>
                        </a:rPr>
                        <a:t>Vehicular</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2,940</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4,8%</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l" fontAlgn="b"/>
                      <a:r>
                        <a:rPr lang="es-ES" sz="1100" b="1" i="0" u="none" strike="noStrike">
                          <a:solidFill>
                            <a:srgbClr val="000000"/>
                          </a:solidFill>
                          <a:effectLst/>
                          <a:latin typeface="Calibri"/>
                        </a:rPr>
                        <a:t>Riesgos generales</a:t>
                      </a:r>
                    </a:p>
                  </a:txBody>
                  <a:tcPr marL="9525" marR="9525" marT="9525" marB="0" anchor="b">
                    <a:lnL>
                      <a:noFill/>
                    </a:lnL>
                    <a:lnR>
                      <a:noFill/>
                    </a:lnR>
                    <a:lnT>
                      <a:noFill/>
                    </a:lnT>
                    <a:lnB>
                      <a:noFill/>
                    </a:lnB>
                  </a:tcPr>
                </a:tc>
                <a:tc>
                  <a:txBody>
                    <a:bodyPr/>
                    <a:lstStyle/>
                    <a:p>
                      <a:pPr algn="r" fontAlgn="b"/>
                      <a:r>
                        <a:rPr lang="es-ES" sz="1100" b="0" i="0" u="none" strike="noStrike" dirty="0">
                          <a:solidFill>
                            <a:srgbClr val="000000"/>
                          </a:solidFill>
                          <a:effectLst/>
                          <a:latin typeface="Calibri"/>
                        </a:rPr>
                        <a:t>2,278</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3,7%</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l" fontAlgn="b"/>
                      <a:r>
                        <a:rPr lang="es-ES" sz="1100" b="1" i="0" u="none" strike="noStrike">
                          <a:solidFill>
                            <a:srgbClr val="000000"/>
                          </a:solidFill>
                          <a:effectLst/>
                          <a:latin typeface="Calibri"/>
                        </a:rPr>
                        <a:t>SOAT</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580</a:t>
                      </a:r>
                    </a:p>
                  </a:txBody>
                  <a:tcPr marL="9525" marR="9525" marT="9525" marB="0" anchor="b">
                    <a:lnL>
                      <a:noFill/>
                    </a:lnL>
                    <a:lnR>
                      <a:noFill/>
                    </a:lnR>
                    <a:lnT>
                      <a:noFill/>
                    </a:lnT>
                    <a:lnB>
                      <a:noFill/>
                    </a:lnB>
                  </a:tcPr>
                </a:tc>
                <a:tc>
                  <a:txBody>
                    <a:bodyPr/>
                    <a:lstStyle/>
                    <a:p>
                      <a:pPr algn="r" fontAlgn="b"/>
                      <a:r>
                        <a:rPr lang="es-ES" sz="1100" b="0" i="0" u="none" strike="noStrike">
                          <a:solidFill>
                            <a:srgbClr val="000000"/>
                          </a:solidFill>
                          <a:effectLst/>
                          <a:latin typeface="Calibri"/>
                        </a:rPr>
                        <a:t>0,9%</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l" fontAlgn="b"/>
                      <a:r>
                        <a:rPr lang="es-ES" sz="1100" b="1" i="0" u="none" strike="noStrike" dirty="0">
                          <a:solidFill>
                            <a:srgbClr val="000000"/>
                          </a:solidFill>
                          <a:effectLst/>
                          <a:latin typeface="Calibri"/>
                        </a:rPr>
                        <a:t>RRVV y Previsionales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430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s-ES" sz="1100" b="0" i="0" u="none" strike="noStrike" dirty="0">
                          <a:solidFill>
                            <a:srgbClr val="000000"/>
                          </a:solidFill>
                          <a:effectLst/>
                          <a:latin typeface="Calibri"/>
                        </a:rPr>
                        <a:t>0,7%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b"/>
                      <a:r>
                        <a:rPr lang="es-ES" sz="1100" b="1" i="0" u="none" strike="noStrike" dirty="0">
                          <a:solidFill>
                            <a:srgbClr val="FFFFFF"/>
                          </a:solidFill>
                          <a:effectLst/>
                          <a:latin typeface="Calibri"/>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l" fontAlgn="b"/>
                      <a:r>
                        <a:rPr lang="es-ES" sz="1100" b="1" i="0" u="none" strike="noStrike" dirty="0">
                          <a:solidFill>
                            <a:srgbClr val="FFFFFF"/>
                          </a:solidFill>
                          <a:effectLst/>
                          <a:latin typeface="Calibri"/>
                        </a:rPr>
                        <a:t>                     </a:t>
                      </a:r>
                      <a:r>
                        <a:rPr lang="es-ES" sz="1100" b="1" i="0" u="none" strike="noStrike" dirty="0">
                          <a:solidFill>
                            <a:srgbClr val="FFFFFF"/>
                          </a:solidFill>
                          <a:effectLst/>
                          <a:latin typeface="+mn-lt"/>
                        </a:rPr>
                        <a:t> 61,303      </a:t>
                      </a:r>
                      <a:endParaRPr lang="es-ES" sz="1100" b="1" i="0" u="none" strike="noStrike" dirty="0">
                        <a:solidFill>
                          <a:srgbClr val="FFFFFF"/>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tc>
                  <a:txBody>
                    <a:bodyPr/>
                    <a:lstStyle/>
                    <a:p>
                      <a:pPr algn="r" fontAlgn="b"/>
                      <a:r>
                        <a:rPr lang="es-ES" sz="1100" b="1" i="0" u="none" strike="noStrike" dirty="0">
                          <a:solidFill>
                            <a:srgbClr val="FFFFFF"/>
                          </a:solidFill>
                          <a:effectLst/>
                          <a:latin typeface="Calibri"/>
                        </a:rPr>
                        <a:t>100,0%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DB0613"/>
                    </a:solidFill>
                  </a:tcPr>
                </a:tc>
                <a:extLst>
                  <a:ext uri="{0D108BD9-81ED-4DB2-BD59-A6C34878D82A}">
                    <a16:rowId xmlns:a16="http://schemas.microsoft.com/office/drawing/2014/main" val="10009"/>
                  </a:ext>
                </a:extLst>
              </a:tr>
            </a:tbl>
          </a:graphicData>
        </a:graphic>
      </p:graphicFrame>
      <p:graphicFrame>
        <p:nvGraphicFramePr>
          <p:cNvPr id="23" name="Chart 22"/>
          <p:cNvGraphicFramePr>
            <a:graphicFrameLocks/>
          </p:cNvGraphicFramePr>
          <p:nvPr>
            <p:extLst>
              <p:ext uri="{D42A27DB-BD31-4B8C-83A1-F6EECF244321}">
                <p14:modId xmlns:p14="http://schemas.microsoft.com/office/powerpoint/2010/main" val="1987582662"/>
              </p:ext>
            </p:extLst>
          </p:nvPr>
        </p:nvGraphicFramePr>
        <p:xfrm>
          <a:off x="354259" y="1228299"/>
          <a:ext cx="3985730" cy="2178822"/>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4" name="Chart 23"/>
          <p:cNvGraphicFramePr>
            <a:graphicFrameLocks/>
          </p:cNvGraphicFramePr>
          <p:nvPr>
            <p:extLst>
              <p:ext uri="{D42A27DB-BD31-4B8C-83A1-F6EECF244321}">
                <p14:modId xmlns:p14="http://schemas.microsoft.com/office/powerpoint/2010/main" val="904442478"/>
              </p:ext>
            </p:extLst>
          </p:nvPr>
        </p:nvGraphicFramePr>
        <p:xfrm>
          <a:off x="342539" y="3998794"/>
          <a:ext cx="3983801" cy="2244406"/>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956504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p:cNvSpPr>
            <a:spLocks noChangeArrowheads="1"/>
          </p:cNvSpPr>
          <p:nvPr/>
        </p:nvSpPr>
        <p:spPr bwMode="auto">
          <a:xfrm rot="16200000">
            <a:off x="-118289" y="2813501"/>
            <a:ext cx="2813711" cy="914400"/>
          </a:xfrm>
          <a:prstGeom prst="homePlate">
            <a:avLst>
              <a:gd name="adj" fmla="val 0"/>
            </a:avLst>
          </a:prstGeom>
          <a:solidFill>
            <a:srgbClr val="C0C0C0"/>
          </a:solidFill>
          <a:ln w="9525">
            <a:noFill/>
            <a:miter lim="800000"/>
            <a:headEnd/>
            <a:tailEnd/>
          </a:ln>
          <a:effectLst>
            <a:prstShdw prst="shdw17" dist="17961" dir="2700000">
              <a:srgbClr val="C0C0C0">
                <a:gamma/>
                <a:shade val="60000"/>
                <a:invGamma/>
              </a:srgbClr>
            </a:prstShdw>
          </a:effectLst>
        </p:spPr>
        <p:txBody>
          <a:bodyPr wrap="square" lIns="0" tIns="0" rIns="0" bIns="0" anchor="ctr">
            <a:spAutoFit/>
          </a:bodyPr>
          <a:lstStyle/>
          <a:p>
            <a:endParaRPr lang="en-US"/>
          </a:p>
        </p:txBody>
      </p:sp>
      <p:sp>
        <p:nvSpPr>
          <p:cNvPr id="5" name="Rectangle 8"/>
          <p:cNvSpPr>
            <a:spLocks noChangeArrowheads="1"/>
          </p:cNvSpPr>
          <p:nvPr/>
        </p:nvSpPr>
        <p:spPr bwMode="auto">
          <a:xfrm>
            <a:off x="831366" y="4749211"/>
            <a:ext cx="914400"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s-ES" sz="1000" b="1" dirty="0">
                <a:solidFill>
                  <a:schemeClr val="bg1"/>
                </a:solidFill>
              </a:rPr>
              <a:t>Prospección</a:t>
            </a:r>
            <a:endParaRPr lang="en-US" sz="1000" b="1" dirty="0">
              <a:solidFill>
                <a:schemeClr val="bg1"/>
              </a:solidFill>
            </a:endParaRPr>
          </a:p>
        </p:txBody>
      </p:sp>
      <p:sp>
        <p:nvSpPr>
          <p:cNvPr id="7" name="Text Box 15"/>
          <p:cNvSpPr txBox="1">
            <a:spLocks noChangeArrowheads="1"/>
          </p:cNvSpPr>
          <p:nvPr/>
        </p:nvSpPr>
        <p:spPr bwMode="auto">
          <a:xfrm>
            <a:off x="589910" y="4556357"/>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_tradnl" sz="1000" dirty="0">
                <a:solidFill>
                  <a:srgbClr val="4D4D4D"/>
                </a:solidFill>
              </a:rPr>
              <a:t>1</a:t>
            </a:r>
            <a:endParaRPr lang="en-US" sz="1000" u="none" dirty="0">
              <a:solidFill>
                <a:srgbClr val="4D4D4D"/>
              </a:solidFill>
            </a:endParaRPr>
          </a:p>
        </p:txBody>
      </p:sp>
      <p:sp>
        <p:nvSpPr>
          <p:cNvPr id="8" name="Rectangle 16"/>
          <p:cNvSpPr>
            <a:spLocks noChangeArrowheads="1"/>
          </p:cNvSpPr>
          <p:nvPr/>
        </p:nvSpPr>
        <p:spPr bwMode="auto">
          <a:xfrm>
            <a:off x="819460" y="5343756"/>
            <a:ext cx="5885288" cy="292608"/>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n-US" sz="1000" b="1" dirty="0" err="1">
                <a:solidFill>
                  <a:schemeClr val="bg1"/>
                </a:solidFill>
              </a:rPr>
              <a:t>Generación</a:t>
            </a:r>
            <a:r>
              <a:rPr lang="en-US" sz="1000" b="1" dirty="0">
                <a:solidFill>
                  <a:schemeClr val="bg1"/>
                </a:solidFill>
              </a:rPr>
              <a:t> de </a:t>
            </a:r>
            <a:r>
              <a:rPr lang="en-US" sz="1000" b="1" dirty="0" err="1">
                <a:solidFill>
                  <a:schemeClr val="bg1"/>
                </a:solidFill>
              </a:rPr>
              <a:t>Negocio</a:t>
            </a:r>
            <a:endParaRPr lang="en-US" sz="1000" b="1" dirty="0">
              <a:solidFill>
                <a:schemeClr val="bg1"/>
              </a:solidFill>
            </a:endParaRPr>
          </a:p>
        </p:txBody>
      </p:sp>
      <p:sp>
        <p:nvSpPr>
          <p:cNvPr id="9" name="Text Box 17"/>
          <p:cNvSpPr txBox="1">
            <a:spLocks noChangeArrowheads="1"/>
          </p:cNvSpPr>
          <p:nvPr/>
        </p:nvSpPr>
        <p:spPr bwMode="auto">
          <a:xfrm>
            <a:off x="508947" y="3367319"/>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3</a:t>
            </a:r>
            <a:endParaRPr lang="en-US" sz="1000" u="none" dirty="0">
              <a:solidFill>
                <a:srgbClr val="4D4D4D"/>
              </a:solidFill>
            </a:endParaRPr>
          </a:p>
        </p:txBody>
      </p:sp>
      <p:sp>
        <p:nvSpPr>
          <p:cNvPr id="10" name="Text Box 18"/>
          <p:cNvSpPr txBox="1">
            <a:spLocks noChangeArrowheads="1"/>
          </p:cNvSpPr>
          <p:nvPr/>
        </p:nvSpPr>
        <p:spPr bwMode="auto">
          <a:xfrm>
            <a:off x="543872" y="3970569"/>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2</a:t>
            </a:r>
            <a:endParaRPr lang="en-US" sz="1000" u="none" dirty="0">
              <a:solidFill>
                <a:srgbClr val="4D4D4D"/>
              </a:solidFill>
            </a:endParaRPr>
          </a:p>
        </p:txBody>
      </p:sp>
      <p:sp>
        <p:nvSpPr>
          <p:cNvPr id="11" name="Text Box 19"/>
          <p:cNvSpPr txBox="1">
            <a:spLocks noChangeArrowheads="1"/>
          </p:cNvSpPr>
          <p:nvPr/>
        </p:nvSpPr>
        <p:spPr bwMode="auto">
          <a:xfrm>
            <a:off x="508947" y="2798994"/>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4</a:t>
            </a:r>
            <a:endParaRPr lang="en-US" sz="1000" u="none" dirty="0">
              <a:solidFill>
                <a:srgbClr val="4D4D4D"/>
              </a:solidFill>
            </a:endParaRPr>
          </a:p>
        </p:txBody>
      </p:sp>
      <p:sp>
        <p:nvSpPr>
          <p:cNvPr id="13" name="Text Box 21"/>
          <p:cNvSpPr txBox="1">
            <a:spLocks noChangeArrowheads="1"/>
          </p:cNvSpPr>
          <p:nvPr/>
        </p:nvSpPr>
        <p:spPr bwMode="auto">
          <a:xfrm>
            <a:off x="510535" y="2202094"/>
            <a:ext cx="65724" cy="169277"/>
          </a:xfrm>
          <a:prstGeom prst="rect">
            <a:avLst/>
          </a:prstGeom>
          <a:noFill/>
          <a:ln w="9525">
            <a:noFill/>
            <a:miter lim="800000"/>
            <a:headEnd/>
            <a:tailEnd/>
          </a:ln>
          <a:effectLst>
            <a:prstShdw prst="shdw17" dist="17961" dir="2700000">
              <a:schemeClr val="accent1">
                <a:gamma/>
                <a:shade val="60000"/>
                <a:invGamma/>
              </a:schemeClr>
            </a:prstShdw>
          </a:effectLst>
        </p:spPr>
        <p:txBody>
          <a:bodyPr wrap="none" lIns="0" tIns="0" rIns="0" bIns="0">
            <a:spAutoFit/>
          </a:bodyPr>
          <a:lstStyle/>
          <a:p>
            <a:pPr>
              <a:lnSpc>
                <a:spcPct val="110000"/>
              </a:lnSpc>
              <a:spcBef>
                <a:spcPct val="60000"/>
              </a:spcBef>
            </a:pPr>
            <a:r>
              <a:rPr lang="es-ES" sz="1000" dirty="0">
                <a:solidFill>
                  <a:srgbClr val="4D4D4D"/>
                </a:solidFill>
              </a:rPr>
              <a:t>5</a:t>
            </a:r>
            <a:endParaRPr lang="en-US" sz="1000" u="none" dirty="0">
              <a:solidFill>
                <a:srgbClr val="4D4D4D"/>
              </a:solidFill>
            </a:endParaRPr>
          </a:p>
        </p:txBody>
      </p:sp>
      <p:sp>
        <p:nvSpPr>
          <p:cNvPr id="16" name="AutoShape 39"/>
          <p:cNvSpPr>
            <a:spLocks noChangeArrowheads="1"/>
          </p:cNvSpPr>
          <p:nvPr/>
        </p:nvSpPr>
        <p:spPr bwMode="auto">
          <a:xfrm rot="16200000">
            <a:off x="872267" y="2813500"/>
            <a:ext cx="2813709" cy="914400"/>
          </a:xfrm>
          <a:prstGeom prst="homePlate">
            <a:avLst>
              <a:gd name="adj" fmla="val 0"/>
            </a:avLst>
          </a:prstGeom>
          <a:solidFill>
            <a:srgbClr val="EAEAEA"/>
          </a:solidFill>
          <a:ln w="9525">
            <a:noFill/>
            <a:miter lim="800000"/>
            <a:headEnd/>
            <a:tailEnd/>
          </a:ln>
          <a:effectLst>
            <a:prstShdw prst="shdw17" dist="17961" dir="2700000">
              <a:srgbClr val="EAEAEA">
                <a:gamma/>
                <a:shade val="60000"/>
                <a:invGamma/>
              </a:srgbClr>
            </a:prstShdw>
          </a:effectLst>
        </p:spPr>
        <p:txBody>
          <a:bodyPr wrap="square" lIns="0" tIns="0" rIns="0" bIns="0" anchor="ctr">
            <a:spAutoFit/>
          </a:bodyPr>
          <a:lstStyle/>
          <a:p>
            <a:endParaRPr lang="en-US"/>
          </a:p>
        </p:txBody>
      </p:sp>
      <p:sp>
        <p:nvSpPr>
          <p:cNvPr id="17" name="Rectangle 40"/>
          <p:cNvSpPr>
            <a:spLocks noChangeArrowheads="1"/>
          </p:cNvSpPr>
          <p:nvPr/>
        </p:nvSpPr>
        <p:spPr bwMode="auto">
          <a:xfrm>
            <a:off x="1821922" y="4749211"/>
            <a:ext cx="914400"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s-ES" sz="1000" b="1" u="none" dirty="0">
                <a:solidFill>
                  <a:schemeClr val="bg1"/>
                </a:solidFill>
              </a:rPr>
              <a:t>Suscripción</a:t>
            </a:r>
            <a:endParaRPr lang="en-US" sz="1000" b="1" u="none" dirty="0">
              <a:solidFill>
                <a:schemeClr val="bg1"/>
              </a:solidFill>
            </a:endParaRPr>
          </a:p>
        </p:txBody>
      </p:sp>
      <p:sp>
        <p:nvSpPr>
          <p:cNvPr id="47" name="Rectangle 16"/>
          <p:cNvSpPr>
            <a:spLocks noChangeArrowheads="1"/>
          </p:cNvSpPr>
          <p:nvPr/>
        </p:nvSpPr>
        <p:spPr bwMode="auto">
          <a:xfrm>
            <a:off x="6792697" y="5344764"/>
            <a:ext cx="1020128" cy="291600"/>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n-US" sz="1000" b="1" dirty="0" err="1">
                <a:solidFill>
                  <a:schemeClr val="bg1"/>
                </a:solidFill>
              </a:rPr>
              <a:t>Admisnistración</a:t>
            </a:r>
            <a:r>
              <a:rPr lang="en-US" sz="1000" b="1" dirty="0">
                <a:solidFill>
                  <a:schemeClr val="bg1"/>
                </a:solidFill>
              </a:rPr>
              <a:t> de </a:t>
            </a:r>
            <a:r>
              <a:rPr lang="en-US" sz="1000" b="1" dirty="0" err="1">
                <a:solidFill>
                  <a:schemeClr val="bg1"/>
                </a:solidFill>
              </a:rPr>
              <a:t>pólizas</a:t>
            </a:r>
            <a:endParaRPr lang="en-US" sz="1000" b="1" dirty="0">
              <a:solidFill>
                <a:schemeClr val="bg1"/>
              </a:solidFill>
            </a:endParaRPr>
          </a:p>
        </p:txBody>
      </p:sp>
      <p:sp>
        <p:nvSpPr>
          <p:cNvPr id="48" name="Rectangle 16"/>
          <p:cNvSpPr>
            <a:spLocks noChangeArrowheads="1"/>
          </p:cNvSpPr>
          <p:nvPr/>
        </p:nvSpPr>
        <p:spPr bwMode="auto">
          <a:xfrm>
            <a:off x="7844624" y="5344764"/>
            <a:ext cx="956025" cy="291600"/>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n-US" sz="1000" b="1" dirty="0" err="1">
                <a:solidFill>
                  <a:schemeClr val="bg1"/>
                </a:solidFill>
              </a:rPr>
              <a:t>Generación</a:t>
            </a:r>
            <a:r>
              <a:rPr lang="en-US" sz="1000" b="1" dirty="0">
                <a:solidFill>
                  <a:schemeClr val="bg1"/>
                </a:solidFill>
              </a:rPr>
              <a:t> de </a:t>
            </a:r>
            <a:r>
              <a:rPr lang="en-US" sz="1000" b="1" dirty="0" err="1">
                <a:solidFill>
                  <a:schemeClr val="bg1"/>
                </a:solidFill>
              </a:rPr>
              <a:t>Opor</a:t>
            </a:r>
            <a:r>
              <a:rPr lang="en-US" sz="1000" b="1" dirty="0">
                <a:solidFill>
                  <a:schemeClr val="bg1"/>
                </a:solidFill>
              </a:rPr>
              <a:t>. Y </a:t>
            </a:r>
            <a:r>
              <a:rPr lang="en-US" sz="1000" b="1" dirty="0" err="1">
                <a:solidFill>
                  <a:schemeClr val="bg1"/>
                </a:solidFill>
              </a:rPr>
              <a:t>Posicion</a:t>
            </a:r>
            <a:r>
              <a:rPr lang="en-US" sz="1000" b="1" dirty="0">
                <a:solidFill>
                  <a:schemeClr val="bg1"/>
                </a:solidFill>
              </a:rPr>
              <a:t>.</a:t>
            </a:r>
          </a:p>
        </p:txBody>
      </p:sp>
      <p:sp>
        <p:nvSpPr>
          <p:cNvPr id="49" name="Rectangle 40"/>
          <p:cNvSpPr>
            <a:spLocks noChangeArrowheads="1"/>
          </p:cNvSpPr>
          <p:nvPr/>
        </p:nvSpPr>
        <p:spPr bwMode="auto">
          <a:xfrm>
            <a:off x="2794674" y="4749211"/>
            <a:ext cx="914400"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s-ES" sz="1000" b="1" u="none" dirty="0">
                <a:solidFill>
                  <a:schemeClr val="bg1"/>
                </a:solidFill>
              </a:rPr>
              <a:t>Venta</a:t>
            </a:r>
            <a:endParaRPr lang="en-US" sz="1000" b="1" u="none" dirty="0">
              <a:solidFill>
                <a:schemeClr val="bg1"/>
              </a:solidFill>
            </a:endParaRPr>
          </a:p>
        </p:txBody>
      </p:sp>
      <p:sp>
        <p:nvSpPr>
          <p:cNvPr id="50" name="Rectangle 40"/>
          <p:cNvSpPr>
            <a:spLocks noChangeArrowheads="1"/>
          </p:cNvSpPr>
          <p:nvPr/>
        </p:nvSpPr>
        <p:spPr bwMode="auto">
          <a:xfrm>
            <a:off x="3769719" y="4749211"/>
            <a:ext cx="914400"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s-ES" sz="1000" b="1" u="none" dirty="0">
                <a:solidFill>
                  <a:schemeClr val="bg1"/>
                </a:solidFill>
              </a:rPr>
              <a:t>Emisión y endoso</a:t>
            </a:r>
            <a:endParaRPr lang="en-US" sz="1000" b="1" u="none" dirty="0">
              <a:solidFill>
                <a:schemeClr val="bg1"/>
              </a:solidFill>
            </a:endParaRPr>
          </a:p>
        </p:txBody>
      </p:sp>
      <p:sp>
        <p:nvSpPr>
          <p:cNvPr id="51" name="Rectangle 40"/>
          <p:cNvSpPr>
            <a:spLocks noChangeArrowheads="1"/>
          </p:cNvSpPr>
          <p:nvPr/>
        </p:nvSpPr>
        <p:spPr bwMode="auto">
          <a:xfrm>
            <a:off x="4778524" y="4749211"/>
            <a:ext cx="914400"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n-US" sz="1000" b="1" u="none" dirty="0" err="1">
                <a:solidFill>
                  <a:schemeClr val="bg1"/>
                </a:solidFill>
              </a:rPr>
              <a:t>Impresión</a:t>
            </a:r>
            <a:r>
              <a:rPr lang="en-US" sz="1000" b="1" u="none" dirty="0">
                <a:solidFill>
                  <a:schemeClr val="bg1"/>
                </a:solidFill>
              </a:rPr>
              <a:t> y </a:t>
            </a:r>
            <a:r>
              <a:rPr lang="en-US" sz="1000" b="1" u="none" dirty="0" err="1">
                <a:solidFill>
                  <a:schemeClr val="bg1"/>
                </a:solidFill>
              </a:rPr>
              <a:t>despacho</a:t>
            </a:r>
            <a:endParaRPr lang="en-US" sz="1000" b="1" u="none" dirty="0">
              <a:solidFill>
                <a:schemeClr val="bg1"/>
              </a:solidFill>
            </a:endParaRPr>
          </a:p>
        </p:txBody>
      </p:sp>
      <p:sp>
        <p:nvSpPr>
          <p:cNvPr id="52" name="Rectangle 40"/>
          <p:cNvSpPr>
            <a:spLocks noChangeArrowheads="1"/>
          </p:cNvSpPr>
          <p:nvPr/>
        </p:nvSpPr>
        <p:spPr bwMode="auto">
          <a:xfrm>
            <a:off x="5762278" y="4749211"/>
            <a:ext cx="951993"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n-US" sz="1000" b="1" u="none" dirty="0" err="1">
                <a:solidFill>
                  <a:schemeClr val="bg1"/>
                </a:solidFill>
              </a:rPr>
              <a:t>Renovación</a:t>
            </a:r>
            <a:r>
              <a:rPr lang="en-US" sz="1000" b="1" u="none" dirty="0">
                <a:solidFill>
                  <a:schemeClr val="bg1"/>
                </a:solidFill>
              </a:rPr>
              <a:t> y </a:t>
            </a:r>
            <a:r>
              <a:rPr lang="en-US" sz="1000" b="1" u="none" dirty="0" err="1">
                <a:solidFill>
                  <a:schemeClr val="bg1"/>
                </a:solidFill>
              </a:rPr>
              <a:t>ajustes</a:t>
            </a:r>
            <a:endParaRPr lang="en-US" sz="1000" b="1" u="none" dirty="0">
              <a:solidFill>
                <a:schemeClr val="bg1"/>
              </a:solidFill>
            </a:endParaRPr>
          </a:p>
        </p:txBody>
      </p:sp>
      <p:sp>
        <p:nvSpPr>
          <p:cNvPr id="53" name="Rectangle 40"/>
          <p:cNvSpPr>
            <a:spLocks noChangeArrowheads="1"/>
          </p:cNvSpPr>
          <p:nvPr/>
        </p:nvSpPr>
        <p:spPr bwMode="auto">
          <a:xfrm>
            <a:off x="6806246" y="4749211"/>
            <a:ext cx="993031"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s-ES" sz="1000" b="1" u="none" dirty="0">
                <a:solidFill>
                  <a:schemeClr val="bg1"/>
                </a:solidFill>
              </a:rPr>
              <a:t>Gestión de siniestros</a:t>
            </a:r>
            <a:endParaRPr lang="en-US" sz="1000" b="1" u="none" dirty="0">
              <a:solidFill>
                <a:schemeClr val="bg1"/>
              </a:solidFill>
            </a:endParaRPr>
          </a:p>
        </p:txBody>
      </p:sp>
      <p:sp>
        <p:nvSpPr>
          <p:cNvPr id="54" name="Rectangle 40"/>
          <p:cNvSpPr>
            <a:spLocks noChangeArrowheads="1"/>
          </p:cNvSpPr>
          <p:nvPr/>
        </p:nvSpPr>
        <p:spPr bwMode="auto">
          <a:xfrm>
            <a:off x="7844624" y="4749211"/>
            <a:ext cx="956025" cy="549275"/>
          </a:xfrm>
          <a:prstGeom prst="rect">
            <a:avLst/>
          </a:prstGeom>
          <a:solidFill>
            <a:srgbClr val="DB0613"/>
          </a:solidFill>
          <a:ln w="9525" algn="ctr">
            <a:noFill/>
            <a:miter lim="800000"/>
            <a:headEnd/>
            <a:tailEnd/>
          </a:ln>
          <a:effectLst/>
        </p:spPr>
        <p:txBody>
          <a:bodyPr lIns="0" tIns="0" rIns="0" bIns="0" anchor="ctr"/>
          <a:lstStyle/>
          <a:p>
            <a:pPr algn="ctr">
              <a:lnSpc>
                <a:spcPct val="110000"/>
              </a:lnSpc>
              <a:spcBef>
                <a:spcPct val="60000"/>
              </a:spcBef>
            </a:pPr>
            <a:r>
              <a:rPr lang="es-ES" sz="1000" b="1" u="none" dirty="0">
                <a:solidFill>
                  <a:schemeClr val="bg1"/>
                </a:solidFill>
              </a:rPr>
              <a:t>Desarrollo de nuevos productos</a:t>
            </a:r>
            <a:endParaRPr lang="en-US" sz="1000" b="1" u="none" dirty="0">
              <a:solidFill>
                <a:schemeClr val="bg1"/>
              </a:solidFill>
            </a:endParaRPr>
          </a:p>
        </p:txBody>
      </p:sp>
      <p:sp>
        <p:nvSpPr>
          <p:cNvPr id="62" name="AutoShape 7"/>
          <p:cNvSpPr>
            <a:spLocks noChangeArrowheads="1"/>
          </p:cNvSpPr>
          <p:nvPr/>
        </p:nvSpPr>
        <p:spPr bwMode="auto">
          <a:xfrm rot="16200000">
            <a:off x="1845019" y="2813501"/>
            <a:ext cx="2813711" cy="914400"/>
          </a:xfrm>
          <a:prstGeom prst="homePlate">
            <a:avLst>
              <a:gd name="adj" fmla="val 0"/>
            </a:avLst>
          </a:prstGeom>
          <a:solidFill>
            <a:srgbClr val="C0C0C0"/>
          </a:solidFill>
          <a:ln w="9525">
            <a:noFill/>
            <a:miter lim="800000"/>
            <a:headEnd/>
            <a:tailEnd/>
          </a:ln>
          <a:effectLst>
            <a:prstShdw prst="shdw17" dist="17961" dir="2700000">
              <a:srgbClr val="C0C0C0">
                <a:gamma/>
                <a:shade val="60000"/>
                <a:invGamma/>
              </a:srgbClr>
            </a:prstShdw>
          </a:effectLst>
        </p:spPr>
        <p:txBody>
          <a:bodyPr wrap="square" lIns="0" tIns="0" rIns="0" bIns="0" anchor="ctr">
            <a:spAutoFit/>
          </a:bodyPr>
          <a:lstStyle/>
          <a:p>
            <a:endParaRPr lang="en-US"/>
          </a:p>
        </p:txBody>
      </p:sp>
      <p:sp>
        <p:nvSpPr>
          <p:cNvPr id="63" name="AutoShape 39"/>
          <p:cNvSpPr>
            <a:spLocks noChangeArrowheads="1"/>
          </p:cNvSpPr>
          <p:nvPr/>
        </p:nvSpPr>
        <p:spPr bwMode="auto">
          <a:xfrm rot="16200000">
            <a:off x="2820065" y="2813500"/>
            <a:ext cx="2813709" cy="914400"/>
          </a:xfrm>
          <a:prstGeom prst="homePlate">
            <a:avLst>
              <a:gd name="adj" fmla="val 0"/>
            </a:avLst>
          </a:prstGeom>
          <a:solidFill>
            <a:srgbClr val="EAEAEA"/>
          </a:solidFill>
          <a:ln w="9525">
            <a:noFill/>
            <a:miter lim="800000"/>
            <a:headEnd/>
            <a:tailEnd/>
          </a:ln>
          <a:effectLst>
            <a:prstShdw prst="shdw17" dist="17961" dir="2700000">
              <a:srgbClr val="EAEAEA">
                <a:gamma/>
                <a:shade val="60000"/>
                <a:invGamma/>
              </a:srgbClr>
            </a:prstShdw>
          </a:effectLst>
        </p:spPr>
        <p:txBody>
          <a:bodyPr wrap="square" lIns="0" tIns="0" rIns="0" bIns="0" anchor="ctr">
            <a:spAutoFit/>
          </a:bodyPr>
          <a:lstStyle/>
          <a:p>
            <a:endParaRPr lang="en-US"/>
          </a:p>
        </p:txBody>
      </p:sp>
      <p:sp>
        <p:nvSpPr>
          <p:cNvPr id="89" name="AutoShape 7"/>
          <p:cNvSpPr>
            <a:spLocks noChangeArrowheads="1"/>
          </p:cNvSpPr>
          <p:nvPr/>
        </p:nvSpPr>
        <p:spPr bwMode="auto">
          <a:xfrm rot="16200000">
            <a:off x="3828869" y="2813501"/>
            <a:ext cx="2813711" cy="914400"/>
          </a:xfrm>
          <a:prstGeom prst="homePlate">
            <a:avLst>
              <a:gd name="adj" fmla="val 0"/>
            </a:avLst>
          </a:prstGeom>
          <a:solidFill>
            <a:srgbClr val="C0C0C0"/>
          </a:solidFill>
          <a:ln w="9525">
            <a:noFill/>
            <a:miter lim="800000"/>
            <a:headEnd/>
            <a:tailEnd/>
          </a:ln>
          <a:effectLst>
            <a:prstShdw prst="shdw17" dist="17961" dir="2700000">
              <a:srgbClr val="C0C0C0">
                <a:gamma/>
                <a:shade val="60000"/>
                <a:invGamma/>
              </a:srgbClr>
            </a:prstShdw>
          </a:effectLst>
        </p:spPr>
        <p:txBody>
          <a:bodyPr wrap="square" lIns="0" tIns="0" rIns="0" bIns="0" anchor="ctr">
            <a:spAutoFit/>
          </a:bodyPr>
          <a:lstStyle/>
          <a:p>
            <a:endParaRPr lang="en-US"/>
          </a:p>
        </p:txBody>
      </p:sp>
      <p:sp>
        <p:nvSpPr>
          <p:cNvPr id="90" name="AutoShape 39"/>
          <p:cNvSpPr>
            <a:spLocks noChangeArrowheads="1"/>
          </p:cNvSpPr>
          <p:nvPr/>
        </p:nvSpPr>
        <p:spPr bwMode="auto">
          <a:xfrm rot="16200000">
            <a:off x="4812625" y="2813500"/>
            <a:ext cx="2813709" cy="914400"/>
          </a:xfrm>
          <a:prstGeom prst="homePlate">
            <a:avLst>
              <a:gd name="adj" fmla="val 0"/>
            </a:avLst>
          </a:prstGeom>
          <a:solidFill>
            <a:srgbClr val="EAEAEA"/>
          </a:solidFill>
          <a:ln w="9525">
            <a:noFill/>
            <a:miter lim="800000"/>
            <a:headEnd/>
            <a:tailEnd/>
          </a:ln>
          <a:effectLst>
            <a:prstShdw prst="shdw17" dist="17961" dir="2700000">
              <a:srgbClr val="EAEAEA">
                <a:gamma/>
                <a:shade val="60000"/>
                <a:invGamma/>
              </a:srgbClr>
            </a:prstShdw>
          </a:effectLst>
        </p:spPr>
        <p:txBody>
          <a:bodyPr wrap="square" lIns="0" tIns="0" rIns="0" bIns="0" anchor="ctr">
            <a:spAutoFit/>
          </a:bodyPr>
          <a:lstStyle/>
          <a:p>
            <a:endParaRPr lang="en-US"/>
          </a:p>
        </p:txBody>
      </p:sp>
      <p:sp>
        <p:nvSpPr>
          <p:cNvPr id="116" name="AutoShape 7"/>
          <p:cNvSpPr>
            <a:spLocks noChangeArrowheads="1"/>
          </p:cNvSpPr>
          <p:nvPr/>
        </p:nvSpPr>
        <p:spPr bwMode="auto">
          <a:xfrm rot="16200000">
            <a:off x="5896286" y="2813501"/>
            <a:ext cx="2813711" cy="914400"/>
          </a:xfrm>
          <a:prstGeom prst="homePlate">
            <a:avLst>
              <a:gd name="adj" fmla="val 0"/>
            </a:avLst>
          </a:prstGeom>
          <a:solidFill>
            <a:srgbClr val="C0C0C0"/>
          </a:solidFill>
          <a:ln w="9525">
            <a:noFill/>
            <a:miter lim="800000"/>
            <a:headEnd/>
            <a:tailEnd/>
          </a:ln>
          <a:effectLst>
            <a:prstShdw prst="shdw17" dist="17961" dir="2700000">
              <a:srgbClr val="C0C0C0">
                <a:gamma/>
                <a:shade val="60000"/>
                <a:invGamma/>
              </a:srgbClr>
            </a:prstShdw>
          </a:effectLst>
        </p:spPr>
        <p:txBody>
          <a:bodyPr wrap="square" lIns="0" tIns="0" rIns="0" bIns="0" anchor="ctr">
            <a:spAutoFit/>
          </a:bodyPr>
          <a:lstStyle/>
          <a:p>
            <a:endParaRPr lang="en-US"/>
          </a:p>
        </p:txBody>
      </p:sp>
      <p:sp>
        <p:nvSpPr>
          <p:cNvPr id="117" name="AutoShape 39"/>
          <p:cNvSpPr>
            <a:spLocks noChangeArrowheads="1"/>
          </p:cNvSpPr>
          <p:nvPr/>
        </p:nvSpPr>
        <p:spPr bwMode="auto">
          <a:xfrm rot="16200000">
            <a:off x="6886842" y="2813500"/>
            <a:ext cx="2813709" cy="914400"/>
          </a:xfrm>
          <a:prstGeom prst="homePlate">
            <a:avLst>
              <a:gd name="adj" fmla="val 0"/>
            </a:avLst>
          </a:prstGeom>
          <a:solidFill>
            <a:srgbClr val="EAEAEA"/>
          </a:solidFill>
          <a:ln w="9525">
            <a:noFill/>
            <a:miter lim="800000"/>
            <a:headEnd/>
            <a:tailEnd/>
          </a:ln>
          <a:effectLst>
            <a:prstShdw prst="shdw17" dist="17961" dir="2700000">
              <a:srgbClr val="EAEAEA">
                <a:gamma/>
                <a:shade val="60000"/>
                <a:invGamma/>
              </a:srgbClr>
            </a:prstShdw>
          </a:effectLst>
        </p:spPr>
        <p:txBody>
          <a:bodyPr wrap="square" lIns="0" tIns="0" rIns="0" bIns="0" anchor="ctr">
            <a:spAutoFit/>
          </a:bodyPr>
          <a:lstStyle/>
          <a:p>
            <a:endParaRPr lang="en-US"/>
          </a:p>
        </p:txBody>
      </p:sp>
      <p:sp>
        <p:nvSpPr>
          <p:cNvPr id="20" name="Line 55"/>
          <p:cNvSpPr>
            <a:spLocks noChangeShapeType="1"/>
          </p:cNvSpPr>
          <p:nvPr/>
        </p:nvSpPr>
        <p:spPr bwMode="auto">
          <a:xfrm flipV="1">
            <a:off x="759072" y="4639150"/>
            <a:ext cx="8150432"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sz="2000"/>
          </a:p>
        </p:txBody>
      </p:sp>
      <p:sp>
        <p:nvSpPr>
          <p:cNvPr id="21" name="Line 56"/>
          <p:cNvSpPr>
            <a:spLocks noChangeShapeType="1"/>
          </p:cNvSpPr>
          <p:nvPr/>
        </p:nvSpPr>
        <p:spPr bwMode="auto">
          <a:xfrm>
            <a:off x="768596" y="4042250"/>
            <a:ext cx="8140908"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22" name="Line 57"/>
          <p:cNvSpPr>
            <a:spLocks noChangeShapeType="1"/>
          </p:cNvSpPr>
          <p:nvPr/>
        </p:nvSpPr>
        <p:spPr bwMode="auto">
          <a:xfrm>
            <a:off x="778122" y="3434240"/>
            <a:ext cx="8130738"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19" name="Line 45"/>
          <p:cNvSpPr>
            <a:spLocks noChangeShapeType="1"/>
          </p:cNvSpPr>
          <p:nvPr/>
        </p:nvSpPr>
        <p:spPr bwMode="auto">
          <a:xfrm>
            <a:off x="773360" y="2861150"/>
            <a:ext cx="8135500"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a:p>
        </p:txBody>
      </p:sp>
      <p:sp>
        <p:nvSpPr>
          <p:cNvPr id="23" name="Line 59"/>
          <p:cNvSpPr>
            <a:spLocks noChangeShapeType="1"/>
          </p:cNvSpPr>
          <p:nvPr/>
        </p:nvSpPr>
        <p:spPr bwMode="auto">
          <a:xfrm>
            <a:off x="768596" y="2332101"/>
            <a:ext cx="8140263" cy="0"/>
          </a:xfrm>
          <a:prstGeom prst="line">
            <a:avLst/>
          </a:prstGeom>
          <a:noFill/>
          <a:ln w="9525">
            <a:solidFill>
              <a:srgbClr val="4D4D4D"/>
            </a:solidFill>
            <a:prstDash val="sysDot"/>
            <a:round/>
            <a:headEnd/>
            <a:tailEnd/>
          </a:ln>
          <a:effectLst/>
        </p:spPr>
        <p:txBody>
          <a:bodyPr wrap="square" lIns="0" tIns="0" rIns="0" bIns="0" anchor="ctr">
            <a:spAutoFit/>
          </a:bodyPr>
          <a:lstStyle/>
          <a:p>
            <a:endParaRPr lang="en-US" dirty="0"/>
          </a:p>
        </p:txBody>
      </p:sp>
      <p:sp>
        <p:nvSpPr>
          <p:cNvPr id="161" name="Oval 65"/>
          <p:cNvSpPr>
            <a:spLocks noChangeArrowheads="1"/>
          </p:cNvSpPr>
          <p:nvPr/>
        </p:nvSpPr>
        <p:spPr bwMode="auto">
          <a:xfrm>
            <a:off x="925021" y="2771456"/>
            <a:ext cx="179388" cy="179388"/>
          </a:xfrm>
          <a:prstGeom prst="ellipse">
            <a:avLst/>
          </a:prstGeom>
          <a:solidFill>
            <a:srgbClr val="DB061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163" name="Oval 65"/>
          <p:cNvSpPr>
            <a:spLocks noChangeArrowheads="1"/>
          </p:cNvSpPr>
          <p:nvPr/>
        </p:nvSpPr>
        <p:spPr bwMode="auto">
          <a:xfrm>
            <a:off x="7981773" y="3362263"/>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165" name="Oval 65"/>
          <p:cNvSpPr>
            <a:spLocks noChangeArrowheads="1"/>
          </p:cNvSpPr>
          <p:nvPr/>
        </p:nvSpPr>
        <p:spPr bwMode="auto">
          <a:xfrm>
            <a:off x="1062885" y="4464755"/>
            <a:ext cx="265069" cy="253232"/>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2</a:t>
            </a:r>
          </a:p>
        </p:txBody>
      </p:sp>
      <p:sp>
        <p:nvSpPr>
          <p:cNvPr id="170" name="Oval 65"/>
          <p:cNvSpPr>
            <a:spLocks noChangeArrowheads="1"/>
          </p:cNvSpPr>
          <p:nvPr/>
        </p:nvSpPr>
        <p:spPr bwMode="auto">
          <a:xfrm>
            <a:off x="2045122" y="4264388"/>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21</a:t>
            </a:r>
          </a:p>
        </p:txBody>
      </p:sp>
      <p:sp>
        <p:nvSpPr>
          <p:cNvPr id="171" name="Oval 65"/>
          <p:cNvSpPr>
            <a:spLocks noChangeArrowheads="1"/>
          </p:cNvSpPr>
          <p:nvPr/>
        </p:nvSpPr>
        <p:spPr bwMode="auto">
          <a:xfrm>
            <a:off x="2243122" y="3822824"/>
            <a:ext cx="396000" cy="396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6</a:t>
            </a:r>
            <a:endParaRPr lang="en-US" sz="1100" b="1" u="none" dirty="0">
              <a:solidFill>
                <a:schemeClr val="bg1"/>
              </a:solidFill>
            </a:endParaRPr>
          </a:p>
        </p:txBody>
      </p:sp>
      <p:sp>
        <p:nvSpPr>
          <p:cNvPr id="173" name="Oval 65"/>
          <p:cNvSpPr>
            <a:spLocks noChangeArrowheads="1"/>
          </p:cNvSpPr>
          <p:nvPr/>
        </p:nvSpPr>
        <p:spPr bwMode="auto">
          <a:xfrm>
            <a:off x="1955122" y="2623887"/>
            <a:ext cx="396000" cy="396000"/>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3</a:t>
            </a:r>
          </a:p>
        </p:txBody>
      </p:sp>
      <p:sp>
        <p:nvSpPr>
          <p:cNvPr id="176" name="Oval 65"/>
          <p:cNvSpPr>
            <a:spLocks noChangeArrowheads="1"/>
          </p:cNvSpPr>
          <p:nvPr/>
        </p:nvSpPr>
        <p:spPr bwMode="auto">
          <a:xfrm>
            <a:off x="2997028" y="3952556"/>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178" name="Oval 65"/>
          <p:cNvSpPr>
            <a:spLocks noChangeArrowheads="1"/>
          </p:cNvSpPr>
          <p:nvPr/>
        </p:nvSpPr>
        <p:spPr bwMode="auto">
          <a:xfrm>
            <a:off x="3041122" y="2600994"/>
            <a:ext cx="396000" cy="396000"/>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5</a:t>
            </a:r>
          </a:p>
        </p:txBody>
      </p:sp>
      <p:sp>
        <p:nvSpPr>
          <p:cNvPr id="180" name="Oval 65"/>
          <p:cNvSpPr>
            <a:spLocks noChangeArrowheads="1"/>
          </p:cNvSpPr>
          <p:nvPr/>
        </p:nvSpPr>
        <p:spPr bwMode="auto">
          <a:xfrm>
            <a:off x="3979074" y="4276865"/>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9</a:t>
            </a:r>
            <a:endParaRPr lang="en-US" sz="1100" b="1" u="none" dirty="0">
              <a:solidFill>
                <a:schemeClr val="bg1"/>
              </a:solidFill>
            </a:endParaRPr>
          </a:p>
        </p:txBody>
      </p:sp>
      <p:sp>
        <p:nvSpPr>
          <p:cNvPr id="191" name="Oval 65"/>
          <p:cNvSpPr>
            <a:spLocks noChangeArrowheads="1"/>
          </p:cNvSpPr>
          <p:nvPr/>
        </p:nvSpPr>
        <p:spPr bwMode="auto">
          <a:xfrm>
            <a:off x="6046665" y="4409749"/>
            <a:ext cx="324000" cy="324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3</a:t>
            </a:r>
            <a:endParaRPr lang="en-US" sz="1100" b="1" u="none" dirty="0">
              <a:solidFill>
                <a:schemeClr val="bg1"/>
              </a:solidFill>
            </a:endParaRPr>
          </a:p>
        </p:txBody>
      </p:sp>
      <p:sp>
        <p:nvSpPr>
          <p:cNvPr id="194" name="Oval 65"/>
          <p:cNvSpPr>
            <a:spLocks noChangeArrowheads="1"/>
          </p:cNvSpPr>
          <p:nvPr/>
        </p:nvSpPr>
        <p:spPr bwMode="auto">
          <a:xfrm>
            <a:off x="7069141" y="4230755"/>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13</a:t>
            </a:r>
            <a:endParaRPr lang="en-US" sz="1100" b="1" u="none" dirty="0">
              <a:solidFill>
                <a:schemeClr val="bg1"/>
              </a:solidFill>
            </a:endParaRPr>
          </a:p>
        </p:txBody>
      </p:sp>
      <p:sp>
        <p:nvSpPr>
          <p:cNvPr id="196" name="Oval 65"/>
          <p:cNvSpPr>
            <a:spLocks noChangeArrowheads="1"/>
          </p:cNvSpPr>
          <p:nvPr/>
        </p:nvSpPr>
        <p:spPr bwMode="auto">
          <a:xfrm>
            <a:off x="7100941" y="3170667"/>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17</a:t>
            </a:r>
            <a:endParaRPr lang="en-US" sz="1100" b="1" u="none" dirty="0">
              <a:solidFill>
                <a:schemeClr val="bg1"/>
              </a:solidFill>
            </a:endParaRPr>
          </a:p>
        </p:txBody>
      </p:sp>
      <p:sp>
        <p:nvSpPr>
          <p:cNvPr id="197" name="Oval 65"/>
          <p:cNvSpPr>
            <a:spLocks noChangeArrowheads="1"/>
          </p:cNvSpPr>
          <p:nvPr/>
        </p:nvSpPr>
        <p:spPr bwMode="auto">
          <a:xfrm>
            <a:off x="6990265" y="2599762"/>
            <a:ext cx="468000" cy="468000"/>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20</a:t>
            </a:r>
          </a:p>
        </p:txBody>
      </p:sp>
      <p:sp>
        <p:nvSpPr>
          <p:cNvPr id="198" name="Oval 65"/>
          <p:cNvSpPr>
            <a:spLocks noChangeArrowheads="1"/>
          </p:cNvSpPr>
          <p:nvPr/>
        </p:nvSpPr>
        <p:spPr bwMode="auto">
          <a:xfrm>
            <a:off x="7211306" y="2195741"/>
            <a:ext cx="265069" cy="253232"/>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3</a:t>
            </a:r>
          </a:p>
        </p:txBody>
      </p:sp>
      <p:sp>
        <p:nvSpPr>
          <p:cNvPr id="199" name="Oval 65"/>
          <p:cNvSpPr>
            <a:spLocks noChangeArrowheads="1"/>
          </p:cNvSpPr>
          <p:nvPr/>
        </p:nvSpPr>
        <p:spPr bwMode="auto">
          <a:xfrm>
            <a:off x="8161161" y="4421760"/>
            <a:ext cx="265069" cy="253232"/>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2</a:t>
            </a:r>
          </a:p>
        </p:txBody>
      </p:sp>
      <p:sp>
        <p:nvSpPr>
          <p:cNvPr id="201" name="TextBox 200"/>
          <p:cNvSpPr txBox="1"/>
          <p:nvPr/>
        </p:nvSpPr>
        <p:spPr>
          <a:xfrm>
            <a:off x="475949" y="982444"/>
            <a:ext cx="7789146" cy="646331"/>
          </a:xfrm>
          <a:prstGeom prst="rect">
            <a:avLst/>
          </a:prstGeom>
          <a:noFill/>
        </p:spPr>
        <p:txBody>
          <a:bodyPr wrap="square" rtlCol="0">
            <a:spAutoFit/>
          </a:bodyPr>
          <a:lstStyle/>
          <a:p>
            <a:pPr algn="ctr"/>
            <a:r>
              <a:rPr lang="es-ES" b="1" dirty="0">
                <a:latin typeface="Arial" pitchFamily="34" charset="0"/>
                <a:cs typeface="Arial" pitchFamily="34" charset="0"/>
              </a:rPr>
              <a:t>A continuación se muestra el detalle del impacto reputacional de los procesos analizados…</a:t>
            </a:r>
          </a:p>
        </p:txBody>
      </p:sp>
      <p:sp>
        <p:nvSpPr>
          <p:cNvPr id="65" name="Rounded Rectangle 64">
            <a:hlinkClick r:id="rId2" action="ppaction://hlinksldjump"/>
          </p:cNvPr>
          <p:cNvSpPr/>
          <p:nvPr/>
        </p:nvSpPr>
        <p:spPr>
          <a:xfrm>
            <a:off x="1638012" y="6322807"/>
            <a:ext cx="1241666"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b="1" i="1" dirty="0">
                <a:solidFill>
                  <a:schemeClr val="bg1"/>
                </a:solidFill>
                <a:cs typeface="Arial" pitchFamily="34" charset="0"/>
              </a:rPr>
              <a:t>Impacto reputacional</a:t>
            </a:r>
          </a:p>
        </p:txBody>
      </p:sp>
      <p:sp>
        <p:nvSpPr>
          <p:cNvPr id="66" name="1 Título"/>
          <p:cNvSpPr txBox="1">
            <a:spLocks/>
          </p:cNvSpPr>
          <p:nvPr/>
        </p:nvSpPr>
        <p:spPr>
          <a:xfrm>
            <a:off x="47624" y="32965"/>
            <a:ext cx="8627715" cy="587723"/>
          </a:xfrm>
          <a:prstGeom prst="rect">
            <a:avLst/>
          </a:prstGeom>
        </p:spPr>
        <p:txBody>
          <a:bodyPr vert="horz" lIns="91440" tIns="45720" rIns="91440" bIns="45720" rtlCol="0" anchor="ctr">
            <a:noAutofit/>
          </a:bodyPr>
          <a:lstStyle>
            <a:lvl1pPr algn="l" defTabSz="914400" rtl="0" eaLnBrk="1" latinLnBrk="0" hangingPunct="1">
              <a:spcBef>
                <a:spcPct val="0"/>
              </a:spcBef>
              <a:buNone/>
              <a:defRPr sz="2000" b="1" kern="1200">
                <a:solidFill>
                  <a:schemeClr val="bg1"/>
                </a:solidFill>
                <a:latin typeface="Arial" pitchFamily="34" charset="0"/>
                <a:ea typeface="+mj-ea"/>
                <a:cs typeface="Arial" pitchFamily="34" charset="0"/>
              </a:defRPr>
            </a:lvl1pPr>
          </a:lstStyle>
          <a:p>
            <a:r>
              <a:rPr lang="es-PE" dirty="0"/>
              <a:t>          Anexo 6: </a:t>
            </a:r>
            <a:r>
              <a:rPr lang="es-ES" dirty="0"/>
              <a:t>Análisis del impacto reputacional</a:t>
            </a:r>
            <a:endParaRPr lang="es-PE" dirty="0"/>
          </a:p>
        </p:txBody>
      </p:sp>
      <p:sp>
        <p:nvSpPr>
          <p:cNvPr id="67" name="Rounded Rectangle 66">
            <a:hlinkClick r:id="rId3" action="ppaction://hlinksldjump"/>
          </p:cNvPr>
          <p:cNvSpPr/>
          <p:nvPr/>
        </p:nvSpPr>
        <p:spPr>
          <a:xfrm>
            <a:off x="202172" y="170652"/>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8</a:t>
            </a:r>
            <a:endParaRPr lang="es-ES" sz="1400" b="1" dirty="0"/>
          </a:p>
        </p:txBody>
      </p:sp>
      <p:sp>
        <p:nvSpPr>
          <p:cNvPr id="69" name="Oval 65"/>
          <p:cNvSpPr>
            <a:spLocks noChangeArrowheads="1"/>
          </p:cNvSpPr>
          <p:nvPr/>
        </p:nvSpPr>
        <p:spPr bwMode="auto">
          <a:xfrm>
            <a:off x="952779" y="2247590"/>
            <a:ext cx="179388" cy="179388"/>
          </a:xfrm>
          <a:prstGeom prst="ellipse">
            <a:avLst/>
          </a:prstGeom>
          <a:solidFill>
            <a:srgbClr val="DB061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a:t>
            </a:r>
            <a:endParaRPr lang="en-US" sz="1100" b="1" u="none" dirty="0">
              <a:solidFill>
                <a:schemeClr val="bg1"/>
              </a:solidFill>
            </a:endParaRPr>
          </a:p>
        </p:txBody>
      </p:sp>
      <p:sp>
        <p:nvSpPr>
          <p:cNvPr id="70" name="Oval 65"/>
          <p:cNvSpPr>
            <a:spLocks noChangeArrowheads="1"/>
          </p:cNvSpPr>
          <p:nvPr/>
        </p:nvSpPr>
        <p:spPr bwMode="auto">
          <a:xfrm>
            <a:off x="1955122" y="3274062"/>
            <a:ext cx="396000" cy="396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9</a:t>
            </a:r>
            <a:endParaRPr lang="en-US" sz="1100" b="1" u="none" dirty="0">
              <a:solidFill>
                <a:schemeClr val="bg1"/>
              </a:solidFill>
            </a:endParaRPr>
          </a:p>
        </p:txBody>
      </p:sp>
      <p:sp>
        <p:nvSpPr>
          <p:cNvPr id="71" name="Oval 65"/>
          <p:cNvSpPr>
            <a:spLocks noChangeArrowheads="1"/>
          </p:cNvSpPr>
          <p:nvPr/>
        </p:nvSpPr>
        <p:spPr bwMode="auto">
          <a:xfrm>
            <a:off x="2014052" y="2205485"/>
            <a:ext cx="265069" cy="253232"/>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2</a:t>
            </a:r>
          </a:p>
        </p:txBody>
      </p:sp>
      <p:sp>
        <p:nvSpPr>
          <p:cNvPr id="72" name="Oval 65"/>
          <p:cNvSpPr>
            <a:spLocks noChangeArrowheads="1"/>
          </p:cNvSpPr>
          <p:nvPr/>
        </p:nvSpPr>
        <p:spPr bwMode="auto">
          <a:xfrm>
            <a:off x="3041122" y="4554361"/>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73" name="Oval 65"/>
          <p:cNvSpPr>
            <a:spLocks noChangeArrowheads="1"/>
          </p:cNvSpPr>
          <p:nvPr/>
        </p:nvSpPr>
        <p:spPr bwMode="auto">
          <a:xfrm>
            <a:off x="3861923" y="3253957"/>
            <a:ext cx="396000" cy="396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11</a:t>
            </a:r>
          </a:p>
        </p:txBody>
      </p:sp>
      <p:sp>
        <p:nvSpPr>
          <p:cNvPr id="74" name="Oval 65"/>
          <p:cNvSpPr>
            <a:spLocks noChangeArrowheads="1"/>
          </p:cNvSpPr>
          <p:nvPr/>
        </p:nvSpPr>
        <p:spPr bwMode="auto">
          <a:xfrm>
            <a:off x="3825923" y="3762755"/>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15</a:t>
            </a:r>
            <a:endParaRPr lang="en-US" sz="1100" b="1" u="none" dirty="0">
              <a:solidFill>
                <a:schemeClr val="bg1"/>
              </a:solidFill>
            </a:endParaRPr>
          </a:p>
        </p:txBody>
      </p:sp>
      <p:sp>
        <p:nvSpPr>
          <p:cNvPr id="75" name="Oval 65"/>
          <p:cNvSpPr>
            <a:spLocks noChangeArrowheads="1"/>
          </p:cNvSpPr>
          <p:nvPr/>
        </p:nvSpPr>
        <p:spPr bwMode="auto">
          <a:xfrm>
            <a:off x="3893481" y="2587887"/>
            <a:ext cx="468000" cy="468000"/>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9</a:t>
            </a:r>
          </a:p>
        </p:txBody>
      </p:sp>
      <p:sp>
        <p:nvSpPr>
          <p:cNvPr id="76" name="Oval 65"/>
          <p:cNvSpPr>
            <a:spLocks noChangeArrowheads="1"/>
          </p:cNvSpPr>
          <p:nvPr/>
        </p:nvSpPr>
        <p:spPr bwMode="auto">
          <a:xfrm>
            <a:off x="4913860" y="3931130"/>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77" name="Oval 65"/>
          <p:cNvSpPr>
            <a:spLocks noChangeArrowheads="1"/>
          </p:cNvSpPr>
          <p:nvPr/>
        </p:nvSpPr>
        <p:spPr bwMode="auto">
          <a:xfrm>
            <a:off x="5001723" y="3183582"/>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11</a:t>
            </a:r>
            <a:endParaRPr lang="en-US" sz="1100" b="1" u="none" dirty="0">
              <a:solidFill>
                <a:schemeClr val="bg1"/>
              </a:solidFill>
            </a:endParaRPr>
          </a:p>
        </p:txBody>
      </p:sp>
      <p:sp>
        <p:nvSpPr>
          <p:cNvPr id="79" name="Oval 65"/>
          <p:cNvSpPr>
            <a:spLocks noChangeArrowheads="1"/>
          </p:cNvSpPr>
          <p:nvPr/>
        </p:nvSpPr>
        <p:spPr bwMode="auto">
          <a:xfrm>
            <a:off x="5093248" y="2768472"/>
            <a:ext cx="179388" cy="179388"/>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a:t>
            </a:r>
          </a:p>
        </p:txBody>
      </p:sp>
      <p:sp>
        <p:nvSpPr>
          <p:cNvPr id="80" name="Oval 65"/>
          <p:cNvSpPr>
            <a:spLocks noChangeArrowheads="1"/>
          </p:cNvSpPr>
          <p:nvPr/>
        </p:nvSpPr>
        <p:spPr bwMode="auto">
          <a:xfrm>
            <a:off x="4964487" y="2124357"/>
            <a:ext cx="396000" cy="396000"/>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5</a:t>
            </a:r>
            <a:endParaRPr lang="en-US" sz="1100" b="1" u="none" dirty="0">
              <a:solidFill>
                <a:schemeClr val="bg1"/>
              </a:solidFill>
            </a:endParaRPr>
          </a:p>
        </p:txBody>
      </p:sp>
      <p:sp>
        <p:nvSpPr>
          <p:cNvPr id="81" name="Oval 65"/>
          <p:cNvSpPr>
            <a:spLocks noChangeArrowheads="1"/>
          </p:cNvSpPr>
          <p:nvPr/>
        </p:nvSpPr>
        <p:spPr bwMode="auto">
          <a:xfrm>
            <a:off x="6058886" y="3952556"/>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82" name="Oval 65"/>
          <p:cNvSpPr>
            <a:spLocks noChangeArrowheads="1"/>
          </p:cNvSpPr>
          <p:nvPr/>
        </p:nvSpPr>
        <p:spPr bwMode="auto">
          <a:xfrm>
            <a:off x="6875840" y="3746797"/>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7</a:t>
            </a:r>
          </a:p>
        </p:txBody>
      </p:sp>
      <p:sp>
        <p:nvSpPr>
          <p:cNvPr id="83" name="Oval 65"/>
          <p:cNvSpPr>
            <a:spLocks noChangeArrowheads="1"/>
          </p:cNvSpPr>
          <p:nvPr/>
        </p:nvSpPr>
        <p:spPr bwMode="auto">
          <a:xfrm>
            <a:off x="7986145" y="3952556"/>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 </a:t>
            </a:r>
          </a:p>
        </p:txBody>
      </p:sp>
      <p:sp>
        <p:nvSpPr>
          <p:cNvPr id="84" name="Oval 65"/>
          <p:cNvSpPr>
            <a:spLocks noChangeArrowheads="1"/>
          </p:cNvSpPr>
          <p:nvPr/>
        </p:nvSpPr>
        <p:spPr bwMode="auto">
          <a:xfrm>
            <a:off x="8067095" y="2635762"/>
            <a:ext cx="396000" cy="396000"/>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5</a:t>
            </a:r>
          </a:p>
        </p:txBody>
      </p:sp>
      <p:sp>
        <p:nvSpPr>
          <p:cNvPr id="85" name="Oval 65"/>
          <p:cNvSpPr>
            <a:spLocks noChangeArrowheads="1"/>
          </p:cNvSpPr>
          <p:nvPr/>
        </p:nvSpPr>
        <p:spPr bwMode="auto">
          <a:xfrm>
            <a:off x="8178248" y="2242407"/>
            <a:ext cx="179388" cy="179388"/>
          </a:xfrm>
          <a:prstGeom prst="ellipse">
            <a:avLst/>
          </a:prstGeom>
          <a:gradFill flip="none" rotWithShape="1">
            <a:gsLst>
              <a:gs pos="0">
                <a:srgbClr val="DB0613">
                  <a:shade val="30000"/>
                  <a:satMod val="115000"/>
                </a:srgbClr>
              </a:gs>
              <a:gs pos="50000">
                <a:srgbClr val="DB0613">
                  <a:shade val="67500"/>
                  <a:satMod val="115000"/>
                </a:srgbClr>
              </a:gs>
              <a:gs pos="100000">
                <a:srgbClr val="DB0613">
                  <a:shade val="100000"/>
                  <a:satMod val="115000"/>
                </a:srgbClr>
              </a:gs>
            </a:gsLst>
            <a:lin ang="5400000" scaled="1"/>
            <a:tileRect/>
          </a:gradFill>
          <a:ln w="9525" algn="ctr">
            <a:noFill/>
            <a:round/>
            <a:headEnd/>
            <a:tailEnd/>
          </a:ln>
          <a:effectLst/>
        </p:spPr>
        <p:txBody>
          <a:bodyPr lIns="0" tIns="0" rIns="0" bIns="0" anchor="ctr"/>
          <a:lstStyle/>
          <a:p>
            <a:pPr algn="ctr">
              <a:lnSpc>
                <a:spcPct val="110000"/>
              </a:lnSpc>
              <a:spcBef>
                <a:spcPct val="60000"/>
              </a:spcBef>
            </a:pPr>
            <a:r>
              <a:rPr lang="en-US" sz="1100" b="1" dirty="0">
                <a:solidFill>
                  <a:schemeClr val="bg1"/>
                </a:solidFill>
              </a:rPr>
              <a:t>1</a:t>
            </a:r>
          </a:p>
        </p:txBody>
      </p:sp>
      <p:sp>
        <p:nvSpPr>
          <p:cNvPr id="86" name="Oval 65"/>
          <p:cNvSpPr>
            <a:spLocks noChangeArrowheads="1"/>
          </p:cNvSpPr>
          <p:nvPr/>
        </p:nvSpPr>
        <p:spPr bwMode="auto">
          <a:xfrm>
            <a:off x="1206167" y="3362212"/>
            <a:ext cx="179388" cy="179388"/>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1</a:t>
            </a:r>
          </a:p>
        </p:txBody>
      </p:sp>
      <p:sp>
        <p:nvSpPr>
          <p:cNvPr id="87" name="Oval 65"/>
          <p:cNvSpPr>
            <a:spLocks noChangeArrowheads="1"/>
          </p:cNvSpPr>
          <p:nvPr/>
        </p:nvSpPr>
        <p:spPr bwMode="auto">
          <a:xfrm>
            <a:off x="2969122" y="3217906"/>
            <a:ext cx="468000" cy="468000"/>
          </a:xfrm>
          <a:prstGeom prst="ellipse">
            <a:avLst/>
          </a:prstGeom>
          <a:solidFill>
            <a:srgbClr val="333333"/>
          </a:solidFill>
          <a:ln w="9525" algn="ctr">
            <a:noFill/>
            <a:round/>
            <a:headEnd/>
            <a:tailEnd/>
          </a:ln>
          <a:effectLst/>
        </p:spPr>
        <p:txBody>
          <a:bodyPr lIns="0" tIns="0" rIns="0" bIns="0" anchor="ctr"/>
          <a:lstStyle/>
          <a:p>
            <a:pPr algn="ctr">
              <a:lnSpc>
                <a:spcPct val="110000"/>
              </a:lnSpc>
              <a:spcBef>
                <a:spcPct val="60000"/>
              </a:spcBef>
            </a:pPr>
            <a:r>
              <a:rPr lang="en-US" sz="1100" b="1" u="none" dirty="0">
                <a:solidFill>
                  <a:schemeClr val="bg1"/>
                </a:solidFill>
              </a:rPr>
              <a:t>6</a:t>
            </a:r>
          </a:p>
        </p:txBody>
      </p:sp>
    </p:spTree>
    <p:extLst>
      <p:ext uri="{BB962C8B-B14F-4D97-AF65-F5344CB8AC3E}">
        <p14:creationId xmlns:p14="http://schemas.microsoft.com/office/powerpoint/2010/main" val="2808457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wCUa_HGRJ0SDV8Mvwlouf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GjW55Lvr1kedfBWRkkBIFw"/>
</p:tagLst>
</file>

<file path=ppt/theme/theme1.xml><?xml version="1.0" encoding="utf-8"?>
<a:theme xmlns:a="http://schemas.openxmlformats.org/drawingml/2006/main" name="Plantilla Rima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Rimac</Template>
  <TotalTime>25581</TotalTime>
  <Words>9634</Words>
  <Application>Microsoft Macintosh PowerPoint</Application>
  <PresentationFormat>Presentación en pantalla (4:3)</PresentationFormat>
  <Paragraphs>1719</Paragraphs>
  <Slides>48</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48</vt:i4>
      </vt:variant>
    </vt:vector>
  </HeadingPairs>
  <TitlesOfParts>
    <vt:vector size="53" baseType="lpstr">
      <vt:lpstr>Arial</vt:lpstr>
      <vt:lpstr>Calibri</vt:lpstr>
      <vt:lpstr>Webdings</vt:lpstr>
      <vt:lpstr>Wingdings</vt:lpstr>
      <vt:lpstr>Plantilla Rimac</vt:lpstr>
      <vt:lpstr>Presentación de PowerPoint</vt:lpstr>
      <vt:lpstr>Contenidos</vt:lpstr>
      <vt:lpstr>Contenidos</vt:lpstr>
      <vt:lpstr>Metodología de Riesgo Operacional</vt:lpstr>
      <vt:lpstr>Piloto I</vt:lpstr>
      <vt:lpstr>Piloto II</vt:lpstr>
      <vt:lpstr>Bloque I</vt:lpstr>
      <vt:lpstr>Contenidos</vt:lpstr>
      <vt:lpstr>Conclusiones Generales</vt:lpstr>
      <vt:lpstr>Exposición al Riesgo Operacional</vt:lpstr>
      <vt:lpstr>Impacto Reputacional</vt:lpstr>
      <vt:lpstr>Principales Riesgos</vt:lpstr>
      <vt:lpstr>Principales Riesgos</vt:lpstr>
      <vt:lpstr>Principales Riesgos</vt:lpstr>
      <vt:lpstr>Planes de Acción</vt:lpstr>
      <vt:lpstr>Planes de Acción</vt:lpstr>
      <vt:lpstr>Planes de Acción</vt:lpstr>
      <vt:lpstr>Planes de Acción</vt:lpstr>
      <vt:lpstr>Planes de Acción</vt:lpstr>
      <vt:lpstr>Planes de Acción</vt:lpstr>
      <vt:lpstr>Planes de Acción</vt:lpstr>
      <vt:lpstr>Análisis por proceso</vt:lpstr>
      <vt:lpstr>Análisis por proceso</vt:lpstr>
      <vt:lpstr>Análisis por proceso</vt:lpstr>
      <vt:lpstr>Análisis por proceso</vt:lpstr>
      <vt:lpstr>Análisis por proceso</vt:lpstr>
      <vt:lpstr>Análisis por proceso</vt:lpstr>
      <vt:lpstr>Análisis por proceso</vt:lpstr>
      <vt:lpstr>Análisis por proceso</vt:lpstr>
      <vt:lpstr>Presentación de PowerPoint</vt:lpstr>
      <vt:lpstr>          Anexos</vt:lpstr>
      <vt:lpstr>          Introducción</vt:lpstr>
      <vt:lpstr>          Anexo 1: Metodología de Evaluación Cualitativa</vt:lpstr>
      <vt:lpstr>          Anexo 1: Metodología de Evaluación Cualitativa</vt:lpstr>
      <vt:lpstr>          Anexo 1: Metodología de Evaluación Cualitativa</vt:lpstr>
      <vt:lpstr>          Anexo 1: Metodología de Evaluación Cualitativa</vt:lpstr>
      <vt:lpstr>          Anexo 1: Metodología de Evaluación Cualitativa</vt:lpstr>
      <vt:lpstr>          Anexo 1: Metodología de Evaluación Cualitativa</vt:lpstr>
      <vt:lpstr>          Anexo 1: Metodología de Evaluación Cualitativa</vt:lpstr>
      <vt:lpstr>          Anexo 1: Metodología de Evaluación Cualitativa</vt:lpstr>
      <vt:lpstr>          Anexo 2: Planes de Acción y KRI’s</vt:lpstr>
      <vt:lpstr>          Anexo 2: Planes de Acción y KRI’s</vt:lpstr>
      <vt:lpstr>          Anexo 2: Planes de Acción y KRI’s</vt:lpstr>
      <vt:lpstr>          Anexo 3: Visión Global de Exposición al RO</vt:lpstr>
      <vt:lpstr>          Anexo 4: Exposición al RO por Proceso</vt:lpstr>
      <vt:lpstr>          Anexo 5: Exposición al RO por Producto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Pilar II – Solvencia II – Riesgos de Operación</dc:title>
  <dc:creator>LICHA</dc:creator>
  <cp:lastModifiedBy>Jose Antonio Rojas Bonilla</cp:lastModifiedBy>
  <cp:revision>1315</cp:revision>
  <cp:lastPrinted>2013-06-18T02:54:17Z</cp:lastPrinted>
  <dcterms:created xsi:type="dcterms:W3CDTF">2012-07-25T15:32:05Z</dcterms:created>
  <dcterms:modified xsi:type="dcterms:W3CDTF">2026-10-20T17:25:46Z</dcterms:modified>
</cp:coreProperties>
</file>