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433" r:id="rId3"/>
    <p:sldId id="2481" r:id="rId4"/>
    <p:sldId id="2439" r:id="rId5"/>
    <p:sldId id="2442" r:id="rId6"/>
    <p:sldId id="2446" r:id="rId7"/>
    <p:sldId id="2443" r:id="rId8"/>
    <p:sldId id="2464" r:id="rId9"/>
    <p:sldId id="2441" r:id="rId10"/>
    <p:sldId id="2430" r:id="rId11"/>
    <p:sldId id="2444" r:id="rId12"/>
    <p:sldId id="2447" r:id="rId13"/>
    <p:sldId id="2445" r:id="rId14"/>
    <p:sldId id="2467" r:id="rId15"/>
    <p:sldId id="2450" r:id="rId16"/>
    <p:sldId id="2448" r:id="rId17"/>
    <p:sldId id="2477" r:id="rId18"/>
    <p:sldId id="2480" r:id="rId19"/>
    <p:sldId id="2479" r:id="rId20"/>
    <p:sldId id="2466" r:id="rId21"/>
  </p:sldIdLst>
  <p:sldSz cx="9906000" cy="6858000" type="A4"/>
  <p:notesSz cx="6797675" cy="9928225"/>
  <p:custDataLst>
    <p:tags r:id="rId24"/>
  </p:custDataLst>
  <p:defaultTextStyle>
    <a:defPPr>
      <a:defRPr lang="es-ES_tradnl"/>
    </a:defPPr>
    <a:lvl1pPr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0850" indent="-107950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06463" indent="-223838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63663" indent="-338138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19275" indent="-454025" algn="ct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0">
          <p15:clr>
            <a:srgbClr val="A4A3A4"/>
          </p15:clr>
        </p15:guide>
        <p15:guide id="2" pos="556">
          <p15:clr>
            <a:srgbClr val="A4A3A4"/>
          </p15:clr>
        </p15:guide>
        <p15:guide id="3" pos="67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se.antonio.rojas.1" initials="j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69"/>
    <a:srgbClr val="BFA13E"/>
    <a:srgbClr val="CAB451"/>
    <a:srgbClr val="339933"/>
    <a:srgbClr val="D1BE66"/>
    <a:srgbClr val="F2F2F2"/>
    <a:srgbClr val="EAEAEA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3" autoAdjust="0"/>
    <p:restoredTop sz="87922" autoAdjust="0"/>
  </p:normalViewPr>
  <p:slideViewPr>
    <p:cSldViewPr snapToGrid="0" showGuides="1">
      <p:cViewPr varScale="1">
        <p:scale>
          <a:sx n="117" d="100"/>
          <a:sy n="117" d="100"/>
        </p:scale>
        <p:origin x="1672" y="176"/>
      </p:cViewPr>
      <p:guideLst>
        <p:guide orient="horz" pos="2800"/>
        <p:guide pos="556"/>
        <p:guide pos="674"/>
      </p:guideLst>
    </p:cSldViewPr>
  </p:slideViewPr>
  <p:outlineViewPr>
    <p:cViewPr>
      <p:scale>
        <a:sx n="33" d="100"/>
        <a:sy n="33" d="100"/>
      </p:scale>
      <p:origin x="0" y="1434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19.xml"/><Relationship Id="rId3" Type="http://schemas.openxmlformats.org/officeDocument/2006/relationships/slide" Target="slides/slide5.xml"/><Relationship Id="rId7" Type="http://schemas.openxmlformats.org/officeDocument/2006/relationships/slide" Target="slides/slide13.xml"/><Relationship Id="rId12" Type="http://schemas.openxmlformats.org/officeDocument/2006/relationships/slide" Target="slides/slide18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11" Type="http://schemas.openxmlformats.org/officeDocument/2006/relationships/slide" Target="slides/slide17.xml"/><Relationship Id="rId5" Type="http://schemas.openxmlformats.org/officeDocument/2006/relationships/slide" Target="slides/slide7.xml"/><Relationship Id="rId10" Type="http://schemas.openxmlformats.org/officeDocument/2006/relationships/slide" Target="slides/slide16.xml"/><Relationship Id="rId4" Type="http://schemas.openxmlformats.org/officeDocument/2006/relationships/slide" Target="slides/slide6.xml"/><Relationship Id="rId9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86F61-03A1-4FDB-9588-F3501C698D08}" type="doc">
      <dgm:prSet loTypeId="urn:microsoft.com/office/officeart/2005/8/layout/matrix3" loCatId="matrix" qsTypeId="urn:microsoft.com/office/officeart/2005/8/quickstyle/3d6" qsCatId="3D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CDC79A81-9276-4880-B2EE-0C5568CBCF6D}">
      <dgm:prSet/>
      <dgm:spPr/>
      <dgm:t>
        <a:bodyPr/>
        <a:lstStyle/>
        <a:p>
          <a:pPr rtl="0"/>
          <a:r>
            <a:rPr lang="en-US" noProof="0" dirty="0">
              <a:solidFill>
                <a:schemeClr val="tx1"/>
              </a:solidFill>
            </a:rPr>
            <a:t>Governance, Organizational and Functional Model</a:t>
          </a:r>
        </a:p>
      </dgm:t>
    </dgm:pt>
    <dgm:pt modelId="{A6571E4E-4215-4DE7-8E24-FB1793481F99}" type="parTrans" cxnId="{61F18172-00A7-4CB9-B576-18AA74CA47E1}">
      <dgm:prSet/>
      <dgm:spPr/>
      <dgm:t>
        <a:bodyPr/>
        <a:lstStyle/>
        <a:p>
          <a:endParaRPr lang="en-US" noProof="0" dirty="0"/>
        </a:p>
      </dgm:t>
    </dgm:pt>
    <dgm:pt modelId="{3572B090-232C-43A7-BDCC-2A76062120BC}" type="sibTrans" cxnId="{61F18172-00A7-4CB9-B576-18AA74CA47E1}">
      <dgm:prSet/>
      <dgm:spPr/>
      <dgm:t>
        <a:bodyPr/>
        <a:lstStyle/>
        <a:p>
          <a:endParaRPr lang="en-US" noProof="0" dirty="0"/>
        </a:p>
      </dgm:t>
    </dgm:pt>
    <dgm:pt modelId="{A14112D3-3F56-4D0C-9350-3A0B3DC927BD}">
      <dgm:prSet/>
      <dgm:spPr/>
      <dgm:t>
        <a:bodyPr/>
        <a:lstStyle/>
        <a:p>
          <a:endParaRPr lang="en-US" noProof="0">
            <a:solidFill>
              <a:schemeClr val="tx1"/>
            </a:solidFill>
          </a:endParaRPr>
        </a:p>
        <a:p>
          <a:r>
            <a:rPr lang="en-US" noProof="0">
              <a:solidFill>
                <a:schemeClr val="tx1"/>
              </a:solidFill>
            </a:rPr>
            <a:t>Methodologies:</a:t>
          </a:r>
          <a:endParaRPr lang="en-US" noProof="0" dirty="0">
            <a:solidFill>
              <a:schemeClr val="tx1"/>
            </a:solidFill>
          </a:endParaRPr>
        </a:p>
      </dgm:t>
    </dgm:pt>
    <dgm:pt modelId="{6D5026F2-5405-441A-8D3B-29BCC7C17E57}" type="parTrans" cxnId="{51513134-AD93-4BC3-92B8-32F188BFA897}">
      <dgm:prSet/>
      <dgm:spPr/>
      <dgm:t>
        <a:bodyPr/>
        <a:lstStyle/>
        <a:p>
          <a:endParaRPr lang="en-US" noProof="0" dirty="0"/>
        </a:p>
      </dgm:t>
    </dgm:pt>
    <dgm:pt modelId="{70B9FE57-180D-46EE-BE02-0BDC13D17691}" type="sibTrans" cxnId="{51513134-AD93-4BC3-92B8-32F188BFA897}">
      <dgm:prSet/>
      <dgm:spPr/>
      <dgm:t>
        <a:bodyPr/>
        <a:lstStyle/>
        <a:p>
          <a:endParaRPr lang="en-US" noProof="0" dirty="0"/>
        </a:p>
      </dgm:t>
    </dgm:pt>
    <dgm:pt modelId="{247ABCD1-E9F5-4F6C-9674-A108B25C4293}">
      <dgm:prSet/>
      <dgm:spPr/>
      <dgm:t>
        <a:bodyPr/>
        <a:lstStyle/>
        <a:p>
          <a:r>
            <a:rPr lang="en-US" noProof="0" dirty="0">
              <a:solidFill>
                <a:schemeClr val="tx1"/>
              </a:solidFill>
            </a:rPr>
            <a:t>Integration in Management</a:t>
          </a:r>
        </a:p>
      </dgm:t>
    </dgm:pt>
    <dgm:pt modelId="{F42EFF81-9993-49F8-B545-41C6F5372AA9}" type="parTrans" cxnId="{35DA4B76-1E39-433D-8383-2EC1980F8523}">
      <dgm:prSet/>
      <dgm:spPr/>
      <dgm:t>
        <a:bodyPr/>
        <a:lstStyle/>
        <a:p>
          <a:endParaRPr lang="en-US" noProof="0" dirty="0"/>
        </a:p>
      </dgm:t>
    </dgm:pt>
    <dgm:pt modelId="{5B84658E-6E29-462C-959C-58BBAAFDB411}" type="sibTrans" cxnId="{35DA4B76-1E39-433D-8383-2EC1980F8523}">
      <dgm:prSet/>
      <dgm:spPr/>
      <dgm:t>
        <a:bodyPr/>
        <a:lstStyle/>
        <a:p>
          <a:endParaRPr lang="en-US" noProof="0" dirty="0"/>
        </a:p>
      </dgm:t>
    </dgm:pt>
    <dgm:pt modelId="{86A36704-4AA3-4694-A79F-1F7898D3231F}">
      <dgm:prSet/>
      <dgm:spPr/>
      <dgm:t>
        <a:bodyPr/>
        <a:lstStyle/>
        <a:p>
          <a:r>
            <a:rPr lang="en-US" noProof="0">
              <a:solidFill>
                <a:schemeClr val="tx1"/>
              </a:solidFill>
            </a:rPr>
            <a:t>Technological Support</a:t>
          </a:r>
          <a:endParaRPr lang="en-US" noProof="0" dirty="0">
            <a:solidFill>
              <a:schemeClr val="tx1"/>
            </a:solidFill>
          </a:endParaRPr>
        </a:p>
      </dgm:t>
    </dgm:pt>
    <dgm:pt modelId="{BA8944F7-1C0F-4F42-A225-57A6C0726DE2}" type="parTrans" cxnId="{99AE7A5F-EFA5-4210-ACCF-4D13A3129A0A}">
      <dgm:prSet/>
      <dgm:spPr/>
      <dgm:t>
        <a:bodyPr/>
        <a:lstStyle/>
        <a:p>
          <a:endParaRPr lang="en-US" noProof="0" dirty="0"/>
        </a:p>
      </dgm:t>
    </dgm:pt>
    <dgm:pt modelId="{DAD8595D-71A3-4C9B-9183-F0EFA9C531C2}" type="sibTrans" cxnId="{99AE7A5F-EFA5-4210-ACCF-4D13A3129A0A}">
      <dgm:prSet/>
      <dgm:spPr/>
      <dgm:t>
        <a:bodyPr/>
        <a:lstStyle/>
        <a:p>
          <a:endParaRPr lang="en-US" noProof="0" dirty="0"/>
        </a:p>
      </dgm:t>
    </dgm:pt>
    <dgm:pt modelId="{168BAD8A-9059-436F-A003-B605D48CCB1A}">
      <dgm:prSet/>
      <dgm:spPr/>
      <dgm:t>
        <a:bodyPr/>
        <a:lstStyle/>
        <a:p>
          <a:pPr rtl="0"/>
          <a:r>
            <a:rPr lang="en-US" noProof="0">
              <a:solidFill>
                <a:schemeClr val="tx1"/>
              </a:solidFill>
            </a:rPr>
            <a:t>Quantitative</a:t>
          </a:r>
          <a:endParaRPr lang="en-US" noProof="0" dirty="0">
            <a:solidFill>
              <a:schemeClr val="tx1"/>
            </a:solidFill>
          </a:endParaRPr>
        </a:p>
      </dgm:t>
    </dgm:pt>
    <dgm:pt modelId="{A7A53A24-1022-446A-8B5B-298BFFD912E3}" type="parTrans" cxnId="{127C7AAA-24CE-4E4D-8D52-F20373AD8987}">
      <dgm:prSet/>
      <dgm:spPr/>
      <dgm:t>
        <a:bodyPr/>
        <a:lstStyle/>
        <a:p>
          <a:endParaRPr lang="es-ES"/>
        </a:p>
      </dgm:t>
    </dgm:pt>
    <dgm:pt modelId="{991CD422-17EF-4754-B7F1-D115B822BC5F}" type="sibTrans" cxnId="{127C7AAA-24CE-4E4D-8D52-F20373AD8987}">
      <dgm:prSet/>
      <dgm:spPr/>
      <dgm:t>
        <a:bodyPr/>
        <a:lstStyle/>
        <a:p>
          <a:endParaRPr lang="es-ES"/>
        </a:p>
      </dgm:t>
    </dgm:pt>
    <dgm:pt modelId="{680F04AF-1A2B-4E19-9C97-9AB38E2D9072}">
      <dgm:prSet/>
      <dgm:spPr/>
      <dgm:t>
        <a:bodyPr/>
        <a:lstStyle/>
        <a:p>
          <a:pPr rtl="0"/>
          <a:r>
            <a:rPr lang="en-US" noProof="0">
              <a:solidFill>
                <a:schemeClr val="tx1"/>
              </a:solidFill>
            </a:rPr>
            <a:t>Qualitative</a:t>
          </a:r>
          <a:endParaRPr lang="en-US" noProof="0" dirty="0">
            <a:solidFill>
              <a:schemeClr val="tx1"/>
            </a:solidFill>
          </a:endParaRPr>
        </a:p>
      </dgm:t>
    </dgm:pt>
    <dgm:pt modelId="{5A291A1F-C1A0-49C5-A96D-D3A0F9506966}" type="parTrans" cxnId="{C4857291-0E32-433F-AE46-855899C9354D}">
      <dgm:prSet/>
      <dgm:spPr/>
      <dgm:t>
        <a:bodyPr/>
        <a:lstStyle/>
        <a:p>
          <a:endParaRPr lang="es-ES"/>
        </a:p>
      </dgm:t>
    </dgm:pt>
    <dgm:pt modelId="{035B5644-DC94-4B12-B4F7-0D3EF2EC2D54}" type="sibTrans" cxnId="{C4857291-0E32-433F-AE46-855899C9354D}">
      <dgm:prSet/>
      <dgm:spPr/>
      <dgm:t>
        <a:bodyPr/>
        <a:lstStyle/>
        <a:p>
          <a:endParaRPr lang="es-ES"/>
        </a:p>
      </dgm:t>
    </dgm:pt>
    <dgm:pt modelId="{1200247D-4552-4833-94AA-82F172B6C8F5}">
      <dgm:prSet/>
      <dgm:spPr/>
      <dgm:t>
        <a:bodyPr/>
        <a:lstStyle/>
        <a:p>
          <a:pPr rtl="0"/>
          <a:r>
            <a:rPr lang="en-US" noProof="0">
              <a:solidFill>
                <a:schemeClr val="tx1"/>
              </a:solidFill>
            </a:rPr>
            <a:t>Integration of methodologies</a:t>
          </a:r>
          <a:endParaRPr lang="en-US" noProof="0" dirty="0">
            <a:solidFill>
              <a:schemeClr val="tx1"/>
            </a:solidFill>
          </a:endParaRPr>
        </a:p>
      </dgm:t>
    </dgm:pt>
    <dgm:pt modelId="{67233D47-2485-4FCE-A147-D59A231E0A86}" type="parTrans" cxnId="{FC8CD9F5-E0E1-4873-9EBC-69A5A705A457}">
      <dgm:prSet/>
      <dgm:spPr/>
      <dgm:t>
        <a:bodyPr/>
        <a:lstStyle/>
        <a:p>
          <a:endParaRPr lang="es-ES"/>
        </a:p>
      </dgm:t>
    </dgm:pt>
    <dgm:pt modelId="{C5397B36-3B9C-481B-AAF8-A9EC377A93A9}" type="sibTrans" cxnId="{FC8CD9F5-E0E1-4873-9EBC-69A5A705A457}">
      <dgm:prSet/>
      <dgm:spPr/>
      <dgm:t>
        <a:bodyPr/>
        <a:lstStyle/>
        <a:p>
          <a:endParaRPr lang="es-ES"/>
        </a:p>
      </dgm:t>
    </dgm:pt>
    <dgm:pt modelId="{B5041938-A977-4DB8-B7B3-2958360FDF38}" type="pres">
      <dgm:prSet presAssocID="{7A986F61-03A1-4FDB-9588-F3501C698D08}" presName="matrix" presStyleCnt="0">
        <dgm:presLayoutVars>
          <dgm:chMax val="1"/>
          <dgm:dir/>
          <dgm:resizeHandles val="exact"/>
        </dgm:presLayoutVars>
      </dgm:prSet>
      <dgm:spPr/>
    </dgm:pt>
    <dgm:pt modelId="{063F47D9-E2A9-4F1F-81DB-63B84C7F74B0}" type="pres">
      <dgm:prSet presAssocID="{7A986F61-03A1-4FDB-9588-F3501C698D08}" presName="diamond" presStyleLbl="bgShp" presStyleIdx="0" presStyleCnt="1" custScaleY="100000" custLinFactNeighborY="321"/>
      <dgm:spPr/>
    </dgm:pt>
    <dgm:pt modelId="{0B5E2858-7D01-414E-A0ED-CA09B2927125}" type="pres">
      <dgm:prSet presAssocID="{7A986F61-03A1-4FDB-9588-F3501C698D0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BC3405-2397-4E36-8570-FCC68951EBCD}" type="pres">
      <dgm:prSet presAssocID="{7A986F61-03A1-4FDB-9588-F3501C698D0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5A3FC40-B99A-4AAE-B619-646B0B16AAEB}" type="pres">
      <dgm:prSet presAssocID="{7A986F61-03A1-4FDB-9588-F3501C698D0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FD2062B-15A1-49F0-ABD1-5728BA64C371}" type="pres">
      <dgm:prSet presAssocID="{7A986F61-03A1-4FDB-9588-F3501C698D0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DD9124-2B92-4206-9C9A-35C90607C2B3}" type="presOf" srcId="{CDC79A81-9276-4880-B2EE-0C5568CBCF6D}" destId="{0B5E2858-7D01-414E-A0ED-CA09B2927125}" srcOrd="0" destOrd="0" presId="urn:microsoft.com/office/officeart/2005/8/layout/matrix3"/>
    <dgm:cxn modelId="{51513134-AD93-4BC3-92B8-32F188BFA897}" srcId="{7A986F61-03A1-4FDB-9588-F3501C698D08}" destId="{A14112D3-3F56-4D0C-9350-3A0B3DC927BD}" srcOrd="1" destOrd="0" parTransId="{6D5026F2-5405-441A-8D3B-29BCC7C17E57}" sibTransId="{70B9FE57-180D-46EE-BE02-0BDC13D17691}"/>
    <dgm:cxn modelId="{0A8CA24C-912E-4214-A66B-3E68539FC484}" type="presOf" srcId="{247ABCD1-E9F5-4F6C-9674-A108B25C4293}" destId="{B5A3FC40-B99A-4AAE-B619-646B0B16AAEB}" srcOrd="0" destOrd="0" presId="urn:microsoft.com/office/officeart/2005/8/layout/matrix3"/>
    <dgm:cxn modelId="{99AE7A5F-EFA5-4210-ACCF-4D13A3129A0A}" srcId="{7A986F61-03A1-4FDB-9588-F3501C698D08}" destId="{86A36704-4AA3-4694-A79F-1F7898D3231F}" srcOrd="3" destOrd="0" parTransId="{BA8944F7-1C0F-4F42-A225-57A6C0726DE2}" sibTransId="{DAD8595D-71A3-4C9B-9183-F0EFA9C531C2}"/>
    <dgm:cxn modelId="{61F18172-00A7-4CB9-B576-18AA74CA47E1}" srcId="{7A986F61-03A1-4FDB-9588-F3501C698D08}" destId="{CDC79A81-9276-4880-B2EE-0C5568CBCF6D}" srcOrd="0" destOrd="0" parTransId="{A6571E4E-4215-4DE7-8E24-FB1793481F99}" sibTransId="{3572B090-232C-43A7-BDCC-2A76062120BC}"/>
    <dgm:cxn modelId="{35DA4B76-1E39-433D-8383-2EC1980F8523}" srcId="{7A986F61-03A1-4FDB-9588-F3501C698D08}" destId="{247ABCD1-E9F5-4F6C-9674-A108B25C4293}" srcOrd="2" destOrd="0" parTransId="{F42EFF81-9993-49F8-B545-41C6F5372AA9}" sibTransId="{5B84658E-6E29-462C-959C-58BBAAFDB411}"/>
    <dgm:cxn modelId="{ED31A48A-518A-432C-BACD-062E69CD35C7}" type="presOf" srcId="{1200247D-4552-4833-94AA-82F172B6C8F5}" destId="{D9BC3405-2397-4E36-8570-FCC68951EBCD}" srcOrd="0" destOrd="3" presId="urn:microsoft.com/office/officeart/2005/8/layout/matrix3"/>
    <dgm:cxn modelId="{C4857291-0E32-433F-AE46-855899C9354D}" srcId="{A14112D3-3F56-4D0C-9350-3A0B3DC927BD}" destId="{680F04AF-1A2B-4E19-9C97-9AB38E2D9072}" srcOrd="1" destOrd="0" parTransId="{5A291A1F-C1A0-49C5-A96D-D3A0F9506966}" sibTransId="{035B5644-DC94-4B12-B4F7-0D3EF2EC2D54}"/>
    <dgm:cxn modelId="{195DD995-EC90-41C2-8010-6ED31AEB320A}" type="presOf" srcId="{A14112D3-3F56-4D0C-9350-3A0B3DC927BD}" destId="{D9BC3405-2397-4E36-8570-FCC68951EBCD}" srcOrd="0" destOrd="0" presId="urn:microsoft.com/office/officeart/2005/8/layout/matrix3"/>
    <dgm:cxn modelId="{2D45C196-4FC1-4C6E-97A5-994463123D57}" type="presOf" srcId="{680F04AF-1A2B-4E19-9C97-9AB38E2D9072}" destId="{D9BC3405-2397-4E36-8570-FCC68951EBCD}" srcOrd="0" destOrd="2" presId="urn:microsoft.com/office/officeart/2005/8/layout/matrix3"/>
    <dgm:cxn modelId="{C6DBA798-D4DE-4E4E-9281-130494E2307E}" type="presOf" srcId="{7A986F61-03A1-4FDB-9588-F3501C698D08}" destId="{B5041938-A977-4DB8-B7B3-2958360FDF38}" srcOrd="0" destOrd="0" presId="urn:microsoft.com/office/officeart/2005/8/layout/matrix3"/>
    <dgm:cxn modelId="{127C7AAA-24CE-4E4D-8D52-F20373AD8987}" srcId="{A14112D3-3F56-4D0C-9350-3A0B3DC927BD}" destId="{168BAD8A-9059-436F-A003-B605D48CCB1A}" srcOrd="0" destOrd="0" parTransId="{A7A53A24-1022-446A-8B5B-298BFFD912E3}" sibTransId="{991CD422-17EF-4754-B7F1-D115B822BC5F}"/>
    <dgm:cxn modelId="{A9140FE0-0C84-4443-A404-AA8DBD6A528F}" type="presOf" srcId="{86A36704-4AA3-4694-A79F-1F7898D3231F}" destId="{CFD2062B-15A1-49F0-ABD1-5728BA64C371}" srcOrd="0" destOrd="0" presId="urn:microsoft.com/office/officeart/2005/8/layout/matrix3"/>
    <dgm:cxn modelId="{FC8CD9F5-E0E1-4873-9EBC-69A5A705A457}" srcId="{A14112D3-3F56-4D0C-9350-3A0B3DC927BD}" destId="{1200247D-4552-4833-94AA-82F172B6C8F5}" srcOrd="2" destOrd="0" parTransId="{67233D47-2485-4FCE-A147-D59A231E0A86}" sibTransId="{C5397B36-3B9C-481B-AAF8-A9EC377A93A9}"/>
    <dgm:cxn modelId="{24D51CF9-25A5-41DB-8287-C6CB7089B5FA}" type="presOf" srcId="{168BAD8A-9059-436F-A003-B605D48CCB1A}" destId="{D9BC3405-2397-4E36-8570-FCC68951EBCD}" srcOrd="0" destOrd="1" presId="urn:microsoft.com/office/officeart/2005/8/layout/matrix3"/>
    <dgm:cxn modelId="{16C3C9C1-2CFD-40A1-BC09-BD3089FB4701}" type="presParOf" srcId="{B5041938-A977-4DB8-B7B3-2958360FDF38}" destId="{063F47D9-E2A9-4F1F-81DB-63B84C7F74B0}" srcOrd="0" destOrd="0" presId="urn:microsoft.com/office/officeart/2005/8/layout/matrix3"/>
    <dgm:cxn modelId="{68951EDE-51BD-4948-9660-09AD1547CEFB}" type="presParOf" srcId="{B5041938-A977-4DB8-B7B3-2958360FDF38}" destId="{0B5E2858-7D01-414E-A0ED-CA09B2927125}" srcOrd="1" destOrd="0" presId="urn:microsoft.com/office/officeart/2005/8/layout/matrix3"/>
    <dgm:cxn modelId="{DE757A3E-C745-4DA7-BCA2-D8BE1CF40A1A}" type="presParOf" srcId="{B5041938-A977-4DB8-B7B3-2958360FDF38}" destId="{D9BC3405-2397-4E36-8570-FCC68951EBCD}" srcOrd="2" destOrd="0" presId="urn:microsoft.com/office/officeart/2005/8/layout/matrix3"/>
    <dgm:cxn modelId="{754228FE-44B0-477D-AA4C-4D00DA4D1D1B}" type="presParOf" srcId="{B5041938-A977-4DB8-B7B3-2958360FDF38}" destId="{B5A3FC40-B99A-4AAE-B619-646B0B16AAEB}" srcOrd="3" destOrd="0" presId="urn:microsoft.com/office/officeart/2005/8/layout/matrix3"/>
    <dgm:cxn modelId="{14AD4CF0-DAE7-446E-A935-A19FF1476012}" type="presParOf" srcId="{B5041938-A977-4DB8-B7B3-2958360FDF38}" destId="{CFD2062B-15A1-49F0-ABD1-5728BA64C37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F47D9-E2A9-4F1F-81DB-63B84C7F74B0}">
      <dsp:nvSpPr>
        <dsp:cNvPr id="0" name=""/>
        <dsp:cNvSpPr/>
      </dsp:nvSpPr>
      <dsp:spPr>
        <a:xfrm>
          <a:off x="539750" y="0"/>
          <a:ext cx="3962400" cy="396240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plastic">
          <a:bevelT w="25400" h="25400"/>
          <a:bevelB w="25400" h="25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E2858-7D01-414E-A0ED-CA09B2927125}">
      <dsp:nvSpPr>
        <dsp:cNvPr id="0" name=""/>
        <dsp:cNvSpPr/>
      </dsp:nvSpPr>
      <dsp:spPr>
        <a:xfrm>
          <a:off x="916178" y="376428"/>
          <a:ext cx="1545336" cy="1545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chemeClr val="tx1"/>
              </a:solidFill>
            </a:rPr>
            <a:t>Governance, Organizational and Functional Model</a:t>
          </a:r>
        </a:p>
      </dsp:txBody>
      <dsp:txXfrm>
        <a:off x="991615" y="451865"/>
        <a:ext cx="1394462" cy="1394462"/>
      </dsp:txXfrm>
    </dsp:sp>
    <dsp:sp modelId="{D9BC3405-2397-4E36-8570-FCC68951EBCD}">
      <dsp:nvSpPr>
        <dsp:cNvPr id="0" name=""/>
        <dsp:cNvSpPr/>
      </dsp:nvSpPr>
      <dsp:spPr>
        <a:xfrm>
          <a:off x="2580386" y="376428"/>
          <a:ext cx="1545336" cy="1545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>
            <a:solidFill>
              <a:schemeClr val="tx1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>
              <a:solidFill>
                <a:schemeClr val="tx1"/>
              </a:solidFill>
            </a:rPr>
            <a:t>Methodologies:</a:t>
          </a:r>
          <a:endParaRPr lang="en-US" sz="1400" kern="1200" noProof="0" dirty="0">
            <a:solidFill>
              <a:schemeClr val="tx1"/>
            </a:solidFill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noProof="0">
              <a:solidFill>
                <a:schemeClr val="tx1"/>
              </a:solidFill>
            </a:rPr>
            <a:t>Quantitative</a:t>
          </a:r>
          <a:endParaRPr lang="en-US" sz="1100" kern="1200" noProof="0" dirty="0">
            <a:solidFill>
              <a:schemeClr val="tx1"/>
            </a:solidFill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noProof="0">
              <a:solidFill>
                <a:schemeClr val="tx1"/>
              </a:solidFill>
            </a:rPr>
            <a:t>Qualitative</a:t>
          </a:r>
          <a:endParaRPr lang="en-US" sz="1100" kern="1200" noProof="0" dirty="0">
            <a:solidFill>
              <a:schemeClr val="tx1"/>
            </a:solidFill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noProof="0">
              <a:solidFill>
                <a:schemeClr val="tx1"/>
              </a:solidFill>
            </a:rPr>
            <a:t>Integration of methodologies</a:t>
          </a:r>
          <a:endParaRPr lang="en-US" sz="1100" kern="1200" noProof="0" dirty="0">
            <a:solidFill>
              <a:schemeClr val="tx1"/>
            </a:solidFill>
          </a:endParaRPr>
        </a:p>
      </dsp:txBody>
      <dsp:txXfrm>
        <a:off x="2655823" y="451865"/>
        <a:ext cx="1394462" cy="1394462"/>
      </dsp:txXfrm>
    </dsp:sp>
    <dsp:sp modelId="{B5A3FC40-B99A-4AAE-B619-646B0B16AAEB}">
      <dsp:nvSpPr>
        <dsp:cNvPr id="0" name=""/>
        <dsp:cNvSpPr/>
      </dsp:nvSpPr>
      <dsp:spPr>
        <a:xfrm>
          <a:off x="916178" y="2040635"/>
          <a:ext cx="1545336" cy="1545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chemeClr val="tx1"/>
              </a:solidFill>
            </a:rPr>
            <a:t>Integration in Management</a:t>
          </a:r>
        </a:p>
      </dsp:txBody>
      <dsp:txXfrm>
        <a:off x="991615" y="2116072"/>
        <a:ext cx="1394462" cy="1394462"/>
      </dsp:txXfrm>
    </dsp:sp>
    <dsp:sp modelId="{CFD2062B-15A1-49F0-ABD1-5728BA64C371}">
      <dsp:nvSpPr>
        <dsp:cNvPr id="0" name=""/>
        <dsp:cNvSpPr/>
      </dsp:nvSpPr>
      <dsp:spPr>
        <a:xfrm>
          <a:off x="2580386" y="2040635"/>
          <a:ext cx="1545336" cy="1545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>
              <a:solidFill>
                <a:schemeClr val="tx1"/>
              </a:solidFill>
            </a:rPr>
            <a:t>Technological Support</a:t>
          </a:r>
          <a:endParaRPr lang="en-US" sz="1400" kern="1200" noProof="0" dirty="0">
            <a:solidFill>
              <a:schemeClr val="tx1"/>
            </a:solidFill>
          </a:endParaRPr>
        </a:p>
      </dsp:txBody>
      <dsp:txXfrm>
        <a:off x="2655823" y="2116072"/>
        <a:ext cx="1394462" cy="1394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55" cy="49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22" y="1"/>
            <a:ext cx="2945954" cy="497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830"/>
            <a:ext cx="2945955" cy="497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22" y="9430830"/>
            <a:ext cx="2945954" cy="497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AC3BCA7-0B71-4D6A-83F0-61FC0AECB4B4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06381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508" cy="53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0077" y="1"/>
            <a:ext cx="2894323" cy="53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2150" y="763588"/>
            <a:ext cx="5403850" cy="3741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3143" y="4735936"/>
            <a:ext cx="4955163" cy="442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073"/>
            <a:ext cx="2972508" cy="53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0077" y="9393073"/>
            <a:ext cx="2894323" cy="53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02" tIns="43551" rIns="87102" bIns="4355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FD1B5B0-6E09-433B-A41F-AB3E289FCD54}" type="slidenum">
              <a:rPr lang="en-GB"/>
              <a:pPr>
                <a:defRPr/>
              </a:pPr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3467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085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0646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6366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192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79961" algn="l" defTabSz="91198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35956" algn="l" defTabSz="91198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91947" algn="l" defTabSz="91198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47940" algn="l" defTabSz="91198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2150" y="763588"/>
            <a:ext cx="5403850" cy="374173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pPr algn="l"/>
            <a:endParaRPr lang="es-ES" u="sng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714625" y="6477000"/>
            <a:ext cx="7191375" cy="381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pPr algn="l"/>
            <a:endParaRPr lang="es-ES" u="sng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906000" cy="6477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pPr algn="l"/>
            <a:endParaRPr lang="es-ES" u="sng" dirty="0"/>
          </a:p>
        </p:txBody>
      </p:sp>
      <p:sp>
        <p:nvSpPr>
          <p:cNvPr id="7" name="Line 23"/>
          <p:cNvSpPr>
            <a:spLocks noChangeShapeType="1"/>
          </p:cNvSpPr>
          <p:nvPr/>
        </p:nvSpPr>
        <p:spPr bwMode="gray">
          <a:xfrm>
            <a:off x="0" y="682625"/>
            <a:ext cx="9906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lIns="91199" tIns="45600" rIns="91199" bIns="45600"/>
          <a:lstStyle/>
          <a:p>
            <a:endParaRPr lang="es-ES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77000"/>
            <a:ext cx="2714625" cy="3810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endParaRPr lang="en-GB" sz="1000" dirty="0"/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>
            <a:off x="2733675" y="3086106"/>
            <a:ext cx="0" cy="23526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lIns="91199" tIns="45600" rIns="91199" bIns="45600" anchor="ctr"/>
          <a:lstStyle/>
          <a:p>
            <a:endParaRPr lang="es-ES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gray">
          <a:xfrm>
            <a:off x="7548566" y="6461125"/>
            <a:ext cx="226853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r"/>
            <a:r>
              <a:rPr lang="es-ES_tradnl" sz="1000" dirty="0">
                <a:solidFill>
                  <a:schemeClr val="bg1"/>
                </a:solidFill>
              </a:rPr>
              <a:t>Mexico DF, 2016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0" y="6491288"/>
            <a:ext cx="2139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59049" tIns="45600" rIns="0" bIns="45600" anchor="ctr"/>
          <a:lstStyle/>
          <a:p>
            <a:pPr marL="100013" algn="l"/>
            <a:r>
              <a:rPr lang="es-ES" sz="1100" b="1" dirty="0" err="1">
                <a:solidFill>
                  <a:schemeClr val="bg1"/>
                </a:solidFill>
              </a:rPr>
              <a:t>Insurance</a:t>
            </a:r>
            <a:r>
              <a:rPr lang="es-ES" sz="1100" b="1" dirty="0">
                <a:solidFill>
                  <a:schemeClr val="bg1"/>
                </a:solidFill>
              </a:rPr>
              <a:t> </a:t>
            </a:r>
            <a:r>
              <a:rPr lang="es-ES" sz="1100" b="1" dirty="0" err="1">
                <a:solidFill>
                  <a:schemeClr val="bg1"/>
                </a:solidFill>
              </a:rPr>
              <a:t>Entities</a:t>
            </a:r>
            <a:endParaRPr lang="en-US" sz="1100" b="1" dirty="0">
              <a:solidFill>
                <a:schemeClr val="bg1"/>
              </a:solidFill>
            </a:endParaRPr>
          </a:p>
        </p:txBody>
      </p:sp>
      <p:pic>
        <p:nvPicPr>
          <p:cNvPr id="12" name="Picture 4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1378" y="1120775"/>
            <a:ext cx="2214563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752730" y="3028967"/>
            <a:ext cx="6400800" cy="1476375"/>
          </a:xfrm>
        </p:spPr>
        <p:txBody>
          <a:bodyPr anchor="t"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Click to edit Master title style</a:t>
            </a:r>
          </a:p>
        </p:txBody>
      </p:sp>
      <p:sp>
        <p:nvSpPr>
          <p:cNvPr id="3092" name="Rectangle 2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52733" y="4524375"/>
            <a:ext cx="6477000" cy="92075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ct val="0"/>
              </a:spcBef>
              <a:defRPr sz="2000">
                <a:solidFill>
                  <a:schemeClr val="hlink"/>
                </a:solidFill>
              </a:defRPr>
            </a:lvl1pPr>
          </a:lstStyle>
          <a:p>
            <a:r>
              <a:rPr lang="es-ES_tradnl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22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20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5990" indent="0">
              <a:buNone/>
              <a:defRPr sz="1800"/>
            </a:lvl2pPr>
            <a:lvl3pPr marL="911983" indent="0">
              <a:buNone/>
              <a:defRPr sz="1600"/>
            </a:lvl3pPr>
            <a:lvl4pPr marL="1367978" indent="0">
              <a:buNone/>
              <a:defRPr sz="1500"/>
            </a:lvl4pPr>
            <a:lvl5pPr marL="1823967" indent="0">
              <a:buNone/>
              <a:defRPr sz="1500"/>
            </a:lvl5pPr>
            <a:lvl6pPr marL="2279961" indent="0">
              <a:buNone/>
              <a:defRPr sz="1500"/>
            </a:lvl6pPr>
            <a:lvl7pPr marL="2735956" indent="0">
              <a:buNone/>
              <a:defRPr sz="1500"/>
            </a:lvl7pPr>
            <a:lvl8pPr marL="3191947" indent="0">
              <a:buNone/>
              <a:defRPr sz="1500"/>
            </a:lvl8pPr>
            <a:lvl9pPr marL="364794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2038" y="1303338"/>
            <a:ext cx="4102100" cy="411480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542" y="1303338"/>
            <a:ext cx="4103688" cy="4114800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990" indent="0">
              <a:buNone/>
              <a:defRPr sz="2000" b="1"/>
            </a:lvl2pPr>
            <a:lvl3pPr marL="911983" indent="0">
              <a:buNone/>
              <a:defRPr sz="1800" b="1"/>
            </a:lvl3pPr>
            <a:lvl4pPr marL="1367978" indent="0">
              <a:buNone/>
              <a:defRPr sz="1600" b="1"/>
            </a:lvl4pPr>
            <a:lvl5pPr marL="1823967" indent="0">
              <a:buNone/>
              <a:defRPr sz="1600" b="1"/>
            </a:lvl5pPr>
            <a:lvl6pPr marL="2279961" indent="0">
              <a:buNone/>
              <a:defRPr sz="1600" b="1"/>
            </a:lvl6pPr>
            <a:lvl7pPr marL="2735956" indent="0">
              <a:buNone/>
              <a:defRPr sz="1600" b="1"/>
            </a:lvl7pPr>
            <a:lvl8pPr marL="3191947" indent="0">
              <a:buNone/>
              <a:defRPr sz="1600" b="1"/>
            </a:lvl8pPr>
            <a:lvl9pPr marL="364794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94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5990" indent="0">
              <a:buNone/>
              <a:defRPr sz="2000" b="1"/>
            </a:lvl2pPr>
            <a:lvl3pPr marL="911983" indent="0">
              <a:buNone/>
              <a:defRPr sz="1800" b="1"/>
            </a:lvl3pPr>
            <a:lvl4pPr marL="1367978" indent="0">
              <a:buNone/>
              <a:defRPr sz="1600" b="1"/>
            </a:lvl4pPr>
            <a:lvl5pPr marL="1823967" indent="0">
              <a:buNone/>
              <a:defRPr sz="1600" b="1"/>
            </a:lvl5pPr>
            <a:lvl6pPr marL="2279961" indent="0">
              <a:buNone/>
              <a:defRPr sz="1600" b="1"/>
            </a:lvl6pPr>
            <a:lvl7pPr marL="2735956" indent="0">
              <a:buNone/>
              <a:defRPr sz="1600" b="1"/>
            </a:lvl7pPr>
            <a:lvl8pPr marL="3191947" indent="0">
              <a:buNone/>
              <a:defRPr sz="1600" b="1"/>
            </a:lvl8pPr>
            <a:lvl9pPr marL="364794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94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7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20" y="273057"/>
            <a:ext cx="5537199" cy="585311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7" y="1435103"/>
            <a:ext cx="3259138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5990" indent="0">
              <a:buNone/>
              <a:defRPr sz="1100"/>
            </a:lvl2pPr>
            <a:lvl3pPr marL="911983" indent="0">
              <a:buNone/>
              <a:defRPr sz="1000"/>
            </a:lvl3pPr>
            <a:lvl4pPr marL="1367978" indent="0">
              <a:buNone/>
              <a:defRPr sz="1000"/>
            </a:lvl4pPr>
            <a:lvl5pPr marL="1823967" indent="0">
              <a:buNone/>
              <a:defRPr sz="1000"/>
            </a:lvl5pPr>
            <a:lvl6pPr marL="2279961" indent="0">
              <a:buNone/>
              <a:defRPr sz="1000"/>
            </a:lvl6pPr>
            <a:lvl7pPr marL="2735956" indent="0">
              <a:buNone/>
              <a:defRPr sz="1000"/>
            </a:lvl7pPr>
            <a:lvl8pPr marL="3191947" indent="0">
              <a:buNone/>
              <a:defRPr sz="1000"/>
            </a:lvl8pPr>
            <a:lvl9pPr marL="36479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5990" indent="0">
              <a:buNone/>
              <a:defRPr sz="2700"/>
            </a:lvl2pPr>
            <a:lvl3pPr marL="911983" indent="0">
              <a:buNone/>
              <a:defRPr sz="2400"/>
            </a:lvl3pPr>
            <a:lvl4pPr marL="1367978" indent="0">
              <a:buNone/>
              <a:defRPr sz="2000"/>
            </a:lvl4pPr>
            <a:lvl5pPr marL="1823967" indent="0">
              <a:buNone/>
              <a:defRPr sz="2000"/>
            </a:lvl5pPr>
            <a:lvl6pPr marL="2279961" indent="0">
              <a:buNone/>
              <a:defRPr sz="2000"/>
            </a:lvl6pPr>
            <a:lvl7pPr marL="2735956" indent="0">
              <a:buNone/>
              <a:defRPr sz="2000"/>
            </a:lvl7pPr>
            <a:lvl8pPr marL="3191947" indent="0">
              <a:buNone/>
              <a:defRPr sz="2000"/>
            </a:lvl8pPr>
            <a:lvl9pPr marL="3647940" indent="0">
              <a:buNone/>
              <a:defRPr sz="2000"/>
            </a:lvl9pPr>
          </a:lstStyle>
          <a:p>
            <a:pPr lvl="0"/>
            <a:endParaRPr lang="es-E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500"/>
            </a:lvl1pPr>
            <a:lvl2pPr marL="455990" indent="0">
              <a:buNone/>
              <a:defRPr sz="1100"/>
            </a:lvl2pPr>
            <a:lvl3pPr marL="911983" indent="0">
              <a:buNone/>
              <a:defRPr sz="1000"/>
            </a:lvl3pPr>
            <a:lvl4pPr marL="1367978" indent="0">
              <a:buNone/>
              <a:defRPr sz="1000"/>
            </a:lvl4pPr>
            <a:lvl5pPr marL="1823967" indent="0">
              <a:buNone/>
              <a:defRPr sz="1000"/>
            </a:lvl5pPr>
            <a:lvl6pPr marL="2279961" indent="0">
              <a:buNone/>
              <a:defRPr sz="1000"/>
            </a:lvl6pPr>
            <a:lvl7pPr marL="2735956" indent="0">
              <a:buNone/>
              <a:defRPr sz="1000"/>
            </a:lvl7pPr>
            <a:lvl8pPr marL="3191947" indent="0">
              <a:buNone/>
              <a:defRPr sz="1000"/>
            </a:lvl8pPr>
            <a:lvl9pPr marL="36479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6138" y="-17461"/>
            <a:ext cx="2224088" cy="5435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2288" y="-17461"/>
            <a:ext cx="6521450" cy="5435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22290" y="-17461"/>
            <a:ext cx="8897937" cy="5435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95" y="-17461"/>
            <a:ext cx="8034337" cy="7429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62054" y="1303338"/>
            <a:ext cx="8358188" cy="4114800"/>
          </a:xfrm>
        </p:spPr>
        <p:txBody>
          <a:bodyPr/>
          <a:lstStyle/>
          <a:p>
            <a:pPr lvl="0"/>
            <a:endParaRPr lang="es-E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92" y="-17463"/>
            <a:ext cx="8034337" cy="7429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038" y="1303338"/>
            <a:ext cx="835818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/>
        </p:nvSpPr>
        <p:spPr bwMode="white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pPr algn="l"/>
            <a:endParaRPr lang="es-ES" u="sng" dirty="0"/>
          </a:p>
        </p:txBody>
      </p:sp>
      <p:sp>
        <p:nvSpPr>
          <p:cNvPr id="1027" name="Rectangle 38"/>
          <p:cNvSpPr>
            <a:spLocks noChangeArrowheads="1"/>
          </p:cNvSpPr>
          <p:nvPr/>
        </p:nvSpPr>
        <p:spPr bwMode="auto">
          <a:xfrm>
            <a:off x="0" y="6572250"/>
            <a:ext cx="9906000" cy="28575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lIns="91199" tIns="45600" rIns="91199" bIns="45600" anchor="ctr"/>
          <a:lstStyle/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28" name="Line 39"/>
          <p:cNvSpPr>
            <a:spLocks noChangeShapeType="1"/>
          </p:cNvSpPr>
          <p:nvPr/>
        </p:nvSpPr>
        <p:spPr bwMode="gray">
          <a:xfrm flipV="1">
            <a:off x="0" y="6564313"/>
            <a:ext cx="9906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lIns="91199" tIns="45600" rIns="91199" bIns="45600"/>
          <a:lstStyle/>
          <a:p>
            <a:endParaRPr lang="es-ES" dirty="0"/>
          </a:p>
        </p:txBody>
      </p:sp>
      <p:grpSp>
        <p:nvGrpSpPr>
          <p:cNvPr id="1029" name="Group 52"/>
          <p:cNvGrpSpPr>
            <a:grpSpLocks/>
          </p:cNvGrpSpPr>
          <p:nvPr/>
        </p:nvGrpSpPr>
        <p:grpSpPr bwMode="auto">
          <a:xfrm>
            <a:off x="2" y="0"/>
            <a:ext cx="9912351" cy="909638"/>
            <a:chOff x="0" y="0"/>
            <a:chExt cx="6244" cy="1273175"/>
          </a:xfrm>
        </p:grpSpPr>
        <p:pic>
          <p:nvPicPr>
            <p:cNvPr id="1036" name="Picture 48" descr="banda papel 2"/>
            <p:cNvPicPr>
              <a:picLocks noChangeAspect="1" noChangeArrowheads="1"/>
            </p:cNvPicPr>
            <p:nvPr userDrawn="1"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0" y="0"/>
              <a:ext cx="6244" cy="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7" name="Line 47"/>
            <p:cNvSpPr>
              <a:spLocks noChangeShapeType="1"/>
            </p:cNvSpPr>
            <p:nvPr userDrawn="1"/>
          </p:nvSpPr>
          <p:spPr bwMode="gray">
            <a:xfrm>
              <a:off x="0" y="1273175"/>
              <a:ext cx="6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 dirty="0"/>
            </a:p>
          </p:txBody>
        </p:sp>
      </p:grpSp>
      <p:sp>
        <p:nvSpPr>
          <p:cNvPr id="1030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2038" y="1303338"/>
            <a:ext cx="835818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99" tIns="45600" rIns="91199" bIns="456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level1</a:t>
            </a:r>
          </a:p>
        </p:txBody>
      </p:sp>
      <p:sp>
        <p:nvSpPr>
          <p:cNvPr id="1031" name="Text Box 43"/>
          <p:cNvSpPr txBox="1">
            <a:spLocks noChangeArrowheads="1"/>
          </p:cNvSpPr>
          <p:nvPr/>
        </p:nvSpPr>
        <p:spPr bwMode="gray">
          <a:xfrm>
            <a:off x="8191503" y="6611938"/>
            <a:ext cx="10858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199" tIns="45600" rIns="91199" bIns="456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s-ES" sz="800" dirty="0">
                <a:solidFill>
                  <a:schemeClr val="bg1"/>
                </a:solidFill>
              </a:rPr>
              <a:t>  Page </a:t>
            </a:r>
            <a:fld id="{00DB79D3-FC24-4914-950C-63423856C8C9}" type="slidenum">
              <a:rPr lang="es-ES" sz="800" smtClean="0">
                <a:solidFill>
                  <a:schemeClr val="bg1"/>
                </a:solidFill>
              </a:rPr>
              <a:pPr algn="r" eaLnBrk="1" hangingPunct="1">
                <a:defRPr/>
              </a:pPr>
              <a:t>‹Nº›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32" name="Rectangle 40"/>
          <p:cNvSpPr>
            <a:spLocks noGrp="1" noChangeArrowheads="1"/>
          </p:cNvSpPr>
          <p:nvPr>
            <p:ph type="title"/>
          </p:nvPr>
        </p:nvSpPr>
        <p:spPr bwMode="gray">
          <a:xfrm>
            <a:off x="522292" y="-17463"/>
            <a:ext cx="8034337" cy="742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99" tIns="45600" rIns="91199" bIns="456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1033" name="Picture 48" descr="banda papel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" y="0"/>
            <a:ext cx="9912351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Line 47"/>
          <p:cNvSpPr>
            <a:spLocks noChangeShapeType="1"/>
          </p:cNvSpPr>
          <p:nvPr/>
        </p:nvSpPr>
        <p:spPr bwMode="gray">
          <a:xfrm>
            <a:off x="0" y="909638"/>
            <a:ext cx="9906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lIns="68415" tIns="34208" rIns="68415" bIns="34208"/>
          <a:lstStyle/>
          <a:p>
            <a:endParaRPr lang="es-ES" dirty="0"/>
          </a:p>
        </p:txBody>
      </p:sp>
      <p:pic>
        <p:nvPicPr>
          <p:cNvPr id="1035" name="Picture 48" descr="banda papel 2"/>
          <p:cNvPicPr>
            <a:picLocks noChangeAspect="1" noChangeArrowheads="1"/>
          </p:cNvPicPr>
          <p:nvPr/>
        </p:nvPicPr>
        <p:blipFill>
          <a:blip r:embed="rId16" cstate="print"/>
          <a:srcRect r="16422" b="3329"/>
          <a:stretch>
            <a:fillRect/>
          </a:stretch>
        </p:blipFill>
        <p:spPr bwMode="auto">
          <a:xfrm>
            <a:off x="1620838" y="6"/>
            <a:ext cx="828516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73" r:id="rId1"/>
    <p:sldLayoutId id="2147484760" r:id="rId2"/>
    <p:sldLayoutId id="2147484761" r:id="rId3"/>
    <p:sldLayoutId id="2147484762" r:id="rId4"/>
    <p:sldLayoutId id="2147484763" r:id="rId5"/>
    <p:sldLayoutId id="2147484764" r:id="rId6"/>
    <p:sldLayoutId id="2147484765" r:id="rId7"/>
    <p:sldLayoutId id="2147484766" r:id="rId8"/>
    <p:sldLayoutId id="2147484767" r:id="rId9"/>
    <p:sldLayoutId id="2147484768" r:id="rId10"/>
    <p:sldLayoutId id="2147484769" r:id="rId11"/>
    <p:sldLayoutId id="2147484770" r:id="rId12"/>
    <p:sldLayoutId id="2147484771" r:id="rId13"/>
    <p:sldLayoutId id="214748477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5pPr>
      <a:lvl6pPr marL="455990" algn="l" rtl="0" fontAlgn="base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6pPr>
      <a:lvl7pPr marL="911983" algn="l" rtl="0" fontAlgn="base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7pPr>
      <a:lvl8pPr marL="1367978" algn="l" rtl="0" fontAlgn="base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8pPr>
      <a:lvl9pPr marL="1823967" algn="l" rtl="0" fontAlgn="base">
        <a:spcBef>
          <a:spcPct val="0"/>
        </a:spcBef>
        <a:spcAft>
          <a:spcPct val="0"/>
        </a:spcAft>
        <a:defRPr sz="2200">
          <a:solidFill>
            <a:schemeClr val="bg1"/>
          </a:solidFill>
          <a:latin typeface="Arial" pitchFamily="34" charset="0"/>
        </a:defRPr>
      </a:lvl9pPr>
    </p:titleStyle>
    <p:bodyStyle>
      <a:lvl1pPr marL="250825" indent="-250825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74650" indent="-18415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hlink"/>
        </a:buClr>
        <a:buSzPct val="80000"/>
        <a:buFont typeface="Webdings" pitchFamily="18" charset="2"/>
        <a:buChar char="4"/>
        <a:defRPr sz="1600">
          <a:solidFill>
            <a:schemeClr val="tx1"/>
          </a:solidFill>
          <a:latin typeface="+mn-lt"/>
        </a:defRPr>
      </a:lvl2pPr>
      <a:lvl3pPr marL="654050" indent="-8255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3pPr>
      <a:lvl4pPr marL="989013" indent="-13970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4pPr>
      <a:lvl5pPr marL="1370013" indent="-184150" algn="l" rtl="0" eaLnBrk="0" fontAlgn="base" hangingPunct="0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5pPr>
      <a:lvl6pPr marL="1830309" indent="-189996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6pPr>
      <a:lvl7pPr marL="2286295" indent="-189996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7pPr>
      <a:lvl8pPr marL="2742288" indent="-189996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8pPr>
      <a:lvl9pPr marL="3198281" indent="-189996" algn="l" rtl="0" fontAlgn="base">
        <a:lnSpc>
          <a:spcPct val="102000"/>
        </a:lnSpc>
        <a:spcBef>
          <a:spcPct val="50000"/>
        </a:spcBef>
        <a:spcAft>
          <a:spcPct val="0"/>
        </a:spcAft>
        <a:buClr>
          <a:schemeClr val="bg2"/>
        </a:buClr>
        <a:buFont typeface="Arial" pitchFamily="34" charset="0"/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90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1983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7978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3967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9961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5956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1947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7940" algn="l" defTabSz="9119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12" Type="http://schemas.openxmlformats.org/officeDocument/2006/relationships/slide" Target="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11" Type="http://schemas.openxmlformats.org/officeDocument/2006/relationships/slide" Target="slide10.xml"/><Relationship Id="rId5" Type="http://schemas.openxmlformats.org/officeDocument/2006/relationships/image" Target="../media/image5.emf"/><Relationship Id="rId10" Type="http://schemas.openxmlformats.org/officeDocument/2006/relationships/image" Target="../media/image8.emf"/><Relationship Id="rId4" Type="http://schemas.openxmlformats.org/officeDocument/2006/relationships/oleObject" Target="../embeddings/oleObject1.bin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emf"/><Relationship Id="rId5" Type="http://schemas.openxmlformats.org/officeDocument/2006/relationships/slide" Target="slide1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14.xml"/><Relationship Id="rId7" Type="http://schemas.openxmlformats.org/officeDocument/2006/relationships/slide" Target="slide17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11.png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Presentaci_n_de_Microsoft_PowerPoint.pptx"/><Relationship Id="rId3" Type="http://schemas.openxmlformats.org/officeDocument/2006/relationships/notesSlide" Target="../notesSlides/notesSlide4.xml"/><Relationship Id="rId7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5.xml"/><Relationship Id="rId7" Type="http://schemas.openxmlformats.org/officeDocument/2006/relationships/package" Target="../embeddings/Hoja_de_c_lculo_de_Microsoft_Excel.xlsx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6.xml"/><Relationship Id="rId7" Type="http://schemas.openxmlformats.org/officeDocument/2006/relationships/package" Target="../embeddings/Hoja_de_c_lculo_de_Microsoft_Excel1.xlsx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1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7.png"/><Relationship Id="rId7" Type="http://schemas.openxmlformats.org/officeDocument/2006/relationships/slide" Target="slide8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emf"/><Relationship Id="rId5" Type="http://schemas.openxmlformats.org/officeDocument/2006/relationships/slide" Target="slide16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emf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>
            <a:spLocks noChangeArrowheads="1"/>
          </p:cNvSpPr>
          <p:nvPr/>
        </p:nvSpPr>
        <p:spPr bwMode="auto">
          <a:xfrm>
            <a:off x="2752728" y="3155950"/>
            <a:ext cx="4316812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/>
          <a:lstStyle/>
          <a:p>
            <a:pPr algn="l"/>
            <a:r>
              <a:rPr lang="en-US" sz="2400" b="1" dirty="0">
                <a:solidFill>
                  <a:schemeClr val="tx2"/>
                </a:solidFill>
              </a:rPr>
              <a:t>Value Chain Design and </a:t>
            </a:r>
          </a:p>
          <a:p>
            <a:pPr algn="l"/>
            <a:r>
              <a:rPr lang="en-US" sz="2400" b="1" dirty="0">
                <a:solidFill>
                  <a:schemeClr val="tx2"/>
                </a:solidFill>
              </a:rPr>
              <a:t>BC Model Review – </a:t>
            </a:r>
          </a:p>
          <a:p>
            <a:pPr algn="l"/>
            <a:r>
              <a:rPr lang="en-US" sz="2400" dirty="0">
                <a:solidFill>
                  <a:schemeClr val="tx2"/>
                </a:solidFill>
              </a:rPr>
              <a:t>Findings &amp; Next Steps</a:t>
            </a:r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114425"/>
            <a:ext cx="2451100" cy="127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38754" y="1949316"/>
            <a:ext cx="6982354" cy="4049713"/>
          </a:xfrm>
        </p:spPr>
        <p:txBody>
          <a:bodyPr/>
          <a:lstStyle/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tx2"/>
                </a:solidFill>
              </a:rPr>
              <a:t>	Purpose &amp; Outcomes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Findings and Analysis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Next Steps</a:t>
            </a:r>
          </a:p>
          <a:p>
            <a:pPr marL="266700" indent="-266700" eaLnBrk="1" hangingPunct="1">
              <a:buFontTx/>
              <a:buNone/>
            </a:pPr>
            <a:endParaRPr lang="en-US" sz="2000" b="1" dirty="0">
              <a:solidFill>
                <a:schemeClr val="folHlink"/>
              </a:solidFill>
            </a:endParaRP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</a:t>
            </a:r>
          </a:p>
        </p:txBody>
      </p:sp>
      <p:pic>
        <p:nvPicPr>
          <p:cNvPr id="92162" name="Picture 2" descr="http://www.contentwritingjaipur.com/wp-content/uploads/2014/03/contentwritingjaipurblo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53" y="4325588"/>
            <a:ext cx="2862509" cy="178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58813" y="1921520"/>
            <a:ext cx="6858000" cy="438150"/>
          </a:xfrm>
          <a:prstGeom prst="rect">
            <a:avLst/>
          </a:prstGeom>
          <a:noFill/>
          <a:ln w="3175">
            <a:solidFill>
              <a:srgbClr val="00256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gray">
          <a:xfrm>
            <a:off x="144620" y="942773"/>
            <a:ext cx="903406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sz="2800" dirty="0">
                <a:solidFill>
                  <a:schemeClr val="tx2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45945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103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ounded Rectangle 47"/>
          <p:cNvSpPr/>
          <p:nvPr/>
        </p:nvSpPr>
        <p:spPr bwMode="auto">
          <a:xfrm>
            <a:off x="2493084" y="6189683"/>
            <a:ext cx="774200" cy="205258"/>
          </a:xfrm>
          <a:prstGeom prst="roundRect">
            <a:avLst>
              <a:gd name="adj" fmla="val 9671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66726" y="6131990"/>
            <a:ext cx="1460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</a:t>
            </a:r>
            <a:r>
              <a:rPr lang="es-ES" dirty="0" err="1"/>
              <a:t>Scope</a:t>
            </a:r>
            <a:endParaRPr lang="es-ES" dirty="0"/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3714750" y="2451194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50" name="Rectangle 8"/>
          <p:cNvSpPr>
            <a:spLocks noChangeArrowheads="1"/>
          </p:cNvSpPr>
          <p:nvPr/>
        </p:nvSpPr>
        <p:spPr bwMode="auto">
          <a:xfrm>
            <a:off x="155575" y="2285174"/>
            <a:ext cx="3500438" cy="3720194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285750" indent="-285750" defTabSz="952500" eaLnBrk="0" hangingPunct="0"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814388" indent="-457200" defTabSz="952500" eaLnBrk="0" hangingPunct="0"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52500" eaLnBrk="0" hangingPunct="0"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52500" eaLnBrk="0" hangingPunct="0"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52500" eaLnBrk="0" hangingPunct="0"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tabLst>
                <a:tab pos="190500" algn="l"/>
              </a:tabLs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indent="0" algn="l">
              <a:spcBef>
                <a:spcPct val="50000"/>
              </a:spcBef>
            </a:pPr>
            <a:r>
              <a:rPr lang="en-US" altLang="es-ES" sz="1400" b="1" dirty="0">
                <a:solidFill>
                  <a:schemeClr val="tx2"/>
                </a:solidFill>
              </a:rPr>
              <a:t>0.  Value Chain Design and BCP review</a:t>
            </a:r>
          </a:p>
          <a:p>
            <a:pPr marL="0" indent="0" algn="l">
              <a:spcBef>
                <a:spcPct val="50000"/>
              </a:spcBef>
            </a:pPr>
            <a:r>
              <a:rPr lang="en-US" altLang="es-ES" sz="1400" b="1" dirty="0">
                <a:solidFill>
                  <a:schemeClr val="tx2"/>
                </a:solidFill>
              </a:rPr>
              <a:t>	   </a:t>
            </a:r>
            <a:r>
              <a:rPr lang="en-US" altLang="es-ES" sz="1200" dirty="0">
                <a:solidFill>
                  <a:srgbClr val="002569"/>
                </a:solidFill>
                <a:cs typeface="+mn-cs"/>
              </a:rPr>
              <a:t>a. Process Mapping</a:t>
            </a:r>
            <a:endParaRPr lang="en-US" altLang="es-ES" sz="1200" dirty="0">
              <a:solidFill>
                <a:schemeClr val="tx2"/>
              </a:solidFill>
            </a:endParaRPr>
          </a:p>
          <a:p>
            <a:pPr marL="357187" lvl="1" indent="0" algn="l">
              <a:spcBef>
                <a:spcPts val="300"/>
              </a:spcBef>
            </a:pPr>
            <a:r>
              <a:rPr lang="en-US" altLang="es-ES" sz="1200" dirty="0">
                <a:solidFill>
                  <a:schemeClr val="tx2"/>
                </a:solidFill>
              </a:rPr>
              <a:t>b. Value Chain design</a:t>
            </a:r>
          </a:p>
          <a:p>
            <a:pPr marL="357187" lvl="1" indent="0" algn="l">
              <a:spcBef>
                <a:spcPts val="300"/>
              </a:spcBef>
            </a:pPr>
            <a:r>
              <a:rPr lang="en-US" altLang="es-ES" sz="1200" dirty="0">
                <a:solidFill>
                  <a:schemeClr val="tx2"/>
                </a:solidFill>
              </a:rPr>
              <a:t>c. BC Work-Calendar</a:t>
            </a:r>
            <a:endParaRPr lang="en-US" altLang="es-ES" sz="1200" dirty="0">
              <a:solidFill>
                <a:srgbClr val="002569"/>
              </a:solidFill>
              <a:cs typeface="+mn-cs"/>
            </a:endParaRPr>
          </a:p>
          <a:p>
            <a:pPr lvl="0" algn="l">
              <a:spcBef>
                <a:spcPct val="50000"/>
              </a:spcBef>
              <a:buFontTx/>
              <a:buAutoNum type="romanUcPeriod"/>
            </a:pPr>
            <a:r>
              <a:rPr lang="en-US" altLang="es-ES" sz="1400" b="1" dirty="0">
                <a:solidFill>
                  <a:schemeClr val="tx2"/>
                </a:solidFill>
              </a:rPr>
              <a:t>Operational Risk Framework</a:t>
            </a:r>
          </a:p>
          <a:p>
            <a:pPr marL="533400" lvl="1" indent="-176213" algn="l" defTabSz="914400" eaLnBrk="1" hangingPunct="1">
              <a:spcBef>
                <a:spcPts val="300"/>
              </a:spcBef>
              <a:buFont typeface="+mj-lt"/>
              <a:buAutoNum type="alphaLcPeriod"/>
              <a:tabLst/>
            </a:pPr>
            <a:r>
              <a:rPr lang="en-US" altLang="es-ES" sz="1200" dirty="0">
                <a:solidFill>
                  <a:srgbClr val="002569"/>
                </a:solidFill>
                <a:cs typeface="+mn-cs"/>
              </a:rPr>
              <a:t>Process Documentation </a:t>
            </a:r>
          </a:p>
          <a:p>
            <a:pPr marL="533400" lvl="1" indent="-176213" algn="l" defTabSz="914400" eaLnBrk="1" hangingPunct="1">
              <a:spcBef>
                <a:spcPts val="300"/>
              </a:spcBef>
              <a:buFont typeface="+mj-lt"/>
              <a:buAutoNum type="alphaLcPeriod"/>
              <a:tabLst/>
            </a:pPr>
            <a:r>
              <a:rPr lang="en-US" altLang="es-ES" sz="1200" dirty="0">
                <a:solidFill>
                  <a:srgbClr val="002569"/>
                </a:solidFill>
                <a:cs typeface="+mn-cs"/>
              </a:rPr>
              <a:t>Identification of Risk &amp; Controls</a:t>
            </a:r>
          </a:p>
          <a:p>
            <a:pPr marL="533400" lvl="1" indent="-176213" algn="l" defTabSz="914400" eaLnBrk="1" hangingPunct="1">
              <a:spcBef>
                <a:spcPts val="300"/>
              </a:spcBef>
              <a:buFont typeface="+mj-lt"/>
              <a:buAutoNum type="alphaLcPeriod"/>
              <a:tabLst/>
            </a:pPr>
            <a:r>
              <a:rPr lang="en-US" altLang="es-ES" sz="1200" dirty="0">
                <a:solidFill>
                  <a:srgbClr val="002569"/>
                </a:solidFill>
                <a:cs typeface="+mn-cs"/>
              </a:rPr>
              <a:t>Quantification</a:t>
            </a:r>
            <a:endParaRPr lang="en-US" altLang="es-ES" sz="1400" b="1" dirty="0">
              <a:solidFill>
                <a:schemeClr val="tx2"/>
              </a:solidFill>
            </a:endParaRPr>
          </a:p>
          <a:p>
            <a:pPr algn="l">
              <a:spcBef>
                <a:spcPct val="50000"/>
              </a:spcBef>
              <a:buFontTx/>
              <a:buAutoNum type="romanUcPeriod"/>
            </a:pPr>
            <a:r>
              <a:rPr lang="en-US" altLang="es-ES" sz="1400" b="1" dirty="0">
                <a:solidFill>
                  <a:schemeClr val="tx2"/>
                </a:solidFill>
              </a:rPr>
              <a:t>Business Continuity Plans</a:t>
            </a:r>
          </a:p>
          <a:p>
            <a:pPr marL="533400" lvl="1" indent="-176213" algn="l" defTabSz="914400" eaLnBrk="1" hangingPunct="1">
              <a:spcBef>
                <a:spcPts val="300"/>
              </a:spcBef>
              <a:buFont typeface="+mj-lt"/>
              <a:buAutoNum type="alphaLcPeriod"/>
              <a:tabLst/>
            </a:pPr>
            <a:r>
              <a:rPr lang="en-US" altLang="es-ES" sz="1200" dirty="0">
                <a:solidFill>
                  <a:srgbClr val="002569"/>
                </a:solidFill>
              </a:rPr>
              <a:t>BIA &amp; RIA</a:t>
            </a:r>
          </a:p>
          <a:p>
            <a:pPr marL="533400" lvl="1" indent="-176213" algn="l" defTabSz="914400" eaLnBrk="1" hangingPunct="1">
              <a:spcBef>
                <a:spcPts val="300"/>
              </a:spcBef>
              <a:buFont typeface="+mj-lt"/>
              <a:buAutoNum type="alphaLcPeriod"/>
              <a:tabLst/>
            </a:pPr>
            <a:r>
              <a:rPr lang="en-US" altLang="es-ES" sz="1200" dirty="0">
                <a:solidFill>
                  <a:srgbClr val="002569"/>
                </a:solidFill>
              </a:rPr>
              <a:t>BCP Definition and testing</a:t>
            </a:r>
          </a:p>
          <a:p>
            <a:pPr algn="l">
              <a:spcBef>
                <a:spcPct val="50000"/>
              </a:spcBef>
              <a:buFontTx/>
              <a:buAutoNum type="romanUcPeriod"/>
            </a:pPr>
            <a:r>
              <a:rPr lang="en-US" altLang="es-ES" sz="1400" b="1" dirty="0">
                <a:solidFill>
                  <a:schemeClr val="tx2"/>
                </a:solidFill>
              </a:rPr>
              <a:t>BAU</a:t>
            </a:r>
          </a:p>
          <a:p>
            <a:pPr algn="l">
              <a:spcBef>
                <a:spcPct val="50000"/>
              </a:spcBef>
              <a:buFontTx/>
              <a:buAutoNum type="romanUcPeriod"/>
            </a:pPr>
            <a:endParaRPr lang="en-US" altLang="es-ES" sz="1400" b="1" dirty="0">
              <a:solidFill>
                <a:schemeClr val="tx2"/>
              </a:solidFill>
            </a:endParaRPr>
          </a:p>
        </p:txBody>
      </p:sp>
      <p:sp>
        <p:nvSpPr>
          <p:cNvPr id="51" name="Rectangle 9"/>
          <p:cNvSpPr>
            <a:spLocks noChangeArrowheads="1"/>
          </p:cNvSpPr>
          <p:nvPr/>
        </p:nvSpPr>
        <p:spPr bwMode="auto">
          <a:xfrm>
            <a:off x="173710" y="2052053"/>
            <a:ext cx="3482303" cy="3175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s-ES_tradnl" sz="1100" dirty="0" err="1">
                <a:solidFill>
                  <a:schemeClr val="bg1"/>
                </a:solidFill>
                <a:cs typeface="+mn-cs"/>
              </a:rPr>
              <a:t>Phases</a:t>
            </a:r>
            <a:endParaRPr lang="en-U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3709569" y="1846320"/>
            <a:ext cx="5760000" cy="19900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s-ES" sz="1200" dirty="0">
                <a:solidFill>
                  <a:schemeClr val="bg1"/>
                </a:solidFill>
                <a:cs typeface="+mn-cs"/>
              </a:rPr>
              <a:t>2016</a:t>
            </a:r>
            <a:endParaRPr lang="en-US" sz="12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4" name="Rectangle 33"/>
          <p:cNvSpPr>
            <a:spLocks noChangeArrowheads="1"/>
          </p:cNvSpPr>
          <p:nvPr/>
        </p:nvSpPr>
        <p:spPr bwMode="auto">
          <a:xfrm>
            <a:off x="3715404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</a:rPr>
              <a:t>M1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5" name="Rectangle 33"/>
          <p:cNvSpPr>
            <a:spLocks noChangeArrowheads="1"/>
          </p:cNvSpPr>
          <p:nvPr/>
        </p:nvSpPr>
        <p:spPr bwMode="auto">
          <a:xfrm>
            <a:off x="4441011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  <a:cs typeface="+mn-cs"/>
              </a:rPr>
              <a:t> M2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6" name="Rectangle 33"/>
          <p:cNvSpPr>
            <a:spLocks noChangeArrowheads="1"/>
          </p:cNvSpPr>
          <p:nvPr/>
        </p:nvSpPr>
        <p:spPr bwMode="auto">
          <a:xfrm>
            <a:off x="5893533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</a:rPr>
              <a:t>M4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8" name="Rectangle 6"/>
          <p:cNvSpPr>
            <a:spLocks noChangeArrowheads="1"/>
          </p:cNvSpPr>
          <p:nvPr/>
        </p:nvSpPr>
        <p:spPr bwMode="auto">
          <a:xfrm>
            <a:off x="4441011" y="2451194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5167272" y="2451194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62" name="Rectangle 6"/>
          <p:cNvSpPr>
            <a:spLocks noChangeArrowheads="1"/>
          </p:cNvSpPr>
          <p:nvPr/>
        </p:nvSpPr>
        <p:spPr bwMode="auto">
          <a:xfrm>
            <a:off x="5999256" y="2460569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65" name="Rectangle 33"/>
          <p:cNvSpPr>
            <a:spLocks noChangeArrowheads="1"/>
          </p:cNvSpPr>
          <p:nvPr/>
        </p:nvSpPr>
        <p:spPr bwMode="auto">
          <a:xfrm>
            <a:off x="5167272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  <a:cs typeface="+mn-cs"/>
              </a:rPr>
              <a:t> M3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6" name="Rectangle 33"/>
          <p:cNvSpPr>
            <a:spLocks noChangeArrowheads="1"/>
          </p:cNvSpPr>
          <p:nvPr/>
        </p:nvSpPr>
        <p:spPr bwMode="auto">
          <a:xfrm>
            <a:off x="7346055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</a:rPr>
              <a:t>M6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7" name="Rectangle 6"/>
          <p:cNvSpPr>
            <a:spLocks noChangeArrowheads="1"/>
          </p:cNvSpPr>
          <p:nvPr/>
        </p:nvSpPr>
        <p:spPr bwMode="auto">
          <a:xfrm>
            <a:off x="6619794" y="2451194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7346055" y="2451194"/>
            <a:ext cx="648000" cy="3554174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70" name="Rectangle 33"/>
          <p:cNvSpPr>
            <a:spLocks noChangeArrowheads="1"/>
          </p:cNvSpPr>
          <p:nvPr/>
        </p:nvSpPr>
        <p:spPr bwMode="auto">
          <a:xfrm>
            <a:off x="6619794" y="2066340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  <a:cs typeface="+mn-cs"/>
              </a:rPr>
              <a:t> M5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2" name="TextBox 88"/>
          <p:cNvSpPr txBox="1">
            <a:spLocks noChangeArrowheads="1"/>
          </p:cNvSpPr>
          <p:nvPr/>
        </p:nvSpPr>
        <p:spPr bwMode="auto">
          <a:xfrm>
            <a:off x="2136775" y="1808875"/>
            <a:ext cx="15017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s-ES" altLang="es-ES" i="1" dirty="0" err="1"/>
              <a:t>Approximative</a:t>
            </a:r>
            <a:r>
              <a:rPr lang="es-ES" altLang="es-ES" i="1" dirty="0"/>
              <a:t> dates</a:t>
            </a:r>
          </a:p>
        </p:txBody>
      </p:sp>
      <p:sp>
        <p:nvSpPr>
          <p:cNvPr id="73" name="Rectangle 414"/>
          <p:cNvSpPr>
            <a:spLocks noChangeArrowheads="1"/>
          </p:cNvSpPr>
          <p:nvPr/>
        </p:nvSpPr>
        <p:spPr bwMode="auto">
          <a:xfrm>
            <a:off x="3737117" y="2544486"/>
            <a:ext cx="509950" cy="144000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95250" algn="ctr">
                <a:solidFill>
                  <a:srgbClr val="4D4D4D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 dirty="0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84" name="Rectangle 33"/>
          <p:cNvSpPr>
            <a:spLocks noChangeArrowheads="1"/>
          </p:cNvSpPr>
          <p:nvPr/>
        </p:nvSpPr>
        <p:spPr bwMode="auto">
          <a:xfrm>
            <a:off x="8072316" y="2053639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</a:rPr>
              <a:t>M7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8072316" y="2438493"/>
            <a:ext cx="648000" cy="3566875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86" name="Rectangle 33"/>
          <p:cNvSpPr>
            <a:spLocks noChangeArrowheads="1"/>
          </p:cNvSpPr>
          <p:nvPr/>
        </p:nvSpPr>
        <p:spPr bwMode="auto">
          <a:xfrm>
            <a:off x="8798591" y="2039262"/>
            <a:ext cx="648000" cy="29051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>
              <a:defRPr/>
            </a:pPr>
            <a:r>
              <a:rPr lang="es-ES" sz="1100">
                <a:solidFill>
                  <a:schemeClr val="bg1"/>
                </a:solidFill>
              </a:rPr>
              <a:t>M8</a:t>
            </a:r>
            <a:endParaRPr lang="es-ES" sz="11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8798591" y="2424116"/>
            <a:ext cx="648000" cy="3581252"/>
          </a:xfrm>
          <a:prstGeom prst="rect">
            <a:avLst/>
          </a:prstGeom>
          <a:noFill/>
          <a:ln w="317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46800" rIns="54000" bIns="46800"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s-ES" altLang="es-ES" sz="1400" b="1"/>
          </a:p>
        </p:txBody>
      </p:sp>
      <p:sp>
        <p:nvSpPr>
          <p:cNvPr id="89" name="Rectangle 414"/>
          <p:cNvSpPr>
            <a:spLocks noChangeArrowheads="1"/>
          </p:cNvSpPr>
          <p:nvPr/>
        </p:nvSpPr>
        <p:spPr bwMode="auto">
          <a:xfrm>
            <a:off x="4822200" y="3688064"/>
            <a:ext cx="3618579" cy="144000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95250" algn="ctr">
                <a:solidFill>
                  <a:srgbClr val="4D4D4D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0" name="Rectangle 414"/>
          <p:cNvSpPr>
            <a:spLocks noChangeArrowheads="1"/>
          </p:cNvSpPr>
          <p:nvPr/>
        </p:nvSpPr>
        <p:spPr bwMode="auto">
          <a:xfrm>
            <a:off x="8798591" y="5435218"/>
            <a:ext cx="616888" cy="144000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95250" algn="ctr">
                <a:solidFill>
                  <a:srgbClr val="4D4D4D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1" name="Rectangle 414"/>
          <p:cNvSpPr>
            <a:spLocks noChangeArrowheads="1"/>
          </p:cNvSpPr>
          <p:nvPr/>
        </p:nvSpPr>
        <p:spPr bwMode="auto">
          <a:xfrm>
            <a:off x="4851255" y="4847335"/>
            <a:ext cx="2376000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3" name="Rectangle 414"/>
          <p:cNvSpPr>
            <a:spLocks noChangeArrowheads="1"/>
          </p:cNvSpPr>
          <p:nvPr/>
        </p:nvSpPr>
        <p:spPr bwMode="auto">
          <a:xfrm>
            <a:off x="3766685" y="2833366"/>
            <a:ext cx="225407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 dirty="0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4" name="Rectangle 414"/>
          <p:cNvSpPr>
            <a:spLocks noChangeArrowheads="1"/>
          </p:cNvSpPr>
          <p:nvPr/>
        </p:nvSpPr>
        <p:spPr bwMode="auto">
          <a:xfrm>
            <a:off x="3905437" y="3094950"/>
            <a:ext cx="225407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 dirty="0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5" name="Rectangle 414"/>
          <p:cNvSpPr>
            <a:spLocks noChangeArrowheads="1"/>
          </p:cNvSpPr>
          <p:nvPr/>
        </p:nvSpPr>
        <p:spPr bwMode="auto">
          <a:xfrm>
            <a:off x="3919084" y="3326966"/>
            <a:ext cx="443665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 dirty="0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6" name="Rounded Rectangle 95"/>
          <p:cNvSpPr/>
          <p:nvPr/>
        </p:nvSpPr>
        <p:spPr bwMode="auto">
          <a:xfrm>
            <a:off x="3693141" y="1846320"/>
            <a:ext cx="1035582" cy="4370104"/>
          </a:xfrm>
          <a:prstGeom prst="roundRect">
            <a:avLst>
              <a:gd name="adj" fmla="val 9671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7" name="Rectangle 414"/>
          <p:cNvSpPr>
            <a:spLocks noChangeArrowheads="1"/>
          </p:cNvSpPr>
          <p:nvPr/>
        </p:nvSpPr>
        <p:spPr bwMode="auto">
          <a:xfrm>
            <a:off x="4362749" y="4202710"/>
            <a:ext cx="365974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 dirty="0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98" name="Rectangle 414"/>
          <p:cNvSpPr>
            <a:spLocks noChangeArrowheads="1"/>
          </p:cNvSpPr>
          <p:nvPr/>
        </p:nvSpPr>
        <p:spPr bwMode="auto">
          <a:xfrm>
            <a:off x="7313671" y="5122941"/>
            <a:ext cx="2041094" cy="1703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100" name="Rectangle 414"/>
          <p:cNvSpPr>
            <a:spLocks noChangeArrowheads="1"/>
          </p:cNvSpPr>
          <p:nvPr/>
        </p:nvSpPr>
        <p:spPr bwMode="auto">
          <a:xfrm>
            <a:off x="8811580" y="5629074"/>
            <a:ext cx="349182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101" name="Rectangle 414"/>
          <p:cNvSpPr>
            <a:spLocks noChangeArrowheads="1"/>
          </p:cNvSpPr>
          <p:nvPr/>
        </p:nvSpPr>
        <p:spPr bwMode="auto">
          <a:xfrm>
            <a:off x="9073164" y="5836066"/>
            <a:ext cx="349182" cy="1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 Purpose &amp; Outcomes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63" name="Rectangle 414"/>
          <p:cNvSpPr>
            <a:spLocks noChangeArrowheads="1"/>
          </p:cNvSpPr>
          <p:nvPr/>
        </p:nvSpPr>
        <p:spPr bwMode="auto">
          <a:xfrm>
            <a:off x="4788100" y="4637175"/>
            <a:ext cx="3618579" cy="144000"/>
          </a:xfrm>
          <a:prstGeom prst="rect">
            <a:avLst/>
          </a:prstGeom>
          <a:solidFill>
            <a:schemeClr val="hlink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95250" algn="ctr">
                <a:solidFill>
                  <a:srgbClr val="4D4D4D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endParaRPr lang="en-US" sz="1200" b="1">
              <a:solidFill>
                <a:schemeClr val="bg1"/>
              </a:solidFill>
              <a:latin typeface="TheSansCorrespondence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43926" y="2424116"/>
            <a:ext cx="4740846" cy="3780000"/>
          </a:xfrm>
          <a:prstGeom prst="rect">
            <a:avLst/>
          </a:prstGeom>
          <a:solidFill>
            <a:schemeClr val="bg1">
              <a:alpha val="6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4" name="Text Box 23"/>
          <p:cNvSpPr txBox="1">
            <a:spLocks noChangeArrowheads="1"/>
          </p:cNvSpPr>
          <p:nvPr/>
        </p:nvSpPr>
        <p:spPr bwMode="blackWhite">
          <a:xfrm>
            <a:off x="867493" y="1056807"/>
            <a:ext cx="8679561" cy="58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>
              <a:lnSpc>
                <a:spcPct val="100000"/>
              </a:lnSpc>
              <a:buClrTx/>
              <a:buNone/>
            </a:pPr>
            <a:r>
              <a:rPr lang="en-US" altLang="es-ES" b="1" dirty="0">
                <a:solidFill>
                  <a:srgbClr val="002569"/>
                </a:solidFill>
              </a:rPr>
              <a:t>SMNYL is currently moving to a process work-approach to finally achieve a strong BCP Framework and a deeper Operational-risk culture</a:t>
            </a:r>
          </a:p>
        </p:txBody>
      </p:sp>
    </p:spTree>
    <p:extLst>
      <p:ext uri="{BB962C8B-B14F-4D97-AF65-F5344CB8AC3E}">
        <p14:creationId xmlns:p14="http://schemas.microsoft.com/office/powerpoint/2010/main" val="31094276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479609" y="2939233"/>
            <a:ext cx="8818769" cy="3011191"/>
          </a:xfrm>
          <a:prstGeom prst="roundRect">
            <a:avLst>
              <a:gd name="adj" fmla="val 9972"/>
            </a:avLst>
          </a:prstGeom>
          <a:noFill/>
          <a:ln w="9525" cap="flat" cmpd="sng" algn="ctr">
            <a:solidFill>
              <a:schemeClr val="accent1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9101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23"/>
          <p:cNvSpPr txBox="1">
            <a:spLocks noChangeArrowheads="1"/>
          </p:cNvSpPr>
          <p:nvPr/>
        </p:nvSpPr>
        <p:spPr bwMode="blackWhite">
          <a:xfrm>
            <a:off x="1892658" y="1218866"/>
            <a:ext cx="7890510" cy="830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altLang="es-ES" dirty="0">
                <a:solidFill>
                  <a:srgbClr val="002569"/>
                </a:solidFill>
              </a:rPr>
              <a:t>To </a:t>
            </a:r>
            <a:r>
              <a:rPr lang="en-US" altLang="es-ES" b="1" dirty="0">
                <a:solidFill>
                  <a:srgbClr val="002569"/>
                </a:solidFill>
              </a:rPr>
              <a:t>identify SMNYL’s current processes and design a Value Chain </a:t>
            </a:r>
            <a:r>
              <a:rPr lang="en-US" altLang="es-ES" dirty="0">
                <a:solidFill>
                  <a:srgbClr val="002569"/>
                </a:solidFill>
              </a:rPr>
              <a:t>that let us develop a future Operational Risk Framework as well as </a:t>
            </a:r>
            <a:r>
              <a:rPr lang="en-US" altLang="es-ES" b="1" dirty="0">
                <a:solidFill>
                  <a:srgbClr val="002569"/>
                </a:solidFill>
              </a:rPr>
              <a:t>analyze current Business Continuity Plans to detect possible weaknesses</a:t>
            </a:r>
            <a:r>
              <a:rPr lang="en-US" altLang="es-ES" dirty="0">
                <a:solidFill>
                  <a:srgbClr val="002569"/>
                </a:solidFill>
              </a:rPr>
              <a:t>…</a:t>
            </a:r>
          </a:p>
        </p:txBody>
      </p:sp>
      <p:sp>
        <p:nvSpPr>
          <p:cNvPr id="84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 Purpose &amp; Outcomes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21" name="Pentagon 20"/>
          <p:cNvSpPr/>
          <p:nvPr/>
        </p:nvSpPr>
        <p:spPr>
          <a:xfrm>
            <a:off x="124761" y="1194437"/>
            <a:ext cx="1656502" cy="929840"/>
          </a:xfrm>
          <a:prstGeom prst="homePlate">
            <a:avLst>
              <a:gd name="adj" fmla="val 19456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US" b="1" kern="0" dirty="0">
                <a:solidFill>
                  <a:srgbClr val="FFFFFF"/>
                </a:solidFill>
                <a:latin typeface="+mn-lt"/>
              </a:rPr>
              <a:t>Purpose</a:t>
            </a:r>
            <a:r>
              <a:rPr lang="es-ES" b="1" kern="0" dirty="0">
                <a:solidFill>
                  <a:srgbClr val="FFFFFF"/>
                </a:solidFill>
                <a:latin typeface="+mn-lt"/>
              </a:rPr>
              <a:t> of </a:t>
            </a:r>
            <a:r>
              <a:rPr lang="es-ES" b="1" kern="0" dirty="0" err="1">
                <a:solidFill>
                  <a:srgbClr val="FFFFFF"/>
                </a:solidFill>
                <a:latin typeface="+mn-lt"/>
              </a:rPr>
              <a:t>the</a:t>
            </a:r>
            <a:r>
              <a:rPr lang="es-ES" b="1" kern="0" dirty="0">
                <a:solidFill>
                  <a:srgbClr val="FFFFFF"/>
                </a:solidFill>
                <a:latin typeface="+mn-lt"/>
              </a:rPr>
              <a:t> </a:t>
            </a:r>
            <a:r>
              <a:rPr lang="es-ES" b="1" kern="0" dirty="0" err="1">
                <a:solidFill>
                  <a:srgbClr val="FFFFFF"/>
                </a:solidFill>
                <a:latin typeface="+mn-lt"/>
              </a:rPr>
              <a:t>Phase</a:t>
            </a:r>
            <a:endParaRPr lang="en-US" b="1" kern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690807" y="2720865"/>
            <a:ext cx="2556000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800" b="1" i="1" dirty="0">
                <a:solidFill>
                  <a:srgbClr val="002569"/>
                </a:solidFill>
              </a:rPr>
              <a:t>Facts &amp; Outcomes…</a:t>
            </a:r>
            <a:endParaRPr kumimoji="0" lang="en-US" sz="18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pic>
        <p:nvPicPr>
          <p:cNvPr id="31" name="Picture 30" descr="http://1.bp.blogspot.com/-hx_0UWk0cxc/Um-Rikfc1nI/AAAAAAAACV4/HaREGML_4V4/s1600/Consejo+de+administracion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2"/>
          <a:stretch/>
        </p:blipFill>
        <p:spPr bwMode="auto">
          <a:xfrm>
            <a:off x="7797472" y="4928689"/>
            <a:ext cx="2021120" cy="155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97877" y="3259302"/>
            <a:ext cx="363463" cy="344706"/>
            <a:chOff x="-1173707" y="1788188"/>
            <a:chExt cx="363463" cy="344706"/>
          </a:xfrm>
        </p:grpSpPr>
        <p:sp>
          <p:nvSpPr>
            <p:cNvPr id="3" name="Oval 2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12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748868" y="4066011"/>
            <a:ext cx="8272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A </a:t>
            </a:r>
            <a:r>
              <a:rPr lang="en-US" sz="1400" b="1" dirty="0">
                <a:solidFill>
                  <a:srgbClr val="002569"/>
                </a:solidFill>
              </a:rPr>
              <a:t>two years Work Plan to implement </a:t>
            </a:r>
            <a:r>
              <a:rPr lang="en-US" sz="1400" dirty="0">
                <a:solidFill>
                  <a:srgbClr val="002569"/>
                </a:solidFill>
              </a:rPr>
              <a:t>the target </a:t>
            </a:r>
            <a:r>
              <a:rPr lang="en-US" sz="1400" b="1" dirty="0">
                <a:solidFill>
                  <a:srgbClr val="002569"/>
                </a:solidFill>
              </a:rPr>
              <a:t>Business Continuity Plan Model</a:t>
            </a:r>
            <a:r>
              <a:rPr lang="en-US" sz="1400" dirty="0">
                <a:solidFill>
                  <a:srgbClr val="002569"/>
                </a:solidFill>
              </a:rPr>
              <a:t> has been designed as a result of the diagnostic assessment  of the SMNYL’s BCP made by a group of specialists through </a:t>
            </a:r>
            <a:r>
              <a:rPr lang="en-US" sz="1400" b="1" dirty="0">
                <a:solidFill>
                  <a:srgbClr val="002569"/>
                </a:solidFill>
              </a:rPr>
              <a:t>Work Shops with SMNYL employees</a:t>
            </a:r>
            <a:r>
              <a:rPr lang="en-US" sz="1400" dirty="0">
                <a:solidFill>
                  <a:srgbClr val="002569"/>
                </a:solidFill>
              </a:rPr>
              <a:t> 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7878" y="5160012"/>
            <a:ext cx="6980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Key tactical </a:t>
            </a:r>
            <a:r>
              <a:rPr lang="en-US" sz="1400" b="1" dirty="0">
                <a:solidFill>
                  <a:srgbClr val="002569"/>
                </a:solidFill>
              </a:rPr>
              <a:t>Operational Risk </a:t>
            </a:r>
            <a:r>
              <a:rPr lang="en-US" sz="1400" dirty="0">
                <a:solidFill>
                  <a:srgbClr val="002569"/>
                </a:solidFill>
              </a:rPr>
              <a:t>and </a:t>
            </a:r>
            <a:r>
              <a:rPr lang="en-US" sz="1400" b="1" dirty="0">
                <a:solidFill>
                  <a:srgbClr val="002569"/>
                </a:solidFill>
              </a:rPr>
              <a:t>Controls </a:t>
            </a:r>
            <a:r>
              <a:rPr lang="en-US" sz="1400" dirty="0">
                <a:solidFill>
                  <a:srgbClr val="002569"/>
                </a:solidFill>
              </a:rPr>
              <a:t>and key </a:t>
            </a:r>
            <a:r>
              <a:rPr lang="en-US" sz="1400" b="1" dirty="0">
                <a:solidFill>
                  <a:srgbClr val="002569"/>
                </a:solidFill>
              </a:rPr>
              <a:t>Business Continuity Risks </a:t>
            </a:r>
            <a:r>
              <a:rPr lang="en-US" sz="1400" dirty="0">
                <a:solidFill>
                  <a:srgbClr val="002569"/>
                </a:solidFill>
              </a:rPr>
              <a:t>have identified and documented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78" y="3259302"/>
            <a:ext cx="8473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The </a:t>
            </a:r>
            <a:r>
              <a:rPr lang="en-US" sz="1400" b="1" dirty="0">
                <a:solidFill>
                  <a:srgbClr val="002569"/>
                </a:solidFill>
              </a:rPr>
              <a:t>Value Chain</a:t>
            </a:r>
            <a:r>
              <a:rPr lang="en-US" sz="1400" dirty="0">
                <a:solidFill>
                  <a:srgbClr val="002569"/>
                </a:solidFill>
              </a:rPr>
              <a:t>, based on a end-to-end process approach has been defined, after </a:t>
            </a:r>
            <a:r>
              <a:rPr lang="en-US" sz="1400" b="1" dirty="0">
                <a:solidFill>
                  <a:srgbClr val="002569"/>
                </a:solidFill>
              </a:rPr>
              <a:t>interviewing 85 employees and 70 meetings </a:t>
            </a:r>
            <a:r>
              <a:rPr lang="en-US" sz="1400" dirty="0">
                <a:solidFill>
                  <a:srgbClr val="002569"/>
                </a:solidFill>
              </a:rPr>
              <a:t>(assessment and validation)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97877" y="4095370"/>
            <a:ext cx="363463" cy="344706"/>
            <a:chOff x="-1173707" y="1788188"/>
            <a:chExt cx="363463" cy="344706"/>
          </a:xfrm>
        </p:grpSpPr>
        <p:sp>
          <p:nvSpPr>
            <p:cNvPr id="24" name="Oval 23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5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/>
          <p:cNvGrpSpPr/>
          <p:nvPr/>
        </p:nvGrpSpPr>
        <p:grpSpPr>
          <a:xfrm>
            <a:off x="297877" y="5170847"/>
            <a:ext cx="363463" cy="344706"/>
            <a:chOff x="-1173707" y="1788188"/>
            <a:chExt cx="363463" cy="344706"/>
          </a:xfrm>
        </p:grpSpPr>
        <p:sp>
          <p:nvSpPr>
            <p:cNvPr id="27" name="Oval 26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8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Imagen 18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496172" y="3558463"/>
            <a:ext cx="165833" cy="165833"/>
          </a:xfrm>
          <a:prstGeom prst="rect">
            <a:avLst/>
          </a:prstGeom>
          <a:noFill/>
        </p:spPr>
      </p:pic>
      <p:pic>
        <p:nvPicPr>
          <p:cNvPr id="34" name="Imagen 18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528358" y="4577890"/>
            <a:ext cx="165833" cy="165833"/>
          </a:xfrm>
          <a:prstGeom prst="rect">
            <a:avLst/>
          </a:prstGeom>
          <a:noFill/>
        </p:spPr>
      </p:pic>
      <p:pic>
        <p:nvPicPr>
          <p:cNvPr id="35" name="Imagen 18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368677" y="5463106"/>
            <a:ext cx="165833" cy="1658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844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38754" y="1949316"/>
            <a:ext cx="6982354" cy="4049713"/>
          </a:xfrm>
        </p:spPr>
        <p:txBody>
          <a:bodyPr/>
          <a:lstStyle/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tx2"/>
                </a:solidFill>
              </a:rPr>
              <a:t>	</a:t>
            </a:r>
            <a:r>
              <a:rPr lang="en-US" sz="2000" b="1" dirty="0">
                <a:solidFill>
                  <a:schemeClr val="folHlink"/>
                </a:solidFill>
              </a:rPr>
              <a:t>Purpose &amp; Outcomes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</a:t>
            </a:r>
            <a:r>
              <a:rPr lang="en-US" sz="2000" b="1" dirty="0">
                <a:solidFill>
                  <a:schemeClr val="tx2"/>
                </a:solidFill>
              </a:rPr>
              <a:t>Findings and Analysis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Next Steps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    </a:t>
            </a:r>
          </a:p>
          <a:p>
            <a:pPr marL="266700" indent="-266700" eaLnBrk="1" hangingPunct="1">
              <a:buFontTx/>
              <a:buNone/>
            </a:pPr>
            <a:endParaRPr lang="en-US" sz="2000" b="1" dirty="0">
              <a:solidFill>
                <a:schemeClr val="folHlink"/>
              </a:solidFill>
            </a:endParaRP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gray">
          <a:xfrm>
            <a:off x="144620" y="942773"/>
            <a:ext cx="903406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sz="2800" dirty="0">
                <a:solidFill>
                  <a:schemeClr val="tx2"/>
                </a:solidFill>
              </a:rPr>
              <a:t>Contents</a:t>
            </a:r>
          </a:p>
        </p:txBody>
      </p:sp>
      <p:pic>
        <p:nvPicPr>
          <p:cNvPr id="92162" name="Picture 2" descr="http://www.contentwritingjaipur.com/wp-content/uploads/2014/03/contentwritingjaipurblo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53" y="4325588"/>
            <a:ext cx="2862509" cy="178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58813" y="2371904"/>
            <a:ext cx="6858000" cy="438150"/>
          </a:xfrm>
          <a:prstGeom prst="rect">
            <a:avLst/>
          </a:prstGeom>
          <a:noFill/>
          <a:ln w="3175">
            <a:solidFill>
              <a:srgbClr val="00256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434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Resultado de imagen para impro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AutoShape 4" descr="Resultado de imagen para improv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Rounded Rectangle 2"/>
          <p:cNvSpPr/>
          <p:nvPr/>
        </p:nvSpPr>
        <p:spPr bwMode="auto">
          <a:xfrm>
            <a:off x="277920" y="2797306"/>
            <a:ext cx="4409985" cy="3690000"/>
          </a:xfrm>
          <a:prstGeom prst="roundRect">
            <a:avLst>
              <a:gd name="adj" fmla="val 5489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5236309" y="2797306"/>
            <a:ext cx="4409985" cy="3690000"/>
          </a:xfrm>
          <a:prstGeom prst="roundRect">
            <a:avLst>
              <a:gd name="adj" fmla="val 5489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Findings and Analysis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607951" y="2520410"/>
            <a:ext cx="3790725" cy="55379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b="1" dirty="0">
                <a:solidFill>
                  <a:srgbClr val="002569"/>
                </a:solidFill>
                <a:latin typeface="TheSansCorrespondence"/>
              </a:rPr>
              <a:t>Process Execution </a:t>
            </a:r>
          </a:p>
          <a:p>
            <a:r>
              <a:rPr lang="en-US" b="1" dirty="0">
                <a:solidFill>
                  <a:srgbClr val="002569"/>
                </a:solidFill>
                <a:latin typeface="TheSansCorrespondence"/>
              </a:rPr>
              <a:t>&amp; Operational Risk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5551301" y="2520410"/>
            <a:ext cx="3790725" cy="55379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b="1" dirty="0">
                <a:solidFill>
                  <a:srgbClr val="002569"/>
                </a:solidFill>
                <a:latin typeface="TheSansCorrespondence"/>
              </a:rPr>
              <a:t>Business </a:t>
            </a:r>
          </a:p>
          <a:p>
            <a:r>
              <a:rPr lang="en-US" b="1" dirty="0">
                <a:solidFill>
                  <a:srgbClr val="002569"/>
                </a:solidFill>
                <a:latin typeface="TheSansCorrespondence"/>
              </a:rPr>
              <a:t>Continuity Plans</a:t>
            </a:r>
          </a:p>
        </p:txBody>
      </p:sp>
      <p:sp>
        <p:nvSpPr>
          <p:cNvPr id="16" name="Pentagon 15"/>
          <p:cNvSpPr/>
          <p:nvPr/>
        </p:nvSpPr>
        <p:spPr>
          <a:xfrm>
            <a:off x="123824" y="1242661"/>
            <a:ext cx="1822152" cy="845309"/>
          </a:xfrm>
          <a:prstGeom prst="homePlate">
            <a:avLst>
              <a:gd name="adj" fmla="val 17922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TheSansCorrespondence"/>
              </a:rPr>
              <a:t>Findings and Analysis</a:t>
            </a:r>
          </a:p>
        </p:txBody>
      </p:sp>
      <p:pic>
        <p:nvPicPr>
          <p:cNvPr id="97284" name="Picture 4" descr="C:\Users\antonio.desmonts.sa1\Desktop\image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61"/>
          <a:stretch/>
        </p:blipFill>
        <p:spPr bwMode="auto">
          <a:xfrm>
            <a:off x="8556629" y="981718"/>
            <a:ext cx="1251387" cy="148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399240" y="3132035"/>
            <a:ext cx="4243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sz="1200" dirty="0">
                <a:solidFill>
                  <a:srgbClr val="002569"/>
                </a:solidFill>
              </a:rPr>
              <a:t>Some users have documented their </a:t>
            </a:r>
            <a:r>
              <a:rPr lang="en-US" sz="1200" b="1" dirty="0">
                <a:solidFill>
                  <a:srgbClr val="002569"/>
                </a:solidFill>
              </a:rPr>
              <a:t>procedures and politics</a:t>
            </a:r>
            <a:r>
              <a:rPr lang="en-US" sz="1200" dirty="0">
                <a:solidFill>
                  <a:srgbClr val="002569"/>
                </a:solidFill>
              </a:rPr>
              <a:t>, </a:t>
            </a:r>
            <a:r>
              <a:rPr lang="en-US" sz="1200" b="1" dirty="0">
                <a:solidFill>
                  <a:srgbClr val="002569"/>
                </a:solidFill>
              </a:rPr>
              <a:t>but these documents do not follow a standard </a:t>
            </a:r>
            <a:r>
              <a:rPr lang="en-US" sz="1200" dirty="0">
                <a:solidFill>
                  <a:srgbClr val="002569"/>
                </a:solidFill>
              </a:rPr>
              <a:t>and are developed under the previous work-approach</a:t>
            </a:r>
            <a:endParaRPr lang="en-US" altLang="es-ES" sz="1200" i="1" dirty="0">
              <a:solidFill>
                <a:srgbClr val="FF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52627" y="3133991"/>
            <a:ext cx="284881" cy="284881"/>
            <a:chOff x="-1287887" y="3667586"/>
            <a:chExt cx="284881" cy="284881"/>
          </a:xfrm>
        </p:grpSpPr>
        <p:sp>
          <p:nvSpPr>
            <p:cNvPr id="7" name="Rectangle 6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1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oup 28"/>
          <p:cNvGrpSpPr/>
          <p:nvPr/>
        </p:nvGrpSpPr>
        <p:grpSpPr>
          <a:xfrm>
            <a:off x="152627" y="3862339"/>
            <a:ext cx="284881" cy="284881"/>
            <a:chOff x="-1287887" y="3667586"/>
            <a:chExt cx="284881" cy="284881"/>
          </a:xfrm>
        </p:grpSpPr>
        <p:sp>
          <p:nvSpPr>
            <p:cNvPr id="30" name="Rectangle 29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31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extBox 33"/>
          <p:cNvSpPr txBox="1"/>
          <p:nvPr/>
        </p:nvSpPr>
        <p:spPr>
          <a:xfrm>
            <a:off x="399240" y="5813582"/>
            <a:ext cx="4243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sz="1200" dirty="0">
                <a:solidFill>
                  <a:srgbClr val="002569"/>
                </a:solidFill>
              </a:rPr>
              <a:t>The is an opportunity</a:t>
            </a:r>
            <a:r>
              <a:rPr lang="en-US" sz="1200" b="1" dirty="0">
                <a:solidFill>
                  <a:srgbClr val="002569"/>
                </a:solidFill>
              </a:rPr>
              <a:t> to carry out Transformation</a:t>
            </a:r>
            <a:r>
              <a:rPr lang="en-US" sz="1200" dirty="0">
                <a:solidFill>
                  <a:srgbClr val="002569"/>
                </a:solidFill>
              </a:rPr>
              <a:t> </a:t>
            </a:r>
            <a:r>
              <a:rPr lang="en-US" sz="1200" b="1" dirty="0">
                <a:solidFill>
                  <a:srgbClr val="002569"/>
                </a:solidFill>
              </a:rPr>
              <a:t>Plans</a:t>
            </a:r>
            <a:r>
              <a:rPr lang="en-US" sz="1200" dirty="0">
                <a:solidFill>
                  <a:srgbClr val="002569"/>
                </a:solidFill>
              </a:rPr>
              <a:t> to mitigate certain weaknesses from the </a:t>
            </a:r>
            <a:r>
              <a:rPr lang="en-US" sz="1200" b="1" dirty="0">
                <a:solidFill>
                  <a:srgbClr val="002569"/>
                </a:solidFill>
              </a:rPr>
              <a:t>organizational</a:t>
            </a:r>
            <a:r>
              <a:rPr lang="en-US" sz="1200" dirty="0">
                <a:solidFill>
                  <a:srgbClr val="002569"/>
                </a:solidFill>
              </a:rPr>
              <a:t>, </a:t>
            </a:r>
            <a:r>
              <a:rPr lang="en-US" sz="1200" b="1" dirty="0">
                <a:solidFill>
                  <a:srgbClr val="002569"/>
                </a:solidFill>
              </a:rPr>
              <a:t>efficiency </a:t>
            </a:r>
            <a:r>
              <a:rPr lang="en-US" sz="1200" dirty="0">
                <a:solidFill>
                  <a:srgbClr val="002569"/>
                </a:solidFill>
              </a:rPr>
              <a:t>and </a:t>
            </a:r>
            <a:r>
              <a:rPr lang="en-US" sz="1200" b="1" dirty="0">
                <a:solidFill>
                  <a:srgbClr val="002569"/>
                </a:solidFill>
              </a:rPr>
              <a:t>technological standpoint</a:t>
            </a:r>
            <a:endParaRPr lang="en-US" altLang="es-ES" sz="1200" b="1" i="1" dirty="0">
              <a:solidFill>
                <a:srgbClr val="FF0000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52627" y="5808790"/>
            <a:ext cx="284881" cy="284881"/>
            <a:chOff x="-1287887" y="3667586"/>
            <a:chExt cx="284881" cy="284881"/>
          </a:xfrm>
        </p:grpSpPr>
        <p:sp>
          <p:nvSpPr>
            <p:cNvPr id="36" name="Rectangle 35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37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8" name="Imagen 18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475899" y="6242033"/>
            <a:ext cx="182416" cy="182416"/>
          </a:xfrm>
          <a:prstGeom prst="rect">
            <a:avLst/>
          </a:prstGeom>
          <a:noFill/>
        </p:spPr>
      </p:pic>
      <p:sp>
        <p:nvSpPr>
          <p:cNvPr id="39" name="TextBox 38"/>
          <p:cNvSpPr txBox="1"/>
          <p:nvPr/>
        </p:nvSpPr>
        <p:spPr>
          <a:xfrm>
            <a:off x="399240" y="3817020"/>
            <a:ext cx="4243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altLang="es-ES" sz="1200" dirty="0">
                <a:solidFill>
                  <a:srgbClr val="002569"/>
                </a:solidFill>
              </a:rPr>
              <a:t>There are some functions, as </a:t>
            </a:r>
            <a:r>
              <a:rPr lang="en-US" altLang="es-ES" sz="1200" b="1" dirty="0">
                <a:solidFill>
                  <a:srgbClr val="002569"/>
                </a:solidFill>
              </a:rPr>
              <a:t>Quality areas</a:t>
            </a:r>
            <a:r>
              <a:rPr lang="en-US" altLang="es-ES" sz="1200" dirty="0">
                <a:solidFill>
                  <a:srgbClr val="002569"/>
                </a:solidFill>
              </a:rPr>
              <a:t>, that has permitted to </a:t>
            </a:r>
            <a:r>
              <a:rPr lang="en-US" altLang="es-ES" sz="1200" b="1" dirty="0">
                <a:solidFill>
                  <a:srgbClr val="002569"/>
                </a:solidFill>
              </a:rPr>
              <a:t>implement controls to mitigate risks</a:t>
            </a:r>
            <a:r>
              <a:rPr lang="en-US" altLang="es-ES" sz="1200" dirty="0">
                <a:solidFill>
                  <a:srgbClr val="002569"/>
                </a:solidFill>
              </a:rPr>
              <a:t>..  Nonetheless </a:t>
            </a:r>
            <a:r>
              <a:rPr lang="en-US" altLang="es-ES" sz="1200" b="1" dirty="0">
                <a:solidFill>
                  <a:srgbClr val="002569"/>
                </a:solidFill>
              </a:rPr>
              <a:t>not all risks and controls are documented and not all risks have been detected</a:t>
            </a:r>
            <a:endParaRPr lang="en-US" altLang="es-ES" sz="1200" dirty="0">
              <a:solidFill>
                <a:srgbClr val="002569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52627" y="4687003"/>
            <a:ext cx="284881" cy="284881"/>
            <a:chOff x="-1287887" y="3667586"/>
            <a:chExt cx="284881" cy="284881"/>
          </a:xfrm>
        </p:grpSpPr>
        <p:sp>
          <p:nvSpPr>
            <p:cNvPr id="45" name="Rectangle 44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46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TextBox 46"/>
          <p:cNvSpPr txBox="1"/>
          <p:nvPr/>
        </p:nvSpPr>
        <p:spPr>
          <a:xfrm>
            <a:off x="399240" y="5185767"/>
            <a:ext cx="4243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altLang="es-ES" sz="1200" dirty="0">
                <a:solidFill>
                  <a:srgbClr val="002569"/>
                </a:solidFill>
              </a:rPr>
              <a:t>It is </a:t>
            </a:r>
            <a:r>
              <a:rPr lang="en-US" altLang="es-ES" sz="1200" b="1" dirty="0">
                <a:solidFill>
                  <a:srgbClr val="002569"/>
                </a:solidFill>
              </a:rPr>
              <a:t>necessary to review </a:t>
            </a:r>
            <a:r>
              <a:rPr lang="en-US" altLang="es-ES" sz="1200" dirty="0">
                <a:solidFill>
                  <a:srgbClr val="002569"/>
                </a:solidFill>
              </a:rPr>
              <a:t>the </a:t>
            </a:r>
            <a:r>
              <a:rPr lang="en-US" altLang="es-ES" sz="1200" b="1" dirty="0">
                <a:solidFill>
                  <a:srgbClr val="002569"/>
                </a:solidFill>
              </a:rPr>
              <a:t>current Operational Risk Management </a:t>
            </a:r>
            <a:r>
              <a:rPr lang="en-US" altLang="es-ES" sz="1200" dirty="0">
                <a:solidFill>
                  <a:srgbClr val="002569"/>
                </a:solidFill>
              </a:rPr>
              <a:t>(ORM) Model </a:t>
            </a:r>
            <a:r>
              <a:rPr lang="en-US" altLang="es-ES" sz="1200" b="1" dirty="0">
                <a:solidFill>
                  <a:srgbClr val="002569"/>
                </a:solidFill>
              </a:rPr>
              <a:t>to align it to the new process approach</a:t>
            </a:r>
            <a:endParaRPr lang="en-US" altLang="es-ES" sz="1200" dirty="0">
              <a:solidFill>
                <a:srgbClr val="002569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52627" y="5196161"/>
            <a:ext cx="284881" cy="284881"/>
            <a:chOff x="-1287887" y="3667586"/>
            <a:chExt cx="284881" cy="284881"/>
          </a:xfrm>
        </p:grpSpPr>
        <p:sp>
          <p:nvSpPr>
            <p:cNvPr id="49" name="Rectangle 48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50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oup 50"/>
          <p:cNvGrpSpPr/>
          <p:nvPr/>
        </p:nvGrpSpPr>
        <p:grpSpPr>
          <a:xfrm>
            <a:off x="5093496" y="3215661"/>
            <a:ext cx="284881" cy="284881"/>
            <a:chOff x="-1287887" y="3667586"/>
            <a:chExt cx="284881" cy="284881"/>
          </a:xfrm>
        </p:grpSpPr>
        <p:sp>
          <p:nvSpPr>
            <p:cNvPr id="52" name="Rectangle 51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53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/>
          <p:cNvGrpSpPr/>
          <p:nvPr/>
        </p:nvGrpSpPr>
        <p:grpSpPr>
          <a:xfrm>
            <a:off x="5093496" y="4162127"/>
            <a:ext cx="284881" cy="284881"/>
            <a:chOff x="-1287887" y="3667586"/>
            <a:chExt cx="284881" cy="284881"/>
          </a:xfrm>
        </p:grpSpPr>
        <p:sp>
          <p:nvSpPr>
            <p:cNvPr id="55" name="Rectangle 54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56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7" name="Group 56"/>
          <p:cNvGrpSpPr/>
          <p:nvPr/>
        </p:nvGrpSpPr>
        <p:grpSpPr>
          <a:xfrm>
            <a:off x="5093496" y="5665643"/>
            <a:ext cx="284881" cy="284881"/>
            <a:chOff x="-1287887" y="3667586"/>
            <a:chExt cx="284881" cy="284881"/>
          </a:xfrm>
        </p:grpSpPr>
        <p:sp>
          <p:nvSpPr>
            <p:cNvPr id="58" name="Rectangle 57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59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Group 62"/>
          <p:cNvGrpSpPr/>
          <p:nvPr/>
        </p:nvGrpSpPr>
        <p:grpSpPr>
          <a:xfrm>
            <a:off x="5093496" y="5021295"/>
            <a:ext cx="284881" cy="284881"/>
            <a:chOff x="-1287887" y="3667586"/>
            <a:chExt cx="284881" cy="284881"/>
          </a:xfrm>
        </p:grpSpPr>
        <p:sp>
          <p:nvSpPr>
            <p:cNvPr id="64" name="Rectangle 63"/>
            <p:cNvSpPr/>
            <p:nvPr/>
          </p:nvSpPr>
          <p:spPr bwMode="auto">
            <a:xfrm>
              <a:off x="-1276179" y="3702901"/>
              <a:ext cx="234161" cy="21425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65" name="Picture 9" descr="C:\Users\luis.rubio.estop\Google Drive\Desktop\Iconos_corporativos_azules\BBVA-iconLib-v2\G - Elementos de Navegacion\G17 - Control\icn_t-iconLib_G17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887" y="3667586"/>
              <a:ext cx="284881" cy="28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6" name="Text Box 23"/>
          <p:cNvSpPr txBox="1">
            <a:spLocks noChangeArrowheads="1"/>
          </p:cNvSpPr>
          <p:nvPr/>
        </p:nvSpPr>
        <p:spPr bwMode="blackWhite">
          <a:xfrm>
            <a:off x="2006221" y="1205987"/>
            <a:ext cx="6550408" cy="85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altLang="es-ES" dirty="0">
                <a:solidFill>
                  <a:srgbClr val="002569"/>
                </a:solidFill>
              </a:rPr>
              <a:t>As a result of meetings maintained with users, </a:t>
            </a:r>
            <a:r>
              <a:rPr lang="en-US" altLang="es-ES" b="1" dirty="0">
                <a:solidFill>
                  <a:srgbClr val="002569"/>
                </a:solidFill>
              </a:rPr>
              <a:t>we have obtained a number of conclusions </a:t>
            </a:r>
            <a:r>
              <a:rPr lang="en-US" altLang="es-ES" dirty="0">
                <a:solidFill>
                  <a:srgbClr val="002569"/>
                </a:solidFill>
              </a:rPr>
              <a:t>regarding the </a:t>
            </a:r>
            <a:r>
              <a:rPr lang="en-US" altLang="es-ES" b="1" dirty="0">
                <a:solidFill>
                  <a:srgbClr val="002569"/>
                </a:solidFill>
              </a:rPr>
              <a:t>process execution </a:t>
            </a:r>
            <a:r>
              <a:rPr lang="en-US" altLang="es-ES" dirty="0">
                <a:solidFill>
                  <a:srgbClr val="002569"/>
                </a:solidFill>
              </a:rPr>
              <a:t>and current </a:t>
            </a:r>
            <a:r>
              <a:rPr lang="en-US" altLang="es-ES" b="1" dirty="0">
                <a:solidFill>
                  <a:srgbClr val="002569"/>
                </a:solidFill>
              </a:rPr>
              <a:t>Business Continuity Plans</a:t>
            </a:r>
            <a:r>
              <a:rPr lang="en-US" altLang="es-ES" dirty="0">
                <a:solidFill>
                  <a:srgbClr val="002569"/>
                </a:solidFill>
              </a:rPr>
              <a:t>, that are summarize below…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22001" y="3210865"/>
            <a:ext cx="43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sz="1200" dirty="0">
                <a:solidFill>
                  <a:srgbClr val="002569"/>
                </a:solidFill>
              </a:rPr>
              <a:t>Many </a:t>
            </a:r>
            <a:r>
              <a:rPr lang="en-US" sz="1200" b="1" dirty="0">
                <a:solidFill>
                  <a:srgbClr val="002569"/>
                </a:solidFill>
              </a:rPr>
              <a:t>areas </a:t>
            </a:r>
            <a:r>
              <a:rPr lang="en-US" sz="1200" dirty="0">
                <a:solidFill>
                  <a:srgbClr val="002569"/>
                </a:solidFill>
              </a:rPr>
              <a:t>have </a:t>
            </a:r>
            <a:r>
              <a:rPr lang="en-US" sz="1200" b="1" dirty="0">
                <a:solidFill>
                  <a:srgbClr val="002569"/>
                </a:solidFill>
              </a:rPr>
              <a:t>identified </a:t>
            </a:r>
            <a:r>
              <a:rPr lang="en-US" sz="1200" dirty="0">
                <a:solidFill>
                  <a:srgbClr val="002569"/>
                </a:solidFill>
              </a:rPr>
              <a:t>their </a:t>
            </a:r>
            <a:r>
              <a:rPr lang="en-US" sz="1200" b="1" dirty="0">
                <a:solidFill>
                  <a:srgbClr val="002569"/>
                </a:solidFill>
              </a:rPr>
              <a:t>critical Business</a:t>
            </a:r>
            <a:r>
              <a:rPr lang="en-US" sz="1200" dirty="0">
                <a:solidFill>
                  <a:srgbClr val="002569"/>
                </a:solidFill>
              </a:rPr>
              <a:t> </a:t>
            </a:r>
            <a:r>
              <a:rPr lang="en-US" sz="1200" b="1" dirty="0">
                <a:solidFill>
                  <a:srgbClr val="002569"/>
                </a:solidFill>
              </a:rPr>
              <a:t>Continuity processes</a:t>
            </a:r>
            <a:r>
              <a:rPr lang="en-US" sz="1200" dirty="0">
                <a:solidFill>
                  <a:srgbClr val="002569"/>
                </a:solidFill>
              </a:rPr>
              <a:t>. However, </a:t>
            </a:r>
            <a:r>
              <a:rPr lang="en-US" sz="1200" b="1" dirty="0">
                <a:solidFill>
                  <a:srgbClr val="002569"/>
                </a:solidFill>
              </a:rPr>
              <a:t>not all functions are defined</a:t>
            </a:r>
            <a:r>
              <a:rPr lang="en-US" sz="1200" dirty="0">
                <a:solidFill>
                  <a:srgbClr val="002569"/>
                </a:solidFill>
              </a:rPr>
              <a:t>, the majority of </a:t>
            </a:r>
            <a:r>
              <a:rPr lang="en-US" sz="1200" b="1" dirty="0">
                <a:solidFill>
                  <a:srgbClr val="002569"/>
                </a:solidFill>
              </a:rPr>
              <a:t>BCPs have never been challenged </a:t>
            </a:r>
            <a:r>
              <a:rPr lang="en-US" sz="1200" dirty="0">
                <a:solidFill>
                  <a:srgbClr val="002569"/>
                </a:solidFill>
              </a:rPr>
              <a:t>and </a:t>
            </a:r>
            <a:r>
              <a:rPr lang="en-US" sz="1200" b="1" dirty="0">
                <a:solidFill>
                  <a:srgbClr val="002569"/>
                </a:solidFill>
              </a:rPr>
              <a:t>are not standard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22001" y="4171396"/>
            <a:ext cx="439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2pPr marL="0" lvl="1" indent="0" algn="l">
              <a:defRPr sz="1200">
                <a:solidFill>
                  <a:srgbClr val="002569"/>
                </a:solidFill>
              </a:defRPr>
            </a:lvl2pPr>
          </a:lstStyle>
          <a:p>
            <a:pPr lvl="1"/>
            <a:r>
              <a:rPr lang="en-US" altLang="es-ES" b="1" dirty="0"/>
              <a:t>Critical risks and BCPs </a:t>
            </a:r>
            <a:r>
              <a:rPr lang="en-US" altLang="es-ES" dirty="0"/>
              <a:t>are defined </a:t>
            </a:r>
            <a:r>
              <a:rPr lang="en-US" altLang="es-ES" b="1" dirty="0"/>
              <a:t>considering the relevance of </a:t>
            </a:r>
            <a:r>
              <a:rPr lang="en-US" altLang="es-ES" dirty="0"/>
              <a:t>unavailability of </a:t>
            </a:r>
            <a:r>
              <a:rPr lang="en-US" altLang="es-ES" b="1" dirty="0"/>
              <a:t>systems</a:t>
            </a:r>
            <a:r>
              <a:rPr lang="en-US" altLang="es-ES" dirty="0"/>
              <a:t>. </a:t>
            </a:r>
            <a:r>
              <a:rPr lang="en-US" altLang="es-ES" b="1" dirty="0"/>
              <a:t>It’s necessary to include other dimensions </a:t>
            </a:r>
            <a:r>
              <a:rPr lang="en-US" altLang="es-ES" dirty="0"/>
              <a:t> (employees, suppliers, property)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9240" y="4676566"/>
            <a:ext cx="428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sz="1200" dirty="0">
                <a:solidFill>
                  <a:srgbClr val="002569"/>
                </a:solidFill>
              </a:rPr>
              <a:t>Processes are carried out by a </a:t>
            </a:r>
            <a:r>
              <a:rPr lang="en-US" sz="1200" b="1" dirty="0">
                <a:solidFill>
                  <a:srgbClr val="002569"/>
                </a:solidFill>
              </a:rPr>
              <a:t>large number of areas</a:t>
            </a:r>
            <a:r>
              <a:rPr lang="en-US" sz="1200" dirty="0">
                <a:solidFill>
                  <a:srgbClr val="002569"/>
                </a:solidFill>
              </a:rPr>
              <a:t>, what usually implies an </a:t>
            </a:r>
            <a:r>
              <a:rPr lang="en-US" sz="1200" b="1" dirty="0">
                <a:solidFill>
                  <a:srgbClr val="002569"/>
                </a:solidFill>
              </a:rPr>
              <a:t>increase on operational risk</a:t>
            </a:r>
            <a:endParaRPr lang="en-US" altLang="es-ES" sz="1200" i="1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322001" y="4998217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sz="1200" dirty="0">
                <a:solidFill>
                  <a:srgbClr val="002569"/>
                </a:solidFill>
              </a:rPr>
              <a:t>Need to </a:t>
            </a:r>
            <a:r>
              <a:rPr lang="en-US" sz="1200" b="1" dirty="0">
                <a:solidFill>
                  <a:srgbClr val="002569"/>
                </a:solidFill>
              </a:rPr>
              <a:t>establish a BCP proper Governance</a:t>
            </a:r>
            <a:r>
              <a:rPr lang="en-US" sz="1200" dirty="0">
                <a:solidFill>
                  <a:srgbClr val="002569"/>
                </a:solidFill>
              </a:rPr>
              <a:t>, </a:t>
            </a:r>
            <a:r>
              <a:rPr lang="en-US" sz="1200" b="1" dirty="0">
                <a:solidFill>
                  <a:srgbClr val="002569"/>
                </a:solidFill>
              </a:rPr>
              <a:t>identifying </a:t>
            </a:r>
            <a:r>
              <a:rPr lang="en-US" sz="1200" dirty="0">
                <a:solidFill>
                  <a:srgbClr val="002569"/>
                </a:solidFill>
              </a:rPr>
              <a:t>the components off each </a:t>
            </a:r>
            <a:r>
              <a:rPr lang="en-US" sz="1200" b="1" dirty="0">
                <a:solidFill>
                  <a:srgbClr val="002569"/>
                </a:solidFill>
              </a:rPr>
              <a:t>Line of  Defense </a:t>
            </a:r>
            <a:r>
              <a:rPr lang="en-US" sz="1200" dirty="0">
                <a:solidFill>
                  <a:srgbClr val="002569"/>
                </a:solidFill>
              </a:rPr>
              <a:t>(1</a:t>
            </a:r>
            <a:r>
              <a:rPr lang="en-US" sz="1200" baseline="30000" dirty="0">
                <a:solidFill>
                  <a:srgbClr val="002569"/>
                </a:solidFill>
              </a:rPr>
              <a:t>st</a:t>
            </a:r>
            <a:r>
              <a:rPr lang="en-US" sz="1200" dirty="0">
                <a:solidFill>
                  <a:srgbClr val="002569"/>
                </a:solidFill>
              </a:rPr>
              <a:t>, 2</a:t>
            </a:r>
            <a:r>
              <a:rPr lang="en-US" sz="1200" baseline="30000" dirty="0">
                <a:solidFill>
                  <a:srgbClr val="002569"/>
                </a:solidFill>
              </a:rPr>
              <a:t>nd</a:t>
            </a:r>
            <a:r>
              <a:rPr lang="en-US" sz="1200" dirty="0">
                <a:solidFill>
                  <a:srgbClr val="002569"/>
                </a:solidFill>
              </a:rPr>
              <a:t> &amp; 3</a:t>
            </a:r>
            <a:r>
              <a:rPr lang="en-US" sz="1200" baseline="30000" dirty="0">
                <a:solidFill>
                  <a:srgbClr val="002569"/>
                </a:solidFill>
              </a:rPr>
              <a:t>rd</a:t>
            </a:r>
            <a:r>
              <a:rPr lang="en-US" sz="1200" dirty="0">
                <a:solidFill>
                  <a:srgbClr val="002569"/>
                </a:solidFill>
              </a:rPr>
              <a:t>)</a:t>
            </a:r>
            <a:endParaRPr lang="en-US" altLang="es-ES" sz="1200" i="1" dirty="0">
              <a:solidFill>
                <a:srgbClr val="002569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22001" y="5670346"/>
            <a:ext cx="43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/>
            <a:r>
              <a:rPr lang="en-US" altLang="es-ES" sz="1200" b="1" dirty="0">
                <a:solidFill>
                  <a:srgbClr val="002569"/>
                </a:solidFill>
              </a:rPr>
              <a:t>Guidelines for crisis communication</a:t>
            </a:r>
            <a:r>
              <a:rPr lang="en-US" altLang="es-ES" sz="1200" dirty="0">
                <a:solidFill>
                  <a:srgbClr val="002569"/>
                </a:solidFill>
              </a:rPr>
              <a:t> as well as roles and responsibilities </a:t>
            </a:r>
            <a:r>
              <a:rPr lang="en-US" altLang="es-ES" sz="1200" b="1" dirty="0">
                <a:solidFill>
                  <a:srgbClr val="002569"/>
                </a:solidFill>
              </a:rPr>
              <a:t>need to be reviewed</a:t>
            </a:r>
            <a:r>
              <a:rPr lang="en-US" altLang="es-ES" sz="1200" dirty="0">
                <a:solidFill>
                  <a:srgbClr val="002569"/>
                </a:solidFill>
              </a:rPr>
              <a:t>, especially in communications to customers, suppliers &amp; authorities</a:t>
            </a:r>
          </a:p>
        </p:txBody>
      </p:sp>
    </p:spTree>
    <p:extLst>
      <p:ext uri="{BB962C8B-B14F-4D97-AF65-F5344CB8AC3E}">
        <p14:creationId xmlns:p14="http://schemas.microsoft.com/office/powerpoint/2010/main" val="175787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38754" y="1949316"/>
            <a:ext cx="6982354" cy="4049713"/>
          </a:xfrm>
        </p:spPr>
        <p:txBody>
          <a:bodyPr/>
          <a:lstStyle/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tx2"/>
                </a:solidFill>
              </a:rPr>
              <a:t>	</a:t>
            </a:r>
            <a:r>
              <a:rPr lang="en-US" sz="2000" b="1" dirty="0">
                <a:solidFill>
                  <a:schemeClr val="folHlink"/>
                </a:solidFill>
              </a:rPr>
              <a:t>Purpose &amp; Outcomes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Findings and Analysis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folHlink"/>
                </a:solidFill>
              </a:rPr>
              <a:t>	</a:t>
            </a:r>
            <a:r>
              <a:rPr lang="en-US" sz="2000" b="1" dirty="0">
                <a:solidFill>
                  <a:schemeClr val="tx2"/>
                </a:solidFill>
              </a:rPr>
              <a:t>Next Steps</a:t>
            </a:r>
          </a:p>
          <a:p>
            <a:pPr marL="266700" indent="-266700" eaLnBrk="1" hangingPunct="1">
              <a:buFontTx/>
              <a:buNone/>
            </a:pPr>
            <a:r>
              <a:rPr lang="en-US" sz="2000" b="1" dirty="0">
                <a:solidFill>
                  <a:schemeClr val="tx2"/>
                </a:solidFill>
              </a:rPr>
              <a:t>   </a:t>
            </a:r>
            <a:r>
              <a:rPr lang="en-US" sz="2000" b="1" dirty="0">
                <a:solidFill>
                  <a:schemeClr val="folHlink"/>
                </a:solidFill>
              </a:rPr>
              <a:t> </a:t>
            </a:r>
            <a:endParaRPr lang="en-US" sz="2000" b="1" dirty="0">
              <a:solidFill>
                <a:schemeClr val="tx2"/>
              </a:solidFill>
            </a:endParaRPr>
          </a:p>
          <a:p>
            <a:pPr marL="266700" indent="-266700" eaLnBrk="1" hangingPunct="1">
              <a:buFontTx/>
              <a:buNone/>
            </a:pPr>
            <a:endParaRPr lang="es-ES_tradnl" sz="2000" b="1" dirty="0">
              <a:solidFill>
                <a:schemeClr val="folHlink"/>
              </a:solidFill>
            </a:endParaRPr>
          </a:p>
          <a:p>
            <a:pPr marL="266700" indent="-266700" eaLnBrk="1" hangingPunct="1">
              <a:buFontTx/>
              <a:buNone/>
            </a:pPr>
            <a:r>
              <a:rPr lang="es-ES_tradnl" sz="2000" b="1" dirty="0">
                <a:solidFill>
                  <a:schemeClr val="folHlink"/>
                </a:solidFill>
              </a:rPr>
              <a:t>	</a:t>
            </a:r>
          </a:p>
        </p:txBody>
      </p:sp>
      <p:pic>
        <p:nvPicPr>
          <p:cNvPr id="92162" name="Picture 2" descr="http://www.contentwritingjaipur.com/wp-content/uploads/2014/03/contentwritingjaipurblo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53" y="4325588"/>
            <a:ext cx="2862509" cy="178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58813" y="2849584"/>
            <a:ext cx="6858000" cy="438150"/>
          </a:xfrm>
          <a:prstGeom prst="rect">
            <a:avLst/>
          </a:prstGeom>
          <a:noFill/>
          <a:ln w="3175">
            <a:solidFill>
              <a:srgbClr val="00256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gray">
          <a:xfrm>
            <a:off x="144620" y="942773"/>
            <a:ext cx="903406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sz="2800" dirty="0">
                <a:solidFill>
                  <a:schemeClr val="tx2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80160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417158" y="2039452"/>
            <a:ext cx="9177219" cy="974532"/>
          </a:xfrm>
          <a:prstGeom prst="rect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" name="AutoShape 2" descr="Resultado de imagen para diseñ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4" descr="Resultado de imagen para diseña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5" name="TextBox 4"/>
          <p:cNvSpPr txBox="1"/>
          <p:nvPr/>
        </p:nvSpPr>
        <p:spPr>
          <a:xfrm>
            <a:off x="1472682" y="2113923"/>
            <a:ext cx="2693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002569"/>
                </a:solidFill>
              </a:rPr>
              <a:t>Review and Execution of the Operational Risk Management Framework</a:t>
            </a:r>
            <a:endParaRPr lang="en-US" sz="1400" b="1" i="1" dirty="0">
              <a:solidFill>
                <a:schemeClr val="accent1">
                  <a:lumMod val="9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422855" y="3147973"/>
            <a:ext cx="9177219" cy="974532"/>
          </a:xfrm>
          <a:prstGeom prst="rect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72682" y="3218362"/>
            <a:ext cx="2448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002569"/>
                </a:solidFill>
              </a:rPr>
              <a:t>Strengthening of current Business Continuity Plan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22855" y="4258515"/>
            <a:ext cx="9177219" cy="974532"/>
          </a:xfrm>
          <a:prstGeom prst="rect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72682" y="4356200"/>
            <a:ext cx="2594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002569"/>
                </a:solidFill>
              </a:rPr>
              <a:t>Integration of Developed Frameworks in BAU </a:t>
            </a:r>
            <a:r>
              <a:rPr lang="en-US" i="1" dirty="0">
                <a:solidFill>
                  <a:srgbClr val="002569"/>
                </a:solidFill>
              </a:rPr>
              <a:t>(Business As Usual)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007" y="1027953"/>
            <a:ext cx="6596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002569"/>
                </a:solidFill>
              </a:rPr>
              <a:t>Based on the conclusions obtained, </a:t>
            </a:r>
            <a:r>
              <a:rPr lang="en-US" b="1" dirty="0">
                <a:solidFill>
                  <a:srgbClr val="002569"/>
                </a:solidFill>
              </a:rPr>
              <a:t>it has been identified three </a:t>
            </a:r>
          </a:p>
          <a:p>
            <a:pPr algn="l"/>
            <a:r>
              <a:rPr lang="en-US" b="1" dirty="0">
                <a:solidFill>
                  <a:srgbClr val="002569"/>
                </a:solidFill>
              </a:rPr>
              <a:t>Work Streams </a:t>
            </a:r>
            <a:r>
              <a:rPr lang="en-US" dirty="0">
                <a:solidFill>
                  <a:srgbClr val="002569"/>
                </a:solidFill>
              </a:rPr>
              <a:t>that will lead SMNYL to obtain a helpful Operational Risk Framework and a reliable Business Continuity Model…</a:t>
            </a:r>
          </a:p>
        </p:txBody>
      </p:sp>
      <p:sp>
        <p:nvSpPr>
          <p:cNvPr id="30" name="Rectangle 29">
            <a:hlinkClick r:id="rId2" action="ppaction://hlinksldjump"/>
          </p:cNvPr>
          <p:cNvSpPr/>
          <p:nvPr/>
        </p:nvSpPr>
        <p:spPr bwMode="auto">
          <a:xfrm>
            <a:off x="506139" y="2137137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31" name="Rectangle 30">
            <a:hlinkClick r:id="rId3" action="ppaction://hlinksldjump"/>
          </p:cNvPr>
          <p:cNvSpPr/>
          <p:nvPr/>
        </p:nvSpPr>
        <p:spPr bwMode="auto">
          <a:xfrm>
            <a:off x="506139" y="3237056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32" name="Rectangle 31">
            <a:hlinkClick r:id="rId4" action="ppaction://hlinksldjump"/>
          </p:cNvPr>
          <p:cNvSpPr/>
          <p:nvPr/>
        </p:nvSpPr>
        <p:spPr bwMode="auto">
          <a:xfrm>
            <a:off x="506139" y="4351349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3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4067032" y="2137136"/>
            <a:ext cx="0" cy="792000"/>
          </a:xfrm>
          <a:prstGeom prst="line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4067032" y="3239757"/>
            <a:ext cx="0" cy="792000"/>
          </a:xfrm>
          <a:prstGeom prst="line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4094328" y="4353748"/>
            <a:ext cx="0" cy="792000"/>
          </a:xfrm>
          <a:prstGeom prst="line">
            <a:avLst/>
          </a:prstGeom>
          <a:noFill/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4086927" y="3173216"/>
            <a:ext cx="550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The work plan is designed to </a:t>
            </a:r>
            <a:r>
              <a:rPr lang="en-US" sz="1400" b="1" dirty="0">
                <a:solidFill>
                  <a:srgbClr val="002569"/>
                </a:solidFill>
              </a:rPr>
              <a:t>complement the existing methodological framework </a:t>
            </a:r>
            <a:r>
              <a:rPr lang="en-US" sz="1400" dirty="0">
                <a:solidFill>
                  <a:srgbClr val="002569"/>
                </a:solidFill>
              </a:rPr>
              <a:t>on priority processes, </a:t>
            </a:r>
            <a:r>
              <a:rPr lang="en-US" sz="1400" b="1" dirty="0">
                <a:solidFill>
                  <a:srgbClr val="002569"/>
                </a:solidFill>
              </a:rPr>
              <a:t>defining the management framework and Government of the model </a:t>
            </a:r>
            <a:r>
              <a:rPr lang="en-US" sz="1400" dirty="0">
                <a:solidFill>
                  <a:srgbClr val="002569"/>
                </a:solidFill>
              </a:rPr>
              <a:t>, taking full advantage of the elements developed by SMNYL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86927" y="2036389"/>
            <a:ext cx="561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To construct a comprehensive ORM Framework it is </a:t>
            </a:r>
            <a:r>
              <a:rPr lang="en-US" sz="1400" b="1" dirty="0">
                <a:solidFill>
                  <a:srgbClr val="002569"/>
                </a:solidFill>
              </a:rPr>
              <a:t>necessary to first define how to implement the Model</a:t>
            </a:r>
            <a:r>
              <a:rPr lang="en-US" sz="1400" dirty="0">
                <a:solidFill>
                  <a:srgbClr val="002569"/>
                </a:solidFill>
              </a:rPr>
              <a:t>; reviewing methodologies, designing the Governance and Organizational Model... Once this is accomplished </a:t>
            </a:r>
            <a:r>
              <a:rPr lang="en-US" sz="1400" b="1" dirty="0">
                <a:solidFill>
                  <a:srgbClr val="002569"/>
                </a:solidFill>
              </a:rPr>
              <a:t>next step is to implement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1490" y="4355798"/>
            <a:ext cx="5508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In order to conduct a </a:t>
            </a:r>
            <a:r>
              <a:rPr lang="en-US" sz="1400" b="1" dirty="0">
                <a:solidFill>
                  <a:srgbClr val="002569"/>
                </a:solidFill>
              </a:rPr>
              <a:t>proper implementation </a:t>
            </a:r>
            <a:r>
              <a:rPr lang="en-US" sz="1400" dirty="0">
                <a:solidFill>
                  <a:srgbClr val="002569"/>
                </a:solidFill>
              </a:rPr>
              <a:t>it is necessary to </a:t>
            </a:r>
            <a:r>
              <a:rPr lang="en-US" sz="1400" b="1" dirty="0">
                <a:solidFill>
                  <a:srgbClr val="002569"/>
                </a:solidFill>
              </a:rPr>
              <a:t>have a system </a:t>
            </a:r>
            <a:r>
              <a:rPr lang="en-US" sz="1400" dirty="0">
                <a:solidFill>
                  <a:srgbClr val="002569"/>
                </a:solidFill>
              </a:rPr>
              <a:t>which will </a:t>
            </a:r>
            <a:r>
              <a:rPr lang="en-US" sz="1400" b="1" dirty="0">
                <a:solidFill>
                  <a:srgbClr val="002569"/>
                </a:solidFill>
              </a:rPr>
              <a:t>cover all aspects of operational risk management </a:t>
            </a:r>
            <a:r>
              <a:rPr lang="en-US" sz="1400" dirty="0">
                <a:solidFill>
                  <a:srgbClr val="002569"/>
                </a:solidFill>
              </a:rPr>
              <a:t>..</a:t>
            </a:r>
          </a:p>
        </p:txBody>
      </p:sp>
      <p:sp>
        <p:nvSpPr>
          <p:cNvPr id="35" name="Pentagon 34"/>
          <p:cNvSpPr/>
          <p:nvPr/>
        </p:nvSpPr>
        <p:spPr>
          <a:xfrm>
            <a:off x="123824" y="1031745"/>
            <a:ext cx="1822152" cy="845309"/>
          </a:xfrm>
          <a:prstGeom prst="homePlate">
            <a:avLst>
              <a:gd name="adj" fmla="val 17922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TheSansCorrespondence"/>
              </a:rPr>
              <a:t>Next </a:t>
            </a:r>
          </a:p>
          <a:p>
            <a:r>
              <a:rPr lang="en-US" b="1" dirty="0">
                <a:solidFill>
                  <a:schemeClr val="bg1"/>
                </a:solidFill>
                <a:latin typeface="TheSansCorrespondence"/>
              </a:rPr>
              <a:t>Steps</a:t>
            </a:r>
            <a:endParaRPr lang="en-US" b="1" kern="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40" name="Picture 6" descr="Resultado de imagen de what is nex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6" b="19727"/>
          <a:stretch/>
        </p:blipFill>
        <p:spPr bwMode="auto">
          <a:xfrm>
            <a:off x="8314690" y="968939"/>
            <a:ext cx="1463783" cy="99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9445752" y="2896425"/>
            <a:ext cx="297248" cy="30208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2" name="Imagen 1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62275" y="2913928"/>
            <a:ext cx="267077" cy="267076"/>
          </a:xfrm>
          <a:prstGeom prst="rect">
            <a:avLst/>
          </a:prstGeom>
          <a:noFill/>
        </p:spPr>
      </p:pic>
      <p:sp>
        <p:nvSpPr>
          <p:cNvPr id="29" name="Rectangle 28"/>
          <p:cNvSpPr/>
          <p:nvPr/>
        </p:nvSpPr>
        <p:spPr bwMode="auto">
          <a:xfrm>
            <a:off x="9394035" y="3991539"/>
            <a:ext cx="297248" cy="30208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34" name="Imagen 18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21331" y="4022690"/>
            <a:ext cx="267077" cy="267076"/>
          </a:xfrm>
          <a:prstGeom prst="rect">
            <a:avLst/>
          </a:prstGeom>
          <a:noFill/>
        </p:spPr>
      </p:pic>
      <p:sp>
        <p:nvSpPr>
          <p:cNvPr id="44" name="Rectangle 43"/>
          <p:cNvSpPr/>
          <p:nvPr/>
        </p:nvSpPr>
        <p:spPr bwMode="auto">
          <a:xfrm>
            <a:off x="9380387" y="5134962"/>
            <a:ext cx="297248" cy="30208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5" name="Imagen 18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448627" y="5152465"/>
            <a:ext cx="267077" cy="267076"/>
          </a:xfrm>
          <a:prstGeom prst="rect">
            <a:avLst/>
          </a:prstGeom>
          <a:noFill/>
        </p:spPr>
      </p:pic>
      <p:sp>
        <p:nvSpPr>
          <p:cNvPr id="8" name="Down Arrow 7"/>
          <p:cNvSpPr/>
          <p:nvPr/>
        </p:nvSpPr>
        <p:spPr bwMode="auto">
          <a:xfrm>
            <a:off x="3163950" y="5340711"/>
            <a:ext cx="3683632" cy="280437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25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314" y="5731510"/>
            <a:ext cx="959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2569"/>
                </a:solidFill>
              </a:rPr>
              <a:t>Now, it is important to organize work-teams to carry out these three Work-Streams and to calendar Kick-Offs to start as soon as possible, previous approval</a:t>
            </a:r>
          </a:p>
        </p:txBody>
      </p:sp>
    </p:spTree>
    <p:extLst>
      <p:ext uri="{BB962C8B-B14F-4D97-AF65-F5344CB8AC3E}">
        <p14:creationId xmlns:p14="http://schemas.microsoft.com/office/powerpoint/2010/main" val="148517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9949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 Purpose &amp; Outcomes – Value Chain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7" name="AutoShape 9" descr="Resultado de imagen de val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8" name="AutoShape 11" descr="Resultado de imagen de valu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blackWhite">
          <a:xfrm>
            <a:off x="2006221" y="1195116"/>
            <a:ext cx="7556828" cy="61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dirty="0">
                <a:solidFill>
                  <a:srgbClr val="002569"/>
                </a:solidFill>
              </a:rPr>
              <a:t>Designed </a:t>
            </a:r>
            <a:r>
              <a:rPr lang="en-US" b="1" dirty="0">
                <a:solidFill>
                  <a:srgbClr val="002569"/>
                </a:solidFill>
              </a:rPr>
              <a:t>Value Chain</a:t>
            </a:r>
            <a:r>
              <a:rPr lang="en-US" dirty="0">
                <a:solidFill>
                  <a:srgbClr val="002569"/>
                </a:solidFill>
              </a:rPr>
              <a:t> is </a:t>
            </a:r>
            <a:r>
              <a:rPr lang="en-US" b="1" dirty="0">
                <a:solidFill>
                  <a:srgbClr val="002569"/>
                </a:solidFill>
              </a:rPr>
              <a:t>comprised of 104 processes</a:t>
            </a:r>
            <a:r>
              <a:rPr lang="en-US" dirty="0">
                <a:solidFill>
                  <a:srgbClr val="002569"/>
                </a:solidFill>
              </a:rPr>
              <a:t> and split into two major groups; business and support processes …</a:t>
            </a:r>
            <a:endParaRPr lang="en-US" altLang="es-ES" i="1" dirty="0">
              <a:solidFill>
                <a:srgbClr val="C00000"/>
              </a:solidFill>
            </a:endParaRPr>
          </a:p>
        </p:txBody>
      </p:sp>
      <p:sp>
        <p:nvSpPr>
          <p:cNvPr id="43" name="Pentagon 42"/>
          <p:cNvSpPr/>
          <p:nvPr/>
        </p:nvSpPr>
        <p:spPr>
          <a:xfrm>
            <a:off x="123824" y="1113871"/>
            <a:ext cx="1822152" cy="845309"/>
          </a:xfrm>
          <a:prstGeom prst="homePlate">
            <a:avLst>
              <a:gd name="adj" fmla="val 17922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s-ES" b="1" kern="0">
                <a:solidFill>
                  <a:srgbClr val="FFFFFF"/>
                </a:solidFill>
                <a:latin typeface="+mn-lt"/>
              </a:rPr>
              <a:t>Value </a:t>
            </a:r>
          </a:p>
          <a:p>
            <a:r>
              <a:rPr lang="es-ES" b="1" kern="0" dirty="0">
                <a:solidFill>
                  <a:srgbClr val="FFFFFF"/>
                </a:solidFill>
                <a:latin typeface="+mn-lt"/>
              </a:rPr>
              <a:t>Chain </a:t>
            </a:r>
          </a:p>
        </p:txBody>
      </p:sp>
      <p:cxnSp>
        <p:nvCxnSpPr>
          <p:cNvPr id="29" name="Straight Connector 28"/>
          <p:cNvCxnSpPr/>
          <p:nvPr/>
        </p:nvCxnSpPr>
        <p:spPr bwMode="auto">
          <a:xfrm>
            <a:off x="2205210" y="3612355"/>
            <a:ext cx="629941" cy="159604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2267920" y="2237856"/>
            <a:ext cx="370186" cy="17183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Rounded Rectangle 30"/>
          <p:cNvSpPr/>
          <p:nvPr/>
        </p:nvSpPr>
        <p:spPr bwMode="auto">
          <a:xfrm>
            <a:off x="2638104" y="2129569"/>
            <a:ext cx="6737715" cy="1728000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75031" y="2327806"/>
            <a:ext cx="1861059" cy="3740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72759" y="2811454"/>
            <a:ext cx="1861059" cy="907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1233160" y="4900515"/>
            <a:ext cx="7232666" cy="1476000"/>
          </a:xfrm>
          <a:prstGeom prst="roundRect">
            <a:avLst>
              <a:gd name="adj" fmla="val 1721"/>
            </a:avLst>
          </a:prstGeom>
          <a:noFill/>
          <a:ln w="9525" cap="flat" cmpd="sng" algn="ctr">
            <a:solidFill>
              <a:srgbClr val="BFA13E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Pentagon 45"/>
          <p:cNvSpPr/>
          <p:nvPr/>
        </p:nvSpPr>
        <p:spPr>
          <a:xfrm>
            <a:off x="287777" y="5392186"/>
            <a:ext cx="1517355" cy="653400"/>
          </a:xfrm>
          <a:prstGeom prst="homePlate">
            <a:avLst/>
          </a:prstGeom>
          <a:solidFill>
            <a:schemeClr val="bg1"/>
          </a:solidFill>
          <a:ln w="2222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s-MX" sz="1100" b="1" kern="0" dirty="0">
                <a:solidFill>
                  <a:srgbClr val="BFA13E"/>
                </a:solidFill>
              </a:rPr>
              <a:t>PN – GS - 03</a:t>
            </a:r>
          </a:p>
          <a:p>
            <a:r>
              <a:rPr lang="es-ES" sz="1100" dirty="0">
                <a:solidFill>
                  <a:schemeClr val="tx2"/>
                </a:solidFill>
              </a:rPr>
              <a:t>Programmed</a:t>
            </a:r>
          </a:p>
          <a:p>
            <a:r>
              <a:rPr lang="es-ES" sz="1100" dirty="0">
                <a:solidFill>
                  <a:schemeClr val="tx2"/>
                </a:solidFill>
              </a:rPr>
              <a:t>Events</a:t>
            </a: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6477291" y="5081606"/>
            <a:ext cx="0" cy="1080000"/>
          </a:xfrm>
          <a:prstGeom prst="line">
            <a:avLst/>
          </a:prstGeom>
          <a:noFill/>
          <a:ln w="9525" cap="flat" cmpd="sng" algn="ctr">
            <a:solidFill>
              <a:srgbClr val="BFA13E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6265968" y="5003813"/>
            <a:ext cx="20844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solidFill>
                  <a:schemeClr val="bg1">
                    <a:lumMod val="65000"/>
                  </a:schemeClr>
                </a:solidFill>
              </a:rPr>
              <a:t>“</a:t>
            </a:r>
            <a:r>
              <a:rPr lang="es-MX" sz="1050" dirty="0" err="1">
                <a:solidFill>
                  <a:schemeClr val="bg1">
                    <a:lumMod val="65000"/>
                  </a:schemeClr>
                </a:solidFill>
              </a:rPr>
              <a:t>Counter</a:t>
            </a:r>
            <a:r>
              <a:rPr lang="es-MX" sz="1050" dirty="0">
                <a:solidFill>
                  <a:schemeClr val="bg1">
                    <a:lumMod val="65000"/>
                  </a:schemeClr>
                </a:solidFill>
              </a:rPr>
              <a:t>”</a:t>
            </a:r>
          </a:p>
          <a:p>
            <a:r>
              <a:rPr lang="es-MX" sz="1050" dirty="0">
                <a:solidFill>
                  <a:schemeClr val="bg1">
                    <a:lumMod val="65000"/>
                  </a:schemeClr>
                </a:solidFill>
              </a:rPr>
              <a:t>Operations</a:t>
            </a:r>
          </a:p>
          <a:p>
            <a:r>
              <a:rPr lang="es-MX" sz="1050" dirty="0" err="1">
                <a:solidFill>
                  <a:schemeClr val="bg1">
                    <a:lumMod val="65000"/>
                  </a:schemeClr>
                </a:solidFill>
              </a:rPr>
              <a:t>Underwriting</a:t>
            </a:r>
            <a:endParaRPr lang="es-MX" sz="105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MX" sz="1050" dirty="0">
                <a:solidFill>
                  <a:schemeClr val="bg1">
                    <a:lumMod val="65000"/>
                  </a:schemeClr>
                </a:solidFill>
              </a:rPr>
              <a:t>Operations Quality</a:t>
            </a:r>
          </a:p>
          <a:p>
            <a:r>
              <a:rPr lang="es-MX" sz="1050" dirty="0" err="1">
                <a:solidFill>
                  <a:schemeClr val="bg1">
                    <a:lumMod val="65000"/>
                  </a:schemeClr>
                </a:solidFill>
              </a:rPr>
              <a:t>Compensations</a:t>
            </a:r>
            <a:endParaRPr lang="es-MX" sz="105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s-MX" sz="1050" dirty="0">
                <a:solidFill>
                  <a:schemeClr val="bg1">
                    <a:lumMod val="65000"/>
                  </a:schemeClr>
                </a:solidFill>
              </a:rPr>
              <a:t>GMM – Broker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3160" y="5003813"/>
            <a:ext cx="5400000" cy="1300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The insured deposits at “Counter” all the necessary documentation to receive authorization for a scheduled medical intervention . It is digitized , generating a </a:t>
            </a: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folio in Webflow validating the request by “Operations”. </a:t>
            </a: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In the case of large brokers, the request is received via mail , opening </a:t>
            </a: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a folio from the area of ​​Compensation GMM - Broker. </a:t>
            </a:r>
          </a:p>
          <a:p>
            <a:endParaRPr lang="en-US" sz="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“Dictamen” area determines whether it is appropriate or not </a:t>
            </a: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generating a letter is automatically sent to the customer. .</a:t>
            </a:r>
            <a:endParaRPr lang="es-MX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 bwMode="gray">
          <a:xfrm>
            <a:off x="2358460" y="4783963"/>
            <a:ext cx="2815986" cy="26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r>
              <a:rPr lang="en-US" b="1" i="1" dirty="0">
                <a:solidFill>
                  <a:schemeClr val="tx2"/>
                </a:solidFill>
              </a:rPr>
              <a:t>Process Description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79" y="2171227"/>
            <a:ext cx="1719182" cy="154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TextBox 51"/>
          <p:cNvSpPr txBox="1"/>
          <p:nvPr/>
        </p:nvSpPr>
        <p:spPr>
          <a:xfrm>
            <a:off x="2828173" y="2235314"/>
            <a:ext cx="6408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.. it is comprised of </a:t>
            </a:r>
            <a:r>
              <a:rPr lang="en-US" sz="1400" b="1" dirty="0">
                <a:solidFill>
                  <a:srgbClr val="002569"/>
                </a:solidFill>
              </a:rPr>
              <a:t>5 business macro-processes </a:t>
            </a:r>
            <a:r>
              <a:rPr lang="en-US" sz="1400" dirty="0">
                <a:solidFill>
                  <a:srgbClr val="002569"/>
                </a:solidFill>
              </a:rPr>
              <a:t>divided into </a:t>
            </a:r>
            <a:r>
              <a:rPr lang="en-US" sz="1400" b="1" dirty="0">
                <a:solidFill>
                  <a:srgbClr val="002569"/>
                </a:solidFill>
              </a:rPr>
              <a:t>34 processes</a:t>
            </a:r>
            <a:r>
              <a:rPr lang="en-US" sz="1400" dirty="0">
                <a:solidFill>
                  <a:srgbClr val="002569"/>
                </a:solidFill>
              </a:rPr>
              <a:t>..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02569"/>
              </a:solidFill>
            </a:endParaRPr>
          </a:p>
          <a:p>
            <a:pPr algn="l"/>
            <a:r>
              <a:rPr lang="en-US" sz="1400" dirty="0">
                <a:solidFill>
                  <a:srgbClr val="002569"/>
                </a:solidFill>
              </a:rPr>
              <a:t>.. while </a:t>
            </a:r>
            <a:r>
              <a:rPr lang="en-US" sz="1400" b="1" dirty="0">
                <a:solidFill>
                  <a:srgbClr val="002569"/>
                </a:solidFill>
              </a:rPr>
              <a:t>support macro-processes amount to 17 </a:t>
            </a:r>
            <a:r>
              <a:rPr lang="en-US" sz="1400" dirty="0">
                <a:solidFill>
                  <a:srgbClr val="002569"/>
                </a:solidFill>
              </a:rPr>
              <a:t>and formed by </a:t>
            </a:r>
            <a:r>
              <a:rPr lang="en-US" sz="1400" b="1" dirty="0">
                <a:solidFill>
                  <a:srgbClr val="002569"/>
                </a:solidFill>
              </a:rPr>
              <a:t>70 processes</a:t>
            </a:r>
            <a:r>
              <a:rPr lang="en-US" sz="1400" dirty="0">
                <a:solidFill>
                  <a:srgbClr val="002569"/>
                </a:solidFill>
              </a:rPr>
              <a:t>..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002569"/>
              </a:solidFill>
            </a:endParaRPr>
          </a:p>
          <a:p>
            <a:pPr algn="l"/>
            <a:r>
              <a:rPr lang="en-US" sz="1400" dirty="0">
                <a:solidFill>
                  <a:srgbClr val="002569"/>
                </a:solidFill>
              </a:rPr>
              <a:t>.. on average there are </a:t>
            </a:r>
            <a:r>
              <a:rPr lang="en-US" sz="1400" b="1" dirty="0">
                <a:solidFill>
                  <a:srgbClr val="002569"/>
                </a:solidFill>
              </a:rPr>
              <a:t>4 participants areas per process</a:t>
            </a:r>
            <a:r>
              <a:rPr lang="en-US" sz="1400" dirty="0">
                <a:solidFill>
                  <a:srgbClr val="002569"/>
                </a:solidFill>
              </a:rPr>
              <a:t>, </a:t>
            </a:r>
            <a:r>
              <a:rPr lang="en-US" sz="1400" b="1" dirty="0">
                <a:solidFill>
                  <a:srgbClr val="002569"/>
                </a:solidFill>
              </a:rPr>
              <a:t>especially in Business Processes</a:t>
            </a:r>
            <a:r>
              <a:rPr lang="en-US" sz="1400" dirty="0">
                <a:solidFill>
                  <a:srgbClr val="002569"/>
                </a:solidFill>
              </a:rPr>
              <a:t>..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53" name="Rounded Rectangular Callout 52"/>
          <p:cNvSpPr/>
          <p:nvPr/>
        </p:nvSpPr>
        <p:spPr bwMode="auto">
          <a:xfrm>
            <a:off x="1538352" y="4078766"/>
            <a:ext cx="2577552" cy="595041"/>
          </a:xfrm>
          <a:prstGeom prst="wedgeRoundRectCallout">
            <a:avLst>
              <a:gd name="adj1" fmla="val 24507"/>
              <a:gd name="adj2" fmla="val 6773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BFA13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800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100" b="1" i="1" dirty="0">
                <a:solidFill>
                  <a:srgbClr val="002569"/>
                </a:solidFill>
              </a:rPr>
              <a:t>Chips </a:t>
            </a:r>
            <a:r>
              <a:rPr lang="en-US" sz="1100" i="1" dirty="0">
                <a:solidFill>
                  <a:srgbClr val="002569"/>
                </a:solidFill>
              </a:rPr>
              <a:t>have been developed to detail </a:t>
            </a:r>
            <a:r>
              <a:rPr lang="en-US" sz="1100" b="1" i="1" dirty="0">
                <a:solidFill>
                  <a:srgbClr val="002569"/>
                </a:solidFill>
              </a:rPr>
              <a:t>the scope</a:t>
            </a:r>
            <a:r>
              <a:rPr lang="en-US" sz="1100" i="1" dirty="0">
                <a:solidFill>
                  <a:srgbClr val="002569"/>
                </a:solidFill>
              </a:rPr>
              <a:t>, </a:t>
            </a:r>
            <a:r>
              <a:rPr lang="en-US" sz="1100" b="1" i="1" dirty="0">
                <a:solidFill>
                  <a:srgbClr val="002569"/>
                </a:solidFill>
              </a:rPr>
              <a:t>main activities </a:t>
            </a:r>
            <a:r>
              <a:rPr lang="en-US" sz="1100" i="1" dirty="0">
                <a:solidFill>
                  <a:srgbClr val="002569"/>
                </a:solidFill>
              </a:rPr>
              <a:t>and </a:t>
            </a:r>
            <a:r>
              <a:rPr lang="en-US" sz="1100" b="1" i="1" dirty="0">
                <a:solidFill>
                  <a:srgbClr val="002569"/>
                </a:solidFill>
              </a:rPr>
              <a:t>participants</a:t>
            </a:r>
            <a:r>
              <a:rPr lang="en-US" sz="1100" i="1" dirty="0">
                <a:solidFill>
                  <a:srgbClr val="002569"/>
                </a:solidFill>
              </a:rPr>
              <a:t> of each process</a:t>
            </a:r>
          </a:p>
        </p:txBody>
      </p:sp>
      <p:sp>
        <p:nvSpPr>
          <p:cNvPr id="55" name="Rounded Rectangle 54"/>
          <p:cNvSpPr/>
          <p:nvPr/>
        </p:nvSpPr>
        <p:spPr bwMode="auto">
          <a:xfrm>
            <a:off x="8681645" y="5415024"/>
            <a:ext cx="998376" cy="744423"/>
          </a:xfrm>
          <a:prstGeom prst="roundRect">
            <a:avLst/>
          </a:prstGeom>
          <a:noFill/>
          <a:ln w="31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61065" y="4930872"/>
            <a:ext cx="122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See detailed Chips</a:t>
            </a:r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 bwMode="gray">
          <a:xfrm>
            <a:off x="6541406" y="4779832"/>
            <a:ext cx="1445045" cy="26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r>
              <a:rPr lang="en-US" b="1" i="1" dirty="0">
                <a:solidFill>
                  <a:schemeClr val="tx2"/>
                </a:solidFill>
              </a:rPr>
              <a:t>Participants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 bwMode="auto">
          <a:xfrm>
            <a:off x="2775996" y="1935923"/>
            <a:ext cx="2260797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400" b="1" i="1" dirty="0">
                <a:solidFill>
                  <a:srgbClr val="002569"/>
                </a:solidFill>
              </a:rPr>
              <a:t>About de Value Chain…</a:t>
            </a:r>
            <a:endParaRPr kumimoji="0" lang="en-US" sz="14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sp>
        <p:nvSpPr>
          <p:cNvPr id="36" name="Rounded Rectangle 35">
            <a:hlinkClick r:id="rId7" action="ppaction://hlinksldjump"/>
          </p:cNvPr>
          <p:cNvSpPr/>
          <p:nvPr/>
        </p:nvSpPr>
        <p:spPr bwMode="auto">
          <a:xfrm>
            <a:off x="9149834" y="6308597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graphicFrame>
        <p:nvGraphicFramePr>
          <p:cNvPr id="4" name="Object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538331"/>
              </p:ext>
            </p:extLst>
          </p:nvPr>
        </p:nvGraphicFramePr>
        <p:xfrm>
          <a:off x="8724677" y="548326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8" imgW="914400" imgH="771480" progId="PowerPoint.Show.12">
                  <p:embed/>
                </p:oleObj>
              </mc:Choice>
              <mc:Fallback>
                <p:oleObj name="Presentation" showAsIcon="1" r:id="rId8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24677" y="548326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 bwMode="auto">
          <a:xfrm>
            <a:off x="654846" y="4692665"/>
            <a:ext cx="841434" cy="490663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sz="300" b="1" dirty="0">
                <a:solidFill>
                  <a:srgbClr val="FF0000"/>
                </a:solidFill>
              </a:rPr>
              <a:t>          </a:t>
            </a:r>
            <a:r>
              <a:rPr kumimoji="0" lang="es-ES" sz="11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764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 bwMode="auto">
          <a:xfrm>
            <a:off x="252453" y="3689481"/>
            <a:ext cx="8247604" cy="2808000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95" name="Straight Connector 94"/>
          <p:cNvCxnSpPr/>
          <p:nvPr/>
        </p:nvCxnSpPr>
        <p:spPr bwMode="auto">
          <a:xfrm flipV="1">
            <a:off x="8366436" y="4493843"/>
            <a:ext cx="0" cy="194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 flipV="1">
            <a:off x="4302050" y="4493843"/>
            <a:ext cx="0" cy="194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/>
          <p:cNvCxnSpPr/>
          <p:nvPr/>
        </p:nvCxnSpPr>
        <p:spPr bwMode="auto">
          <a:xfrm flipV="1">
            <a:off x="5680654" y="4493843"/>
            <a:ext cx="0" cy="194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/>
          <p:nvPr/>
        </p:nvCxnSpPr>
        <p:spPr bwMode="auto">
          <a:xfrm flipV="1">
            <a:off x="7043434" y="4493843"/>
            <a:ext cx="0" cy="194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Straight Connector 93"/>
          <p:cNvCxnSpPr/>
          <p:nvPr/>
        </p:nvCxnSpPr>
        <p:spPr bwMode="auto">
          <a:xfrm flipV="1">
            <a:off x="2946521" y="4466589"/>
            <a:ext cx="0" cy="194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3846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 Purpose &amp; Outcomes – BC Plan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63900" y="3986992"/>
            <a:ext cx="2683636" cy="245659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b="1" dirty="0">
                <a:solidFill>
                  <a:schemeClr val="bg1"/>
                </a:solidFill>
                <a:latin typeface="TheSansCorrespondence"/>
              </a:rPr>
              <a:t>2016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2336" y="4287507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1st Semester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8933" y="4287507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2nd Semester</a:t>
            </a:r>
          </a:p>
        </p:txBody>
      </p:sp>
      <p:sp>
        <p:nvSpPr>
          <p:cNvPr id="32" name="Pentagon 31"/>
          <p:cNvSpPr/>
          <p:nvPr/>
        </p:nvSpPr>
        <p:spPr>
          <a:xfrm>
            <a:off x="345123" y="4473875"/>
            <a:ext cx="2311579" cy="498763"/>
          </a:xfrm>
          <a:prstGeom prst="homePlate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r>
              <a:rPr lang="en-US" sz="1400" b="1" dirty="0">
                <a:solidFill>
                  <a:schemeClr val="bg1"/>
                </a:solidFill>
                <a:latin typeface="TheSansCorrespondence"/>
              </a:rPr>
              <a:t>Business Continuity</a:t>
            </a:r>
          </a:p>
          <a:p>
            <a:r>
              <a:rPr lang="en-US" sz="1400" b="1" dirty="0">
                <a:solidFill>
                  <a:schemeClr val="bg1"/>
                </a:solidFill>
                <a:latin typeface="TheSansCorrespondence"/>
              </a:rPr>
              <a:t>Model - Work Plan</a:t>
            </a:r>
          </a:p>
        </p:txBody>
      </p:sp>
      <p:sp>
        <p:nvSpPr>
          <p:cNvPr id="33" name="Pentagon 32"/>
          <p:cNvSpPr/>
          <p:nvPr/>
        </p:nvSpPr>
        <p:spPr>
          <a:xfrm>
            <a:off x="784326" y="5585312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Strategy and Methodological Frame</a:t>
            </a:r>
          </a:p>
        </p:txBody>
      </p:sp>
      <p:sp>
        <p:nvSpPr>
          <p:cNvPr id="35" name="Pentagon 34"/>
          <p:cNvSpPr/>
          <p:nvPr/>
        </p:nvSpPr>
        <p:spPr>
          <a:xfrm>
            <a:off x="784326" y="6090011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Business </a:t>
            </a:r>
          </a:p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Continuity Plans</a:t>
            </a:r>
          </a:p>
        </p:txBody>
      </p:sp>
      <p:sp>
        <p:nvSpPr>
          <p:cNvPr id="37" name="Rectangle 414"/>
          <p:cNvSpPr>
            <a:spLocks noChangeArrowheads="1"/>
          </p:cNvSpPr>
          <p:nvPr/>
        </p:nvSpPr>
        <p:spPr bwMode="auto">
          <a:xfrm>
            <a:off x="2947825" y="5646163"/>
            <a:ext cx="2232000" cy="191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38" name="Rectangle 414"/>
          <p:cNvSpPr>
            <a:spLocks noChangeArrowheads="1"/>
          </p:cNvSpPr>
          <p:nvPr/>
        </p:nvSpPr>
        <p:spPr bwMode="auto">
          <a:xfrm>
            <a:off x="5184550" y="6217472"/>
            <a:ext cx="1548000" cy="190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7" name="Rectangle 414"/>
          <p:cNvSpPr>
            <a:spLocks noChangeArrowheads="1"/>
          </p:cNvSpPr>
          <p:nvPr/>
        </p:nvSpPr>
        <p:spPr bwMode="auto">
          <a:xfrm>
            <a:off x="5235170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8" name="Rectangle 414"/>
          <p:cNvSpPr>
            <a:spLocks noChangeArrowheads="1"/>
          </p:cNvSpPr>
          <p:nvPr/>
        </p:nvSpPr>
        <p:spPr bwMode="auto">
          <a:xfrm>
            <a:off x="5392399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9" name="Rectangle 414"/>
          <p:cNvSpPr>
            <a:spLocks noChangeArrowheads="1"/>
          </p:cNvSpPr>
          <p:nvPr/>
        </p:nvSpPr>
        <p:spPr bwMode="auto">
          <a:xfrm>
            <a:off x="5542701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0" name="Rectangle 414"/>
          <p:cNvSpPr>
            <a:spLocks noChangeArrowheads="1"/>
          </p:cNvSpPr>
          <p:nvPr/>
        </p:nvSpPr>
        <p:spPr bwMode="auto">
          <a:xfrm>
            <a:off x="5699930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1" name="Rectangle 414"/>
          <p:cNvSpPr>
            <a:spLocks noChangeArrowheads="1"/>
          </p:cNvSpPr>
          <p:nvPr/>
        </p:nvSpPr>
        <p:spPr bwMode="auto">
          <a:xfrm>
            <a:off x="5863546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2" name="Rectangle 414"/>
          <p:cNvSpPr>
            <a:spLocks noChangeArrowheads="1"/>
          </p:cNvSpPr>
          <p:nvPr/>
        </p:nvSpPr>
        <p:spPr bwMode="auto">
          <a:xfrm>
            <a:off x="6020775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3" name="Rectangle 414"/>
          <p:cNvSpPr>
            <a:spLocks noChangeArrowheads="1"/>
          </p:cNvSpPr>
          <p:nvPr/>
        </p:nvSpPr>
        <p:spPr bwMode="auto">
          <a:xfrm>
            <a:off x="6171077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4" name="Rectangle 414"/>
          <p:cNvSpPr>
            <a:spLocks noChangeArrowheads="1"/>
          </p:cNvSpPr>
          <p:nvPr/>
        </p:nvSpPr>
        <p:spPr bwMode="auto">
          <a:xfrm>
            <a:off x="6328306" y="5646163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5" name="Rectangle 414"/>
          <p:cNvSpPr>
            <a:spLocks noChangeArrowheads="1"/>
          </p:cNvSpPr>
          <p:nvPr/>
        </p:nvSpPr>
        <p:spPr bwMode="auto">
          <a:xfrm>
            <a:off x="6809428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6" name="Rectangle 414"/>
          <p:cNvSpPr>
            <a:spLocks noChangeArrowheads="1"/>
          </p:cNvSpPr>
          <p:nvPr/>
        </p:nvSpPr>
        <p:spPr bwMode="auto">
          <a:xfrm>
            <a:off x="6966657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7" name="Rectangle 414"/>
          <p:cNvSpPr>
            <a:spLocks noChangeArrowheads="1"/>
          </p:cNvSpPr>
          <p:nvPr/>
        </p:nvSpPr>
        <p:spPr bwMode="auto">
          <a:xfrm>
            <a:off x="7116959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8" name="Rectangle 414"/>
          <p:cNvSpPr>
            <a:spLocks noChangeArrowheads="1"/>
          </p:cNvSpPr>
          <p:nvPr/>
        </p:nvSpPr>
        <p:spPr bwMode="auto">
          <a:xfrm>
            <a:off x="7274188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9" name="Rectangle 414"/>
          <p:cNvSpPr>
            <a:spLocks noChangeArrowheads="1"/>
          </p:cNvSpPr>
          <p:nvPr/>
        </p:nvSpPr>
        <p:spPr bwMode="auto">
          <a:xfrm>
            <a:off x="7437804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0" name="Rectangle 414"/>
          <p:cNvSpPr>
            <a:spLocks noChangeArrowheads="1"/>
          </p:cNvSpPr>
          <p:nvPr/>
        </p:nvSpPr>
        <p:spPr bwMode="auto">
          <a:xfrm>
            <a:off x="7595033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1" name="Rectangle 414"/>
          <p:cNvSpPr>
            <a:spLocks noChangeArrowheads="1"/>
          </p:cNvSpPr>
          <p:nvPr/>
        </p:nvSpPr>
        <p:spPr bwMode="auto">
          <a:xfrm>
            <a:off x="7745335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2" name="Rectangle 414"/>
          <p:cNvSpPr>
            <a:spLocks noChangeArrowheads="1"/>
          </p:cNvSpPr>
          <p:nvPr/>
        </p:nvSpPr>
        <p:spPr bwMode="auto">
          <a:xfrm>
            <a:off x="7902564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3" name="Rectangle 414"/>
          <p:cNvSpPr>
            <a:spLocks noChangeArrowheads="1"/>
          </p:cNvSpPr>
          <p:nvPr/>
        </p:nvSpPr>
        <p:spPr bwMode="auto">
          <a:xfrm>
            <a:off x="8061491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4" name="Rectangle 414"/>
          <p:cNvSpPr>
            <a:spLocks noChangeArrowheads="1"/>
          </p:cNvSpPr>
          <p:nvPr/>
        </p:nvSpPr>
        <p:spPr bwMode="auto">
          <a:xfrm>
            <a:off x="8218720" y="6217472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80477" y="5394677"/>
            <a:ext cx="1826033" cy="196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Priority Processes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08399" y="5963631"/>
            <a:ext cx="2008636" cy="216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Priority Processes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65390" y="5947991"/>
            <a:ext cx="1701818" cy="216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Non-Priority Processes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28029" y="5400271"/>
            <a:ext cx="2008636" cy="162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Non-Priority Processes</a:t>
            </a:r>
          </a:p>
        </p:txBody>
      </p:sp>
      <p:sp>
        <p:nvSpPr>
          <p:cNvPr id="39" name="Rectangle 414"/>
          <p:cNvSpPr>
            <a:spLocks noChangeArrowheads="1"/>
          </p:cNvSpPr>
          <p:nvPr/>
        </p:nvSpPr>
        <p:spPr bwMode="auto">
          <a:xfrm>
            <a:off x="2947825" y="4579570"/>
            <a:ext cx="5400000" cy="287373"/>
          </a:xfrm>
          <a:prstGeom prst="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endParaRPr lang="en-US" sz="11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692602" y="3990224"/>
            <a:ext cx="2683636" cy="245659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b="1" dirty="0">
                <a:solidFill>
                  <a:schemeClr val="bg1"/>
                </a:solidFill>
                <a:latin typeface="TheSansCorrespondence"/>
              </a:rPr>
              <a:t>2017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01038" y="4290739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1st Semester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67635" y="4290739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2nd Semester</a:t>
            </a:r>
          </a:p>
        </p:txBody>
      </p:sp>
      <p:sp>
        <p:nvSpPr>
          <p:cNvPr id="100" name="Rounded Rectangle 99"/>
          <p:cNvSpPr/>
          <p:nvPr/>
        </p:nvSpPr>
        <p:spPr bwMode="auto">
          <a:xfrm>
            <a:off x="8681645" y="5415024"/>
            <a:ext cx="998376" cy="744423"/>
          </a:xfrm>
          <a:prstGeom prst="roundRect">
            <a:avLst/>
          </a:prstGeom>
          <a:noFill/>
          <a:ln w="31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561065" y="4930872"/>
            <a:ext cx="122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See detailed Plan</a:t>
            </a:r>
          </a:p>
        </p:txBody>
      </p:sp>
      <p:sp>
        <p:nvSpPr>
          <p:cNvPr id="102" name="Pentagon 101"/>
          <p:cNvSpPr/>
          <p:nvPr/>
        </p:nvSpPr>
        <p:spPr>
          <a:xfrm>
            <a:off x="123824" y="1113871"/>
            <a:ext cx="1822152" cy="845309"/>
          </a:xfrm>
          <a:prstGeom prst="homePlate">
            <a:avLst>
              <a:gd name="adj" fmla="val 17922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US" b="1" dirty="0">
                <a:solidFill>
                  <a:schemeClr val="bg1"/>
                </a:solidFill>
                <a:latin typeface="TheSansCorrespondence"/>
              </a:rPr>
              <a:t>Business Continuity - Work Plan</a:t>
            </a:r>
            <a:endParaRPr lang="en-US" b="1" kern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3" name="Text Box 23"/>
          <p:cNvSpPr txBox="1">
            <a:spLocks noChangeArrowheads="1"/>
          </p:cNvSpPr>
          <p:nvPr/>
        </p:nvSpPr>
        <p:spPr bwMode="blackWhite">
          <a:xfrm>
            <a:off x="2006221" y="1218866"/>
            <a:ext cx="7556828" cy="61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altLang="es-ES" dirty="0">
                <a:solidFill>
                  <a:srgbClr val="002569"/>
                </a:solidFill>
              </a:rPr>
              <a:t>The </a:t>
            </a:r>
            <a:r>
              <a:rPr lang="en-US" altLang="es-ES" b="1" dirty="0">
                <a:solidFill>
                  <a:srgbClr val="002569"/>
                </a:solidFill>
              </a:rPr>
              <a:t>status of current Business Continuity Plans </a:t>
            </a:r>
            <a:r>
              <a:rPr lang="en-US" altLang="es-ES" dirty="0">
                <a:solidFill>
                  <a:srgbClr val="002569"/>
                </a:solidFill>
              </a:rPr>
              <a:t>has been raised after interviewing the responsible of Business Continuity Plans of each area…</a:t>
            </a:r>
            <a:endParaRPr lang="en-US" altLang="es-ES" i="1" dirty="0">
              <a:solidFill>
                <a:srgbClr val="FF0000"/>
              </a:solidFill>
            </a:endParaRPr>
          </a:p>
        </p:txBody>
      </p:sp>
      <p:sp>
        <p:nvSpPr>
          <p:cNvPr id="104" name="Text Box 23"/>
          <p:cNvSpPr txBox="1">
            <a:spLocks noChangeArrowheads="1"/>
          </p:cNvSpPr>
          <p:nvPr/>
        </p:nvSpPr>
        <p:spPr bwMode="blackWhite">
          <a:xfrm>
            <a:off x="2200369" y="2256868"/>
            <a:ext cx="7051828" cy="980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1" indent="-285750" algn="l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es-ES" sz="1400" b="1" dirty="0">
                <a:solidFill>
                  <a:srgbClr val="002569"/>
                </a:solidFill>
              </a:rPr>
              <a:t>Two Workshops</a:t>
            </a:r>
            <a:r>
              <a:rPr lang="en-US" altLang="es-ES" sz="1400" dirty="0">
                <a:solidFill>
                  <a:srgbClr val="002569"/>
                </a:solidFill>
              </a:rPr>
              <a:t> interviewing </a:t>
            </a:r>
            <a:r>
              <a:rPr lang="en-US" altLang="es-ES" sz="1400" b="1" dirty="0">
                <a:solidFill>
                  <a:srgbClr val="002569"/>
                </a:solidFill>
              </a:rPr>
              <a:t>more than 15 people</a:t>
            </a:r>
            <a:r>
              <a:rPr lang="en-US" altLang="es-ES" sz="1400" dirty="0">
                <a:solidFill>
                  <a:srgbClr val="002569"/>
                </a:solidFill>
              </a:rPr>
              <a:t>…</a:t>
            </a:r>
            <a:endParaRPr lang="en-US" altLang="es-ES" sz="1400" dirty="0">
              <a:solidFill>
                <a:srgbClr val="C00000"/>
              </a:solidFill>
            </a:endParaRPr>
          </a:p>
          <a:p>
            <a:pPr marL="285750" lvl="1" indent="-285750" algn="l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es-ES" sz="1400" dirty="0">
                <a:solidFill>
                  <a:srgbClr val="002569"/>
                </a:solidFill>
              </a:rPr>
              <a:t>As the head of the BC Committee, </a:t>
            </a:r>
            <a:r>
              <a:rPr lang="en-US" altLang="es-ES" sz="1400" b="1" dirty="0">
                <a:solidFill>
                  <a:srgbClr val="002569"/>
                </a:solidFill>
              </a:rPr>
              <a:t>a specific interview was held with IT Dept </a:t>
            </a:r>
            <a:r>
              <a:rPr lang="en-US" altLang="es-ES" sz="1400" dirty="0">
                <a:solidFill>
                  <a:srgbClr val="002569"/>
                </a:solidFill>
              </a:rPr>
              <a:t>..</a:t>
            </a:r>
          </a:p>
          <a:p>
            <a:pPr marL="285750" lvl="1" indent="-285750" algn="l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es-ES" sz="1400" b="1" dirty="0">
                <a:solidFill>
                  <a:srgbClr val="002569"/>
                </a:solidFill>
              </a:rPr>
              <a:t>Documents </a:t>
            </a:r>
            <a:r>
              <a:rPr lang="en-US" altLang="es-ES" sz="1400" dirty="0">
                <a:solidFill>
                  <a:srgbClr val="002569"/>
                </a:solidFill>
              </a:rPr>
              <a:t>related to </a:t>
            </a:r>
            <a:r>
              <a:rPr lang="en-US" altLang="es-ES" sz="1400" b="1" dirty="0">
                <a:solidFill>
                  <a:srgbClr val="002569"/>
                </a:solidFill>
              </a:rPr>
              <a:t>Business Continuity Plans were analyzed</a:t>
            </a:r>
            <a:r>
              <a:rPr lang="en-US" altLang="es-ES" sz="1400" dirty="0">
                <a:solidFill>
                  <a:srgbClr val="002569"/>
                </a:solidFill>
              </a:rPr>
              <a:t> by the team ..</a:t>
            </a:r>
          </a:p>
        </p:txBody>
      </p:sp>
      <p:sp>
        <p:nvSpPr>
          <p:cNvPr id="52" name="Text Box 23"/>
          <p:cNvSpPr txBox="1">
            <a:spLocks noChangeArrowheads="1"/>
          </p:cNvSpPr>
          <p:nvPr/>
        </p:nvSpPr>
        <p:spPr bwMode="blackWhite">
          <a:xfrm rot="16200000">
            <a:off x="-107075" y="5599444"/>
            <a:ext cx="1361765" cy="31031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>
              <a:lnSpc>
                <a:spcPct val="100000"/>
              </a:lnSpc>
              <a:buClrTx/>
              <a:buNone/>
            </a:pPr>
            <a:r>
              <a:rPr lang="en-US" altLang="es-ES" sz="1200" b="1" dirty="0">
                <a:solidFill>
                  <a:srgbClr val="002569"/>
                </a:solidFill>
              </a:rPr>
              <a:t>Work-Streams</a:t>
            </a:r>
            <a:endParaRPr lang="en-US" altLang="es-ES" sz="1200" b="1" dirty="0">
              <a:solidFill>
                <a:srgbClr val="FF0000"/>
              </a:solidFill>
            </a:endParaRPr>
          </a:p>
        </p:txBody>
      </p:sp>
      <p:pic>
        <p:nvPicPr>
          <p:cNvPr id="91323" name="Picture 187" descr="C:\Users\antonio.desmonts.sa1\Desktop\descarga (3)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52" y="2266014"/>
            <a:ext cx="1085098" cy="108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 Box 23"/>
          <p:cNvSpPr txBox="1">
            <a:spLocks noChangeArrowheads="1"/>
          </p:cNvSpPr>
          <p:nvPr/>
        </p:nvSpPr>
        <p:spPr bwMode="blackWhite">
          <a:xfrm>
            <a:off x="315758" y="3506946"/>
            <a:ext cx="3532067" cy="334297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altLang="es-ES" sz="1400" dirty="0">
                <a:solidFill>
                  <a:srgbClr val="002569"/>
                </a:solidFill>
              </a:rPr>
              <a:t>Resulting the </a:t>
            </a:r>
            <a:r>
              <a:rPr lang="en-US" altLang="es-ES" sz="1400">
                <a:solidFill>
                  <a:srgbClr val="002569"/>
                </a:solidFill>
              </a:rPr>
              <a:t>following</a:t>
            </a:r>
            <a:r>
              <a:rPr lang="en-US" altLang="es-ES" sz="1400" b="1">
                <a:solidFill>
                  <a:srgbClr val="002569"/>
                </a:solidFill>
              </a:rPr>
              <a:t> Roadmap..</a:t>
            </a:r>
            <a:endParaRPr lang="en-US" altLang="es-E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083607"/>
              </p:ext>
            </p:extLst>
          </p:nvPr>
        </p:nvGraphicFramePr>
        <p:xfrm>
          <a:off x="8610492" y="5494642"/>
          <a:ext cx="1128764" cy="952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400" imgH="771480" progId="Excel.Sheet.12">
                  <p:embed/>
                </p:oleObj>
              </mc:Choice>
              <mc:Fallback>
                <p:oleObj name="Worksheet" showAsIcon="1" r:id="rId7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10492" y="5494642"/>
                        <a:ext cx="1128764" cy="952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Pentagon 57"/>
          <p:cNvSpPr/>
          <p:nvPr/>
        </p:nvSpPr>
        <p:spPr>
          <a:xfrm>
            <a:off x="784326" y="5079830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Management &amp; </a:t>
            </a:r>
          </a:p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Governance</a:t>
            </a:r>
          </a:p>
        </p:txBody>
      </p:sp>
      <p:sp>
        <p:nvSpPr>
          <p:cNvPr id="59" name="Rectangle 414"/>
          <p:cNvSpPr>
            <a:spLocks noChangeArrowheads="1"/>
          </p:cNvSpPr>
          <p:nvPr/>
        </p:nvSpPr>
        <p:spPr bwMode="auto">
          <a:xfrm>
            <a:off x="2947825" y="5162358"/>
            <a:ext cx="900000" cy="190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0" name="Rounded Rectangle 59">
            <a:hlinkClick r:id="rId9" action="ppaction://hlinksldjump"/>
          </p:cNvPr>
          <p:cNvSpPr/>
          <p:nvPr/>
        </p:nvSpPr>
        <p:spPr bwMode="auto">
          <a:xfrm>
            <a:off x="9149834" y="6308597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342554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 bwMode="auto">
          <a:xfrm>
            <a:off x="1947705" y="4995009"/>
            <a:ext cx="6526596" cy="1298272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2085596" y="4792563"/>
            <a:ext cx="2260797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400" b="1" i="1" dirty="0">
                <a:solidFill>
                  <a:srgbClr val="002569"/>
                </a:solidFill>
              </a:rPr>
              <a:t>Structured as follows..</a:t>
            </a:r>
            <a:endParaRPr kumimoji="0" lang="en-US" sz="14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65929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 Purpose &amp; Outcomes – Risk </a:t>
            </a:r>
            <a:r>
              <a:rPr lang="en-US" b="1" i="1" dirty="0">
                <a:solidFill>
                  <a:srgbClr val="BFA13E"/>
                </a:solidFill>
              </a:rPr>
              <a:t>Matrixes</a:t>
            </a:r>
            <a:endParaRPr lang="en-US" sz="1800" b="1" i="1" dirty="0">
              <a:solidFill>
                <a:srgbClr val="FFFFFF"/>
              </a:solidFill>
            </a:endParaRPr>
          </a:p>
        </p:txBody>
      </p:sp>
      <p:sp>
        <p:nvSpPr>
          <p:cNvPr id="102" name="Pentagon 101"/>
          <p:cNvSpPr/>
          <p:nvPr/>
        </p:nvSpPr>
        <p:spPr>
          <a:xfrm>
            <a:off x="123824" y="1113871"/>
            <a:ext cx="1822152" cy="845309"/>
          </a:xfrm>
          <a:prstGeom prst="homePlate">
            <a:avLst>
              <a:gd name="adj" fmla="val 17922"/>
            </a:avLst>
          </a:prstGeom>
          <a:solidFill>
            <a:srgbClr val="00256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TheSansCorrespondence"/>
              </a:rPr>
              <a:t>Operational &amp; Business Cont. Risk Matrixes </a:t>
            </a:r>
            <a:endParaRPr lang="en-US" b="1" kern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61065" y="4930872"/>
            <a:ext cx="122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See detailed Matrixes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blackWhite">
          <a:xfrm>
            <a:off x="2006221" y="1102955"/>
            <a:ext cx="7556828" cy="85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altLang="es-ES" dirty="0">
                <a:solidFill>
                  <a:srgbClr val="002569"/>
                </a:solidFill>
              </a:rPr>
              <a:t>Based on </a:t>
            </a:r>
            <a:r>
              <a:rPr lang="en-US" altLang="es-ES" b="1" dirty="0">
                <a:solidFill>
                  <a:srgbClr val="002569"/>
                </a:solidFill>
              </a:rPr>
              <a:t>our experience in the insurance sector</a:t>
            </a:r>
            <a:r>
              <a:rPr lang="en-US" altLang="es-ES" dirty="0">
                <a:solidFill>
                  <a:srgbClr val="002569"/>
                </a:solidFill>
              </a:rPr>
              <a:t>, the team has developed an </a:t>
            </a:r>
            <a:r>
              <a:rPr lang="en-US" altLang="es-ES" b="1" dirty="0">
                <a:solidFill>
                  <a:srgbClr val="002569"/>
                </a:solidFill>
              </a:rPr>
              <a:t>Operational Risk Matrix composed by approximately 60 risks and controls</a:t>
            </a:r>
            <a:r>
              <a:rPr lang="en-US" altLang="es-ES" dirty="0">
                <a:solidFill>
                  <a:srgbClr val="002569"/>
                </a:solidFill>
              </a:rPr>
              <a:t>, and </a:t>
            </a:r>
            <a:r>
              <a:rPr lang="en-US" altLang="es-ES" b="1" dirty="0">
                <a:solidFill>
                  <a:srgbClr val="002569"/>
                </a:solidFill>
              </a:rPr>
              <a:t>identified different scenarios </a:t>
            </a:r>
            <a:r>
              <a:rPr lang="en-US" b="1" dirty="0">
                <a:solidFill>
                  <a:srgbClr val="002569"/>
                </a:solidFill>
              </a:rPr>
              <a:t>that threats business continuity…</a:t>
            </a:r>
            <a:endParaRPr lang="en-US" altLang="es-ES" b="1" i="1" dirty="0">
              <a:solidFill>
                <a:srgbClr val="002569"/>
              </a:solidFill>
            </a:endParaRPr>
          </a:p>
        </p:txBody>
      </p:sp>
      <p:pic>
        <p:nvPicPr>
          <p:cNvPr id="96318" name="Picture 6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187" y="2433288"/>
            <a:ext cx="7553862" cy="142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ular Callout 3"/>
          <p:cNvSpPr/>
          <p:nvPr/>
        </p:nvSpPr>
        <p:spPr bwMode="auto">
          <a:xfrm>
            <a:off x="2403478" y="3954798"/>
            <a:ext cx="2077675" cy="628341"/>
          </a:xfrm>
          <a:prstGeom prst="wedgeRoundRectCallout">
            <a:avLst>
              <a:gd name="adj1" fmla="val -41119"/>
              <a:gd name="adj2" fmla="val -74828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rgbClr val="002569"/>
                </a:solidFill>
              </a:rPr>
              <a:t>Proposed </a:t>
            </a:r>
            <a:r>
              <a:rPr lang="en-US" sz="1200" b="1" dirty="0">
                <a:solidFill>
                  <a:srgbClr val="002569"/>
                </a:solidFill>
              </a:rPr>
              <a:t>risks are linked to </a:t>
            </a:r>
            <a:r>
              <a:rPr lang="en-US" sz="1200" dirty="0">
                <a:solidFill>
                  <a:srgbClr val="002569"/>
                </a:solidFill>
              </a:rPr>
              <a:t>the processes of the designed</a:t>
            </a:r>
            <a:r>
              <a:rPr lang="en-US" sz="1200" b="1" dirty="0">
                <a:solidFill>
                  <a:srgbClr val="002569"/>
                </a:solidFill>
              </a:rPr>
              <a:t> Value Chain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100048" y="2189409"/>
            <a:ext cx="2726824" cy="515153"/>
          </a:xfrm>
          <a:prstGeom prst="wedgeRoundRectCallout">
            <a:avLst>
              <a:gd name="adj1" fmla="val -22722"/>
              <a:gd name="adj2" fmla="val 7840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strike="noStrike" cap="none" normalizeH="0" baseline="0" dirty="0">
                <a:ln>
                  <a:noFill/>
                </a:ln>
                <a:solidFill>
                  <a:srgbClr val="002569"/>
                </a:solidFill>
                <a:effectLst/>
              </a:rPr>
              <a:t>Risks </a:t>
            </a:r>
            <a:r>
              <a:rPr kumimoji="0" lang="en-US" sz="1200" i="0" strike="noStrike" cap="none" normalizeH="0" baseline="0" dirty="0">
                <a:ln>
                  <a:noFill/>
                </a:ln>
                <a:solidFill>
                  <a:srgbClr val="002569"/>
                </a:solidFill>
                <a:effectLst/>
              </a:rPr>
              <a:t>are described</a:t>
            </a:r>
            <a:r>
              <a:rPr kumimoji="0" lang="en-US" sz="1200" i="0" strike="noStrike" cap="none" normalizeH="0" dirty="0">
                <a:ln>
                  <a:noFill/>
                </a:ln>
                <a:solidFill>
                  <a:srgbClr val="002569"/>
                </a:solidFill>
                <a:effectLst/>
              </a:rPr>
              <a:t> and </a:t>
            </a:r>
            <a:r>
              <a:rPr kumimoji="0" lang="en-US" sz="1200" b="1" i="0" strike="noStrike" cap="none" normalizeH="0" dirty="0">
                <a:ln>
                  <a:noFill/>
                </a:ln>
                <a:solidFill>
                  <a:srgbClr val="002569"/>
                </a:solidFill>
                <a:effectLst/>
              </a:rPr>
              <a:t>classified under a </a:t>
            </a:r>
            <a:r>
              <a:rPr lang="en-US" sz="1200" dirty="0">
                <a:solidFill>
                  <a:srgbClr val="002569"/>
                </a:solidFill>
              </a:rPr>
              <a:t>market-practice </a:t>
            </a:r>
            <a:r>
              <a:rPr lang="en-US" sz="1200" b="1" dirty="0">
                <a:solidFill>
                  <a:srgbClr val="002569"/>
                </a:solidFill>
              </a:rPr>
              <a:t>taxonomy</a:t>
            </a:r>
            <a:endParaRPr kumimoji="0" lang="en-US" sz="1200" b="1" i="0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sp>
        <p:nvSpPr>
          <p:cNvPr id="21" name="Rounded Rectangular Callout 20"/>
          <p:cNvSpPr/>
          <p:nvPr/>
        </p:nvSpPr>
        <p:spPr bwMode="auto">
          <a:xfrm>
            <a:off x="7541872" y="3920011"/>
            <a:ext cx="1980000" cy="472082"/>
          </a:xfrm>
          <a:prstGeom prst="wedgeRoundRectCallout">
            <a:avLst>
              <a:gd name="adj1" fmla="val 16766"/>
              <a:gd name="adj2" fmla="val -8117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Description of the </a:t>
            </a:r>
          </a:p>
          <a:p>
            <a:r>
              <a:rPr lang="en-US" sz="1200" b="1" dirty="0">
                <a:solidFill>
                  <a:srgbClr val="002569"/>
                </a:solidFill>
              </a:rPr>
              <a:t>control </a:t>
            </a:r>
            <a:r>
              <a:rPr lang="en-US" sz="1200" dirty="0">
                <a:solidFill>
                  <a:srgbClr val="002569"/>
                </a:solidFill>
              </a:rPr>
              <a:t>that mitigates risk</a:t>
            </a:r>
          </a:p>
        </p:txBody>
      </p:sp>
      <p:sp>
        <p:nvSpPr>
          <p:cNvPr id="22" name="Pentagon 21"/>
          <p:cNvSpPr/>
          <p:nvPr/>
        </p:nvSpPr>
        <p:spPr>
          <a:xfrm>
            <a:off x="747247" y="2982455"/>
            <a:ext cx="1442384" cy="663853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Tactical Risks &amp; Controls Matrix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538038" y="1973351"/>
            <a:ext cx="0" cy="36675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endCxn id="22" idx="1"/>
          </p:cNvCxnSpPr>
          <p:nvPr/>
        </p:nvCxnSpPr>
        <p:spPr bwMode="auto">
          <a:xfrm>
            <a:off x="538038" y="3314381"/>
            <a:ext cx="209209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Pentagon 26"/>
          <p:cNvSpPr/>
          <p:nvPr/>
        </p:nvSpPr>
        <p:spPr>
          <a:xfrm>
            <a:off x="747247" y="5275827"/>
            <a:ext cx="1442384" cy="730238"/>
          </a:xfrm>
          <a:prstGeom prst="homePlate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tIns="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Business Continuity Risks</a:t>
            </a:r>
          </a:p>
        </p:txBody>
      </p:sp>
      <p:cxnSp>
        <p:nvCxnSpPr>
          <p:cNvPr id="28" name="Straight Connector 27"/>
          <p:cNvCxnSpPr>
            <a:endCxn id="27" idx="1"/>
          </p:cNvCxnSpPr>
          <p:nvPr/>
        </p:nvCxnSpPr>
        <p:spPr bwMode="auto">
          <a:xfrm>
            <a:off x="538038" y="5640946"/>
            <a:ext cx="20920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 Box 23"/>
          <p:cNvSpPr txBox="1">
            <a:spLocks noChangeArrowheads="1"/>
          </p:cNvSpPr>
          <p:nvPr/>
        </p:nvSpPr>
        <p:spPr bwMode="blackWhite">
          <a:xfrm>
            <a:off x="2316280" y="5154643"/>
            <a:ext cx="3079010" cy="30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1450" lvl="1" indent="-171450" algn="l">
              <a:lnSpc>
                <a:spcPct val="10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es-ES" sz="1200" b="1" dirty="0">
                <a:solidFill>
                  <a:srgbClr val="002569"/>
                </a:solidFill>
              </a:rPr>
              <a:t>Three groups of possible threats…</a:t>
            </a:r>
            <a:r>
              <a:rPr lang="en-US" altLang="es-ES" sz="1200" dirty="0">
                <a:solidFill>
                  <a:srgbClr val="002569"/>
                </a:solidFill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82454" y="5412553"/>
            <a:ext cx="2602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Natural disasters</a:t>
            </a:r>
          </a:p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Accidents</a:t>
            </a:r>
          </a:p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Deliberate Actions</a:t>
            </a:r>
            <a:endParaRPr lang="en-US" altLang="es-ES" sz="1200" dirty="0">
              <a:solidFill>
                <a:srgbClr val="C00000"/>
              </a:solidFill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blackWhite">
          <a:xfrm>
            <a:off x="5409144" y="5133441"/>
            <a:ext cx="3079010" cy="30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1450" lvl="1" indent="-171450" algn="l">
              <a:lnSpc>
                <a:spcPct val="100000"/>
              </a:lnSpc>
              <a:buClrTx/>
              <a:buFont typeface="Wingdings" panose="05000000000000000000" pitchFamily="2" charset="2"/>
              <a:buChar char="ü"/>
            </a:pPr>
            <a:r>
              <a:rPr lang="en-US" altLang="es-ES" sz="1200" b="1" dirty="0">
                <a:solidFill>
                  <a:srgbClr val="002569"/>
                </a:solidFill>
              </a:rPr>
              <a:t>Having an impact on…</a:t>
            </a:r>
            <a:endParaRPr lang="en-US" altLang="es-ES" sz="1200" dirty="0">
              <a:solidFill>
                <a:srgbClr val="00256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36681" y="5417109"/>
            <a:ext cx="2602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Employees</a:t>
            </a:r>
          </a:p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Infrastructure</a:t>
            </a:r>
          </a:p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Services</a:t>
            </a:r>
            <a:endParaRPr lang="en-US" altLang="es-ES" sz="1200" dirty="0">
              <a:solidFill>
                <a:srgbClr val="C00000"/>
              </a:solidFill>
            </a:endParaRPr>
          </a:p>
          <a:p>
            <a:pPr marL="925512" lvl="2" indent="-228600" algn="l">
              <a:lnSpc>
                <a:spcPct val="100000"/>
              </a:lnSpc>
              <a:buClrTx/>
              <a:buAutoNum type="arabicPeriod"/>
            </a:pPr>
            <a:r>
              <a:rPr lang="en-US" altLang="es-ES" sz="1200" dirty="0">
                <a:solidFill>
                  <a:srgbClr val="002569"/>
                </a:solidFill>
              </a:rPr>
              <a:t>Technology</a:t>
            </a:r>
          </a:p>
        </p:txBody>
      </p:sp>
      <p:sp>
        <p:nvSpPr>
          <p:cNvPr id="26" name="Rounded Rectangle 25"/>
          <p:cNvSpPr/>
          <p:nvPr/>
        </p:nvSpPr>
        <p:spPr bwMode="auto">
          <a:xfrm>
            <a:off x="8681645" y="5415024"/>
            <a:ext cx="998376" cy="744423"/>
          </a:xfrm>
          <a:prstGeom prst="roundRect">
            <a:avLst/>
          </a:prstGeom>
          <a:noFill/>
          <a:ln w="31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85545"/>
              </p:ext>
            </p:extLst>
          </p:nvPr>
        </p:nvGraphicFramePr>
        <p:xfrm>
          <a:off x="8758782" y="5472005"/>
          <a:ext cx="844748" cy="712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400" imgH="771480" progId="Excel.Sheet.12">
                  <p:embed/>
                </p:oleObj>
              </mc:Choice>
              <mc:Fallback>
                <p:oleObj name="Worksheet" showAsIcon="1" r:id="rId7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58782" y="5472005"/>
                        <a:ext cx="844748" cy="712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ounded Rectangle 29">
            <a:hlinkClick r:id="rId9" action="ppaction://hlinksldjump"/>
          </p:cNvPr>
          <p:cNvSpPr/>
          <p:nvPr/>
        </p:nvSpPr>
        <p:spPr bwMode="auto">
          <a:xfrm>
            <a:off x="9149834" y="6308597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55132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 descr="C:\Users\antonio.desmonts.sa1\Desktop\images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56322" y="2790031"/>
            <a:ext cx="3486388" cy="232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Resultado de imagen para impro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AutoShape 4" descr="Resultado de imagen para improv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blackWhite">
          <a:xfrm>
            <a:off x="382202" y="1079376"/>
            <a:ext cx="8950274" cy="61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ct val="100000"/>
              </a:lnSpc>
              <a:buClrTx/>
              <a:buNone/>
            </a:pPr>
            <a:r>
              <a:rPr lang="en-US" dirty="0">
                <a:solidFill>
                  <a:srgbClr val="002569"/>
                </a:solidFill>
              </a:rPr>
              <a:t>It has been </a:t>
            </a:r>
            <a:r>
              <a:rPr lang="en-US" b="1" dirty="0">
                <a:solidFill>
                  <a:srgbClr val="002569"/>
                </a:solidFill>
              </a:rPr>
              <a:t>identified </a:t>
            </a:r>
            <a:r>
              <a:rPr lang="en-US" dirty="0">
                <a:solidFill>
                  <a:srgbClr val="002569"/>
                </a:solidFill>
              </a:rPr>
              <a:t>some possible</a:t>
            </a:r>
            <a:r>
              <a:rPr lang="en-US" b="1" dirty="0">
                <a:solidFill>
                  <a:srgbClr val="002569"/>
                </a:solidFill>
              </a:rPr>
              <a:t> improvements </a:t>
            </a:r>
            <a:r>
              <a:rPr lang="en-US" dirty="0">
                <a:solidFill>
                  <a:srgbClr val="002569"/>
                </a:solidFill>
              </a:rPr>
              <a:t>from an </a:t>
            </a:r>
            <a:r>
              <a:rPr lang="en-US" b="1" dirty="0">
                <a:solidFill>
                  <a:srgbClr val="002569"/>
                </a:solidFill>
              </a:rPr>
              <a:t>organizational</a:t>
            </a:r>
            <a:r>
              <a:rPr lang="en-US" dirty="0">
                <a:solidFill>
                  <a:srgbClr val="002569"/>
                </a:solidFill>
              </a:rPr>
              <a:t>, </a:t>
            </a:r>
            <a:r>
              <a:rPr lang="en-US" b="1" dirty="0">
                <a:solidFill>
                  <a:srgbClr val="002569"/>
                </a:solidFill>
              </a:rPr>
              <a:t>technological </a:t>
            </a:r>
            <a:r>
              <a:rPr lang="en-US" dirty="0">
                <a:solidFill>
                  <a:srgbClr val="002569"/>
                </a:solidFill>
              </a:rPr>
              <a:t>and </a:t>
            </a:r>
            <a:r>
              <a:rPr lang="en-US" b="1" dirty="0">
                <a:solidFill>
                  <a:srgbClr val="002569"/>
                </a:solidFill>
              </a:rPr>
              <a:t>efficiency point of view</a:t>
            </a:r>
            <a:r>
              <a:rPr lang="en-US" dirty="0">
                <a:solidFill>
                  <a:srgbClr val="002569"/>
                </a:solidFill>
              </a:rPr>
              <a:t>… </a:t>
            </a:r>
            <a:endParaRPr lang="en-US" altLang="es-ES" i="1" dirty="0">
              <a:solidFill>
                <a:srgbClr val="FF0000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Findings and Analysis – Organizational Weaknesses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319350" y="1910298"/>
            <a:ext cx="9347163" cy="4320000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Rounded Rectangle 36"/>
          <p:cNvSpPr/>
          <p:nvPr/>
        </p:nvSpPr>
        <p:spPr bwMode="auto">
          <a:xfrm>
            <a:off x="415560" y="1757595"/>
            <a:ext cx="2232000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400" b="1" i="1" dirty="0">
                <a:solidFill>
                  <a:srgbClr val="002569"/>
                </a:solidFill>
              </a:rPr>
              <a:t>Process Weaknesses…</a:t>
            </a:r>
            <a:endParaRPr kumimoji="0" lang="en-US" sz="14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81882" y="1912408"/>
            <a:ext cx="6619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During the Value Chain design, </a:t>
            </a:r>
            <a:r>
              <a:rPr lang="en-US" sz="1400" b="1" dirty="0">
                <a:solidFill>
                  <a:srgbClr val="002569"/>
                </a:solidFill>
              </a:rPr>
              <a:t>weaknesses in processes have been detected</a:t>
            </a:r>
            <a:r>
              <a:rPr lang="en-US" sz="1400" dirty="0">
                <a:solidFill>
                  <a:srgbClr val="002569"/>
                </a:solidFill>
              </a:rPr>
              <a:t>, some of these are..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blackWhite">
          <a:xfrm>
            <a:off x="2818184" y="2411943"/>
            <a:ext cx="6796401" cy="37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1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2569"/>
                </a:solidFill>
              </a:rPr>
              <a:t>Organizational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2569"/>
                </a:solidFill>
              </a:rPr>
              <a:t>Communications </a:t>
            </a:r>
            <a:r>
              <a:rPr lang="en-US" sz="1200" dirty="0">
                <a:solidFill>
                  <a:srgbClr val="002569"/>
                </a:solidFill>
              </a:rPr>
              <a:t>to customers and sales force </a:t>
            </a:r>
            <a:r>
              <a:rPr lang="en-US" sz="1200" b="1" dirty="0">
                <a:solidFill>
                  <a:srgbClr val="002569"/>
                </a:solidFill>
              </a:rPr>
              <a:t>do not necessary meet guidelines</a:t>
            </a:r>
            <a:r>
              <a:rPr lang="en-US" sz="1200" dirty="0">
                <a:solidFill>
                  <a:srgbClr val="002569"/>
                </a:solidFill>
              </a:rPr>
              <a:t>.. </a:t>
            </a:r>
            <a:r>
              <a:rPr lang="en-US" sz="1200" i="1" dirty="0">
                <a:solidFill>
                  <a:srgbClr val="002569"/>
                </a:solidFill>
              </a:rPr>
              <a:t>(i.e.: From Operations, there are communications that haven’t been reviewed by the owner of  “Communications to customer” process)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2569"/>
                </a:solidFill>
              </a:rPr>
              <a:t>The </a:t>
            </a:r>
            <a:r>
              <a:rPr lang="en-US" sz="1200" b="1" dirty="0">
                <a:solidFill>
                  <a:srgbClr val="002569"/>
                </a:solidFill>
              </a:rPr>
              <a:t>collection of certain types of products do not follow the standard</a:t>
            </a:r>
            <a:r>
              <a:rPr lang="en-US" sz="1200" dirty="0">
                <a:solidFill>
                  <a:srgbClr val="002569"/>
                </a:solidFill>
              </a:rPr>
              <a:t> </a:t>
            </a:r>
            <a:r>
              <a:rPr lang="en-US" sz="1200" i="1" dirty="0">
                <a:solidFill>
                  <a:srgbClr val="002569"/>
                </a:solidFill>
              </a:rPr>
              <a:t>(i.e.: wage discount policies followed a process different to others)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002569"/>
                </a:solidFill>
              </a:rPr>
              <a:t>Cash-Flow “Contracts”</a:t>
            </a:r>
            <a:r>
              <a:rPr lang="en-US" sz="1200" dirty="0">
                <a:solidFill>
                  <a:srgbClr val="002569"/>
                </a:solidFill>
              </a:rPr>
              <a:t> with some customers</a:t>
            </a:r>
            <a:endParaRPr lang="en-US" sz="1200" b="1" dirty="0">
              <a:solidFill>
                <a:srgbClr val="002569"/>
              </a:solidFill>
            </a:endParaRPr>
          </a:p>
          <a:p>
            <a:pPr marL="285750" lvl="1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2569"/>
                </a:solidFill>
              </a:rPr>
              <a:t>Process inefficiency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altLang="es-ES" sz="1200" dirty="0">
                <a:solidFill>
                  <a:srgbClr val="002569"/>
                </a:solidFill>
              </a:rPr>
              <a:t>In some processes there is an </a:t>
            </a:r>
            <a:r>
              <a:rPr lang="en-US" altLang="es-ES" sz="1200" b="1" dirty="0">
                <a:solidFill>
                  <a:srgbClr val="002569"/>
                </a:solidFill>
              </a:rPr>
              <a:t>excessive degree of segregation</a:t>
            </a:r>
            <a:r>
              <a:rPr lang="en-US" altLang="es-ES" sz="1200" dirty="0">
                <a:solidFill>
                  <a:srgbClr val="002569"/>
                </a:solidFill>
              </a:rPr>
              <a:t>, what implies an </a:t>
            </a:r>
            <a:r>
              <a:rPr lang="en-US" altLang="es-ES" sz="1200" b="1" dirty="0">
                <a:solidFill>
                  <a:srgbClr val="002569"/>
                </a:solidFill>
              </a:rPr>
              <a:t>increase in  the time to execute </a:t>
            </a:r>
            <a:r>
              <a:rPr lang="en-US" altLang="es-ES" sz="1200" dirty="0">
                <a:solidFill>
                  <a:srgbClr val="002569"/>
                </a:solidFill>
              </a:rPr>
              <a:t>them </a:t>
            </a:r>
            <a:r>
              <a:rPr lang="en-US" altLang="es-ES" sz="1200" i="1" dirty="0">
                <a:solidFill>
                  <a:srgbClr val="002569"/>
                </a:solidFill>
              </a:rPr>
              <a:t>(i.e. Technical review of products)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2569"/>
                </a:solidFill>
              </a:rPr>
              <a:t>Some </a:t>
            </a:r>
            <a:r>
              <a:rPr lang="en-US" sz="1200" b="1" dirty="0">
                <a:solidFill>
                  <a:srgbClr val="002569"/>
                </a:solidFill>
              </a:rPr>
              <a:t>processes are carried out by different areas depending on some parameters</a:t>
            </a:r>
            <a:r>
              <a:rPr lang="en-US" sz="1200" dirty="0">
                <a:solidFill>
                  <a:srgbClr val="002569"/>
                </a:solidFill>
              </a:rPr>
              <a:t>. The </a:t>
            </a:r>
            <a:r>
              <a:rPr lang="en-US" sz="1200" b="1" dirty="0">
                <a:solidFill>
                  <a:srgbClr val="002569"/>
                </a:solidFill>
              </a:rPr>
              <a:t>path carried out </a:t>
            </a:r>
            <a:r>
              <a:rPr lang="en-US" sz="1200" dirty="0">
                <a:solidFill>
                  <a:srgbClr val="002569"/>
                </a:solidFill>
              </a:rPr>
              <a:t>by the different areas </a:t>
            </a:r>
            <a:r>
              <a:rPr lang="en-US" sz="1200" b="1" dirty="0">
                <a:solidFill>
                  <a:srgbClr val="002569"/>
                </a:solidFill>
              </a:rPr>
              <a:t>do not follow a standard </a:t>
            </a:r>
            <a:r>
              <a:rPr lang="en-US" sz="1200" i="1" dirty="0">
                <a:solidFill>
                  <a:srgbClr val="002569"/>
                </a:solidFill>
              </a:rPr>
              <a:t>(i.e.: Property Management; Human Resources or Investment )</a:t>
            </a:r>
          </a:p>
          <a:p>
            <a:pPr marL="285750" lvl="1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002569"/>
                </a:solidFill>
              </a:rPr>
              <a:t>Technological</a:t>
            </a:r>
          </a:p>
          <a:p>
            <a:pPr marL="977900" lvl="2" indent="-285750" algn="l">
              <a:lnSpc>
                <a:spcPct val="100000"/>
              </a:lnSpc>
              <a:buClr>
                <a:srgbClr val="002569"/>
              </a:buClr>
              <a:buFont typeface="Wingdings" panose="05000000000000000000" pitchFamily="2" charset="2"/>
              <a:buChar char="§"/>
            </a:pPr>
            <a:r>
              <a:rPr lang="en-US" altLang="es-ES" sz="1200" dirty="0">
                <a:solidFill>
                  <a:srgbClr val="002569"/>
                </a:solidFill>
              </a:rPr>
              <a:t>Some systems </a:t>
            </a:r>
            <a:r>
              <a:rPr lang="en-US" altLang="es-ES" sz="1200" b="1" dirty="0">
                <a:solidFill>
                  <a:srgbClr val="002569"/>
                </a:solidFill>
              </a:rPr>
              <a:t>lack certain functionality</a:t>
            </a:r>
            <a:r>
              <a:rPr lang="en-US" altLang="es-ES" sz="1200" dirty="0">
                <a:solidFill>
                  <a:srgbClr val="002569"/>
                </a:solidFill>
              </a:rPr>
              <a:t>, what </a:t>
            </a:r>
            <a:r>
              <a:rPr lang="en-US" altLang="es-ES" sz="1200" b="1" dirty="0">
                <a:solidFill>
                  <a:srgbClr val="002569"/>
                </a:solidFill>
              </a:rPr>
              <a:t>makes necessary to register </a:t>
            </a:r>
            <a:r>
              <a:rPr lang="en-US" altLang="es-ES" sz="1200" dirty="0">
                <a:solidFill>
                  <a:srgbClr val="002569"/>
                </a:solidFill>
              </a:rPr>
              <a:t>the information not only in several systems (</a:t>
            </a:r>
            <a:r>
              <a:rPr lang="en-US" altLang="es-ES" sz="1200" dirty="0" err="1">
                <a:solidFill>
                  <a:srgbClr val="002569"/>
                </a:solidFill>
              </a:rPr>
              <a:t>MedNext</a:t>
            </a:r>
            <a:r>
              <a:rPr lang="en-US" altLang="es-ES" sz="1200" dirty="0">
                <a:solidFill>
                  <a:srgbClr val="002569"/>
                </a:solidFill>
              </a:rPr>
              <a:t>, Segu-</a:t>
            </a:r>
            <a:r>
              <a:rPr lang="en-US" altLang="es-ES" sz="1200" dirty="0" err="1">
                <a:solidFill>
                  <a:srgbClr val="002569"/>
                </a:solidFill>
              </a:rPr>
              <a:t>Compra</a:t>
            </a:r>
            <a:r>
              <a:rPr lang="en-US" altLang="es-ES" sz="1200" dirty="0">
                <a:solidFill>
                  <a:srgbClr val="002569"/>
                </a:solidFill>
              </a:rPr>
              <a:t>, Excel sheets)</a:t>
            </a:r>
            <a:endParaRPr lang="es-ES" altLang="es-ES" sz="1200" dirty="0">
              <a:solidFill>
                <a:srgbClr val="002569"/>
              </a:solidFill>
            </a:endParaRP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 bwMode="auto">
          <a:xfrm>
            <a:off x="9146404" y="630829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15372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48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Review and Execution of the ORM Framework</a:t>
            </a:r>
            <a:r>
              <a:rPr lang="es-ES" b="1" i="1" dirty="0">
                <a:solidFill>
                  <a:srgbClr val="BFA13E"/>
                </a:solidFill>
              </a:rPr>
              <a:t> (1/4)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4308" y="1273083"/>
            <a:ext cx="2314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Review and Execution of the Operational Risk Management Framework</a:t>
            </a:r>
            <a:endParaRPr lang="en-US" sz="1200" b="1" i="1" dirty="0">
              <a:solidFill>
                <a:schemeClr val="accent1">
                  <a:lumMod val="90000"/>
                </a:schemeClr>
              </a:solidFill>
            </a:endParaRP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4219650163"/>
              </p:ext>
            </p:extLst>
          </p:nvPr>
        </p:nvGraphicFramePr>
        <p:xfrm>
          <a:off x="2564072" y="2546961"/>
          <a:ext cx="5041901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570010" y="1156532"/>
            <a:ext cx="6246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To construct a proper ORM Framework it is </a:t>
            </a:r>
            <a:r>
              <a:rPr lang="en-US" sz="1400" b="1" dirty="0">
                <a:solidFill>
                  <a:srgbClr val="002569"/>
                </a:solidFill>
              </a:rPr>
              <a:t>necessary to first define how to implement the Model</a:t>
            </a:r>
            <a:r>
              <a:rPr lang="en-US" sz="1400" dirty="0">
                <a:solidFill>
                  <a:srgbClr val="002569"/>
                </a:solidFill>
              </a:rPr>
              <a:t>; reviewing methodologies, designing the Governance and Organizational Model... Once this is accomplished </a:t>
            </a:r>
            <a:r>
              <a:rPr lang="en-US" sz="1400" b="1" dirty="0">
                <a:solidFill>
                  <a:srgbClr val="002569"/>
                </a:solidFill>
              </a:rPr>
              <a:t>next step is to execute it </a:t>
            </a:r>
            <a:r>
              <a:rPr lang="en-US" sz="1400" dirty="0">
                <a:solidFill>
                  <a:srgbClr val="002569"/>
                </a:solidFill>
              </a:rPr>
              <a:t>(process documentation..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85381" y="2339625"/>
            <a:ext cx="8990375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50000"/>
              </a:spcBef>
              <a:buClr>
                <a:schemeClr val="hlink"/>
              </a:buClr>
            </a:pPr>
            <a:r>
              <a:rPr lang="en-US" altLang="es-ES" sz="1600" i="1" dirty="0">
                <a:solidFill>
                  <a:srgbClr val="002569"/>
                </a:solidFill>
              </a:rPr>
              <a:t>To construct an appropriate </a:t>
            </a:r>
            <a:r>
              <a:rPr lang="en-US" altLang="es-ES" sz="1600" b="1" i="1" dirty="0">
                <a:solidFill>
                  <a:srgbClr val="002569"/>
                </a:solidFill>
              </a:rPr>
              <a:t>ORM Framework </a:t>
            </a:r>
            <a:r>
              <a:rPr lang="en-US" altLang="es-ES" sz="1600" i="1" dirty="0">
                <a:solidFill>
                  <a:srgbClr val="002569"/>
                </a:solidFill>
              </a:rPr>
              <a:t>it should be considered next </a:t>
            </a:r>
            <a:r>
              <a:rPr lang="en-US" altLang="es-ES" sz="1600" b="1" i="1" dirty="0">
                <a:solidFill>
                  <a:srgbClr val="002569"/>
                </a:solidFill>
              </a:rPr>
              <a:t>four dimensions..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 flipH="1" flipV="1">
            <a:off x="3209569" y="3501947"/>
            <a:ext cx="477635" cy="3275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flipV="1">
            <a:off x="3193588" y="2909641"/>
            <a:ext cx="0" cy="100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H="1">
            <a:off x="6521401" y="3223378"/>
            <a:ext cx="381527" cy="4069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6919418" y="3084393"/>
            <a:ext cx="0" cy="133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919418" y="3087037"/>
            <a:ext cx="2897493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2569"/>
                </a:solidFill>
              </a:rPr>
              <a:t>Review of Risk Taxonomy </a:t>
            </a:r>
            <a:r>
              <a:rPr lang="en-US" sz="1050" dirty="0">
                <a:solidFill>
                  <a:srgbClr val="002569"/>
                </a:solidFill>
              </a:rPr>
              <a:t>and </a:t>
            </a:r>
            <a:r>
              <a:rPr lang="en-US" sz="1050" b="1" dirty="0">
                <a:solidFill>
                  <a:srgbClr val="002569"/>
                </a:solidFill>
              </a:rPr>
              <a:t>Self Assessment Methods </a:t>
            </a:r>
            <a:r>
              <a:rPr lang="en-US" sz="1050" dirty="0">
                <a:solidFill>
                  <a:srgbClr val="002569"/>
                </a:solidFill>
              </a:rPr>
              <a:t>(evaluation questionnaires and scenario analysis)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Review of the </a:t>
            </a:r>
            <a:r>
              <a:rPr lang="en-US" sz="1050" b="1" dirty="0">
                <a:solidFill>
                  <a:srgbClr val="002569"/>
                </a:solidFill>
              </a:rPr>
              <a:t>variables considered to  evaluate </a:t>
            </a:r>
            <a:r>
              <a:rPr lang="en-US" sz="1050" dirty="0">
                <a:solidFill>
                  <a:srgbClr val="002569"/>
                </a:solidFill>
              </a:rPr>
              <a:t>(frequency, average impact, worst case scenario, etc.) </a:t>
            </a:r>
            <a:r>
              <a:rPr lang="en-US" sz="1050" b="1" dirty="0">
                <a:solidFill>
                  <a:srgbClr val="002569"/>
                </a:solidFill>
              </a:rPr>
              <a:t>and quantification procedure</a:t>
            </a:r>
            <a:endParaRPr lang="en-US" sz="1050" dirty="0">
              <a:solidFill>
                <a:srgbClr val="002569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 bwMode="auto">
          <a:xfrm flipH="1">
            <a:off x="3106727" y="5009980"/>
            <a:ext cx="460721" cy="1761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3115195" y="5049621"/>
            <a:ext cx="0" cy="7643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54775" y="4833811"/>
            <a:ext cx="24840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Definition of </a:t>
            </a:r>
            <a:r>
              <a:rPr lang="en-US" sz="1050" b="1" dirty="0">
                <a:solidFill>
                  <a:srgbClr val="002569"/>
                </a:solidFill>
              </a:rPr>
              <a:t>risk appetite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endParaRPr lang="en-US" sz="4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2569"/>
                </a:solidFill>
              </a:rPr>
              <a:t>Review  of reports </a:t>
            </a:r>
            <a:r>
              <a:rPr lang="en-US" sz="1050" dirty="0">
                <a:solidFill>
                  <a:srgbClr val="002569"/>
                </a:solidFill>
              </a:rPr>
              <a:t>and analysis </a:t>
            </a:r>
            <a:r>
              <a:rPr lang="en-US" sz="1050" b="1" dirty="0">
                <a:solidFill>
                  <a:srgbClr val="002569"/>
                </a:solidFill>
              </a:rPr>
              <a:t>of sufficiency and adequacy of information</a:t>
            </a:r>
            <a:r>
              <a:rPr lang="en-US" sz="1050" dirty="0">
                <a:solidFill>
                  <a:srgbClr val="002569"/>
                </a:solidFill>
              </a:rPr>
              <a:t>..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Definition of </a:t>
            </a:r>
            <a:r>
              <a:rPr lang="en-US" sz="1050" b="1" dirty="0">
                <a:solidFill>
                  <a:srgbClr val="002569"/>
                </a:solidFill>
              </a:rPr>
              <a:t>Risk Mitigation</a:t>
            </a:r>
            <a:r>
              <a:rPr lang="en-US" sz="1050" dirty="0">
                <a:solidFill>
                  <a:srgbClr val="002569"/>
                </a:solidFill>
              </a:rPr>
              <a:t> </a:t>
            </a:r>
            <a:r>
              <a:rPr lang="en-US" sz="1050" b="1" dirty="0">
                <a:solidFill>
                  <a:srgbClr val="002569"/>
                </a:solidFill>
              </a:rPr>
              <a:t>Plans</a:t>
            </a:r>
          </a:p>
          <a:p>
            <a:pPr algn="l"/>
            <a:r>
              <a:rPr lang="en-US" sz="1050" dirty="0">
                <a:solidFill>
                  <a:srgbClr val="002569"/>
                </a:solidFill>
              </a:rPr>
              <a:t>     </a:t>
            </a:r>
            <a:r>
              <a:rPr lang="en-US" sz="1050" b="1" dirty="0">
                <a:solidFill>
                  <a:srgbClr val="002569"/>
                </a:solidFill>
              </a:rPr>
              <a:t>measures</a:t>
            </a:r>
            <a:r>
              <a:rPr lang="en-US" sz="1050" dirty="0">
                <a:solidFill>
                  <a:srgbClr val="002569"/>
                </a:solidFill>
              </a:rPr>
              <a:t> and monitoring</a:t>
            </a:r>
          </a:p>
        </p:txBody>
      </p:sp>
      <p:cxnSp>
        <p:nvCxnSpPr>
          <p:cNvPr id="32" name="Straight Connector 31"/>
          <p:cNvCxnSpPr/>
          <p:nvPr/>
        </p:nvCxnSpPr>
        <p:spPr bwMode="auto">
          <a:xfrm flipH="1" flipV="1">
            <a:off x="6603384" y="5063320"/>
            <a:ext cx="494050" cy="136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 flipV="1">
            <a:off x="7130190" y="5070721"/>
            <a:ext cx="0" cy="90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59547" y="2872036"/>
            <a:ext cx="2820964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Reviewing of the </a:t>
            </a:r>
            <a:r>
              <a:rPr lang="en-US" sz="1050" b="1" dirty="0">
                <a:solidFill>
                  <a:srgbClr val="002569"/>
                </a:solidFill>
              </a:rPr>
              <a:t>relationship between areas</a:t>
            </a:r>
            <a:r>
              <a:rPr lang="en-US" sz="1050" dirty="0">
                <a:solidFill>
                  <a:srgbClr val="002569"/>
                </a:solidFill>
              </a:rPr>
              <a:t>, </a:t>
            </a:r>
            <a:r>
              <a:rPr lang="en-US" sz="1050" b="1" dirty="0">
                <a:solidFill>
                  <a:srgbClr val="002569"/>
                </a:solidFill>
              </a:rPr>
              <a:t>functions of validation, </a:t>
            </a:r>
            <a:r>
              <a:rPr lang="en-US" sz="1050" dirty="0">
                <a:solidFill>
                  <a:srgbClr val="002569"/>
                </a:solidFill>
              </a:rPr>
              <a:t>the </a:t>
            </a:r>
            <a:r>
              <a:rPr lang="en-US" sz="1050" b="1" dirty="0">
                <a:solidFill>
                  <a:srgbClr val="002569"/>
                </a:solidFill>
              </a:rPr>
              <a:t>role of senior management</a:t>
            </a:r>
            <a:r>
              <a:rPr lang="en-US" sz="1050" dirty="0">
                <a:solidFill>
                  <a:srgbClr val="002569"/>
                </a:solidFill>
              </a:rPr>
              <a:t>, etc. and all aspects relating to the </a:t>
            </a:r>
            <a:r>
              <a:rPr lang="en-US" sz="1050" b="1" dirty="0">
                <a:solidFill>
                  <a:srgbClr val="002569"/>
                </a:solidFill>
              </a:rPr>
              <a:t>existence of an adequate ORM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b="1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2569"/>
                </a:solidFill>
              </a:rPr>
              <a:t>Role of Internal Audit </a:t>
            </a:r>
            <a:r>
              <a:rPr lang="en-US" sz="1050" dirty="0">
                <a:solidFill>
                  <a:srgbClr val="002569"/>
                </a:solidFill>
              </a:rPr>
              <a:t>in the review of methodologies and system of ORM.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987" y="5002018"/>
            <a:ext cx="279930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2569"/>
                </a:solidFill>
              </a:rPr>
              <a:t>Operational Risk System </a:t>
            </a:r>
            <a:r>
              <a:rPr lang="en-US" sz="1050" dirty="0">
                <a:solidFill>
                  <a:srgbClr val="002569"/>
                </a:solidFill>
              </a:rPr>
              <a:t>definition; coverages requirements, robustness, integrity and data quality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02569"/>
                </a:solidFill>
              </a:rPr>
              <a:t>Automatization</a:t>
            </a:r>
            <a:r>
              <a:rPr lang="en-US" sz="1050" dirty="0">
                <a:solidFill>
                  <a:srgbClr val="002569"/>
                </a:solidFill>
              </a:rPr>
              <a:t> of…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0923" y="5727634"/>
            <a:ext cx="279930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002569"/>
                </a:solidFill>
              </a:rPr>
              <a:t>Report  Generation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002569"/>
                </a:solidFill>
              </a:rPr>
              <a:t>Capital Calculation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050" dirty="0">
                <a:solidFill>
                  <a:srgbClr val="002569"/>
                </a:solidFill>
              </a:rPr>
              <a:t>Etc..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" name="Rectangle 29">
            <a:hlinkClick r:id="rId7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9" name="Rectangle 38">
            <a:hlinkClick r:id="rId7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7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" name="Right Arrow 2"/>
          <p:cNvSpPr/>
          <p:nvPr/>
        </p:nvSpPr>
        <p:spPr bwMode="auto">
          <a:xfrm>
            <a:off x="8362521" y="149703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26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 bwMode="auto">
          <a:xfrm>
            <a:off x="319350" y="3777922"/>
            <a:ext cx="9397855" cy="2158399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AutoShape 52"/>
          <p:cNvSpPr>
            <a:spLocks noChangeArrowheads="1"/>
          </p:cNvSpPr>
          <p:nvPr/>
        </p:nvSpPr>
        <p:spPr bwMode="auto">
          <a:xfrm>
            <a:off x="2085861" y="3510461"/>
            <a:ext cx="1901126" cy="772157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 dirty="0">
              <a:solidFill>
                <a:schemeClr val="bg1"/>
              </a:solidFill>
              <a:latin typeface="Myriad-Roman" pitchFamily="2" charset="0"/>
            </a:endParaRPr>
          </a:p>
        </p:txBody>
      </p:sp>
      <p:sp>
        <p:nvSpPr>
          <p:cNvPr id="22" name="AutoShape 52"/>
          <p:cNvSpPr>
            <a:spLocks noChangeArrowheads="1"/>
          </p:cNvSpPr>
          <p:nvPr/>
        </p:nvSpPr>
        <p:spPr bwMode="auto">
          <a:xfrm>
            <a:off x="4058206" y="3510461"/>
            <a:ext cx="1901126" cy="772157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>
              <a:solidFill>
                <a:schemeClr val="bg1"/>
              </a:solidFill>
              <a:latin typeface="Myriad-Roman" pitchFamily="2" charset="0"/>
            </a:endParaRPr>
          </a:p>
        </p:txBody>
      </p:sp>
      <p:sp>
        <p:nvSpPr>
          <p:cNvPr id="23" name="AutoShape 52"/>
          <p:cNvSpPr>
            <a:spLocks noChangeArrowheads="1"/>
          </p:cNvSpPr>
          <p:nvPr/>
        </p:nvSpPr>
        <p:spPr bwMode="auto">
          <a:xfrm>
            <a:off x="5977777" y="3510461"/>
            <a:ext cx="1901126" cy="772157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 dirty="0">
              <a:solidFill>
                <a:sysClr val="windowText" lastClr="000000"/>
              </a:solidFill>
              <a:latin typeface="Myriad-Roman" pitchFamily="2" charset="0"/>
            </a:endParaRPr>
          </a:p>
        </p:txBody>
      </p:sp>
      <p:sp>
        <p:nvSpPr>
          <p:cNvPr id="24" name="AutoShape 52"/>
          <p:cNvSpPr>
            <a:spLocks noChangeArrowheads="1"/>
          </p:cNvSpPr>
          <p:nvPr/>
        </p:nvSpPr>
        <p:spPr bwMode="auto">
          <a:xfrm>
            <a:off x="7915785" y="3510461"/>
            <a:ext cx="1901126" cy="772157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>
              <a:solidFill>
                <a:schemeClr val="bg1"/>
              </a:solidFill>
              <a:latin typeface="Myriad-Roman" pitchFamily="2" charset="0"/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1353777" y="2557993"/>
            <a:ext cx="7658945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50000"/>
              </a:spcBef>
              <a:buClr>
                <a:schemeClr val="hlink"/>
              </a:buClr>
            </a:pPr>
            <a:r>
              <a:rPr lang="en-US" altLang="es-ES" sz="1500" i="1" dirty="0">
                <a:solidFill>
                  <a:srgbClr val="002569"/>
                </a:solidFill>
              </a:rPr>
              <a:t>Once the framework is designed, </a:t>
            </a:r>
            <a:r>
              <a:rPr lang="en-US" altLang="es-ES" sz="1500" b="1" i="1" dirty="0">
                <a:solidFill>
                  <a:srgbClr val="002569"/>
                </a:solidFill>
              </a:rPr>
              <a:t>next four steps </a:t>
            </a:r>
            <a:r>
              <a:rPr lang="en-US" altLang="es-ES" sz="1500" i="1" dirty="0">
                <a:solidFill>
                  <a:srgbClr val="002569"/>
                </a:solidFill>
              </a:rPr>
              <a:t>should be carried out </a:t>
            </a:r>
            <a:r>
              <a:rPr lang="en-US" altLang="es-ES" sz="1500" b="1" i="1" dirty="0">
                <a:solidFill>
                  <a:srgbClr val="002569"/>
                </a:solidFill>
              </a:rPr>
              <a:t>to execute the ORM Framework…</a:t>
            </a:r>
          </a:p>
        </p:txBody>
      </p:sp>
      <p:sp>
        <p:nvSpPr>
          <p:cNvPr id="27" name="AutoShape 52"/>
          <p:cNvSpPr>
            <a:spLocks noChangeArrowheads="1"/>
          </p:cNvSpPr>
          <p:nvPr/>
        </p:nvSpPr>
        <p:spPr bwMode="auto">
          <a:xfrm>
            <a:off x="80077" y="3515189"/>
            <a:ext cx="1728298" cy="772157"/>
          </a:xfrm>
          <a:prstGeom prst="chevron">
            <a:avLst>
              <a:gd name="adj" fmla="val 25178"/>
            </a:avLst>
          </a:prstGeom>
          <a:solidFill>
            <a:srgbClr val="002569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 dirty="0">
              <a:solidFill>
                <a:schemeClr val="bg1"/>
              </a:solidFill>
              <a:latin typeface="Myriad-Roman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4126" y="3549544"/>
            <a:ext cx="1620000" cy="7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Operational Risk Management 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Framework</a:t>
            </a:r>
          </a:p>
        </p:txBody>
      </p:sp>
      <p:sp>
        <p:nvSpPr>
          <p:cNvPr id="29" name="AutoShape 52"/>
          <p:cNvSpPr>
            <a:spLocks noChangeArrowheads="1"/>
          </p:cNvSpPr>
          <p:nvPr/>
        </p:nvSpPr>
        <p:spPr bwMode="auto">
          <a:xfrm>
            <a:off x="1695201" y="3515189"/>
            <a:ext cx="288000" cy="772157"/>
          </a:xfrm>
          <a:prstGeom prst="chevron">
            <a:avLst>
              <a:gd name="adj" fmla="val 66243"/>
            </a:avLst>
          </a:prstGeom>
          <a:solidFill>
            <a:srgbClr val="002569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algn="l" eaLnBrk="0" hangingPunct="0">
              <a:lnSpc>
                <a:spcPct val="100000"/>
              </a:lnSpc>
              <a:spcBef>
                <a:spcPct val="0"/>
              </a:spcBef>
            </a:pPr>
            <a:endParaRPr lang="es-CL" sz="800" b="1" dirty="0">
              <a:solidFill>
                <a:schemeClr val="bg1"/>
              </a:solidFill>
              <a:latin typeface="Myriad-Roman" pitchFamily="2" charset="0"/>
            </a:endParaRPr>
          </a:p>
        </p:txBody>
      </p:sp>
      <p:sp>
        <p:nvSpPr>
          <p:cNvPr id="4" name="Oval 3"/>
          <p:cNvSpPr/>
          <p:nvPr/>
        </p:nvSpPr>
        <p:spPr bwMode="auto">
          <a:xfrm>
            <a:off x="1952657" y="3367399"/>
            <a:ext cx="357089" cy="300251"/>
          </a:xfrm>
          <a:prstGeom prst="ellipse">
            <a:avLst/>
          </a:prstGeom>
          <a:solidFill>
            <a:srgbClr val="0025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3879661" y="3337062"/>
            <a:ext cx="357089" cy="300251"/>
          </a:xfrm>
          <a:prstGeom prst="ellipse">
            <a:avLst/>
          </a:prstGeom>
          <a:solidFill>
            <a:srgbClr val="0025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2</a:t>
            </a:r>
          </a:p>
        </p:txBody>
      </p:sp>
      <p:sp>
        <p:nvSpPr>
          <p:cNvPr id="32" name="Oval 31"/>
          <p:cNvSpPr/>
          <p:nvPr/>
        </p:nvSpPr>
        <p:spPr bwMode="auto">
          <a:xfrm>
            <a:off x="5835379" y="3337062"/>
            <a:ext cx="357089" cy="300251"/>
          </a:xfrm>
          <a:prstGeom prst="ellipse">
            <a:avLst/>
          </a:prstGeom>
          <a:solidFill>
            <a:srgbClr val="0025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3</a:t>
            </a:r>
          </a:p>
        </p:txBody>
      </p:sp>
      <p:sp>
        <p:nvSpPr>
          <p:cNvPr id="33" name="Oval 32"/>
          <p:cNvSpPr/>
          <p:nvPr/>
        </p:nvSpPr>
        <p:spPr bwMode="auto">
          <a:xfrm>
            <a:off x="7770870" y="3337062"/>
            <a:ext cx="357089" cy="300251"/>
          </a:xfrm>
          <a:prstGeom prst="ellipse">
            <a:avLst/>
          </a:prstGeom>
          <a:solidFill>
            <a:srgbClr val="0025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6773" y="3610018"/>
            <a:ext cx="1479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569"/>
                </a:solidFill>
              </a:rPr>
              <a:t>Process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9118" y="3528130"/>
            <a:ext cx="1479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569"/>
                </a:solidFill>
              </a:rPr>
              <a:t>Risk and Control Identification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8689" y="3540092"/>
            <a:ext cx="1479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569"/>
                </a:solidFill>
              </a:rPr>
              <a:t>Risk and Control Valuation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6697" y="3547007"/>
            <a:ext cx="1479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569"/>
                </a:solidFill>
              </a:rPr>
              <a:t>Reporting and Analysis of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9171" y="4374795"/>
            <a:ext cx="182620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Identification of risks and operational controls of the processes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Establishing KPIs &amp; KRIs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Plans to improve controls</a:t>
            </a:r>
          </a:p>
          <a:p>
            <a:pPr algn="l"/>
            <a:endParaRPr lang="en-US" sz="1050" dirty="0">
              <a:solidFill>
                <a:srgbClr val="002569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9343" y="4387674"/>
            <a:ext cx="1829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Creation and completion of self-assessment questionnaires for each process: economic impact , probability of occurrence, effectiveness of controls and indicators.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4415" y="4387674"/>
            <a:ext cx="17561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s-ES" sz="1050" dirty="0">
                <a:solidFill>
                  <a:srgbClr val="002569"/>
                </a:solidFill>
              </a:rPr>
              <a:t>Generation of reports and analysis of results</a:t>
            </a:r>
          </a:p>
        </p:txBody>
      </p:sp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49" y="4406492"/>
            <a:ext cx="1746060" cy="1529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2045975" y="4387674"/>
            <a:ext cx="17381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Meetings with users are held in order to identify and document the way the process is carry out at that moment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endParaRPr lang="en-US" sz="4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2569"/>
                </a:solidFill>
              </a:rPr>
              <a:t>Process improvements should be identified</a:t>
            </a: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Review and Execution of the ORM Framework</a:t>
            </a:r>
            <a:r>
              <a:rPr lang="es-ES" b="1" i="1" dirty="0">
                <a:solidFill>
                  <a:srgbClr val="BFA13E"/>
                </a:solidFill>
              </a:rPr>
              <a:t> (2/4)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4308" y="1273083"/>
            <a:ext cx="2314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Review and Execution of the Operational Risk Management Framework</a:t>
            </a:r>
            <a:endParaRPr lang="en-US" sz="1200" b="1" i="1" dirty="0">
              <a:solidFill>
                <a:schemeClr val="accent1">
                  <a:lumMod val="90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" name="Rectangle 58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1" name="Rectangle 60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3" name="Rectangle 62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64" name="Right Arrow 63"/>
          <p:cNvSpPr/>
          <p:nvPr/>
        </p:nvSpPr>
        <p:spPr bwMode="auto">
          <a:xfrm>
            <a:off x="8362521" y="149703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70010" y="1156532"/>
            <a:ext cx="6246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To construct a proper ORM Framework it is </a:t>
            </a:r>
            <a:r>
              <a:rPr lang="en-US" sz="1400" b="1" dirty="0">
                <a:solidFill>
                  <a:srgbClr val="002569"/>
                </a:solidFill>
              </a:rPr>
              <a:t>necessary to first define how to implement the Model</a:t>
            </a:r>
            <a:r>
              <a:rPr lang="en-US" sz="1400" dirty="0">
                <a:solidFill>
                  <a:srgbClr val="002569"/>
                </a:solidFill>
              </a:rPr>
              <a:t>; reviewing methodologies, designing the Governance and Organizational Model... Once this is accomplished </a:t>
            </a:r>
            <a:r>
              <a:rPr lang="en-US" sz="1400" b="1" dirty="0">
                <a:solidFill>
                  <a:srgbClr val="002569"/>
                </a:solidFill>
              </a:rPr>
              <a:t>next step is to execute it </a:t>
            </a:r>
            <a:r>
              <a:rPr lang="en-US" sz="1400" dirty="0">
                <a:solidFill>
                  <a:srgbClr val="002569"/>
                </a:solidFill>
              </a:rPr>
              <a:t>(process documentation..</a:t>
            </a:r>
            <a:endParaRPr lang="en-US" sz="1400" b="1" dirty="0">
              <a:solidFill>
                <a:srgbClr val="002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23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http://www.netquest.com/blog/wp-content/uploads/2014/12/modelo_brief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34" y="3054313"/>
            <a:ext cx="3128780" cy="224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 bwMode="auto">
          <a:xfrm>
            <a:off x="319351" y="2498802"/>
            <a:ext cx="9247734" cy="3565874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486810" y="2317031"/>
            <a:ext cx="3348212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400" b="1" i="1" dirty="0">
                <a:solidFill>
                  <a:srgbClr val="002569"/>
                </a:solidFill>
              </a:rPr>
              <a:t>How to carry out the execution…?</a:t>
            </a:r>
            <a:endParaRPr kumimoji="0" lang="en-US" sz="14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589294" y="2733676"/>
            <a:ext cx="300383" cy="284881"/>
            <a:chOff x="-1173707" y="1788188"/>
            <a:chExt cx="363463" cy="344706"/>
          </a:xfrm>
        </p:grpSpPr>
        <p:sp>
          <p:nvSpPr>
            <p:cNvPr id="21" name="Oval 20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2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Box 22"/>
          <p:cNvSpPr txBox="1"/>
          <p:nvPr/>
        </p:nvSpPr>
        <p:spPr>
          <a:xfrm>
            <a:off x="3911450" y="2723690"/>
            <a:ext cx="56556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Process Prioritization</a:t>
            </a:r>
          </a:p>
          <a:p>
            <a:pPr algn="l"/>
            <a:endParaRPr lang="en-US" sz="200" b="1" dirty="0">
              <a:solidFill>
                <a:srgbClr val="002569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Based on the Value Chain designed, a group of</a:t>
            </a:r>
            <a:r>
              <a:rPr lang="en-US" sz="1200" b="1" dirty="0">
                <a:solidFill>
                  <a:srgbClr val="002569"/>
                </a:solidFill>
              </a:rPr>
              <a:t> 30</a:t>
            </a:r>
            <a:r>
              <a:rPr lang="en-US" sz="1200" dirty="0">
                <a:solidFill>
                  <a:srgbClr val="002569"/>
                </a:solidFill>
              </a:rPr>
              <a:t>-</a:t>
            </a:r>
            <a:r>
              <a:rPr lang="en-US" sz="1200" b="1" dirty="0">
                <a:solidFill>
                  <a:srgbClr val="002569"/>
                </a:solidFill>
              </a:rPr>
              <a:t>40 processes should be selected to be documented first</a:t>
            </a:r>
            <a:r>
              <a:rPr lang="en-US" sz="1200" dirty="0">
                <a:solidFill>
                  <a:srgbClr val="002569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Based on our experience and findings during the project</a:t>
            </a:r>
            <a:r>
              <a:rPr lang="en-US" sz="1200" b="1" dirty="0">
                <a:solidFill>
                  <a:srgbClr val="002569"/>
                </a:solidFill>
              </a:rPr>
              <a:t>, 36 processes have been selected </a:t>
            </a:r>
            <a:r>
              <a:rPr lang="en-US" sz="1200" dirty="0">
                <a:solidFill>
                  <a:srgbClr val="002569"/>
                </a:solidFill>
              </a:rPr>
              <a:t>by the team as priorities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604796" y="3982954"/>
            <a:ext cx="300383" cy="284881"/>
            <a:chOff x="-1173707" y="1788188"/>
            <a:chExt cx="363463" cy="344706"/>
          </a:xfrm>
        </p:grpSpPr>
        <p:sp>
          <p:nvSpPr>
            <p:cNvPr id="28" name="Oval 27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9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/>
          <p:cNvGrpSpPr/>
          <p:nvPr/>
        </p:nvGrpSpPr>
        <p:grpSpPr>
          <a:xfrm>
            <a:off x="3591148" y="5317524"/>
            <a:ext cx="300383" cy="284881"/>
            <a:chOff x="-1173707" y="1788188"/>
            <a:chExt cx="363463" cy="344706"/>
          </a:xfrm>
        </p:grpSpPr>
        <p:sp>
          <p:nvSpPr>
            <p:cNvPr id="31" name="Oval 30"/>
            <p:cNvSpPr/>
            <p:nvPr/>
          </p:nvSpPr>
          <p:spPr bwMode="auto">
            <a:xfrm>
              <a:off x="-1173707" y="1788188"/>
              <a:ext cx="363463" cy="3360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6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32" name="Picture 5" descr="C:\Users\luis.rubio.estop\Google Drive\Desktop\Iconos_corporativos_azules\BBVA-iconLib-v2\G - Elementos de Navegacion\G13 - Activado\icn_t-iconLib_G13-64px_k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54950" y="1788188"/>
              <a:ext cx="344706" cy="3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extBox 33"/>
          <p:cNvSpPr txBox="1"/>
          <p:nvPr/>
        </p:nvSpPr>
        <p:spPr>
          <a:xfrm>
            <a:off x="3911449" y="3968629"/>
            <a:ext cx="5505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End-to-end Pilot Proof</a:t>
            </a:r>
          </a:p>
          <a:p>
            <a:pPr algn="l"/>
            <a:endParaRPr lang="en-US" sz="200" b="1" dirty="0">
              <a:solidFill>
                <a:srgbClr val="002569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To execute </a:t>
            </a:r>
            <a:r>
              <a:rPr lang="en-US" sz="1200" dirty="0">
                <a:solidFill>
                  <a:srgbClr val="002569"/>
                </a:solidFill>
              </a:rPr>
              <a:t>previously </a:t>
            </a:r>
            <a:r>
              <a:rPr lang="en-US" sz="1200" b="1" dirty="0">
                <a:solidFill>
                  <a:srgbClr val="002569"/>
                </a:solidFill>
              </a:rPr>
              <a:t>mentioned four steps in two  processes from the prioritized group</a:t>
            </a:r>
            <a:r>
              <a:rPr lang="en-US" sz="1200" dirty="0">
                <a:solidFill>
                  <a:srgbClr val="002569"/>
                </a:solidFill>
              </a:rPr>
              <a:t>. The reason to do this is to detect weaknesses from proposed methodologies, weaknesses in the governance, training needs..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002569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“Programmed Event” </a:t>
            </a:r>
            <a:r>
              <a:rPr lang="en-US" sz="1200" dirty="0">
                <a:solidFill>
                  <a:srgbClr val="002569"/>
                </a:solidFill>
              </a:rPr>
              <a:t>and </a:t>
            </a:r>
            <a:r>
              <a:rPr lang="en-US" sz="1200" b="1" dirty="0">
                <a:solidFill>
                  <a:srgbClr val="002569"/>
                </a:solidFill>
              </a:rPr>
              <a:t>“Provision Calculation” </a:t>
            </a:r>
            <a:r>
              <a:rPr lang="en-US" sz="1200" dirty="0">
                <a:solidFill>
                  <a:srgbClr val="002569"/>
                </a:solidFill>
              </a:rPr>
              <a:t>have been </a:t>
            </a:r>
            <a:r>
              <a:rPr lang="en-US" sz="1200" b="1" dirty="0">
                <a:solidFill>
                  <a:srgbClr val="002569"/>
                </a:solidFill>
              </a:rPr>
              <a:t>chosen </a:t>
            </a:r>
            <a:r>
              <a:rPr lang="en-US" sz="1200" dirty="0">
                <a:solidFill>
                  <a:srgbClr val="002569"/>
                </a:solidFill>
              </a:rPr>
              <a:t>to carried out the pilot proof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1448" y="5317989"/>
            <a:ext cx="5505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Global Implementation</a:t>
            </a:r>
          </a:p>
          <a:p>
            <a:pPr algn="l"/>
            <a:endParaRPr lang="en-US" sz="200" b="1" dirty="0">
              <a:solidFill>
                <a:srgbClr val="002569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After pilots it should be carried out the documentation, risk and control identification and quantification of the other processes classified as priority</a:t>
            </a:r>
            <a:endParaRPr lang="en-US" sz="1200" i="1" dirty="0">
              <a:solidFill>
                <a:srgbClr val="002569"/>
              </a:solidFill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5" name="Imagen 18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449397" y="3675544"/>
            <a:ext cx="220724" cy="220724"/>
          </a:xfrm>
          <a:prstGeom prst="rect">
            <a:avLst/>
          </a:prstGeom>
          <a:noFill/>
        </p:spPr>
      </p:pic>
      <p:sp>
        <p:nvSpPr>
          <p:cNvPr id="33" name="Rounded Rectangle 32">
            <a:hlinkClick r:id="rId7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Review and Execution of the ORM Framework</a:t>
            </a:r>
            <a:r>
              <a:rPr lang="es-ES" b="1" i="1" dirty="0">
                <a:solidFill>
                  <a:srgbClr val="BFA13E"/>
                </a:solidFill>
              </a:rPr>
              <a:t> (3/4)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4308" y="1273083"/>
            <a:ext cx="2314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Review and Execution of the Operational Risk Management Framework</a:t>
            </a:r>
            <a:endParaRPr lang="en-US" sz="1200" b="1" i="1" dirty="0">
              <a:solidFill>
                <a:schemeClr val="accent1">
                  <a:lumMod val="90000"/>
                </a:schemeClr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8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3" name="Rectangle 42">
            <a:hlinkClick r:id="rId8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hlinkClick r:id="rId8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7" name="Right Arrow 46"/>
          <p:cNvSpPr/>
          <p:nvPr/>
        </p:nvSpPr>
        <p:spPr bwMode="auto">
          <a:xfrm>
            <a:off x="8362521" y="149703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70010" y="1156532"/>
            <a:ext cx="6246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To construct a proper ORM Framework it is </a:t>
            </a:r>
            <a:r>
              <a:rPr lang="en-US" sz="1400" b="1" dirty="0">
                <a:solidFill>
                  <a:srgbClr val="002569"/>
                </a:solidFill>
              </a:rPr>
              <a:t>necessary to first define how to implement the Model</a:t>
            </a:r>
            <a:r>
              <a:rPr lang="en-US" sz="1400" dirty="0">
                <a:solidFill>
                  <a:srgbClr val="002569"/>
                </a:solidFill>
              </a:rPr>
              <a:t>; reviewing methodologies, designing the Governance and Organizational Model... Once this is accomplished </a:t>
            </a:r>
            <a:r>
              <a:rPr lang="en-US" sz="1400" b="1" dirty="0">
                <a:solidFill>
                  <a:srgbClr val="002569"/>
                </a:solidFill>
              </a:rPr>
              <a:t>next step is to execute it </a:t>
            </a:r>
            <a:r>
              <a:rPr lang="en-US" sz="1400" dirty="0">
                <a:solidFill>
                  <a:srgbClr val="002569"/>
                </a:solidFill>
              </a:rPr>
              <a:t>(process documentation..</a:t>
            </a:r>
            <a:endParaRPr lang="en-US" sz="1400" b="1" dirty="0">
              <a:solidFill>
                <a:srgbClr val="002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29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486810" y="5566076"/>
            <a:ext cx="8568000" cy="846769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795906" y="5384305"/>
            <a:ext cx="2797303" cy="363542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400" b="1" i="1" dirty="0">
                <a:solidFill>
                  <a:srgbClr val="002569"/>
                </a:solidFill>
              </a:rPr>
              <a:t>Prioritization Methodology…</a:t>
            </a:r>
            <a:endParaRPr kumimoji="0" lang="en-US" sz="1400" b="1" i="1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8548" y="5709979"/>
            <a:ext cx="9003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569"/>
                </a:solidFill>
              </a:rPr>
              <a:t>Degree of </a:t>
            </a:r>
            <a:r>
              <a:rPr lang="en-US" sz="1200" b="1" dirty="0">
                <a:solidFill>
                  <a:srgbClr val="002569"/>
                </a:solidFill>
              </a:rPr>
              <a:t>exposure to Operational Risk </a:t>
            </a:r>
            <a:r>
              <a:rPr lang="en-US" sz="1200" b="1" dirty="0">
                <a:solidFill>
                  <a:srgbClr val="002569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rgbClr val="002569"/>
                </a:solidFill>
                <a:sym typeface="Wingdings" panose="05000000000000000000" pitchFamily="2" charset="2"/>
              </a:rPr>
              <a:t>Based on MS knowledge about Risk distribution and consumed VaR</a:t>
            </a:r>
            <a:endParaRPr lang="en-US" sz="1200" dirty="0">
              <a:solidFill>
                <a:srgbClr val="002569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600" dirty="0">
              <a:solidFill>
                <a:srgbClr val="002569"/>
              </a:solidFill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2569"/>
                </a:solidFill>
              </a:rPr>
              <a:t>Possibility to Transform </a:t>
            </a:r>
            <a:r>
              <a:rPr lang="en-US" sz="1200" b="1" dirty="0">
                <a:solidFill>
                  <a:srgbClr val="002569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rgbClr val="002569"/>
                </a:solidFill>
                <a:sym typeface="Wingdings" panose="05000000000000000000" pitchFamily="2" charset="2"/>
              </a:rPr>
              <a:t>Significant weaknesses were detected in some processes and considered to prioritize them</a:t>
            </a:r>
            <a:endParaRPr lang="en-US" sz="1200" i="1" dirty="0">
              <a:solidFill>
                <a:srgbClr val="002569"/>
              </a:solidFill>
            </a:endParaRP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blackWhite">
          <a:xfrm>
            <a:off x="1605367" y="1768679"/>
            <a:ext cx="8182490" cy="17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 numCol="2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Product Analysis and Design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Pricing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Sales Force and Agencies Contract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Additional Compensation to Sales Force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Sales Force and Agencies Termination and Modification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Quoting</a:t>
            </a:r>
            <a:r>
              <a:rPr lang="en-US" altLang="es-ES" sz="1050" i="1" dirty="0">
                <a:solidFill>
                  <a:srgbClr val="FF0000"/>
                </a:solidFill>
              </a:rPr>
              <a:t> </a:t>
            </a:r>
            <a:r>
              <a:rPr lang="en-US" altLang="es-ES" sz="1050" i="1" dirty="0">
                <a:solidFill>
                  <a:srgbClr val="002569"/>
                </a:solidFill>
              </a:rPr>
              <a:t>and Underwriting – Individual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Quoting and Underwriting – Groups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Quoting and Underwriting – Telemarketing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rgbClr val="002569"/>
                </a:solidFill>
              </a:rPr>
              <a:t>Quoting and Underwriting – Bank-assurance*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00" i="1" dirty="0">
                <a:solidFill>
                  <a:srgbClr val="002569"/>
                </a:solidFill>
              </a:rPr>
              <a:t>Collection – Individual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00" i="1" dirty="0">
                <a:solidFill>
                  <a:srgbClr val="002569"/>
                </a:solidFill>
              </a:rPr>
              <a:t>Collection – Groups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00" i="1" dirty="0">
                <a:solidFill>
                  <a:srgbClr val="002569"/>
                </a:solidFill>
              </a:rPr>
              <a:t>Collection – Wage Discount Policies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00" i="1" dirty="0">
                <a:solidFill>
                  <a:srgbClr val="002569"/>
                </a:solidFill>
              </a:rPr>
              <a:t>Cancellation of Policies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sz="1050" i="1" dirty="0">
                <a:solidFill>
                  <a:schemeClr val="tx2"/>
                </a:solidFill>
              </a:rPr>
              <a:t>Complaints</a:t>
            </a:r>
            <a:endParaRPr lang="en-US" sz="1050" i="1" dirty="0">
              <a:solidFill>
                <a:srgbClr val="FF0000"/>
              </a:solidFill>
            </a:endParaRP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s-ES" altLang="es-ES" sz="1050" i="1" dirty="0">
                <a:solidFill>
                  <a:schemeClr val="tx2"/>
                </a:solidFill>
              </a:rPr>
              <a:t>Medical Partners Management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050" i="1" dirty="0">
                <a:solidFill>
                  <a:schemeClr val="tx2"/>
                </a:solidFill>
              </a:rPr>
              <a:t>Fund</a:t>
            </a:r>
            <a:r>
              <a:rPr lang="es-ES" altLang="es-ES" sz="1050" i="1" dirty="0">
                <a:solidFill>
                  <a:schemeClr val="tx2"/>
                </a:solidFill>
              </a:rPr>
              <a:t> Management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s-ES" altLang="es-ES" sz="1050" i="1" dirty="0" err="1">
                <a:solidFill>
                  <a:schemeClr val="tx2"/>
                </a:solidFill>
              </a:rPr>
              <a:t>Life</a:t>
            </a:r>
            <a:r>
              <a:rPr lang="es-ES" altLang="es-ES" sz="1050" i="1" dirty="0">
                <a:solidFill>
                  <a:schemeClr val="tx2"/>
                </a:solidFill>
              </a:rPr>
              <a:t> </a:t>
            </a:r>
            <a:r>
              <a:rPr lang="es-ES" altLang="es-ES" sz="1050" i="1" dirty="0" err="1">
                <a:solidFill>
                  <a:schemeClr val="tx2"/>
                </a:solidFill>
              </a:rPr>
              <a:t>Payments</a:t>
            </a:r>
            <a:r>
              <a:rPr lang="es-ES" altLang="es-ES" sz="1050" i="1" dirty="0">
                <a:solidFill>
                  <a:schemeClr val="tx2"/>
                </a:solidFill>
              </a:rPr>
              <a:t> </a:t>
            </a:r>
            <a:r>
              <a:rPr lang="es-ES" altLang="es-ES" sz="1050" i="1" dirty="0" err="1">
                <a:solidFill>
                  <a:srgbClr val="002569"/>
                </a:solidFill>
              </a:rPr>
              <a:t>Claims</a:t>
            </a:r>
            <a:endParaRPr lang="es-ES" altLang="es-ES" sz="1050" i="1" dirty="0">
              <a:solidFill>
                <a:srgbClr val="002569"/>
              </a:solidFill>
            </a:endParaRP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s-ES" altLang="es-ES" sz="1050" i="1" dirty="0">
                <a:solidFill>
                  <a:schemeClr val="tx2"/>
                </a:solidFill>
              </a:rPr>
              <a:t>Programmed Events</a:t>
            </a:r>
            <a:endParaRPr lang="en-US" altLang="es-ES" sz="1000" i="1" dirty="0">
              <a:solidFill>
                <a:srgbClr val="002569"/>
              </a:solidFill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963372" y="1721702"/>
            <a:ext cx="8419108" cy="1674000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blackWhite">
          <a:xfrm>
            <a:off x="1605366" y="3517750"/>
            <a:ext cx="8218542" cy="166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 numCol="2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19. Suppliers Selection &amp; Hiring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20. Property</a:t>
            </a:r>
            <a:r>
              <a:rPr lang="en-US" altLang="es-ES" sz="1050" i="1" dirty="0">
                <a:solidFill>
                  <a:srgbClr val="FF0000"/>
                </a:solidFill>
              </a:rPr>
              <a:t> </a:t>
            </a:r>
            <a:r>
              <a:rPr lang="en-US" altLang="es-ES" sz="1050" i="1" dirty="0">
                <a:solidFill>
                  <a:srgbClr val="002569"/>
                </a:solidFill>
              </a:rPr>
              <a:t>Management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21. Assets Sell/Buy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22. Assets Value Update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23. ALM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24. Credit Analysis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25. Budget Generation &amp; Monitor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26. Treasury Management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27. Intelligence &amp; Competitive Analysis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00" i="1" dirty="0">
                <a:solidFill>
                  <a:srgbClr val="002569"/>
                </a:solidFill>
              </a:rPr>
              <a:t>28. </a:t>
            </a:r>
            <a:r>
              <a:rPr lang="en-US" altLang="es-ES" sz="1050" i="1" dirty="0">
                <a:solidFill>
                  <a:srgbClr val="002569"/>
                </a:solidFill>
              </a:rPr>
              <a:t>Financial Statements Generation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29. Taxes 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30. Provision Calculation – Individual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31. Provision Calculation – Groups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32. VNB Estimation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33. EV and Fair Value Estimation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34. Customer Communications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35. File and Documentation Management</a:t>
            </a:r>
          </a:p>
          <a:p>
            <a:pPr marL="0" lvl="1" indent="0" algn="l">
              <a:lnSpc>
                <a:spcPts val="800"/>
              </a:lnSpc>
              <a:buClr>
                <a:srgbClr val="BFA13E"/>
              </a:buClr>
              <a:buNone/>
            </a:pPr>
            <a:r>
              <a:rPr lang="en-US" altLang="es-ES" sz="1050" i="1" dirty="0">
                <a:solidFill>
                  <a:srgbClr val="002569"/>
                </a:solidFill>
              </a:rPr>
              <a:t>36. TI Services and Incident Management</a:t>
            </a:r>
          </a:p>
        </p:txBody>
      </p:sp>
      <p:sp>
        <p:nvSpPr>
          <p:cNvPr id="2" name="Rounded Rectangle 1"/>
          <p:cNvSpPr/>
          <p:nvPr/>
        </p:nvSpPr>
        <p:spPr bwMode="auto">
          <a:xfrm rot="16200000">
            <a:off x="232658" y="2341253"/>
            <a:ext cx="1434131" cy="431025"/>
          </a:xfrm>
          <a:prstGeom prst="round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Business </a:t>
            </a:r>
          </a:p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Processes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963372" y="3482568"/>
            <a:ext cx="8419108" cy="1692000"/>
          </a:xfrm>
          <a:prstGeom prst="roundRect">
            <a:avLst>
              <a:gd name="adj" fmla="val 3550"/>
            </a:avLst>
          </a:prstGeom>
          <a:noFill/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 rot="16200000">
            <a:off x="232660" y="4102992"/>
            <a:ext cx="1434131" cy="431025"/>
          </a:xfrm>
          <a:prstGeom prst="round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Support </a:t>
            </a:r>
          </a:p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Processes</a:t>
            </a: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132121" y="1174931"/>
            <a:ext cx="8185319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ct val="50000"/>
              </a:spcBef>
              <a:buClr>
                <a:schemeClr val="hlink"/>
              </a:buClr>
            </a:pPr>
            <a:r>
              <a:rPr lang="en-US" sz="1600" b="1" i="1" dirty="0">
                <a:solidFill>
                  <a:srgbClr val="002569"/>
                </a:solidFill>
              </a:rPr>
              <a:t>Prioritization analysis </a:t>
            </a:r>
            <a:r>
              <a:rPr lang="en-US" sz="1600" i="1" dirty="0">
                <a:solidFill>
                  <a:srgbClr val="002569"/>
                </a:solidFill>
              </a:rPr>
              <a:t>results in </a:t>
            </a:r>
            <a:r>
              <a:rPr lang="en-US" sz="1600" b="1" i="1" dirty="0">
                <a:solidFill>
                  <a:srgbClr val="002569"/>
                </a:solidFill>
              </a:rPr>
              <a:t>18 business </a:t>
            </a:r>
            <a:r>
              <a:rPr lang="en-US" sz="1600" i="1" dirty="0">
                <a:solidFill>
                  <a:srgbClr val="002569"/>
                </a:solidFill>
              </a:rPr>
              <a:t>processes and </a:t>
            </a:r>
            <a:r>
              <a:rPr lang="en-US" sz="1600" b="1" i="1" dirty="0">
                <a:solidFill>
                  <a:srgbClr val="002569"/>
                </a:solidFill>
              </a:rPr>
              <a:t>18 support </a:t>
            </a:r>
            <a:r>
              <a:rPr lang="en-US" sz="1600" i="1" dirty="0">
                <a:solidFill>
                  <a:srgbClr val="002569"/>
                </a:solidFill>
              </a:rPr>
              <a:t>ones..</a:t>
            </a:r>
            <a:endParaRPr lang="en-US" altLang="es-ES" sz="1600" i="1" dirty="0">
              <a:solidFill>
                <a:srgbClr val="002569"/>
              </a:solidFill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9134178" y="2284116"/>
            <a:ext cx="496605" cy="455028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1" i="0" strike="noStrike" cap="none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itchFamily="34" charset="0"/>
              </a:rPr>
              <a:t>18</a:t>
            </a:r>
          </a:p>
        </p:txBody>
      </p:sp>
      <p:sp>
        <p:nvSpPr>
          <p:cNvPr id="28" name="Oval 27"/>
          <p:cNvSpPr/>
          <p:nvPr/>
        </p:nvSpPr>
        <p:spPr bwMode="auto">
          <a:xfrm>
            <a:off x="9134178" y="4083054"/>
            <a:ext cx="496605" cy="455028"/>
          </a:xfrm>
          <a:prstGeom prst="ellipse">
            <a:avLst/>
          </a:prstGeom>
          <a:solidFill>
            <a:schemeClr val="bg1"/>
          </a:solidFill>
          <a:ln w="317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600" b="1" i="0" strike="noStrike" cap="none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itchFamily="34" charset="0"/>
              </a:rPr>
              <a:t>18</a:t>
            </a:r>
          </a:p>
        </p:txBody>
      </p:sp>
      <p:sp>
        <p:nvSpPr>
          <p:cNvPr id="25" name="Rounded Rectangle 24">
            <a:hlinkClick r:id="rId2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Review and Execution of the ORM Framework</a:t>
            </a:r>
            <a:r>
              <a:rPr lang="es-ES" b="1" i="1" dirty="0">
                <a:solidFill>
                  <a:srgbClr val="BFA13E"/>
                </a:solidFill>
              </a:rPr>
              <a:t> (4/4)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Rectangle 36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9" name="Rectangle 38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2" name="Right Arrow 41"/>
          <p:cNvSpPr/>
          <p:nvPr/>
        </p:nvSpPr>
        <p:spPr bwMode="auto">
          <a:xfrm>
            <a:off x="8362521" y="149703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689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n Arrow 1"/>
          <p:cNvSpPr/>
          <p:nvPr/>
        </p:nvSpPr>
        <p:spPr bwMode="auto">
          <a:xfrm>
            <a:off x="528851" y="2206917"/>
            <a:ext cx="1103959" cy="3504889"/>
          </a:xfrm>
          <a:prstGeom prst="downArrow">
            <a:avLst>
              <a:gd name="adj1" fmla="val 50000"/>
              <a:gd name="adj2" fmla="val 26511"/>
            </a:avLst>
          </a:prstGeom>
          <a:solidFill>
            <a:srgbClr val="002569">
              <a:alpha val="50000"/>
            </a:srgbClr>
          </a:solidFill>
          <a:ln w="9525" cap="flat" cmpd="sng" algn="ctr">
            <a:solidFill>
              <a:srgbClr val="0025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s-ES" sz="320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 bwMode="auto">
          <a:xfrm>
            <a:off x="1853419" y="2351092"/>
            <a:ext cx="7196077" cy="3402591"/>
          </a:xfrm>
          <a:prstGeom prst="roundRect">
            <a:avLst>
              <a:gd name="adj" fmla="val 5369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" name="AutoShape 52"/>
          <p:cNvSpPr>
            <a:spLocks noChangeArrowheads="1"/>
          </p:cNvSpPr>
          <p:nvPr/>
        </p:nvSpPr>
        <p:spPr bwMode="auto">
          <a:xfrm>
            <a:off x="293217" y="3142661"/>
            <a:ext cx="1754886" cy="580133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CL" sz="800" b="1">
              <a:solidFill>
                <a:srgbClr val="FFFFFF"/>
              </a:solidFill>
              <a:latin typeface="Myriad-Roman" pitchFamily="2" charset="0"/>
            </a:endParaRPr>
          </a:p>
        </p:txBody>
      </p:sp>
      <p:sp>
        <p:nvSpPr>
          <p:cNvPr id="15" name="AutoShape 52"/>
          <p:cNvSpPr>
            <a:spLocks noChangeArrowheads="1"/>
          </p:cNvSpPr>
          <p:nvPr/>
        </p:nvSpPr>
        <p:spPr bwMode="auto">
          <a:xfrm>
            <a:off x="251307" y="4545314"/>
            <a:ext cx="1754886" cy="580133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CL" sz="800" b="1">
              <a:solidFill>
                <a:srgbClr val="FFFFFF"/>
              </a:solidFill>
              <a:latin typeface="Myriad-Roman" pitchFamily="2" charset="0"/>
            </a:endParaRPr>
          </a:p>
        </p:txBody>
      </p:sp>
      <p:sp>
        <p:nvSpPr>
          <p:cNvPr id="20" name="AutoShape 52"/>
          <p:cNvSpPr>
            <a:spLocks noChangeArrowheads="1"/>
          </p:cNvSpPr>
          <p:nvPr/>
        </p:nvSpPr>
        <p:spPr bwMode="auto">
          <a:xfrm>
            <a:off x="249331" y="3838695"/>
            <a:ext cx="1754886" cy="580133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CL" sz="800" b="1">
              <a:solidFill>
                <a:srgbClr val="FFFFFF"/>
              </a:solidFill>
              <a:latin typeface="Myriad-Roman" pitchFamily="2" charset="0"/>
            </a:endParaRPr>
          </a:p>
        </p:txBody>
      </p:sp>
      <p:sp>
        <p:nvSpPr>
          <p:cNvPr id="24" name="AutoShape 52"/>
          <p:cNvSpPr>
            <a:spLocks noChangeArrowheads="1"/>
          </p:cNvSpPr>
          <p:nvPr/>
        </p:nvSpPr>
        <p:spPr bwMode="auto">
          <a:xfrm>
            <a:off x="293217" y="2473922"/>
            <a:ext cx="1754886" cy="580133"/>
          </a:xfrm>
          <a:prstGeom prst="chevron">
            <a:avLst>
              <a:gd name="adj" fmla="val 25178"/>
            </a:avLst>
          </a:prstGeom>
          <a:solidFill>
            <a:schemeClr val="bg1"/>
          </a:solidFill>
          <a:ln w="12700" algn="ctr">
            <a:solidFill>
              <a:srgbClr val="002569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CL" sz="800" b="1">
              <a:solidFill>
                <a:srgbClr val="FFFFFF"/>
              </a:solidFill>
              <a:latin typeface="Myriad-Roman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7907" y="3202823"/>
            <a:ext cx="1365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Definition of BIAs &amp; RIAs</a:t>
            </a:r>
            <a:endParaRPr lang="es-ES" sz="1200" b="1" dirty="0">
              <a:solidFill>
                <a:srgbClr val="00256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5997" y="4526791"/>
            <a:ext cx="13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BCP development </a:t>
            </a:r>
          </a:p>
          <a:p>
            <a:r>
              <a:rPr lang="en-US" sz="1200" b="1" dirty="0">
                <a:solidFill>
                  <a:srgbClr val="002569"/>
                </a:solidFill>
              </a:rPr>
              <a:t>&amp;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021" y="3902060"/>
            <a:ext cx="1365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2569"/>
                </a:solidFill>
              </a:rPr>
              <a:t>Continuity Strategies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971" y="2441751"/>
            <a:ext cx="1817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569"/>
                </a:solidFill>
              </a:rPr>
              <a:t>Governance &amp; Management Framework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sz="1200" b="1" dirty="0">
              <a:solidFill>
                <a:srgbClr val="002569"/>
              </a:solidFill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3" name="Rounded Rectangle 32">
            <a:hlinkClick r:id="rId2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Strengthening of current Business Continuity Plan (1/3)</a:t>
            </a:r>
            <a:endParaRPr lang="es-ES" sz="1800" b="1" i="1" dirty="0">
              <a:solidFill>
                <a:srgbClr val="BFA13E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</a:rPr>
              <a:t>2</a:t>
            </a:r>
            <a:endParaRPr kumimoji="0" lang="en-US" sz="32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84308" y="1282535"/>
            <a:ext cx="2314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Strengthening of current Business </a:t>
            </a:r>
            <a:r>
              <a:rPr lang="en-US" sz="1400" b="1">
                <a:solidFill>
                  <a:srgbClr val="002569"/>
                </a:solidFill>
              </a:rPr>
              <a:t>Continuity Plans</a:t>
            </a:r>
            <a:endParaRPr lang="en-US" sz="1400" b="1" i="1" dirty="0">
              <a:solidFill>
                <a:srgbClr val="002569"/>
              </a:solidFill>
            </a:endParaRPr>
          </a:p>
          <a:p>
            <a:pPr algn="l"/>
            <a:endParaRPr lang="en-US" sz="1400" b="1" i="1" dirty="0">
              <a:solidFill>
                <a:srgbClr val="002569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3" name="Rectangle 42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7" name="Right Arrow 46"/>
          <p:cNvSpPr/>
          <p:nvPr/>
        </p:nvSpPr>
        <p:spPr bwMode="auto">
          <a:xfrm>
            <a:off x="8362521" y="313479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70010" y="1156532"/>
            <a:ext cx="6246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The work plan is designed to </a:t>
            </a:r>
            <a:r>
              <a:rPr lang="en-US" sz="1400" b="1" dirty="0">
                <a:solidFill>
                  <a:srgbClr val="002569"/>
                </a:solidFill>
              </a:rPr>
              <a:t>complement the existing methodological framework </a:t>
            </a:r>
            <a:r>
              <a:rPr lang="en-US" sz="1400" dirty="0">
                <a:solidFill>
                  <a:srgbClr val="002569"/>
                </a:solidFill>
              </a:rPr>
              <a:t>on priority processes, </a:t>
            </a:r>
            <a:r>
              <a:rPr lang="en-US" sz="1400" b="1" dirty="0">
                <a:solidFill>
                  <a:srgbClr val="002569"/>
                </a:solidFill>
              </a:rPr>
              <a:t>defining the management framework and Government of the model</a:t>
            </a:r>
            <a:r>
              <a:rPr lang="en-US" sz="1400" dirty="0">
                <a:solidFill>
                  <a:srgbClr val="002569"/>
                </a:solidFill>
              </a:rPr>
              <a:t>, taking full advantage of the elements developed by SMNYL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30840" y="2512184"/>
            <a:ext cx="7195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Review roles and responsibilities </a:t>
            </a:r>
            <a:r>
              <a:rPr lang="en-US" sz="1200" dirty="0">
                <a:solidFill>
                  <a:srgbClr val="002569"/>
                </a:solidFill>
              </a:rPr>
              <a:t>of management model BC - organizationally and government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Formalize </a:t>
            </a:r>
            <a:r>
              <a:rPr lang="en-US" sz="1200" dirty="0">
                <a:solidFill>
                  <a:srgbClr val="002569"/>
                </a:solidFill>
              </a:rPr>
              <a:t>the framework of business continuity </a:t>
            </a:r>
            <a:r>
              <a:rPr lang="en-US" sz="1200" b="1" dirty="0">
                <a:solidFill>
                  <a:srgbClr val="002569"/>
                </a:solidFill>
              </a:rPr>
              <a:t>management policy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0840" y="3106700"/>
            <a:ext cx="719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Transform </a:t>
            </a:r>
            <a:r>
              <a:rPr lang="en-US" sz="1200" dirty="0">
                <a:solidFill>
                  <a:srgbClr val="002569"/>
                </a:solidFill>
              </a:rPr>
              <a:t>the current </a:t>
            </a:r>
            <a:r>
              <a:rPr lang="en-US" sz="1200" b="1" dirty="0">
                <a:solidFill>
                  <a:srgbClr val="002569"/>
                </a:solidFill>
              </a:rPr>
              <a:t>criteria and methodology to a “process approach”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Meetings with the process owners </a:t>
            </a:r>
            <a:r>
              <a:rPr lang="en-US" sz="1200" dirty="0">
                <a:solidFill>
                  <a:srgbClr val="002569"/>
                </a:solidFill>
              </a:rPr>
              <a:t>for the survey of critical resources for its implementation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569"/>
                </a:solidFill>
              </a:rPr>
              <a:t>Assessment and impact analysis disruption </a:t>
            </a:r>
            <a:r>
              <a:rPr lang="en-US" sz="1200" dirty="0">
                <a:solidFill>
                  <a:srgbClr val="002569"/>
                </a:solidFill>
              </a:rPr>
              <a:t>(BIA) </a:t>
            </a:r>
            <a:r>
              <a:rPr lang="en-US" sz="1200" b="1" dirty="0">
                <a:solidFill>
                  <a:srgbClr val="002569"/>
                </a:solidFill>
              </a:rPr>
              <a:t>and risk assessment </a:t>
            </a:r>
            <a:r>
              <a:rPr lang="en-US" sz="1200" dirty="0">
                <a:solidFill>
                  <a:srgbClr val="002569"/>
                </a:solidFill>
              </a:rPr>
              <a:t>(RIA)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4455" y="3804028"/>
            <a:ext cx="719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Defining </a:t>
            </a:r>
            <a:r>
              <a:rPr lang="en-US" sz="1200" b="1" dirty="0">
                <a:solidFill>
                  <a:srgbClr val="002569"/>
                </a:solidFill>
              </a:rPr>
              <a:t>recovery times and service levels</a:t>
            </a:r>
            <a:r>
              <a:rPr lang="en-US" sz="1200" dirty="0">
                <a:solidFill>
                  <a:srgbClr val="002569"/>
                </a:solidFill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Definition and formalization of </a:t>
            </a:r>
            <a:r>
              <a:rPr lang="en-US" sz="1200" b="1" dirty="0">
                <a:solidFill>
                  <a:srgbClr val="002569"/>
                </a:solidFill>
              </a:rPr>
              <a:t>business continuity strategies </a:t>
            </a:r>
            <a:r>
              <a:rPr lang="en-US" sz="1200" dirty="0">
                <a:solidFill>
                  <a:srgbClr val="002569"/>
                </a:solidFill>
              </a:rPr>
              <a:t>by type of disruption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Design of the </a:t>
            </a:r>
            <a:r>
              <a:rPr lang="en-US" sz="1200" b="1" dirty="0">
                <a:solidFill>
                  <a:srgbClr val="002569"/>
                </a:solidFill>
              </a:rPr>
              <a:t>model of contingency communication </a:t>
            </a:r>
            <a:r>
              <a:rPr lang="en-US" sz="1200" dirty="0">
                <a:solidFill>
                  <a:srgbClr val="002569"/>
                </a:solidFill>
              </a:rPr>
              <a:t>and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4455" y="4583636"/>
            <a:ext cx="7195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Define </a:t>
            </a:r>
            <a:r>
              <a:rPr lang="en-US" sz="1200" b="1" dirty="0">
                <a:solidFill>
                  <a:srgbClr val="002569"/>
                </a:solidFill>
              </a:rPr>
              <a:t>action plans for process </a:t>
            </a:r>
            <a:r>
              <a:rPr lang="en-US" sz="1200" dirty="0">
                <a:solidFill>
                  <a:srgbClr val="002569"/>
                </a:solidFill>
              </a:rPr>
              <a:t>/ </a:t>
            </a:r>
            <a:r>
              <a:rPr lang="en-US" sz="1200" b="1" dirty="0">
                <a:solidFill>
                  <a:srgbClr val="002569"/>
                </a:solidFill>
              </a:rPr>
              <a:t>disruption type</a:t>
            </a:r>
            <a:r>
              <a:rPr lang="en-US" sz="1200" dirty="0">
                <a:solidFill>
                  <a:srgbClr val="002569"/>
                </a:solidFill>
              </a:rPr>
              <a:t>; documentation and formalization of BCPs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569"/>
                </a:solidFill>
              </a:rPr>
              <a:t>Test to model and obtain </a:t>
            </a:r>
            <a:r>
              <a:rPr lang="en-US" sz="1200" b="1" dirty="0">
                <a:solidFill>
                  <a:srgbClr val="002569"/>
                </a:solidFill>
              </a:rPr>
              <a:t>feedback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2497539" y="3040578"/>
            <a:ext cx="6336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2497539" y="3793334"/>
            <a:ext cx="6336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497539" y="4542332"/>
            <a:ext cx="6336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Oval 44"/>
          <p:cNvSpPr/>
          <p:nvPr/>
        </p:nvSpPr>
        <p:spPr bwMode="auto">
          <a:xfrm>
            <a:off x="146083" y="2351092"/>
            <a:ext cx="324626" cy="2729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9" name="Oval 48"/>
          <p:cNvSpPr/>
          <p:nvPr/>
        </p:nvSpPr>
        <p:spPr bwMode="auto">
          <a:xfrm>
            <a:off x="146083" y="3033447"/>
            <a:ext cx="324626" cy="2729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0" name="Oval 49"/>
          <p:cNvSpPr/>
          <p:nvPr/>
        </p:nvSpPr>
        <p:spPr bwMode="auto">
          <a:xfrm>
            <a:off x="146083" y="3743161"/>
            <a:ext cx="324627" cy="2729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Oval 50"/>
          <p:cNvSpPr/>
          <p:nvPr/>
        </p:nvSpPr>
        <p:spPr bwMode="auto">
          <a:xfrm>
            <a:off x="146083" y="4449780"/>
            <a:ext cx="324626" cy="2729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048103" y="5146355"/>
            <a:ext cx="6877533" cy="524959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800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solidFill>
                  <a:srgbClr val="002569"/>
                </a:solidFill>
              </a:rPr>
              <a:t>Prior to deployment, it is proposed to </a:t>
            </a:r>
            <a:r>
              <a:rPr lang="en-US" sz="1400" b="1" dirty="0">
                <a:solidFill>
                  <a:srgbClr val="002569"/>
                </a:solidFill>
              </a:rPr>
              <a:t>define the objectives and scope BCP based on a prioritization process</a:t>
            </a:r>
            <a:endParaRPr kumimoji="0" lang="es-ES" sz="1400" b="1" i="0" u="sng" strike="noStrike" cap="none" normalizeH="0" baseline="0" dirty="0">
              <a:ln>
                <a:noFill/>
              </a:ln>
              <a:solidFill>
                <a:srgbClr val="002569"/>
              </a:solidFill>
              <a:effectLst/>
            </a:endParaRPr>
          </a:p>
        </p:txBody>
      </p:sp>
      <p:pic>
        <p:nvPicPr>
          <p:cNvPr id="52" name="Imagen 1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04912" y="5448686"/>
            <a:ext cx="220724" cy="220724"/>
          </a:xfrm>
          <a:prstGeom prst="rect">
            <a:avLst/>
          </a:prstGeom>
          <a:noFill/>
        </p:spPr>
      </p:pic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466515" y="5867517"/>
            <a:ext cx="9367989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dirty="0">
                <a:solidFill>
                  <a:srgbClr val="002569"/>
                </a:solidFill>
              </a:rPr>
              <a:t>As proposed before, it should be recommendable to choose 1 or 2 critical process from the Business Continuity approach and to</a:t>
            </a:r>
            <a:r>
              <a:rPr lang="en-US" sz="1600" b="1" dirty="0">
                <a:solidFill>
                  <a:srgbClr val="002569"/>
                </a:solidFill>
              </a:rPr>
              <a:t> develop an end-to-end Pilot Proof..</a:t>
            </a:r>
            <a:endParaRPr lang="en-US" sz="1600" dirty="0">
              <a:solidFill>
                <a:srgbClr val="002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5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3" name="Rounded Rectangle 32">
            <a:hlinkClick r:id="rId2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Strengthening of current Business Continuity Plan (2/3)</a:t>
            </a:r>
            <a:endParaRPr lang="es-ES" sz="1800" b="1" i="1" dirty="0">
              <a:solidFill>
                <a:srgbClr val="BFA13E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</a:rPr>
              <a:t>2</a:t>
            </a:r>
            <a:endParaRPr kumimoji="0" lang="en-US" sz="32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84308" y="1282535"/>
            <a:ext cx="2314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2569"/>
                </a:solidFill>
              </a:rPr>
              <a:t>Strengthening of current Business Continuity Plans</a:t>
            </a:r>
            <a:endParaRPr lang="en-US" sz="1400" b="1" i="1" dirty="0">
              <a:solidFill>
                <a:srgbClr val="002569"/>
              </a:solidFill>
            </a:endParaRPr>
          </a:p>
          <a:p>
            <a:pPr algn="l"/>
            <a:endParaRPr lang="en-US" sz="1400" b="1" i="1" dirty="0">
              <a:solidFill>
                <a:srgbClr val="002569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3" name="Rectangle 42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7" name="Right Arrow 46"/>
          <p:cNvSpPr/>
          <p:nvPr/>
        </p:nvSpPr>
        <p:spPr bwMode="auto">
          <a:xfrm>
            <a:off x="8362521" y="313479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70010" y="1156532"/>
            <a:ext cx="6246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The work plan is designed to </a:t>
            </a:r>
            <a:r>
              <a:rPr lang="en-US" sz="1400" b="1" dirty="0">
                <a:solidFill>
                  <a:srgbClr val="002569"/>
                </a:solidFill>
              </a:rPr>
              <a:t>complement the existing methodological framework </a:t>
            </a:r>
            <a:r>
              <a:rPr lang="en-US" sz="1400" dirty="0">
                <a:solidFill>
                  <a:srgbClr val="002569"/>
                </a:solidFill>
              </a:rPr>
              <a:t>on priority processes, </a:t>
            </a:r>
            <a:r>
              <a:rPr lang="en-US" sz="1400" b="1" dirty="0">
                <a:solidFill>
                  <a:srgbClr val="002569"/>
                </a:solidFill>
              </a:rPr>
              <a:t>defining the management framework and Government of the model</a:t>
            </a:r>
            <a:r>
              <a:rPr lang="en-US" sz="1400" dirty="0">
                <a:solidFill>
                  <a:srgbClr val="002569"/>
                </a:solidFill>
              </a:rPr>
              <a:t>, taking full advantage of the elements developed by SMNYL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801107" y="2150272"/>
            <a:ext cx="8516354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dirty="0">
                <a:solidFill>
                  <a:srgbClr val="002569"/>
                </a:solidFill>
              </a:rPr>
              <a:t>As shown previously, the </a:t>
            </a:r>
            <a:r>
              <a:rPr lang="en-US" sz="1600" b="1" dirty="0">
                <a:solidFill>
                  <a:srgbClr val="002569"/>
                </a:solidFill>
              </a:rPr>
              <a:t>roadmap designed </a:t>
            </a:r>
            <a:r>
              <a:rPr lang="en-US" sz="1600" dirty="0">
                <a:solidFill>
                  <a:srgbClr val="002569"/>
                </a:solidFill>
              </a:rPr>
              <a:t>by the team to improve current BC Plans is a </a:t>
            </a:r>
            <a:r>
              <a:rPr lang="en-US" sz="1600" b="1" dirty="0">
                <a:solidFill>
                  <a:srgbClr val="002569"/>
                </a:solidFill>
              </a:rPr>
              <a:t>two year task-calendar </a:t>
            </a:r>
            <a:r>
              <a:rPr lang="en-US" sz="1600" dirty="0">
                <a:solidFill>
                  <a:srgbClr val="002569"/>
                </a:solidFill>
              </a:rPr>
              <a:t>…</a:t>
            </a:r>
          </a:p>
        </p:txBody>
      </p:sp>
      <p:sp>
        <p:nvSpPr>
          <p:cNvPr id="53" name="Rounded Rectangle 52"/>
          <p:cNvSpPr/>
          <p:nvPr/>
        </p:nvSpPr>
        <p:spPr bwMode="auto">
          <a:xfrm>
            <a:off x="716485" y="2952489"/>
            <a:ext cx="8247604" cy="3161707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4" name="Straight Connector 53"/>
          <p:cNvCxnSpPr/>
          <p:nvPr/>
        </p:nvCxnSpPr>
        <p:spPr bwMode="auto">
          <a:xfrm flipV="1">
            <a:off x="8816820" y="3743203"/>
            <a:ext cx="0" cy="226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flipV="1">
            <a:off x="4766082" y="3743203"/>
            <a:ext cx="0" cy="226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flipV="1">
            <a:off x="6144686" y="3743203"/>
            <a:ext cx="0" cy="226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Straight Connector 56"/>
          <p:cNvCxnSpPr/>
          <p:nvPr/>
        </p:nvCxnSpPr>
        <p:spPr bwMode="auto">
          <a:xfrm flipV="1">
            <a:off x="7507466" y="3743203"/>
            <a:ext cx="0" cy="226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/>
          <p:cNvCxnSpPr/>
          <p:nvPr/>
        </p:nvCxnSpPr>
        <p:spPr bwMode="auto">
          <a:xfrm flipV="1">
            <a:off x="3410553" y="3715949"/>
            <a:ext cx="0" cy="226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3427932" y="2826912"/>
            <a:ext cx="2683636" cy="245659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b="1" dirty="0">
                <a:solidFill>
                  <a:schemeClr val="bg1"/>
                </a:solidFill>
                <a:latin typeface="TheSansCorrespondence"/>
              </a:rPr>
              <a:t>2016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36368" y="3127427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1st Semester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02965" y="3127427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2nd Semester</a:t>
            </a:r>
          </a:p>
        </p:txBody>
      </p:sp>
      <p:sp>
        <p:nvSpPr>
          <p:cNvPr id="62" name="Pentagon 61"/>
          <p:cNvSpPr/>
          <p:nvPr/>
        </p:nvSpPr>
        <p:spPr>
          <a:xfrm>
            <a:off x="809155" y="3300147"/>
            <a:ext cx="2311579" cy="498763"/>
          </a:xfrm>
          <a:prstGeom prst="homePlate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heSansCorrespondence"/>
              </a:rPr>
              <a:t>Business Continuity</a:t>
            </a:r>
          </a:p>
          <a:p>
            <a:r>
              <a:rPr lang="en-US" sz="1400" b="1" dirty="0">
                <a:solidFill>
                  <a:schemeClr val="bg1"/>
                </a:solidFill>
                <a:latin typeface="TheSansCorrespondence"/>
              </a:rPr>
              <a:t>Model - Work Plan</a:t>
            </a:r>
          </a:p>
        </p:txBody>
      </p:sp>
      <p:sp>
        <p:nvSpPr>
          <p:cNvPr id="63" name="Pentagon 62"/>
          <p:cNvSpPr/>
          <p:nvPr/>
        </p:nvSpPr>
        <p:spPr>
          <a:xfrm>
            <a:off x="1248358" y="4967276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72000" tIns="18000" rIns="72000" bIns="0" anchor="ctr"/>
          <a:lstStyle/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Continuity </a:t>
            </a:r>
          </a:p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Strategies</a:t>
            </a:r>
          </a:p>
        </p:txBody>
      </p:sp>
      <p:sp>
        <p:nvSpPr>
          <p:cNvPr id="64" name="Pentagon 63"/>
          <p:cNvSpPr/>
          <p:nvPr/>
        </p:nvSpPr>
        <p:spPr>
          <a:xfrm>
            <a:off x="1248358" y="5512919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72000" tIns="18000" rIns="72000" bIns="0" anchor="ctr"/>
          <a:lstStyle/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BCP development </a:t>
            </a:r>
          </a:p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&amp; testing</a:t>
            </a:r>
          </a:p>
        </p:txBody>
      </p:sp>
      <p:sp>
        <p:nvSpPr>
          <p:cNvPr id="65" name="Rectangle 414"/>
          <p:cNvSpPr>
            <a:spLocks noChangeArrowheads="1"/>
          </p:cNvSpPr>
          <p:nvPr/>
        </p:nvSpPr>
        <p:spPr bwMode="auto">
          <a:xfrm>
            <a:off x="4908843" y="5028127"/>
            <a:ext cx="860532" cy="191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6" name="Rectangle 414"/>
          <p:cNvSpPr>
            <a:spLocks noChangeArrowheads="1"/>
          </p:cNvSpPr>
          <p:nvPr/>
        </p:nvSpPr>
        <p:spPr bwMode="auto">
          <a:xfrm>
            <a:off x="5754756" y="5640380"/>
            <a:ext cx="1404000" cy="190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7" name="Pentagon 66"/>
          <p:cNvSpPr/>
          <p:nvPr/>
        </p:nvSpPr>
        <p:spPr>
          <a:xfrm>
            <a:off x="1248358" y="3897196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72000" tIns="18000" rIns="72000" bIns="0" anchor="ctr"/>
          <a:lstStyle/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Management &amp; </a:t>
            </a:r>
          </a:p>
          <a:p>
            <a:pPr algn="ctr"/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Governance Framework</a:t>
            </a:r>
          </a:p>
        </p:txBody>
      </p:sp>
      <p:sp>
        <p:nvSpPr>
          <p:cNvPr id="68" name="Rectangle 414"/>
          <p:cNvSpPr>
            <a:spLocks noChangeArrowheads="1"/>
          </p:cNvSpPr>
          <p:nvPr/>
        </p:nvSpPr>
        <p:spPr bwMode="auto">
          <a:xfrm>
            <a:off x="3589281" y="4003474"/>
            <a:ext cx="900000" cy="190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69" name="Rectangle 414"/>
          <p:cNvSpPr>
            <a:spLocks noChangeArrowheads="1"/>
          </p:cNvSpPr>
          <p:nvPr/>
        </p:nvSpPr>
        <p:spPr bwMode="auto">
          <a:xfrm>
            <a:off x="5855350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0" name="Rectangle 414"/>
          <p:cNvSpPr>
            <a:spLocks noChangeArrowheads="1"/>
          </p:cNvSpPr>
          <p:nvPr/>
        </p:nvSpPr>
        <p:spPr bwMode="auto">
          <a:xfrm>
            <a:off x="6012579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1" name="Rectangle 414"/>
          <p:cNvSpPr>
            <a:spLocks noChangeArrowheads="1"/>
          </p:cNvSpPr>
          <p:nvPr/>
        </p:nvSpPr>
        <p:spPr bwMode="auto">
          <a:xfrm>
            <a:off x="6162881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2" name="Rectangle 414"/>
          <p:cNvSpPr>
            <a:spLocks noChangeArrowheads="1"/>
          </p:cNvSpPr>
          <p:nvPr/>
        </p:nvSpPr>
        <p:spPr bwMode="auto">
          <a:xfrm>
            <a:off x="6320110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3" name="Rectangle 414"/>
          <p:cNvSpPr>
            <a:spLocks noChangeArrowheads="1"/>
          </p:cNvSpPr>
          <p:nvPr/>
        </p:nvSpPr>
        <p:spPr bwMode="auto">
          <a:xfrm>
            <a:off x="6483726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4" name="Rectangle 414"/>
          <p:cNvSpPr>
            <a:spLocks noChangeArrowheads="1"/>
          </p:cNvSpPr>
          <p:nvPr/>
        </p:nvSpPr>
        <p:spPr bwMode="auto">
          <a:xfrm>
            <a:off x="6640955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5" name="Rectangle 414"/>
          <p:cNvSpPr>
            <a:spLocks noChangeArrowheads="1"/>
          </p:cNvSpPr>
          <p:nvPr/>
        </p:nvSpPr>
        <p:spPr bwMode="auto">
          <a:xfrm>
            <a:off x="6791257" y="5028127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7" name="Rectangle 414"/>
          <p:cNvSpPr>
            <a:spLocks noChangeArrowheads="1"/>
          </p:cNvSpPr>
          <p:nvPr/>
        </p:nvSpPr>
        <p:spPr bwMode="auto">
          <a:xfrm>
            <a:off x="7379634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8" name="Rectangle 414"/>
          <p:cNvSpPr>
            <a:spLocks noChangeArrowheads="1"/>
          </p:cNvSpPr>
          <p:nvPr/>
        </p:nvSpPr>
        <p:spPr bwMode="auto">
          <a:xfrm>
            <a:off x="7536863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79" name="Rectangle 414"/>
          <p:cNvSpPr>
            <a:spLocks noChangeArrowheads="1"/>
          </p:cNvSpPr>
          <p:nvPr/>
        </p:nvSpPr>
        <p:spPr bwMode="auto">
          <a:xfrm>
            <a:off x="7687165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0" name="Rectangle 414"/>
          <p:cNvSpPr>
            <a:spLocks noChangeArrowheads="1"/>
          </p:cNvSpPr>
          <p:nvPr/>
        </p:nvSpPr>
        <p:spPr bwMode="auto">
          <a:xfrm>
            <a:off x="7844394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1" name="Rectangle 414"/>
          <p:cNvSpPr>
            <a:spLocks noChangeArrowheads="1"/>
          </p:cNvSpPr>
          <p:nvPr/>
        </p:nvSpPr>
        <p:spPr bwMode="auto">
          <a:xfrm>
            <a:off x="8008010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2" name="Rectangle 414"/>
          <p:cNvSpPr>
            <a:spLocks noChangeArrowheads="1"/>
          </p:cNvSpPr>
          <p:nvPr/>
        </p:nvSpPr>
        <p:spPr bwMode="auto">
          <a:xfrm>
            <a:off x="8165239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3" name="Rectangle 414"/>
          <p:cNvSpPr>
            <a:spLocks noChangeArrowheads="1"/>
          </p:cNvSpPr>
          <p:nvPr/>
        </p:nvSpPr>
        <p:spPr bwMode="auto">
          <a:xfrm>
            <a:off x="8315541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4" name="Rectangle 414"/>
          <p:cNvSpPr>
            <a:spLocks noChangeArrowheads="1"/>
          </p:cNvSpPr>
          <p:nvPr/>
        </p:nvSpPr>
        <p:spPr bwMode="auto">
          <a:xfrm>
            <a:off x="8472770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647827" y="4788516"/>
            <a:ext cx="1371926" cy="196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Priority Processes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01181" y="5400187"/>
            <a:ext cx="2008636" cy="216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Priority Processes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1820" y="5408297"/>
            <a:ext cx="1692000" cy="2162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Non-Priority Processes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6288" y="4782235"/>
            <a:ext cx="1660030" cy="162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Non-Priority Processes</a:t>
            </a:r>
          </a:p>
        </p:txBody>
      </p:sp>
      <p:sp>
        <p:nvSpPr>
          <p:cNvPr id="91" name="Rectangle 414"/>
          <p:cNvSpPr>
            <a:spLocks noChangeArrowheads="1"/>
          </p:cNvSpPr>
          <p:nvPr/>
        </p:nvSpPr>
        <p:spPr bwMode="auto">
          <a:xfrm>
            <a:off x="3411857" y="3405842"/>
            <a:ext cx="5400000" cy="287373"/>
          </a:xfrm>
          <a:prstGeom prst="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56634" y="2830144"/>
            <a:ext cx="2683636" cy="245659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b="1" dirty="0">
                <a:solidFill>
                  <a:schemeClr val="bg1"/>
                </a:solidFill>
                <a:latin typeface="TheSansCorrespondence"/>
              </a:rPr>
              <a:t>2017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65070" y="3130659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1st Semester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31667" y="3130659"/>
            <a:ext cx="1309091" cy="167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r>
              <a:rPr lang="es-ES" sz="1100" b="1" dirty="0">
                <a:solidFill>
                  <a:srgbClr val="002569"/>
                </a:solidFill>
                <a:latin typeface="TheSansCorrespondence"/>
              </a:rPr>
              <a:t>2nd Semester</a:t>
            </a:r>
          </a:p>
        </p:txBody>
      </p:sp>
      <p:sp>
        <p:nvSpPr>
          <p:cNvPr id="95" name="Text Box 23"/>
          <p:cNvSpPr txBox="1">
            <a:spLocks noChangeArrowheads="1"/>
          </p:cNvSpPr>
          <p:nvPr/>
        </p:nvSpPr>
        <p:spPr bwMode="blackWhite">
          <a:xfrm rot="16200000">
            <a:off x="173027" y="4754256"/>
            <a:ext cx="1647736" cy="4175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1407" tIns="72000" rIns="17993" bIns="45704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>
              <a:lnSpc>
                <a:spcPct val="100000"/>
              </a:lnSpc>
              <a:buClrTx/>
              <a:buNone/>
            </a:pPr>
            <a:r>
              <a:rPr lang="en-US" altLang="es-ES" b="1" dirty="0">
                <a:solidFill>
                  <a:srgbClr val="002569"/>
                </a:solidFill>
              </a:rPr>
              <a:t>Work-Streams</a:t>
            </a:r>
            <a:endParaRPr lang="en-US" altLang="es-ES" b="1" dirty="0">
              <a:solidFill>
                <a:srgbClr val="FF0000"/>
              </a:solidFill>
            </a:endParaRPr>
          </a:p>
        </p:txBody>
      </p:sp>
      <p:sp>
        <p:nvSpPr>
          <p:cNvPr id="97" name="Pentagon 96"/>
          <p:cNvSpPr/>
          <p:nvPr/>
        </p:nvSpPr>
        <p:spPr>
          <a:xfrm>
            <a:off x="1248358" y="4415097"/>
            <a:ext cx="1820206" cy="34066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72000" tIns="18000" rIns="72000" bIns="0" anchor="ctr"/>
          <a:lstStyle/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Definition of BIAs </a:t>
            </a:r>
          </a:p>
          <a:p>
            <a:r>
              <a:rPr lang="en-US" sz="1100" b="1" dirty="0">
                <a:solidFill>
                  <a:srgbClr val="002569"/>
                </a:solidFill>
                <a:latin typeface="TheSansCorrespondence"/>
              </a:rPr>
              <a:t>&amp; RIAs</a:t>
            </a:r>
            <a:endParaRPr lang="es-ES" sz="1100" b="1" dirty="0">
              <a:solidFill>
                <a:srgbClr val="002569"/>
              </a:solidFill>
              <a:latin typeface="TheSansCorrespondence"/>
            </a:endParaRPr>
          </a:p>
        </p:txBody>
      </p:sp>
      <p:sp>
        <p:nvSpPr>
          <p:cNvPr id="98" name="Rectangle 414"/>
          <p:cNvSpPr>
            <a:spLocks noChangeArrowheads="1"/>
          </p:cNvSpPr>
          <p:nvPr/>
        </p:nvSpPr>
        <p:spPr bwMode="auto">
          <a:xfrm>
            <a:off x="3589281" y="4475948"/>
            <a:ext cx="1332000" cy="1916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99" name="Rectangle 414"/>
          <p:cNvSpPr>
            <a:spLocks noChangeArrowheads="1"/>
          </p:cNvSpPr>
          <p:nvPr/>
        </p:nvSpPr>
        <p:spPr bwMode="auto">
          <a:xfrm>
            <a:off x="5016802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0" name="Rectangle 414"/>
          <p:cNvSpPr>
            <a:spLocks noChangeArrowheads="1"/>
          </p:cNvSpPr>
          <p:nvPr/>
        </p:nvSpPr>
        <p:spPr bwMode="auto">
          <a:xfrm>
            <a:off x="5174031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1" name="Rectangle 414"/>
          <p:cNvSpPr>
            <a:spLocks noChangeArrowheads="1"/>
          </p:cNvSpPr>
          <p:nvPr/>
        </p:nvSpPr>
        <p:spPr bwMode="auto">
          <a:xfrm>
            <a:off x="5324333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2" name="Rectangle 414"/>
          <p:cNvSpPr>
            <a:spLocks noChangeArrowheads="1"/>
          </p:cNvSpPr>
          <p:nvPr/>
        </p:nvSpPr>
        <p:spPr bwMode="auto">
          <a:xfrm>
            <a:off x="5481562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3" name="Rectangle 414"/>
          <p:cNvSpPr>
            <a:spLocks noChangeArrowheads="1"/>
          </p:cNvSpPr>
          <p:nvPr/>
        </p:nvSpPr>
        <p:spPr bwMode="auto">
          <a:xfrm>
            <a:off x="5645178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4" name="Rectangle 414"/>
          <p:cNvSpPr>
            <a:spLocks noChangeArrowheads="1"/>
          </p:cNvSpPr>
          <p:nvPr/>
        </p:nvSpPr>
        <p:spPr bwMode="auto">
          <a:xfrm>
            <a:off x="5802407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5" name="Rectangle 414"/>
          <p:cNvSpPr>
            <a:spLocks noChangeArrowheads="1"/>
          </p:cNvSpPr>
          <p:nvPr/>
        </p:nvSpPr>
        <p:spPr bwMode="auto">
          <a:xfrm>
            <a:off x="5952709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6" name="Rectangle 414"/>
          <p:cNvSpPr>
            <a:spLocks noChangeArrowheads="1"/>
          </p:cNvSpPr>
          <p:nvPr/>
        </p:nvSpPr>
        <p:spPr bwMode="auto">
          <a:xfrm>
            <a:off x="6109938" y="4475948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452178" y="4224462"/>
            <a:ext cx="1660030" cy="196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Priority Processes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83964" y="4230056"/>
            <a:ext cx="1660030" cy="162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050" i="1" dirty="0">
                <a:solidFill>
                  <a:schemeClr val="bg1">
                    <a:lumMod val="50000"/>
                  </a:schemeClr>
                </a:solidFill>
              </a:rPr>
              <a:t>Non-Priority Processes</a:t>
            </a:r>
          </a:p>
        </p:txBody>
      </p:sp>
      <p:sp>
        <p:nvSpPr>
          <p:cNvPr id="110" name="Isosceles Triangle 109"/>
          <p:cNvSpPr/>
          <p:nvPr/>
        </p:nvSpPr>
        <p:spPr bwMode="auto">
          <a:xfrm>
            <a:off x="439855" y="6185475"/>
            <a:ext cx="169484" cy="151626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rgbClr val="0025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2673" y="6136414"/>
            <a:ext cx="730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2569"/>
                </a:solidFill>
              </a:rPr>
              <a:t>Once the methodology and Governance are approved, it should be carried out the end-to-end pilot proof. It is estimated to be accomplished in the first 4-5 months</a:t>
            </a:r>
          </a:p>
        </p:txBody>
      </p:sp>
      <p:sp>
        <p:nvSpPr>
          <p:cNvPr id="5" name="Isosceles Triangle 4"/>
          <p:cNvSpPr/>
          <p:nvPr/>
        </p:nvSpPr>
        <p:spPr bwMode="auto">
          <a:xfrm>
            <a:off x="4380051" y="3585889"/>
            <a:ext cx="186432" cy="166789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rgbClr val="0025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es-ES" u="sng"/>
          </a:p>
        </p:txBody>
      </p:sp>
      <p:sp>
        <p:nvSpPr>
          <p:cNvPr id="112" name="Rectangle 414"/>
          <p:cNvSpPr>
            <a:spLocks noChangeArrowheads="1"/>
          </p:cNvSpPr>
          <p:nvPr/>
        </p:nvSpPr>
        <p:spPr bwMode="auto">
          <a:xfrm>
            <a:off x="7222816" y="5634621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  <p:sp>
        <p:nvSpPr>
          <p:cNvPr id="86" name="Rectangle 414"/>
          <p:cNvSpPr>
            <a:spLocks noChangeArrowheads="1"/>
          </p:cNvSpPr>
          <p:nvPr/>
        </p:nvSpPr>
        <p:spPr bwMode="auto">
          <a:xfrm>
            <a:off x="8629602" y="5640380"/>
            <a:ext cx="96104" cy="191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endParaRPr lang="en-US" sz="1200" b="1" dirty="0">
              <a:solidFill>
                <a:schemeClr val="bg1"/>
              </a:solidFill>
              <a:latin typeface="TheSansCorrespondence"/>
            </a:endParaRPr>
          </a:p>
        </p:txBody>
      </p:sp>
    </p:spTree>
    <p:extLst>
      <p:ext uri="{BB962C8B-B14F-4D97-AF65-F5344CB8AC3E}">
        <p14:creationId xmlns:p14="http://schemas.microsoft.com/office/powerpoint/2010/main" val="2905223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/>
          <p:cNvSpPr/>
          <p:nvPr/>
        </p:nvSpPr>
        <p:spPr bwMode="auto">
          <a:xfrm>
            <a:off x="965781" y="2501406"/>
            <a:ext cx="3434420" cy="2495359"/>
          </a:xfrm>
          <a:prstGeom prst="roundRect">
            <a:avLst>
              <a:gd name="adj" fmla="val 5369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3" name="Rounded Rectangle 32">
            <a:hlinkClick r:id="rId2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gray">
          <a:xfrm>
            <a:off x="522292" y="82550"/>
            <a:ext cx="8034337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Strengthening of current Business Continuity Plan (3/3)</a:t>
            </a:r>
            <a:endParaRPr lang="es-ES" sz="1800" b="1" i="1" dirty="0">
              <a:solidFill>
                <a:srgbClr val="BFA13E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3" name="Rectangle 42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7" name="Right Arrow 46"/>
          <p:cNvSpPr/>
          <p:nvPr/>
        </p:nvSpPr>
        <p:spPr bwMode="auto">
          <a:xfrm>
            <a:off x="8362521" y="313479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52" name="Picture 3" descr="C:\Users\antonio.desmonts.sa1\Desktop\0. Imagenes ppt\images (1)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110" y="1107500"/>
            <a:ext cx="1535345" cy="139222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306508" y="1234927"/>
            <a:ext cx="7622848" cy="48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46800" rIns="36000" bIns="46800"/>
          <a:lstStyle>
            <a:lvl1pPr marL="457200" indent="-457200" eaLnBrk="0" hangingPunct="0">
              <a:defRPr sz="1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dirty="0">
                <a:solidFill>
                  <a:srgbClr val="002569"/>
                </a:solidFill>
              </a:rPr>
              <a:t>Based on the </a:t>
            </a:r>
            <a:r>
              <a:rPr lang="en-US" sz="1600" b="1" dirty="0">
                <a:solidFill>
                  <a:srgbClr val="002569"/>
                </a:solidFill>
              </a:rPr>
              <a:t>impact to customers</a:t>
            </a:r>
            <a:r>
              <a:rPr lang="en-US" sz="1600" dirty="0">
                <a:solidFill>
                  <a:srgbClr val="002569"/>
                </a:solidFill>
              </a:rPr>
              <a:t>, in </a:t>
            </a:r>
            <a:r>
              <a:rPr lang="en-US" sz="1600" b="1" dirty="0">
                <a:solidFill>
                  <a:srgbClr val="002569"/>
                </a:solidFill>
              </a:rPr>
              <a:t>continuity of daily work, </a:t>
            </a:r>
            <a:r>
              <a:rPr lang="en-US" sz="1600" dirty="0">
                <a:solidFill>
                  <a:srgbClr val="002569"/>
                </a:solidFill>
              </a:rPr>
              <a:t> </a:t>
            </a:r>
            <a:r>
              <a:rPr lang="en-US" sz="1600" b="1" dirty="0">
                <a:solidFill>
                  <a:srgbClr val="002569"/>
                </a:solidFill>
              </a:rPr>
              <a:t>noncompliance with regulators</a:t>
            </a:r>
            <a:r>
              <a:rPr lang="en-US" sz="1600" dirty="0">
                <a:solidFill>
                  <a:srgbClr val="002569"/>
                </a:solidFill>
              </a:rPr>
              <a:t>… next processes have been selected as priorities…</a:t>
            </a:r>
          </a:p>
        </p:txBody>
      </p:sp>
      <p:sp>
        <p:nvSpPr>
          <p:cNvPr id="55" name="Text Box 23"/>
          <p:cNvSpPr txBox="1">
            <a:spLocks noChangeArrowheads="1"/>
          </p:cNvSpPr>
          <p:nvPr/>
        </p:nvSpPr>
        <p:spPr bwMode="blackWhite">
          <a:xfrm>
            <a:off x="5341647" y="2833270"/>
            <a:ext cx="3470175" cy="272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 numCol="1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chemeClr val="tx2"/>
                </a:solidFill>
              </a:rPr>
              <a:t>Suppliers Payment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Assets Sell/Buy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Assets Value Update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Treasury Management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Financial Statements Generation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Regulatory Reporting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Accounting &amp; Statistic data generation 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Taxes 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Issues from Authorities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Customer Communications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Security and TI Operative Support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Corporative Security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TI Services and Incident Management</a:t>
            </a:r>
          </a:p>
          <a:p>
            <a:pPr marL="0" lvl="1" indent="0" algn="l">
              <a:lnSpc>
                <a:spcPts val="800"/>
              </a:lnSpc>
              <a:buClr>
                <a:srgbClr val="002569"/>
              </a:buClr>
              <a:buNone/>
            </a:pPr>
            <a:endParaRPr lang="en-US" altLang="es-ES" sz="1200" i="1" dirty="0">
              <a:solidFill>
                <a:srgbClr val="002569"/>
              </a:solidFill>
            </a:endParaRP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blackWhite">
          <a:xfrm>
            <a:off x="1163837" y="2819622"/>
            <a:ext cx="3154705" cy="194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07" tIns="45704" rIns="17993" bIns="45704" numCol="1">
            <a:spAutoFit/>
          </a:bodyPr>
          <a:lstStyle>
            <a:lvl1pPr marL="342900" indent="-342900" eaLnBrk="0" hangingPunct="0">
              <a:lnSpc>
                <a:spcPct val="102000"/>
              </a:lnSpc>
              <a:spcBef>
                <a:spcPct val="50000"/>
              </a:spcBef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02000"/>
              </a:lnSpc>
              <a:spcBef>
                <a:spcPct val="50000"/>
              </a:spcBef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rgbClr val="997D00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Collection – Individual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Collection – Groups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Collection – Wage Discount Policies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Premiums refunds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rgbClr val="002569"/>
                </a:solidFill>
              </a:rPr>
              <a:t>Cancellation of Policies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sz="1200" i="1" dirty="0">
                <a:solidFill>
                  <a:schemeClr val="tx2"/>
                </a:solidFill>
              </a:rPr>
              <a:t>Complaints</a:t>
            </a:r>
            <a:endParaRPr lang="en-US" sz="1200" i="1" dirty="0">
              <a:solidFill>
                <a:srgbClr val="FF0000"/>
              </a:solidFill>
            </a:endParaRP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chemeClr val="tx2"/>
                </a:solidFill>
              </a:rPr>
              <a:t>Fund</a:t>
            </a:r>
            <a:r>
              <a:rPr lang="es-ES" altLang="es-ES" sz="1200" i="1" dirty="0">
                <a:solidFill>
                  <a:schemeClr val="tx2"/>
                </a:solidFill>
              </a:rPr>
              <a:t> Management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chemeClr val="tx2"/>
                </a:solidFill>
              </a:rPr>
              <a:t>Life Payments </a:t>
            </a:r>
            <a:r>
              <a:rPr lang="en-US" altLang="es-ES" sz="1200" i="1" dirty="0">
                <a:solidFill>
                  <a:srgbClr val="002569"/>
                </a:solidFill>
              </a:rPr>
              <a:t>Claims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chemeClr val="tx2"/>
                </a:solidFill>
              </a:rPr>
              <a:t>Hospitalization</a:t>
            </a:r>
          </a:p>
          <a:p>
            <a:pPr marL="285750" lvl="1" indent="-285750" algn="l">
              <a:lnSpc>
                <a:spcPts val="800"/>
              </a:lnSpc>
              <a:buClr>
                <a:srgbClr val="002569"/>
              </a:buClr>
              <a:buFont typeface="+mj-lt"/>
              <a:buAutoNum type="arabicPeriod"/>
            </a:pPr>
            <a:r>
              <a:rPr lang="en-US" altLang="es-ES" sz="1200" i="1" dirty="0">
                <a:solidFill>
                  <a:schemeClr val="tx2"/>
                </a:solidFill>
              </a:rPr>
              <a:t>International Claims</a:t>
            </a:r>
          </a:p>
        </p:txBody>
      </p:sp>
      <p:sp>
        <p:nvSpPr>
          <p:cNvPr id="58" name="Rounded Rectangle 57"/>
          <p:cNvSpPr/>
          <p:nvPr/>
        </p:nvSpPr>
        <p:spPr bwMode="auto">
          <a:xfrm>
            <a:off x="5072270" y="2472429"/>
            <a:ext cx="3777862" cy="2984280"/>
          </a:xfrm>
          <a:prstGeom prst="roundRect">
            <a:avLst>
              <a:gd name="adj" fmla="val 5369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" name="Rounded Rectangle 58"/>
          <p:cNvSpPr/>
          <p:nvPr/>
        </p:nvSpPr>
        <p:spPr bwMode="auto">
          <a:xfrm>
            <a:off x="1528150" y="2254734"/>
            <a:ext cx="2309682" cy="431025"/>
          </a:xfrm>
          <a:prstGeom prst="round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Business </a:t>
            </a:r>
          </a:p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Processes</a:t>
            </a:r>
          </a:p>
        </p:txBody>
      </p:sp>
      <p:sp>
        <p:nvSpPr>
          <p:cNvPr id="60" name="Rounded Rectangle 59"/>
          <p:cNvSpPr/>
          <p:nvPr/>
        </p:nvSpPr>
        <p:spPr bwMode="auto">
          <a:xfrm>
            <a:off x="5814377" y="2256916"/>
            <a:ext cx="2309682" cy="431025"/>
          </a:xfrm>
          <a:prstGeom prst="roundRect">
            <a:avLst/>
          </a:prstGeom>
          <a:solidFill>
            <a:srgbClr val="BFA13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Support</a:t>
            </a:r>
          </a:p>
          <a:p>
            <a:r>
              <a:rPr lang="es-ES" sz="1200" b="1" dirty="0">
                <a:solidFill>
                  <a:schemeClr val="bg1"/>
                </a:solidFill>
                <a:latin typeface="TheSansCorrespondence"/>
              </a:rPr>
              <a:t>Processes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977114" y="2785105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63" name="Rectangle 27"/>
          <p:cNvSpPr>
            <a:spLocks noChangeArrowheads="1"/>
          </p:cNvSpPr>
          <p:nvPr/>
        </p:nvSpPr>
        <p:spPr bwMode="auto">
          <a:xfrm>
            <a:off x="977114" y="2968414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64" name="Rectangle 27"/>
          <p:cNvSpPr>
            <a:spLocks noChangeArrowheads="1"/>
          </p:cNvSpPr>
          <p:nvPr/>
        </p:nvSpPr>
        <p:spPr bwMode="auto">
          <a:xfrm>
            <a:off x="977114" y="3174098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985230" y="3528506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68" name="Rectangle 27"/>
          <p:cNvSpPr>
            <a:spLocks noChangeArrowheads="1"/>
          </p:cNvSpPr>
          <p:nvPr/>
        </p:nvSpPr>
        <p:spPr bwMode="auto">
          <a:xfrm>
            <a:off x="985230" y="3706198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69" name="Rectangle 27"/>
          <p:cNvSpPr>
            <a:spLocks noChangeArrowheads="1"/>
          </p:cNvSpPr>
          <p:nvPr/>
        </p:nvSpPr>
        <p:spPr bwMode="auto">
          <a:xfrm>
            <a:off x="985230" y="3910478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0" name="Rectangle 27"/>
          <p:cNvSpPr>
            <a:spLocks noChangeArrowheads="1"/>
          </p:cNvSpPr>
          <p:nvPr/>
        </p:nvSpPr>
        <p:spPr bwMode="auto">
          <a:xfrm>
            <a:off x="977114" y="4292619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1" name="Rectangle 27"/>
          <p:cNvSpPr>
            <a:spLocks noChangeArrowheads="1"/>
          </p:cNvSpPr>
          <p:nvPr/>
        </p:nvSpPr>
        <p:spPr bwMode="auto">
          <a:xfrm>
            <a:off x="976520" y="4075131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2" name="Rectangle 27"/>
          <p:cNvSpPr>
            <a:spLocks noChangeArrowheads="1"/>
          </p:cNvSpPr>
          <p:nvPr/>
        </p:nvSpPr>
        <p:spPr bwMode="auto">
          <a:xfrm>
            <a:off x="5090575" y="2799193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3" name="Rectangle 27"/>
          <p:cNvSpPr>
            <a:spLocks noChangeArrowheads="1"/>
          </p:cNvSpPr>
          <p:nvPr/>
        </p:nvSpPr>
        <p:spPr bwMode="auto">
          <a:xfrm>
            <a:off x="5090575" y="2982502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4" name="Rectangle 27"/>
          <p:cNvSpPr>
            <a:spLocks noChangeArrowheads="1"/>
          </p:cNvSpPr>
          <p:nvPr/>
        </p:nvSpPr>
        <p:spPr bwMode="auto">
          <a:xfrm>
            <a:off x="5090575" y="3188186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9" name="Rectangle 27"/>
          <p:cNvSpPr>
            <a:spLocks noChangeArrowheads="1"/>
          </p:cNvSpPr>
          <p:nvPr/>
        </p:nvSpPr>
        <p:spPr bwMode="auto">
          <a:xfrm>
            <a:off x="5090575" y="3371671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80" name="Rectangle 27"/>
          <p:cNvSpPr>
            <a:spLocks noChangeArrowheads="1"/>
          </p:cNvSpPr>
          <p:nvPr/>
        </p:nvSpPr>
        <p:spPr bwMode="auto">
          <a:xfrm>
            <a:off x="5090575" y="3583098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81" name="Rectangle 27"/>
          <p:cNvSpPr>
            <a:spLocks noChangeArrowheads="1"/>
          </p:cNvSpPr>
          <p:nvPr/>
        </p:nvSpPr>
        <p:spPr bwMode="auto">
          <a:xfrm>
            <a:off x="5090575" y="4533173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82" name="Rectangle 27"/>
          <p:cNvSpPr>
            <a:spLocks noChangeArrowheads="1"/>
          </p:cNvSpPr>
          <p:nvPr/>
        </p:nvSpPr>
        <p:spPr bwMode="auto">
          <a:xfrm>
            <a:off x="5090575" y="5105509"/>
            <a:ext cx="352516" cy="2174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05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05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83" name="Rectangle 27"/>
          <p:cNvSpPr>
            <a:spLocks noChangeArrowheads="1"/>
          </p:cNvSpPr>
          <p:nvPr/>
        </p:nvSpPr>
        <p:spPr bwMode="auto">
          <a:xfrm>
            <a:off x="287692" y="5484005"/>
            <a:ext cx="469200" cy="23923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s-ES_tradnl" altLang="es-ES" sz="1800" b="1" dirty="0">
                <a:solidFill>
                  <a:srgbClr val="00B05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✓</a:t>
            </a:r>
            <a:endParaRPr lang="es-ES" altLang="es-ES" sz="1800" dirty="0">
              <a:solidFill>
                <a:srgbClr val="00B050"/>
              </a:solidFill>
              <a:latin typeface="Webdings" pitchFamily="18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9043" y="5456709"/>
            <a:ext cx="3897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569"/>
                </a:solidFill>
              </a:rPr>
              <a:t>Processes selected as critical in the improving </a:t>
            </a:r>
          </a:p>
          <a:p>
            <a:r>
              <a:rPr lang="en-US" sz="1400" dirty="0">
                <a:solidFill>
                  <a:srgbClr val="002569"/>
                </a:solidFill>
              </a:rPr>
              <a:t>of the Business Continuity Model</a:t>
            </a:r>
          </a:p>
        </p:txBody>
      </p:sp>
      <p:sp>
        <p:nvSpPr>
          <p:cNvPr id="37" name="Freeform 11"/>
          <p:cNvSpPr>
            <a:spLocks/>
          </p:cNvSpPr>
          <p:nvPr/>
        </p:nvSpPr>
        <p:spPr bwMode="auto">
          <a:xfrm rot="1168059">
            <a:off x="51241" y="1806789"/>
            <a:ext cx="1251499" cy="947766"/>
          </a:xfrm>
          <a:custGeom>
            <a:avLst/>
            <a:gdLst>
              <a:gd name="T0" fmla="*/ 2147483647 w 552"/>
              <a:gd name="T1" fmla="*/ 2147483647 h 409"/>
              <a:gd name="T2" fmla="*/ 2147483647 w 552"/>
              <a:gd name="T3" fmla="*/ 2147483647 h 409"/>
              <a:gd name="T4" fmla="*/ 2147483647 w 552"/>
              <a:gd name="T5" fmla="*/ 2147483647 h 409"/>
              <a:gd name="T6" fmla="*/ 2147483647 w 552"/>
              <a:gd name="T7" fmla="*/ 2147483647 h 409"/>
              <a:gd name="T8" fmla="*/ 2147483647 w 552"/>
              <a:gd name="T9" fmla="*/ 2147483647 h 409"/>
              <a:gd name="T10" fmla="*/ 2147483647 w 552"/>
              <a:gd name="T11" fmla="*/ 0 h 409"/>
              <a:gd name="T12" fmla="*/ 2147483647 w 552"/>
              <a:gd name="T13" fmla="*/ 2147483647 h 40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52"/>
              <a:gd name="T22" fmla="*/ 0 h 409"/>
              <a:gd name="T23" fmla="*/ 552 w 552"/>
              <a:gd name="T24" fmla="*/ 409 h 40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52" h="409">
                <a:moveTo>
                  <a:pt x="396" y="345"/>
                </a:moveTo>
                <a:cubicBezTo>
                  <a:pt x="396" y="377"/>
                  <a:pt x="396" y="409"/>
                  <a:pt x="396" y="409"/>
                </a:cubicBezTo>
                <a:cubicBezTo>
                  <a:pt x="396" y="409"/>
                  <a:pt x="474" y="350"/>
                  <a:pt x="552" y="291"/>
                </a:cubicBezTo>
                <a:cubicBezTo>
                  <a:pt x="552" y="291"/>
                  <a:pt x="474" y="220"/>
                  <a:pt x="397" y="150"/>
                </a:cubicBezTo>
                <a:cubicBezTo>
                  <a:pt x="397" y="150"/>
                  <a:pt x="396" y="183"/>
                  <a:pt x="396" y="217"/>
                </a:cubicBezTo>
                <a:cubicBezTo>
                  <a:pt x="89" y="194"/>
                  <a:pt x="75" y="0"/>
                  <a:pt x="75" y="0"/>
                </a:cubicBezTo>
                <a:cubicBezTo>
                  <a:pt x="75" y="0"/>
                  <a:pt x="0" y="297"/>
                  <a:pt x="396" y="34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 cmpd="sng">
            <a:noFill/>
            <a:prstDash val="solid"/>
            <a:round/>
            <a:headEnd/>
            <a:tailEnd/>
          </a:ln>
        </p:spPr>
        <p:txBody>
          <a:bodyPr lIns="63500" tIns="0" rIns="0" bIns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3401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Resultado de imagen para diseñ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4" descr="Resultado de imagen para diseña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gray">
          <a:xfrm>
            <a:off x="522293" y="82550"/>
            <a:ext cx="7734604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199" tIns="45600" rIns="91199" bIns="45600" anchor="b"/>
          <a:lstStyle/>
          <a:p>
            <a:pPr algn="l"/>
            <a:r>
              <a:rPr lang="en-US" sz="2200" b="1" dirty="0">
                <a:solidFill>
                  <a:schemeClr val="bg1"/>
                </a:solidFill>
              </a:rPr>
              <a:t>Value Chain Design and BCP Work Plan</a:t>
            </a:r>
            <a:endParaRPr lang="es-ES" sz="2200" b="1" dirty="0">
              <a:solidFill>
                <a:schemeClr val="bg1"/>
              </a:solidFill>
            </a:endParaRPr>
          </a:p>
          <a:p>
            <a:pPr algn="l"/>
            <a:r>
              <a:rPr lang="es-ES" b="1" i="1" dirty="0">
                <a:solidFill>
                  <a:srgbClr val="BFA13E"/>
                </a:solidFill>
              </a:rPr>
              <a:t>Next Steps – </a:t>
            </a:r>
            <a:r>
              <a:rPr lang="en-US" b="1" i="1" dirty="0">
                <a:solidFill>
                  <a:srgbClr val="BFA13E"/>
                </a:solidFill>
              </a:rPr>
              <a:t>Integration of Developed Frameworks in BAU  (1/1)</a:t>
            </a:r>
            <a:endParaRPr lang="es-ES" sz="1800" b="1" i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66627" y="1335275"/>
            <a:ext cx="2343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002569"/>
                </a:solidFill>
              </a:rPr>
              <a:t>Integration in a </a:t>
            </a:r>
          </a:p>
          <a:p>
            <a:pPr algn="l"/>
            <a:r>
              <a:rPr lang="en-US" b="1" dirty="0">
                <a:solidFill>
                  <a:srgbClr val="002569"/>
                </a:solidFill>
              </a:rPr>
              <a:t>Business As Usual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264955" y="1241343"/>
            <a:ext cx="960728" cy="806459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</a:rPr>
              <a:t>3</a:t>
            </a:r>
            <a:endParaRPr kumimoji="0" lang="en-US" sz="32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08387" y="1201020"/>
            <a:ext cx="3240000" cy="88710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4" name="Picture 8" descr="Resultado de imagen de go!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2" b="12000"/>
          <a:stretch/>
        </p:blipFill>
        <p:spPr bwMode="auto">
          <a:xfrm>
            <a:off x="7351192" y="6031901"/>
            <a:ext cx="1644089" cy="47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/>
          <p:cNvCxnSpPr/>
          <p:nvPr/>
        </p:nvCxnSpPr>
        <p:spPr bwMode="auto">
          <a:xfrm flipH="1" flipV="1">
            <a:off x="424052" y="3540472"/>
            <a:ext cx="2976268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235683" y="2517188"/>
            <a:ext cx="33752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dirty="0"/>
              <a:t>Different visions: organizational, by area, by processes</a:t>
            </a:r>
          </a:p>
          <a:p>
            <a:endParaRPr lang="en-US" sz="500" dirty="0"/>
          </a:p>
          <a:p>
            <a:r>
              <a:rPr lang="en-US" dirty="0"/>
              <a:t>Multi-entity, multi-currency, multi language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5683" y="3629476"/>
            <a:ext cx="337527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2569"/>
                </a:solidFill>
              </a:rPr>
              <a:t>Customizable management levels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2569"/>
                </a:solidFill>
              </a:rPr>
              <a:t>Flexibility </a:t>
            </a:r>
            <a:r>
              <a:rPr lang="en-US" sz="1100" dirty="0">
                <a:solidFill>
                  <a:srgbClr val="002569"/>
                </a:solidFill>
              </a:rPr>
              <a:t>in the management of processes at different levels (corporate and local)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2569"/>
                </a:solidFill>
              </a:rPr>
              <a:t>Process documentation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02569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2569"/>
                </a:solidFill>
              </a:rPr>
              <a:t>Access through multiple filters to process information</a:t>
            </a:r>
            <a:endParaRPr lang="en-US" sz="1100" b="1" dirty="0">
              <a:solidFill>
                <a:srgbClr val="002569"/>
              </a:solidFill>
            </a:endParaRPr>
          </a:p>
        </p:txBody>
      </p:sp>
      <p:cxnSp>
        <p:nvCxnSpPr>
          <p:cNvPr id="80" name="Straight Connector 79"/>
          <p:cNvCxnSpPr/>
          <p:nvPr/>
        </p:nvCxnSpPr>
        <p:spPr bwMode="auto">
          <a:xfrm flipH="1" flipV="1">
            <a:off x="424052" y="5026856"/>
            <a:ext cx="2976268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235683" y="5080806"/>
            <a:ext cx="337527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b="1" dirty="0"/>
              <a:t>Risk assessment questionnaires</a:t>
            </a:r>
            <a:r>
              <a:rPr lang="en-US" dirty="0"/>
              <a:t>: medium impact (inherent and residual), frequency (and worst case scenario</a:t>
            </a:r>
          </a:p>
          <a:p>
            <a:endParaRPr lang="en-US" sz="500" dirty="0"/>
          </a:p>
          <a:p>
            <a:r>
              <a:rPr lang="en-US" dirty="0"/>
              <a:t>Getting metrics: </a:t>
            </a:r>
            <a:r>
              <a:rPr lang="en-US" b="1" dirty="0"/>
              <a:t>expected loss and VaR</a:t>
            </a:r>
          </a:p>
          <a:p>
            <a:endParaRPr lang="en-US" sz="500" dirty="0"/>
          </a:p>
          <a:p>
            <a:r>
              <a:rPr lang="en-US" dirty="0"/>
              <a:t>Link, if available, to </a:t>
            </a:r>
            <a:r>
              <a:rPr lang="en-US" i="1" dirty="0"/>
              <a:t>Events Database</a:t>
            </a:r>
            <a:r>
              <a:rPr lang="en-US" dirty="0"/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0972" y="2278034"/>
            <a:ext cx="3506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b="1" dirty="0"/>
              <a:t>Documentation of controls</a:t>
            </a:r>
            <a:r>
              <a:rPr lang="en-US" dirty="0"/>
              <a:t>: frequency, responsible, output, etc.</a:t>
            </a:r>
          </a:p>
          <a:p>
            <a:endParaRPr lang="en-US" sz="500" dirty="0"/>
          </a:p>
          <a:p>
            <a:r>
              <a:rPr lang="en-US" b="1" dirty="0"/>
              <a:t>Linking direct risk controls</a:t>
            </a:r>
            <a:br>
              <a:rPr lang="en-US" dirty="0"/>
            </a:br>
            <a:endParaRPr lang="en-US" sz="500" dirty="0"/>
          </a:p>
          <a:p>
            <a:r>
              <a:rPr lang="en-US" dirty="0"/>
              <a:t>Individual </a:t>
            </a:r>
            <a:r>
              <a:rPr lang="en-US" b="1" dirty="0"/>
              <a:t>evaluation of controls</a:t>
            </a:r>
          </a:p>
        </p:txBody>
      </p:sp>
      <p:cxnSp>
        <p:nvCxnSpPr>
          <p:cNvPr id="84" name="Straight Connector 83"/>
          <p:cNvCxnSpPr/>
          <p:nvPr/>
        </p:nvCxnSpPr>
        <p:spPr bwMode="auto">
          <a:xfrm flipH="1" flipV="1">
            <a:off x="6528674" y="4223956"/>
            <a:ext cx="2976268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Straight Connector 84"/>
          <p:cNvCxnSpPr/>
          <p:nvPr/>
        </p:nvCxnSpPr>
        <p:spPr bwMode="auto">
          <a:xfrm flipH="1" flipV="1">
            <a:off x="6528674" y="5252203"/>
            <a:ext cx="2976268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6410972" y="3373408"/>
            <a:ext cx="32116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dirty="0"/>
              <a:t>KRIs registration and documentation (description, type, responsible, etc.)</a:t>
            </a:r>
            <a:br>
              <a:rPr lang="en-US" dirty="0"/>
            </a:b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410972" y="4362864"/>
            <a:ext cx="3211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b="1" dirty="0"/>
              <a:t>Executive reports </a:t>
            </a:r>
            <a:r>
              <a:rPr lang="en-US" dirty="0"/>
              <a:t>and dashboards for senior management</a:t>
            </a:r>
          </a:p>
          <a:p>
            <a:endParaRPr lang="en-US" sz="500" dirty="0"/>
          </a:p>
          <a:p>
            <a:r>
              <a:rPr lang="en-US" dirty="0"/>
              <a:t>Several profiles (auditor, etc.)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10972" y="5310176"/>
            <a:ext cx="32116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_tradnl"/>
            </a:defPPr>
            <a:lvl1pPr marL="171450" indent="-171450" algn="l">
              <a:buFont typeface="Arial" panose="020B0604020202020204" pitchFamily="34" charset="0"/>
              <a:buChar char="•"/>
              <a:defRPr sz="1100">
                <a:solidFill>
                  <a:srgbClr val="002569"/>
                </a:solidFill>
              </a:defRPr>
            </a:lvl1pPr>
          </a:lstStyle>
          <a:p>
            <a:r>
              <a:rPr lang="en-US" b="1" dirty="0"/>
              <a:t>Customization and report definition </a:t>
            </a:r>
            <a:r>
              <a:rPr lang="en-US" dirty="0"/>
              <a:t>as in the implementation of the system</a:t>
            </a:r>
          </a:p>
          <a:p>
            <a:endParaRPr lang="en-US" sz="500" dirty="0"/>
          </a:p>
          <a:p>
            <a:r>
              <a:rPr lang="en-US" dirty="0"/>
              <a:t>Traceability (historical photos)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56362" y="1294249"/>
            <a:ext cx="6246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2569"/>
                </a:solidFill>
              </a:rPr>
              <a:t>Once the Framework is implemented, it is </a:t>
            </a:r>
            <a:r>
              <a:rPr lang="en-US" sz="1400" b="1" dirty="0">
                <a:solidFill>
                  <a:srgbClr val="002569"/>
                </a:solidFill>
              </a:rPr>
              <a:t>necessary to have a system </a:t>
            </a:r>
            <a:r>
              <a:rPr lang="en-US" sz="1400" dirty="0">
                <a:solidFill>
                  <a:srgbClr val="002569"/>
                </a:solidFill>
              </a:rPr>
              <a:t>(software) </a:t>
            </a:r>
            <a:r>
              <a:rPr lang="en-US" sz="1400" b="1" dirty="0">
                <a:solidFill>
                  <a:srgbClr val="002569"/>
                </a:solidFill>
              </a:rPr>
              <a:t>that permits to work with all the documentation and information</a:t>
            </a:r>
            <a:r>
              <a:rPr lang="en-US" sz="1400" dirty="0">
                <a:solidFill>
                  <a:srgbClr val="002569"/>
                </a:solidFill>
              </a:rPr>
              <a:t> raised. This system should cover the following dimensions..</a:t>
            </a:r>
            <a:endParaRPr lang="en-US" sz="1400" b="1" dirty="0">
              <a:solidFill>
                <a:srgbClr val="002569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676688" y="3661961"/>
            <a:ext cx="1244600" cy="12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n-US" altLang="es-ES" sz="1200" b="1" dirty="0">
                <a:solidFill>
                  <a:schemeClr val="bg1"/>
                </a:solidFill>
              </a:rPr>
              <a:t>Processes Management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3676688" y="4997791"/>
            <a:ext cx="1244600" cy="122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n-US" altLang="es-ES" sz="1200" b="1" dirty="0">
                <a:solidFill>
                  <a:schemeClr val="bg1"/>
                </a:solidFill>
              </a:rPr>
              <a:t>Risks</a:t>
            </a:r>
          </a:p>
          <a:p>
            <a:r>
              <a:rPr lang="en-US" altLang="es-ES" sz="1200" b="1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5061568" y="2283921"/>
            <a:ext cx="1244600" cy="889200"/>
          </a:xfrm>
          <a:prstGeom prst="rect">
            <a:avLst/>
          </a:prstGeom>
          <a:solidFill>
            <a:schemeClr val="accent1"/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n-US" altLang="es-ES" sz="1200" b="1" dirty="0">
                <a:solidFill>
                  <a:srgbClr val="002569"/>
                </a:solidFill>
              </a:rPr>
              <a:t>Controls</a:t>
            </a:r>
          </a:p>
          <a:p>
            <a:r>
              <a:rPr lang="en-US" altLang="es-ES" sz="1200" b="1" dirty="0">
                <a:solidFill>
                  <a:srgbClr val="002569"/>
                </a:solidFill>
              </a:rPr>
              <a:t>Management</a:t>
            </a:r>
          </a:p>
        </p:txBody>
      </p:sp>
      <p:sp>
        <p:nvSpPr>
          <p:cNvPr id="35" name="Rectangle 56"/>
          <p:cNvSpPr>
            <a:spLocks noChangeArrowheads="1"/>
          </p:cNvSpPr>
          <p:nvPr/>
        </p:nvSpPr>
        <p:spPr bwMode="auto">
          <a:xfrm>
            <a:off x="3676688" y="2275262"/>
            <a:ext cx="1244600" cy="1224000"/>
          </a:xfrm>
          <a:prstGeom prst="rect">
            <a:avLst/>
          </a:prstGeom>
          <a:solidFill>
            <a:srgbClr val="00226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l" eaLnBrk="0" hangingPunct="0">
              <a:lnSpc>
                <a:spcPct val="102000"/>
              </a:lnSpc>
              <a:buChar char="•"/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algn="l" eaLnBrk="0" hangingPunct="0">
              <a:lnSpc>
                <a:spcPct val="102000"/>
              </a:lnSpc>
              <a:buSzPct val="80000"/>
              <a:buFont typeface="Webdings" pitchFamily="18" charset="2"/>
              <a:buChar char="4"/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eaLnBrk="0" hangingPunct="0">
              <a:lnSpc>
                <a:spcPct val="102000"/>
              </a:lnSpc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eaLnBrk="0" hangingPunct="0">
              <a:lnSpc>
                <a:spcPct val="102000"/>
              </a:lnSpc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eaLnBrk="0" hangingPunct="0">
              <a:lnSpc>
                <a:spcPct val="102000"/>
              </a:lnSpc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02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-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22000"/>
              </a:lnSpc>
              <a:buFont typeface="Wingdings" pitchFamily="2" charset="2"/>
              <a:buNone/>
            </a:pPr>
            <a:r>
              <a:rPr lang="en-US" altLang="es-ES" sz="1200" b="1" dirty="0">
                <a:solidFill>
                  <a:schemeClr val="bg1"/>
                </a:solidFill>
              </a:rPr>
              <a:t>Integrated Vision</a:t>
            </a:r>
            <a:endParaRPr lang="en-US" altLang="es-ES" sz="1200" b="1" i="1" dirty="0">
              <a:solidFill>
                <a:schemeClr val="bg1"/>
              </a:solidFill>
            </a:endParaRPr>
          </a:p>
        </p:txBody>
      </p:sp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5055218" y="4310513"/>
            <a:ext cx="1244600" cy="889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n-US" altLang="es-ES" sz="1200" b="1" dirty="0">
                <a:solidFill>
                  <a:srgbClr val="002569"/>
                </a:solidFill>
              </a:rPr>
              <a:t>Executive and Audit Vision</a:t>
            </a:r>
          </a:p>
        </p:txBody>
      </p:sp>
      <p:sp>
        <p:nvSpPr>
          <p:cNvPr id="37" name="Rectangle 31"/>
          <p:cNvSpPr>
            <a:spLocks noChangeArrowheads="1"/>
          </p:cNvSpPr>
          <p:nvPr/>
        </p:nvSpPr>
        <p:spPr bwMode="auto">
          <a:xfrm>
            <a:off x="5055218" y="5323808"/>
            <a:ext cx="1244600" cy="889200"/>
          </a:xfrm>
          <a:prstGeom prst="rect">
            <a:avLst/>
          </a:prstGeom>
          <a:solidFill>
            <a:schemeClr val="bg1"/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n-US" altLang="es-ES" sz="1200" b="1" dirty="0">
                <a:solidFill>
                  <a:srgbClr val="002569"/>
                </a:solidFill>
              </a:rPr>
              <a:t>Reporting</a:t>
            </a: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5061568" y="3297217"/>
            <a:ext cx="1244600" cy="889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/>
          <a:p>
            <a:r>
              <a:rPr lang="es-ES" altLang="es-ES" sz="1200" b="1" dirty="0">
                <a:solidFill>
                  <a:srgbClr val="002569"/>
                </a:solidFill>
              </a:rPr>
              <a:t>KRI Management &amp; </a:t>
            </a:r>
            <a:r>
              <a:rPr lang="en-US" altLang="es-ES" sz="1200" b="1" dirty="0">
                <a:solidFill>
                  <a:srgbClr val="002569"/>
                </a:solidFill>
              </a:rPr>
              <a:t>Alarms</a:t>
            </a:r>
          </a:p>
        </p:txBody>
      </p:sp>
      <p:cxnSp>
        <p:nvCxnSpPr>
          <p:cNvPr id="39" name="Straight Connector 38"/>
          <p:cNvCxnSpPr/>
          <p:nvPr/>
        </p:nvCxnSpPr>
        <p:spPr bwMode="auto">
          <a:xfrm flipH="1" flipV="1">
            <a:off x="6528674" y="3249412"/>
            <a:ext cx="2976268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2569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Rectangle 32"/>
          <p:cNvSpPr/>
          <p:nvPr/>
        </p:nvSpPr>
        <p:spPr bwMode="auto">
          <a:xfrm>
            <a:off x="8636186" y="193336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4" name="Rectangle 33">
            <a:hlinkClick r:id="rId3" action="ppaction://hlinksldjump"/>
          </p:cNvPr>
          <p:cNvSpPr/>
          <p:nvPr/>
        </p:nvSpPr>
        <p:spPr bwMode="auto">
          <a:xfrm>
            <a:off x="8664157" y="216973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8636186" y="365489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1" name="Rectangle 40">
            <a:hlinkClick r:id="rId3" action="ppaction://hlinksldjump"/>
          </p:cNvPr>
          <p:cNvSpPr/>
          <p:nvPr/>
        </p:nvSpPr>
        <p:spPr bwMode="auto">
          <a:xfrm>
            <a:off x="8664157" y="383429"/>
            <a:ext cx="142805" cy="108977"/>
          </a:xfrm>
          <a:prstGeom prst="rect">
            <a:avLst/>
          </a:prstGeom>
          <a:solidFill>
            <a:schemeClr val="bg1">
              <a:lumMod val="85000"/>
              <a:alpha val="6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8636186" y="548621"/>
            <a:ext cx="930296" cy="1448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3" name="Rectangle 42">
            <a:hlinkClick r:id="rId3" action="ppaction://hlinksldjump"/>
          </p:cNvPr>
          <p:cNvSpPr/>
          <p:nvPr/>
        </p:nvSpPr>
        <p:spPr bwMode="auto">
          <a:xfrm>
            <a:off x="8664157" y="566561"/>
            <a:ext cx="142805" cy="108977"/>
          </a:xfrm>
          <a:prstGeom prst="rect">
            <a:avLst/>
          </a:prstGeom>
          <a:solidFill>
            <a:srgbClr val="002569">
              <a:alpha val="6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Right Arrow 44"/>
          <p:cNvSpPr/>
          <p:nvPr/>
        </p:nvSpPr>
        <p:spPr bwMode="auto">
          <a:xfrm>
            <a:off x="8362521" y="500592"/>
            <a:ext cx="191386" cy="237052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6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ounded Rectangle 45">
            <a:hlinkClick r:id="rId4" action="ppaction://hlinksldjump"/>
          </p:cNvPr>
          <p:cNvSpPr/>
          <p:nvPr/>
        </p:nvSpPr>
        <p:spPr bwMode="auto">
          <a:xfrm>
            <a:off x="9185976" y="6316329"/>
            <a:ext cx="637932" cy="1930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tIns="0" bIns="0" rtlCol="0" anchor="ctr"/>
          <a:lstStyle/>
          <a:p>
            <a:r>
              <a:rPr lang="es-ES" sz="1200" dirty="0">
                <a:solidFill>
                  <a:srgbClr val="FFFFFF"/>
                </a:solidFill>
                <a:latin typeface="+mn-lt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1059944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2569"/>
      </a:dk2>
      <a:lt2>
        <a:srgbClr val="808080"/>
      </a:lt2>
      <a:accent1>
        <a:srgbClr val="CCD3E1"/>
      </a:accent1>
      <a:accent2>
        <a:srgbClr val="E0D399"/>
      </a:accent2>
      <a:accent3>
        <a:srgbClr val="FFFFFF"/>
      </a:accent3>
      <a:accent4>
        <a:srgbClr val="000000"/>
      </a:accent4>
      <a:accent5>
        <a:srgbClr val="E2E6EE"/>
      </a:accent5>
      <a:accent6>
        <a:srgbClr val="CBBF8A"/>
      </a:accent6>
      <a:hlink>
        <a:srgbClr val="BFA13E"/>
      </a:hlink>
      <a:folHlink>
        <a:srgbClr val="99A8C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6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6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44731</TotalTime>
  <Words>3030</Words>
  <Application>Microsoft Macintosh PowerPoint</Application>
  <PresentationFormat>A4 (210 x 297 mm)</PresentationFormat>
  <Paragraphs>466</Paragraphs>
  <Slides>20</Slides>
  <Notes>6</Notes>
  <HiddenSlides>12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20</vt:i4>
      </vt:variant>
    </vt:vector>
  </HeadingPairs>
  <TitlesOfParts>
    <vt:vector size="31" baseType="lpstr">
      <vt:lpstr>Arial Unicode MS</vt:lpstr>
      <vt:lpstr>Arial</vt:lpstr>
      <vt:lpstr>Courier New</vt:lpstr>
      <vt:lpstr>Myriad-Roman</vt:lpstr>
      <vt:lpstr>TheSansCorrespondence</vt:lpstr>
      <vt:lpstr>Webdings</vt:lpstr>
      <vt:lpstr>Wingdings</vt:lpstr>
      <vt:lpstr>Default Design</vt:lpstr>
      <vt:lpstr>think-cell Slide</vt:lpstr>
      <vt:lpstr>Presentation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GMS Management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Integra2</dc:title>
  <dc:creator>Management Solutions</dc:creator>
  <cp:lastModifiedBy>Jose Antonio Rojas Bonilla</cp:lastModifiedBy>
  <cp:revision>3144</cp:revision>
  <cp:lastPrinted>2015-02-09T09:55:38Z</cp:lastPrinted>
  <dcterms:created xsi:type="dcterms:W3CDTF">2003-12-08T18:06:48Z</dcterms:created>
  <dcterms:modified xsi:type="dcterms:W3CDTF">2026-10-20T17:30:25Z</dcterms:modified>
</cp:coreProperties>
</file>