
<file path=[Content_Types].xml><?xml version="1.0" encoding="utf-8"?>
<Types xmlns="http://schemas.openxmlformats.org/package/2006/content-types">
  <Default Extension="bin" ContentType="application/vnd.openxmlformats-officedocument.oleObject"/>
  <Default Extension="emf" ContentType="image/x-emf"/>
  <Default Extension="gif" ContentType="image/gif"/>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harts/chart1.xml" ContentType="application/vnd.openxmlformats-officedocument.drawingml.chart+xml"/>
  <Override PartName="/ppt/charts/chart2.xml" ContentType="application/vnd.openxmlformats-officedocument.drawingml.chart+xml"/>
  <Override PartName="/ppt/drawings/drawing1.xml" ContentType="application/vnd.openxmlformats-officedocument.drawingml.chartshapes+xml"/>
  <Override PartName="/ppt/charts/chart3.xml" ContentType="application/vnd.openxmlformats-officedocument.drawingml.chart+xml"/>
  <Override PartName="/ppt/charts/chart4.xml" ContentType="application/vnd.openxmlformats-officedocument.drawingml.char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charts/chart9.xml" ContentType="application/vnd.openxmlformats-officedocument.drawingml.chart+xml"/>
  <Override PartName="/ppt/charts/chart10.xml" ContentType="application/vnd.openxmlformats-officedocument.drawingml.char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21"/>
  </p:notesMasterIdLst>
  <p:handoutMasterIdLst>
    <p:handoutMasterId r:id="rId122"/>
  </p:handoutMasterIdLst>
  <p:sldIdLst>
    <p:sldId id="913" r:id="rId2"/>
    <p:sldId id="914" r:id="rId3"/>
    <p:sldId id="915" r:id="rId4"/>
    <p:sldId id="433" r:id="rId5"/>
    <p:sldId id="771" r:id="rId6"/>
    <p:sldId id="779" r:id="rId7"/>
    <p:sldId id="772" r:id="rId8"/>
    <p:sldId id="773" r:id="rId9"/>
    <p:sldId id="774" r:id="rId10"/>
    <p:sldId id="775" r:id="rId11"/>
    <p:sldId id="776" r:id="rId12"/>
    <p:sldId id="777" r:id="rId13"/>
    <p:sldId id="780" r:id="rId14"/>
    <p:sldId id="860" r:id="rId15"/>
    <p:sldId id="861" r:id="rId16"/>
    <p:sldId id="864" r:id="rId17"/>
    <p:sldId id="781" r:id="rId18"/>
    <p:sldId id="865" r:id="rId19"/>
    <p:sldId id="866" r:id="rId20"/>
    <p:sldId id="784" r:id="rId21"/>
    <p:sldId id="785" r:id="rId22"/>
    <p:sldId id="786" r:id="rId23"/>
    <p:sldId id="788" r:id="rId24"/>
    <p:sldId id="790" r:id="rId25"/>
    <p:sldId id="782" r:id="rId26"/>
    <p:sldId id="783" r:id="rId27"/>
    <p:sldId id="778" r:id="rId28"/>
    <p:sldId id="792" r:id="rId29"/>
    <p:sldId id="791" r:id="rId30"/>
    <p:sldId id="907" r:id="rId31"/>
    <p:sldId id="908" r:id="rId32"/>
    <p:sldId id="867" r:id="rId33"/>
    <p:sldId id="868" r:id="rId34"/>
    <p:sldId id="869" r:id="rId35"/>
    <p:sldId id="870" r:id="rId36"/>
    <p:sldId id="871" r:id="rId37"/>
    <p:sldId id="872" r:id="rId38"/>
    <p:sldId id="873" r:id="rId39"/>
    <p:sldId id="874" r:id="rId40"/>
    <p:sldId id="875" r:id="rId41"/>
    <p:sldId id="876" r:id="rId42"/>
    <p:sldId id="882" r:id="rId43"/>
    <p:sldId id="883" r:id="rId44"/>
    <p:sldId id="884" r:id="rId45"/>
    <p:sldId id="885" r:id="rId46"/>
    <p:sldId id="886" r:id="rId47"/>
    <p:sldId id="903" r:id="rId48"/>
    <p:sldId id="904" r:id="rId49"/>
    <p:sldId id="905" r:id="rId50"/>
    <p:sldId id="909" r:id="rId51"/>
    <p:sldId id="888" r:id="rId52"/>
    <p:sldId id="889" r:id="rId53"/>
    <p:sldId id="890" r:id="rId54"/>
    <p:sldId id="902" r:id="rId55"/>
    <p:sldId id="910" r:id="rId56"/>
    <p:sldId id="891" r:id="rId57"/>
    <p:sldId id="894" r:id="rId58"/>
    <p:sldId id="895" r:id="rId59"/>
    <p:sldId id="922" r:id="rId60"/>
    <p:sldId id="892" r:id="rId61"/>
    <p:sldId id="794" r:id="rId62"/>
    <p:sldId id="795" r:id="rId63"/>
    <p:sldId id="799" r:id="rId64"/>
    <p:sldId id="911" r:id="rId65"/>
    <p:sldId id="808" r:id="rId66"/>
    <p:sldId id="809" r:id="rId67"/>
    <p:sldId id="810" r:id="rId68"/>
    <p:sldId id="811" r:id="rId69"/>
    <p:sldId id="812" r:id="rId70"/>
    <p:sldId id="813" r:id="rId71"/>
    <p:sldId id="814" r:id="rId72"/>
    <p:sldId id="815" r:id="rId73"/>
    <p:sldId id="816" r:id="rId74"/>
    <p:sldId id="817" r:id="rId75"/>
    <p:sldId id="818" r:id="rId76"/>
    <p:sldId id="819" r:id="rId77"/>
    <p:sldId id="820" r:id="rId78"/>
    <p:sldId id="821" r:id="rId79"/>
    <p:sldId id="822" r:id="rId80"/>
    <p:sldId id="823" r:id="rId81"/>
    <p:sldId id="824" r:id="rId82"/>
    <p:sldId id="825" r:id="rId83"/>
    <p:sldId id="826" r:id="rId84"/>
    <p:sldId id="827" r:id="rId85"/>
    <p:sldId id="828" r:id="rId86"/>
    <p:sldId id="829" r:id="rId87"/>
    <p:sldId id="830" r:id="rId88"/>
    <p:sldId id="831" r:id="rId89"/>
    <p:sldId id="833" r:id="rId90"/>
    <p:sldId id="919" r:id="rId91"/>
    <p:sldId id="835" r:id="rId92"/>
    <p:sldId id="836" r:id="rId93"/>
    <p:sldId id="837" r:id="rId94"/>
    <p:sldId id="838" r:id="rId95"/>
    <p:sldId id="839" r:id="rId96"/>
    <p:sldId id="840" r:id="rId97"/>
    <p:sldId id="841" r:id="rId98"/>
    <p:sldId id="842" r:id="rId99"/>
    <p:sldId id="843" r:id="rId100"/>
    <p:sldId id="844" r:id="rId101"/>
    <p:sldId id="845" r:id="rId102"/>
    <p:sldId id="846" r:id="rId103"/>
    <p:sldId id="847" r:id="rId104"/>
    <p:sldId id="848" r:id="rId105"/>
    <p:sldId id="849" r:id="rId106"/>
    <p:sldId id="850" r:id="rId107"/>
    <p:sldId id="851" r:id="rId108"/>
    <p:sldId id="852" r:id="rId109"/>
    <p:sldId id="853" r:id="rId110"/>
    <p:sldId id="854" r:id="rId111"/>
    <p:sldId id="855" r:id="rId112"/>
    <p:sldId id="856" r:id="rId113"/>
    <p:sldId id="857" r:id="rId114"/>
    <p:sldId id="858" r:id="rId115"/>
    <p:sldId id="859" r:id="rId116"/>
    <p:sldId id="917" r:id="rId117"/>
    <p:sldId id="918" r:id="rId118"/>
    <p:sldId id="921" r:id="rId119"/>
    <p:sldId id="793" r:id="rId120"/>
  </p:sldIdLst>
  <p:sldSz cx="9144000" cy="6858000" type="screen4x3"/>
  <p:notesSz cx="6858000" cy="9144000"/>
  <p:defaultTextStyle>
    <a:defPPr>
      <a:defRPr lang="es-P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4319">
          <p15:clr>
            <a:srgbClr val="A4A3A4"/>
          </p15:clr>
        </p15:guide>
        <p15:guide id="2" pos="5759">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B0613"/>
    <a:srgbClr val="FAC8B8"/>
    <a:srgbClr val="DFF1CB"/>
    <a:srgbClr val="DDF0C8"/>
    <a:srgbClr val="FFE161"/>
    <a:srgbClr val="FFF9CD"/>
    <a:srgbClr val="FFCC00"/>
    <a:srgbClr val="FFF7B9"/>
    <a:srgbClr val="009644"/>
    <a:srgbClr val="F26D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vertBarState="minimized" horzBarState="maximized">
    <p:restoredLeft sz="20655" autoAdjust="0"/>
    <p:restoredTop sz="89250" autoAdjust="0"/>
  </p:normalViewPr>
  <p:slideViewPr>
    <p:cSldViewPr snapToObjects="1">
      <p:cViewPr varScale="1">
        <p:scale>
          <a:sx n="117" d="100"/>
          <a:sy n="117" d="100"/>
        </p:scale>
        <p:origin x="2664" y="176"/>
      </p:cViewPr>
      <p:guideLst>
        <p:guide orient="horz" pos="4319"/>
        <p:guide pos="5759"/>
      </p:guideLst>
    </p:cSldViewPr>
  </p:slideViewPr>
  <p:outlineViewPr>
    <p:cViewPr>
      <p:scale>
        <a:sx n="33" d="100"/>
        <a:sy n="33" d="100"/>
      </p:scale>
      <p:origin x="0" y="0"/>
    </p:cViewPr>
  </p:outlineViewPr>
  <p:notesTextViewPr>
    <p:cViewPr>
      <p:scale>
        <a:sx n="1" d="1"/>
        <a:sy n="1" d="1"/>
      </p:scale>
      <p:origin x="0" y="0"/>
    </p:cViewPr>
  </p:notesTextViewPr>
  <p:sorterViewPr>
    <p:cViewPr>
      <p:scale>
        <a:sx n="66" d="100"/>
        <a:sy n="66" d="100"/>
      </p:scale>
      <p:origin x="0" y="6096"/>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presProps" Target="presProps.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viewProps" Target="viewProps.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theme" Target="theme/theme1.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notesMaster" Target="notesMasters/notesMaster1.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s>
</file>

<file path=ppt/charts/_rels/chart1.xml.rels><?xml version="1.0" encoding="UTF-8" standalone="yes"?>
<Relationships xmlns="http://schemas.openxmlformats.org/package/2006/relationships"><Relationship Id="rId1" Type="http://schemas.openxmlformats.org/officeDocument/2006/relationships/package" Target="../embeddings/Hoja_de_c_lculo_de_Microsoft_Excel.xlsx"/></Relationships>
</file>

<file path=ppt/charts/_rels/chart2.xml.rels><?xml version="1.0" encoding="UTF-8" standalone="yes"?>
<Relationships xmlns="http://schemas.openxmlformats.org/package/2006/relationships"><Relationship Id="rId2" Type="http://schemas.openxmlformats.org/officeDocument/2006/relationships/chartUserShapes" Target="../drawings/drawing1.xml"/><Relationship Id="rId1" Type="http://schemas.openxmlformats.org/officeDocument/2006/relationships/oleObject" Target="file:///C:\Users\rocio.calderon.rodr1\AppData\Local\Microsoft\Windows\Temporary%20Internet%20Files\Content.Outlook\QPGG7L1H\Capital%20por%20riesgo%20operacional%202012.xlsx" TargetMode="External"/></Relationships>
</file>

<file path=ppt/charts/_rels/chart3.xml.rels><?xml version="1.0" encoding="UTF-8" standalone="yes"?>
<Relationships xmlns="http://schemas.openxmlformats.org/package/2006/relationships"><Relationship Id="rId1" Type="http://schemas.openxmlformats.org/officeDocument/2006/relationships/oleObject" Target="file:///C:\Documents%20and%20Settings\carlos.manuel.joo.p1\Local%20Settings\Temporary%20Internet%20Files\Content.Outlook\40QR9EWK\Tablero%20de%20riesgos%20y%20controles_V07022013.xlsx" TargetMode="External"/></Relationships>
</file>

<file path=ppt/charts/_rels/chart4.xml.rels><?xml version="1.0" encoding="UTF-8" standalone="yes"?>
<Relationships xmlns="http://schemas.openxmlformats.org/package/2006/relationships"><Relationship Id="rId1" Type="http://schemas.openxmlformats.org/officeDocument/2006/relationships/oleObject" Target="file:///C:\Documents%20and%20Settings\carlos.manuel.joo.p1\Local%20Settings\Temporary%20Internet%20Files\Content.Outlook\40QR9EWK\Tablero%20de%20riesgos%20y%20controles_V07022013.xlsx" TargetMode="External"/></Relationships>
</file>

<file path=ppt/charts/_rels/chart5.xml.rels><?xml version="1.0" encoding="UTF-8" standalone="yes"?>
<Relationships xmlns="http://schemas.openxmlformats.org/package/2006/relationships"><Relationship Id="rId1" Type="http://schemas.openxmlformats.org/officeDocument/2006/relationships/oleObject" Target="file:///C:\Documents%20and%20Settings\carlos.manuel.joo.p1\Desktop\Otros\xls_export1.xls" TargetMode="External"/></Relationships>
</file>

<file path=ppt/charts/_rels/chart6.xml.rels><?xml version="1.0" encoding="UTF-8" standalone="yes"?>
<Relationships xmlns="http://schemas.openxmlformats.org/package/2006/relationships"><Relationship Id="rId1" Type="http://schemas.openxmlformats.org/officeDocument/2006/relationships/oleObject" Target="file:///C:\Documents%20and%20Settings\carlos.manuel.joo.p1\Desktop\Otros\xls_export1.xls" TargetMode="External"/></Relationships>
</file>

<file path=ppt/charts/_rels/chart7.xml.rels><?xml version="1.0" encoding="UTF-8" standalone="yes"?>
<Relationships xmlns="http://schemas.openxmlformats.org/package/2006/relationships"><Relationship Id="rId1" Type="http://schemas.openxmlformats.org/officeDocument/2006/relationships/oleObject" Target="file:///C:\Documents%20and%20Settings\carlos.manuel.joo.p1\Local%20Settings\Temporary%20Internet%20Files\Content.Outlook\40QR9EWK\Tablero%20de%20riesgos%20y%20controles_V07022013.xlsx" TargetMode="External"/></Relationships>
</file>

<file path=ppt/charts/_rels/chart8.xml.rels><?xml version="1.0" encoding="UTF-8" standalone="yes"?>
<Relationships xmlns="http://schemas.openxmlformats.org/package/2006/relationships"><Relationship Id="rId1" Type="http://schemas.openxmlformats.org/officeDocument/2006/relationships/oleObject" Target="file:///C:\Documents%20and%20Settings\carlos.manuel.joo.p1\Desktop\Otros\xls_export1.xls" TargetMode="External"/></Relationships>
</file>

<file path=ppt/charts/_rels/chart9.xml.rels><?xml version="1.0" encoding="UTF-8" standalone="yes"?>
<Relationships xmlns="http://schemas.openxmlformats.org/package/2006/relationships"><Relationship Id="rId1" Type="http://schemas.openxmlformats.org/officeDocument/2006/relationships/oleObject" Target="file:///C:\Documents%20and%20Settings\carlos.manuel.joo.p1\Desktop\Otros\xls_export1.xls" TargetMode="External"/></Relationships>
</file>

<file path=ppt/charts/_rels/chart10.xml.rels><?xml version="1.0" encoding="UTF-8" standalone="yes"?>
<Relationships xmlns="http://schemas.openxmlformats.org/package/2006/relationships"><Relationship Id="rId1" Type="http://schemas.openxmlformats.org/officeDocument/2006/relationships/oleObject" Target="file:///C:\Documents%20and%20Settings\carlos.manuel.joo.p1\Local%20Settings\Temporary%20Internet%20Files\Content.Outlook\40QR9EWK\Tablero%20de%20riesgos%20y%20controles_V07022013.xlsx" TargetMode="Externa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MX"/>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0.12659849733338571"/>
          <c:y val="5.9713271568154744E-2"/>
          <c:w val="0.84083622916305567"/>
          <c:h val="0.90303992073921957"/>
        </c:manualLayout>
      </c:layout>
      <c:barChart>
        <c:barDir val="bar"/>
        <c:grouping val="stacked"/>
        <c:varyColors val="0"/>
        <c:ser>
          <c:idx val="0"/>
          <c:order val="0"/>
          <c:tx>
            <c:v>Basilea I</c:v>
          </c:tx>
          <c:spPr>
            <a:solidFill>
              <a:schemeClr val="bg1"/>
            </a:solidFill>
            <a:ln>
              <a:solidFill>
                <a:schemeClr val="tx1"/>
              </a:solidFill>
            </a:ln>
          </c:spPr>
          <c:invertIfNegative val="0"/>
          <c:cat>
            <c:strRef>
              <c:f>'1.A. Método por país'!$A$4:$A$18</c:f>
              <c:strCache>
                <c:ptCount val="15"/>
                <c:pt idx="0">
                  <c:v>US</c:v>
                </c:pt>
                <c:pt idx="1">
                  <c:v>China</c:v>
                </c:pt>
                <c:pt idx="2">
                  <c:v>Japan</c:v>
                </c:pt>
                <c:pt idx="3">
                  <c:v>UK</c:v>
                </c:pt>
                <c:pt idx="4">
                  <c:v>Canada</c:v>
                </c:pt>
                <c:pt idx="5">
                  <c:v>Germany</c:v>
                </c:pt>
                <c:pt idx="6">
                  <c:v>France</c:v>
                </c:pt>
                <c:pt idx="7">
                  <c:v>Korea</c:v>
                </c:pt>
                <c:pt idx="8">
                  <c:v>Brazil</c:v>
                </c:pt>
                <c:pt idx="9">
                  <c:v>Spain</c:v>
                </c:pt>
                <c:pt idx="10">
                  <c:v>Australia</c:v>
                </c:pt>
                <c:pt idx="11">
                  <c:v>Netherlands</c:v>
                </c:pt>
                <c:pt idx="12">
                  <c:v>Sweden</c:v>
                </c:pt>
                <c:pt idx="13">
                  <c:v>Italy</c:v>
                </c:pt>
                <c:pt idx="14">
                  <c:v>Singapore</c:v>
                </c:pt>
              </c:strCache>
            </c:strRef>
          </c:cat>
          <c:val>
            <c:numRef>
              <c:f>'1.A. Método por país'!$G$4:$G$18</c:f>
              <c:numCache>
                <c:formatCode>General</c:formatCode>
                <c:ptCount val="15"/>
                <c:pt idx="0">
                  <c:v>8</c:v>
                </c:pt>
                <c:pt idx="1">
                  <c:v>2</c:v>
                </c:pt>
              </c:numCache>
            </c:numRef>
          </c:val>
          <c:extLst>
            <c:ext xmlns:c16="http://schemas.microsoft.com/office/drawing/2014/chart" uri="{C3380CC4-5D6E-409C-BE32-E72D297353CC}">
              <c16:uniqueId val="{00000000-5341-7245-B069-A7EC30253938}"/>
            </c:ext>
          </c:extLst>
        </c:ser>
        <c:ser>
          <c:idx val="1"/>
          <c:order val="1"/>
          <c:tx>
            <c:v>BIA</c:v>
          </c:tx>
          <c:spPr>
            <a:solidFill>
              <a:schemeClr val="accent2">
                <a:lumMod val="75000"/>
              </a:schemeClr>
            </a:solidFill>
            <a:ln>
              <a:solidFill>
                <a:schemeClr val="tx1"/>
              </a:solidFill>
            </a:ln>
          </c:spPr>
          <c:invertIfNegative val="0"/>
          <c:cat>
            <c:strRef>
              <c:f>'1.A. Método por país'!$A$4:$A$18</c:f>
              <c:strCache>
                <c:ptCount val="15"/>
                <c:pt idx="0">
                  <c:v>US</c:v>
                </c:pt>
                <c:pt idx="1">
                  <c:v>China</c:v>
                </c:pt>
                <c:pt idx="2">
                  <c:v>Japan</c:v>
                </c:pt>
                <c:pt idx="3">
                  <c:v>UK</c:v>
                </c:pt>
                <c:pt idx="4">
                  <c:v>Canada</c:v>
                </c:pt>
                <c:pt idx="5">
                  <c:v>Germany</c:v>
                </c:pt>
                <c:pt idx="6">
                  <c:v>France</c:v>
                </c:pt>
                <c:pt idx="7">
                  <c:v>Korea</c:v>
                </c:pt>
                <c:pt idx="8">
                  <c:v>Brazil</c:v>
                </c:pt>
                <c:pt idx="9">
                  <c:v>Spain</c:v>
                </c:pt>
                <c:pt idx="10">
                  <c:v>Australia</c:v>
                </c:pt>
                <c:pt idx="11">
                  <c:v>Netherlands</c:v>
                </c:pt>
                <c:pt idx="12">
                  <c:v>Sweden</c:v>
                </c:pt>
                <c:pt idx="13">
                  <c:v>Italy</c:v>
                </c:pt>
                <c:pt idx="14">
                  <c:v>Singapore</c:v>
                </c:pt>
              </c:strCache>
            </c:strRef>
          </c:cat>
          <c:val>
            <c:numRef>
              <c:f>'1.A. Método por país'!$B$4:$B$18</c:f>
              <c:numCache>
                <c:formatCode>General</c:formatCode>
                <c:ptCount val="15"/>
                <c:pt idx="4">
                  <c:v>1</c:v>
                </c:pt>
              </c:numCache>
            </c:numRef>
          </c:val>
          <c:extLst>
            <c:ext xmlns:c16="http://schemas.microsoft.com/office/drawing/2014/chart" uri="{C3380CC4-5D6E-409C-BE32-E72D297353CC}">
              <c16:uniqueId val="{00000001-5341-7245-B069-A7EC30253938}"/>
            </c:ext>
          </c:extLst>
        </c:ser>
        <c:ser>
          <c:idx val="2"/>
          <c:order val="2"/>
          <c:tx>
            <c:v>TSA</c:v>
          </c:tx>
          <c:spPr>
            <a:solidFill>
              <a:srgbClr val="85B400">
                <a:alpha val="64000"/>
              </a:srgbClr>
            </a:solidFill>
            <a:ln>
              <a:solidFill>
                <a:schemeClr val="tx1"/>
              </a:solidFill>
            </a:ln>
          </c:spPr>
          <c:invertIfNegative val="0"/>
          <c:cat>
            <c:strRef>
              <c:f>'1.A. Método por país'!$A$4:$A$18</c:f>
              <c:strCache>
                <c:ptCount val="15"/>
                <c:pt idx="0">
                  <c:v>US</c:v>
                </c:pt>
                <c:pt idx="1">
                  <c:v>China</c:v>
                </c:pt>
                <c:pt idx="2">
                  <c:v>Japan</c:v>
                </c:pt>
                <c:pt idx="3">
                  <c:v>UK</c:v>
                </c:pt>
                <c:pt idx="4">
                  <c:v>Canada</c:v>
                </c:pt>
                <c:pt idx="5">
                  <c:v>Germany</c:v>
                </c:pt>
                <c:pt idx="6">
                  <c:v>France</c:v>
                </c:pt>
                <c:pt idx="7">
                  <c:v>Korea</c:v>
                </c:pt>
                <c:pt idx="8">
                  <c:v>Brazil</c:v>
                </c:pt>
                <c:pt idx="9">
                  <c:v>Spain</c:v>
                </c:pt>
                <c:pt idx="10">
                  <c:v>Australia</c:v>
                </c:pt>
                <c:pt idx="11">
                  <c:v>Netherlands</c:v>
                </c:pt>
                <c:pt idx="12">
                  <c:v>Sweden</c:v>
                </c:pt>
                <c:pt idx="13">
                  <c:v>Italy</c:v>
                </c:pt>
                <c:pt idx="14">
                  <c:v>Singapore</c:v>
                </c:pt>
              </c:strCache>
            </c:strRef>
          </c:cat>
          <c:val>
            <c:numRef>
              <c:f>'1.A. Método por país'!$E$4:$E$18</c:f>
              <c:numCache>
                <c:formatCode>General</c:formatCode>
                <c:ptCount val="15"/>
                <c:pt idx="1">
                  <c:v>3</c:v>
                </c:pt>
                <c:pt idx="2">
                  <c:v>3</c:v>
                </c:pt>
                <c:pt idx="3">
                  <c:v>5</c:v>
                </c:pt>
                <c:pt idx="4">
                  <c:v>4</c:v>
                </c:pt>
                <c:pt idx="5">
                  <c:v>3</c:v>
                </c:pt>
                <c:pt idx="9">
                  <c:v>3</c:v>
                </c:pt>
                <c:pt idx="11">
                  <c:v>1</c:v>
                </c:pt>
                <c:pt idx="12">
                  <c:v>2</c:v>
                </c:pt>
                <c:pt idx="14">
                  <c:v>3</c:v>
                </c:pt>
              </c:numCache>
            </c:numRef>
          </c:val>
          <c:extLst>
            <c:ext xmlns:c16="http://schemas.microsoft.com/office/drawing/2014/chart" uri="{C3380CC4-5D6E-409C-BE32-E72D297353CC}">
              <c16:uniqueId val="{00000002-5341-7245-B069-A7EC30253938}"/>
            </c:ext>
          </c:extLst>
        </c:ser>
        <c:ser>
          <c:idx val="3"/>
          <c:order val="3"/>
          <c:tx>
            <c:v>ASA</c:v>
          </c:tx>
          <c:spPr>
            <a:solidFill>
              <a:srgbClr val="6F8A3A"/>
            </a:solidFill>
            <a:ln>
              <a:solidFill>
                <a:schemeClr val="tx1"/>
              </a:solidFill>
            </a:ln>
          </c:spPr>
          <c:invertIfNegative val="0"/>
          <c:cat>
            <c:strRef>
              <c:f>'1.A. Método por país'!$A$4:$A$18</c:f>
              <c:strCache>
                <c:ptCount val="15"/>
                <c:pt idx="0">
                  <c:v>US</c:v>
                </c:pt>
                <c:pt idx="1">
                  <c:v>China</c:v>
                </c:pt>
                <c:pt idx="2">
                  <c:v>Japan</c:v>
                </c:pt>
                <c:pt idx="3">
                  <c:v>UK</c:v>
                </c:pt>
                <c:pt idx="4">
                  <c:v>Canada</c:v>
                </c:pt>
                <c:pt idx="5">
                  <c:v>Germany</c:v>
                </c:pt>
                <c:pt idx="6">
                  <c:v>France</c:v>
                </c:pt>
                <c:pt idx="7">
                  <c:v>Korea</c:v>
                </c:pt>
                <c:pt idx="8">
                  <c:v>Brazil</c:v>
                </c:pt>
                <c:pt idx="9">
                  <c:v>Spain</c:v>
                </c:pt>
                <c:pt idx="10">
                  <c:v>Australia</c:v>
                </c:pt>
                <c:pt idx="11">
                  <c:v>Netherlands</c:v>
                </c:pt>
                <c:pt idx="12">
                  <c:v>Sweden</c:v>
                </c:pt>
                <c:pt idx="13">
                  <c:v>Italy</c:v>
                </c:pt>
                <c:pt idx="14">
                  <c:v>Singapore</c:v>
                </c:pt>
              </c:strCache>
            </c:strRef>
          </c:cat>
          <c:val>
            <c:numRef>
              <c:f>'1.A. Método por país'!$C$4:$C$18</c:f>
              <c:numCache>
                <c:formatCode>General</c:formatCode>
                <c:ptCount val="15"/>
                <c:pt idx="8">
                  <c:v>4</c:v>
                </c:pt>
              </c:numCache>
            </c:numRef>
          </c:val>
          <c:extLst>
            <c:ext xmlns:c16="http://schemas.microsoft.com/office/drawing/2014/chart" uri="{C3380CC4-5D6E-409C-BE32-E72D297353CC}">
              <c16:uniqueId val="{00000003-5341-7245-B069-A7EC30253938}"/>
            </c:ext>
          </c:extLst>
        </c:ser>
        <c:ser>
          <c:idx val="4"/>
          <c:order val="4"/>
          <c:tx>
            <c:v>AMA</c:v>
          </c:tx>
          <c:spPr>
            <a:solidFill>
              <a:schemeClr val="tx2"/>
            </a:solidFill>
            <a:ln>
              <a:solidFill>
                <a:schemeClr val="tx1"/>
              </a:solidFill>
            </a:ln>
          </c:spPr>
          <c:invertIfNegative val="0"/>
          <c:cat>
            <c:strRef>
              <c:f>'1.A. Método por país'!$A$4:$A$18</c:f>
              <c:strCache>
                <c:ptCount val="15"/>
                <c:pt idx="0">
                  <c:v>US</c:v>
                </c:pt>
                <c:pt idx="1">
                  <c:v>China</c:v>
                </c:pt>
                <c:pt idx="2">
                  <c:v>Japan</c:v>
                </c:pt>
                <c:pt idx="3">
                  <c:v>UK</c:v>
                </c:pt>
                <c:pt idx="4">
                  <c:v>Canada</c:v>
                </c:pt>
                <c:pt idx="5">
                  <c:v>Germany</c:v>
                </c:pt>
                <c:pt idx="6">
                  <c:v>France</c:v>
                </c:pt>
                <c:pt idx="7">
                  <c:v>Korea</c:v>
                </c:pt>
                <c:pt idx="8">
                  <c:v>Brazil</c:v>
                </c:pt>
                <c:pt idx="9">
                  <c:v>Spain</c:v>
                </c:pt>
                <c:pt idx="10">
                  <c:v>Australia</c:v>
                </c:pt>
                <c:pt idx="11">
                  <c:v>Netherlands</c:v>
                </c:pt>
                <c:pt idx="12">
                  <c:v>Sweden</c:v>
                </c:pt>
                <c:pt idx="13">
                  <c:v>Italy</c:v>
                </c:pt>
                <c:pt idx="14">
                  <c:v>Singapore</c:v>
                </c:pt>
              </c:strCache>
            </c:strRef>
          </c:cat>
          <c:val>
            <c:numRef>
              <c:f>'1.A. Método por país'!$D$4:$D$18</c:f>
              <c:numCache>
                <c:formatCode>General</c:formatCode>
                <c:ptCount val="15"/>
                <c:pt idx="0">
                  <c:v>3</c:v>
                </c:pt>
                <c:pt idx="1">
                  <c:v>1</c:v>
                </c:pt>
                <c:pt idx="2">
                  <c:v>3</c:v>
                </c:pt>
                <c:pt idx="3">
                  <c:v>1</c:v>
                </c:pt>
                <c:pt idx="4">
                  <c:v>1</c:v>
                </c:pt>
                <c:pt idx="5">
                  <c:v>2</c:v>
                </c:pt>
                <c:pt idx="6">
                  <c:v>4</c:v>
                </c:pt>
                <c:pt idx="7">
                  <c:v>1</c:v>
                </c:pt>
                <c:pt idx="9">
                  <c:v>1</c:v>
                </c:pt>
                <c:pt idx="10">
                  <c:v>4</c:v>
                </c:pt>
                <c:pt idx="11">
                  <c:v>2</c:v>
                </c:pt>
                <c:pt idx="12">
                  <c:v>1</c:v>
                </c:pt>
                <c:pt idx="13">
                  <c:v>3</c:v>
                </c:pt>
              </c:numCache>
            </c:numRef>
          </c:val>
          <c:extLst>
            <c:ext xmlns:c16="http://schemas.microsoft.com/office/drawing/2014/chart" uri="{C3380CC4-5D6E-409C-BE32-E72D297353CC}">
              <c16:uniqueId val="{00000004-5341-7245-B069-A7EC30253938}"/>
            </c:ext>
          </c:extLst>
        </c:ser>
        <c:dLbls>
          <c:showLegendKey val="0"/>
          <c:showVal val="0"/>
          <c:showCatName val="0"/>
          <c:showSerName val="0"/>
          <c:showPercent val="0"/>
          <c:showBubbleSize val="0"/>
        </c:dLbls>
        <c:gapWidth val="100"/>
        <c:overlap val="100"/>
        <c:axId val="114115712"/>
        <c:axId val="114117248"/>
      </c:barChart>
      <c:catAx>
        <c:axId val="114115712"/>
        <c:scaling>
          <c:orientation val="maxMin"/>
        </c:scaling>
        <c:delete val="0"/>
        <c:axPos val="l"/>
        <c:numFmt formatCode="General" sourceLinked="1"/>
        <c:majorTickMark val="out"/>
        <c:minorTickMark val="none"/>
        <c:tickLblPos val="nextTo"/>
        <c:txPr>
          <a:bodyPr rot="0" vert="horz"/>
          <a:lstStyle/>
          <a:p>
            <a:pPr>
              <a:defRPr sz="1200" b="1" i="0" u="none" strike="noStrike" baseline="0">
                <a:solidFill>
                  <a:srgbClr val="000000"/>
                </a:solidFill>
                <a:latin typeface="Calibri"/>
                <a:ea typeface="Calibri"/>
                <a:cs typeface="Calibri"/>
              </a:defRPr>
            </a:pPr>
            <a:endParaRPr lang="es-ES"/>
          </a:p>
        </c:txPr>
        <c:crossAx val="114117248"/>
        <c:crosses val="autoZero"/>
        <c:auto val="1"/>
        <c:lblAlgn val="ctr"/>
        <c:lblOffset val="100"/>
        <c:noMultiLvlLbl val="0"/>
      </c:catAx>
      <c:valAx>
        <c:axId val="114117248"/>
        <c:scaling>
          <c:orientation val="minMax"/>
        </c:scaling>
        <c:delete val="0"/>
        <c:axPos val="t"/>
        <c:majorGridlines>
          <c:spPr>
            <a:ln w="6350">
              <a:prstDash val="dash"/>
            </a:ln>
          </c:spPr>
        </c:majorGridlines>
        <c:numFmt formatCode="General" sourceLinked="1"/>
        <c:majorTickMark val="out"/>
        <c:minorTickMark val="none"/>
        <c:tickLblPos val="nextTo"/>
        <c:txPr>
          <a:bodyPr rot="0" vert="horz"/>
          <a:lstStyle/>
          <a:p>
            <a:pPr>
              <a:defRPr sz="1200" b="0" i="0" u="none" strike="noStrike" baseline="0">
                <a:solidFill>
                  <a:srgbClr val="000000"/>
                </a:solidFill>
                <a:latin typeface="Calibri"/>
                <a:ea typeface="Calibri"/>
                <a:cs typeface="Calibri"/>
              </a:defRPr>
            </a:pPr>
            <a:endParaRPr lang="es-ES"/>
          </a:p>
        </c:txPr>
        <c:crossAx val="114115712"/>
        <c:crosses val="autoZero"/>
        <c:crossBetween val="between"/>
      </c:valAx>
    </c:plotArea>
    <c:legend>
      <c:legendPos val="b"/>
      <c:layout>
        <c:manualLayout>
          <c:xMode val="edge"/>
          <c:yMode val="edge"/>
          <c:x val="0.42465317792686252"/>
          <c:y val="0.89363945005611789"/>
          <c:w val="0.38978642439335826"/>
          <c:h val="5.7537135877320129E-2"/>
        </c:manualLayout>
      </c:layout>
      <c:overlay val="1"/>
      <c:spPr>
        <a:solidFill>
          <a:schemeClr val="bg1"/>
        </a:solidFill>
        <a:ln>
          <a:solidFill>
            <a:schemeClr val="accent2">
              <a:lumMod val="50000"/>
            </a:schemeClr>
          </a:solidFill>
        </a:ln>
      </c:spPr>
      <c:txPr>
        <a:bodyPr/>
        <a:lstStyle/>
        <a:p>
          <a:pPr>
            <a:defRPr sz="1200" b="0" i="0" u="none" strike="noStrike" baseline="0">
              <a:solidFill>
                <a:srgbClr val="000000"/>
              </a:solidFill>
              <a:latin typeface="+mn-lt"/>
              <a:ea typeface="Calibri"/>
              <a:cs typeface="Calibri"/>
            </a:defRPr>
          </a:pPr>
          <a:endParaRPr lang="es-ES"/>
        </a:p>
      </c:txPr>
    </c:legend>
    <c:plotVisOnly val="1"/>
    <c:dispBlanksAs val="gap"/>
    <c:showDLblsOverMax val="0"/>
  </c:chart>
  <c:spPr>
    <a:ln>
      <a:noFill/>
    </a:ln>
  </c:spPr>
  <c:txPr>
    <a:bodyPr/>
    <a:lstStyle/>
    <a:p>
      <a:pPr>
        <a:defRPr sz="1800" b="0" i="0" u="none" strike="noStrike" baseline="0">
          <a:solidFill>
            <a:srgbClr val="000000"/>
          </a:solidFill>
          <a:latin typeface="Calibri"/>
          <a:ea typeface="Calibri"/>
          <a:cs typeface="Calibri"/>
        </a:defRPr>
      </a:pPr>
      <a:endParaRPr lang="es-E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MX"/>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0.157776365267526"/>
          <c:y val="0.24282668989159981"/>
          <c:w val="0.79545545534095519"/>
          <c:h val="0.6878853738473506"/>
        </c:manualLayout>
      </c:layout>
      <c:barChart>
        <c:barDir val="bar"/>
        <c:grouping val="percentStacked"/>
        <c:varyColors val="0"/>
        <c:ser>
          <c:idx val="0"/>
          <c:order val="0"/>
          <c:tx>
            <c:v>Basilea I</c:v>
          </c:tx>
          <c:spPr>
            <a:solidFill>
              <a:schemeClr val="bg1"/>
            </a:solidFill>
            <a:ln>
              <a:solidFill>
                <a:schemeClr val="tx1"/>
              </a:solidFill>
            </a:ln>
          </c:spPr>
          <c:invertIfNegative val="0"/>
          <c:cat>
            <c:strRef>
              <c:f>'1.A. Método por país'!$J$4:$J$11</c:f>
              <c:strCache>
                <c:ptCount val="8"/>
                <c:pt idx="0">
                  <c:v>Top 10</c:v>
                </c:pt>
                <c:pt idx="1">
                  <c:v>Top 10 a 20</c:v>
                </c:pt>
                <c:pt idx="2">
                  <c:v>Top 20 a 30</c:v>
                </c:pt>
                <c:pt idx="3">
                  <c:v>Top 30 a 40</c:v>
                </c:pt>
                <c:pt idx="4">
                  <c:v>Top 40 a 50</c:v>
                </c:pt>
                <c:pt idx="5">
                  <c:v>Top 50 a 60</c:v>
                </c:pt>
                <c:pt idx="6">
                  <c:v>Top 60 a 70</c:v>
                </c:pt>
                <c:pt idx="7">
                  <c:v>Top 70 a 80</c:v>
                </c:pt>
              </c:strCache>
            </c:strRef>
          </c:cat>
          <c:val>
            <c:numRef>
              <c:f>'1.A. Método por país'!$O$4:$O$11</c:f>
              <c:numCache>
                <c:formatCode>0%</c:formatCode>
                <c:ptCount val="8"/>
                <c:pt idx="0">
                  <c:v>0.1</c:v>
                </c:pt>
                <c:pt idx="1">
                  <c:v>0.1</c:v>
                </c:pt>
                <c:pt idx="2">
                  <c:v>0.22222222222222252</c:v>
                </c:pt>
                <c:pt idx="3">
                  <c:v>0.1</c:v>
                </c:pt>
                <c:pt idx="4">
                  <c:v>0</c:v>
                </c:pt>
                <c:pt idx="5">
                  <c:v>0.14285714285714346</c:v>
                </c:pt>
                <c:pt idx="6">
                  <c:v>0</c:v>
                </c:pt>
                <c:pt idx="7">
                  <c:v>0</c:v>
                </c:pt>
              </c:numCache>
            </c:numRef>
          </c:val>
          <c:extLst>
            <c:ext xmlns:c16="http://schemas.microsoft.com/office/drawing/2014/chart" uri="{C3380CC4-5D6E-409C-BE32-E72D297353CC}">
              <c16:uniqueId val="{00000000-BC0D-6049-9D4D-178DB69E4C5E}"/>
            </c:ext>
          </c:extLst>
        </c:ser>
        <c:ser>
          <c:idx val="1"/>
          <c:order val="1"/>
          <c:tx>
            <c:v>BIA</c:v>
          </c:tx>
          <c:spPr>
            <a:solidFill>
              <a:schemeClr val="accent2">
                <a:lumMod val="75000"/>
              </a:schemeClr>
            </a:solidFill>
            <a:ln>
              <a:solidFill>
                <a:prstClr val="black"/>
              </a:solidFill>
            </a:ln>
          </c:spPr>
          <c:invertIfNegative val="0"/>
          <c:cat>
            <c:strRef>
              <c:f>'1.A. Método por país'!$J$4:$J$11</c:f>
              <c:strCache>
                <c:ptCount val="8"/>
                <c:pt idx="0">
                  <c:v>Top 10</c:v>
                </c:pt>
                <c:pt idx="1">
                  <c:v>Top 10 a 20</c:v>
                </c:pt>
                <c:pt idx="2">
                  <c:v>Top 20 a 30</c:v>
                </c:pt>
                <c:pt idx="3">
                  <c:v>Top 30 a 40</c:v>
                </c:pt>
                <c:pt idx="4">
                  <c:v>Top 40 a 50</c:v>
                </c:pt>
                <c:pt idx="5">
                  <c:v>Top 50 a 60</c:v>
                </c:pt>
                <c:pt idx="6">
                  <c:v>Top 60 a 70</c:v>
                </c:pt>
                <c:pt idx="7">
                  <c:v>Top 70 a 80</c:v>
                </c:pt>
              </c:strCache>
            </c:strRef>
          </c:cat>
          <c:val>
            <c:numRef>
              <c:f>'1.A. Método por país'!$K$4:$K$11</c:f>
              <c:numCache>
                <c:formatCode>0%</c:formatCode>
                <c:ptCount val="8"/>
                <c:pt idx="0">
                  <c:v>0</c:v>
                </c:pt>
                <c:pt idx="1">
                  <c:v>0</c:v>
                </c:pt>
                <c:pt idx="2">
                  <c:v>0</c:v>
                </c:pt>
                <c:pt idx="3">
                  <c:v>0</c:v>
                </c:pt>
                <c:pt idx="4">
                  <c:v>0</c:v>
                </c:pt>
                <c:pt idx="5">
                  <c:v>0.14285714285714346</c:v>
                </c:pt>
                <c:pt idx="6">
                  <c:v>0</c:v>
                </c:pt>
                <c:pt idx="7">
                  <c:v>0</c:v>
                </c:pt>
              </c:numCache>
            </c:numRef>
          </c:val>
          <c:extLst>
            <c:ext xmlns:c16="http://schemas.microsoft.com/office/drawing/2014/chart" uri="{C3380CC4-5D6E-409C-BE32-E72D297353CC}">
              <c16:uniqueId val="{00000001-BC0D-6049-9D4D-178DB69E4C5E}"/>
            </c:ext>
          </c:extLst>
        </c:ser>
        <c:ser>
          <c:idx val="2"/>
          <c:order val="2"/>
          <c:tx>
            <c:v>TSA</c:v>
          </c:tx>
          <c:spPr>
            <a:solidFill>
              <a:srgbClr val="85B400">
                <a:alpha val="64000"/>
              </a:srgbClr>
            </a:solidFill>
            <a:ln>
              <a:solidFill>
                <a:prstClr val="black"/>
              </a:solidFill>
            </a:ln>
          </c:spPr>
          <c:invertIfNegative val="0"/>
          <c:cat>
            <c:strRef>
              <c:f>'1.A. Método por país'!$J$4:$J$11</c:f>
              <c:strCache>
                <c:ptCount val="8"/>
                <c:pt idx="0">
                  <c:v>Top 10</c:v>
                </c:pt>
                <c:pt idx="1">
                  <c:v>Top 10 a 20</c:v>
                </c:pt>
                <c:pt idx="2">
                  <c:v>Top 20 a 30</c:v>
                </c:pt>
                <c:pt idx="3">
                  <c:v>Top 30 a 40</c:v>
                </c:pt>
                <c:pt idx="4">
                  <c:v>Top 40 a 50</c:v>
                </c:pt>
                <c:pt idx="5">
                  <c:v>Top 50 a 60</c:v>
                </c:pt>
                <c:pt idx="6">
                  <c:v>Top 60 a 70</c:v>
                </c:pt>
                <c:pt idx="7">
                  <c:v>Top 70 a 80</c:v>
                </c:pt>
              </c:strCache>
            </c:strRef>
          </c:cat>
          <c:val>
            <c:numRef>
              <c:f>'1.A. Método por país'!$M$4:$M$11</c:f>
              <c:numCache>
                <c:formatCode>0%</c:formatCode>
                <c:ptCount val="8"/>
                <c:pt idx="0">
                  <c:v>0.2</c:v>
                </c:pt>
                <c:pt idx="1">
                  <c:v>0.30000000000000032</c:v>
                </c:pt>
                <c:pt idx="2">
                  <c:v>0.33333333333333331</c:v>
                </c:pt>
                <c:pt idx="3">
                  <c:v>0.30000000000000032</c:v>
                </c:pt>
                <c:pt idx="4">
                  <c:v>0.77777777777777868</c:v>
                </c:pt>
                <c:pt idx="5">
                  <c:v>0.42857142857142855</c:v>
                </c:pt>
                <c:pt idx="6">
                  <c:v>0.57142857142857373</c:v>
                </c:pt>
                <c:pt idx="7">
                  <c:v>0.66666666666666663</c:v>
                </c:pt>
              </c:numCache>
            </c:numRef>
          </c:val>
          <c:extLst>
            <c:ext xmlns:c16="http://schemas.microsoft.com/office/drawing/2014/chart" uri="{C3380CC4-5D6E-409C-BE32-E72D297353CC}">
              <c16:uniqueId val="{00000002-BC0D-6049-9D4D-178DB69E4C5E}"/>
            </c:ext>
          </c:extLst>
        </c:ser>
        <c:ser>
          <c:idx val="3"/>
          <c:order val="3"/>
          <c:tx>
            <c:strRef>
              <c:f>'1.A. Método por país'!$L$3</c:f>
              <c:strCache>
                <c:ptCount val="1"/>
                <c:pt idx="0">
                  <c:v>ASA</c:v>
                </c:pt>
              </c:strCache>
            </c:strRef>
          </c:tx>
          <c:spPr>
            <a:solidFill>
              <a:srgbClr val="7C9A40"/>
            </a:solidFill>
            <a:ln>
              <a:solidFill>
                <a:prstClr val="black"/>
              </a:solidFill>
            </a:ln>
          </c:spPr>
          <c:invertIfNegative val="0"/>
          <c:dPt>
            <c:idx val="4"/>
            <c:invertIfNegative val="0"/>
            <c:bubble3D val="0"/>
            <c:spPr>
              <a:solidFill>
                <a:srgbClr val="6F8A3A"/>
              </a:solidFill>
              <a:ln>
                <a:solidFill>
                  <a:prstClr val="black"/>
                </a:solidFill>
              </a:ln>
            </c:spPr>
            <c:extLst>
              <c:ext xmlns:c16="http://schemas.microsoft.com/office/drawing/2014/chart" uri="{C3380CC4-5D6E-409C-BE32-E72D297353CC}">
                <c16:uniqueId val="{00000003-BC0D-6049-9D4D-178DB69E4C5E}"/>
              </c:ext>
            </c:extLst>
          </c:dPt>
          <c:dPt>
            <c:idx val="5"/>
            <c:invertIfNegative val="0"/>
            <c:bubble3D val="0"/>
            <c:spPr>
              <a:solidFill>
                <a:srgbClr val="6F8A3A"/>
              </a:solidFill>
              <a:ln>
                <a:solidFill>
                  <a:prstClr val="black"/>
                </a:solidFill>
              </a:ln>
            </c:spPr>
            <c:extLst>
              <c:ext xmlns:c16="http://schemas.microsoft.com/office/drawing/2014/chart" uri="{C3380CC4-5D6E-409C-BE32-E72D297353CC}">
                <c16:uniqueId val="{00000004-BC0D-6049-9D4D-178DB69E4C5E}"/>
              </c:ext>
            </c:extLst>
          </c:dPt>
          <c:cat>
            <c:strRef>
              <c:f>'1.A. Método por país'!$J$4:$J$11</c:f>
              <c:strCache>
                <c:ptCount val="8"/>
                <c:pt idx="0">
                  <c:v>Top 10</c:v>
                </c:pt>
                <c:pt idx="1">
                  <c:v>Top 10 a 20</c:v>
                </c:pt>
                <c:pt idx="2">
                  <c:v>Top 20 a 30</c:v>
                </c:pt>
                <c:pt idx="3">
                  <c:v>Top 30 a 40</c:v>
                </c:pt>
                <c:pt idx="4">
                  <c:v>Top 40 a 50</c:v>
                </c:pt>
                <c:pt idx="5">
                  <c:v>Top 50 a 60</c:v>
                </c:pt>
                <c:pt idx="6">
                  <c:v>Top 60 a 70</c:v>
                </c:pt>
                <c:pt idx="7">
                  <c:v>Top 70 a 80</c:v>
                </c:pt>
              </c:strCache>
            </c:strRef>
          </c:cat>
          <c:val>
            <c:numRef>
              <c:f>'1.A. Método por país'!$L$4:$L$11</c:f>
              <c:numCache>
                <c:formatCode>0%</c:formatCode>
                <c:ptCount val="8"/>
                <c:pt idx="0">
                  <c:v>0</c:v>
                </c:pt>
                <c:pt idx="1">
                  <c:v>0</c:v>
                </c:pt>
                <c:pt idx="2">
                  <c:v>0</c:v>
                </c:pt>
                <c:pt idx="3">
                  <c:v>0</c:v>
                </c:pt>
                <c:pt idx="4">
                  <c:v>0.11111111111111123</c:v>
                </c:pt>
                <c:pt idx="5">
                  <c:v>0.14285714285714346</c:v>
                </c:pt>
                <c:pt idx="6">
                  <c:v>0.14285714285714346</c:v>
                </c:pt>
                <c:pt idx="7">
                  <c:v>0.16666666666666671</c:v>
                </c:pt>
              </c:numCache>
            </c:numRef>
          </c:val>
          <c:extLst>
            <c:ext xmlns:c16="http://schemas.microsoft.com/office/drawing/2014/chart" uri="{C3380CC4-5D6E-409C-BE32-E72D297353CC}">
              <c16:uniqueId val="{00000005-BC0D-6049-9D4D-178DB69E4C5E}"/>
            </c:ext>
          </c:extLst>
        </c:ser>
        <c:ser>
          <c:idx val="4"/>
          <c:order val="4"/>
          <c:tx>
            <c:v>AMA</c:v>
          </c:tx>
          <c:spPr>
            <a:solidFill>
              <a:schemeClr val="tx2"/>
            </a:solidFill>
            <a:ln>
              <a:solidFill>
                <a:prstClr val="black"/>
              </a:solidFill>
            </a:ln>
          </c:spPr>
          <c:invertIfNegative val="0"/>
          <c:cat>
            <c:strRef>
              <c:f>'1.A. Método por país'!$J$4:$J$11</c:f>
              <c:strCache>
                <c:ptCount val="8"/>
                <c:pt idx="0">
                  <c:v>Top 10</c:v>
                </c:pt>
                <c:pt idx="1">
                  <c:v>Top 10 a 20</c:v>
                </c:pt>
                <c:pt idx="2">
                  <c:v>Top 20 a 30</c:v>
                </c:pt>
                <c:pt idx="3">
                  <c:v>Top 30 a 40</c:v>
                </c:pt>
                <c:pt idx="4">
                  <c:v>Top 40 a 50</c:v>
                </c:pt>
                <c:pt idx="5">
                  <c:v>Top 50 a 60</c:v>
                </c:pt>
                <c:pt idx="6">
                  <c:v>Top 60 a 70</c:v>
                </c:pt>
                <c:pt idx="7">
                  <c:v>Top 70 a 80</c:v>
                </c:pt>
              </c:strCache>
            </c:strRef>
          </c:cat>
          <c:val>
            <c:numRef>
              <c:f>'1.A. Método por país'!$N$4:$N$11</c:f>
              <c:numCache>
                <c:formatCode>0%</c:formatCode>
                <c:ptCount val="8"/>
                <c:pt idx="0">
                  <c:v>0.70000000000000062</c:v>
                </c:pt>
                <c:pt idx="1">
                  <c:v>0.60000000000000064</c:v>
                </c:pt>
                <c:pt idx="2">
                  <c:v>0.44444444444444503</c:v>
                </c:pt>
                <c:pt idx="3">
                  <c:v>0.60000000000000064</c:v>
                </c:pt>
                <c:pt idx="4">
                  <c:v>0.11111111111111123</c:v>
                </c:pt>
                <c:pt idx="5">
                  <c:v>0.14285714285714346</c:v>
                </c:pt>
                <c:pt idx="6">
                  <c:v>0.28571428571428686</c:v>
                </c:pt>
                <c:pt idx="7">
                  <c:v>0.16666666666666671</c:v>
                </c:pt>
              </c:numCache>
            </c:numRef>
          </c:val>
          <c:extLst>
            <c:ext xmlns:c16="http://schemas.microsoft.com/office/drawing/2014/chart" uri="{C3380CC4-5D6E-409C-BE32-E72D297353CC}">
              <c16:uniqueId val="{00000006-BC0D-6049-9D4D-178DB69E4C5E}"/>
            </c:ext>
          </c:extLst>
        </c:ser>
        <c:dLbls>
          <c:showLegendKey val="0"/>
          <c:showVal val="0"/>
          <c:showCatName val="0"/>
          <c:showSerName val="0"/>
          <c:showPercent val="0"/>
          <c:showBubbleSize val="0"/>
        </c:dLbls>
        <c:gapWidth val="100"/>
        <c:overlap val="100"/>
        <c:axId val="59538048"/>
        <c:axId val="59552128"/>
      </c:barChart>
      <c:catAx>
        <c:axId val="59538048"/>
        <c:scaling>
          <c:orientation val="maxMin"/>
        </c:scaling>
        <c:delete val="0"/>
        <c:axPos val="l"/>
        <c:numFmt formatCode="General" sourceLinked="1"/>
        <c:majorTickMark val="out"/>
        <c:minorTickMark val="none"/>
        <c:tickLblPos val="nextTo"/>
        <c:txPr>
          <a:bodyPr/>
          <a:lstStyle/>
          <a:p>
            <a:pPr>
              <a:defRPr sz="1200" b="1"/>
            </a:pPr>
            <a:endParaRPr lang="es-ES"/>
          </a:p>
        </c:txPr>
        <c:crossAx val="59552128"/>
        <c:crosses val="autoZero"/>
        <c:auto val="1"/>
        <c:lblAlgn val="ctr"/>
        <c:lblOffset val="100"/>
        <c:noMultiLvlLbl val="0"/>
      </c:catAx>
      <c:valAx>
        <c:axId val="59552128"/>
        <c:scaling>
          <c:orientation val="minMax"/>
        </c:scaling>
        <c:delete val="0"/>
        <c:axPos val="t"/>
        <c:majorGridlines>
          <c:spPr>
            <a:ln w="6350">
              <a:prstDash val="dash"/>
            </a:ln>
          </c:spPr>
        </c:majorGridlines>
        <c:numFmt formatCode="0%" sourceLinked="1"/>
        <c:majorTickMark val="out"/>
        <c:minorTickMark val="none"/>
        <c:tickLblPos val="nextTo"/>
        <c:txPr>
          <a:bodyPr/>
          <a:lstStyle/>
          <a:p>
            <a:pPr>
              <a:defRPr sz="1200"/>
            </a:pPr>
            <a:endParaRPr lang="es-ES"/>
          </a:p>
        </c:txPr>
        <c:crossAx val="59538048"/>
        <c:crosses val="autoZero"/>
        <c:crossBetween val="between"/>
      </c:valAx>
    </c:plotArea>
    <c:legend>
      <c:legendPos val="t"/>
      <c:layout>
        <c:manualLayout>
          <c:xMode val="edge"/>
          <c:yMode val="edge"/>
          <c:x val="0.31196332230313178"/>
          <c:y val="1.685571505665279E-2"/>
          <c:w val="0.43380914804951881"/>
          <c:h val="0.14201849658657256"/>
        </c:manualLayout>
      </c:layout>
      <c:overlay val="0"/>
      <c:txPr>
        <a:bodyPr/>
        <a:lstStyle/>
        <a:p>
          <a:pPr>
            <a:defRPr sz="1200"/>
          </a:pPr>
          <a:endParaRPr lang="es-ES"/>
        </a:p>
      </c:txPr>
    </c:legend>
    <c:plotVisOnly val="1"/>
    <c:dispBlanksAs val="gap"/>
    <c:showDLblsOverMax val="0"/>
  </c:chart>
  <c:spPr>
    <a:ln>
      <a:noFill/>
    </a:ln>
  </c:spPr>
  <c:txPr>
    <a:bodyPr/>
    <a:lstStyle/>
    <a:p>
      <a:pPr>
        <a:defRPr sz="1800"/>
      </a:pPr>
      <a:endParaRPr lang="es-ES"/>
    </a:p>
  </c:txPr>
  <c:externalData r:id="rId1">
    <c:autoUpdate val="0"/>
  </c:externalData>
  <c:userShapes r:id="rId2"/>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MX"/>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view3D>
      <c:rotX val="30"/>
      <c:rotY val="0"/>
      <c:rAngAx val="0"/>
    </c:view3D>
    <c:floor>
      <c:thickness val="0"/>
    </c:floor>
    <c:sideWall>
      <c:thickness val="0"/>
    </c:sideWall>
    <c:backWall>
      <c:thickness val="0"/>
    </c:backWall>
    <c:plotArea>
      <c:layout>
        <c:manualLayout>
          <c:layoutTarget val="inner"/>
          <c:xMode val="edge"/>
          <c:yMode val="edge"/>
          <c:x val="4.0684383202099716E-2"/>
          <c:y val="0.11342592592592599"/>
          <c:w val="0.4390284339457573"/>
          <c:h val="0.66666666666666663"/>
        </c:manualLayout>
      </c:layout>
      <c:pie3DChart>
        <c:varyColors val="1"/>
        <c:ser>
          <c:idx val="0"/>
          <c:order val="0"/>
          <c:dPt>
            <c:idx val="0"/>
            <c:bubble3D val="0"/>
            <c:spPr>
              <a:solidFill>
                <a:srgbClr val="DB0613"/>
              </a:solidFill>
            </c:spPr>
            <c:extLst>
              <c:ext xmlns:c16="http://schemas.microsoft.com/office/drawing/2014/chart" uri="{C3380CC4-5D6E-409C-BE32-E72D297353CC}">
                <c16:uniqueId val="{00000000-EE70-5D4F-BBB9-C39041603D99}"/>
              </c:ext>
            </c:extLst>
          </c:dPt>
          <c:dPt>
            <c:idx val="1"/>
            <c:bubble3D val="0"/>
            <c:spPr>
              <a:solidFill>
                <a:schemeClr val="tx1">
                  <a:lumMod val="50000"/>
                  <a:lumOff val="50000"/>
                </a:schemeClr>
              </a:solidFill>
              <a:ln>
                <a:solidFill>
                  <a:schemeClr val="tx2">
                    <a:lumMod val="20000"/>
                    <a:lumOff val="80000"/>
                  </a:schemeClr>
                </a:solidFill>
              </a:ln>
            </c:spPr>
            <c:extLst>
              <c:ext xmlns:c16="http://schemas.microsoft.com/office/drawing/2014/chart" uri="{C3380CC4-5D6E-409C-BE32-E72D297353CC}">
                <c16:uniqueId val="{00000001-EE70-5D4F-BBB9-C39041603D99}"/>
              </c:ext>
            </c:extLst>
          </c:dPt>
          <c:dPt>
            <c:idx val="2"/>
            <c:bubble3D val="0"/>
            <c:spPr>
              <a:solidFill>
                <a:sysClr val="windowText" lastClr="000000">
                  <a:lumMod val="85000"/>
                  <a:lumOff val="15000"/>
                </a:sysClr>
              </a:solidFill>
              <a:ln>
                <a:solidFill>
                  <a:sysClr val="window" lastClr="FFFFFF">
                    <a:lumMod val="85000"/>
                  </a:sysClr>
                </a:solidFill>
              </a:ln>
            </c:spPr>
            <c:extLst>
              <c:ext xmlns:c16="http://schemas.microsoft.com/office/drawing/2014/chart" uri="{C3380CC4-5D6E-409C-BE32-E72D297353CC}">
                <c16:uniqueId val="{00000002-EE70-5D4F-BBB9-C39041603D99}"/>
              </c:ext>
            </c:extLst>
          </c:dPt>
          <c:dPt>
            <c:idx val="3"/>
            <c:bubble3D val="0"/>
            <c:spPr>
              <a:solidFill>
                <a:sysClr val="window" lastClr="FFFFFF">
                  <a:lumMod val="75000"/>
                </a:sysClr>
              </a:solidFill>
              <a:ln>
                <a:solidFill>
                  <a:srgbClr val="C0504D">
                    <a:lumMod val="40000"/>
                    <a:lumOff val="60000"/>
                  </a:srgbClr>
                </a:solidFill>
              </a:ln>
            </c:spPr>
            <c:extLst>
              <c:ext xmlns:c16="http://schemas.microsoft.com/office/drawing/2014/chart" uri="{C3380CC4-5D6E-409C-BE32-E72D297353CC}">
                <c16:uniqueId val="{00000003-EE70-5D4F-BBB9-C39041603D99}"/>
              </c:ext>
            </c:extLst>
          </c:dPt>
          <c:dLbls>
            <c:dLbl>
              <c:idx val="2"/>
              <c:layout>
                <c:manualLayout>
                  <c:x val="3.9568132108486441E-2"/>
                  <c:y val="-5.6212452610090405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EE70-5D4F-BBB9-C39041603D99}"/>
                </c:ext>
              </c:extLst>
            </c:dLbl>
            <c:spPr>
              <a:noFill/>
              <a:ln>
                <a:noFill/>
              </a:ln>
              <a:effectLst/>
            </c:spPr>
            <c:txPr>
              <a:bodyPr/>
              <a:lstStyle/>
              <a:p>
                <a:pPr>
                  <a:defRPr sz="800" b="1"/>
                </a:pPr>
                <a:endParaRPr lang="es-ES"/>
              </a:p>
            </c:txPr>
            <c:showLegendKey val="0"/>
            <c:showVal val="1"/>
            <c:showCatName val="0"/>
            <c:showSerName val="0"/>
            <c:showPercent val="0"/>
            <c:showBubbleSize val="0"/>
            <c:showLeaderLines val="1"/>
            <c:extLst>
              <c:ext xmlns:c15="http://schemas.microsoft.com/office/drawing/2012/chart" uri="{CE6537A1-D6FC-4f65-9D91-7224C49458BB}"/>
            </c:extLst>
          </c:dLbls>
          <c:cat>
            <c:strRef>
              <c:f>Sheet1!$K$3:$K$6</c:f>
              <c:strCache>
                <c:ptCount val="4"/>
                <c:pt idx="0">
                  <c:v>Recepción, ejecución y mantenimiento de operaciones</c:v>
                </c:pt>
                <c:pt idx="1">
                  <c:v>Interrupción del Negocio y fallo en sistemas</c:v>
                </c:pt>
                <c:pt idx="2">
                  <c:v>Admisión de Clientes y documentación</c:v>
                </c:pt>
                <c:pt idx="3">
                  <c:v>Otros (4)</c:v>
                </c:pt>
              </c:strCache>
            </c:strRef>
          </c:cat>
          <c:val>
            <c:numRef>
              <c:f>Sheet1!$L$3:$L$6</c:f>
              <c:numCache>
                <c:formatCode>0.0%</c:formatCode>
                <c:ptCount val="4"/>
                <c:pt idx="0">
                  <c:v>0.54838709677419362</c:v>
                </c:pt>
                <c:pt idx="1">
                  <c:v>0.19354838709677427</c:v>
                </c:pt>
                <c:pt idx="2">
                  <c:v>6.451612903225809E-2</c:v>
                </c:pt>
                <c:pt idx="3">
                  <c:v>0.19354838709677427</c:v>
                </c:pt>
              </c:numCache>
            </c:numRef>
          </c:val>
          <c:extLst>
            <c:ext xmlns:c16="http://schemas.microsoft.com/office/drawing/2014/chart" uri="{C3380CC4-5D6E-409C-BE32-E72D297353CC}">
              <c16:uniqueId val="{00000004-EE70-5D4F-BBB9-C39041603D99}"/>
            </c:ext>
          </c:extLst>
        </c:ser>
        <c:dLbls>
          <c:showLegendKey val="0"/>
          <c:showVal val="0"/>
          <c:showCatName val="0"/>
          <c:showSerName val="0"/>
          <c:showPercent val="0"/>
          <c:showBubbleSize val="0"/>
          <c:showLeaderLines val="1"/>
        </c:dLbls>
      </c:pie3DChart>
    </c:plotArea>
    <c:legend>
      <c:legendPos val="r"/>
      <c:layout>
        <c:manualLayout>
          <c:xMode val="edge"/>
          <c:yMode val="edge"/>
          <c:x val="0.50095275590551158"/>
          <c:y val="4.7342519685039393E-2"/>
          <c:w val="0.48238057742782209"/>
          <c:h val="0.91920384951881062"/>
        </c:manualLayout>
      </c:layout>
      <c:overlay val="0"/>
      <c:txPr>
        <a:bodyPr/>
        <a:lstStyle/>
        <a:p>
          <a:pPr>
            <a:defRPr sz="1000"/>
          </a:pPr>
          <a:endParaRPr lang="es-ES"/>
        </a:p>
      </c:txPr>
    </c:legend>
    <c:plotVisOnly val="1"/>
    <c:dispBlanksAs val="zero"/>
    <c:showDLblsOverMax val="0"/>
  </c:chart>
  <c:spPr>
    <a:solidFill>
      <a:prstClr val="white"/>
    </a:solidFill>
    <a:ln>
      <a:solidFill>
        <a:prstClr val="black">
          <a:lumMod val="50000"/>
          <a:lumOff val="50000"/>
        </a:prstClr>
      </a:solidFill>
    </a:ln>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MX"/>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view3D>
      <c:rotX val="30"/>
      <c:rotY val="0"/>
      <c:rAngAx val="0"/>
    </c:view3D>
    <c:floor>
      <c:thickness val="0"/>
    </c:floor>
    <c:sideWall>
      <c:thickness val="0"/>
    </c:sideWall>
    <c:backWall>
      <c:thickness val="0"/>
    </c:backWall>
    <c:plotArea>
      <c:layout>
        <c:manualLayout>
          <c:layoutTarget val="inner"/>
          <c:xMode val="edge"/>
          <c:yMode val="edge"/>
          <c:x val="1.5104111986001752E-2"/>
          <c:y val="0.11342592592592599"/>
          <c:w val="0.45590288713910804"/>
          <c:h val="0.70370370370370372"/>
        </c:manualLayout>
      </c:layout>
      <c:pie3DChart>
        <c:varyColors val="1"/>
        <c:ser>
          <c:idx val="0"/>
          <c:order val="0"/>
          <c:dPt>
            <c:idx val="0"/>
            <c:bubble3D val="0"/>
            <c:spPr>
              <a:solidFill>
                <a:srgbClr val="DB0613"/>
              </a:solidFill>
              <a:ln>
                <a:solidFill>
                  <a:srgbClr val="1F497D">
                    <a:lumMod val="20000"/>
                    <a:lumOff val="80000"/>
                  </a:srgbClr>
                </a:solidFill>
              </a:ln>
            </c:spPr>
            <c:extLst>
              <c:ext xmlns:c16="http://schemas.microsoft.com/office/drawing/2014/chart" uri="{C3380CC4-5D6E-409C-BE32-E72D297353CC}">
                <c16:uniqueId val="{00000000-4C0C-7848-A4FC-B679E5256C88}"/>
              </c:ext>
            </c:extLst>
          </c:dPt>
          <c:dPt>
            <c:idx val="1"/>
            <c:bubble3D val="0"/>
            <c:spPr>
              <a:solidFill>
                <a:prstClr val="black">
                  <a:lumMod val="50000"/>
                  <a:lumOff val="50000"/>
                </a:prstClr>
              </a:solidFill>
              <a:ln>
                <a:solidFill>
                  <a:srgbClr val="1F497D">
                    <a:lumMod val="20000"/>
                    <a:lumOff val="80000"/>
                  </a:srgbClr>
                </a:solidFill>
              </a:ln>
            </c:spPr>
            <c:extLst>
              <c:ext xmlns:c16="http://schemas.microsoft.com/office/drawing/2014/chart" uri="{C3380CC4-5D6E-409C-BE32-E72D297353CC}">
                <c16:uniqueId val="{00000001-4C0C-7848-A4FC-B679E5256C88}"/>
              </c:ext>
            </c:extLst>
          </c:dPt>
          <c:dPt>
            <c:idx val="2"/>
            <c:bubble3D val="0"/>
            <c:spPr>
              <a:solidFill>
                <a:schemeClr val="tx1"/>
              </a:solidFill>
              <a:ln>
                <a:solidFill>
                  <a:srgbClr val="C0504D">
                    <a:lumMod val="40000"/>
                    <a:lumOff val="60000"/>
                  </a:srgbClr>
                </a:solidFill>
              </a:ln>
            </c:spPr>
            <c:extLst>
              <c:ext xmlns:c16="http://schemas.microsoft.com/office/drawing/2014/chart" uri="{C3380CC4-5D6E-409C-BE32-E72D297353CC}">
                <c16:uniqueId val="{00000002-4C0C-7848-A4FC-B679E5256C88}"/>
              </c:ext>
            </c:extLst>
          </c:dPt>
          <c:dPt>
            <c:idx val="3"/>
            <c:bubble3D val="0"/>
            <c:spPr>
              <a:solidFill>
                <a:sysClr val="window" lastClr="FFFFFF">
                  <a:lumMod val="75000"/>
                </a:sysClr>
              </a:solidFill>
              <a:ln>
                <a:solidFill>
                  <a:srgbClr val="C0504D">
                    <a:lumMod val="40000"/>
                    <a:lumOff val="60000"/>
                  </a:srgbClr>
                </a:solidFill>
              </a:ln>
            </c:spPr>
            <c:extLst>
              <c:ext xmlns:c16="http://schemas.microsoft.com/office/drawing/2014/chart" uri="{C3380CC4-5D6E-409C-BE32-E72D297353CC}">
                <c16:uniqueId val="{00000003-4C0C-7848-A4FC-B679E5256C88}"/>
              </c:ext>
            </c:extLst>
          </c:dPt>
          <c:dLbls>
            <c:dLbl>
              <c:idx val="2"/>
              <c:layout>
                <c:manualLayout>
                  <c:x val="1.4749999999999996E-2"/>
                  <c:y val="9.7945829687955677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4C0C-7848-A4FC-B679E5256C88}"/>
                </c:ext>
              </c:extLst>
            </c:dLbl>
            <c:spPr>
              <a:noFill/>
              <a:ln>
                <a:noFill/>
              </a:ln>
              <a:effectLst/>
            </c:spPr>
            <c:txPr>
              <a:bodyPr/>
              <a:lstStyle/>
              <a:p>
                <a:pPr>
                  <a:defRPr sz="800" b="1"/>
                </a:pPr>
                <a:endParaRPr lang="es-ES"/>
              </a:p>
            </c:txPr>
            <c:showLegendKey val="0"/>
            <c:showVal val="1"/>
            <c:showCatName val="0"/>
            <c:showSerName val="0"/>
            <c:showPercent val="0"/>
            <c:showBubbleSize val="0"/>
            <c:showLeaderLines val="1"/>
            <c:extLst>
              <c:ext xmlns:c15="http://schemas.microsoft.com/office/drawing/2012/chart" uri="{CE6537A1-D6FC-4f65-9D91-7224C49458BB}"/>
            </c:extLst>
          </c:dLbls>
          <c:cat>
            <c:strRef>
              <c:f>Sheet1!$K$18:$K$21</c:f>
              <c:strCache>
                <c:ptCount val="4"/>
                <c:pt idx="0">
                  <c:v>Distribuidores y proveedores</c:v>
                </c:pt>
                <c:pt idx="1">
                  <c:v>Recepción, ejecución y mantenimiento de operaciones</c:v>
                </c:pt>
                <c:pt idx="2">
                  <c:v>Interrupción del negocio y fallos en los sistemas</c:v>
                </c:pt>
                <c:pt idx="3">
                  <c:v>Otros (2)</c:v>
                </c:pt>
              </c:strCache>
            </c:strRef>
          </c:cat>
          <c:val>
            <c:numRef>
              <c:f>Sheet1!$L$18:$L$21</c:f>
              <c:numCache>
                <c:formatCode>0.0%</c:formatCode>
                <c:ptCount val="4"/>
                <c:pt idx="0">
                  <c:v>0.33333333333333331</c:v>
                </c:pt>
                <c:pt idx="1">
                  <c:v>0.27777777777777796</c:v>
                </c:pt>
                <c:pt idx="2">
                  <c:v>0.16666666666666666</c:v>
                </c:pt>
                <c:pt idx="3" formatCode="0.00%">
                  <c:v>0.22222222222222221</c:v>
                </c:pt>
              </c:numCache>
            </c:numRef>
          </c:val>
          <c:extLst>
            <c:ext xmlns:c16="http://schemas.microsoft.com/office/drawing/2014/chart" uri="{C3380CC4-5D6E-409C-BE32-E72D297353CC}">
              <c16:uniqueId val="{00000004-4C0C-7848-A4FC-B679E5256C88}"/>
            </c:ext>
          </c:extLst>
        </c:ser>
        <c:dLbls>
          <c:showLegendKey val="0"/>
          <c:showVal val="0"/>
          <c:showCatName val="0"/>
          <c:showSerName val="0"/>
          <c:showPercent val="0"/>
          <c:showBubbleSize val="0"/>
          <c:showLeaderLines val="1"/>
        </c:dLbls>
      </c:pie3DChart>
      <c:spPr>
        <a:ln>
          <a:noFill/>
        </a:ln>
      </c:spPr>
    </c:plotArea>
    <c:legend>
      <c:legendPos val="r"/>
      <c:layout>
        <c:manualLayout>
          <c:xMode val="edge"/>
          <c:yMode val="edge"/>
          <c:x val="0.48706386701662313"/>
          <c:y val="3.8083260425780162E-2"/>
          <c:w val="0.49626946631671048"/>
          <c:h val="0.91457421988918064"/>
        </c:manualLayout>
      </c:layout>
      <c:overlay val="0"/>
      <c:txPr>
        <a:bodyPr/>
        <a:lstStyle/>
        <a:p>
          <a:pPr>
            <a:defRPr sz="1000"/>
          </a:pPr>
          <a:endParaRPr lang="es-ES"/>
        </a:p>
      </c:txPr>
    </c:legend>
    <c:plotVisOnly val="1"/>
    <c:dispBlanksAs val="zero"/>
    <c:showDLblsOverMax val="0"/>
  </c:chart>
  <c:spPr>
    <a:solidFill>
      <a:prstClr val="white"/>
    </a:solidFill>
    <a:ln>
      <a:solidFill>
        <a:prstClr val="black">
          <a:lumMod val="50000"/>
          <a:lumOff val="50000"/>
        </a:prstClr>
      </a:solidFill>
    </a:ln>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MX"/>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view3D>
      <c:rotX val="30"/>
      <c:rotY val="0"/>
      <c:rAngAx val="0"/>
    </c:view3D>
    <c:floor>
      <c:thickness val="0"/>
    </c:floor>
    <c:sideWall>
      <c:thickness val="0"/>
    </c:sideWall>
    <c:backWall>
      <c:thickness val="0"/>
    </c:backWall>
    <c:plotArea>
      <c:layout>
        <c:manualLayout>
          <c:layoutTarget val="inner"/>
          <c:xMode val="edge"/>
          <c:yMode val="edge"/>
          <c:x val="3.7382327209098891E-2"/>
          <c:y val="0.13657407407407407"/>
          <c:w val="0.44557699037620474"/>
          <c:h val="0.68518518518518579"/>
        </c:manualLayout>
      </c:layout>
      <c:pie3DChart>
        <c:varyColors val="1"/>
        <c:ser>
          <c:idx val="0"/>
          <c:order val="0"/>
          <c:dPt>
            <c:idx val="0"/>
            <c:bubble3D val="0"/>
            <c:spPr>
              <a:solidFill>
                <a:schemeClr val="tx1">
                  <a:lumMod val="85000"/>
                  <a:lumOff val="15000"/>
                </a:schemeClr>
              </a:solidFill>
              <a:ln>
                <a:solidFill>
                  <a:srgbClr val="595959"/>
                </a:solidFill>
              </a:ln>
            </c:spPr>
            <c:extLst>
              <c:ext xmlns:c16="http://schemas.microsoft.com/office/drawing/2014/chart" uri="{C3380CC4-5D6E-409C-BE32-E72D297353CC}">
                <c16:uniqueId val="{00000000-779D-2F4B-855E-B880B7C20F8F}"/>
              </c:ext>
            </c:extLst>
          </c:dPt>
          <c:dPt>
            <c:idx val="1"/>
            <c:bubble3D val="0"/>
            <c:spPr>
              <a:solidFill>
                <a:srgbClr val="FA6671"/>
              </a:solidFill>
              <a:ln>
                <a:solidFill>
                  <a:srgbClr val="FF5050"/>
                </a:solidFill>
              </a:ln>
            </c:spPr>
            <c:extLst>
              <c:ext xmlns:c16="http://schemas.microsoft.com/office/drawing/2014/chart" uri="{C3380CC4-5D6E-409C-BE32-E72D297353CC}">
                <c16:uniqueId val="{00000001-779D-2F4B-855E-B880B7C20F8F}"/>
              </c:ext>
            </c:extLst>
          </c:dPt>
          <c:dPt>
            <c:idx val="2"/>
            <c:bubble3D val="0"/>
            <c:spPr>
              <a:solidFill>
                <a:schemeClr val="bg1">
                  <a:lumMod val="75000"/>
                </a:schemeClr>
              </a:solidFill>
              <a:ln>
                <a:solidFill>
                  <a:schemeClr val="accent2">
                    <a:lumMod val="40000"/>
                    <a:lumOff val="60000"/>
                  </a:schemeClr>
                </a:solidFill>
              </a:ln>
            </c:spPr>
            <c:extLst>
              <c:ext xmlns:c16="http://schemas.microsoft.com/office/drawing/2014/chart" uri="{C3380CC4-5D6E-409C-BE32-E72D297353CC}">
                <c16:uniqueId val="{00000002-779D-2F4B-855E-B880B7C20F8F}"/>
              </c:ext>
            </c:extLst>
          </c:dPt>
          <c:dPt>
            <c:idx val="3"/>
            <c:bubble3D val="0"/>
            <c:spPr>
              <a:solidFill>
                <a:srgbClr val="DB0613"/>
              </a:solidFill>
              <a:ln>
                <a:solidFill>
                  <a:srgbClr val="DB0613"/>
                </a:solidFill>
              </a:ln>
            </c:spPr>
            <c:extLst>
              <c:ext xmlns:c16="http://schemas.microsoft.com/office/drawing/2014/chart" uri="{C3380CC4-5D6E-409C-BE32-E72D297353CC}">
                <c16:uniqueId val="{00000003-779D-2F4B-855E-B880B7C20F8F}"/>
              </c:ext>
            </c:extLst>
          </c:dPt>
          <c:dPt>
            <c:idx val="4"/>
            <c:bubble3D val="0"/>
            <c:spPr>
              <a:solidFill>
                <a:srgbClr val="7F7F7F"/>
              </a:solidFill>
              <a:ln>
                <a:solidFill>
                  <a:srgbClr val="D9D9D9"/>
                </a:solidFill>
              </a:ln>
            </c:spPr>
            <c:extLst>
              <c:ext xmlns:c16="http://schemas.microsoft.com/office/drawing/2014/chart" uri="{C3380CC4-5D6E-409C-BE32-E72D297353CC}">
                <c16:uniqueId val="{00000004-779D-2F4B-855E-B880B7C20F8F}"/>
              </c:ext>
            </c:extLst>
          </c:dPt>
          <c:dLbls>
            <c:dLbl>
              <c:idx val="0"/>
              <c:layout>
                <c:manualLayout>
                  <c:x val="-1.9455599300087615E-2"/>
                  <c:y val="1.4058398950131168E-2"/>
                </c:manualLayout>
              </c:layout>
              <c:dLblPos val="bestFi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779D-2F4B-855E-B880B7C20F8F}"/>
                </c:ext>
              </c:extLst>
            </c:dLbl>
            <c:dLbl>
              <c:idx val="1"/>
              <c:layout>
                <c:manualLayout>
                  <c:x val="-7.4531933508311887E-2"/>
                  <c:y val="7.6290828229804611E-2"/>
                </c:manualLayout>
              </c:layout>
              <c:dLblPos val="bestFi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779D-2F4B-855E-B880B7C20F8F}"/>
                </c:ext>
              </c:extLst>
            </c:dLbl>
            <c:dLbl>
              <c:idx val="2"/>
              <c:layout>
                <c:manualLayout>
                  <c:x val="-0.13730227471566053"/>
                  <c:y val="-9.4346019247594032E-2"/>
                </c:manualLayout>
              </c:layout>
              <c:dLblPos val="bestFi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779D-2F4B-855E-B880B7C20F8F}"/>
                </c:ext>
              </c:extLst>
            </c:dLbl>
            <c:dLbl>
              <c:idx val="3"/>
              <c:layout>
                <c:manualLayout>
                  <c:x val="6.6199037620297482E-2"/>
                  <c:y val="-0.22442512394284059"/>
                </c:manualLayout>
              </c:layout>
              <c:dLblPos val="bestFi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779D-2F4B-855E-B880B7C20F8F}"/>
                </c:ext>
              </c:extLst>
            </c:dLbl>
            <c:dLbl>
              <c:idx val="4"/>
              <c:layout>
                <c:manualLayout>
                  <c:x val="0.13852416885389326"/>
                  <c:y val="5.4439705453484977E-2"/>
                </c:manualLayout>
              </c:layout>
              <c:dLblPos val="bestFi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779D-2F4B-855E-B880B7C20F8F}"/>
                </c:ext>
              </c:extLst>
            </c:dLbl>
            <c:spPr>
              <a:noFill/>
              <a:ln>
                <a:noFill/>
              </a:ln>
              <a:effectLst/>
            </c:spPr>
            <c:txPr>
              <a:bodyPr/>
              <a:lstStyle/>
              <a:p>
                <a:pPr>
                  <a:defRPr sz="800" b="1"/>
                </a:pPr>
                <a:endParaRPr lang="es-ES"/>
              </a:p>
            </c:txPr>
            <c:showLegendKey val="0"/>
            <c:showVal val="1"/>
            <c:showCatName val="0"/>
            <c:showSerName val="0"/>
            <c:showPercent val="0"/>
            <c:showBubbleSize val="0"/>
            <c:showLeaderLines val="1"/>
            <c:extLst>
              <c:ext xmlns:c15="http://schemas.microsoft.com/office/drawing/2012/chart" uri="{CE6537A1-D6FC-4f65-9D91-7224C49458BB}"/>
            </c:extLst>
          </c:dLbls>
          <c:cat>
            <c:strRef>
              <c:f>xls_export!$B$69:$B$73</c:f>
              <c:strCache>
                <c:ptCount val="5"/>
                <c:pt idx="0">
                  <c:v>Identificación de oportunidades de inversión</c:v>
                </c:pt>
                <c:pt idx="1">
                  <c:v>Evaluación de oportunidades de inversión</c:v>
                </c:pt>
                <c:pt idx="2">
                  <c:v>Ejecución de propuesta de inversión</c:v>
                </c:pt>
                <c:pt idx="3">
                  <c:v>Ingreso y registro de operaciones de inversión</c:v>
                </c:pt>
                <c:pt idx="4">
                  <c:v>Operaciones de Money Market</c:v>
                </c:pt>
              </c:strCache>
            </c:strRef>
          </c:cat>
          <c:val>
            <c:numRef>
              <c:f>xls_export!$D$69:$D$73</c:f>
              <c:numCache>
                <c:formatCode>0.0%</c:formatCode>
                <c:ptCount val="5"/>
                <c:pt idx="0">
                  <c:v>3.3333333333333381E-2</c:v>
                </c:pt>
                <c:pt idx="1">
                  <c:v>0.1</c:v>
                </c:pt>
                <c:pt idx="2">
                  <c:v>0.26666666666666738</c:v>
                </c:pt>
                <c:pt idx="3">
                  <c:v>0.26666666666666738</c:v>
                </c:pt>
                <c:pt idx="4">
                  <c:v>0.33333333333333331</c:v>
                </c:pt>
              </c:numCache>
            </c:numRef>
          </c:val>
          <c:extLst>
            <c:ext xmlns:c16="http://schemas.microsoft.com/office/drawing/2014/chart" uri="{C3380CC4-5D6E-409C-BE32-E72D297353CC}">
              <c16:uniqueId val="{00000005-779D-2F4B-855E-B880B7C20F8F}"/>
            </c:ext>
          </c:extLst>
        </c:ser>
        <c:dLbls>
          <c:showLegendKey val="0"/>
          <c:showVal val="0"/>
          <c:showCatName val="0"/>
          <c:showSerName val="0"/>
          <c:showPercent val="0"/>
          <c:showBubbleSize val="0"/>
          <c:showLeaderLines val="1"/>
        </c:dLbls>
      </c:pie3DChart>
      <c:spPr>
        <a:noFill/>
        <a:ln w="25400">
          <a:noFill/>
        </a:ln>
      </c:spPr>
    </c:plotArea>
    <c:legend>
      <c:legendPos val="r"/>
      <c:layout>
        <c:manualLayout>
          <c:xMode val="edge"/>
          <c:yMode val="edge"/>
          <c:x val="0.52867497812773401"/>
          <c:y val="3.3453630796150491E-2"/>
          <c:w val="0.44354724409448826"/>
          <c:h val="0.93772236803732856"/>
        </c:manualLayout>
      </c:layout>
      <c:overlay val="0"/>
      <c:txPr>
        <a:bodyPr/>
        <a:lstStyle/>
        <a:p>
          <a:pPr>
            <a:defRPr sz="1000"/>
          </a:pPr>
          <a:endParaRPr lang="es-ES"/>
        </a:p>
      </c:txPr>
    </c:legend>
    <c:plotVisOnly val="1"/>
    <c:dispBlanksAs val="zero"/>
    <c:showDLblsOverMax val="0"/>
  </c:chart>
  <c:spPr>
    <a:solidFill>
      <a:schemeClr val="bg1"/>
    </a:solidFill>
    <a:ln>
      <a:solidFill>
        <a:srgbClr val="A9A9A9"/>
      </a:solidFill>
    </a:ln>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MX"/>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view3D>
      <c:rotX val="30"/>
      <c:rotY val="0"/>
      <c:rAngAx val="0"/>
    </c:view3D>
    <c:floor>
      <c:thickness val="0"/>
    </c:floor>
    <c:sideWall>
      <c:thickness val="0"/>
    </c:sideWall>
    <c:backWall>
      <c:thickness val="0"/>
    </c:backWall>
    <c:plotArea>
      <c:layout>
        <c:manualLayout>
          <c:layoutTarget val="inner"/>
          <c:xMode val="edge"/>
          <c:yMode val="edge"/>
          <c:x val="2.1404636920384992E-2"/>
          <c:y val="0.11805555555555559"/>
          <c:w val="0.62744488188976377"/>
          <c:h val="0.77314814814815125"/>
        </c:manualLayout>
      </c:layout>
      <c:pie3DChart>
        <c:varyColors val="1"/>
        <c:ser>
          <c:idx val="0"/>
          <c:order val="0"/>
          <c:dPt>
            <c:idx val="0"/>
            <c:bubble3D val="0"/>
            <c:spPr>
              <a:solidFill>
                <a:sysClr val="window" lastClr="FFFFFF">
                  <a:lumMod val="75000"/>
                </a:sysClr>
              </a:solidFill>
              <a:ln>
                <a:solidFill>
                  <a:srgbClr val="C0504D">
                    <a:lumMod val="40000"/>
                    <a:lumOff val="60000"/>
                  </a:srgbClr>
                </a:solidFill>
              </a:ln>
            </c:spPr>
            <c:extLst>
              <c:ext xmlns:c16="http://schemas.microsoft.com/office/drawing/2014/chart" uri="{C3380CC4-5D6E-409C-BE32-E72D297353CC}">
                <c16:uniqueId val="{00000000-893F-F340-890E-F85EAE738C24}"/>
              </c:ext>
            </c:extLst>
          </c:dPt>
          <c:dPt>
            <c:idx val="1"/>
            <c:bubble3D val="0"/>
            <c:explosion val="3"/>
            <c:spPr>
              <a:solidFill>
                <a:srgbClr val="DB0613"/>
              </a:solidFill>
            </c:spPr>
            <c:extLst>
              <c:ext xmlns:c16="http://schemas.microsoft.com/office/drawing/2014/chart" uri="{C3380CC4-5D6E-409C-BE32-E72D297353CC}">
                <c16:uniqueId val="{00000001-893F-F340-890E-F85EAE738C24}"/>
              </c:ext>
            </c:extLst>
          </c:dPt>
          <c:dPt>
            <c:idx val="2"/>
            <c:bubble3D val="0"/>
            <c:spPr>
              <a:solidFill>
                <a:srgbClr val="7F7F7F"/>
              </a:solidFill>
              <a:ln>
                <a:solidFill>
                  <a:srgbClr val="D9D9D9"/>
                </a:solidFill>
              </a:ln>
            </c:spPr>
            <c:extLst>
              <c:ext xmlns:c16="http://schemas.microsoft.com/office/drawing/2014/chart" uri="{C3380CC4-5D6E-409C-BE32-E72D297353CC}">
                <c16:uniqueId val="{00000002-893F-F340-890E-F85EAE738C24}"/>
              </c:ext>
            </c:extLst>
          </c:dPt>
          <c:dPt>
            <c:idx val="3"/>
            <c:bubble3D val="0"/>
            <c:spPr>
              <a:solidFill>
                <a:sysClr val="windowText" lastClr="000000">
                  <a:lumMod val="85000"/>
                  <a:lumOff val="15000"/>
                </a:sysClr>
              </a:solidFill>
              <a:ln>
                <a:solidFill>
                  <a:srgbClr val="595959"/>
                </a:solidFill>
              </a:ln>
            </c:spPr>
            <c:extLst>
              <c:ext xmlns:c16="http://schemas.microsoft.com/office/drawing/2014/chart" uri="{C3380CC4-5D6E-409C-BE32-E72D297353CC}">
                <c16:uniqueId val="{00000003-893F-F340-890E-F85EAE738C24}"/>
              </c:ext>
            </c:extLst>
          </c:dPt>
          <c:dLbls>
            <c:dLbl>
              <c:idx val="3"/>
              <c:layout>
                <c:manualLayout>
                  <c:x val="4.2126531058618057E-2"/>
                  <c:y val="1.1373578302712299E-3"/>
                </c:manualLayout>
              </c:layout>
              <c:dLblPos val="bestFi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893F-F340-890E-F85EAE738C24}"/>
                </c:ext>
              </c:extLst>
            </c:dLbl>
            <c:spPr>
              <a:noFill/>
              <a:ln>
                <a:noFill/>
              </a:ln>
              <a:effectLst/>
            </c:spPr>
            <c:txPr>
              <a:bodyPr/>
              <a:lstStyle/>
              <a:p>
                <a:pPr>
                  <a:defRPr sz="800" b="1"/>
                </a:pPr>
                <a:endParaRPr lang="es-ES"/>
              </a:p>
            </c:txPr>
            <c:showLegendKey val="0"/>
            <c:showVal val="1"/>
            <c:showCatName val="0"/>
            <c:showSerName val="0"/>
            <c:showPercent val="0"/>
            <c:showBubbleSize val="0"/>
            <c:showLeaderLines val="1"/>
            <c:extLst>
              <c:ext xmlns:c15="http://schemas.microsoft.com/office/drawing/2012/chart" uri="{CE6537A1-D6FC-4f65-9D91-7224C49458BB}"/>
            </c:extLst>
          </c:dLbls>
          <c:cat>
            <c:strRef>
              <c:f>xls_export!$B$169:$B$172</c:f>
              <c:strCache>
                <c:ptCount val="4"/>
                <c:pt idx="0">
                  <c:v>Tecnología</c:v>
                </c:pt>
                <c:pt idx="1">
                  <c:v>Personas</c:v>
                </c:pt>
                <c:pt idx="2">
                  <c:v>Procesos</c:v>
                </c:pt>
                <c:pt idx="3">
                  <c:v>Eventos Externos</c:v>
                </c:pt>
              </c:strCache>
            </c:strRef>
          </c:cat>
          <c:val>
            <c:numRef>
              <c:f>xls_export!$D$169:$D$172</c:f>
              <c:numCache>
                <c:formatCode>0.0%</c:formatCode>
                <c:ptCount val="4"/>
                <c:pt idx="0">
                  <c:v>0.27777777777777907</c:v>
                </c:pt>
                <c:pt idx="1">
                  <c:v>0.47222222222222232</c:v>
                </c:pt>
                <c:pt idx="2">
                  <c:v>0.19444444444444559</c:v>
                </c:pt>
                <c:pt idx="3">
                  <c:v>5.5555555555555455E-2</c:v>
                </c:pt>
              </c:numCache>
            </c:numRef>
          </c:val>
          <c:extLst>
            <c:ext xmlns:c16="http://schemas.microsoft.com/office/drawing/2014/chart" uri="{C3380CC4-5D6E-409C-BE32-E72D297353CC}">
              <c16:uniqueId val="{00000004-893F-F340-890E-F85EAE738C24}"/>
            </c:ext>
          </c:extLst>
        </c:ser>
        <c:dLbls>
          <c:showLegendKey val="0"/>
          <c:showVal val="0"/>
          <c:showCatName val="0"/>
          <c:showSerName val="0"/>
          <c:showPercent val="0"/>
          <c:showBubbleSize val="0"/>
          <c:showLeaderLines val="1"/>
        </c:dLbls>
      </c:pie3DChart>
      <c:spPr>
        <a:noFill/>
        <a:ln w="25400">
          <a:noFill/>
        </a:ln>
      </c:spPr>
    </c:plotArea>
    <c:legend>
      <c:legendPos val="r"/>
      <c:layout>
        <c:manualLayout>
          <c:xMode val="edge"/>
          <c:yMode val="edge"/>
          <c:x val="0.67257086614173511"/>
          <c:y val="0.11960265383493759"/>
          <c:w val="0.29687357830271438"/>
          <c:h val="0.72375765529309322"/>
        </c:manualLayout>
      </c:layout>
      <c:overlay val="0"/>
      <c:txPr>
        <a:bodyPr/>
        <a:lstStyle/>
        <a:p>
          <a:pPr>
            <a:defRPr sz="1000"/>
          </a:pPr>
          <a:endParaRPr lang="es-ES"/>
        </a:p>
      </c:txPr>
    </c:legend>
    <c:plotVisOnly val="1"/>
    <c:dispBlanksAs val="zero"/>
    <c:showDLblsOverMax val="0"/>
  </c:chart>
  <c:spPr>
    <a:solidFill>
      <a:prstClr val="white"/>
    </a:solidFill>
    <a:ln>
      <a:solidFill>
        <a:srgbClr val="A9A9A9"/>
      </a:solidFill>
    </a:ln>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MX"/>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view3D>
      <c:rotX val="30"/>
      <c:rotY val="0"/>
      <c:rAngAx val="0"/>
    </c:view3D>
    <c:floor>
      <c:thickness val="0"/>
    </c:floor>
    <c:sideWall>
      <c:thickness val="0"/>
    </c:sideWall>
    <c:backWall>
      <c:thickness val="0"/>
    </c:backWall>
    <c:plotArea>
      <c:layout>
        <c:manualLayout>
          <c:layoutTarget val="inner"/>
          <c:xMode val="edge"/>
          <c:yMode val="edge"/>
          <c:x val="4.0684383202099716E-2"/>
          <c:y val="0.11342592592592601"/>
          <c:w val="0.43902843394575752"/>
          <c:h val="0.66666666666666663"/>
        </c:manualLayout>
      </c:layout>
      <c:pie3DChart>
        <c:varyColors val="1"/>
        <c:ser>
          <c:idx val="0"/>
          <c:order val="0"/>
          <c:dPt>
            <c:idx val="0"/>
            <c:bubble3D val="0"/>
            <c:spPr>
              <a:solidFill>
                <a:srgbClr val="DB0613"/>
              </a:solidFill>
            </c:spPr>
            <c:extLst>
              <c:ext xmlns:c16="http://schemas.microsoft.com/office/drawing/2014/chart" uri="{C3380CC4-5D6E-409C-BE32-E72D297353CC}">
                <c16:uniqueId val="{00000000-DD85-FF40-866F-903F971FB453}"/>
              </c:ext>
            </c:extLst>
          </c:dPt>
          <c:dPt>
            <c:idx val="1"/>
            <c:bubble3D val="0"/>
            <c:spPr>
              <a:solidFill>
                <a:schemeClr val="tx1">
                  <a:lumMod val="50000"/>
                  <a:lumOff val="50000"/>
                </a:schemeClr>
              </a:solidFill>
              <a:ln>
                <a:solidFill>
                  <a:schemeClr val="tx2">
                    <a:lumMod val="20000"/>
                    <a:lumOff val="80000"/>
                  </a:schemeClr>
                </a:solidFill>
              </a:ln>
            </c:spPr>
            <c:extLst>
              <c:ext xmlns:c16="http://schemas.microsoft.com/office/drawing/2014/chart" uri="{C3380CC4-5D6E-409C-BE32-E72D297353CC}">
                <c16:uniqueId val="{00000001-DD85-FF40-866F-903F971FB453}"/>
              </c:ext>
            </c:extLst>
          </c:dPt>
          <c:dPt>
            <c:idx val="2"/>
            <c:bubble3D val="0"/>
            <c:spPr>
              <a:solidFill>
                <a:sysClr val="windowText" lastClr="000000">
                  <a:lumMod val="85000"/>
                  <a:lumOff val="15000"/>
                </a:sysClr>
              </a:solidFill>
              <a:ln>
                <a:solidFill>
                  <a:sysClr val="window" lastClr="FFFFFF">
                    <a:lumMod val="85000"/>
                  </a:sysClr>
                </a:solidFill>
              </a:ln>
            </c:spPr>
            <c:extLst>
              <c:ext xmlns:c16="http://schemas.microsoft.com/office/drawing/2014/chart" uri="{C3380CC4-5D6E-409C-BE32-E72D297353CC}">
                <c16:uniqueId val="{00000002-DD85-FF40-866F-903F971FB453}"/>
              </c:ext>
            </c:extLst>
          </c:dPt>
          <c:dPt>
            <c:idx val="3"/>
            <c:bubble3D val="0"/>
            <c:spPr>
              <a:solidFill>
                <a:sysClr val="window" lastClr="FFFFFF">
                  <a:lumMod val="75000"/>
                </a:sysClr>
              </a:solidFill>
              <a:ln>
                <a:solidFill>
                  <a:srgbClr val="C0504D">
                    <a:lumMod val="40000"/>
                    <a:lumOff val="60000"/>
                  </a:srgbClr>
                </a:solidFill>
              </a:ln>
            </c:spPr>
            <c:extLst>
              <c:ext xmlns:c16="http://schemas.microsoft.com/office/drawing/2014/chart" uri="{C3380CC4-5D6E-409C-BE32-E72D297353CC}">
                <c16:uniqueId val="{00000003-DD85-FF40-866F-903F971FB453}"/>
              </c:ext>
            </c:extLst>
          </c:dPt>
          <c:dLbls>
            <c:dLbl>
              <c:idx val="2"/>
              <c:layout>
                <c:manualLayout>
                  <c:x val="3.9568132108486441E-2"/>
                  <c:y val="-5.6212452610090405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DD85-FF40-866F-903F971FB453}"/>
                </c:ext>
              </c:extLst>
            </c:dLbl>
            <c:spPr>
              <a:noFill/>
              <a:ln>
                <a:noFill/>
              </a:ln>
              <a:effectLst/>
            </c:spPr>
            <c:txPr>
              <a:bodyPr/>
              <a:lstStyle/>
              <a:p>
                <a:pPr>
                  <a:defRPr sz="800" b="1"/>
                </a:pPr>
                <a:endParaRPr lang="es-ES"/>
              </a:p>
            </c:txPr>
            <c:showLegendKey val="0"/>
            <c:showVal val="1"/>
            <c:showCatName val="0"/>
            <c:showSerName val="0"/>
            <c:showPercent val="0"/>
            <c:showBubbleSize val="0"/>
            <c:showLeaderLines val="1"/>
            <c:extLst>
              <c:ext xmlns:c15="http://schemas.microsoft.com/office/drawing/2012/chart" uri="{CE6537A1-D6FC-4f65-9D91-7224C49458BB}"/>
            </c:extLst>
          </c:dLbls>
          <c:cat>
            <c:strRef>
              <c:f>Sheet1!$K$3:$K$6</c:f>
              <c:strCache>
                <c:ptCount val="4"/>
                <c:pt idx="0">
                  <c:v>Recepción, ejecución y mantenimiento de operaciones</c:v>
                </c:pt>
                <c:pt idx="1">
                  <c:v>Interrupción del Negocio y fallo en sistemas</c:v>
                </c:pt>
                <c:pt idx="2">
                  <c:v>Admisión de Clientes y documentación</c:v>
                </c:pt>
                <c:pt idx="3">
                  <c:v>Otros (4)</c:v>
                </c:pt>
              </c:strCache>
            </c:strRef>
          </c:cat>
          <c:val>
            <c:numRef>
              <c:f>Sheet1!$L$3:$L$6</c:f>
              <c:numCache>
                <c:formatCode>0.0%</c:formatCode>
                <c:ptCount val="4"/>
                <c:pt idx="0">
                  <c:v>0.54838709677419362</c:v>
                </c:pt>
                <c:pt idx="1">
                  <c:v>0.19354838709677427</c:v>
                </c:pt>
                <c:pt idx="2">
                  <c:v>6.451612903225809E-2</c:v>
                </c:pt>
                <c:pt idx="3">
                  <c:v>0.19354838709677427</c:v>
                </c:pt>
              </c:numCache>
            </c:numRef>
          </c:val>
          <c:extLst>
            <c:ext xmlns:c16="http://schemas.microsoft.com/office/drawing/2014/chart" uri="{C3380CC4-5D6E-409C-BE32-E72D297353CC}">
              <c16:uniqueId val="{00000004-DD85-FF40-866F-903F971FB453}"/>
            </c:ext>
          </c:extLst>
        </c:ser>
        <c:dLbls>
          <c:showLegendKey val="0"/>
          <c:showVal val="0"/>
          <c:showCatName val="0"/>
          <c:showSerName val="0"/>
          <c:showPercent val="0"/>
          <c:showBubbleSize val="0"/>
          <c:showLeaderLines val="1"/>
        </c:dLbls>
      </c:pie3DChart>
    </c:plotArea>
    <c:legend>
      <c:legendPos val="r"/>
      <c:layout>
        <c:manualLayout>
          <c:xMode val="edge"/>
          <c:yMode val="edge"/>
          <c:x val="0.50095275590551158"/>
          <c:y val="4.7342519685039393E-2"/>
          <c:w val="0.48238057742782242"/>
          <c:h val="0.91920384951881062"/>
        </c:manualLayout>
      </c:layout>
      <c:overlay val="0"/>
      <c:txPr>
        <a:bodyPr/>
        <a:lstStyle/>
        <a:p>
          <a:pPr>
            <a:defRPr sz="1000"/>
          </a:pPr>
          <a:endParaRPr lang="es-ES"/>
        </a:p>
      </c:txPr>
    </c:legend>
    <c:plotVisOnly val="1"/>
    <c:dispBlanksAs val="zero"/>
    <c:showDLblsOverMax val="0"/>
  </c:chart>
  <c:spPr>
    <a:solidFill>
      <a:prstClr val="white"/>
    </a:solidFill>
    <a:ln>
      <a:solidFill>
        <a:prstClr val="black">
          <a:lumMod val="50000"/>
          <a:lumOff val="50000"/>
        </a:prstClr>
      </a:solidFill>
    </a:ln>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MX"/>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view3D>
      <c:rotX val="30"/>
      <c:rotY val="0"/>
      <c:rAngAx val="0"/>
    </c:view3D>
    <c:floor>
      <c:thickness val="0"/>
    </c:floor>
    <c:sideWall>
      <c:thickness val="0"/>
    </c:sideWall>
    <c:backWall>
      <c:thickness val="0"/>
    </c:backWall>
    <c:plotArea>
      <c:layout>
        <c:manualLayout>
          <c:layoutTarget val="inner"/>
          <c:xMode val="edge"/>
          <c:yMode val="edge"/>
          <c:x val="8.8888888888889503E-2"/>
          <c:y val="0.16203703703703778"/>
          <c:w val="0.40176531058617521"/>
          <c:h val="0.60648148148148162"/>
        </c:manualLayout>
      </c:layout>
      <c:pie3DChart>
        <c:varyColors val="1"/>
        <c:ser>
          <c:idx val="0"/>
          <c:order val="0"/>
          <c:dPt>
            <c:idx val="0"/>
            <c:bubble3D val="0"/>
            <c:spPr>
              <a:solidFill>
                <a:srgbClr val="DB0613"/>
              </a:solidFill>
              <a:ln>
                <a:solidFill>
                  <a:srgbClr val="DB0613"/>
                </a:solidFill>
              </a:ln>
            </c:spPr>
            <c:extLst>
              <c:ext xmlns:c16="http://schemas.microsoft.com/office/drawing/2014/chart" uri="{C3380CC4-5D6E-409C-BE32-E72D297353CC}">
                <c16:uniqueId val="{00000000-5741-3E44-AC6A-80D6DA956426}"/>
              </c:ext>
            </c:extLst>
          </c:dPt>
          <c:dPt>
            <c:idx val="1"/>
            <c:bubble3D val="0"/>
            <c:spPr>
              <a:solidFill>
                <a:schemeClr val="tx1">
                  <a:lumMod val="50000"/>
                  <a:lumOff val="50000"/>
                </a:schemeClr>
              </a:solidFill>
              <a:ln>
                <a:solidFill>
                  <a:srgbClr val="D9D9D9"/>
                </a:solidFill>
              </a:ln>
            </c:spPr>
            <c:extLst>
              <c:ext xmlns:c16="http://schemas.microsoft.com/office/drawing/2014/chart" uri="{C3380CC4-5D6E-409C-BE32-E72D297353CC}">
                <c16:uniqueId val="{00000001-5741-3E44-AC6A-80D6DA956426}"/>
              </c:ext>
            </c:extLst>
          </c:dPt>
          <c:dPt>
            <c:idx val="2"/>
            <c:bubble3D val="0"/>
            <c:spPr>
              <a:solidFill>
                <a:schemeClr val="bg1">
                  <a:lumMod val="85000"/>
                </a:schemeClr>
              </a:solidFill>
              <a:ln>
                <a:solidFill>
                  <a:srgbClr val="595959"/>
                </a:solidFill>
              </a:ln>
            </c:spPr>
            <c:extLst>
              <c:ext xmlns:c16="http://schemas.microsoft.com/office/drawing/2014/chart" uri="{C3380CC4-5D6E-409C-BE32-E72D297353CC}">
                <c16:uniqueId val="{00000002-5741-3E44-AC6A-80D6DA956426}"/>
              </c:ext>
            </c:extLst>
          </c:dPt>
          <c:dLbls>
            <c:dLbl>
              <c:idx val="0"/>
              <c:layout>
                <c:manualLayout>
                  <c:x val="-0.15827449693788348"/>
                  <c:y val="-7.6856590842811837E-2"/>
                </c:manualLayout>
              </c:layout>
              <c:dLblPos val="bestFi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5741-3E44-AC6A-80D6DA956426}"/>
                </c:ext>
              </c:extLst>
            </c:dLbl>
            <c:dLbl>
              <c:idx val="1"/>
              <c:layout>
                <c:manualLayout>
                  <c:x val="0.12130610236220472"/>
                  <c:y val="-9.8601997666958291E-2"/>
                </c:manualLayout>
              </c:layout>
              <c:dLblPos val="bestFi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5741-3E44-AC6A-80D6DA956426}"/>
                </c:ext>
              </c:extLst>
            </c:dLbl>
            <c:dLbl>
              <c:idx val="2"/>
              <c:layout>
                <c:manualLayout>
                  <c:x val="0.10271456692913412"/>
                  <c:y val="6.4266914552348134E-2"/>
                </c:manualLayout>
              </c:layout>
              <c:dLblPos val="bestFi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5741-3E44-AC6A-80D6DA956426}"/>
                </c:ext>
              </c:extLst>
            </c:dLbl>
            <c:spPr>
              <a:noFill/>
              <a:ln>
                <a:noFill/>
              </a:ln>
              <a:effectLst/>
            </c:spPr>
            <c:txPr>
              <a:bodyPr/>
              <a:lstStyle/>
              <a:p>
                <a:pPr>
                  <a:defRPr sz="800" b="1"/>
                </a:pPr>
                <a:endParaRPr lang="es-ES"/>
              </a:p>
            </c:txPr>
            <c:showLegendKey val="0"/>
            <c:showVal val="1"/>
            <c:showCatName val="0"/>
            <c:showSerName val="0"/>
            <c:showPercent val="0"/>
            <c:showBubbleSize val="0"/>
            <c:showLeaderLines val="1"/>
            <c:extLst>
              <c:ext xmlns:c15="http://schemas.microsoft.com/office/drawing/2012/chart" uri="{CE6537A1-D6FC-4f65-9D91-7224C49458BB}"/>
            </c:extLst>
          </c:dLbls>
          <c:cat>
            <c:strRef>
              <c:f>xls_export!$B$63:$B$65</c:f>
              <c:strCache>
                <c:ptCount val="3"/>
                <c:pt idx="0">
                  <c:v>Inspección Técnica</c:v>
                </c:pt>
                <c:pt idx="1">
                  <c:v>Evaluación de solicitudes de cotizaciones</c:v>
                </c:pt>
                <c:pt idx="2">
                  <c:v>Cotización fuera de políticas</c:v>
                </c:pt>
              </c:strCache>
            </c:strRef>
          </c:cat>
          <c:val>
            <c:numRef>
              <c:f>xls_export!$D$63:$D$65</c:f>
              <c:numCache>
                <c:formatCode>0.0%</c:formatCode>
                <c:ptCount val="3"/>
                <c:pt idx="0">
                  <c:v>0.6111111111111116</c:v>
                </c:pt>
                <c:pt idx="1">
                  <c:v>0.22222222222222221</c:v>
                </c:pt>
                <c:pt idx="2">
                  <c:v>0.16666666666666666</c:v>
                </c:pt>
              </c:numCache>
            </c:numRef>
          </c:val>
          <c:extLst>
            <c:ext xmlns:c16="http://schemas.microsoft.com/office/drawing/2014/chart" uri="{C3380CC4-5D6E-409C-BE32-E72D297353CC}">
              <c16:uniqueId val="{00000003-5741-3E44-AC6A-80D6DA956426}"/>
            </c:ext>
          </c:extLst>
        </c:ser>
        <c:dLbls>
          <c:showLegendKey val="0"/>
          <c:showVal val="0"/>
          <c:showCatName val="0"/>
          <c:showSerName val="0"/>
          <c:showPercent val="0"/>
          <c:showBubbleSize val="0"/>
          <c:showLeaderLines val="1"/>
        </c:dLbls>
      </c:pie3DChart>
      <c:spPr>
        <a:noFill/>
        <a:ln w="25400">
          <a:noFill/>
        </a:ln>
      </c:spPr>
    </c:plotArea>
    <c:legend>
      <c:legendPos val="r"/>
      <c:layout>
        <c:manualLayout>
          <c:xMode val="edge"/>
          <c:yMode val="edge"/>
          <c:x val="0.54065419947506566"/>
          <c:y val="0.19792249927092523"/>
          <c:w val="0.44267913385826768"/>
          <c:h val="0.59952537182852139"/>
        </c:manualLayout>
      </c:layout>
      <c:overlay val="0"/>
      <c:txPr>
        <a:bodyPr/>
        <a:lstStyle/>
        <a:p>
          <a:pPr>
            <a:defRPr sz="1000"/>
          </a:pPr>
          <a:endParaRPr lang="es-ES"/>
        </a:p>
      </c:txPr>
    </c:legend>
    <c:plotVisOnly val="1"/>
    <c:dispBlanksAs val="zero"/>
    <c:showDLblsOverMax val="0"/>
  </c:chart>
  <c:spPr>
    <a:solidFill>
      <a:schemeClr val="bg1"/>
    </a:solidFill>
    <a:ln>
      <a:solidFill>
        <a:srgbClr val="A9A9A9"/>
      </a:solidFill>
    </a:ln>
  </c:sp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MX"/>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view3D>
      <c:rotX val="30"/>
      <c:rotY val="0"/>
      <c:rAngAx val="0"/>
    </c:view3D>
    <c:floor>
      <c:thickness val="0"/>
    </c:floor>
    <c:sideWall>
      <c:thickness val="0"/>
    </c:sideWall>
    <c:backWall>
      <c:thickness val="0"/>
    </c:backWall>
    <c:plotArea>
      <c:layout>
        <c:manualLayout>
          <c:layoutTarget val="inner"/>
          <c:xMode val="edge"/>
          <c:yMode val="edge"/>
          <c:x val="2.5843832020997558E-2"/>
          <c:y val="0.11805555555555559"/>
          <c:w val="0.57292760279965005"/>
          <c:h val="0.77314814814815125"/>
        </c:manualLayout>
      </c:layout>
      <c:pie3DChart>
        <c:varyColors val="1"/>
        <c:ser>
          <c:idx val="0"/>
          <c:order val="0"/>
          <c:dPt>
            <c:idx val="0"/>
            <c:bubble3D val="0"/>
            <c:spPr>
              <a:solidFill>
                <a:srgbClr val="FA6671"/>
              </a:solidFill>
              <a:ln>
                <a:solidFill>
                  <a:srgbClr val="C0504D">
                    <a:lumMod val="40000"/>
                    <a:lumOff val="60000"/>
                  </a:srgbClr>
                </a:solidFill>
              </a:ln>
            </c:spPr>
            <c:extLst>
              <c:ext xmlns:c16="http://schemas.microsoft.com/office/drawing/2014/chart" uri="{C3380CC4-5D6E-409C-BE32-E72D297353CC}">
                <c16:uniqueId val="{00000000-FBD6-D449-81F9-0CA13486CACC}"/>
              </c:ext>
            </c:extLst>
          </c:dPt>
          <c:dPt>
            <c:idx val="1"/>
            <c:bubble3D val="0"/>
            <c:spPr>
              <a:solidFill>
                <a:srgbClr val="DB0613"/>
              </a:solidFill>
            </c:spPr>
            <c:extLst>
              <c:ext xmlns:c16="http://schemas.microsoft.com/office/drawing/2014/chart" uri="{C3380CC4-5D6E-409C-BE32-E72D297353CC}">
                <c16:uniqueId val="{00000001-FBD6-D449-81F9-0CA13486CACC}"/>
              </c:ext>
            </c:extLst>
          </c:dPt>
          <c:dPt>
            <c:idx val="2"/>
            <c:bubble3D val="0"/>
            <c:spPr>
              <a:solidFill>
                <a:srgbClr val="7F7F7F"/>
              </a:solidFill>
              <a:ln>
                <a:solidFill>
                  <a:srgbClr val="D9D9D9"/>
                </a:solidFill>
              </a:ln>
            </c:spPr>
            <c:extLst>
              <c:ext xmlns:c16="http://schemas.microsoft.com/office/drawing/2014/chart" uri="{C3380CC4-5D6E-409C-BE32-E72D297353CC}">
                <c16:uniqueId val="{00000002-FBD6-D449-81F9-0CA13486CACC}"/>
              </c:ext>
            </c:extLst>
          </c:dPt>
          <c:dPt>
            <c:idx val="3"/>
            <c:bubble3D val="0"/>
            <c:spPr>
              <a:solidFill>
                <a:sysClr val="window" lastClr="FFFFFF">
                  <a:lumMod val="75000"/>
                </a:sysClr>
              </a:solidFill>
              <a:ln>
                <a:solidFill>
                  <a:srgbClr val="C0504D">
                    <a:lumMod val="40000"/>
                    <a:lumOff val="60000"/>
                  </a:srgbClr>
                </a:solidFill>
              </a:ln>
            </c:spPr>
            <c:extLst>
              <c:ext xmlns:c16="http://schemas.microsoft.com/office/drawing/2014/chart" uri="{C3380CC4-5D6E-409C-BE32-E72D297353CC}">
                <c16:uniqueId val="{00000003-FBD6-D449-81F9-0CA13486CACC}"/>
              </c:ext>
            </c:extLst>
          </c:dPt>
          <c:dPt>
            <c:idx val="4"/>
            <c:bubble3D val="0"/>
            <c:spPr>
              <a:solidFill>
                <a:sysClr val="windowText" lastClr="000000">
                  <a:lumMod val="85000"/>
                  <a:lumOff val="15000"/>
                </a:sysClr>
              </a:solidFill>
              <a:ln>
                <a:solidFill>
                  <a:srgbClr val="595959"/>
                </a:solidFill>
              </a:ln>
            </c:spPr>
            <c:extLst>
              <c:ext xmlns:c16="http://schemas.microsoft.com/office/drawing/2014/chart" uri="{C3380CC4-5D6E-409C-BE32-E72D297353CC}">
                <c16:uniqueId val="{00000004-FBD6-D449-81F9-0CA13486CACC}"/>
              </c:ext>
            </c:extLst>
          </c:dPt>
          <c:dLbls>
            <c:dLbl>
              <c:idx val="4"/>
              <c:layout>
                <c:manualLayout>
                  <c:x val="4.6028652668416485E-2"/>
                  <c:y val="1.2835374744823622E-3"/>
                </c:manualLayout>
              </c:layout>
              <c:dLblPos val="bestFi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FBD6-D449-81F9-0CA13486CACC}"/>
                </c:ext>
              </c:extLst>
            </c:dLbl>
            <c:spPr>
              <a:noFill/>
              <a:ln>
                <a:noFill/>
              </a:ln>
              <a:effectLst/>
            </c:spPr>
            <c:txPr>
              <a:bodyPr/>
              <a:lstStyle/>
              <a:p>
                <a:pPr>
                  <a:defRPr sz="800" b="1"/>
                </a:pPr>
                <a:endParaRPr lang="es-ES"/>
              </a:p>
            </c:txPr>
            <c:showLegendKey val="0"/>
            <c:showVal val="1"/>
            <c:showCatName val="0"/>
            <c:showSerName val="0"/>
            <c:showPercent val="0"/>
            <c:showBubbleSize val="0"/>
            <c:showLeaderLines val="1"/>
            <c:extLst>
              <c:ext xmlns:c15="http://schemas.microsoft.com/office/drawing/2012/chart" uri="{CE6537A1-D6FC-4f65-9D91-7224C49458BB}"/>
            </c:extLst>
          </c:dLbls>
          <c:cat>
            <c:strRef>
              <c:f>xls_export!$B$161:$B$165</c:f>
              <c:strCache>
                <c:ptCount val="5"/>
                <c:pt idx="0">
                  <c:v>Tecnología</c:v>
                </c:pt>
                <c:pt idx="1">
                  <c:v>Personas</c:v>
                </c:pt>
                <c:pt idx="2">
                  <c:v>Procesos</c:v>
                </c:pt>
                <c:pt idx="3">
                  <c:v>Relaciones con Terceros</c:v>
                </c:pt>
                <c:pt idx="4">
                  <c:v>Eventos Externos</c:v>
                </c:pt>
              </c:strCache>
            </c:strRef>
          </c:cat>
          <c:val>
            <c:numRef>
              <c:f>xls_export!$D$161:$D$165</c:f>
              <c:numCache>
                <c:formatCode>0.0%</c:formatCode>
                <c:ptCount val="5"/>
                <c:pt idx="0">
                  <c:v>0.19047619047619146</c:v>
                </c:pt>
                <c:pt idx="1">
                  <c:v>0.28571428571428736</c:v>
                </c:pt>
                <c:pt idx="2">
                  <c:v>0.14285714285714374</c:v>
                </c:pt>
                <c:pt idx="3">
                  <c:v>0.28571428571428736</c:v>
                </c:pt>
                <c:pt idx="4">
                  <c:v>9.5238095238095247E-2</c:v>
                </c:pt>
              </c:numCache>
            </c:numRef>
          </c:val>
          <c:extLst>
            <c:ext xmlns:c16="http://schemas.microsoft.com/office/drawing/2014/chart" uri="{C3380CC4-5D6E-409C-BE32-E72D297353CC}">
              <c16:uniqueId val="{00000005-FBD6-D449-81F9-0CA13486CACC}"/>
            </c:ext>
          </c:extLst>
        </c:ser>
        <c:dLbls>
          <c:showLegendKey val="0"/>
          <c:showVal val="0"/>
          <c:showCatName val="0"/>
          <c:showSerName val="0"/>
          <c:showPercent val="0"/>
          <c:showBubbleSize val="0"/>
          <c:showLeaderLines val="1"/>
        </c:dLbls>
      </c:pie3DChart>
      <c:spPr>
        <a:noFill/>
        <a:ln w="25400">
          <a:noFill/>
        </a:ln>
      </c:spPr>
    </c:plotArea>
    <c:legend>
      <c:legendPos val="r"/>
      <c:layout>
        <c:manualLayout>
          <c:xMode val="edge"/>
          <c:yMode val="edge"/>
          <c:x val="0.61905971128609261"/>
          <c:y val="0.18440580344123769"/>
          <c:w val="0.32260695538057954"/>
          <c:h val="0.63118802857976075"/>
        </c:manualLayout>
      </c:layout>
      <c:overlay val="0"/>
      <c:txPr>
        <a:bodyPr/>
        <a:lstStyle/>
        <a:p>
          <a:pPr>
            <a:defRPr sz="1000"/>
          </a:pPr>
          <a:endParaRPr lang="es-ES"/>
        </a:p>
      </c:txPr>
    </c:legend>
    <c:plotVisOnly val="1"/>
    <c:dispBlanksAs val="zero"/>
    <c:showDLblsOverMax val="0"/>
  </c:chart>
  <c:spPr>
    <a:solidFill>
      <a:prstClr val="white"/>
    </a:solidFill>
    <a:ln>
      <a:solidFill>
        <a:prstClr val="white">
          <a:lumMod val="50000"/>
        </a:prstClr>
      </a:solidFill>
    </a:ln>
  </c:sp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MX"/>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view3D>
      <c:rotX val="30"/>
      <c:rotY val="0"/>
      <c:rAngAx val="0"/>
    </c:view3D>
    <c:floor>
      <c:thickness val="0"/>
    </c:floor>
    <c:sideWall>
      <c:thickness val="0"/>
    </c:sideWall>
    <c:backWall>
      <c:thickness val="0"/>
    </c:backWall>
    <c:plotArea>
      <c:layout>
        <c:manualLayout>
          <c:layoutTarget val="inner"/>
          <c:xMode val="edge"/>
          <c:yMode val="edge"/>
          <c:x val="1.5104111986001752E-2"/>
          <c:y val="0.11342592592592604"/>
          <c:w val="0.4281250000000002"/>
          <c:h val="0.66211907880375465"/>
        </c:manualLayout>
      </c:layout>
      <c:pie3DChart>
        <c:varyColors val="1"/>
        <c:ser>
          <c:idx val="0"/>
          <c:order val="0"/>
          <c:dPt>
            <c:idx val="0"/>
            <c:bubble3D val="0"/>
            <c:spPr>
              <a:solidFill>
                <a:srgbClr val="DB0613"/>
              </a:solidFill>
              <a:ln>
                <a:solidFill>
                  <a:srgbClr val="1F497D">
                    <a:lumMod val="20000"/>
                    <a:lumOff val="80000"/>
                  </a:srgbClr>
                </a:solidFill>
              </a:ln>
            </c:spPr>
            <c:extLst>
              <c:ext xmlns:c16="http://schemas.microsoft.com/office/drawing/2014/chart" uri="{C3380CC4-5D6E-409C-BE32-E72D297353CC}">
                <c16:uniqueId val="{00000000-4530-8349-88D1-14E854212743}"/>
              </c:ext>
            </c:extLst>
          </c:dPt>
          <c:dPt>
            <c:idx val="1"/>
            <c:bubble3D val="0"/>
            <c:spPr>
              <a:solidFill>
                <a:prstClr val="black">
                  <a:lumMod val="50000"/>
                  <a:lumOff val="50000"/>
                </a:prstClr>
              </a:solidFill>
              <a:ln>
                <a:solidFill>
                  <a:srgbClr val="1F497D">
                    <a:lumMod val="20000"/>
                    <a:lumOff val="80000"/>
                  </a:srgbClr>
                </a:solidFill>
              </a:ln>
            </c:spPr>
            <c:extLst>
              <c:ext xmlns:c16="http://schemas.microsoft.com/office/drawing/2014/chart" uri="{C3380CC4-5D6E-409C-BE32-E72D297353CC}">
                <c16:uniqueId val="{00000001-4530-8349-88D1-14E854212743}"/>
              </c:ext>
            </c:extLst>
          </c:dPt>
          <c:dPt>
            <c:idx val="2"/>
            <c:bubble3D val="0"/>
            <c:spPr>
              <a:solidFill>
                <a:schemeClr val="tx1"/>
              </a:solidFill>
              <a:ln>
                <a:solidFill>
                  <a:srgbClr val="C0504D">
                    <a:lumMod val="40000"/>
                    <a:lumOff val="60000"/>
                  </a:srgbClr>
                </a:solidFill>
              </a:ln>
            </c:spPr>
            <c:extLst>
              <c:ext xmlns:c16="http://schemas.microsoft.com/office/drawing/2014/chart" uri="{C3380CC4-5D6E-409C-BE32-E72D297353CC}">
                <c16:uniqueId val="{00000002-4530-8349-88D1-14E854212743}"/>
              </c:ext>
            </c:extLst>
          </c:dPt>
          <c:dPt>
            <c:idx val="3"/>
            <c:bubble3D val="0"/>
            <c:spPr>
              <a:solidFill>
                <a:sysClr val="window" lastClr="FFFFFF">
                  <a:lumMod val="75000"/>
                </a:sysClr>
              </a:solidFill>
              <a:ln>
                <a:solidFill>
                  <a:srgbClr val="C0504D">
                    <a:lumMod val="40000"/>
                    <a:lumOff val="60000"/>
                  </a:srgbClr>
                </a:solidFill>
              </a:ln>
            </c:spPr>
            <c:extLst>
              <c:ext xmlns:c16="http://schemas.microsoft.com/office/drawing/2014/chart" uri="{C3380CC4-5D6E-409C-BE32-E72D297353CC}">
                <c16:uniqueId val="{00000003-4530-8349-88D1-14E854212743}"/>
              </c:ext>
            </c:extLst>
          </c:dPt>
          <c:dLbls>
            <c:dLbl>
              <c:idx val="2"/>
              <c:layout>
                <c:manualLayout>
                  <c:x val="1.4749999999999996E-2"/>
                  <c:y val="9.7945829687955677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4530-8349-88D1-14E854212743}"/>
                </c:ext>
              </c:extLst>
            </c:dLbl>
            <c:spPr>
              <a:noFill/>
              <a:ln>
                <a:noFill/>
              </a:ln>
              <a:effectLst/>
            </c:spPr>
            <c:txPr>
              <a:bodyPr/>
              <a:lstStyle/>
              <a:p>
                <a:pPr>
                  <a:defRPr sz="800" b="1"/>
                </a:pPr>
                <a:endParaRPr lang="es-ES"/>
              </a:p>
            </c:txPr>
            <c:showLegendKey val="0"/>
            <c:showVal val="1"/>
            <c:showCatName val="0"/>
            <c:showSerName val="0"/>
            <c:showPercent val="0"/>
            <c:showBubbleSize val="0"/>
            <c:showLeaderLines val="1"/>
            <c:extLst>
              <c:ext xmlns:c15="http://schemas.microsoft.com/office/drawing/2012/chart" uri="{CE6537A1-D6FC-4f65-9D91-7224C49458BB}"/>
            </c:extLst>
          </c:dLbls>
          <c:cat>
            <c:strRef>
              <c:f>Sheet1!$K$18:$K$21</c:f>
              <c:strCache>
                <c:ptCount val="4"/>
                <c:pt idx="0">
                  <c:v>Distribuidores y proveedores</c:v>
                </c:pt>
                <c:pt idx="1">
                  <c:v>Recepción, ejecución y mantenimiento de operaciones</c:v>
                </c:pt>
                <c:pt idx="2">
                  <c:v>Interrupción del negocio y fallos en los sistemas</c:v>
                </c:pt>
                <c:pt idx="3">
                  <c:v>Otros (2)</c:v>
                </c:pt>
              </c:strCache>
            </c:strRef>
          </c:cat>
          <c:val>
            <c:numRef>
              <c:f>Sheet1!$L$18:$L$21</c:f>
              <c:numCache>
                <c:formatCode>0.0%</c:formatCode>
                <c:ptCount val="4"/>
                <c:pt idx="0">
                  <c:v>0.33333333333333331</c:v>
                </c:pt>
                <c:pt idx="1">
                  <c:v>0.27777777777777796</c:v>
                </c:pt>
                <c:pt idx="2">
                  <c:v>0.16666666666666666</c:v>
                </c:pt>
                <c:pt idx="3" formatCode="0.00%">
                  <c:v>0.22222222222222221</c:v>
                </c:pt>
              </c:numCache>
            </c:numRef>
          </c:val>
          <c:extLst>
            <c:ext xmlns:c16="http://schemas.microsoft.com/office/drawing/2014/chart" uri="{C3380CC4-5D6E-409C-BE32-E72D297353CC}">
              <c16:uniqueId val="{00000004-4530-8349-88D1-14E854212743}"/>
            </c:ext>
          </c:extLst>
        </c:ser>
        <c:dLbls>
          <c:showLegendKey val="0"/>
          <c:showVal val="0"/>
          <c:showCatName val="0"/>
          <c:showSerName val="0"/>
          <c:showPercent val="0"/>
          <c:showBubbleSize val="0"/>
          <c:showLeaderLines val="1"/>
        </c:dLbls>
      </c:pie3DChart>
      <c:spPr>
        <a:ln>
          <a:noFill/>
        </a:ln>
      </c:spPr>
    </c:plotArea>
    <c:legend>
      <c:legendPos val="r"/>
      <c:layout>
        <c:manualLayout>
          <c:xMode val="edge"/>
          <c:yMode val="edge"/>
          <c:x val="0.48706386701662346"/>
          <c:y val="3.808326042578021E-2"/>
          <c:w val="0.49626946631671048"/>
          <c:h val="0.96191661209342971"/>
        </c:manualLayout>
      </c:layout>
      <c:overlay val="0"/>
      <c:txPr>
        <a:bodyPr/>
        <a:lstStyle/>
        <a:p>
          <a:pPr>
            <a:defRPr sz="1000"/>
          </a:pPr>
          <a:endParaRPr lang="es-ES"/>
        </a:p>
      </c:txPr>
    </c:legend>
    <c:plotVisOnly val="1"/>
    <c:dispBlanksAs val="zero"/>
    <c:showDLblsOverMax val="0"/>
  </c:chart>
  <c:spPr>
    <a:solidFill>
      <a:prstClr val="white"/>
    </a:solidFill>
    <a:ln>
      <a:solidFill>
        <a:prstClr val="black">
          <a:lumMod val="50000"/>
          <a:lumOff val="50000"/>
        </a:prstClr>
      </a:solidFill>
    </a:ln>
  </c:spPr>
  <c:externalData r:id="rId1">
    <c:autoUpdate val="0"/>
  </c:externalData>
</c:chartSpace>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C2E3947-495A-497F-9862-082AFD17542B}" type="doc">
      <dgm:prSet loTypeId="urn:microsoft.com/office/officeart/2005/8/layout/hierarchy4" loCatId="hierarchy" qsTypeId="urn:microsoft.com/office/officeart/2005/8/quickstyle/simple1" qsCatId="simple" csTypeId="urn:microsoft.com/office/officeart/2005/8/colors/accent1_2" csCatId="accent1" phldr="1"/>
      <dgm:spPr/>
      <dgm:t>
        <a:bodyPr/>
        <a:lstStyle/>
        <a:p>
          <a:endParaRPr lang="es-ES"/>
        </a:p>
      </dgm:t>
    </dgm:pt>
    <dgm:pt modelId="{A5647199-E4F0-4BCC-AE86-B438D1C48525}">
      <dgm:prSet phldrT="[Text]"/>
      <dgm:spPr>
        <a:solidFill>
          <a:srgbClr val="DB0613"/>
        </a:solidFill>
      </dgm:spPr>
      <dgm:t>
        <a:bodyPr/>
        <a:lstStyle/>
        <a:p>
          <a:r>
            <a:rPr lang="es-ES" dirty="0"/>
            <a:t>Inventario de Riesgos Operacionales y Controles</a:t>
          </a:r>
        </a:p>
      </dgm:t>
    </dgm:pt>
    <dgm:pt modelId="{20436DFD-081E-4174-8059-BC0830F1B73F}" type="parTrans" cxnId="{48DCDFA2-03BC-4939-9E1B-711869FD1DE9}">
      <dgm:prSet/>
      <dgm:spPr/>
      <dgm:t>
        <a:bodyPr/>
        <a:lstStyle/>
        <a:p>
          <a:endParaRPr lang="es-ES"/>
        </a:p>
      </dgm:t>
    </dgm:pt>
    <dgm:pt modelId="{A35A10ED-D488-4279-8AAA-156AF51E9852}" type="sibTrans" cxnId="{48DCDFA2-03BC-4939-9E1B-711869FD1DE9}">
      <dgm:prSet/>
      <dgm:spPr/>
      <dgm:t>
        <a:bodyPr/>
        <a:lstStyle/>
        <a:p>
          <a:endParaRPr lang="es-ES"/>
        </a:p>
      </dgm:t>
    </dgm:pt>
    <dgm:pt modelId="{3E2000A3-C7A7-45BB-BEC8-D3DD8024354C}">
      <dgm:prSet phldrT="[Text]"/>
      <dgm:spPr>
        <a:solidFill>
          <a:srgbClr val="848484"/>
        </a:solidFill>
      </dgm:spPr>
      <dgm:t>
        <a:bodyPr/>
        <a:lstStyle/>
        <a:p>
          <a:r>
            <a:rPr lang="es-ES" dirty="0"/>
            <a:t>Identificar los Riesgos Operacionales existentes en el proceso.</a:t>
          </a:r>
        </a:p>
      </dgm:t>
    </dgm:pt>
    <dgm:pt modelId="{DAD0ACE9-0372-4A58-836B-5E56959FA7B6}" type="parTrans" cxnId="{CCD4A7D5-406B-4AA6-87D0-A689AF9DB386}">
      <dgm:prSet/>
      <dgm:spPr/>
      <dgm:t>
        <a:bodyPr/>
        <a:lstStyle/>
        <a:p>
          <a:endParaRPr lang="es-ES"/>
        </a:p>
      </dgm:t>
    </dgm:pt>
    <dgm:pt modelId="{E39B2F67-6F92-4609-BB6A-F4A554571189}" type="sibTrans" cxnId="{CCD4A7D5-406B-4AA6-87D0-A689AF9DB386}">
      <dgm:prSet/>
      <dgm:spPr/>
      <dgm:t>
        <a:bodyPr/>
        <a:lstStyle/>
        <a:p>
          <a:endParaRPr lang="es-ES"/>
        </a:p>
      </dgm:t>
    </dgm:pt>
    <dgm:pt modelId="{AC87A34A-56C3-46D5-8046-B4EC916D08CB}">
      <dgm:prSet phldrT="[Text]" custT="1"/>
      <dgm:spPr>
        <a:solidFill>
          <a:srgbClr val="848484"/>
        </a:solidFill>
      </dgm:spPr>
      <dgm:t>
        <a:bodyPr/>
        <a:lstStyle/>
        <a:p>
          <a:r>
            <a:rPr lang="es-ES" sz="1050" dirty="0"/>
            <a:t>Representar secuencialmente los riesgos relacionados con las aplicaciones que soportan el proceso y las personas (Unidad) encargados de su ejecución.</a:t>
          </a:r>
        </a:p>
      </dgm:t>
    </dgm:pt>
    <dgm:pt modelId="{E8A3BCDE-6671-4045-A143-031D66D2A237}" type="parTrans" cxnId="{B293FA04-9EB4-40DA-B7B4-05C45A693C02}">
      <dgm:prSet/>
      <dgm:spPr/>
      <dgm:t>
        <a:bodyPr/>
        <a:lstStyle/>
        <a:p>
          <a:endParaRPr lang="es-ES"/>
        </a:p>
      </dgm:t>
    </dgm:pt>
    <dgm:pt modelId="{5A4B510A-F9CD-44B1-A40A-0A3707C2F88E}" type="sibTrans" cxnId="{B293FA04-9EB4-40DA-B7B4-05C45A693C02}">
      <dgm:prSet/>
      <dgm:spPr/>
      <dgm:t>
        <a:bodyPr/>
        <a:lstStyle/>
        <a:p>
          <a:endParaRPr lang="es-ES"/>
        </a:p>
      </dgm:t>
    </dgm:pt>
    <dgm:pt modelId="{00CD1CC9-E50A-41F8-B704-0036D71A81E2}">
      <dgm:prSet/>
      <dgm:spPr>
        <a:solidFill>
          <a:srgbClr val="DB0613"/>
        </a:solidFill>
      </dgm:spPr>
      <dgm:t>
        <a:bodyPr/>
        <a:lstStyle/>
        <a:p>
          <a:r>
            <a:rPr lang="es-ES" dirty="0"/>
            <a:t>Mapa de Riesgos Operacionales</a:t>
          </a:r>
        </a:p>
      </dgm:t>
    </dgm:pt>
    <dgm:pt modelId="{5DAA8A31-6089-4656-A688-9E2AA60125EC}" type="parTrans" cxnId="{3DDF15F0-B848-4D07-9242-3B46E3B47603}">
      <dgm:prSet/>
      <dgm:spPr/>
      <dgm:t>
        <a:bodyPr/>
        <a:lstStyle/>
        <a:p>
          <a:endParaRPr lang="es-ES"/>
        </a:p>
      </dgm:t>
    </dgm:pt>
    <dgm:pt modelId="{81E9ECA7-8085-4C9F-9ED5-96BDF0E07D78}" type="sibTrans" cxnId="{3DDF15F0-B848-4D07-9242-3B46E3B47603}">
      <dgm:prSet/>
      <dgm:spPr/>
      <dgm:t>
        <a:bodyPr/>
        <a:lstStyle/>
        <a:p>
          <a:endParaRPr lang="es-ES"/>
        </a:p>
      </dgm:t>
    </dgm:pt>
    <dgm:pt modelId="{C9A01815-B17B-4E08-B66B-30B82E334495}">
      <dgm:prSet/>
      <dgm:spPr>
        <a:solidFill>
          <a:srgbClr val="DB0613"/>
        </a:solidFill>
      </dgm:spPr>
      <dgm:t>
        <a:bodyPr/>
        <a:lstStyle/>
        <a:p>
          <a:r>
            <a:rPr lang="es-ES" dirty="0"/>
            <a:t>Cuestionarios de Auto-evaluación</a:t>
          </a:r>
        </a:p>
      </dgm:t>
    </dgm:pt>
    <dgm:pt modelId="{B07C51BE-E03F-4837-912D-C978CB252F26}" type="parTrans" cxnId="{2E0DBCDB-5A7C-4984-AD21-71417B95CA9E}">
      <dgm:prSet/>
      <dgm:spPr/>
      <dgm:t>
        <a:bodyPr/>
        <a:lstStyle/>
        <a:p>
          <a:endParaRPr lang="es-ES"/>
        </a:p>
      </dgm:t>
    </dgm:pt>
    <dgm:pt modelId="{561AED14-CFCC-4FD2-9D66-77B842A63702}" type="sibTrans" cxnId="{2E0DBCDB-5A7C-4984-AD21-71417B95CA9E}">
      <dgm:prSet/>
      <dgm:spPr/>
      <dgm:t>
        <a:bodyPr/>
        <a:lstStyle/>
        <a:p>
          <a:endParaRPr lang="es-ES"/>
        </a:p>
      </dgm:t>
    </dgm:pt>
    <dgm:pt modelId="{A3A48F65-3213-4850-B44E-932D7553491F}">
      <dgm:prSet/>
      <dgm:spPr>
        <a:solidFill>
          <a:srgbClr val="A7A7A7"/>
        </a:solidFill>
      </dgm:spPr>
      <dgm:t>
        <a:bodyPr/>
        <a:lstStyle/>
        <a:p>
          <a:r>
            <a:rPr lang="es-ES" dirty="0"/>
            <a:t>Elementos a Definir para el Modelo: Número de cuestionarios  y elaboración de los mismos.</a:t>
          </a:r>
        </a:p>
      </dgm:t>
    </dgm:pt>
    <dgm:pt modelId="{E5EF676B-3F60-4F36-BE74-D638F092EE2C}" type="parTrans" cxnId="{00425065-17D6-4687-A190-606AA6F60654}">
      <dgm:prSet/>
      <dgm:spPr/>
      <dgm:t>
        <a:bodyPr/>
        <a:lstStyle/>
        <a:p>
          <a:endParaRPr lang="es-ES"/>
        </a:p>
      </dgm:t>
    </dgm:pt>
    <dgm:pt modelId="{6E9A0B33-5ED3-4724-8AD4-4B0857CAB90D}" type="sibTrans" cxnId="{00425065-17D6-4687-A190-606AA6F60654}">
      <dgm:prSet/>
      <dgm:spPr/>
      <dgm:t>
        <a:bodyPr/>
        <a:lstStyle/>
        <a:p>
          <a:endParaRPr lang="es-ES"/>
        </a:p>
      </dgm:t>
    </dgm:pt>
    <dgm:pt modelId="{40440350-1B17-435E-B3DB-1863225F5C22}">
      <dgm:prSet/>
      <dgm:spPr>
        <a:solidFill>
          <a:srgbClr val="A7A7A7"/>
        </a:solidFill>
      </dgm:spPr>
      <dgm:t>
        <a:bodyPr/>
        <a:lstStyle/>
        <a:p>
          <a:r>
            <a:rPr lang="es-ES" dirty="0"/>
            <a:t>Elaboración de los flujos de información: recepción, contestación y validación de los cuestionarios.</a:t>
          </a:r>
        </a:p>
      </dgm:t>
    </dgm:pt>
    <dgm:pt modelId="{61300E96-7810-4C94-AD9E-BCB8BD36F872}" type="parTrans" cxnId="{EF6AF46D-C29F-441A-BF57-8119D035F083}">
      <dgm:prSet/>
      <dgm:spPr/>
      <dgm:t>
        <a:bodyPr/>
        <a:lstStyle/>
        <a:p>
          <a:endParaRPr lang="es-ES"/>
        </a:p>
      </dgm:t>
    </dgm:pt>
    <dgm:pt modelId="{E4C61C15-AEB9-4693-A98E-CC6FBA4B47E9}" type="sibTrans" cxnId="{EF6AF46D-C29F-441A-BF57-8119D035F083}">
      <dgm:prSet/>
      <dgm:spPr/>
      <dgm:t>
        <a:bodyPr/>
        <a:lstStyle/>
        <a:p>
          <a:endParaRPr lang="es-ES"/>
        </a:p>
      </dgm:t>
    </dgm:pt>
    <dgm:pt modelId="{87296CC8-AA21-4015-8588-A1ECCE40E350}">
      <dgm:prSet/>
      <dgm:spPr>
        <a:solidFill>
          <a:srgbClr val="A7A7A7"/>
        </a:solidFill>
      </dgm:spPr>
      <dgm:t>
        <a:bodyPr/>
        <a:lstStyle/>
        <a:p>
          <a:r>
            <a:rPr lang="es-ES" dirty="0"/>
            <a:t>Definición de impacto o severidad.</a:t>
          </a:r>
        </a:p>
      </dgm:t>
    </dgm:pt>
    <dgm:pt modelId="{D01035FA-F290-4697-B2FF-1A21BCCF4661}" type="parTrans" cxnId="{B61A250C-D4E6-4CDD-816E-453E58ADDC8B}">
      <dgm:prSet/>
      <dgm:spPr/>
      <dgm:t>
        <a:bodyPr/>
        <a:lstStyle/>
        <a:p>
          <a:endParaRPr lang="es-ES"/>
        </a:p>
      </dgm:t>
    </dgm:pt>
    <dgm:pt modelId="{3F8E3C11-F7DF-4A16-94FE-49C6C5A34B9B}" type="sibTrans" cxnId="{B61A250C-D4E6-4CDD-816E-453E58ADDC8B}">
      <dgm:prSet/>
      <dgm:spPr/>
      <dgm:t>
        <a:bodyPr/>
        <a:lstStyle/>
        <a:p>
          <a:endParaRPr lang="es-ES"/>
        </a:p>
      </dgm:t>
    </dgm:pt>
    <dgm:pt modelId="{68B26A60-1D22-450E-A696-1608DC6204DF}">
      <dgm:prSet/>
      <dgm:spPr>
        <a:solidFill>
          <a:srgbClr val="A7A7A7"/>
        </a:solidFill>
      </dgm:spPr>
      <dgm:t>
        <a:bodyPr/>
        <a:lstStyle/>
        <a:p>
          <a:r>
            <a:rPr lang="es-ES" dirty="0"/>
            <a:t>Mecanismos de validación</a:t>
          </a:r>
        </a:p>
      </dgm:t>
    </dgm:pt>
    <dgm:pt modelId="{66A9A280-B663-4E3E-BC04-593031D97367}" type="parTrans" cxnId="{937EA9AB-80FD-4D21-951E-26BE5559F61B}">
      <dgm:prSet/>
      <dgm:spPr/>
      <dgm:t>
        <a:bodyPr/>
        <a:lstStyle/>
        <a:p>
          <a:endParaRPr lang="es-ES"/>
        </a:p>
      </dgm:t>
    </dgm:pt>
    <dgm:pt modelId="{686B1847-B7FB-47FB-8D48-B50F04FE161B}" type="sibTrans" cxnId="{937EA9AB-80FD-4D21-951E-26BE5559F61B}">
      <dgm:prSet/>
      <dgm:spPr/>
      <dgm:t>
        <a:bodyPr/>
        <a:lstStyle/>
        <a:p>
          <a:endParaRPr lang="es-ES"/>
        </a:p>
      </dgm:t>
    </dgm:pt>
    <dgm:pt modelId="{1C776056-69B3-4E55-B4F4-D7893ACE9D98}">
      <dgm:prSet/>
      <dgm:spPr>
        <a:solidFill>
          <a:srgbClr val="A7A7A7"/>
        </a:solidFill>
      </dgm:spPr>
      <dgm:t>
        <a:bodyPr/>
        <a:lstStyle/>
        <a:p>
          <a:r>
            <a:rPr lang="es-ES" dirty="0"/>
            <a:t>Valoración de los Controles y Factores Mitigantes</a:t>
          </a:r>
        </a:p>
      </dgm:t>
    </dgm:pt>
    <dgm:pt modelId="{87A4F392-D48D-4CC9-8D3A-A8C084C5BFB1}" type="parTrans" cxnId="{3FD92B02-3192-462F-A9D2-A47A3F889AC8}">
      <dgm:prSet/>
      <dgm:spPr/>
      <dgm:t>
        <a:bodyPr/>
        <a:lstStyle/>
        <a:p>
          <a:endParaRPr lang="es-ES"/>
        </a:p>
      </dgm:t>
    </dgm:pt>
    <dgm:pt modelId="{417E27DE-CE7A-4DD6-A7D6-DC7588B3E631}" type="sibTrans" cxnId="{3FD92B02-3192-462F-A9D2-A47A3F889AC8}">
      <dgm:prSet/>
      <dgm:spPr/>
      <dgm:t>
        <a:bodyPr/>
        <a:lstStyle/>
        <a:p>
          <a:endParaRPr lang="es-ES"/>
        </a:p>
      </dgm:t>
    </dgm:pt>
    <dgm:pt modelId="{8B6E4201-EC49-456F-81BE-67ACDACCFC45}">
      <dgm:prSet/>
      <dgm:spPr>
        <a:solidFill>
          <a:srgbClr val="A7A7A7"/>
        </a:solidFill>
      </dgm:spPr>
      <dgm:t>
        <a:bodyPr/>
        <a:lstStyle/>
        <a:p>
          <a:r>
            <a:rPr lang="es-ES" dirty="0"/>
            <a:t>Valoración del Impacto Reputacional en Riesgos</a:t>
          </a:r>
        </a:p>
      </dgm:t>
    </dgm:pt>
    <dgm:pt modelId="{19F4FF33-720F-4387-976E-3092EB20D106}" type="parTrans" cxnId="{17258978-B7F6-48F7-93C2-84FBA1FAF8E4}">
      <dgm:prSet/>
      <dgm:spPr/>
      <dgm:t>
        <a:bodyPr/>
        <a:lstStyle/>
        <a:p>
          <a:endParaRPr lang="es-ES"/>
        </a:p>
      </dgm:t>
    </dgm:pt>
    <dgm:pt modelId="{F1C61B29-0DA7-4A9A-BC32-3A1CFCAAFF70}" type="sibTrans" cxnId="{17258978-B7F6-48F7-93C2-84FBA1FAF8E4}">
      <dgm:prSet/>
      <dgm:spPr/>
      <dgm:t>
        <a:bodyPr/>
        <a:lstStyle/>
        <a:p>
          <a:endParaRPr lang="es-ES"/>
        </a:p>
      </dgm:t>
    </dgm:pt>
    <dgm:pt modelId="{3ACF0BB2-F187-43E5-BAF1-B24845DD7ABE}">
      <dgm:prSet/>
      <dgm:spPr>
        <a:solidFill>
          <a:srgbClr val="DB0613"/>
        </a:solidFill>
      </dgm:spPr>
      <dgm:t>
        <a:bodyPr/>
        <a:lstStyle/>
        <a:p>
          <a:r>
            <a:rPr lang="es-ES" dirty="0"/>
            <a:t>Políticas de Gestión</a:t>
          </a:r>
        </a:p>
      </dgm:t>
    </dgm:pt>
    <dgm:pt modelId="{D080AC42-0AB5-48A9-931B-EC3AF9D584E1}" type="parTrans" cxnId="{0BB2492C-82C1-4F79-AA07-2558A3130288}">
      <dgm:prSet/>
      <dgm:spPr/>
      <dgm:t>
        <a:bodyPr/>
        <a:lstStyle/>
        <a:p>
          <a:endParaRPr lang="es-ES"/>
        </a:p>
      </dgm:t>
    </dgm:pt>
    <dgm:pt modelId="{D3D589E2-DA2B-430C-8A70-ED99616B9848}" type="sibTrans" cxnId="{0BB2492C-82C1-4F79-AA07-2558A3130288}">
      <dgm:prSet/>
      <dgm:spPr/>
      <dgm:t>
        <a:bodyPr/>
        <a:lstStyle/>
        <a:p>
          <a:endParaRPr lang="es-ES"/>
        </a:p>
      </dgm:t>
    </dgm:pt>
    <dgm:pt modelId="{A51FFCB4-6E9F-42B8-81D0-4BFC59A513D4}">
      <dgm:prSet/>
      <dgm:spPr>
        <a:solidFill>
          <a:srgbClr val="BABABA"/>
        </a:solidFill>
      </dgm:spPr>
      <dgm:t>
        <a:bodyPr/>
        <a:lstStyle/>
        <a:p>
          <a:r>
            <a:rPr lang="es-ES" dirty="0"/>
            <a:t>Unidades de Negocio y Soporte</a:t>
          </a:r>
        </a:p>
      </dgm:t>
    </dgm:pt>
    <dgm:pt modelId="{7094DD18-240F-4E95-A327-EDAC891F3CC8}" type="parTrans" cxnId="{3B1F0C7A-F431-486A-9166-5BEFD57CDA26}">
      <dgm:prSet/>
      <dgm:spPr/>
      <dgm:t>
        <a:bodyPr/>
        <a:lstStyle/>
        <a:p>
          <a:endParaRPr lang="es-ES"/>
        </a:p>
      </dgm:t>
    </dgm:pt>
    <dgm:pt modelId="{6C1AD649-ADD5-430F-940E-BF23FEF3273A}" type="sibTrans" cxnId="{3B1F0C7A-F431-486A-9166-5BEFD57CDA26}">
      <dgm:prSet/>
      <dgm:spPr/>
      <dgm:t>
        <a:bodyPr/>
        <a:lstStyle/>
        <a:p>
          <a:endParaRPr lang="es-ES"/>
        </a:p>
      </dgm:t>
    </dgm:pt>
    <dgm:pt modelId="{55BCF74F-F485-4D93-B77E-DA6D04C08876}">
      <dgm:prSet/>
      <dgm:spPr>
        <a:solidFill>
          <a:srgbClr val="BABABA"/>
        </a:solidFill>
      </dgm:spPr>
      <dgm:t>
        <a:bodyPr/>
        <a:lstStyle/>
        <a:p>
          <a:r>
            <a:rPr lang="es-ES" dirty="0"/>
            <a:t>Área de Riesgo Operacional:</a:t>
          </a:r>
        </a:p>
      </dgm:t>
    </dgm:pt>
    <dgm:pt modelId="{BECC99D2-BD1D-4935-995F-01A6D05510BE}" type="parTrans" cxnId="{286CCB3C-4416-42FA-9956-028A0242BA67}">
      <dgm:prSet/>
      <dgm:spPr/>
      <dgm:t>
        <a:bodyPr/>
        <a:lstStyle/>
        <a:p>
          <a:endParaRPr lang="es-ES"/>
        </a:p>
      </dgm:t>
    </dgm:pt>
    <dgm:pt modelId="{EE115679-7126-4440-B69E-9F92F12082E4}" type="sibTrans" cxnId="{286CCB3C-4416-42FA-9956-028A0242BA67}">
      <dgm:prSet/>
      <dgm:spPr/>
      <dgm:t>
        <a:bodyPr/>
        <a:lstStyle/>
        <a:p>
          <a:endParaRPr lang="es-ES"/>
        </a:p>
      </dgm:t>
    </dgm:pt>
    <dgm:pt modelId="{8E8692BA-E3F9-4968-A1B1-8AFE84CE28A6}">
      <dgm:prSet/>
      <dgm:spPr>
        <a:solidFill>
          <a:srgbClr val="BABABA"/>
        </a:solidFill>
      </dgm:spPr>
      <dgm:t>
        <a:bodyPr/>
        <a:lstStyle/>
        <a:p>
          <a:r>
            <a:rPr lang="es-ES" dirty="0"/>
            <a:t>Área de transformación y mejora continua</a:t>
          </a:r>
        </a:p>
      </dgm:t>
    </dgm:pt>
    <dgm:pt modelId="{D1341B41-E75B-4F27-8F7C-C891755F2783}" type="parTrans" cxnId="{714EB89F-A677-4D74-BA57-FE8C18B82286}">
      <dgm:prSet/>
      <dgm:spPr/>
      <dgm:t>
        <a:bodyPr/>
        <a:lstStyle/>
        <a:p>
          <a:endParaRPr lang="es-ES"/>
        </a:p>
      </dgm:t>
    </dgm:pt>
    <dgm:pt modelId="{DA6CCAEC-2A52-4800-8E8D-1085DE4BDC91}" type="sibTrans" cxnId="{714EB89F-A677-4D74-BA57-FE8C18B82286}">
      <dgm:prSet/>
      <dgm:spPr/>
      <dgm:t>
        <a:bodyPr/>
        <a:lstStyle/>
        <a:p>
          <a:endParaRPr lang="es-ES"/>
        </a:p>
      </dgm:t>
    </dgm:pt>
    <dgm:pt modelId="{3C4AD663-B2EB-4D7A-A4FB-32F37768589B}">
      <dgm:prSet/>
      <dgm:spPr>
        <a:solidFill>
          <a:srgbClr val="BABABA"/>
        </a:solidFill>
      </dgm:spPr>
      <dgm:t>
        <a:bodyPr/>
        <a:lstStyle/>
        <a:p>
          <a:r>
            <a:rPr lang="es-ES" dirty="0"/>
            <a:t>Comité de Riesgos</a:t>
          </a:r>
        </a:p>
      </dgm:t>
    </dgm:pt>
    <dgm:pt modelId="{B98FCD8F-552C-46B4-B629-35E412922509}" type="parTrans" cxnId="{F33D61F0-0552-498D-BE0B-B3AAE9B3A598}">
      <dgm:prSet/>
      <dgm:spPr/>
      <dgm:t>
        <a:bodyPr/>
        <a:lstStyle/>
        <a:p>
          <a:endParaRPr lang="es-ES"/>
        </a:p>
      </dgm:t>
    </dgm:pt>
    <dgm:pt modelId="{21082D2D-66C2-48BA-A7AA-E596B555BB42}" type="sibTrans" cxnId="{F33D61F0-0552-498D-BE0B-B3AAE9B3A598}">
      <dgm:prSet/>
      <dgm:spPr/>
      <dgm:t>
        <a:bodyPr/>
        <a:lstStyle/>
        <a:p>
          <a:endParaRPr lang="es-ES"/>
        </a:p>
      </dgm:t>
    </dgm:pt>
    <dgm:pt modelId="{1B08FBB4-A4BA-4A01-9EF6-82E8D242DA30}" type="pres">
      <dgm:prSet presAssocID="{EC2E3947-495A-497F-9862-082AFD17542B}" presName="Name0" presStyleCnt="0">
        <dgm:presLayoutVars>
          <dgm:chPref val="1"/>
          <dgm:dir/>
          <dgm:animOne val="branch"/>
          <dgm:animLvl val="lvl"/>
          <dgm:resizeHandles/>
        </dgm:presLayoutVars>
      </dgm:prSet>
      <dgm:spPr/>
    </dgm:pt>
    <dgm:pt modelId="{964DF897-2DF1-46E1-A5AE-E397C5BA618F}" type="pres">
      <dgm:prSet presAssocID="{00CD1CC9-E50A-41F8-B704-0036D71A81E2}" presName="vertOne" presStyleCnt="0"/>
      <dgm:spPr/>
    </dgm:pt>
    <dgm:pt modelId="{C1DAC5D5-3BC1-47AE-B567-054E17321B20}" type="pres">
      <dgm:prSet presAssocID="{00CD1CC9-E50A-41F8-B704-0036D71A81E2}" presName="txOne" presStyleLbl="node0" presStyleIdx="0" presStyleCnt="1" custScaleY="33460">
        <dgm:presLayoutVars>
          <dgm:chPref val="3"/>
        </dgm:presLayoutVars>
      </dgm:prSet>
      <dgm:spPr/>
    </dgm:pt>
    <dgm:pt modelId="{36B36DD8-D120-490A-8E5A-FAB1FBE9A9CC}" type="pres">
      <dgm:prSet presAssocID="{00CD1CC9-E50A-41F8-B704-0036D71A81E2}" presName="parTransOne" presStyleCnt="0"/>
      <dgm:spPr/>
    </dgm:pt>
    <dgm:pt modelId="{A8327C45-6075-4A92-A5D2-BB2449D7F305}" type="pres">
      <dgm:prSet presAssocID="{00CD1CC9-E50A-41F8-B704-0036D71A81E2}" presName="horzOne" presStyleCnt="0"/>
      <dgm:spPr/>
    </dgm:pt>
    <dgm:pt modelId="{5F73D29C-A5BE-4558-913B-05C6F28FF928}" type="pres">
      <dgm:prSet presAssocID="{A5647199-E4F0-4BCC-AE86-B438D1C48525}" presName="vertTwo" presStyleCnt="0"/>
      <dgm:spPr/>
    </dgm:pt>
    <dgm:pt modelId="{F7197D3E-16D5-4FBD-94C4-69633173AC4D}" type="pres">
      <dgm:prSet presAssocID="{A5647199-E4F0-4BCC-AE86-B438D1C48525}" presName="txTwo" presStyleLbl="node2" presStyleIdx="0" presStyleCnt="3" custScaleY="65630">
        <dgm:presLayoutVars>
          <dgm:chPref val="3"/>
        </dgm:presLayoutVars>
      </dgm:prSet>
      <dgm:spPr/>
    </dgm:pt>
    <dgm:pt modelId="{3474A9EC-40A2-47BF-B8CB-210FDF52D8BB}" type="pres">
      <dgm:prSet presAssocID="{A5647199-E4F0-4BCC-AE86-B438D1C48525}" presName="parTransTwo" presStyleCnt="0"/>
      <dgm:spPr/>
    </dgm:pt>
    <dgm:pt modelId="{75528CCD-EB6F-49B3-920B-A3B47EB43037}" type="pres">
      <dgm:prSet presAssocID="{A5647199-E4F0-4BCC-AE86-B438D1C48525}" presName="horzTwo" presStyleCnt="0"/>
      <dgm:spPr/>
    </dgm:pt>
    <dgm:pt modelId="{8DF05D8B-710A-4267-8418-F08E9917B0C3}" type="pres">
      <dgm:prSet presAssocID="{3E2000A3-C7A7-45BB-BEC8-D3DD8024354C}" presName="vertThree" presStyleCnt="0"/>
      <dgm:spPr/>
    </dgm:pt>
    <dgm:pt modelId="{E3133CF3-25CB-4C41-9206-999DD3932DC4}" type="pres">
      <dgm:prSet presAssocID="{3E2000A3-C7A7-45BB-BEC8-D3DD8024354C}" presName="txThree" presStyleLbl="node3" presStyleIdx="0" presStyleCnt="7">
        <dgm:presLayoutVars>
          <dgm:chPref val="3"/>
        </dgm:presLayoutVars>
      </dgm:prSet>
      <dgm:spPr/>
    </dgm:pt>
    <dgm:pt modelId="{A31B072E-747B-41EB-AB8E-3211EF1CB59A}" type="pres">
      <dgm:prSet presAssocID="{3E2000A3-C7A7-45BB-BEC8-D3DD8024354C}" presName="horzThree" presStyleCnt="0"/>
      <dgm:spPr/>
    </dgm:pt>
    <dgm:pt modelId="{3F9D4D97-90A7-4574-8684-D1EB6D685AEF}" type="pres">
      <dgm:prSet presAssocID="{E39B2F67-6F92-4609-BB6A-F4A554571189}" presName="sibSpaceThree" presStyleCnt="0"/>
      <dgm:spPr/>
    </dgm:pt>
    <dgm:pt modelId="{BB2E043D-737F-45CF-A920-AB8BA611E649}" type="pres">
      <dgm:prSet presAssocID="{AC87A34A-56C3-46D5-8046-B4EC916D08CB}" presName="vertThree" presStyleCnt="0"/>
      <dgm:spPr/>
    </dgm:pt>
    <dgm:pt modelId="{CE5142CB-0371-4C9A-89CD-C671286AA170}" type="pres">
      <dgm:prSet presAssocID="{AC87A34A-56C3-46D5-8046-B4EC916D08CB}" presName="txThree" presStyleLbl="node3" presStyleIdx="1" presStyleCnt="7" custLinFactNeighborX="-897" custLinFactNeighborY="-1710">
        <dgm:presLayoutVars>
          <dgm:chPref val="3"/>
        </dgm:presLayoutVars>
      </dgm:prSet>
      <dgm:spPr/>
    </dgm:pt>
    <dgm:pt modelId="{8A7DA9F9-F7BE-4C29-B03D-020C570AF4F8}" type="pres">
      <dgm:prSet presAssocID="{AC87A34A-56C3-46D5-8046-B4EC916D08CB}" presName="horzThree" presStyleCnt="0"/>
      <dgm:spPr/>
    </dgm:pt>
    <dgm:pt modelId="{6A18ED62-6B97-4189-AF95-2887289DB16C}" type="pres">
      <dgm:prSet presAssocID="{A35A10ED-D488-4279-8AAA-156AF51E9852}" presName="sibSpaceTwo" presStyleCnt="0"/>
      <dgm:spPr/>
    </dgm:pt>
    <dgm:pt modelId="{9605A24D-89AE-49D4-9C9B-E3CA67FBFBD0}" type="pres">
      <dgm:prSet presAssocID="{C9A01815-B17B-4E08-B66B-30B82E334495}" presName="vertTwo" presStyleCnt="0"/>
      <dgm:spPr/>
    </dgm:pt>
    <dgm:pt modelId="{30CC629E-DCFF-444A-A75B-73B93688C0AA}" type="pres">
      <dgm:prSet presAssocID="{C9A01815-B17B-4E08-B66B-30B82E334495}" presName="txTwo" presStyleLbl="node2" presStyleIdx="1" presStyleCnt="3" custScaleY="64656">
        <dgm:presLayoutVars>
          <dgm:chPref val="3"/>
        </dgm:presLayoutVars>
      </dgm:prSet>
      <dgm:spPr/>
    </dgm:pt>
    <dgm:pt modelId="{F6B977E7-0A12-45E8-8F48-1FCE56C9456F}" type="pres">
      <dgm:prSet presAssocID="{C9A01815-B17B-4E08-B66B-30B82E334495}" presName="parTransTwo" presStyleCnt="0"/>
      <dgm:spPr/>
    </dgm:pt>
    <dgm:pt modelId="{8BAE0B8A-3783-442F-9993-94101F614022}" type="pres">
      <dgm:prSet presAssocID="{C9A01815-B17B-4E08-B66B-30B82E334495}" presName="horzTwo" presStyleCnt="0"/>
      <dgm:spPr/>
    </dgm:pt>
    <dgm:pt modelId="{A9065F09-9129-4BCE-AE21-C8BAD2AB601E}" type="pres">
      <dgm:prSet presAssocID="{A3A48F65-3213-4850-B44E-932D7553491F}" presName="vertThree" presStyleCnt="0"/>
      <dgm:spPr/>
    </dgm:pt>
    <dgm:pt modelId="{5BAD3AA8-E45B-489E-955C-BE60D0DC2517}" type="pres">
      <dgm:prSet presAssocID="{A3A48F65-3213-4850-B44E-932D7553491F}" presName="txThree" presStyleLbl="node3" presStyleIdx="2" presStyleCnt="7">
        <dgm:presLayoutVars>
          <dgm:chPref val="3"/>
        </dgm:presLayoutVars>
      </dgm:prSet>
      <dgm:spPr/>
    </dgm:pt>
    <dgm:pt modelId="{35BE7E51-5F02-4CF0-90EF-4C12E8905842}" type="pres">
      <dgm:prSet presAssocID="{A3A48F65-3213-4850-B44E-932D7553491F}" presName="parTransThree" presStyleCnt="0"/>
      <dgm:spPr/>
    </dgm:pt>
    <dgm:pt modelId="{F22E54EB-5366-4CEF-A41B-29610C537D9D}" type="pres">
      <dgm:prSet presAssocID="{A3A48F65-3213-4850-B44E-932D7553491F}" presName="horzThree" presStyleCnt="0"/>
      <dgm:spPr/>
    </dgm:pt>
    <dgm:pt modelId="{7AF10AC4-D1A3-4DAE-AB52-46218C5EA194}" type="pres">
      <dgm:prSet presAssocID="{68B26A60-1D22-450E-A696-1608DC6204DF}" presName="vertFour" presStyleCnt="0">
        <dgm:presLayoutVars>
          <dgm:chPref val="3"/>
        </dgm:presLayoutVars>
      </dgm:prSet>
      <dgm:spPr/>
    </dgm:pt>
    <dgm:pt modelId="{524D9C8F-E57F-47F3-9647-253C3CA6D9FE}" type="pres">
      <dgm:prSet presAssocID="{68B26A60-1D22-450E-A696-1608DC6204DF}" presName="txFour" presStyleLbl="node4" presStyleIdx="0" presStyleCnt="5">
        <dgm:presLayoutVars>
          <dgm:chPref val="3"/>
        </dgm:presLayoutVars>
      </dgm:prSet>
      <dgm:spPr/>
    </dgm:pt>
    <dgm:pt modelId="{098A2AD1-5EC5-449D-ACE4-22686AADD1DB}" type="pres">
      <dgm:prSet presAssocID="{68B26A60-1D22-450E-A696-1608DC6204DF}" presName="horzFour" presStyleCnt="0"/>
      <dgm:spPr/>
    </dgm:pt>
    <dgm:pt modelId="{B2BD0DA8-7839-43C7-A1E3-2581362339DE}" type="pres">
      <dgm:prSet presAssocID="{6E9A0B33-5ED3-4724-8AD4-4B0857CAB90D}" presName="sibSpaceThree" presStyleCnt="0"/>
      <dgm:spPr/>
    </dgm:pt>
    <dgm:pt modelId="{EF3EE5D4-64B1-4B3B-8DE7-DEEDA68F692A}" type="pres">
      <dgm:prSet presAssocID="{40440350-1B17-435E-B3DB-1863225F5C22}" presName="vertThree" presStyleCnt="0"/>
      <dgm:spPr/>
    </dgm:pt>
    <dgm:pt modelId="{994933C3-6D30-43FE-9B0D-0F13013BFF80}" type="pres">
      <dgm:prSet presAssocID="{40440350-1B17-435E-B3DB-1863225F5C22}" presName="txThree" presStyleLbl="node3" presStyleIdx="3" presStyleCnt="7">
        <dgm:presLayoutVars>
          <dgm:chPref val="3"/>
        </dgm:presLayoutVars>
      </dgm:prSet>
      <dgm:spPr/>
    </dgm:pt>
    <dgm:pt modelId="{E02CD13E-259E-4057-AB85-487952F74A34}" type="pres">
      <dgm:prSet presAssocID="{40440350-1B17-435E-B3DB-1863225F5C22}" presName="parTransThree" presStyleCnt="0"/>
      <dgm:spPr/>
    </dgm:pt>
    <dgm:pt modelId="{ED461173-13BB-4913-A7DC-42088C160593}" type="pres">
      <dgm:prSet presAssocID="{40440350-1B17-435E-B3DB-1863225F5C22}" presName="horzThree" presStyleCnt="0"/>
      <dgm:spPr/>
    </dgm:pt>
    <dgm:pt modelId="{3A9A10EF-D3B8-462C-B764-07F0E04AE111}" type="pres">
      <dgm:prSet presAssocID="{1C776056-69B3-4E55-B4F4-D7893ACE9D98}" presName="vertFour" presStyleCnt="0">
        <dgm:presLayoutVars>
          <dgm:chPref val="3"/>
        </dgm:presLayoutVars>
      </dgm:prSet>
      <dgm:spPr/>
    </dgm:pt>
    <dgm:pt modelId="{6B879074-DDE3-4DF0-B0F1-0DE4E95E238A}" type="pres">
      <dgm:prSet presAssocID="{1C776056-69B3-4E55-B4F4-D7893ACE9D98}" presName="txFour" presStyleLbl="node4" presStyleIdx="1" presStyleCnt="5">
        <dgm:presLayoutVars>
          <dgm:chPref val="3"/>
        </dgm:presLayoutVars>
      </dgm:prSet>
      <dgm:spPr/>
    </dgm:pt>
    <dgm:pt modelId="{80882BF9-FDAF-4E4F-B641-F03F49D62821}" type="pres">
      <dgm:prSet presAssocID="{1C776056-69B3-4E55-B4F4-D7893ACE9D98}" presName="horzFour" presStyleCnt="0"/>
      <dgm:spPr/>
    </dgm:pt>
    <dgm:pt modelId="{92F12DEE-8272-47F5-9B14-4B304CB612E4}" type="pres">
      <dgm:prSet presAssocID="{E4C61C15-AEB9-4693-A98E-CC6FBA4B47E9}" presName="sibSpaceThree" presStyleCnt="0"/>
      <dgm:spPr/>
    </dgm:pt>
    <dgm:pt modelId="{833E6D56-35AC-4DF8-ABBF-0C1FAE145E38}" type="pres">
      <dgm:prSet presAssocID="{87296CC8-AA21-4015-8588-A1ECCE40E350}" presName="vertThree" presStyleCnt="0"/>
      <dgm:spPr/>
    </dgm:pt>
    <dgm:pt modelId="{45EC43A5-C204-497B-94E8-6C64516304DE}" type="pres">
      <dgm:prSet presAssocID="{87296CC8-AA21-4015-8588-A1ECCE40E350}" presName="txThree" presStyleLbl="node3" presStyleIdx="4" presStyleCnt="7">
        <dgm:presLayoutVars>
          <dgm:chPref val="3"/>
        </dgm:presLayoutVars>
      </dgm:prSet>
      <dgm:spPr/>
    </dgm:pt>
    <dgm:pt modelId="{F40422C1-4D69-474E-9E59-84F970E0BAC0}" type="pres">
      <dgm:prSet presAssocID="{87296CC8-AA21-4015-8588-A1ECCE40E350}" presName="parTransThree" presStyleCnt="0"/>
      <dgm:spPr/>
    </dgm:pt>
    <dgm:pt modelId="{FA003C49-C405-4B07-B8BC-BE598FAAE956}" type="pres">
      <dgm:prSet presAssocID="{87296CC8-AA21-4015-8588-A1ECCE40E350}" presName="horzThree" presStyleCnt="0"/>
      <dgm:spPr/>
    </dgm:pt>
    <dgm:pt modelId="{C1212626-189E-46EF-8F31-0FF5F00AAE6C}" type="pres">
      <dgm:prSet presAssocID="{8B6E4201-EC49-456F-81BE-67ACDACCFC45}" presName="vertFour" presStyleCnt="0">
        <dgm:presLayoutVars>
          <dgm:chPref val="3"/>
        </dgm:presLayoutVars>
      </dgm:prSet>
      <dgm:spPr/>
    </dgm:pt>
    <dgm:pt modelId="{08D16AFF-F498-41DD-B208-04F503BDA01F}" type="pres">
      <dgm:prSet presAssocID="{8B6E4201-EC49-456F-81BE-67ACDACCFC45}" presName="txFour" presStyleLbl="node4" presStyleIdx="2" presStyleCnt="5">
        <dgm:presLayoutVars>
          <dgm:chPref val="3"/>
        </dgm:presLayoutVars>
      </dgm:prSet>
      <dgm:spPr/>
    </dgm:pt>
    <dgm:pt modelId="{70AA8A03-F935-4CA8-916B-593A84E35833}" type="pres">
      <dgm:prSet presAssocID="{8B6E4201-EC49-456F-81BE-67ACDACCFC45}" presName="horzFour" presStyleCnt="0"/>
      <dgm:spPr/>
    </dgm:pt>
    <dgm:pt modelId="{7BF2A023-D951-4105-9BD5-DD0C2FBD05DB}" type="pres">
      <dgm:prSet presAssocID="{561AED14-CFCC-4FD2-9D66-77B842A63702}" presName="sibSpaceTwo" presStyleCnt="0"/>
      <dgm:spPr/>
    </dgm:pt>
    <dgm:pt modelId="{7753FC01-335B-4A12-8230-5BEFCAA72FCA}" type="pres">
      <dgm:prSet presAssocID="{3ACF0BB2-F187-43E5-BAF1-B24845DD7ABE}" presName="vertTwo" presStyleCnt="0"/>
      <dgm:spPr/>
    </dgm:pt>
    <dgm:pt modelId="{71A8AE8D-5AF3-4835-92F9-26C281590A46}" type="pres">
      <dgm:prSet presAssocID="{3ACF0BB2-F187-43E5-BAF1-B24845DD7ABE}" presName="txTwo" presStyleLbl="node2" presStyleIdx="2" presStyleCnt="3" custScaleY="63423">
        <dgm:presLayoutVars>
          <dgm:chPref val="3"/>
        </dgm:presLayoutVars>
      </dgm:prSet>
      <dgm:spPr/>
    </dgm:pt>
    <dgm:pt modelId="{6FCE35C4-1F11-409C-B882-07451B6C82AA}" type="pres">
      <dgm:prSet presAssocID="{3ACF0BB2-F187-43E5-BAF1-B24845DD7ABE}" presName="parTransTwo" presStyleCnt="0"/>
      <dgm:spPr/>
    </dgm:pt>
    <dgm:pt modelId="{7E36DC96-2C10-4ABF-8A30-70EFD7AEA11B}" type="pres">
      <dgm:prSet presAssocID="{3ACF0BB2-F187-43E5-BAF1-B24845DD7ABE}" presName="horzTwo" presStyleCnt="0"/>
      <dgm:spPr/>
    </dgm:pt>
    <dgm:pt modelId="{FADEA2F8-3DDC-4E22-8167-8E701546DECB}" type="pres">
      <dgm:prSet presAssocID="{A51FFCB4-6E9F-42B8-81D0-4BFC59A513D4}" presName="vertThree" presStyleCnt="0"/>
      <dgm:spPr/>
    </dgm:pt>
    <dgm:pt modelId="{A631A019-4063-4B13-AC51-D7AC3E712D5B}" type="pres">
      <dgm:prSet presAssocID="{A51FFCB4-6E9F-42B8-81D0-4BFC59A513D4}" presName="txThree" presStyleLbl="node3" presStyleIdx="5" presStyleCnt="7">
        <dgm:presLayoutVars>
          <dgm:chPref val="3"/>
        </dgm:presLayoutVars>
      </dgm:prSet>
      <dgm:spPr/>
    </dgm:pt>
    <dgm:pt modelId="{34084218-2599-4A80-9979-91BC526C2B25}" type="pres">
      <dgm:prSet presAssocID="{A51FFCB4-6E9F-42B8-81D0-4BFC59A513D4}" presName="parTransThree" presStyleCnt="0"/>
      <dgm:spPr/>
    </dgm:pt>
    <dgm:pt modelId="{9D04E844-12C2-4A5A-848A-852B5A0986E1}" type="pres">
      <dgm:prSet presAssocID="{A51FFCB4-6E9F-42B8-81D0-4BFC59A513D4}" presName="horzThree" presStyleCnt="0"/>
      <dgm:spPr/>
    </dgm:pt>
    <dgm:pt modelId="{2E05F78E-FE58-47EB-9FAF-121F20C329C7}" type="pres">
      <dgm:prSet presAssocID="{8E8692BA-E3F9-4968-A1B1-8AFE84CE28A6}" presName="vertFour" presStyleCnt="0">
        <dgm:presLayoutVars>
          <dgm:chPref val="3"/>
        </dgm:presLayoutVars>
      </dgm:prSet>
      <dgm:spPr/>
    </dgm:pt>
    <dgm:pt modelId="{3F6EDBC3-EE36-4102-AF75-A2791E2B394D}" type="pres">
      <dgm:prSet presAssocID="{8E8692BA-E3F9-4968-A1B1-8AFE84CE28A6}" presName="txFour" presStyleLbl="node4" presStyleIdx="3" presStyleCnt="5">
        <dgm:presLayoutVars>
          <dgm:chPref val="3"/>
        </dgm:presLayoutVars>
      </dgm:prSet>
      <dgm:spPr/>
    </dgm:pt>
    <dgm:pt modelId="{0914FBBC-5749-4469-901D-F01B0F5FC2EC}" type="pres">
      <dgm:prSet presAssocID="{8E8692BA-E3F9-4968-A1B1-8AFE84CE28A6}" presName="horzFour" presStyleCnt="0"/>
      <dgm:spPr/>
    </dgm:pt>
    <dgm:pt modelId="{C4AD457E-2A0F-4131-A4C1-DECDA67D6F9A}" type="pres">
      <dgm:prSet presAssocID="{6C1AD649-ADD5-430F-940E-BF23FEF3273A}" presName="sibSpaceThree" presStyleCnt="0"/>
      <dgm:spPr/>
    </dgm:pt>
    <dgm:pt modelId="{EE358B9E-9F23-42A5-8276-4368CDAE33AA}" type="pres">
      <dgm:prSet presAssocID="{55BCF74F-F485-4D93-B77E-DA6D04C08876}" presName="vertThree" presStyleCnt="0"/>
      <dgm:spPr/>
    </dgm:pt>
    <dgm:pt modelId="{857F42C3-7412-49EC-A98C-9447DD3F6C19}" type="pres">
      <dgm:prSet presAssocID="{55BCF74F-F485-4D93-B77E-DA6D04C08876}" presName="txThree" presStyleLbl="node3" presStyleIdx="6" presStyleCnt="7">
        <dgm:presLayoutVars>
          <dgm:chPref val="3"/>
        </dgm:presLayoutVars>
      </dgm:prSet>
      <dgm:spPr/>
    </dgm:pt>
    <dgm:pt modelId="{96F29463-7F58-480D-B35C-166ABDF74C13}" type="pres">
      <dgm:prSet presAssocID="{55BCF74F-F485-4D93-B77E-DA6D04C08876}" presName="parTransThree" presStyleCnt="0"/>
      <dgm:spPr/>
    </dgm:pt>
    <dgm:pt modelId="{DF617C4C-EFDC-4492-A697-FEC0B84AC0FB}" type="pres">
      <dgm:prSet presAssocID="{55BCF74F-F485-4D93-B77E-DA6D04C08876}" presName="horzThree" presStyleCnt="0"/>
      <dgm:spPr/>
    </dgm:pt>
    <dgm:pt modelId="{47987553-9233-4D1B-8E16-7B6475EC6A91}" type="pres">
      <dgm:prSet presAssocID="{3C4AD663-B2EB-4D7A-A4FB-32F37768589B}" presName="vertFour" presStyleCnt="0">
        <dgm:presLayoutVars>
          <dgm:chPref val="3"/>
        </dgm:presLayoutVars>
      </dgm:prSet>
      <dgm:spPr/>
    </dgm:pt>
    <dgm:pt modelId="{696A2DF8-1BA3-4401-94C0-1D5D3E0E0208}" type="pres">
      <dgm:prSet presAssocID="{3C4AD663-B2EB-4D7A-A4FB-32F37768589B}" presName="txFour" presStyleLbl="node4" presStyleIdx="4" presStyleCnt="5">
        <dgm:presLayoutVars>
          <dgm:chPref val="3"/>
        </dgm:presLayoutVars>
      </dgm:prSet>
      <dgm:spPr/>
    </dgm:pt>
    <dgm:pt modelId="{9E941F33-19CE-480A-8825-58509653D7E6}" type="pres">
      <dgm:prSet presAssocID="{3C4AD663-B2EB-4D7A-A4FB-32F37768589B}" presName="horzFour" presStyleCnt="0"/>
      <dgm:spPr/>
    </dgm:pt>
  </dgm:ptLst>
  <dgm:cxnLst>
    <dgm:cxn modelId="{3FD92B02-3192-462F-A9D2-A47A3F889AC8}" srcId="{40440350-1B17-435E-B3DB-1863225F5C22}" destId="{1C776056-69B3-4E55-B4F4-D7893ACE9D98}" srcOrd="0" destOrd="0" parTransId="{87A4F392-D48D-4CC9-8D3A-A8C084C5BFB1}" sibTransId="{417E27DE-CE7A-4DD6-A7D6-DC7588B3E631}"/>
    <dgm:cxn modelId="{B293FA04-9EB4-40DA-B7B4-05C45A693C02}" srcId="{A5647199-E4F0-4BCC-AE86-B438D1C48525}" destId="{AC87A34A-56C3-46D5-8046-B4EC916D08CB}" srcOrd="1" destOrd="0" parTransId="{E8A3BCDE-6671-4045-A143-031D66D2A237}" sibTransId="{5A4B510A-F9CD-44B1-A40A-0A3707C2F88E}"/>
    <dgm:cxn modelId="{BC481D06-C2EA-46B7-B64D-84DD14B93641}" type="presOf" srcId="{AC87A34A-56C3-46D5-8046-B4EC916D08CB}" destId="{CE5142CB-0371-4C9A-89CD-C671286AA170}" srcOrd="0" destOrd="0" presId="urn:microsoft.com/office/officeart/2005/8/layout/hierarchy4"/>
    <dgm:cxn modelId="{B61A250C-D4E6-4CDD-816E-453E58ADDC8B}" srcId="{C9A01815-B17B-4E08-B66B-30B82E334495}" destId="{87296CC8-AA21-4015-8588-A1ECCE40E350}" srcOrd="2" destOrd="0" parTransId="{D01035FA-F290-4697-B2FF-1A21BCCF4661}" sibTransId="{3F8E3C11-F7DF-4A16-94FE-49C6C5A34B9B}"/>
    <dgm:cxn modelId="{A5D77322-7C7A-4283-9C51-4439150D21C5}" type="presOf" srcId="{3E2000A3-C7A7-45BB-BEC8-D3DD8024354C}" destId="{E3133CF3-25CB-4C41-9206-999DD3932DC4}" srcOrd="0" destOrd="0" presId="urn:microsoft.com/office/officeart/2005/8/layout/hierarchy4"/>
    <dgm:cxn modelId="{46E9422B-90B4-4B65-95FB-A109631F01DE}" type="presOf" srcId="{3C4AD663-B2EB-4D7A-A4FB-32F37768589B}" destId="{696A2DF8-1BA3-4401-94C0-1D5D3E0E0208}" srcOrd="0" destOrd="0" presId="urn:microsoft.com/office/officeart/2005/8/layout/hierarchy4"/>
    <dgm:cxn modelId="{0BB2492C-82C1-4F79-AA07-2558A3130288}" srcId="{00CD1CC9-E50A-41F8-B704-0036D71A81E2}" destId="{3ACF0BB2-F187-43E5-BAF1-B24845DD7ABE}" srcOrd="2" destOrd="0" parTransId="{D080AC42-0AB5-48A9-931B-EC3AF9D584E1}" sibTransId="{D3D589E2-DA2B-430C-8A70-ED99616B9848}"/>
    <dgm:cxn modelId="{B08AD32C-7511-4F3F-94FE-8C3B1F4505E8}" type="presOf" srcId="{C9A01815-B17B-4E08-B66B-30B82E334495}" destId="{30CC629E-DCFF-444A-A75B-73B93688C0AA}" srcOrd="0" destOrd="0" presId="urn:microsoft.com/office/officeart/2005/8/layout/hierarchy4"/>
    <dgm:cxn modelId="{845B343A-157C-4A31-8D62-D0B7D74DAD40}" type="presOf" srcId="{A5647199-E4F0-4BCC-AE86-B438D1C48525}" destId="{F7197D3E-16D5-4FBD-94C4-69633173AC4D}" srcOrd="0" destOrd="0" presId="urn:microsoft.com/office/officeart/2005/8/layout/hierarchy4"/>
    <dgm:cxn modelId="{DB7AB63C-907E-449A-A557-FE7BAE9EE8A8}" type="presOf" srcId="{8E8692BA-E3F9-4968-A1B1-8AFE84CE28A6}" destId="{3F6EDBC3-EE36-4102-AF75-A2791E2B394D}" srcOrd="0" destOrd="0" presId="urn:microsoft.com/office/officeart/2005/8/layout/hierarchy4"/>
    <dgm:cxn modelId="{286CCB3C-4416-42FA-9956-028A0242BA67}" srcId="{3ACF0BB2-F187-43E5-BAF1-B24845DD7ABE}" destId="{55BCF74F-F485-4D93-B77E-DA6D04C08876}" srcOrd="1" destOrd="0" parTransId="{BECC99D2-BD1D-4935-995F-01A6D05510BE}" sibTransId="{EE115679-7126-4440-B69E-9F92F12082E4}"/>
    <dgm:cxn modelId="{95C70248-20C9-4A86-9A69-CB3EF18F83F2}" type="presOf" srcId="{87296CC8-AA21-4015-8588-A1ECCE40E350}" destId="{45EC43A5-C204-497B-94E8-6C64516304DE}" srcOrd="0" destOrd="0" presId="urn:microsoft.com/office/officeart/2005/8/layout/hierarchy4"/>
    <dgm:cxn modelId="{C116FE4B-FBF0-4387-81E1-73E3EEA5B1F2}" type="presOf" srcId="{8B6E4201-EC49-456F-81BE-67ACDACCFC45}" destId="{08D16AFF-F498-41DD-B208-04F503BDA01F}" srcOrd="0" destOrd="0" presId="urn:microsoft.com/office/officeart/2005/8/layout/hierarchy4"/>
    <dgm:cxn modelId="{8F5DD54C-B0E5-41C0-B0B9-52230F2EDBFE}" type="presOf" srcId="{A3A48F65-3213-4850-B44E-932D7553491F}" destId="{5BAD3AA8-E45B-489E-955C-BE60D0DC2517}" srcOrd="0" destOrd="0" presId="urn:microsoft.com/office/officeart/2005/8/layout/hierarchy4"/>
    <dgm:cxn modelId="{75CB4163-4336-46D2-8DAF-D738850F0469}" type="presOf" srcId="{3ACF0BB2-F187-43E5-BAF1-B24845DD7ABE}" destId="{71A8AE8D-5AF3-4835-92F9-26C281590A46}" srcOrd="0" destOrd="0" presId="urn:microsoft.com/office/officeart/2005/8/layout/hierarchy4"/>
    <dgm:cxn modelId="{EF0A4964-BA66-4148-AD3F-32DA0BD16ED1}" type="presOf" srcId="{A51FFCB4-6E9F-42B8-81D0-4BFC59A513D4}" destId="{A631A019-4063-4B13-AC51-D7AC3E712D5B}" srcOrd="0" destOrd="0" presId="urn:microsoft.com/office/officeart/2005/8/layout/hierarchy4"/>
    <dgm:cxn modelId="{00425065-17D6-4687-A190-606AA6F60654}" srcId="{C9A01815-B17B-4E08-B66B-30B82E334495}" destId="{A3A48F65-3213-4850-B44E-932D7553491F}" srcOrd="0" destOrd="0" parTransId="{E5EF676B-3F60-4F36-BE74-D638F092EE2C}" sibTransId="{6E9A0B33-5ED3-4724-8AD4-4B0857CAB90D}"/>
    <dgm:cxn modelId="{EF6AF46D-C29F-441A-BF57-8119D035F083}" srcId="{C9A01815-B17B-4E08-B66B-30B82E334495}" destId="{40440350-1B17-435E-B3DB-1863225F5C22}" srcOrd="1" destOrd="0" parTransId="{61300E96-7810-4C94-AD9E-BCB8BD36F872}" sibTransId="{E4C61C15-AEB9-4693-A98E-CC6FBA4B47E9}"/>
    <dgm:cxn modelId="{17258978-B7F6-48F7-93C2-84FBA1FAF8E4}" srcId="{87296CC8-AA21-4015-8588-A1ECCE40E350}" destId="{8B6E4201-EC49-456F-81BE-67ACDACCFC45}" srcOrd="0" destOrd="0" parTransId="{19F4FF33-720F-4387-976E-3092EB20D106}" sibTransId="{F1C61B29-0DA7-4A9A-BC32-3A1CFCAAFF70}"/>
    <dgm:cxn modelId="{3B1F0C7A-F431-486A-9166-5BEFD57CDA26}" srcId="{3ACF0BB2-F187-43E5-BAF1-B24845DD7ABE}" destId="{A51FFCB4-6E9F-42B8-81D0-4BFC59A513D4}" srcOrd="0" destOrd="0" parTransId="{7094DD18-240F-4E95-A327-EDAC891F3CC8}" sibTransId="{6C1AD649-ADD5-430F-940E-BF23FEF3273A}"/>
    <dgm:cxn modelId="{714EB89F-A677-4D74-BA57-FE8C18B82286}" srcId="{A51FFCB4-6E9F-42B8-81D0-4BFC59A513D4}" destId="{8E8692BA-E3F9-4968-A1B1-8AFE84CE28A6}" srcOrd="0" destOrd="0" parTransId="{D1341B41-E75B-4F27-8F7C-C891755F2783}" sibTransId="{DA6CCAEC-2A52-4800-8E8D-1085DE4BDC91}"/>
    <dgm:cxn modelId="{B3A026A0-DDD7-4E27-B74C-28A04F4C64BC}" type="presOf" srcId="{55BCF74F-F485-4D93-B77E-DA6D04C08876}" destId="{857F42C3-7412-49EC-A98C-9447DD3F6C19}" srcOrd="0" destOrd="0" presId="urn:microsoft.com/office/officeart/2005/8/layout/hierarchy4"/>
    <dgm:cxn modelId="{D5EEB8A2-C7C3-4ED5-8DB7-DFEA2A964FC9}" type="presOf" srcId="{EC2E3947-495A-497F-9862-082AFD17542B}" destId="{1B08FBB4-A4BA-4A01-9EF6-82E8D242DA30}" srcOrd="0" destOrd="0" presId="urn:microsoft.com/office/officeart/2005/8/layout/hierarchy4"/>
    <dgm:cxn modelId="{48DCDFA2-03BC-4939-9E1B-711869FD1DE9}" srcId="{00CD1CC9-E50A-41F8-B704-0036D71A81E2}" destId="{A5647199-E4F0-4BCC-AE86-B438D1C48525}" srcOrd="0" destOrd="0" parTransId="{20436DFD-081E-4174-8059-BC0830F1B73F}" sibTransId="{A35A10ED-D488-4279-8AAA-156AF51E9852}"/>
    <dgm:cxn modelId="{937EA9AB-80FD-4D21-951E-26BE5559F61B}" srcId="{A3A48F65-3213-4850-B44E-932D7553491F}" destId="{68B26A60-1D22-450E-A696-1608DC6204DF}" srcOrd="0" destOrd="0" parTransId="{66A9A280-B663-4E3E-BC04-593031D97367}" sibTransId="{686B1847-B7FB-47FB-8D48-B50F04FE161B}"/>
    <dgm:cxn modelId="{8A23F3B9-057B-4DD9-82F1-416DCC791319}" type="presOf" srcId="{1C776056-69B3-4E55-B4F4-D7893ACE9D98}" destId="{6B879074-DDE3-4DF0-B0F1-0DE4E95E238A}" srcOrd="0" destOrd="0" presId="urn:microsoft.com/office/officeart/2005/8/layout/hierarchy4"/>
    <dgm:cxn modelId="{CCD4A7D5-406B-4AA6-87D0-A689AF9DB386}" srcId="{A5647199-E4F0-4BCC-AE86-B438D1C48525}" destId="{3E2000A3-C7A7-45BB-BEC8-D3DD8024354C}" srcOrd="0" destOrd="0" parTransId="{DAD0ACE9-0372-4A58-836B-5E56959FA7B6}" sibTransId="{E39B2F67-6F92-4609-BB6A-F4A554571189}"/>
    <dgm:cxn modelId="{51BEFDD6-05C4-4871-A3C9-B900C36424E9}" type="presOf" srcId="{40440350-1B17-435E-B3DB-1863225F5C22}" destId="{994933C3-6D30-43FE-9B0D-0F13013BFF80}" srcOrd="0" destOrd="0" presId="urn:microsoft.com/office/officeart/2005/8/layout/hierarchy4"/>
    <dgm:cxn modelId="{A3EDB1D9-8728-4F04-ACFB-20BDFC4BF9F8}" type="presOf" srcId="{00CD1CC9-E50A-41F8-B704-0036D71A81E2}" destId="{C1DAC5D5-3BC1-47AE-B567-054E17321B20}" srcOrd="0" destOrd="0" presId="urn:microsoft.com/office/officeart/2005/8/layout/hierarchy4"/>
    <dgm:cxn modelId="{2E0DBCDB-5A7C-4984-AD21-71417B95CA9E}" srcId="{00CD1CC9-E50A-41F8-B704-0036D71A81E2}" destId="{C9A01815-B17B-4E08-B66B-30B82E334495}" srcOrd="1" destOrd="0" parTransId="{B07C51BE-E03F-4837-912D-C978CB252F26}" sibTransId="{561AED14-CFCC-4FD2-9D66-77B842A63702}"/>
    <dgm:cxn modelId="{E1AD51E9-9516-4494-8459-90A3915B8975}" type="presOf" srcId="{68B26A60-1D22-450E-A696-1608DC6204DF}" destId="{524D9C8F-E57F-47F3-9647-253C3CA6D9FE}" srcOrd="0" destOrd="0" presId="urn:microsoft.com/office/officeart/2005/8/layout/hierarchy4"/>
    <dgm:cxn modelId="{3DDF15F0-B848-4D07-9242-3B46E3B47603}" srcId="{EC2E3947-495A-497F-9862-082AFD17542B}" destId="{00CD1CC9-E50A-41F8-B704-0036D71A81E2}" srcOrd="0" destOrd="0" parTransId="{5DAA8A31-6089-4656-A688-9E2AA60125EC}" sibTransId="{81E9ECA7-8085-4C9F-9ED5-96BDF0E07D78}"/>
    <dgm:cxn modelId="{F33D61F0-0552-498D-BE0B-B3AAE9B3A598}" srcId="{55BCF74F-F485-4D93-B77E-DA6D04C08876}" destId="{3C4AD663-B2EB-4D7A-A4FB-32F37768589B}" srcOrd="0" destOrd="0" parTransId="{B98FCD8F-552C-46B4-B629-35E412922509}" sibTransId="{21082D2D-66C2-48BA-A7AA-E596B555BB42}"/>
    <dgm:cxn modelId="{E7EFACFE-EC8F-4DF8-9680-89E0A395D2CA}" type="presParOf" srcId="{1B08FBB4-A4BA-4A01-9EF6-82E8D242DA30}" destId="{964DF897-2DF1-46E1-A5AE-E397C5BA618F}" srcOrd="0" destOrd="0" presId="urn:microsoft.com/office/officeart/2005/8/layout/hierarchy4"/>
    <dgm:cxn modelId="{939F6E00-56D9-471F-B67F-C94993FA505A}" type="presParOf" srcId="{964DF897-2DF1-46E1-A5AE-E397C5BA618F}" destId="{C1DAC5D5-3BC1-47AE-B567-054E17321B20}" srcOrd="0" destOrd="0" presId="urn:microsoft.com/office/officeart/2005/8/layout/hierarchy4"/>
    <dgm:cxn modelId="{84BDB7F2-3123-49F0-9CFE-8E8ACF558369}" type="presParOf" srcId="{964DF897-2DF1-46E1-A5AE-E397C5BA618F}" destId="{36B36DD8-D120-490A-8E5A-FAB1FBE9A9CC}" srcOrd="1" destOrd="0" presId="urn:microsoft.com/office/officeart/2005/8/layout/hierarchy4"/>
    <dgm:cxn modelId="{D9B5BF40-8CC8-41C0-9E30-953E6D02FBF8}" type="presParOf" srcId="{964DF897-2DF1-46E1-A5AE-E397C5BA618F}" destId="{A8327C45-6075-4A92-A5D2-BB2449D7F305}" srcOrd="2" destOrd="0" presId="urn:microsoft.com/office/officeart/2005/8/layout/hierarchy4"/>
    <dgm:cxn modelId="{A71B1AEF-1FCF-4A24-B349-4383E8B58445}" type="presParOf" srcId="{A8327C45-6075-4A92-A5D2-BB2449D7F305}" destId="{5F73D29C-A5BE-4558-913B-05C6F28FF928}" srcOrd="0" destOrd="0" presId="urn:microsoft.com/office/officeart/2005/8/layout/hierarchy4"/>
    <dgm:cxn modelId="{F6CC4691-3DEC-49EB-AD7B-CFE2971D10E3}" type="presParOf" srcId="{5F73D29C-A5BE-4558-913B-05C6F28FF928}" destId="{F7197D3E-16D5-4FBD-94C4-69633173AC4D}" srcOrd="0" destOrd="0" presId="urn:microsoft.com/office/officeart/2005/8/layout/hierarchy4"/>
    <dgm:cxn modelId="{7C7A2B47-FD0E-4965-8341-652759FAC77F}" type="presParOf" srcId="{5F73D29C-A5BE-4558-913B-05C6F28FF928}" destId="{3474A9EC-40A2-47BF-B8CB-210FDF52D8BB}" srcOrd="1" destOrd="0" presId="urn:microsoft.com/office/officeart/2005/8/layout/hierarchy4"/>
    <dgm:cxn modelId="{81EDAC89-E7AB-49A8-97F4-BE0F94B6F201}" type="presParOf" srcId="{5F73D29C-A5BE-4558-913B-05C6F28FF928}" destId="{75528CCD-EB6F-49B3-920B-A3B47EB43037}" srcOrd="2" destOrd="0" presId="urn:microsoft.com/office/officeart/2005/8/layout/hierarchy4"/>
    <dgm:cxn modelId="{5B8F04C3-86F0-4221-B67E-56352680C19F}" type="presParOf" srcId="{75528CCD-EB6F-49B3-920B-A3B47EB43037}" destId="{8DF05D8B-710A-4267-8418-F08E9917B0C3}" srcOrd="0" destOrd="0" presId="urn:microsoft.com/office/officeart/2005/8/layout/hierarchy4"/>
    <dgm:cxn modelId="{C6EF2B3B-227B-4E31-A050-2B6A4BAC6585}" type="presParOf" srcId="{8DF05D8B-710A-4267-8418-F08E9917B0C3}" destId="{E3133CF3-25CB-4C41-9206-999DD3932DC4}" srcOrd="0" destOrd="0" presId="urn:microsoft.com/office/officeart/2005/8/layout/hierarchy4"/>
    <dgm:cxn modelId="{1F8946B8-03C8-44CA-AE56-BC093CA8D5CE}" type="presParOf" srcId="{8DF05D8B-710A-4267-8418-F08E9917B0C3}" destId="{A31B072E-747B-41EB-AB8E-3211EF1CB59A}" srcOrd="1" destOrd="0" presId="urn:microsoft.com/office/officeart/2005/8/layout/hierarchy4"/>
    <dgm:cxn modelId="{6C48E998-F39B-4023-9AED-C066E6B05AEA}" type="presParOf" srcId="{75528CCD-EB6F-49B3-920B-A3B47EB43037}" destId="{3F9D4D97-90A7-4574-8684-D1EB6D685AEF}" srcOrd="1" destOrd="0" presId="urn:microsoft.com/office/officeart/2005/8/layout/hierarchy4"/>
    <dgm:cxn modelId="{68617972-743F-42E6-8881-C3D12EC938B1}" type="presParOf" srcId="{75528CCD-EB6F-49B3-920B-A3B47EB43037}" destId="{BB2E043D-737F-45CF-A920-AB8BA611E649}" srcOrd="2" destOrd="0" presId="urn:microsoft.com/office/officeart/2005/8/layout/hierarchy4"/>
    <dgm:cxn modelId="{7384CAC6-458C-4AE2-A13F-DA74DBDB83D7}" type="presParOf" srcId="{BB2E043D-737F-45CF-A920-AB8BA611E649}" destId="{CE5142CB-0371-4C9A-89CD-C671286AA170}" srcOrd="0" destOrd="0" presId="urn:microsoft.com/office/officeart/2005/8/layout/hierarchy4"/>
    <dgm:cxn modelId="{6896B206-9817-40EB-A62D-2C25F45F1887}" type="presParOf" srcId="{BB2E043D-737F-45CF-A920-AB8BA611E649}" destId="{8A7DA9F9-F7BE-4C29-B03D-020C570AF4F8}" srcOrd="1" destOrd="0" presId="urn:microsoft.com/office/officeart/2005/8/layout/hierarchy4"/>
    <dgm:cxn modelId="{4D74D9AB-E7E6-4717-840C-92906B319852}" type="presParOf" srcId="{A8327C45-6075-4A92-A5D2-BB2449D7F305}" destId="{6A18ED62-6B97-4189-AF95-2887289DB16C}" srcOrd="1" destOrd="0" presId="urn:microsoft.com/office/officeart/2005/8/layout/hierarchy4"/>
    <dgm:cxn modelId="{87136CD8-AFAF-484F-A886-134AB4CFE3AB}" type="presParOf" srcId="{A8327C45-6075-4A92-A5D2-BB2449D7F305}" destId="{9605A24D-89AE-49D4-9C9B-E3CA67FBFBD0}" srcOrd="2" destOrd="0" presId="urn:microsoft.com/office/officeart/2005/8/layout/hierarchy4"/>
    <dgm:cxn modelId="{14AEF248-7199-43DA-BA4D-658762709D90}" type="presParOf" srcId="{9605A24D-89AE-49D4-9C9B-E3CA67FBFBD0}" destId="{30CC629E-DCFF-444A-A75B-73B93688C0AA}" srcOrd="0" destOrd="0" presId="urn:microsoft.com/office/officeart/2005/8/layout/hierarchy4"/>
    <dgm:cxn modelId="{8C35C1AD-396F-4716-B948-472D8D0F7EDA}" type="presParOf" srcId="{9605A24D-89AE-49D4-9C9B-E3CA67FBFBD0}" destId="{F6B977E7-0A12-45E8-8F48-1FCE56C9456F}" srcOrd="1" destOrd="0" presId="urn:microsoft.com/office/officeart/2005/8/layout/hierarchy4"/>
    <dgm:cxn modelId="{69633CF4-6C03-4DB7-96E2-6C03ECDF8064}" type="presParOf" srcId="{9605A24D-89AE-49D4-9C9B-E3CA67FBFBD0}" destId="{8BAE0B8A-3783-442F-9993-94101F614022}" srcOrd="2" destOrd="0" presId="urn:microsoft.com/office/officeart/2005/8/layout/hierarchy4"/>
    <dgm:cxn modelId="{D3D29705-2369-4BAC-995A-B8012D7D97F0}" type="presParOf" srcId="{8BAE0B8A-3783-442F-9993-94101F614022}" destId="{A9065F09-9129-4BCE-AE21-C8BAD2AB601E}" srcOrd="0" destOrd="0" presId="urn:microsoft.com/office/officeart/2005/8/layout/hierarchy4"/>
    <dgm:cxn modelId="{32CC6B0E-833B-4057-AF26-73174D75D463}" type="presParOf" srcId="{A9065F09-9129-4BCE-AE21-C8BAD2AB601E}" destId="{5BAD3AA8-E45B-489E-955C-BE60D0DC2517}" srcOrd="0" destOrd="0" presId="urn:microsoft.com/office/officeart/2005/8/layout/hierarchy4"/>
    <dgm:cxn modelId="{3C740151-7664-449F-9D91-B4E59DE807C4}" type="presParOf" srcId="{A9065F09-9129-4BCE-AE21-C8BAD2AB601E}" destId="{35BE7E51-5F02-4CF0-90EF-4C12E8905842}" srcOrd="1" destOrd="0" presId="urn:microsoft.com/office/officeart/2005/8/layout/hierarchy4"/>
    <dgm:cxn modelId="{F0E07A29-0969-48C2-A900-1EFE1FE9337F}" type="presParOf" srcId="{A9065F09-9129-4BCE-AE21-C8BAD2AB601E}" destId="{F22E54EB-5366-4CEF-A41B-29610C537D9D}" srcOrd="2" destOrd="0" presId="urn:microsoft.com/office/officeart/2005/8/layout/hierarchy4"/>
    <dgm:cxn modelId="{75559BEB-B6B8-4AE2-8A85-557240E613BA}" type="presParOf" srcId="{F22E54EB-5366-4CEF-A41B-29610C537D9D}" destId="{7AF10AC4-D1A3-4DAE-AB52-46218C5EA194}" srcOrd="0" destOrd="0" presId="urn:microsoft.com/office/officeart/2005/8/layout/hierarchy4"/>
    <dgm:cxn modelId="{A006AC31-0A31-48BE-BCD6-21592CDA8F08}" type="presParOf" srcId="{7AF10AC4-D1A3-4DAE-AB52-46218C5EA194}" destId="{524D9C8F-E57F-47F3-9647-253C3CA6D9FE}" srcOrd="0" destOrd="0" presId="urn:microsoft.com/office/officeart/2005/8/layout/hierarchy4"/>
    <dgm:cxn modelId="{2314C764-B71D-4B90-A404-F35D03433EAC}" type="presParOf" srcId="{7AF10AC4-D1A3-4DAE-AB52-46218C5EA194}" destId="{098A2AD1-5EC5-449D-ACE4-22686AADD1DB}" srcOrd="1" destOrd="0" presId="urn:microsoft.com/office/officeart/2005/8/layout/hierarchy4"/>
    <dgm:cxn modelId="{DD9A02CA-7DFA-43C0-9914-7C7F08341FA8}" type="presParOf" srcId="{8BAE0B8A-3783-442F-9993-94101F614022}" destId="{B2BD0DA8-7839-43C7-A1E3-2581362339DE}" srcOrd="1" destOrd="0" presId="urn:microsoft.com/office/officeart/2005/8/layout/hierarchy4"/>
    <dgm:cxn modelId="{7F2BC836-6176-483C-92B6-99225A0D4A99}" type="presParOf" srcId="{8BAE0B8A-3783-442F-9993-94101F614022}" destId="{EF3EE5D4-64B1-4B3B-8DE7-DEEDA68F692A}" srcOrd="2" destOrd="0" presId="urn:microsoft.com/office/officeart/2005/8/layout/hierarchy4"/>
    <dgm:cxn modelId="{23CC9C94-C851-4FAB-AD9C-C295BBD5003A}" type="presParOf" srcId="{EF3EE5D4-64B1-4B3B-8DE7-DEEDA68F692A}" destId="{994933C3-6D30-43FE-9B0D-0F13013BFF80}" srcOrd="0" destOrd="0" presId="urn:microsoft.com/office/officeart/2005/8/layout/hierarchy4"/>
    <dgm:cxn modelId="{DDAEBF9C-7C84-4426-9AEF-98D7B12705A7}" type="presParOf" srcId="{EF3EE5D4-64B1-4B3B-8DE7-DEEDA68F692A}" destId="{E02CD13E-259E-4057-AB85-487952F74A34}" srcOrd="1" destOrd="0" presId="urn:microsoft.com/office/officeart/2005/8/layout/hierarchy4"/>
    <dgm:cxn modelId="{A2DCDC9D-81A6-4C87-AFCA-7EB4777100F8}" type="presParOf" srcId="{EF3EE5D4-64B1-4B3B-8DE7-DEEDA68F692A}" destId="{ED461173-13BB-4913-A7DC-42088C160593}" srcOrd="2" destOrd="0" presId="urn:microsoft.com/office/officeart/2005/8/layout/hierarchy4"/>
    <dgm:cxn modelId="{164A1B31-E060-4D42-8D81-C55015B29F3A}" type="presParOf" srcId="{ED461173-13BB-4913-A7DC-42088C160593}" destId="{3A9A10EF-D3B8-462C-B764-07F0E04AE111}" srcOrd="0" destOrd="0" presId="urn:microsoft.com/office/officeart/2005/8/layout/hierarchy4"/>
    <dgm:cxn modelId="{AD87065C-E3DC-40C6-BC72-C52CDE1CD3E1}" type="presParOf" srcId="{3A9A10EF-D3B8-462C-B764-07F0E04AE111}" destId="{6B879074-DDE3-4DF0-B0F1-0DE4E95E238A}" srcOrd="0" destOrd="0" presId="urn:microsoft.com/office/officeart/2005/8/layout/hierarchy4"/>
    <dgm:cxn modelId="{32006769-F0DF-4239-B407-BBEBD8FD20EE}" type="presParOf" srcId="{3A9A10EF-D3B8-462C-B764-07F0E04AE111}" destId="{80882BF9-FDAF-4E4F-B641-F03F49D62821}" srcOrd="1" destOrd="0" presId="urn:microsoft.com/office/officeart/2005/8/layout/hierarchy4"/>
    <dgm:cxn modelId="{00F7EB6C-068B-4304-A33C-F5689A6FE041}" type="presParOf" srcId="{8BAE0B8A-3783-442F-9993-94101F614022}" destId="{92F12DEE-8272-47F5-9B14-4B304CB612E4}" srcOrd="3" destOrd="0" presId="urn:microsoft.com/office/officeart/2005/8/layout/hierarchy4"/>
    <dgm:cxn modelId="{856D4366-9518-494E-8C7C-0D638E56E27C}" type="presParOf" srcId="{8BAE0B8A-3783-442F-9993-94101F614022}" destId="{833E6D56-35AC-4DF8-ABBF-0C1FAE145E38}" srcOrd="4" destOrd="0" presId="urn:microsoft.com/office/officeart/2005/8/layout/hierarchy4"/>
    <dgm:cxn modelId="{E5BF66D7-18F9-4BEE-A5FA-3124B8695569}" type="presParOf" srcId="{833E6D56-35AC-4DF8-ABBF-0C1FAE145E38}" destId="{45EC43A5-C204-497B-94E8-6C64516304DE}" srcOrd="0" destOrd="0" presId="urn:microsoft.com/office/officeart/2005/8/layout/hierarchy4"/>
    <dgm:cxn modelId="{14496E63-1794-42F4-B041-917FB5215EB3}" type="presParOf" srcId="{833E6D56-35AC-4DF8-ABBF-0C1FAE145E38}" destId="{F40422C1-4D69-474E-9E59-84F970E0BAC0}" srcOrd="1" destOrd="0" presId="urn:microsoft.com/office/officeart/2005/8/layout/hierarchy4"/>
    <dgm:cxn modelId="{E2EC5C11-5CB1-4AF5-B84E-A80438A51834}" type="presParOf" srcId="{833E6D56-35AC-4DF8-ABBF-0C1FAE145E38}" destId="{FA003C49-C405-4B07-B8BC-BE598FAAE956}" srcOrd="2" destOrd="0" presId="urn:microsoft.com/office/officeart/2005/8/layout/hierarchy4"/>
    <dgm:cxn modelId="{DA85EB17-A23B-4745-8B80-A8B2BF50B203}" type="presParOf" srcId="{FA003C49-C405-4B07-B8BC-BE598FAAE956}" destId="{C1212626-189E-46EF-8F31-0FF5F00AAE6C}" srcOrd="0" destOrd="0" presId="urn:microsoft.com/office/officeart/2005/8/layout/hierarchy4"/>
    <dgm:cxn modelId="{4B48DEC3-5062-44B4-B5EC-68237A05EEFB}" type="presParOf" srcId="{C1212626-189E-46EF-8F31-0FF5F00AAE6C}" destId="{08D16AFF-F498-41DD-B208-04F503BDA01F}" srcOrd="0" destOrd="0" presId="urn:microsoft.com/office/officeart/2005/8/layout/hierarchy4"/>
    <dgm:cxn modelId="{992471C2-A212-4781-84DF-95B187383A3D}" type="presParOf" srcId="{C1212626-189E-46EF-8F31-0FF5F00AAE6C}" destId="{70AA8A03-F935-4CA8-916B-593A84E35833}" srcOrd="1" destOrd="0" presId="urn:microsoft.com/office/officeart/2005/8/layout/hierarchy4"/>
    <dgm:cxn modelId="{E7A0E099-8735-4932-9527-973CA1472FE7}" type="presParOf" srcId="{A8327C45-6075-4A92-A5D2-BB2449D7F305}" destId="{7BF2A023-D951-4105-9BD5-DD0C2FBD05DB}" srcOrd="3" destOrd="0" presId="urn:microsoft.com/office/officeart/2005/8/layout/hierarchy4"/>
    <dgm:cxn modelId="{81E4FCA7-85F6-4E7C-B779-A0588A510509}" type="presParOf" srcId="{A8327C45-6075-4A92-A5D2-BB2449D7F305}" destId="{7753FC01-335B-4A12-8230-5BEFCAA72FCA}" srcOrd="4" destOrd="0" presId="urn:microsoft.com/office/officeart/2005/8/layout/hierarchy4"/>
    <dgm:cxn modelId="{765AF572-291A-4733-97EE-32404663663A}" type="presParOf" srcId="{7753FC01-335B-4A12-8230-5BEFCAA72FCA}" destId="{71A8AE8D-5AF3-4835-92F9-26C281590A46}" srcOrd="0" destOrd="0" presId="urn:microsoft.com/office/officeart/2005/8/layout/hierarchy4"/>
    <dgm:cxn modelId="{7ADF4C06-E47E-4CEC-8A8F-BB8F8989C92E}" type="presParOf" srcId="{7753FC01-335B-4A12-8230-5BEFCAA72FCA}" destId="{6FCE35C4-1F11-409C-B882-07451B6C82AA}" srcOrd="1" destOrd="0" presId="urn:microsoft.com/office/officeart/2005/8/layout/hierarchy4"/>
    <dgm:cxn modelId="{E719A72E-0B1B-4BC4-B8AC-962C1837DCE9}" type="presParOf" srcId="{7753FC01-335B-4A12-8230-5BEFCAA72FCA}" destId="{7E36DC96-2C10-4ABF-8A30-70EFD7AEA11B}" srcOrd="2" destOrd="0" presId="urn:microsoft.com/office/officeart/2005/8/layout/hierarchy4"/>
    <dgm:cxn modelId="{D18C87E5-E3B4-4997-9C64-43EA960D325B}" type="presParOf" srcId="{7E36DC96-2C10-4ABF-8A30-70EFD7AEA11B}" destId="{FADEA2F8-3DDC-4E22-8167-8E701546DECB}" srcOrd="0" destOrd="0" presId="urn:microsoft.com/office/officeart/2005/8/layout/hierarchy4"/>
    <dgm:cxn modelId="{5F1548C4-A4C3-480D-895A-E20DA33F68F9}" type="presParOf" srcId="{FADEA2F8-3DDC-4E22-8167-8E701546DECB}" destId="{A631A019-4063-4B13-AC51-D7AC3E712D5B}" srcOrd="0" destOrd="0" presId="urn:microsoft.com/office/officeart/2005/8/layout/hierarchy4"/>
    <dgm:cxn modelId="{A499E6F7-2F9A-4AA9-9CDD-3A9E8DF52A45}" type="presParOf" srcId="{FADEA2F8-3DDC-4E22-8167-8E701546DECB}" destId="{34084218-2599-4A80-9979-91BC526C2B25}" srcOrd="1" destOrd="0" presId="urn:microsoft.com/office/officeart/2005/8/layout/hierarchy4"/>
    <dgm:cxn modelId="{5738A001-013C-476A-A906-5DBD875D9D86}" type="presParOf" srcId="{FADEA2F8-3DDC-4E22-8167-8E701546DECB}" destId="{9D04E844-12C2-4A5A-848A-852B5A0986E1}" srcOrd="2" destOrd="0" presId="urn:microsoft.com/office/officeart/2005/8/layout/hierarchy4"/>
    <dgm:cxn modelId="{117DD971-4A2D-45C2-AD49-2349BB1082F8}" type="presParOf" srcId="{9D04E844-12C2-4A5A-848A-852B5A0986E1}" destId="{2E05F78E-FE58-47EB-9FAF-121F20C329C7}" srcOrd="0" destOrd="0" presId="urn:microsoft.com/office/officeart/2005/8/layout/hierarchy4"/>
    <dgm:cxn modelId="{F12209CC-9A6E-4F07-9FF1-66A07293A57B}" type="presParOf" srcId="{2E05F78E-FE58-47EB-9FAF-121F20C329C7}" destId="{3F6EDBC3-EE36-4102-AF75-A2791E2B394D}" srcOrd="0" destOrd="0" presId="urn:microsoft.com/office/officeart/2005/8/layout/hierarchy4"/>
    <dgm:cxn modelId="{F18713EA-77BB-4754-A8A4-BE33B5676815}" type="presParOf" srcId="{2E05F78E-FE58-47EB-9FAF-121F20C329C7}" destId="{0914FBBC-5749-4469-901D-F01B0F5FC2EC}" srcOrd="1" destOrd="0" presId="urn:microsoft.com/office/officeart/2005/8/layout/hierarchy4"/>
    <dgm:cxn modelId="{1E3DAFA6-C18D-4B97-B1C5-B46D29D191A6}" type="presParOf" srcId="{7E36DC96-2C10-4ABF-8A30-70EFD7AEA11B}" destId="{C4AD457E-2A0F-4131-A4C1-DECDA67D6F9A}" srcOrd="1" destOrd="0" presId="urn:microsoft.com/office/officeart/2005/8/layout/hierarchy4"/>
    <dgm:cxn modelId="{1B063EF9-80C8-4A20-B6E6-1AAD1C2778EE}" type="presParOf" srcId="{7E36DC96-2C10-4ABF-8A30-70EFD7AEA11B}" destId="{EE358B9E-9F23-42A5-8276-4368CDAE33AA}" srcOrd="2" destOrd="0" presId="urn:microsoft.com/office/officeart/2005/8/layout/hierarchy4"/>
    <dgm:cxn modelId="{6872C953-56F3-482B-B064-08397DCFFCEF}" type="presParOf" srcId="{EE358B9E-9F23-42A5-8276-4368CDAE33AA}" destId="{857F42C3-7412-49EC-A98C-9447DD3F6C19}" srcOrd="0" destOrd="0" presId="urn:microsoft.com/office/officeart/2005/8/layout/hierarchy4"/>
    <dgm:cxn modelId="{2323CC44-2FF1-4890-92BC-7EF8E6FE3494}" type="presParOf" srcId="{EE358B9E-9F23-42A5-8276-4368CDAE33AA}" destId="{96F29463-7F58-480D-B35C-166ABDF74C13}" srcOrd="1" destOrd="0" presId="urn:microsoft.com/office/officeart/2005/8/layout/hierarchy4"/>
    <dgm:cxn modelId="{AD0168F2-A0E6-4F9A-8322-0F23E818A355}" type="presParOf" srcId="{EE358B9E-9F23-42A5-8276-4368CDAE33AA}" destId="{DF617C4C-EFDC-4492-A697-FEC0B84AC0FB}" srcOrd="2" destOrd="0" presId="urn:microsoft.com/office/officeart/2005/8/layout/hierarchy4"/>
    <dgm:cxn modelId="{59EF27E0-1251-4EBD-BDCF-A9743F479C78}" type="presParOf" srcId="{DF617C4C-EFDC-4492-A697-FEC0B84AC0FB}" destId="{47987553-9233-4D1B-8E16-7B6475EC6A91}" srcOrd="0" destOrd="0" presId="urn:microsoft.com/office/officeart/2005/8/layout/hierarchy4"/>
    <dgm:cxn modelId="{74276B78-B6CA-497A-8C0D-DEFD5BAECBC5}" type="presParOf" srcId="{47987553-9233-4D1B-8E16-7B6475EC6A91}" destId="{696A2DF8-1BA3-4401-94C0-1D5D3E0E0208}" srcOrd="0" destOrd="0" presId="urn:microsoft.com/office/officeart/2005/8/layout/hierarchy4"/>
    <dgm:cxn modelId="{200409BC-8BE0-4DCD-BCB8-A29623B278FE}" type="presParOf" srcId="{47987553-9233-4D1B-8E16-7B6475EC6A91}" destId="{9E941F33-19CE-480A-8825-58509653D7E6}" srcOrd="1" destOrd="0" presId="urn:microsoft.com/office/officeart/2005/8/layout/hierarchy4"/>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1DAC5D5-3BC1-47AE-B567-054E17321B20}">
      <dsp:nvSpPr>
        <dsp:cNvPr id="0" name=""/>
        <dsp:cNvSpPr/>
      </dsp:nvSpPr>
      <dsp:spPr>
        <a:xfrm>
          <a:off x="2671" y="1225"/>
          <a:ext cx="8707624" cy="539335"/>
        </a:xfrm>
        <a:prstGeom prst="roundRect">
          <a:avLst>
            <a:gd name="adj" fmla="val 10000"/>
          </a:avLst>
        </a:prstGeom>
        <a:solidFill>
          <a:srgbClr val="DB0613"/>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s-ES" sz="2300" kern="1200" dirty="0"/>
            <a:t>Mapa de Riesgos Operacionales</a:t>
          </a:r>
        </a:p>
      </dsp:txBody>
      <dsp:txXfrm>
        <a:off x="18468" y="17022"/>
        <a:ext cx="8676030" cy="507741"/>
      </dsp:txXfrm>
    </dsp:sp>
    <dsp:sp modelId="{F7197D3E-16D5-4FBD-94C4-69633173AC4D}">
      <dsp:nvSpPr>
        <dsp:cNvPr id="0" name=""/>
        <dsp:cNvSpPr/>
      </dsp:nvSpPr>
      <dsp:spPr>
        <a:xfrm>
          <a:off x="11171" y="690179"/>
          <a:ext cx="2419064" cy="1057878"/>
        </a:xfrm>
        <a:prstGeom prst="roundRect">
          <a:avLst>
            <a:gd name="adj" fmla="val 10000"/>
          </a:avLst>
        </a:prstGeom>
        <a:solidFill>
          <a:srgbClr val="DB0613"/>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s-ES" sz="2000" kern="1200" dirty="0"/>
            <a:t>Inventario de Riesgos Operacionales y Controles</a:t>
          </a:r>
        </a:p>
      </dsp:txBody>
      <dsp:txXfrm>
        <a:off x="42155" y="721163"/>
        <a:ext cx="2357096" cy="995910"/>
      </dsp:txXfrm>
    </dsp:sp>
    <dsp:sp modelId="{E3133CF3-25CB-4C41-9206-999DD3932DC4}">
      <dsp:nvSpPr>
        <dsp:cNvPr id="0" name=""/>
        <dsp:cNvSpPr/>
      </dsp:nvSpPr>
      <dsp:spPr>
        <a:xfrm>
          <a:off x="11171" y="1897675"/>
          <a:ext cx="1184654" cy="1611882"/>
        </a:xfrm>
        <a:prstGeom prst="roundRect">
          <a:avLst>
            <a:gd name="adj" fmla="val 10000"/>
          </a:avLst>
        </a:prstGeom>
        <a:solidFill>
          <a:srgbClr val="848484"/>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s-ES" sz="1200" kern="1200" dirty="0"/>
            <a:t>Identificar los Riesgos Operacionales existentes en el proceso.</a:t>
          </a:r>
        </a:p>
      </dsp:txBody>
      <dsp:txXfrm>
        <a:off x="45868" y="1932372"/>
        <a:ext cx="1115260" cy="1542488"/>
      </dsp:txXfrm>
    </dsp:sp>
    <dsp:sp modelId="{CE5142CB-0371-4C9A-89CD-C671286AA170}">
      <dsp:nvSpPr>
        <dsp:cNvPr id="0" name=""/>
        <dsp:cNvSpPr/>
      </dsp:nvSpPr>
      <dsp:spPr>
        <a:xfrm>
          <a:off x="1234954" y="1870112"/>
          <a:ext cx="1184654" cy="1611882"/>
        </a:xfrm>
        <a:prstGeom prst="roundRect">
          <a:avLst>
            <a:gd name="adj" fmla="val 10000"/>
          </a:avLst>
        </a:prstGeom>
        <a:solidFill>
          <a:srgbClr val="848484"/>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466725">
            <a:lnSpc>
              <a:spcPct val="90000"/>
            </a:lnSpc>
            <a:spcBef>
              <a:spcPct val="0"/>
            </a:spcBef>
            <a:spcAft>
              <a:spcPct val="35000"/>
            </a:spcAft>
            <a:buNone/>
          </a:pPr>
          <a:r>
            <a:rPr lang="es-ES" sz="1050" kern="1200" dirty="0"/>
            <a:t>Representar secuencialmente los riesgos relacionados con las aplicaciones que soportan el proceso y las personas (Unidad) encargados de su ejecución.</a:t>
          </a:r>
        </a:p>
      </dsp:txBody>
      <dsp:txXfrm>
        <a:off x="1269651" y="1904809"/>
        <a:ext cx="1115260" cy="1542488"/>
      </dsp:txXfrm>
    </dsp:sp>
    <dsp:sp modelId="{30CC629E-DCFF-444A-A75B-73B93688C0AA}">
      <dsp:nvSpPr>
        <dsp:cNvPr id="0" name=""/>
        <dsp:cNvSpPr/>
      </dsp:nvSpPr>
      <dsp:spPr>
        <a:xfrm>
          <a:off x="2529746" y="690179"/>
          <a:ext cx="3653474" cy="1042178"/>
        </a:xfrm>
        <a:prstGeom prst="roundRect">
          <a:avLst>
            <a:gd name="adj" fmla="val 10000"/>
          </a:avLst>
        </a:prstGeom>
        <a:solidFill>
          <a:srgbClr val="DB0613"/>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s-ES" sz="2000" kern="1200" dirty="0"/>
            <a:t>Cuestionarios de Auto-evaluación</a:t>
          </a:r>
        </a:p>
      </dsp:txBody>
      <dsp:txXfrm>
        <a:off x="2560270" y="720703"/>
        <a:ext cx="3592426" cy="981130"/>
      </dsp:txXfrm>
    </dsp:sp>
    <dsp:sp modelId="{5BAD3AA8-E45B-489E-955C-BE60D0DC2517}">
      <dsp:nvSpPr>
        <dsp:cNvPr id="0" name=""/>
        <dsp:cNvSpPr/>
      </dsp:nvSpPr>
      <dsp:spPr>
        <a:xfrm>
          <a:off x="2529746" y="1881975"/>
          <a:ext cx="1184654" cy="1611882"/>
        </a:xfrm>
        <a:prstGeom prst="roundRect">
          <a:avLst>
            <a:gd name="adj" fmla="val 10000"/>
          </a:avLst>
        </a:prstGeom>
        <a:solidFill>
          <a:srgbClr val="A7A7A7"/>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s-ES" sz="1200" kern="1200" dirty="0"/>
            <a:t>Elementos a Definir para el Modelo: Número de cuestionarios  y elaboración de los mismos.</a:t>
          </a:r>
        </a:p>
      </dsp:txBody>
      <dsp:txXfrm>
        <a:off x="2564443" y="1916672"/>
        <a:ext cx="1115260" cy="1542488"/>
      </dsp:txXfrm>
    </dsp:sp>
    <dsp:sp modelId="{524D9C8F-E57F-47F3-9647-253C3CA6D9FE}">
      <dsp:nvSpPr>
        <dsp:cNvPr id="0" name=""/>
        <dsp:cNvSpPr/>
      </dsp:nvSpPr>
      <dsp:spPr>
        <a:xfrm>
          <a:off x="2529746" y="3643476"/>
          <a:ext cx="1184654" cy="1611882"/>
        </a:xfrm>
        <a:prstGeom prst="roundRect">
          <a:avLst>
            <a:gd name="adj" fmla="val 10000"/>
          </a:avLst>
        </a:prstGeom>
        <a:solidFill>
          <a:srgbClr val="A7A7A7"/>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s-ES" sz="1200" kern="1200" dirty="0"/>
            <a:t>Mecanismos de validación</a:t>
          </a:r>
        </a:p>
      </dsp:txBody>
      <dsp:txXfrm>
        <a:off x="2564443" y="3678173"/>
        <a:ext cx="1115260" cy="1542488"/>
      </dsp:txXfrm>
    </dsp:sp>
    <dsp:sp modelId="{994933C3-6D30-43FE-9B0D-0F13013BFF80}">
      <dsp:nvSpPr>
        <dsp:cNvPr id="0" name=""/>
        <dsp:cNvSpPr/>
      </dsp:nvSpPr>
      <dsp:spPr>
        <a:xfrm>
          <a:off x="3764156" y="1881975"/>
          <a:ext cx="1184654" cy="1611882"/>
        </a:xfrm>
        <a:prstGeom prst="roundRect">
          <a:avLst>
            <a:gd name="adj" fmla="val 10000"/>
          </a:avLst>
        </a:prstGeom>
        <a:solidFill>
          <a:srgbClr val="A7A7A7"/>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s-ES" sz="1200" kern="1200" dirty="0"/>
            <a:t>Elaboración de los flujos de información: recepción, contestación y validación de los cuestionarios.</a:t>
          </a:r>
        </a:p>
      </dsp:txBody>
      <dsp:txXfrm>
        <a:off x="3798853" y="1916672"/>
        <a:ext cx="1115260" cy="1542488"/>
      </dsp:txXfrm>
    </dsp:sp>
    <dsp:sp modelId="{6B879074-DDE3-4DF0-B0F1-0DE4E95E238A}">
      <dsp:nvSpPr>
        <dsp:cNvPr id="0" name=""/>
        <dsp:cNvSpPr/>
      </dsp:nvSpPr>
      <dsp:spPr>
        <a:xfrm>
          <a:off x="3764156" y="3643476"/>
          <a:ext cx="1184654" cy="1611882"/>
        </a:xfrm>
        <a:prstGeom prst="roundRect">
          <a:avLst>
            <a:gd name="adj" fmla="val 10000"/>
          </a:avLst>
        </a:prstGeom>
        <a:solidFill>
          <a:srgbClr val="A7A7A7"/>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s-ES" sz="1200" kern="1200" dirty="0"/>
            <a:t>Valoración de los Controles y Factores Mitigantes</a:t>
          </a:r>
        </a:p>
      </dsp:txBody>
      <dsp:txXfrm>
        <a:off x="3798853" y="3678173"/>
        <a:ext cx="1115260" cy="1542488"/>
      </dsp:txXfrm>
    </dsp:sp>
    <dsp:sp modelId="{45EC43A5-C204-497B-94E8-6C64516304DE}">
      <dsp:nvSpPr>
        <dsp:cNvPr id="0" name=""/>
        <dsp:cNvSpPr/>
      </dsp:nvSpPr>
      <dsp:spPr>
        <a:xfrm>
          <a:off x="4998566" y="1881975"/>
          <a:ext cx="1184654" cy="1611882"/>
        </a:xfrm>
        <a:prstGeom prst="roundRect">
          <a:avLst>
            <a:gd name="adj" fmla="val 10000"/>
          </a:avLst>
        </a:prstGeom>
        <a:solidFill>
          <a:srgbClr val="A7A7A7"/>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s-ES" sz="1200" kern="1200" dirty="0"/>
            <a:t>Definición de impacto o severidad.</a:t>
          </a:r>
        </a:p>
      </dsp:txBody>
      <dsp:txXfrm>
        <a:off x="5033263" y="1916672"/>
        <a:ext cx="1115260" cy="1542488"/>
      </dsp:txXfrm>
    </dsp:sp>
    <dsp:sp modelId="{08D16AFF-F498-41DD-B208-04F503BDA01F}">
      <dsp:nvSpPr>
        <dsp:cNvPr id="0" name=""/>
        <dsp:cNvSpPr/>
      </dsp:nvSpPr>
      <dsp:spPr>
        <a:xfrm>
          <a:off x="4998566" y="3643476"/>
          <a:ext cx="1184654" cy="1611882"/>
        </a:xfrm>
        <a:prstGeom prst="roundRect">
          <a:avLst>
            <a:gd name="adj" fmla="val 10000"/>
          </a:avLst>
        </a:prstGeom>
        <a:solidFill>
          <a:srgbClr val="A7A7A7"/>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s-ES" sz="1200" kern="1200" dirty="0"/>
            <a:t>Valoración del Impacto Reputacional en Riesgos</a:t>
          </a:r>
        </a:p>
      </dsp:txBody>
      <dsp:txXfrm>
        <a:off x="5033263" y="3678173"/>
        <a:ext cx="1115260" cy="1542488"/>
      </dsp:txXfrm>
    </dsp:sp>
    <dsp:sp modelId="{71A8AE8D-5AF3-4835-92F9-26C281590A46}">
      <dsp:nvSpPr>
        <dsp:cNvPr id="0" name=""/>
        <dsp:cNvSpPr/>
      </dsp:nvSpPr>
      <dsp:spPr>
        <a:xfrm>
          <a:off x="6282732" y="690179"/>
          <a:ext cx="2419064" cy="1022304"/>
        </a:xfrm>
        <a:prstGeom prst="roundRect">
          <a:avLst>
            <a:gd name="adj" fmla="val 10000"/>
          </a:avLst>
        </a:prstGeom>
        <a:solidFill>
          <a:srgbClr val="DB0613"/>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s-ES" sz="2000" kern="1200" dirty="0"/>
            <a:t>Políticas de Gestión</a:t>
          </a:r>
        </a:p>
      </dsp:txBody>
      <dsp:txXfrm>
        <a:off x="6312674" y="720121"/>
        <a:ext cx="2359180" cy="962420"/>
      </dsp:txXfrm>
    </dsp:sp>
    <dsp:sp modelId="{A631A019-4063-4B13-AC51-D7AC3E712D5B}">
      <dsp:nvSpPr>
        <dsp:cNvPr id="0" name=""/>
        <dsp:cNvSpPr/>
      </dsp:nvSpPr>
      <dsp:spPr>
        <a:xfrm>
          <a:off x="6282732" y="1862101"/>
          <a:ext cx="1184654" cy="1611882"/>
        </a:xfrm>
        <a:prstGeom prst="roundRect">
          <a:avLst>
            <a:gd name="adj" fmla="val 10000"/>
          </a:avLst>
        </a:prstGeom>
        <a:solidFill>
          <a:srgbClr val="BABABA"/>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s-ES" sz="1200" kern="1200" dirty="0"/>
            <a:t>Unidades de Negocio y Soporte</a:t>
          </a:r>
        </a:p>
      </dsp:txBody>
      <dsp:txXfrm>
        <a:off x="6317429" y="1896798"/>
        <a:ext cx="1115260" cy="1542488"/>
      </dsp:txXfrm>
    </dsp:sp>
    <dsp:sp modelId="{3F6EDBC3-EE36-4102-AF75-A2791E2B394D}">
      <dsp:nvSpPr>
        <dsp:cNvPr id="0" name=""/>
        <dsp:cNvSpPr/>
      </dsp:nvSpPr>
      <dsp:spPr>
        <a:xfrm>
          <a:off x="6282732" y="3623601"/>
          <a:ext cx="1184654" cy="1611882"/>
        </a:xfrm>
        <a:prstGeom prst="roundRect">
          <a:avLst>
            <a:gd name="adj" fmla="val 10000"/>
          </a:avLst>
        </a:prstGeom>
        <a:solidFill>
          <a:srgbClr val="BABABA"/>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s-ES" sz="1200" kern="1200" dirty="0"/>
            <a:t>Área de transformación y mejora continua</a:t>
          </a:r>
        </a:p>
      </dsp:txBody>
      <dsp:txXfrm>
        <a:off x="6317429" y="3658298"/>
        <a:ext cx="1115260" cy="1542488"/>
      </dsp:txXfrm>
    </dsp:sp>
    <dsp:sp modelId="{857F42C3-7412-49EC-A98C-9447DD3F6C19}">
      <dsp:nvSpPr>
        <dsp:cNvPr id="0" name=""/>
        <dsp:cNvSpPr/>
      </dsp:nvSpPr>
      <dsp:spPr>
        <a:xfrm>
          <a:off x="7517142" y="1862101"/>
          <a:ext cx="1184654" cy="1611882"/>
        </a:xfrm>
        <a:prstGeom prst="roundRect">
          <a:avLst>
            <a:gd name="adj" fmla="val 10000"/>
          </a:avLst>
        </a:prstGeom>
        <a:solidFill>
          <a:srgbClr val="BABABA"/>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s-ES" sz="1200" kern="1200" dirty="0"/>
            <a:t>Área de Riesgo Operacional:</a:t>
          </a:r>
        </a:p>
      </dsp:txBody>
      <dsp:txXfrm>
        <a:off x="7551839" y="1896798"/>
        <a:ext cx="1115260" cy="1542488"/>
      </dsp:txXfrm>
    </dsp:sp>
    <dsp:sp modelId="{696A2DF8-1BA3-4401-94C0-1D5D3E0E0208}">
      <dsp:nvSpPr>
        <dsp:cNvPr id="0" name=""/>
        <dsp:cNvSpPr/>
      </dsp:nvSpPr>
      <dsp:spPr>
        <a:xfrm>
          <a:off x="7517142" y="3623601"/>
          <a:ext cx="1184654" cy="1611882"/>
        </a:xfrm>
        <a:prstGeom prst="roundRect">
          <a:avLst>
            <a:gd name="adj" fmla="val 10000"/>
          </a:avLst>
        </a:prstGeom>
        <a:solidFill>
          <a:srgbClr val="BABABA"/>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s-ES" sz="1200" kern="1200" dirty="0"/>
            <a:t>Comité de Riesgos</a:t>
          </a:r>
        </a:p>
      </dsp:txBody>
      <dsp:txXfrm>
        <a:off x="7551839" y="3658298"/>
        <a:ext cx="1115260" cy="1542488"/>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4">
  <dgm:title val=""/>
  <dgm:desc val=""/>
  <dgm:catLst>
    <dgm:cat type="hierarchy" pri="4000"/>
    <dgm:cat type="list" pri="24000"/>
    <dgm:cat type="relationship" pri="10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Name0">
    <dgm:varLst>
      <dgm:chPref val="1"/>
      <dgm:dir/>
      <dgm:animOne val="branch"/>
      <dgm:animLvl val="lvl"/>
      <dgm:resizeHandles/>
    </dgm:varLst>
    <dgm:choose name="Name1">
      <dgm:if name="Name2" func="var" arg="dir" op="equ" val="norm">
        <dgm:alg type="lin">
          <dgm:param type="linDir" val="fromL"/>
          <dgm:param type="nodeVertAlign" val="t"/>
        </dgm:alg>
      </dgm:if>
      <dgm:else name="Name3">
        <dgm:alg type="lin">
          <dgm:param type="linDir" val="fromR"/>
          <dgm:param type="nodeVertAlign" val="t"/>
        </dgm:alg>
      </dgm:else>
    </dgm:choose>
    <dgm:shape xmlns:r="http://schemas.openxmlformats.org/officeDocument/2006/relationships" r:blip="">
      <dgm:adjLst/>
    </dgm:shape>
    <dgm:presOf/>
    <dgm:constrLst>
      <dgm:constr type="w" for="ch" forName="vertOne" refType="w"/>
      <dgm:constr type="w" for="des" forName="horzOne" refType="w"/>
      <dgm:constr type="w" for="des" forName="txOne" refType="w"/>
      <dgm:constr type="w" for="des" forName="vertTwo" refType="w"/>
      <dgm:constr type="w" for="des" forName="horzTwo" refType="w"/>
      <dgm:constr type="w" for="des" forName="txTwo" refType="w"/>
      <dgm:constr type="w" for="des" forName="vertThree" refType="w"/>
      <dgm:constr type="w" for="des" forName="horzThree" refType="w"/>
      <dgm:constr type="w" for="des" forName="txThree" refType="w"/>
      <dgm:constr type="w" for="des" forName="vertFour" refType="w"/>
      <dgm:constr type="w" for="des" forName="horzFour" refType="w"/>
      <dgm:constr type="w" for="des" forName="txFour" refType="w"/>
      <dgm:constr type="h" for="des" ptType="node" op="equ"/>
      <dgm:constr type="h" for="des" forName="txOne" refType="h"/>
      <dgm:constr type="userH" for="des" ptType="node" refType="h" refFor="des" refForName="txOne"/>
      <dgm:constr type="primFontSz" for="des" forName="txOne" val="65"/>
      <dgm:constr type="primFontSz" for="des" forName="txTwo" val="65"/>
      <dgm:constr type="primFontSz" for="des" forName="txTwo" refType="primFontSz" refFor="des" refForName="txOne" op="lte"/>
      <dgm:constr type="primFontSz" for="des" forName="txThree" val="65"/>
      <dgm:constr type="primFontSz" for="des" forName="txThree" refType="primFontSz" refFor="des" refForName="txOne" op="lte"/>
      <dgm:constr type="primFontSz" for="des" forName="txThree" refType="primFontSz" refFor="des" refForName="txTwo" op="lte"/>
      <dgm:constr type="primFontSz" for="des" forName="txFour" val="65"/>
      <dgm:constr type="primFontSz" for="des" forName="txFour" refType="primFontSz" refFor="des" refForName="txOne" op="lte"/>
      <dgm:constr type="primFontSz" for="des" forName="txFour" refType="primFontSz" refFor="des" refForName="txTwo" op="lte"/>
      <dgm:constr type="primFontSz" for="des" forName="txFour" refType="primFontSz" refFor="des" refForName="txThree" op="lte"/>
      <dgm:constr type="w" for="des" forName="sibSpaceOne" refType="w" fact="0.168"/>
      <dgm:constr type="w" for="des" forName="sibSpaceTwo" refType="w" refFor="des" refForName="sibSpaceOne" op="equ" fact="0.5"/>
      <dgm:constr type="w" for="des" forName="sibSpaceThree" refType="w" refFor="des" refForName="sibSpaceTwo" op="equ" fact="0.5"/>
      <dgm:constr type="w" for="des" forName="sibSpaceFour" refType="w" refFor="des" refForName="sibSpaceThree" op="equ" fact="0.5"/>
      <dgm:constr type="h" for="des" forName="parTransOne" refType="w" fact="0.056"/>
      <dgm:constr type="h" for="des" forName="parTransTwo" refType="h" refFor="des" refForName="parTransOne" op="equ"/>
      <dgm:constr type="h" for="des" forName="parTransThree" refType="h" refFor="des" refForName="parTransTwo" op="equ"/>
      <dgm:constr type="h" for="des" forName="parTransFour" refType="h" refFor="des" refForName="parTransThree" op="equ"/>
    </dgm:constrLst>
    <dgm:ruleLst/>
    <dgm:forEach name="Name4" axis="ch" ptType="node">
      <dgm:layoutNode name="vertOne">
        <dgm:alg type="lin">
          <dgm:param type="linDir" val="fromT"/>
        </dgm:alg>
        <dgm:shape xmlns:r="http://schemas.openxmlformats.org/officeDocument/2006/relationships" r:blip="">
          <dgm:adjLst/>
        </dgm:shape>
        <dgm:presOf/>
        <dgm:constrLst>
          <dgm:constr type="w" for="ch" forName="txOne" refType="w" refFor="ch" refForName="horzOne" op="gte"/>
        </dgm:constrLst>
        <dgm:ruleLst/>
        <dgm:layoutNode name="txOn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5">
          <dgm:if name="Name6" axis="des" ptType="node" func="cnt" op="gt" val="0">
            <dgm:layoutNode name="parTransOne">
              <dgm:alg type="sp"/>
              <dgm:shape xmlns:r="http://schemas.openxmlformats.org/officeDocument/2006/relationships" r:blip="">
                <dgm:adjLst/>
              </dgm:shape>
              <dgm:presOf/>
              <dgm:constrLst/>
              <dgm:ruleLst/>
            </dgm:layoutNode>
          </dgm:if>
          <dgm:else name="Name7"/>
        </dgm:choose>
        <dgm:layoutNode name="horzOne">
          <dgm:choose name="Name8">
            <dgm:if name="Name9" func="var" arg="dir" op="equ" val="norm">
              <dgm:alg type="lin">
                <dgm:param type="linDir" val="fromL"/>
                <dgm:param type="nodeVertAlign" val="t"/>
              </dgm:alg>
            </dgm:if>
            <dgm:else name="Name10">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11" axis="ch" ptType="node">
            <dgm:layoutNode name="vertTwo">
              <dgm:alg type="lin">
                <dgm:param type="linDir" val="fromT"/>
              </dgm:alg>
              <dgm:shape xmlns:r="http://schemas.openxmlformats.org/officeDocument/2006/relationships" r:blip="">
                <dgm:adjLst/>
              </dgm:shape>
              <dgm:presOf/>
              <dgm:constrLst>
                <dgm:constr type="w" for="ch" forName="txTwo" refType="w" refFor="ch" refForName="horzTwo" op="gte"/>
              </dgm:constrLst>
              <dgm:ruleLst/>
              <dgm:layoutNode name="txTwo">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2">
                <dgm:if name="Name13" axis="des" ptType="node" func="cnt" op="gt" val="0">
                  <dgm:layoutNode name="parTransTwo">
                    <dgm:alg type="sp"/>
                    <dgm:shape xmlns:r="http://schemas.openxmlformats.org/officeDocument/2006/relationships" r:blip="">
                      <dgm:adjLst/>
                    </dgm:shape>
                    <dgm:presOf/>
                    <dgm:constrLst/>
                    <dgm:ruleLst/>
                  </dgm:layoutNode>
                </dgm:if>
                <dgm:else name="Name14"/>
              </dgm:choose>
              <dgm:layoutNode name="horzTwo">
                <dgm:choose name="Name15">
                  <dgm:if name="Name16" func="var" arg="dir" op="equ" val="norm">
                    <dgm:alg type="lin">
                      <dgm:param type="linDir" val="fromL"/>
                      <dgm:param type="nodeVertAlign" val="t"/>
                    </dgm:alg>
                  </dgm:if>
                  <dgm:else name="Name17">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18" axis="ch" ptType="node">
                  <dgm:layoutNode name="vertThree">
                    <dgm:alg type="lin">
                      <dgm:param type="linDir" val="fromT"/>
                    </dgm:alg>
                    <dgm:shape xmlns:r="http://schemas.openxmlformats.org/officeDocument/2006/relationships" r:blip="">
                      <dgm:adjLst/>
                    </dgm:shape>
                    <dgm:presOf/>
                    <dgm:constrLst>
                      <dgm:constr type="w" for="ch" forName="txThree" refType="w" refFor="ch" refForName="horzThree" op="gte"/>
                    </dgm:constrLst>
                    <dgm:ruleLst/>
                    <dgm:layoutNode name="txThree">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9">
                      <dgm:if name="Name20" axis="des" ptType="node" func="cnt" op="gt" val="0">
                        <dgm:layoutNode name="parTransThree">
                          <dgm:alg type="sp"/>
                          <dgm:shape xmlns:r="http://schemas.openxmlformats.org/officeDocument/2006/relationships" r:blip="">
                            <dgm:adjLst/>
                          </dgm:shape>
                          <dgm:presOf/>
                          <dgm:constrLst/>
                          <dgm:ruleLst/>
                        </dgm:layoutNode>
                      </dgm:if>
                      <dgm:else name="Name21"/>
                    </dgm:choose>
                    <dgm:layoutNode name="horzThree">
                      <dgm:choose name="Name22">
                        <dgm:if name="Name23" func="var" arg="dir" op="equ" val="norm">
                          <dgm:alg type="lin">
                            <dgm:param type="linDir" val="fromL"/>
                            <dgm:param type="nodeVertAlign" val="t"/>
                          </dgm:alg>
                        </dgm:if>
                        <dgm:else name="Name24">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repeat" axis="ch" ptType="node">
                        <dgm:layoutNode name="vertFour">
                          <dgm:varLst>
                            <dgm:chPref val="3"/>
                          </dgm:varLst>
                          <dgm:alg type="lin">
                            <dgm:param type="linDir" val="fromT"/>
                          </dgm:alg>
                          <dgm:shape xmlns:r="http://schemas.openxmlformats.org/officeDocument/2006/relationships" r:blip="">
                            <dgm:adjLst/>
                          </dgm:shape>
                          <dgm:presOf/>
                          <dgm:constrLst>
                            <dgm:constr type="w" for="ch" forName="txFour" refType="w" refFor="ch" refForName="horzFour" op="gte"/>
                          </dgm:constrLst>
                          <dgm:ruleLst/>
                          <dgm:layoutNode name="txFour">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25">
                            <dgm:if name="Name26" axis="des" ptType="node" func="cnt" op="gt" val="0">
                              <dgm:layoutNode name="parTransFour">
                                <dgm:alg type="sp"/>
                                <dgm:shape xmlns:r="http://schemas.openxmlformats.org/officeDocument/2006/relationships" r:blip="">
                                  <dgm:adjLst/>
                                </dgm:shape>
                                <dgm:presOf/>
                                <dgm:constrLst/>
                                <dgm:ruleLst/>
                              </dgm:layoutNode>
                            </dgm:if>
                            <dgm:else name="Name27"/>
                          </dgm:choose>
                          <dgm:layoutNode name="horzFour">
                            <dgm:choose name="Name28">
                              <dgm:if name="Name29" func="var" arg="dir" op="equ" val="norm">
                                <dgm:alg type="lin">
                                  <dgm:param type="linDir" val="fromL"/>
                                  <dgm:param type="nodeVertAlign" val="t"/>
                                </dgm:alg>
                              </dgm:if>
                              <dgm:else name="Name30">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31" ref="repeat"/>
                          </dgm:layoutNode>
                        </dgm:layoutNode>
                        <dgm:choose name="Name32">
                          <dgm:if name="Name33" axis="self" ptType="node" func="revPos" op="gte" val="2">
                            <dgm:forEach name="Name34" axis="followSib" ptType="sibTrans" cnt="1">
                              <dgm:layoutNode name="sibSpaceFour">
                                <dgm:alg type="sp"/>
                                <dgm:shape xmlns:r="http://schemas.openxmlformats.org/officeDocument/2006/relationships" r:blip="">
                                  <dgm:adjLst/>
                                </dgm:shape>
                                <dgm:presOf/>
                                <dgm:constrLst/>
                                <dgm:ruleLst/>
                              </dgm:layoutNode>
                            </dgm:forEach>
                          </dgm:if>
                          <dgm:else name="Name35"/>
                        </dgm:choose>
                      </dgm:forEach>
                    </dgm:layoutNode>
                  </dgm:layoutNode>
                  <dgm:choose name="Name36">
                    <dgm:if name="Name37" axis="self" ptType="node" func="revPos" op="gte" val="2">
                      <dgm:forEach name="Name38" axis="followSib" ptType="sibTrans" cnt="1">
                        <dgm:layoutNode name="sibSpaceThree">
                          <dgm:alg type="sp"/>
                          <dgm:shape xmlns:r="http://schemas.openxmlformats.org/officeDocument/2006/relationships" r:blip="">
                            <dgm:adjLst/>
                          </dgm:shape>
                          <dgm:presOf/>
                          <dgm:constrLst/>
                          <dgm:ruleLst/>
                        </dgm:layoutNode>
                      </dgm:forEach>
                    </dgm:if>
                    <dgm:else name="Name39"/>
                  </dgm:choose>
                </dgm:forEach>
              </dgm:layoutNode>
            </dgm:layoutNode>
            <dgm:choose name="Name40">
              <dgm:if name="Name41" axis="self" ptType="node" func="revPos" op="gte" val="2">
                <dgm:forEach name="Name42" axis="followSib" ptType="sibTrans" cnt="1">
                  <dgm:layoutNode name="sibSpaceTwo">
                    <dgm:alg type="sp"/>
                    <dgm:shape xmlns:r="http://schemas.openxmlformats.org/officeDocument/2006/relationships" r:blip="">
                      <dgm:adjLst/>
                    </dgm:shape>
                    <dgm:presOf/>
                    <dgm:constrLst/>
                    <dgm:ruleLst/>
                  </dgm:layoutNode>
                </dgm:forEach>
              </dgm:if>
              <dgm:else name="Name43"/>
            </dgm:choose>
          </dgm:forEach>
        </dgm:layoutNode>
      </dgm:layoutNode>
      <dgm:choose name="Name44">
        <dgm:if name="Name45" axis="self" ptType="node" func="revPos" op="gte" val="2">
          <dgm:forEach name="Name46" axis="followSib" ptType="sibTrans" cnt="1">
            <dgm:layoutNode name="sibSpaceOne">
              <dgm:alg type="sp"/>
              <dgm:shape xmlns:r="http://schemas.openxmlformats.org/officeDocument/2006/relationships" r:blip="">
                <dgm:adjLst/>
              </dgm:shape>
              <dgm:presOf/>
              <dgm:constrLst/>
              <dgm:ruleLst/>
            </dgm:layoutNode>
          </dgm:forEach>
        </dgm:if>
        <dgm:else name="Name47"/>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rawings/drawing1.xml><?xml version="1.0" encoding="utf-8"?>
<c:userShapes xmlns:c="http://schemas.openxmlformats.org/drawingml/2006/chart">
  <cdr:relSizeAnchor xmlns:cdr="http://schemas.openxmlformats.org/drawingml/2006/chartDrawing">
    <cdr:from>
      <cdr:x>0.38113</cdr:x>
      <cdr:y>0.22782</cdr:y>
    </cdr:from>
    <cdr:to>
      <cdr:x>0.96764</cdr:x>
      <cdr:y>0.56937</cdr:y>
    </cdr:to>
    <cdr:sp macro="" textlink="">
      <cdr:nvSpPr>
        <cdr:cNvPr id="2" name="Rectangle 1"/>
        <cdr:cNvSpPr/>
      </cdr:nvSpPr>
      <cdr:spPr>
        <a:xfrm xmlns:a="http://schemas.openxmlformats.org/drawingml/2006/main">
          <a:off x="2713670" y="688908"/>
          <a:ext cx="4176000" cy="1032818"/>
        </a:xfrm>
        <a:prstGeom xmlns:a="http://schemas.openxmlformats.org/drawingml/2006/main" prst="rect">
          <a:avLst/>
        </a:prstGeom>
        <a:noFill xmlns:a="http://schemas.openxmlformats.org/drawingml/2006/main"/>
        <a:ln xmlns:a="http://schemas.openxmlformats.org/drawingml/2006/main" w="19050">
          <a:solidFill>
            <a:srgbClr val="FF0000"/>
          </a:solidFill>
          <a:prstDash val="dash"/>
        </a:ln>
      </cdr:spPr>
      <cdr: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cdr:style>
      <cdr:txBody>
        <a:bodyPr xmlns:a="http://schemas.openxmlformats.org/drawingml/2006/main" vertOverflow="clip"/>
        <a:lstStyle xmlns:a="http://schemas.openxmlformats.org/drawingml/2006/main"/>
        <a:p xmlns:a="http://schemas.openxmlformats.org/drawingml/2006/main">
          <a:endParaRPr lang="es-ES"/>
        </a:p>
      </cdr:txBody>
    </cdr:sp>
  </cdr:relSizeAnchor>
  <cdr:relSizeAnchor xmlns:cdr="http://schemas.openxmlformats.org/drawingml/2006/chartDrawing">
    <cdr:from>
      <cdr:x>0.71174</cdr:x>
      <cdr:y>0.56937</cdr:y>
    </cdr:from>
    <cdr:to>
      <cdr:x>0.95949</cdr:x>
      <cdr:y>0.91284</cdr:y>
    </cdr:to>
    <cdr:sp macro="" textlink="">
      <cdr:nvSpPr>
        <cdr:cNvPr id="3" name="Rectangle 2"/>
        <cdr:cNvSpPr/>
      </cdr:nvSpPr>
      <cdr:spPr>
        <a:xfrm xmlns:a="http://schemas.openxmlformats.org/drawingml/2006/main">
          <a:off x="5067633" y="1721726"/>
          <a:ext cx="1764000" cy="1038625"/>
        </a:xfrm>
        <a:prstGeom xmlns:a="http://schemas.openxmlformats.org/drawingml/2006/main" prst="rect">
          <a:avLst/>
        </a:prstGeom>
        <a:noFill xmlns:a="http://schemas.openxmlformats.org/drawingml/2006/main"/>
        <a:ln xmlns:a="http://schemas.openxmlformats.org/drawingml/2006/main" w="19050" cap="flat" cmpd="sng" algn="ctr">
          <a:solidFill>
            <a:srgbClr val="FF0000"/>
          </a:solidFill>
          <a:prstDash val="dash"/>
        </a:ln>
        <a:effectLst xmlns:a="http://schemas.openxmlformats.org/drawingml/2006/main"/>
      </cdr:spPr>
      <cdr: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cdr:style>
      <cdr:txBody>
        <a:bodyPr xmlns:a="http://schemas.openxmlformats.org/drawingml/2006/main"/>
        <a:lstStyle xmlns:a="http://schemas.openxmlformats.org/drawingml/2006/main">
          <a:lvl1pPr marL="0" indent="0">
            <a:defRPr sz="1100">
              <a:solidFill>
                <a:srgbClr val="FFFFFF"/>
              </a:solidFill>
              <a:latin typeface="Arial"/>
            </a:defRPr>
          </a:lvl1pPr>
          <a:lvl2pPr marL="457200" indent="0">
            <a:defRPr sz="1100">
              <a:solidFill>
                <a:srgbClr val="FFFFFF"/>
              </a:solidFill>
              <a:latin typeface="Arial"/>
            </a:defRPr>
          </a:lvl2pPr>
          <a:lvl3pPr marL="914400" indent="0">
            <a:defRPr sz="1100">
              <a:solidFill>
                <a:srgbClr val="FFFFFF"/>
              </a:solidFill>
              <a:latin typeface="Arial"/>
            </a:defRPr>
          </a:lvl3pPr>
          <a:lvl4pPr marL="1371600" indent="0">
            <a:defRPr sz="1100">
              <a:solidFill>
                <a:srgbClr val="FFFFFF"/>
              </a:solidFill>
              <a:latin typeface="Arial"/>
            </a:defRPr>
          </a:lvl4pPr>
          <a:lvl5pPr marL="1828800" indent="0">
            <a:defRPr sz="1100">
              <a:solidFill>
                <a:srgbClr val="FFFFFF"/>
              </a:solidFill>
              <a:latin typeface="Arial"/>
            </a:defRPr>
          </a:lvl5pPr>
          <a:lvl6pPr marL="2286000" indent="0">
            <a:defRPr sz="1100">
              <a:solidFill>
                <a:srgbClr val="FFFFFF"/>
              </a:solidFill>
              <a:latin typeface="Arial"/>
            </a:defRPr>
          </a:lvl6pPr>
          <a:lvl7pPr marL="2743200" indent="0">
            <a:defRPr sz="1100">
              <a:solidFill>
                <a:srgbClr val="FFFFFF"/>
              </a:solidFill>
              <a:latin typeface="Arial"/>
            </a:defRPr>
          </a:lvl7pPr>
          <a:lvl8pPr marL="3200400" indent="0">
            <a:defRPr sz="1100">
              <a:solidFill>
                <a:srgbClr val="FFFFFF"/>
              </a:solidFill>
              <a:latin typeface="Arial"/>
            </a:defRPr>
          </a:lvl8pPr>
          <a:lvl9pPr marL="3657600" indent="0">
            <a:defRPr sz="1100">
              <a:solidFill>
                <a:srgbClr val="FFFFFF"/>
              </a:solidFill>
              <a:latin typeface="Arial"/>
            </a:defRPr>
          </a:lvl9pPr>
        </a:lstStyle>
        <a:p xmlns:a="http://schemas.openxmlformats.org/drawingml/2006/main">
          <a:endParaRPr lang="es-ES"/>
        </a:p>
      </cdr:txBody>
    </cdr:sp>
  </cdr:relSizeAnchor>
</c:userShape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1 Marcador de encabezado"/>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s-ES" dirty="0"/>
          </a:p>
        </p:txBody>
      </p:sp>
      <p:sp>
        <p:nvSpPr>
          <p:cNvPr id="3" name="2 Marcador de fecha"/>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F574E7CA-7025-4722-AEA2-5062CAAE379C}" type="datetimeFigureOut">
              <a:rPr lang="es-ES" smtClean="0"/>
              <a:pPr/>
              <a:t>20/10/26</a:t>
            </a:fld>
            <a:endParaRPr lang="es-ES" dirty="0"/>
          </a:p>
        </p:txBody>
      </p:sp>
      <p:sp>
        <p:nvSpPr>
          <p:cNvPr id="4" name="3 Marcador de pie de página"/>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s-ES" dirty="0"/>
          </a:p>
        </p:txBody>
      </p:sp>
      <p:sp>
        <p:nvSpPr>
          <p:cNvPr id="5" name="4 Marcador de número de diapositiva"/>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3FFE9421-A088-4467-8266-320FFCC20BD7}" type="slidenum">
              <a:rPr lang="es-ES" smtClean="0"/>
              <a:pPr/>
              <a:t>‹Nº›</a:t>
            </a:fld>
            <a:endParaRPr lang="es-ES" dirty="0"/>
          </a:p>
        </p:txBody>
      </p:sp>
    </p:spTree>
    <p:extLst>
      <p:ext uri="{BB962C8B-B14F-4D97-AF65-F5344CB8AC3E}">
        <p14:creationId xmlns:p14="http://schemas.microsoft.com/office/powerpoint/2010/main" val="40271903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1 Marcador de encabezado"/>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s-PE" dirty="0"/>
          </a:p>
        </p:txBody>
      </p:sp>
      <p:sp>
        <p:nvSpPr>
          <p:cNvPr id="3" name="2 Marcador de fecha"/>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97DED5BA-F185-488B-B903-E2666433E509}" type="datetimeFigureOut">
              <a:rPr lang="es-PE" smtClean="0"/>
              <a:pPr/>
              <a:t>20/10/26</a:t>
            </a:fld>
            <a:endParaRPr lang="es-PE" dirty="0"/>
          </a:p>
        </p:txBody>
      </p:sp>
      <p:sp>
        <p:nvSpPr>
          <p:cNvPr id="4" name="3 Marcador de imagen de diapositiva"/>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s-PE" dirty="0"/>
          </a:p>
        </p:txBody>
      </p:sp>
      <p:sp>
        <p:nvSpPr>
          <p:cNvPr id="5" name="4 Marcador de notas"/>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6" name="5 Marcador de pie de página"/>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s-PE" dirty="0"/>
          </a:p>
        </p:txBody>
      </p:sp>
      <p:sp>
        <p:nvSpPr>
          <p:cNvPr id="7" name="6 Marcador de número de diapositiva"/>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D91F72D5-8D82-468F-8E33-30437B81EF30}" type="slidenum">
              <a:rPr lang="es-PE" smtClean="0"/>
              <a:pPr/>
              <a:t>‹Nº›</a:t>
            </a:fld>
            <a:endParaRPr lang="es-PE" dirty="0"/>
          </a:p>
        </p:txBody>
      </p:sp>
    </p:spTree>
    <p:extLst>
      <p:ext uri="{BB962C8B-B14F-4D97-AF65-F5344CB8AC3E}">
        <p14:creationId xmlns:p14="http://schemas.microsoft.com/office/powerpoint/2010/main" val="26491820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jpe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2.jpe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2.jpeg"/></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pic>
        <p:nvPicPr>
          <p:cNvPr id="7" name="6 Imagen"/>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5496" y="1864"/>
            <a:ext cx="9144000" cy="6854270"/>
          </a:xfrm>
          <a:prstGeom prst="rect">
            <a:avLst/>
          </a:prstGeom>
        </p:spPr>
      </p:pic>
      <p:sp>
        <p:nvSpPr>
          <p:cNvPr id="2" name="1 Título"/>
          <p:cNvSpPr>
            <a:spLocks noGrp="1"/>
          </p:cNvSpPr>
          <p:nvPr>
            <p:ph type="ctrTitle" hasCustomPrompt="1"/>
          </p:nvPr>
        </p:nvSpPr>
        <p:spPr>
          <a:xfrm>
            <a:off x="323528" y="2751063"/>
            <a:ext cx="8424936" cy="605929"/>
          </a:xfrm>
        </p:spPr>
        <p:txBody>
          <a:bodyPr>
            <a:normAutofit/>
          </a:bodyPr>
          <a:lstStyle>
            <a:lvl1pPr algn="r">
              <a:defRPr sz="3200" b="1">
                <a:latin typeface="Arial" pitchFamily="34" charset="0"/>
                <a:cs typeface="Arial" pitchFamily="34" charset="0"/>
              </a:defRPr>
            </a:lvl1pPr>
          </a:lstStyle>
          <a:p>
            <a:r>
              <a:rPr lang="es-ES" dirty="0"/>
              <a:t>Haga clic para modificar el estilo del título</a:t>
            </a:r>
            <a:endParaRPr lang="es-PE" dirty="0"/>
          </a:p>
        </p:txBody>
      </p:sp>
      <p:sp>
        <p:nvSpPr>
          <p:cNvPr id="3" name="2 Subtítulo"/>
          <p:cNvSpPr>
            <a:spLocks noGrp="1"/>
          </p:cNvSpPr>
          <p:nvPr>
            <p:ph type="subTitle" idx="1"/>
          </p:nvPr>
        </p:nvSpPr>
        <p:spPr>
          <a:xfrm>
            <a:off x="1043608" y="3501008"/>
            <a:ext cx="7704856" cy="432048"/>
          </a:xfrm>
        </p:spPr>
        <p:txBody>
          <a:bodyPr>
            <a:normAutofit/>
          </a:bodyPr>
          <a:lstStyle>
            <a:lvl1pPr marL="0" indent="0" algn="r">
              <a:buNone/>
              <a:defRPr sz="1800" b="1">
                <a:solidFill>
                  <a:schemeClr val="tx1"/>
                </a:solidFill>
                <a:latin typeface="Arial" pitchFamily="34" charset="0"/>
                <a:cs typeface="Arial"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a:t>Haga clic para modificar el estilo de subtítulo del patrón</a:t>
            </a:r>
            <a:endParaRPr lang="es-PE" dirty="0"/>
          </a:p>
        </p:txBody>
      </p:sp>
    </p:spTree>
    <p:extLst>
      <p:ext uri="{BB962C8B-B14F-4D97-AF65-F5344CB8AC3E}">
        <p14:creationId xmlns:p14="http://schemas.microsoft.com/office/powerpoint/2010/main" val="4443864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Dos objetos">
    <p:spTree>
      <p:nvGrpSpPr>
        <p:cNvPr id="1" name=""/>
        <p:cNvGrpSpPr/>
        <p:nvPr/>
      </p:nvGrpSpPr>
      <p:grpSpPr>
        <a:xfrm>
          <a:off x="0" y="0"/>
          <a:ext cx="0" cy="0"/>
          <a:chOff x="0" y="0"/>
          <a:chExt cx="0" cy="0"/>
        </a:xfrm>
      </p:grpSpPr>
      <p:sp>
        <p:nvSpPr>
          <p:cNvPr id="8" name="7 Rectángulo"/>
          <p:cNvSpPr/>
          <p:nvPr userDrawn="1"/>
        </p:nvSpPr>
        <p:spPr>
          <a:xfrm>
            <a:off x="-36512" y="-27384"/>
            <a:ext cx="9217024" cy="6912768"/>
          </a:xfrm>
          <a:prstGeom prst="rect">
            <a:avLst/>
          </a:prstGeom>
          <a:solidFill>
            <a:srgbClr val="DB061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dirty="0"/>
          </a:p>
        </p:txBody>
      </p:sp>
      <p:sp>
        <p:nvSpPr>
          <p:cNvPr id="2" name="1 Título"/>
          <p:cNvSpPr>
            <a:spLocks noGrp="1"/>
          </p:cNvSpPr>
          <p:nvPr>
            <p:ph type="title"/>
          </p:nvPr>
        </p:nvSpPr>
        <p:spPr>
          <a:xfrm>
            <a:off x="3203848" y="3717032"/>
            <a:ext cx="5781328" cy="634082"/>
          </a:xfrm>
        </p:spPr>
        <p:txBody>
          <a:bodyPr>
            <a:noAutofit/>
          </a:bodyPr>
          <a:lstStyle>
            <a:lvl1pPr algn="r">
              <a:defRPr sz="3200" b="0">
                <a:solidFill>
                  <a:schemeClr val="bg1"/>
                </a:solidFill>
                <a:latin typeface="Arial" pitchFamily="34" charset="0"/>
                <a:cs typeface="Arial" pitchFamily="34" charset="0"/>
              </a:defRPr>
            </a:lvl1pPr>
          </a:lstStyle>
          <a:p>
            <a:r>
              <a:rPr lang="es-ES"/>
              <a:t>Haga clic para modificar el estilo de título del patrón</a:t>
            </a:r>
            <a:endParaRPr lang="es-PE" dirty="0"/>
          </a:p>
        </p:txBody>
      </p:sp>
      <p:sp>
        <p:nvSpPr>
          <p:cNvPr id="3" name="2 Marcador de contenido"/>
          <p:cNvSpPr>
            <a:spLocks noGrp="1"/>
          </p:cNvSpPr>
          <p:nvPr>
            <p:ph sz="half" idx="1"/>
          </p:nvPr>
        </p:nvSpPr>
        <p:spPr>
          <a:xfrm>
            <a:off x="4932040" y="4581128"/>
            <a:ext cx="4038600" cy="2116832"/>
          </a:xfrm>
        </p:spPr>
        <p:txBody>
          <a:bodyPr>
            <a:normAutofit/>
          </a:bodyPr>
          <a:lstStyle>
            <a:lvl1pPr marL="185738" indent="-185738">
              <a:defRPr sz="1800">
                <a:solidFill>
                  <a:schemeClr val="bg1"/>
                </a:solidFill>
                <a:latin typeface="Arial" pitchFamily="34" charset="0"/>
                <a:cs typeface="Arial" pitchFamily="34" charset="0"/>
              </a:defRPr>
            </a:lvl1pPr>
            <a:lvl2pPr>
              <a:defRPr sz="1800">
                <a:solidFill>
                  <a:schemeClr val="bg1"/>
                </a:solidFill>
                <a:latin typeface="Arial" pitchFamily="34" charset="0"/>
                <a:cs typeface="Arial" pitchFamily="34" charset="0"/>
              </a:defRPr>
            </a:lvl2pPr>
            <a:lvl3pPr>
              <a:defRPr sz="1800">
                <a:solidFill>
                  <a:schemeClr val="bg1"/>
                </a:solidFill>
                <a:latin typeface="Arial" pitchFamily="34" charset="0"/>
                <a:cs typeface="Arial" pitchFamily="34" charset="0"/>
              </a:defRPr>
            </a:lvl3pPr>
            <a:lvl4pPr>
              <a:defRPr sz="1800">
                <a:solidFill>
                  <a:schemeClr val="bg1"/>
                </a:solidFill>
                <a:latin typeface="Arial" pitchFamily="34" charset="0"/>
                <a:cs typeface="Arial" pitchFamily="34" charset="0"/>
              </a:defRPr>
            </a:lvl4pPr>
            <a:lvl5pPr>
              <a:defRPr sz="1800">
                <a:solidFill>
                  <a:schemeClr val="bg1"/>
                </a:solidFill>
                <a:latin typeface="Arial" pitchFamily="34" charset="0"/>
                <a:cs typeface="Arial" pitchFamily="34" charset="0"/>
              </a:defRPr>
            </a:lvl5pPr>
            <a:lvl6pPr>
              <a:defRPr sz="1800"/>
            </a:lvl6pPr>
            <a:lvl7pPr>
              <a:defRPr sz="1800"/>
            </a:lvl7pPr>
            <a:lvl8pPr>
              <a:defRPr sz="1800"/>
            </a:lvl8pPr>
            <a:lvl9pPr>
              <a:defRPr sz="18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ES" dirty="0"/>
          </a:p>
        </p:txBody>
      </p:sp>
    </p:spTree>
    <p:extLst>
      <p:ext uri="{BB962C8B-B14F-4D97-AF65-F5344CB8AC3E}">
        <p14:creationId xmlns:p14="http://schemas.microsoft.com/office/powerpoint/2010/main" val="41287711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grpSp>
        <p:nvGrpSpPr>
          <p:cNvPr id="7" name="Agrupar 1"/>
          <p:cNvGrpSpPr/>
          <p:nvPr userDrawn="1"/>
        </p:nvGrpSpPr>
        <p:grpSpPr>
          <a:xfrm>
            <a:off x="35496" y="32965"/>
            <a:ext cx="9073006" cy="6780411"/>
            <a:chOff x="35496" y="32965"/>
            <a:chExt cx="9073006" cy="6780411"/>
          </a:xfrm>
        </p:grpSpPr>
        <p:pic>
          <p:nvPicPr>
            <p:cNvPr id="8" name="7 Imagen"/>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5496" y="620688"/>
              <a:ext cx="9050678" cy="5780259"/>
            </a:xfrm>
            <a:prstGeom prst="rect">
              <a:avLst/>
            </a:prstGeom>
          </p:spPr>
        </p:pic>
        <p:pic>
          <p:nvPicPr>
            <p:cNvPr id="9" name="8 Imagen"/>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5497" y="6187385"/>
              <a:ext cx="9073005" cy="625991"/>
            </a:xfrm>
            <a:prstGeom prst="rect">
              <a:avLst/>
            </a:prstGeom>
          </p:spPr>
        </p:pic>
        <p:pic>
          <p:nvPicPr>
            <p:cNvPr id="10" name="9 Imagen"/>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7625" y="32965"/>
              <a:ext cx="9048750" cy="619125"/>
            </a:xfrm>
            <a:prstGeom prst="rect">
              <a:avLst/>
            </a:prstGeom>
          </p:spPr>
        </p:pic>
      </p:grpSp>
      <p:sp>
        <p:nvSpPr>
          <p:cNvPr id="2" name="1 Título"/>
          <p:cNvSpPr>
            <a:spLocks noGrp="1"/>
          </p:cNvSpPr>
          <p:nvPr>
            <p:ph type="title"/>
          </p:nvPr>
        </p:nvSpPr>
        <p:spPr>
          <a:xfrm>
            <a:off x="47625" y="32965"/>
            <a:ext cx="7620719" cy="587723"/>
          </a:xfrm>
        </p:spPr>
        <p:txBody>
          <a:bodyPr>
            <a:noAutofit/>
          </a:bodyPr>
          <a:lstStyle>
            <a:lvl1pPr algn="l">
              <a:defRPr sz="2000" b="1">
                <a:solidFill>
                  <a:schemeClr val="bg1"/>
                </a:solidFill>
                <a:latin typeface="Arial" pitchFamily="34" charset="0"/>
                <a:cs typeface="Arial" pitchFamily="34" charset="0"/>
              </a:defRPr>
            </a:lvl1pPr>
          </a:lstStyle>
          <a:p>
            <a:r>
              <a:rPr lang="es-ES"/>
              <a:t>Haga clic para modificar el estilo de título del patrón</a:t>
            </a:r>
            <a:endParaRPr lang="es-PE" dirty="0"/>
          </a:p>
        </p:txBody>
      </p:sp>
      <p:sp>
        <p:nvSpPr>
          <p:cNvPr id="3" name="2 Marcador de contenido"/>
          <p:cNvSpPr>
            <a:spLocks noGrp="1"/>
          </p:cNvSpPr>
          <p:nvPr>
            <p:ph idx="1"/>
          </p:nvPr>
        </p:nvSpPr>
        <p:spPr>
          <a:xfrm>
            <a:off x="251520" y="1052736"/>
            <a:ext cx="8568952" cy="5040560"/>
          </a:xfrm>
        </p:spPr>
        <p:txBody>
          <a:bodyPr>
            <a:normAutofit/>
          </a:bodyPr>
          <a:lstStyle>
            <a:lvl1pPr marL="185738" indent="-185738">
              <a:defRPr sz="2000" b="1">
                <a:latin typeface="Arial" pitchFamily="34" charset="0"/>
                <a:cs typeface="Arial" pitchFamily="34" charset="0"/>
              </a:defRPr>
            </a:lvl1pPr>
            <a:lvl2pPr marL="630238" indent="-173038">
              <a:defRPr sz="1800">
                <a:latin typeface="Arial" pitchFamily="34" charset="0"/>
                <a:cs typeface="Arial" pitchFamily="34" charset="0"/>
              </a:defRPr>
            </a:lvl2pPr>
            <a:lvl3pPr marL="1074738" indent="-160338">
              <a:defRPr sz="1600">
                <a:latin typeface="Arial" pitchFamily="34" charset="0"/>
                <a:cs typeface="Arial" pitchFamily="34" charset="0"/>
              </a:defRPr>
            </a:lvl3pPr>
            <a:lvl4pPr marL="1519238" indent="-147638">
              <a:defRPr sz="1400">
                <a:latin typeface="Arial" pitchFamily="34" charset="0"/>
                <a:cs typeface="Arial" pitchFamily="34" charset="0"/>
              </a:defRPr>
            </a:lvl4pPr>
            <a:lvl5pPr marL="1976438" indent="-147638">
              <a:defRPr sz="1400">
                <a:latin typeface="Arial" pitchFamily="34" charset="0"/>
                <a:cs typeface="Arial" pitchFamily="34" charset="0"/>
              </a:defRPr>
            </a:lvl5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PE" dirty="0"/>
          </a:p>
        </p:txBody>
      </p:sp>
    </p:spTree>
    <p:extLst>
      <p:ext uri="{BB962C8B-B14F-4D97-AF65-F5344CB8AC3E}">
        <p14:creationId xmlns:p14="http://schemas.microsoft.com/office/powerpoint/2010/main" val="37502813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Sólo el título">
    <p:spTree>
      <p:nvGrpSpPr>
        <p:cNvPr id="1" name=""/>
        <p:cNvGrpSpPr/>
        <p:nvPr/>
      </p:nvGrpSpPr>
      <p:grpSpPr>
        <a:xfrm>
          <a:off x="0" y="0"/>
          <a:ext cx="0" cy="0"/>
          <a:chOff x="0" y="0"/>
          <a:chExt cx="0" cy="0"/>
        </a:xfrm>
      </p:grpSpPr>
      <p:grpSp>
        <p:nvGrpSpPr>
          <p:cNvPr id="6" name="Agrupar 1"/>
          <p:cNvGrpSpPr/>
          <p:nvPr userDrawn="1"/>
        </p:nvGrpSpPr>
        <p:grpSpPr>
          <a:xfrm>
            <a:off x="35496" y="32965"/>
            <a:ext cx="9073006" cy="6780411"/>
            <a:chOff x="35496" y="32965"/>
            <a:chExt cx="9073006" cy="6780411"/>
          </a:xfrm>
        </p:grpSpPr>
        <p:pic>
          <p:nvPicPr>
            <p:cNvPr id="7" name="6 Imagen"/>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5496" y="620688"/>
              <a:ext cx="9050678" cy="5780259"/>
            </a:xfrm>
            <a:prstGeom prst="rect">
              <a:avLst/>
            </a:prstGeom>
          </p:spPr>
        </p:pic>
        <p:pic>
          <p:nvPicPr>
            <p:cNvPr id="8" name="7 Imagen"/>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7625" y="32965"/>
              <a:ext cx="9048750" cy="619125"/>
            </a:xfrm>
            <a:prstGeom prst="rect">
              <a:avLst/>
            </a:prstGeom>
          </p:spPr>
        </p:pic>
        <p:pic>
          <p:nvPicPr>
            <p:cNvPr id="9" name="8 Imagen"/>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5497" y="6187385"/>
              <a:ext cx="9073005" cy="625991"/>
            </a:xfrm>
            <a:prstGeom prst="rect">
              <a:avLst/>
            </a:prstGeom>
          </p:spPr>
        </p:pic>
      </p:grpSp>
      <p:sp>
        <p:nvSpPr>
          <p:cNvPr id="2" name="1 Título"/>
          <p:cNvSpPr>
            <a:spLocks noGrp="1"/>
          </p:cNvSpPr>
          <p:nvPr>
            <p:ph type="title"/>
          </p:nvPr>
        </p:nvSpPr>
        <p:spPr>
          <a:xfrm>
            <a:off x="47625" y="32965"/>
            <a:ext cx="8217470" cy="587723"/>
          </a:xfrm>
        </p:spPr>
        <p:txBody>
          <a:bodyPr>
            <a:noAutofit/>
          </a:bodyPr>
          <a:lstStyle>
            <a:lvl1pPr algn="l">
              <a:defRPr sz="2000" b="1">
                <a:solidFill>
                  <a:schemeClr val="bg1"/>
                </a:solidFill>
                <a:latin typeface="Arial" pitchFamily="34" charset="0"/>
                <a:cs typeface="Arial" pitchFamily="34" charset="0"/>
              </a:defRPr>
            </a:lvl1pPr>
          </a:lstStyle>
          <a:p>
            <a:r>
              <a:rPr lang="es-ES"/>
              <a:t>Haga clic para modificar el estilo de título del patrón</a:t>
            </a:r>
            <a:endParaRPr lang="es-PE" dirty="0"/>
          </a:p>
        </p:txBody>
      </p:sp>
    </p:spTree>
    <p:extLst>
      <p:ext uri="{BB962C8B-B14F-4D97-AF65-F5344CB8AC3E}">
        <p14:creationId xmlns:p14="http://schemas.microsoft.com/office/powerpoint/2010/main" val="305490880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grpSp>
        <p:nvGrpSpPr>
          <p:cNvPr id="10" name="Agrupar 1"/>
          <p:cNvGrpSpPr/>
          <p:nvPr userDrawn="1"/>
        </p:nvGrpSpPr>
        <p:grpSpPr>
          <a:xfrm>
            <a:off x="35496" y="32965"/>
            <a:ext cx="9073006" cy="6780411"/>
            <a:chOff x="35496" y="32965"/>
            <a:chExt cx="9073006" cy="6780411"/>
          </a:xfrm>
        </p:grpSpPr>
        <p:pic>
          <p:nvPicPr>
            <p:cNvPr id="11" name="10 Imagen"/>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5496" y="620688"/>
              <a:ext cx="9050678" cy="5780259"/>
            </a:xfrm>
            <a:prstGeom prst="rect">
              <a:avLst/>
            </a:prstGeom>
          </p:spPr>
        </p:pic>
        <p:pic>
          <p:nvPicPr>
            <p:cNvPr id="12" name="11 Imagen"/>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7625" y="32965"/>
              <a:ext cx="9048750" cy="619125"/>
            </a:xfrm>
            <a:prstGeom prst="rect">
              <a:avLst/>
            </a:prstGeom>
          </p:spPr>
        </p:pic>
        <p:pic>
          <p:nvPicPr>
            <p:cNvPr id="13" name="8 Imagen"/>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5497" y="6187385"/>
              <a:ext cx="9073005" cy="625991"/>
            </a:xfrm>
            <a:prstGeom prst="rect">
              <a:avLst/>
            </a:prstGeom>
          </p:spPr>
        </p:pic>
      </p:grpSp>
      <p:sp>
        <p:nvSpPr>
          <p:cNvPr id="2" name="1 Título"/>
          <p:cNvSpPr>
            <a:spLocks noGrp="1"/>
          </p:cNvSpPr>
          <p:nvPr>
            <p:ph type="title"/>
          </p:nvPr>
        </p:nvSpPr>
        <p:spPr>
          <a:xfrm>
            <a:off x="47624" y="32965"/>
            <a:ext cx="8217471" cy="587723"/>
          </a:xfrm>
        </p:spPr>
        <p:txBody>
          <a:bodyPr>
            <a:normAutofit/>
          </a:bodyPr>
          <a:lstStyle>
            <a:lvl1pPr algn="l">
              <a:defRPr sz="2000" b="1">
                <a:solidFill>
                  <a:schemeClr val="bg1"/>
                </a:solidFill>
                <a:latin typeface="Arial" pitchFamily="34" charset="0"/>
                <a:cs typeface="Arial" pitchFamily="34" charset="0"/>
              </a:defRPr>
            </a:lvl1pPr>
          </a:lstStyle>
          <a:p>
            <a:r>
              <a:rPr lang="es-ES"/>
              <a:t>Haga clic para modificar el estilo de título del patrón</a:t>
            </a:r>
            <a:endParaRPr lang="es-PE"/>
          </a:p>
        </p:txBody>
      </p:sp>
      <p:sp>
        <p:nvSpPr>
          <p:cNvPr id="3" name="2 Marcador de texto"/>
          <p:cNvSpPr>
            <a:spLocks noGrp="1"/>
          </p:cNvSpPr>
          <p:nvPr>
            <p:ph type="body" idx="1"/>
          </p:nvPr>
        </p:nvSpPr>
        <p:spPr>
          <a:xfrm>
            <a:off x="323528" y="908720"/>
            <a:ext cx="4163468" cy="639762"/>
          </a:xfrm>
          <a:solidFill>
            <a:srgbClr val="EC2111"/>
          </a:solidFill>
        </p:spPr>
        <p:txBody>
          <a:bodyPr anchor="b">
            <a:noAutofit/>
          </a:bodyPr>
          <a:lstStyle>
            <a:lvl1pPr marL="0" indent="0">
              <a:buNone/>
              <a:defRPr sz="1800" b="1">
                <a:solidFill>
                  <a:schemeClr val="bg1"/>
                </a:solidFill>
                <a:latin typeface="Arial" pitchFamily="34" charset="0"/>
                <a:cs typeface="Arial"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4" name="3 Marcador de contenido"/>
          <p:cNvSpPr>
            <a:spLocks noGrp="1"/>
          </p:cNvSpPr>
          <p:nvPr>
            <p:ph sz="half" idx="2"/>
          </p:nvPr>
        </p:nvSpPr>
        <p:spPr>
          <a:xfrm>
            <a:off x="323528" y="1700808"/>
            <a:ext cx="4173860" cy="4392488"/>
          </a:xfrm>
        </p:spPr>
        <p:txBody>
          <a:bodyPr>
            <a:normAutofit/>
          </a:bodyPr>
          <a:lstStyle>
            <a:lvl1pPr marL="185738" indent="-185738">
              <a:defRPr sz="2000">
                <a:latin typeface="Arial" pitchFamily="34" charset="0"/>
                <a:cs typeface="Arial" pitchFamily="34" charset="0"/>
              </a:defRPr>
            </a:lvl1pPr>
            <a:lvl2pPr marL="630238" indent="-173038">
              <a:defRPr sz="1800">
                <a:latin typeface="Arial" pitchFamily="34" charset="0"/>
                <a:cs typeface="Arial" pitchFamily="34" charset="0"/>
              </a:defRPr>
            </a:lvl2pPr>
            <a:lvl3pPr marL="1074738" indent="-160338">
              <a:defRPr sz="1600">
                <a:latin typeface="Arial" pitchFamily="34" charset="0"/>
                <a:cs typeface="Arial" pitchFamily="34" charset="0"/>
              </a:defRPr>
            </a:lvl3pPr>
            <a:lvl4pPr marL="1519238" indent="-147638">
              <a:defRPr sz="1400">
                <a:latin typeface="Arial" pitchFamily="34" charset="0"/>
                <a:cs typeface="Arial" pitchFamily="34" charset="0"/>
              </a:defRPr>
            </a:lvl4pPr>
            <a:lvl5pPr marL="1976438" indent="-147638">
              <a:defRPr sz="1400">
                <a:latin typeface="Arial" pitchFamily="34" charset="0"/>
                <a:cs typeface="Arial" pitchFamily="34" charset="0"/>
              </a:defRPr>
            </a:lvl5pPr>
            <a:lvl6pPr>
              <a:defRPr sz="1600"/>
            </a:lvl6pPr>
            <a:lvl7pPr>
              <a:defRPr sz="1600"/>
            </a:lvl7pPr>
            <a:lvl8pPr>
              <a:defRPr sz="1600"/>
            </a:lvl8pPr>
            <a:lvl9pPr>
              <a:defRPr sz="16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PE" dirty="0"/>
          </a:p>
        </p:txBody>
      </p:sp>
      <p:sp>
        <p:nvSpPr>
          <p:cNvPr id="5" name="4 Marcador de texto"/>
          <p:cNvSpPr>
            <a:spLocks noGrp="1"/>
          </p:cNvSpPr>
          <p:nvPr>
            <p:ph type="body" sz="quarter" idx="3"/>
          </p:nvPr>
        </p:nvSpPr>
        <p:spPr>
          <a:xfrm>
            <a:off x="4655369" y="908720"/>
            <a:ext cx="4165103" cy="639762"/>
          </a:xfrm>
          <a:solidFill>
            <a:srgbClr val="EC2111"/>
          </a:solidFill>
        </p:spPr>
        <p:txBody>
          <a:bodyPr anchor="b">
            <a:noAutofit/>
          </a:bodyPr>
          <a:lstStyle>
            <a:lvl1pPr marL="0" indent="0">
              <a:buNone/>
              <a:defRPr sz="1800" b="1">
                <a:solidFill>
                  <a:schemeClr val="bg1"/>
                </a:solidFill>
                <a:latin typeface="Arial" pitchFamily="34" charset="0"/>
                <a:cs typeface="Arial"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6" name="5 Marcador de contenido"/>
          <p:cNvSpPr>
            <a:spLocks noGrp="1"/>
          </p:cNvSpPr>
          <p:nvPr>
            <p:ph sz="quarter" idx="4"/>
          </p:nvPr>
        </p:nvSpPr>
        <p:spPr>
          <a:xfrm>
            <a:off x="4644009" y="1700808"/>
            <a:ext cx="4176464" cy="4392488"/>
          </a:xfrm>
        </p:spPr>
        <p:txBody>
          <a:bodyPr>
            <a:normAutofit/>
          </a:bodyPr>
          <a:lstStyle>
            <a:lvl1pPr marL="185738" indent="-185738">
              <a:defRPr sz="2000">
                <a:latin typeface="Arial" pitchFamily="34" charset="0"/>
                <a:cs typeface="Arial" pitchFamily="34" charset="0"/>
              </a:defRPr>
            </a:lvl1pPr>
            <a:lvl2pPr marL="630238" indent="-173038">
              <a:defRPr sz="1800">
                <a:latin typeface="Arial" pitchFamily="34" charset="0"/>
                <a:cs typeface="Arial" pitchFamily="34" charset="0"/>
              </a:defRPr>
            </a:lvl2pPr>
            <a:lvl3pPr marL="1074738" indent="-160338">
              <a:defRPr sz="1600">
                <a:latin typeface="Arial" pitchFamily="34" charset="0"/>
                <a:cs typeface="Arial" pitchFamily="34" charset="0"/>
              </a:defRPr>
            </a:lvl3pPr>
            <a:lvl4pPr marL="1519238" indent="-147638">
              <a:defRPr sz="1400">
                <a:latin typeface="Arial" pitchFamily="34" charset="0"/>
                <a:cs typeface="Arial" pitchFamily="34" charset="0"/>
              </a:defRPr>
            </a:lvl4pPr>
            <a:lvl5pPr marL="1976438" indent="-147638">
              <a:defRPr sz="1400">
                <a:latin typeface="Arial" pitchFamily="34" charset="0"/>
                <a:cs typeface="Arial" pitchFamily="34" charset="0"/>
              </a:defRPr>
            </a:lvl5pPr>
            <a:lvl6pPr>
              <a:defRPr sz="1600"/>
            </a:lvl6pPr>
            <a:lvl7pPr>
              <a:defRPr sz="1600"/>
            </a:lvl7pPr>
            <a:lvl8pPr>
              <a:defRPr sz="1600"/>
            </a:lvl8pPr>
            <a:lvl9pPr>
              <a:defRPr sz="16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PE" dirty="0"/>
          </a:p>
        </p:txBody>
      </p:sp>
    </p:spTree>
    <p:extLst>
      <p:ext uri="{BB962C8B-B14F-4D97-AF65-F5344CB8AC3E}">
        <p14:creationId xmlns:p14="http://schemas.microsoft.com/office/powerpoint/2010/main" val="41311837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pic>
        <p:nvPicPr>
          <p:cNvPr id="5" name="Imagen 1" descr="final.jpg"/>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9144000" cy="6854271"/>
          </a:xfrm>
          <a:prstGeom prst="rect">
            <a:avLst/>
          </a:prstGeom>
        </p:spPr>
      </p:pic>
    </p:spTree>
    <p:extLst>
      <p:ext uri="{BB962C8B-B14F-4D97-AF65-F5344CB8AC3E}">
        <p14:creationId xmlns:p14="http://schemas.microsoft.com/office/powerpoint/2010/main" val="344186682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image" Target="../media/image3.jpeg"/><Relationship Id="rId4" Type="http://schemas.openxmlformats.org/officeDocument/2006/relationships/slideLayout" Target="../slideLayouts/slideLayout4.xml"/><Relationship Id="rId9" Type="http://schemas.openxmlformats.org/officeDocument/2006/relationships/image" Target="../media/image2.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Agrupar 1"/>
          <p:cNvGrpSpPr/>
          <p:nvPr/>
        </p:nvGrpSpPr>
        <p:grpSpPr>
          <a:xfrm>
            <a:off x="35496" y="32965"/>
            <a:ext cx="9073006" cy="6780411"/>
            <a:chOff x="35496" y="32965"/>
            <a:chExt cx="9073006" cy="6780411"/>
          </a:xfrm>
        </p:grpSpPr>
        <p:pic>
          <p:nvPicPr>
            <p:cNvPr id="8" name="7 Imagen"/>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35496" y="620688"/>
              <a:ext cx="9050678" cy="5780259"/>
            </a:xfrm>
            <a:prstGeom prst="rect">
              <a:avLst/>
            </a:prstGeom>
          </p:spPr>
        </p:pic>
        <p:pic>
          <p:nvPicPr>
            <p:cNvPr id="9" name="8 Imagen"/>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35497" y="6187385"/>
              <a:ext cx="9073005" cy="625991"/>
            </a:xfrm>
            <a:prstGeom prst="rect">
              <a:avLst/>
            </a:prstGeom>
          </p:spPr>
        </p:pic>
        <p:pic>
          <p:nvPicPr>
            <p:cNvPr id="10" name="9 Imagen"/>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47625" y="32965"/>
              <a:ext cx="9048750" cy="619125"/>
            </a:xfrm>
            <a:prstGeom prst="rect">
              <a:avLst/>
            </a:prstGeom>
          </p:spPr>
        </p:pic>
      </p:grpSp>
      <p:sp>
        <p:nvSpPr>
          <p:cNvPr id="2" name="1 Marcador de título"/>
          <p:cNvSpPr>
            <a:spLocks noGrp="1"/>
          </p:cNvSpPr>
          <p:nvPr>
            <p:ph type="title"/>
          </p:nvPr>
        </p:nvSpPr>
        <p:spPr>
          <a:xfrm>
            <a:off x="47625" y="32965"/>
            <a:ext cx="7692727" cy="587723"/>
          </a:xfrm>
          <a:prstGeom prst="rect">
            <a:avLst/>
          </a:prstGeom>
        </p:spPr>
        <p:txBody>
          <a:bodyPr vert="horz" lIns="91440" tIns="45720" rIns="91440" bIns="45720" rtlCol="0" anchor="ctr">
            <a:noAutofit/>
          </a:bodyPr>
          <a:lstStyle/>
          <a:p>
            <a:r>
              <a:rPr lang="es-ES" dirty="0"/>
              <a:t>Haga clic para modificar el estilo de título del patrón</a:t>
            </a:r>
            <a:endParaRPr lang="es-PE" dirty="0"/>
          </a:p>
        </p:txBody>
      </p:sp>
      <p:sp>
        <p:nvSpPr>
          <p:cNvPr id="3" name="2 Marcador de texto"/>
          <p:cNvSpPr>
            <a:spLocks noGrp="1"/>
          </p:cNvSpPr>
          <p:nvPr>
            <p:ph type="body" idx="1"/>
          </p:nvPr>
        </p:nvSpPr>
        <p:spPr>
          <a:xfrm>
            <a:off x="251520" y="1052736"/>
            <a:ext cx="8568952" cy="4968551"/>
          </a:xfrm>
          <a:prstGeom prst="rect">
            <a:avLst/>
          </a:prstGeom>
        </p:spPr>
        <p:txBody>
          <a:bodyPr vert="horz" lIns="91440" tIns="45720" rIns="91440" bIns="45720" rtlCol="0">
            <a:normAutofit/>
          </a:bodyPr>
          <a:lstStyle/>
          <a:p>
            <a:pPr lvl="0"/>
            <a:r>
              <a:rPr lang="es-ES" dirty="0"/>
              <a:t>Haga clic para modificar el estilo de texto del patrón</a:t>
            </a:r>
          </a:p>
          <a:p>
            <a:pPr lvl="1"/>
            <a:r>
              <a:rPr lang="es-ES" dirty="0"/>
              <a:t>Segundo nivel</a:t>
            </a:r>
          </a:p>
          <a:p>
            <a:pPr lvl="2"/>
            <a:r>
              <a:rPr lang="es-ES" dirty="0"/>
              <a:t>Tercer nivel</a:t>
            </a:r>
          </a:p>
          <a:p>
            <a:pPr lvl="3"/>
            <a:r>
              <a:rPr lang="es-ES" dirty="0"/>
              <a:t>Cuarto nivel</a:t>
            </a:r>
          </a:p>
          <a:p>
            <a:pPr lvl="4"/>
            <a:r>
              <a:rPr lang="es-ES" dirty="0"/>
              <a:t>Quinto nivel</a:t>
            </a:r>
            <a:endParaRPr lang="es-PE" dirty="0"/>
          </a:p>
        </p:txBody>
      </p:sp>
    </p:spTree>
    <p:extLst>
      <p:ext uri="{BB962C8B-B14F-4D97-AF65-F5344CB8AC3E}">
        <p14:creationId xmlns:p14="http://schemas.microsoft.com/office/powerpoint/2010/main" val="4091664312"/>
      </p:ext>
    </p:extLst>
  </p:cSld>
  <p:clrMap bg1="lt1" tx1="dk1" bg2="lt2" tx2="dk2" accent1="accent1" accent2="accent2" accent3="accent3" accent4="accent4" accent5="accent5" accent6="accent6" hlink="hlink" folHlink="folHlink"/>
  <p:sldLayoutIdLst>
    <p:sldLayoutId id="2147483649" r:id="rId1"/>
    <p:sldLayoutId id="2147483652" r:id="rId2"/>
    <p:sldLayoutId id="2147483650" r:id="rId3"/>
    <p:sldLayoutId id="2147483654" r:id="rId4"/>
    <p:sldLayoutId id="2147483653" r:id="rId5"/>
    <p:sldLayoutId id="2147483655" r:id="rId6"/>
  </p:sldLayoutIdLst>
  <p:txStyles>
    <p:titleStyle>
      <a:lvl1pPr algn="l" defTabSz="914400" rtl="0" eaLnBrk="1" latinLnBrk="0" hangingPunct="1">
        <a:spcBef>
          <a:spcPct val="0"/>
        </a:spcBef>
        <a:buNone/>
        <a:defRPr sz="2000" b="1" kern="1200">
          <a:solidFill>
            <a:schemeClr val="bg1"/>
          </a:solidFill>
          <a:latin typeface="Arial" pitchFamily="34" charset="0"/>
          <a:ea typeface="+mj-ea"/>
          <a:cs typeface="Arial" pitchFamily="34" charset="0"/>
        </a:defRPr>
      </a:lvl1pPr>
    </p:titleStyle>
    <p:bodyStyle>
      <a:lvl1pPr marL="185738" indent="-185738" algn="l" defTabSz="914400" rtl="0" eaLnBrk="1" latinLnBrk="0" hangingPunct="1">
        <a:spcBef>
          <a:spcPct val="20000"/>
        </a:spcBef>
        <a:buFont typeface="Arial" pitchFamily="34" charset="0"/>
        <a:buChar char="•"/>
        <a:defRPr sz="2000" b="1" kern="1200">
          <a:solidFill>
            <a:schemeClr val="tx1"/>
          </a:solidFill>
          <a:latin typeface="Arial" pitchFamily="34" charset="0"/>
          <a:ea typeface="+mn-ea"/>
          <a:cs typeface="Arial" pitchFamily="34" charset="0"/>
        </a:defRPr>
      </a:lvl1pPr>
      <a:lvl2pPr marL="630238" indent="-173038" algn="l" defTabSz="914400" rtl="0" eaLnBrk="1" latinLnBrk="0" hangingPunct="1">
        <a:spcBef>
          <a:spcPct val="20000"/>
        </a:spcBef>
        <a:buFont typeface="Arial" pitchFamily="34" charset="0"/>
        <a:buChar char="–"/>
        <a:defRPr sz="1800" kern="1200">
          <a:solidFill>
            <a:schemeClr val="tx1"/>
          </a:solidFill>
          <a:latin typeface="Arial" pitchFamily="34" charset="0"/>
          <a:ea typeface="+mn-ea"/>
          <a:cs typeface="Arial" pitchFamily="34" charset="0"/>
        </a:defRPr>
      </a:lvl2pPr>
      <a:lvl3pPr marL="1074738" indent="-160338" algn="l" defTabSz="914400" rtl="0" eaLnBrk="1" latinLnBrk="0" hangingPunct="1">
        <a:spcBef>
          <a:spcPct val="20000"/>
        </a:spcBef>
        <a:buFont typeface="Arial" pitchFamily="34" charset="0"/>
        <a:buChar char="•"/>
        <a:defRPr sz="1600" kern="1200">
          <a:solidFill>
            <a:schemeClr val="tx1"/>
          </a:solidFill>
          <a:latin typeface="Arial" pitchFamily="34" charset="0"/>
          <a:ea typeface="+mn-ea"/>
          <a:cs typeface="Arial" pitchFamily="34" charset="0"/>
        </a:defRPr>
      </a:lvl3pPr>
      <a:lvl4pPr marL="1519238" indent="-147638" algn="l" defTabSz="914400" rtl="0" eaLnBrk="1" latinLnBrk="0" hangingPunct="1">
        <a:spcBef>
          <a:spcPct val="20000"/>
        </a:spcBef>
        <a:buFont typeface="Arial" pitchFamily="34" charset="0"/>
        <a:buChar char="–"/>
        <a:defRPr sz="1400" kern="1200">
          <a:solidFill>
            <a:schemeClr val="tx1"/>
          </a:solidFill>
          <a:latin typeface="Arial" pitchFamily="34" charset="0"/>
          <a:ea typeface="+mn-ea"/>
          <a:cs typeface="Arial" pitchFamily="34" charset="0"/>
        </a:defRPr>
      </a:lvl4pPr>
      <a:lvl5pPr marL="1976438" indent="-147638" algn="l" defTabSz="914400" rtl="0" eaLnBrk="1" latinLnBrk="0" hangingPunct="1">
        <a:spcBef>
          <a:spcPct val="20000"/>
        </a:spcBef>
        <a:buFont typeface="Arial" pitchFamily="34" charset="0"/>
        <a:buChar char="»"/>
        <a:defRPr sz="14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s-P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slide" Target="slide9.xml"/><Relationship Id="rId7" Type="http://schemas.openxmlformats.org/officeDocument/2006/relationships/slide" Target="slide29.xml"/><Relationship Id="rId2" Type="http://schemas.openxmlformats.org/officeDocument/2006/relationships/slide" Target="slide7.xml"/><Relationship Id="rId1" Type="http://schemas.openxmlformats.org/officeDocument/2006/relationships/slideLayout" Target="../slideLayouts/slideLayout4.xml"/><Relationship Id="rId6" Type="http://schemas.openxmlformats.org/officeDocument/2006/relationships/slide" Target="slide25.xml"/><Relationship Id="rId5" Type="http://schemas.openxmlformats.org/officeDocument/2006/relationships/slide" Target="slide21.xml"/><Relationship Id="rId4" Type="http://schemas.openxmlformats.org/officeDocument/2006/relationships/slide" Target="slide12.xml"/></Relationships>
</file>

<file path=ppt/slides/_rels/slide6.xml.rels><?xml version="1.0" encoding="UTF-8" standalone="yes"?>
<Relationships xmlns="http://schemas.openxmlformats.org/package/2006/relationships"><Relationship Id="rId3" Type="http://schemas.openxmlformats.org/officeDocument/2006/relationships/slide" Target="slide9.xml"/><Relationship Id="rId7" Type="http://schemas.openxmlformats.org/officeDocument/2006/relationships/slide" Target="slide29.xml"/><Relationship Id="rId2" Type="http://schemas.openxmlformats.org/officeDocument/2006/relationships/slide" Target="slide7.xml"/><Relationship Id="rId1" Type="http://schemas.openxmlformats.org/officeDocument/2006/relationships/slideLayout" Target="../slideLayouts/slideLayout4.xml"/><Relationship Id="rId6" Type="http://schemas.openxmlformats.org/officeDocument/2006/relationships/slide" Target="slide25.xml"/><Relationship Id="rId5" Type="http://schemas.openxmlformats.org/officeDocument/2006/relationships/slide" Target="slide21.xml"/><Relationship Id="rId4" Type="http://schemas.openxmlformats.org/officeDocument/2006/relationships/slide" Target="slide12.xml"/></Relationships>
</file>

<file path=ppt/slides/_rels/slide7.xml.rels><?xml version="1.0" encoding="UTF-8" standalone="yes"?>
<Relationships xmlns="http://schemas.openxmlformats.org/package/2006/relationships"><Relationship Id="rId2" Type="http://schemas.openxmlformats.org/officeDocument/2006/relationships/slide" Target="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slide" Target="slide7.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slide" Target="slide7.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slide" Target="slide7.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slide" Target="slide7.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slide" Target="slide7.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slide" Target="slide9.xml"/><Relationship Id="rId7" Type="http://schemas.openxmlformats.org/officeDocument/2006/relationships/slide" Target="slide29.xml"/><Relationship Id="rId2" Type="http://schemas.openxmlformats.org/officeDocument/2006/relationships/slide" Target="slide7.xml"/><Relationship Id="rId1" Type="http://schemas.openxmlformats.org/officeDocument/2006/relationships/slideLayout" Target="../slideLayouts/slideLayout4.xml"/><Relationship Id="rId6" Type="http://schemas.openxmlformats.org/officeDocument/2006/relationships/slide" Target="slide25.xml"/><Relationship Id="rId5" Type="http://schemas.openxmlformats.org/officeDocument/2006/relationships/slide" Target="slide21.xml"/><Relationship Id="rId4" Type="http://schemas.openxmlformats.org/officeDocument/2006/relationships/slide" Target="slide12.xml"/></Relationships>
</file>

<file path=ppt/slides/_rels/slide14.xml.rels><?xml version="1.0" encoding="UTF-8" standalone="yes"?>
<Relationships xmlns="http://schemas.openxmlformats.org/package/2006/relationships"><Relationship Id="rId3" Type="http://schemas.openxmlformats.org/officeDocument/2006/relationships/slide" Target="slide30.xml"/><Relationship Id="rId2" Type="http://schemas.openxmlformats.org/officeDocument/2006/relationships/slide" Target="slide7.xml"/><Relationship Id="rId1" Type="http://schemas.openxmlformats.org/officeDocument/2006/relationships/slideLayout" Target="../slideLayouts/slideLayout4.xml"/><Relationship Id="rId4" Type="http://schemas.openxmlformats.org/officeDocument/2006/relationships/slide" Target="slide31.xml"/></Relationships>
</file>

<file path=ppt/slides/_rels/slide15.xml.rels><?xml version="1.0" encoding="UTF-8" standalone="yes"?>
<Relationships xmlns="http://schemas.openxmlformats.org/package/2006/relationships"><Relationship Id="rId2" Type="http://schemas.openxmlformats.org/officeDocument/2006/relationships/slide" Target="slide7.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slide" Target="slide7.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slide" Target="slide9.xml"/><Relationship Id="rId7" Type="http://schemas.openxmlformats.org/officeDocument/2006/relationships/slide" Target="slide29.xml"/><Relationship Id="rId2" Type="http://schemas.openxmlformats.org/officeDocument/2006/relationships/slide" Target="slide7.xml"/><Relationship Id="rId1" Type="http://schemas.openxmlformats.org/officeDocument/2006/relationships/slideLayout" Target="../slideLayouts/slideLayout4.xml"/><Relationship Id="rId6" Type="http://schemas.openxmlformats.org/officeDocument/2006/relationships/slide" Target="slide25.xml"/><Relationship Id="rId5" Type="http://schemas.openxmlformats.org/officeDocument/2006/relationships/slide" Target="slide21.xml"/><Relationship Id="rId4" Type="http://schemas.openxmlformats.org/officeDocument/2006/relationships/slide" Target="slide12.xml"/></Relationships>
</file>

<file path=ppt/slides/_rels/slide18.xml.rels><?xml version="1.0" encoding="UTF-8" standalone="yes"?>
<Relationships xmlns="http://schemas.openxmlformats.org/package/2006/relationships"><Relationship Id="rId2" Type="http://schemas.openxmlformats.org/officeDocument/2006/relationships/slide" Target="slide7.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slide" Target="slide32.xml"/><Relationship Id="rId2" Type="http://schemas.openxmlformats.org/officeDocument/2006/relationships/slide" Target="slide7.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8" Type="http://schemas.openxmlformats.org/officeDocument/2006/relationships/slide" Target="slide7.xml"/><Relationship Id="rId3" Type="http://schemas.openxmlformats.org/officeDocument/2006/relationships/image" Target="../media/image6.png"/><Relationship Id="rId7" Type="http://schemas.openxmlformats.org/officeDocument/2006/relationships/slide" Target="slide42.xml"/><Relationship Id="rId2" Type="http://schemas.openxmlformats.org/officeDocument/2006/relationships/slide" Target="slide48.xml"/><Relationship Id="rId1" Type="http://schemas.openxmlformats.org/officeDocument/2006/relationships/slideLayout" Target="../slideLayouts/slideLayout4.xml"/><Relationship Id="rId6" Type="http://schemas.openxmlformats.org/officeDocument/2006/relationships/slide" Target="slide43.xml"/><Relationship Id="rId5" Type="http://schemas.openxmlformats.org/officeDocument/2006/relationships/slide" Target="slide44.xml"/><Relationship Id="rId10" Type="http://schemas.openxmlformats.org/officeDocument/2006/relationships/slide" Target="slide50.xml"/><Relationship Id="rId4" Type="http://schemas.openxmlformats.org/officeDocument/2006/relationships/slide" Target="slide46.xml"/><Relationship Id="rId9" Type="http://schemas.openxmlformats.org/officeDocument/2006/relationships/slide" Target="slide61.xml"/></Relationships>
</file>

<file path=ppt/slides/_rels/slide2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slide" Target="slide52.xml"/><Relationship Id="rId7" Type="http://schemas.openxmlformats.org/officeDocument/2006/relationships/slide" Target="slide55.xml"/><Relationship Id="rId2" Type="http://schemas.openxmlformats.org/officeDocument/2006/relationships/slide" Target="slide53.xml"/><Relationship Id="rId1" Type="http://schemas.openxmlformats.org/officeDocument/2006/relationships/slideLayout" Target="../slideLayouts/slideLayout4.xml"/><Relationship Id="rId6" Type="http://schemas.openxmlformats.org/officeDocument/2006/relationships/slide" Target="slide62.xml"/><Relationship Id="rId5" Type="http://schemas.openxmlformats.org/officeDocument/2006/relationships/slide" Target="slide7.xml"/><Relationship Id="rId4" Type="http://schemas.openxmlformats.org/officeDocument/2006/relationships/slide" Target="slide51.xml"/></Relationships>
</file>

<file path=ppt/slides/_rels/slide22.xml.rels><?xml version="1.0" encoding="UTF-8" standalone="yes"?>
<Relationships xmlns="http://schemas.openxmlformats.org/package/2006/relationships"><Relationship Id="rId3" Type="http://schemas.openxmlformats.org/officeDocument/2006/relationships/slide" Target="slide57.xml"/><Relationship Id="rId7" Type="http://schemas.openxmlformats.org/officeDocument/2006/relationships/slide" Target="slide7.xml"/><Relationship Id="rId2" Type="http://schemas.openxmlformats.org/officeDocument/2006/relationships/slide" Target="slide58.xml"/><Relationship Id="rId1" Type="http://schemas.openxmlformats.org/officeDocument/2006/relationships/slideLayout" Target="../slideLayouts/slideLayout4.xml"/><Relationship Id="rId6" Type="http://schemas.openxmlformats.org/officeDocument/2006/relationships/slide" Target="slide60.xml"/><Relationship Id="rId5" Type="http://schemas.openxmlformats.org/officeDocument/2006/relationships/slide" Target="slide59.xml"/><Relationship Id="rId4" Type="http://schemas.openxmlformats.org/officeDocument/2006/relationships/slide" Target="slide56.xml"/></Relationships>
</file>

<file path=ppt/slides/_rels/slide23.xml.rels><?xml version="1.0" encoding="UTF-8" standalone="yes"?>
<Relationships xmlns="http://schemas.openxmlformats.org/package/2006/relationships"><Relationship Id="rId2" Type="http://schemas.openxmlformats.org/officeDocument/2006/relationships/slide" Target="slide7.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3" Type="http://schemas.openxmlformats.org/officeDocument/2006/relationships/slide" Target="slide65.xml"/><Relationship Id="rId2" Type="http://schemas.openxmlformats.org/officeDocument/2006/relationships/slide" Target="slide63.xml"/><Relationship Id="rId1" Type="http://schemas.openxmlformats.org/officeDocument/2006/relationships/slideLayout" Target="../slideLayouts/slideLayout4.xml"/><Relationship Id="rId5" Type="http://schemas.openxmlformats.org/officeDocument/2006/relationships/slide" Target="slide7.xml"/><Relationship Id="rId4" Type="http://schemas.openxmlformats.org/officeDocument/2006/relationships/slide" Target="slide67.xml"/></Relationships>
</file>

<file path=ppt/slides/_rels/slide25.xml.rels><?xml version="1.0" encoding="UTF-8" standalone="yes"?>
<Relationships xmlns="http://schemas.openxmlformats.org/package/2006/relationships"><Relationship Id="rId3" Type="http://schemas.openxmlformats.org/officeDocument/2006/relationships/slide" Target="slide9.xml"/><Relationship Id="rId7" Type="http://schemas.openxmlformats.org/officeDocument/2006/relationships/slide" Target="slide29.xml"/><Relationship Id="rId2" Type="http://schemas.openxmlformats.org/officeDocument/2006/relationships/slide" Target="slide7.xml"/><Relationship Id="rId1" Type="http://schemas.openxmlformats.org/officeDocument/2006/relationships/slideLayout" Target="../slideLayouts/slideLayout4.xml"/><Relationship Id="rId6" Type="http://schemas.openxmlformats.org/officeDocument/2006/relationships/slide" Target="slide25.xml"/><Relationship Id="rId5" Type="http://schemas.openxmlformats.org/officeDocument/2006/relationships/slide" Target="slide21.xml"/><Relationship Id="rId4" Type="http://schemas.openxmlformats.org/officeDocument/2006/relationships/slide" Target="slide12.xml"/></Relationships>
</file>

<file path=ppt/slides/_rels/slide26.xml.rels><?xml version="1.0" encoding="UTF-8" standalone="yes"?>
<Relationships xmlns="http://schemas.openxmlformats.org/package/2006/relationships"><Relationship Id="rId3" Type="http://schemas.openxmlformats.org/officeDocument/2006/relationships/slide" Target="slide9.xml"/><Relationship Id="rId7" Type="http://schemas.openxmlformats.org/officeDocument/2006/relationships/slide" Target="slide29.xml"/><Relationship Id="rId2" Type="http://schemas.openxmlformats.org/officeDocument/2006/relationships/slide" Target="slide7.xml"/><Relationship Id="rId1" Type="http://schemas.openxmlformats.org/officeDocument/2006/relationships/slideLayout" Target="../slideLayouts/slideLayout4.xml"/><Relationship Id="rId6" Type="http://schemas.openxmlformats.org/officeDocument/2006/relationships/slide" Target="slide25.xml"/><Relationship Id="rId5" Type="http://schemas.openxmlformats.org/officeDocument/2006/relationships/slide" Target="slide21.xml"/><Relationship Id="rId4" Type="http://schemas.openxmlformats.org/officeDocument/2006/relationships/slide" Target="slide12.xml"/></Relationships>
</file>

<file path=ppt/slides/_rels/slide27.xml.rels><?xml version="1.0" encoding="UTF-8" standalone="yes"?>
<Relationships xmlns="http://schemas.openxmlformats.org/package/2006/relationships"><Relationship Id="rId2" Type="http://schemas.openxmlformats.org/officeDocument/2006/relationships/slide" Target="slide7.xml"/><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slide" Target="slide7.xml"/><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3" Type="http://schemas.openxmlformats.org/officeDocument/2006/relationships/slide" Target="slide14.xml"/><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slide" Target="slide14.xml"/><Relationship Id="rId1" Type="http://schemas.openxmlformats.org/officeDocument/2006/relationships/slideLayout" Target="../slideLayouts/slideLayout4.xml"/><Relationship Id="rId4" Type="http://schemas.openxmlformats.org/officeDocument/2006/relationships/chart" Target="../charts/chart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4.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2" Type="http://schemas.openxmlformats.org/officeDocument/2006/relationships/slide" Target="slide19.xml"/><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2" Type="http://schemas.openxmlformats.org/officeDocument/2006/relationships/slide" Target="slide20.xml"/><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2" Type="http://schemas.openxmlformats.org/officeDocument/2006/relationships/slide" Target="slide20.xml"/><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2" Type="http://schemas.openxmlformats.org/officeDocument/2006/relationships/slide" Target="slide20.xml"/><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7.xml.rels><?xml version="1.0" encoding="UTF-8" standalone="yes"?>
<Relationships xmlns="http://schemas.openxmlformats.org/package/2006/relationships"><Relationship Id="rId2" Type="http://schemas.openxmlformats.org/officeDocument/2006/relationships/slide" Target="slide20.xml"/><Relationship Id="rId1" Type="http://schemas.openxmlformats.org/officeDocument/2006/relationships/slideLayout" Target="../slideLayouts/slideLayout4.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9.xml.rels><?xml version="1.0" encoding="UTF-8" standalone="yes"?>
<Relationships xmlns="http://schemas.openxmlformats.org/package/2006/relationships"><Relationship Id="rId2" Type="http://schemas.openxmlformats.org/officeDocument/2006/relationships/slide" Target="slide20.xml"/><Relationship Id="rId1" Type="http://schemas.openxmlformats.org/officeDocument/2006/relationships/slideLayout" Target="../slideLayouts/slideLayout4.xml"/></Relationships>
</file>

<file path=ppt/slides/_rels/slide50.xml.rels><?xml version="1.0" encoding="UTF-8" standalone="yes"?>
<Relationships xmlns="http://schemas.openxmlformats.org/package/2006/relationships"><Relationship Id="rId2" Type="http://schemas.openxmlformats.org/officeDocument/2006/relationships/slide" Target="slide20.xml"/><Relationship Id="rId1" Type="http://schemas.openxmlformats.org/officeDocument/2006/relationships/slideLayout" Target="../slideLayouts/slideLayout4.xml"/></Relationships>
</file>

<file path=ppt/slides/_rels/slide51.xml.rels><?xml version="1.0" encoding="UTF-8" standalone="yes"?>
<Relationships xmlns="http://schemas.openxmlformats.org/package/2006/relationships"><Relationship Id="rId2" Type="http://schemas.openxmlformats.org/officeDocument/2006/relationships/slide" Target="slide21.xml"/><Relationship Id="rId1" Type="http://schemas.openxmlformats.org/officeDocument/2006/relationships/slideLayout" Target="../slideLayouts/slideLayout4.xml"/></Relationships>
</file>

<file path=ppt/slides/_rels/slide52.xml.rels><?xml version="1.0" encoding="UTF-8" standalone="yes"?>
<Relationships xmlns="http://schemas.openxmlformats.org/package/2006/relationships"><Relationship Id="rId2" Type="http://schemas.openxmlformats.org/officeDocument/2006/relationships/slide" Target="slide21.xml"/><Relationship Id="rId1" Type="http://schemas.openxmlformats.org/officeDocument/2006/relationships/slideLayout" Target="../slideLayouts/slideLayout4.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4.xml.rels><?xml version="1.0" encoding="UTF-8" standalone="yes"?>
<Relationships xmlns="http://schemas.openxmlformats.org/package/2006/relationships"><Relationship Id="rId2" Type="http://schemas.openxmlformats.org/officeDocument/2006/relationships/slide" Target="slide21.xml"/><Relationship Id="rId1" Type="http://schemas.openxmlformats.org/officeDocument/2006/relationships/slideLayout" Target="../slideLayouts/slideLayout4.xml"/></Relationships>
</file>

<file path=ppt/slides/_rels/slide55.xml.rels><?xml version="1.0" encoding="UTF-8" standalone="yes"?>
<Relationships xmlns="http://schemas.openxmlformats.org/package/2006/relationships"><Relationship Id="rId2" Type="http://schemas.openxmlformats.org/officeDocument/2006/relationships/slide" Target="slide21.xml"/><Relationship Id="rId1" Type="http://schemas.openxmlformats.org/officeDocument/2006/relationships/slideLayout" Target="../slideLayouts/slideLayout4.xml"/></Relationships>
</file>

<file path=ppt/slides/_rels/slide56.xml.rels><?xml version="1.0" encoding="UTF-8" standalone="yes"?>
<Relationships xmlns="http://schemas.openxmlformats.org/package/2006/relationships"><Relationship Id="rId2" Type="http://schemas.openxmlformats.org/officeDocument/2006/relationships/slide" Target="slide22.xml"/><Relationship Id="rId1" Type="http://schemas.openxmlformats.org/officeDocument/2006/relationships/slideLayout" Target="../slideLayouts/slideLayout4.xml"/></Relationships>
</file>

<file path=ppt/slides/_rels/slide57.xml.rels><?xml version="1.0" encoding="UTF-8" standalone="yes"?>
<Relationships xmlns="http://schemas.openxmlformats.org/package/2006/relationships"><Relationship Id="rId2" Type="http://schemas.openxmlformats.org/officeDocument/2006/relationships/slide" Target="slide22.xml"/><Relationship Id="rId1" Type="http://schemas.openxmlformats.org/officeDocument/2006/relationships/slideLayout" Target="../slideLayouts/slideLayout4.xml"/></Relationships>
</file>

<file path=ppt/slides/_rels/slide58.xml.rels><?xml version="1.0" encoding="UTF-8" standalone="yes"?>
<Relationships xmlns="http://schemas.openxmlformats.org/package/2006/relationships"><Relationship Id="rId2" Type="http://schemas.openxmlformats.org/officeDocument/2006/relationships/slide" Target="slide22.xml"/><Relationship Id="rId1" Type="http://schemas.openxmlformats.org/officeDocument/2006/relationships/slideLayout" Target="../slideLayouts/slideLayout4.xml"/></Relationships>
</file>

<file path=ppt/slides/_rels/slide59.xml.rels><?xml version="1.0" encoding="UTF-8" standalone="yes"?>
<Relationships xmlns="http://schemas.openxmlformats.org/package/2006/relationships"><Relationship Id="rId2" Type="http://schemas.openxmlformats.org/officeDocument/2006/relationships/slide" Target="slide22.xml"/><Relationship Id="rId1" Type="http://schemas.openxmlformats.org/officeDocument/2006/relationships/slideLayout" Target="../slideLayouts/slideLayout4.xml"/></Relationships>
</file>

<file path=ppt/slides/_rels/slide60.xml.rels><?xml version="1.0" encoding="UTF-8" standalone="yes"?>
<Relationships xmlns="http://schemas.openxmlformats.org/package/2006/relationships"><Relationship Id="rId2" Type="http://schemas.openxmlformats.org/officeDocument/2006/relationships/slide" Target="slide22.xml"/><Relationship Id="rId1" Type="http://schemas.openxmlformats.org/officeDocument/2006/relationships/slideLayout" Target="../slideLayouts/slideLayout4.xml"/></Relationships>
</file>

<file path=ppt/slides/_rels/slide61.xml.rels><?xml version="1.0" encoding="UTF-8" standalone="yes"?>
<Relationships xmlns="http://schemas.openxmlformats.org/package/2006/relationships"><Relationship Id="rId3" Type="http://schemas.openxmlformats.org/officeDocument/2006/relationships/chart" Target="../charts/chart6.xml"/><Relationship Id="rId2" Type="http://schemas.openxmlformats.org/officeDocument/2006/relationships/chart" Target="../charts/chart5.xml"/><Relationship Id="rId1" Type="http://schemas.openxmlformats.org/officeDocument/2006/relationships/slideLayout" Target="../slideLayouts/slideLayout4.xml"/><Relationship Id="rId5" Type="http://schemas.openxmlformats.org/officeDocument/2006/relationships/chart" Target="../charts/chart7.xml"/><Relationship Id="rId4" Type="http://schemas.openxmlformats.org/officeDocument/2006/relationships/slide" Target="slide20.xml"/></Relationships>
</file>

<file path=ppt/slides/_rels/slide62.xml.rels><?xml version="1.0" encoding="UTF-8" standalone="yes"?>
<Relationships xmlns="http://schemas.openxmlformats.org/package/2006/relationships"><Relationship Id="rId3" Type="http://schemas.openxmlformats.org/officeDocument/2006/relationships/chart" Target="../charts/chart9.xml"/><Relationship Id="rId2" Type="http://schemas.openxmlformats.org/officeDocument/2006/relationships/chart" Target="../charts/chart8.xml"/><Relationship Id="rId1" Type="http://schemas.openxmlformats.org/officeDocument/2006/relationships/slideLayout" Target="../slideLayouts/slideLayout4.xml"/><Relationship Id="rId5" Type="http://schemas.openxmlformats.org/officeDocument/2006/relationships/chart" Target="../charts/chart10.xml"/><Relationship Id="rId4" Type="http://schemas.openxmlformats.org/officeDocument/2006/relationships/slide" Target="slide21.xml"/></Relationships>
</file>

<file path=ppt/slides/_rels/slide63.xml.rels><?xml version="1.0" encoding="UTF-8" standalone="yes"?>
<Relationships xmlns="http://schemas.openxmlformats.org/package/2006/relationships"><Relationship Id="rId2" Type="http://schemas.openxmlformats.org/officeDocument/2006/relationships/slide" Target="slide24.xml"/><Relationship Id="rId1" Type="http://schemas.openxmlformats.org/officeDocument/2006/relationships/slideLayout" Target="../slideLayouts/slideLayout4.xml"/></Relationships>
</file>

<file path=ppt/slides/_rels/slide64.xml.rels><?xml version="1.0" encoding="UTF-8" standalone="yes"?>
<Relationships xmlns="http://schemas.openxmlformats.org/package/2006/relationships"><Relationship Id="rId2" Type="http://schemas.openxmlformats.org/officeDocument/2006/relationships/slide" Target="slide24.xml"/><Relationship Id="rId1" Type="http://schemas.openxmlformats.org/officeDocument/2006/relationships/slideLayout" Target="../slideLayouts/slideLayout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6.xml.rels><?xml version="1.0" encoding="UTF-8" standalone="yes"?>
<Relationships xmlns="http://schemas.openxmlformats.org/package/2006/relationships"><Relationship Id="rId2" Type="http://schemas.openxmlformats.org/officeDocument/2006/relationships/slide" Target="slide24.xml"/><Relationship Id="rId1" Type="http://schemas.openxmlformats.org/officeDocument/2006/relationships/slideLayout" Target="../slideLayouts/slideLayout4.xml"/></Relationships>
</file>

<file path=ppt/slides/_rels/slide67.xml.rels><?xml version="1.0" encoding="UTF-8" standalone="yes"?>
<Relationships xmlns="http://schemas.openxmlformats.org/package/2006/relationships"><Relationship Id="rId2" Type="http://schemas.openxmlformats.org/officeDocument/2006/relationships/image" Target="../media/image8.gif"/><Relationship Id="rId1" Type="http://schemas.openxmlformats.org/officeDocument/2006/relationships/slideLayout" Target="../slideLayouts/slideLayout4.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9.xml.rels><?xml version="1.0" encoding="UTF-8" standalone="yes"?>
<Relationships xmlns="http://schemas.openxmlformats.org/package/2006/relationships"><Relationship Id="rId3" Type="http://schemas.openxmlformats.org/officeDocument/2006/relationships/hyperlink" Target="PCN_Suscripci&#243;n.pdf" TargetMode="External"/><Relationship Id="rId2" Type="http://schemas.openxmlformats.org/officeDocument/2006/relationships/slide" Target="slide24.xml"/><Relationship Id="rId1" Type="http://schemas.openxmlformats.org/officeDocument/2006/relationships/slideLayout" Target="../slideLayouts/slideLayout4.xml"/><Relationship Id="rId5" Type="http://schemas.openxmlformats.org/officeDocument/2006/relationships/image" Target="../media/image9.emf"/><Relationship Id="rId4" Type="http://schemas.openxmlformats.org/officeDocument/2006/relationships/oleObject" Target="../embeddings/oleObject1.bin"/></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2 CuadroTexto"/>
          <p:cNvSpPr txBox="1">
            <a:spLocks noChangeArrowheads="1"/>
          </p:cNvSpPr>
          <p:nvPr/>
        </p:nvSpPr>
        <p:spPr bwMode="auto">
          <a:xfrm>
            <a:off x="0" y="2571744"/>
            <a:ext cx="9144000" cy="954107"/>
          </a:xfrm>
          <a:prstGeom prst="rect">
            <a:avLst/>
          </a:prstGeom>
          <a:noFill/>
          <a:ln w="9525">
            <a:noFill/>
            <a:miter lim="800000"/>
            <a:headEnd/>
            <a:tailEnd/>
          </a:ln>
        </p:spPr>
        <p:txBody>
          <a:bodyPr wrap="square">
            <a:spAutoFit/>
          </a:bodyPr>
          <a:lstStyle/>
          <a:p>
            <a:pPr algn="r"/>
            <a:r>
              <a:rPr lang="es-PE" sz="3200" b="1" dirty="0">
                <a:solidFill>
                  <a:srgbClr val="FF0000"/>
                </a:solidFill>
                <a:latin typeface="Arial" pitchFamily="34" charset="0"/>
                <a:cs typeface="Arial" pitchFamily="34" charset="0"/>
              </a:rPr>
              <a:t>Proyecto Riesgos Operacionales</a:t>
            </a:r>
          </a:p>
          <a:p>
            <a:pPr algn="r"/>
            <a:r>
              <a:rPr lang="es-PE" sz="2400" b="1" dirty="0">
                <a:latin typeface="Arial" pitchFamily="34" charset="0"/>
                <a:cs typeface="Arial" pitchFamily="34" charset="0"/>
              </a:rPr>
              <a:t>Informe Final – Aplicación Metodológica MS en </a:t>
            </a:r>
            <a:r>
              <a:rPr lang="es-PE" sz="2400" b="1" dirty="0" err="1">
                <a:latin typeface="Arial" pitchFamily="34" charset="0"/>
                <a:cs typeface="Arial" pitchFamily="34" charset="0"/>
              </a:rPr>
              <a:t>Rimac</a:t>
            </a:r>
            <a:endParaRPr lang="es-PE" sz="2400" b="1" dirty="0">
              <a:latin typeface="Arial" pitchFamily="34" charset="0"/>
              <a:cs typeface="Arial" pitchFamily="34" charset="0"/>
            </a:endParaRPr>
          </a:p>
        </p:txBody>
      </p:sp>
      <p:sp>
        <p:nvSpPr>
          <p:cNvPr id="8195" name="3 CuadroTexto"/>
          <p:cNvSpPr txBox="1">
            <a:spLocks noChangeArrowheads="1"/>
          </p:cNvSpPr>
          <p:nvPr/>
        </p:nvSpPr>
        <p:spPr bwMode="auto">
          <a:xfrm>
            <a:off x="5857884" y="3929066"/>
            <a:ext cx="2791149" cy="400110"/>
          </a:xfrm>
          <a:prstGeom prst="rect">
            <a:avLst/>
          </a:prstGeom>
          <a:noFill/>
          <a:ln w="9525">
            <a:noFill/>
            <a:miter lim="800000"/>
            <a:headEnd/>
            <a:tailEnd/>
          </a:ln>
        </p:spPr>
        <p:txBody>
          <a:bodyPr wrap="none">
            <a:spAutoFit/>
          </a:bodyPr>
          <a:lstStyle/>
          <a:p>
            <a:r>
              <a:rPr lang="es-PE" sz="2000" b="1" dirty="0">
                <a:latin typeface="Arial" pitchFamily="34" charset="0"/>
                <a:cs typeface="Arial" pitchFamily="34" charset="0"/>
              </a:rPr>
              <a:t>Resultados del Piloto</a:t>
            </a:r>
          </a:p>
        </p:txBody>
      </p:sp>
      <p:sp>
        <p:nvSpPr>
          <p:cNvPr id="8196" name="9 CuadroTexto"/>
          <p:cNvSpPr txBox="1">
            <a:spLocks noChangeArrowheads="1"/>
          </p:cNvSpPr>
          <p:nvPr/>
        </p:nvSpPr>
        <p:spPr bwMode="auto">
          <a:xfrm>
            <a:off x="4787900" y="6264275"/>
            <a:ext cx="4248150" cy="646113"/>
          </a:xfrm>
          <a:prstGeom prst="rect">
            <a:avLst/>
          </a:prstGeom>
          <a:noFill/>
          <a:ln w="9525">
            <a:noFill/>
            <a:miter lim="800000"/>
            <a:headEnd/>
            <a:tailEnd/>
          </a:ln>
        </p:spPr>
        <p:txBody>
          <a:bodyPr>
            <a:spAutoFit/>
          </a:bodyPr>
          <a:lstStyle/>
          <a:p>
            <a:pPr algn="r"/>
            <a:r>
              <a:rPr lang="es-PE" dirty="0">
                <a:solidFill>
                  <a:schemeClr val="bg1"/>
                </a:solidFill>
              </a:rPr>
              <a:t>Elaborado por: Adolfo Unda</a:t>
            </a:r>
          </a:p>
          <a:p>
            <a:pPr algn="r"/>
            <a:r>
              <a:rPr lang="es-PE" dirty="0">
                <a:solidFill>
                  <a:schemeClr val="bg1"/>
                </a:solidFill>
              </a:rPr>
              <a:t>Fecha: 31/10/2012</a:t>
            </a:r>
          </a:p>
        </p:txBody>
      </p:sp>
      <p:sp>
        <p:nvSpPr>
          <p:cNvPr id="8197" name="Rectangle 3"/>
          <p:cNvSpPr txBox="1">
            <a:spLocks noChangeArrowheads="1"/>
          </p:cNvSpPr>
          <p:nvPr/>
        </p:nvSpPr>
        <p:spPr bwMode="auto">
          <a:xfrm>
            <a:off x="5508625" y="5661025"/>
            <a:ext cx="3527425" cy="446088"/>
          </a:xfrm>
          <a:prstGeom prst="rect">
            <a:avLst/>
          </a:prstGeom>
          <a:noFill/>
          <a:ln w="9525">
            <a:noFill/>
            <a:miter lim="800000"/>
            <a:headEnd/>
            <a:tailEnd/>
          </a:ln>
        </p:spPr>
        <p:txBody>
          <a:bodyPr lIns="18000" rIns="18000"/>
          <a:lstStyle/>
          <a:p>
            <a:pPr>
              <a:spcBef>
                <a:spcPct val="20000"/>
              </a:spcBef>
            </a:pPr>
            <a:r>
              <a:rPr lang="en-US" sz="1600" b="1">
                <a:latin typeface="Arial" pitchFamily="34" charset="0"/>
                <a:ea typeface="Osaka"/>
                <a:cs typeface="Osaka"/>
              </a:rPr>
              <a:t>Transformación y Mejora Continua</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PE" sz="1800" dirty="0"/>
              <a:t>1. Programa GIR -  Cronograma Macro</a:t>
            </a:r>
          </a:p>
        </p:txBody>
      </p:sp>
      <p:graphicFrame>
        <p:nvGraphicFramePr>
          <p:cNvPr id="95" name="94 Tabla"/>
          <p:cNvGraphicFramePr>
            <a:graphicFrameLocks noGrp="1"/>
          </p:cNvGraphicFramePr>
          <p:nvPr/>
        </p:nvGraphicFramePr>
        <p:xfrm>
          <a:off x="1" y="854055"/>
          <a:ext cx="9143996" cy="6003945"/>
        </p:xfrm>
        <a:graphic>
          <a:graphicData uri="http://schemas.openxmlformats.org/drawingml/2006/table">
            <a:tbl>
              <a:tblPr>
                <a:tableStyleId>{775DCB02-9BB8-47FD-8907-85C794F793BA}</a:tableStyleId>
              </a:tblPr>
              <a:tblGrid>
                <a:gridCol w="1226687">
                  <a:extLst>
                    <a:ext uri="{9D8B030D-6E8A-4147-A177-3AD203B41FA5}">
                      <a16:colId xmlns:a16="http://schemas.microsoft.com/office/drawing/2014/main" val="20000"/>
                    </a:ext>
                  </a:extLst>
                </a:gridCol>
                <a:gridCol w="879701">
                  <a:extLst>
                    <a:ext uri="{9D8B030D-6E8A-4147-A177-3AD203B41FA5}">
                      <a16:colId xmlns:a16="http://schemas.microsoft.com/office/drawing/2014/main" val="20001"/>
                    </a:ext>
                  </a:extLst>
                </a:gridCol>
                <a:gridCol w="879701">
                  <a:extLst>
                    <a:ext uri="{9D8B030D-6E8A-4147-A177-3AD203B41FA5}">
                      <a16:colId xmlns:a16="http://schemas.microsoft.com/office/drawing/2014/main" val="20002"/>
                    </a:ext>
                  </a:extLst>
                </a:gridCol>
                <a:gridCol w="879701">
                  <a:extLst>
                    <a:ext uri="{9D8B030D-6E8A-4147-A177-3AD203B41FA5}">
                      <a16:colId xmlns:a16="http://schemas.microsoft.com/office/drawing/2014/main" val="20003"/>
                    </a:ext>
                  </a:extLst>
                </a:gridCol>
                <a:gridCol w="879701">
                  <a:extLst>
                    <a:ext uri="{9D8B030D-6E8A-4147-A177-3AD203B41FA5}">
                      <a16:colId xmlns:a16="http://schemas.microsoft.com/office/drawing/2014/main" val="20004"/>
                    </a:ext>
                  </a:extLst>
                </a:gridCol>
                <a:gridCol w="879701">
                  <a:extLst>
                    <a:ext uri="{9D8B030D-6E8A-4147-A177-3AD203B41FA5}">
                      <a16:colId xmlns:a16="http://schemas.microsoft.com/office/drawing/2014/main" val="20005"/>
                    </a:ext>
                  </a:extLst>
                </a:gridCol>
                <a:gridCol w="879701">
                  <a:extLst>
                    <a:ext uri="{9D8B030D-6E8A-4147-A177-3AD203B41FA5}">
                      <a16:colId xmlns:a16="http://schemas.microsoft.com/office/drawing/2014/main" val="20006"/>
                    </a:ext>
                  </a:extLst>
                </a:gridCol>
                <a:gridCol w="879701">
                  <a:extLst>
                    <a:ext uri="{9D8B030D-6E8A-4147-A177-3AD203B41FA5}">
                      <a16:colId xmlns:a16="http://schemas.microsoft.com/office/drawing/2014/main" val="20007"/>
                    </a:ext>
                  </a:extLst>
                </a:gridCol>
                <a:gridCol w="879701">
                  <a:extLst>
                    <a:ext uri="{9D8B030D-6E8A-4147-A177-3AD203B41FA5}">
                      <a16:colId xmlns:a16="http://schemas.microsoft.com/office/drawing/2014/main" val="20008"/>
                    </a:ext>
                  </a:extLst>
                </a:gridCol>
                <a:gridCol w="879701">
                  <a:extLst>
                    <a:ext uri="{9D8B030D-6E8A-4147-A177-3AD203B41FA5}">
                      <a16:colId xmlns:a16="http://schemas.microsoft.com/office/drawing/2014/main" val="20009"/>
                    </a:ext>
                  </a:extLst>
                </a:gridCol>
              </a:tblGrid>
              <a:tr h="308250">
                <a:tc rowSpan="2">
                  <a:txBody>
                    <a:bodyPr/>
                    <a:lstStyle/>
                    <a:p>
                      <a:pPr algn="ctr" fontAlgn="ctr"/>
                      <a:r>
                        <a:rPr lang="es-PE" sz="1100" b="1" u="none" strike="noStrike" dirty="0"/>
                        <a:t>Proyecto</a:t>
                      </a:r>
                      <a:endParaRPr lang="es-PE" sz="1100" b="1" i="0" u="none" strike="noStrike" dirty="0">
                        <a:latin typeface="Arial"/>
                      </a:endParaRPr>
                    </a:p>
                  </a:txBody>
                  <a:tcPr marL="0" marR="0" marT="0" marB="0" anchor="ctr">
                    <a:solidFill>
                      <a:schemeClr val="bg1">
                        <a:lumMod val="85000"/>
                      </a:schemeClr>
                    </a:solidFill>
                  </a:tcPr>
                </a:tc>
                <a:tc gridSpan="5">
                  <a:txBody>
                    <a:bodyPr/>
                    <a:lstStyle/>
                    <a:p>
                      <a:pPr algn="ctr" fontAlgn="b"/>
                      <a:r>
                        <a:rPr lang="es-PE" sz="1050" b="1" u="none" strike="noStrike" dirty="0"/>
                        <a:t>2012</a:t>
                      </a:r>
                      <a:endParaRPr lang="es-PE" sz="1050" b="1" i="0" u="none" strike="noStrike" dirty="0">
                        <a:latin typeface="Arial"/>
                      </a:endParaRPr>
                    </a:p>
                  </a:txBody>
                  <a:tcPr marL="0" marR="0" marT="0" marB="0" anchor="ctr">
                    <a:solidFill>
                      <a:schemeClr val="bg1">
                        <a:lumMod val="85000"/>
                      </a:schemeClr>
                    </a:solidFill>
                  </a:tcPr>
                </a:tc>
                <a:tc hMerge="1">
                  <a:txBody>
                    <a:bodyPr/>
                    <a:lstStyle/>
                    <a:p>
                      <a:endParaRPr lang="es-PE"/>
                    </a:p>
                  </a:txBody>
                  <a:tcPr/>
                </a:tc>
                <a:tc hMerge="1">
                  <a:txBody>
                    <a:bodyPr/>
                    <a:lstStyle/>
                    <a:p>
                      <a:endParaRPr lang="es-PE"/>
                    </a:p>
                  </a:txBody>
                  <a:tcPr/>
                </a:tc>
                <a:tc hMerge="1">
                  <a:txBody>
                    <a:bodyPr/>
                    <a:lstStyle/>
                    <a:p>
                      <a:endParaRPr lang="es-PE"/>
                    </a:p>
                  </a:txBody>
                  <a:tcPr/>
                </a:tc>
                <a:tc hMerge="1">
                  <a:txBody>
                    <a:bodyPr/>
                    <a:lstStyle/>
                    <a:p>
                      <a:endParaRPr lang="es-PE"/>
                    </a:p>
                  </a:txBody>
                  <a:tcPr/>
                </a:tc>
                <a:tc gridSpan="4">
                  <a:txBody>
                    <a:bodyPr/>
                    <a:lstStyle/>
                    <a:p>
                      <a:pPr algn="ctr" fontAlgn="b"/>
                      <a:r>
                        <a:rPr lang="es-PE" sz="1050" b="1" u="none" strike="noStrike" dirty="0"/>
                        <a:t>2013</a:t>
                      </a:r>
                      <a:endParaRPr lang="es-PE" sz="1050" b="1" i="0" u="none" strike="noStrike" dirty="0">
                        <a:latin typeface="Arial"/>
                      </a:endParaRPr>
                    </a:p>
                  </a:txBody>
                  <a:tcPr marL="0" marR="0" marT="0" marB="0" anchor="ctr">
                    <a:solidFill>
                      <a:schemeClr val="bg1">
                        <a:lumMod val="85000"/>
                      </a:schemeClr>
                    </a:solidFill>
                  </a:tcPr>
                </a:tc>
                <a:tc hMerge="1">
                  <a:txBody>
                    <a:bodyPr/>
                    <a:lstStyle/>
                    <a:p>
                      <a:endParaRPr lang="es-PE"/>
                    </a:p>
                  </a:txBody>
                  <a:tcPr/>
                </a:tc>
                <a:tc hMerge="1">
                  <a:txBody>
                    <a:bodyPr/>
                    <a:lstStyle/>
                    <a:p>
                      <a:endParaRPr lang="es-PE"/>
                    </a:p>
                  </a:txBody>
                  <a:tcPr/>
                </a:tc>
                <a:tc hMerge="1">
                  <a:txBody>
                    <a:bodyPr/>
                    <a:lstStyle/>
                    <a:p>
                      <a:endParaRPr lang="es-PE"/>
                    </a:p>
                  </a:txBody>
                  <a:tcPr/>
                </a:tc>
                <a:extLst>
                  <a:ext uri="{0D108BD9-81ED-4DB2-BD59-A6C34878D82A}">
                    <a16:rowId xmlns:a16="http://schemas.microsoft.com/office/drawing/2014/main" val="10000"/>
                  </a:ext>
                </a:extLst>
              </a:tr>
              <a:tr h="308250">
                <a:tc vMerge="1">
                  <a:txBody>
                    <a:bodyPr/>
                    <a:lstStyle/>
                    <a:p>
                      <a:endParaRPr lang="es-PE"/>
                    </a:p>
                  </a:txBody>
                  <a:tcPr/>
                </a:tc>
                <a:tc>
                  <a:txBody>
                    <a:bodyPr/>
                    <a:lstStyle/>
                    <a:p>
                      <a:pPr algn="ctr" fontAlgn="b"/>
                      <a:r>
                        <a:rPr lang="es-PE" sz="1100" b="1" u="none" strike="noStrike" dirty="0"/>
                        <a:t>Ago</a:t>
                      </a:r>
                      <a:endParaRPr lang="es-PE" sz="1100" b="1" i="0" u="none" strike="noStrike" dirty="0">
                        <a:latin typeface="Arial"/>
                      </a:endParaRPr>
                    </a:p>
                  </a:txBody>
                  <a:tcPr marL="0" marR="0" marT="0" marB="0" anchor="ctr">
                    <a:solidFill>
                      <a:schemeClr val="bg1">
                        <a:lumMod val="85000"/>
                      </a:schemeClr>
                    </a:solidFill>
                  </a:tcPr>
                </a:tc>
                <a:tc>
                  <a:txBody>
                    <a:bodyPr/>
                    <a:lstStyle/>
                    <a:p>
                      <a:pPr algn="ctr" fontAlgn="b"/>
                      <a:r>
                        <a:rPr lang="es-PE" sz="1100" b="1" u="none" strike="noStrike" dirty="0"/>
                        <a:t>Set</a:t>
                      </a:r>
                      <a:endParaRPr lang="es-PE" sz="1100" b="1" i="0" u="none" strike="noStrike" dirty="0">
                        <a:latin typeface="Arial"/>
                      </a:endParaRPr>
                    </a:p>
                  </a:txBody>
                  <a:tcPr marL="0" marR="0" marT="0" marB="0" anchor="ctr">
                    <a:solidFill>
                      <a:schemeClr val="bg1">
                        <a:lumMod val="85000"/>
                      </a:schemeClr>
                    </a:solidFill>
                  </a:tcPr>
                </a:tc>
                <a:tc>
                  <a:txBody>
                    <a:bodyPr/>
                    <a:lstStyle/>
                    <a:p>
                      <a:pPr algn="ctr" fontAlgn="b"/>
                      <a:r>
                        <a:rPr lang="es-PE" sz="1100" b="1" u="none" strike="noStrike" dirty="0"/>
                        <a:t>Oct</a:t>
                      </a:r>
                      <a:endParaRPr lang="es-PE" sz="1100" b="1" i="0" u="none" strike="noStrike" dirty="0">
                        <a:latin typeface="Arial"/>
                      </a:endParaRPr>
                    </a:p>
                  </a:txBody>
                  <a:tcPr marL="0" marR="0" marT="0" marB="0" anchor="ctr">
                    <a:solidFill>
                      <a:schemeClr val="bg1">
                        <a:lumMod val="85000"/>
                      </a:schemeClr>
                    </a:solidFill>
                  </a:tcPr>
                </a:tc>
                <a:tc>
                  <a:txBody>
                    <a:bodyPr/>
                    <a:lstStyle/>
                    <a:p>
                      <a:pPr algn="ctr" fontAlgn="b"/>
                      <a:r>
                        <a:rPr lang="es-PE" sz="1100" b="1" u="none" strike="noStrike" dirty="0"/>
                        <a:t>Nov</a:t>
                      </a:r>
                      <a:endParaRPr lang="es-PE" sz="1100" b="1" i="0" u="none" strike="noStrike" dirty="0">
                        <a:latin typeface="Arial"/>
                      </a:endParaRPr>
                    </a:p>
                  </a:txBody>
                  <a:tcPr marL="0" marR="0" marT="0" marB="0" anchor="ctr">
                    <a:solidFill>
                      <a:schemeClr val="bg1">
                        <a:lumMod val="85000"/>
                      </a:schemeClr>
                    </a:solidFill>
                  </a:tcPr>
                </a:tc>
                <a:tc>
                  <a:txBody>
                    <a:bodyPr/>
                    <a:lstStyle/>
                    <a:p>
                      <a:pPr algn="ctr" fontAlgn="b"/>
                      <a:r>
                        <a:rPr lang="es-PE" sz="1100" b="1" u="none" strike="noStrike" dirty="0"/>
                        <a:t>Dic</a:t>
                      </a:r>
                      <a:endParaRPr lang="es-PE" sz="1100" b="1" i="0" u="none" strike="noStrike" dirty="0">
                        <a:latin typeface="Arial"/>
                      </a:endParaRPr>
                    </a:p>
                  </a:txBody>
                  <a:tcPr marL="0" marR="0" marT="0" marB="0" anchor="ctr">
                    <a:solidFill>
                      <a:schemeClr val="bg1">
                        <a:lumMod val="85000"/>
                      </a:schemeClr>
                    </a:solidFill>
                  </a:tcPr>
                </a:tc>
                <a:tc>
                  <a:txBody>
                    <a:bodyPr/>
                    <a:lstStyle/>
                    <a:p>
                      <a:pPr algn="ctr" fontAlgn="b"/>
                      <a:r>
                        <a:rPr lang="es-PE" sz="1100" b="1" u="none" strike="noStrike" dirty="0"/>
                        <a:t>Ene</a:t>
                      </a:r>
                      <a:endParaRPr lang="es-PE" sz="1100" b="1" i="0" u="none" strike="noStrike" dirty="0">
                        <a:latin typeface="Arial"/>
                      </a:endParaRPr>
                    </a:p>
                  </a:txBody>
                  <a:tcPr marL="0" marR="0" marT="0" marB="0" anchor="ctr">
                    <a:solidFill>
                      <a:schemeClr val="bg1">
                        <a:lumMod val="85000"/>
                      </a:schemeClr>
                    </a:solidFill>
                  </a:tcPr>
                </a:tc>
                <a:tc>
                  <a:txBody>
                    <a:bodyPr/>
                    <a:lstStyle/>
                    <a:p>
                      <a:pPr algn="ctr" fontAlgn="b"/>
                      <a:r>
                        <a:rPr lang="es-PE" sz="1100" b="1" u="none" strike="noStrike" dirty="0"/>
                        <a:t>Feb</a:t>
                      </a:r>
                      <a:endParaRPr lang="es-PE" sz="1100" b="1" i="0" u="none" strike="noStrike" dirty="0">
                        <a:latin typeface="Arial"/>
                      </a:endParaRPr>
                    </a:p>
                  </a:txBody>
                  <a:tcPr marL="0" marR="0" marT="0" marB="0" anchor="ctr">
                    <a:solidFill>
                      <a:schemeClr val="bg1">
                        <a:lumMod val="85000"/>
                      </a:schemeClr>
                    </a:solidFill>
                  </a:tcPr>
                </a:tc>
                <a:tc>
                  <a:txBody>
                    <a:bodyPr/>
                    <a:lstStyle/>
                    <a:p>
                      <a:pPr algn="ctr" fontAlgn="b"/>
                      <a:r>
                        <a:rPr lang="es-PE" sz="1100" b="1" u="none" strike="noStrike" dirty="0"/>
                        <a:t>Mar</a:t>
                      </a:r>
                      <a:endParaRPr lang="es-PE" sz="1100" b="1" i="0" u="none" strike="noStrike" dirty="0">
                        <a:latin typeface="Arial"/>
                      </a:endParaRPr>
                    </a:p>
                  </a:txBody>
                  <a:tcPr marL="0" marR="0" marT="0" marB="0" anchor="ctr">
                    <a:solidFill>
                      <a:schemeClr val="bg1">
                        <a:lumMod val="85000"/>
                      </a:schemeClr>
                    </a:solidFill>
                  </a:tcPr>
                </a:tc>
                <a:tc>
                  <a:txBody>
                    <a:bodyPr/>
                    <a:lstStyle/>
                    <a:p>
                      <a:pPr algn="ctr" fontAlgn="b"/>
                      <a:r>
                        <a:rPr lang="es-PE" sz="1100" b="1" u="none" strike="noStrike" dirty="0"/>
                        <a:t>Abr</a:t>
                      </a:r>
                      <a:endParaRPr lang="es-PE" sz="1100" b="1" i="0" u="none" strike="noStrike" dirty="0">
                        <a:latin typeface="Arial"/>
                      </a:endParaRPr>
                    </a:p>
                  </a:txBody>
                  <a:tcPr marL="0" marR="0" marT="0" marB="0" anchor="ctr">
                    <a:solidFill>
                      <a:schemeClr val="bg1">
                        <a:lumMod val="85000"/>
                      </a:schemeClr>
                    </a:solidFill>
                  </a:tcPr>
                </a:tc>
                <a:extLst>
                  <a:ext uri="{0D108BD9-81ED-4DB2-BD59-A6C34878D82A}">
                    <a16:rowId xmlns:a16="http://schemas.microsoft.com/office/drawing/2014/main" val="10001"/>
                  </a:ext>
                </a:extLst>
              </a:tr>
              <a:tr h="856424">
                <a:tc>
                  <a:txBody>
                    <a:bodyPr/>
                    <a:lstStyle/>
                    <a:p>
                      <a:pPr algn="l" fontAlgn="b"/>
                      <a:r>
                        <a:rPr lang="es-PE" sz="1200" b="1" u="none" strike="noStrike" dirty="0"/>
                        <a:t> Habilitadores</a:t>
                      </a:r>
                    </a:p>
                    <a:p>
                      <a:pPr algn="l" fontAlgn="b">
                        <a:buFontTx/>
                        <a:buNone/>
                      </a:pPr>
                      <a:r>
                        <a:rPr lang="es-PE" sz="800" b="0" i="0" u="none" strike="noStrike" dirty="0">
                          <a:latin typeface="Arial"/>
                        </a:rPr>
                        <a:t>   - Algorithmics</a:t>
                      </a:r>
                    </a:p>
                    <a:p>
                      <a:pPr algn="l" fontAlgn="b">
                        <a:buFontTx/>
                        <a:buNone/>
                      </a:pPr>
                      <a:r>
                        <a:rPr lang="es-PE" sz="800" b="0" i="0" u="none" strike="noStrike" dirty="0">
                          <a:latin typeface="Arial"/>
                        </a:rPr>
                        <a:t>   - @</a:t>
                      </a:r>
                      <a:r>
                        <a:rPr lang="es-PE" sz="800" b="0" i="0" u="none" strike="noStrike" dirty="0" err="1">
                          <a:latin typeface="Arial"/>
                        </a:rPr>
                        <a:t>Risk</a:t>
                      </a:r>
                      <a:endParaRPr lang="es-PE" sz="800" b="0" i="0" u="none" strike="noStrike" dirty="0">
                        <a:latin typeface="Arial"/>
                      </a:endParaRPr>
                    </a:p>
                    <a:p>
                      <a:pPr algn="l" fontAlgn="b">
                        <a:buFontTx/>
                        <a:buNone/>
                      </a:pPr>
                      <a:r>
                        <a:rPr lang="es-PE" sz="800" b="0" i="0" u="none" strike="noStrike" dirty="0">
                          <a:latin typeface="Arial"/>
                        </a:rPr>
                        <a:t>   - SPSS</a:t>
                      </a:r>
                    </a:p>
                  </a:txBody>
                  <a:tcPr marL="36000" marR="0" marT="0" marB="0" anchor="ctr">
                    <a:solidFill>
                      <a:schemeClr val="bg1"/>
                    </a:solidFill>
                  </a:tcPr>
                </a:tc>
                <a:tc>
                  <a:txBody>
                    <a:bodyPr/>
                    <a:lstStyle/>
                    <a:p>
                      <a:pPr algn="l" fontAlgn="b"/>
                      <a:r>
                        <a:rPr lang="es-PE" sz="800" u="none" strike="noStrike" dirty="0"/>
                        <a:t> </a:t>
                      </a:r>
                      <a:endParaRPr lang="es-PE" sz="800" b="0" i="0" u="none" strike="noStrike" dirty="0">
                        <a:latin typeface="Arial"/>
                      </a:endParaRPr>
                    </a:p>
                  </a:txBody>
                  <a:tcPr marL="0" marR="0" marT="0" marB="0" anchor="b">
                    <a:solidFill>
                      <a:schemeClr val="bg1"/>
                    </a:solidFill>
                  </a:tcPr>
                </a:tc>
                <a:tc>
                  <a:txBody>
                    <a:bodyPr/>
                    <a:lstStyle/>
                    <a:p>
                      <a:pPr algn="l" fontAlgn="b"/>
                      <a:r>
                        <a:rPr lang="es-PE" sz="800" u="none" strike="noStrike" dirty="0"/>
                        <a:t> </a:t>
                      </a:r>
                      <a:endParaRPr lang="es-PE" sz="800" b="0" i="0" u="none" strike="noStrike" dirty="0">
                        <a:latin typeface="Arial"/>
                      </a:endParaRPr>
                    </a:p>
                  </a:txBody>
                  <a:tcPr marL="0" marR="0" marT="0" marB="0" anchor="b">
                    <a:solidFill>
                      <a:schemeClr val="bg1"/>
                    </a:solidFill>
                  </a:tcPr>
                </a:tc>
                <a:tc>
                  <a:txBody>
                    <a:bodyPr/>
                    <a:lstStyle/>
                    <a:p>
                      <a:pPr algn="l" fontAlgn="b"/>
                      <a:r>
                        <a:rPr lang="es-PE" sz="800" u="none" strike="noStrike" dirty="0"/>
                        <a:t> </a:t>
                      </a:r>
                      <a:endParaRPr lang="es-PE" sz="800" b="0" i="0" u="none" strike="noStrike" dirty="0">
                        <a:latin typeface="Arial"/>
                      </a:endParaRPr>
                    </a:p>
                  </a:txBody>
                  <a:tcPr marL="0" marR="0" marT="0" marB="0" anchor="b">
                    <a:solidFill>
                      <a:schemeClr val="bg1"/>
                    </a:solidFill>
                  </a:tcPr>
                </a:tc>
                <a:tc>
                  <a:txBody>
                    <a:bodyPr/>
                    <a:lstStyle/>
                    <a:p>
                      <a:pPr algn="l" fontAlgn="b"/>
                      <a:r>
                        <a:rPr lang="es-PE" sz="800" u="none" strike="noStrike" dirty="0"/>
                        <a:t> </a:t>
                      </a:r>
                      <a:endParaRPr lang="es-PE" sz="800" b="0" i="0" u="none" strike="noStrike" dirty="0">
                        <a:latin typeface="Arial"/>
                      </a:endParaRPr>
                    </a:p>
                  </a:txBody>
                  <a:tcPr marL="0" marR="0" marT="0" marB="0" anchor="b">
                    <a:solidFill>
                      <a:schemeClr val="bg1"/>
                    </a:solidFill>
                  </a:tcPr>
                </a:tc>
                <a:tc>
                  <a:txBody>
                    <a:bodyPr/>
                    <a:lstStyle/>
                    <a:p>
                      <a:pPr algn="l" fontAlgn="b"/>
                      <a:r>
                        <a:rPr lang="es-PE" sz="800" u="none" strike="noStrike" dirty="0"/>
                        <a:t> </a:t>
                      </a:r>
                      <a:endParaRPr lang="es-PE" sz="800" b="0" i="0" u="none" strike="noStrike" dirty="0">
                        <a:latin typeface="Arial"/>
                      </a:endParaRPr>
                    </a:p>
                  </a:txBody>
                  <a:tcPr marL="0" marR="0" marT="0" marB="0" anchor="b">
                    <a:solidFill>
                      <a:schemeClr val="bg1"/>
                    </a:solidFill>
                  </a:tcPr>
                </a:tc>
                <a:tc>
                  <a:txBody>
                    <a:bodyPr/>
                    <a:lstStyle/>
                    <a:p>
                      <a:pPr algn="l" fontAlgn="b"/>
                      <a:r>
                        <a:rPr lang="es-PE" sz="800" u="none" strike="noStrike" dirty="0"/>
                        <a:t> </a:t>
                      </a:r>
                      <a:endParaRPr lang="es-PE" sz="800" b="0" i="0" u="none" strike="noStrike" dirty="0">
                        <a:latin typeface="Arial"/>
                      </a:endParaRPr>
                    </a:p>
                  </a:txBody>
                  <a:tcPr marL="0" marR="0" marT="0" marB="0" anchor="b">
                    <a:solidFill>
                      <a:schemeClr val="bg1"/>
                    </a:solidFill>
                  </a:tcPr>
                </a:tc>
                <a:tc>
                  <a:txBody>
                    <a:bodyPr/>
                    <a:lstStyle/>
                    <a:p>
                      <a:pPr algn="l" fontAlgn="b"/>
                      <a:r>
                        <a:rPr lang="es-PE" sz="800" u="none" strike="noStrike" dirty="0"/>
                        <a:t> </a:t>
                      </a:r>
                      <a:endParaRPr lang="es-PE" sz="800" b="0" i="0" u="none" strike="noStrike" dirty="0">
                        <a:latin typeface="Arial"/>
                      </a:endParaRPr>
                    </a:p>
                  </a:txBody>
                  <a:tcPr marL="0" marR="0" marT="0" marB="0" anchor="b">
                    <a:solidFill>
                      <a:schemeClr val="bg1"/>
                    </a:solidFill>
                  </a:tcPr>
                </a:tc>
                <a:tc>
                  <a:txBody>
                    <a:bodyPr/>
                    <a:lstStyle/>
                    <a:p>
                      <a:pPr algn="l" fontAlgn="b"/>
                      <a:r>
                        <a:rPr lang="es-PE" sz="800" u="none" strike="noStrike" dirty="0"/>
                        <a:t> </a:t>
                      </a:r>
                      <a:endParaRPr lang="es-PE" sz="800" b="0" i="0" u="none" strike="noStrike" dirty="0">
                        <a:latin typeface="Arial"/>
                      </a:endParaRPr>
                    </a:p>
                  </a:txBody>
                  <a:tcPr marL="0" marR="0" marT="0" marB="0" anchor="b">
                    <a:solidFill>
                      <a:schemeClr val="bg1"/>
                    </a:solidFill>
                  </a:tcPr>
                </a:tc>
                <a:tc>
                  <a:txBody>
                    <a:bodyPr/>
                    <a:lstStyle/>
                    <a:p>
                      <a:pPr algn="l" fontAlgn="b"/>
                      <a:r>
                        <a:rPr lang="es-PE" sz="800" u="none" strike="noStrike" dirty="0"/>
                        <a:t> </a:t>
                      </a:r>
                      <a:endParaRPr lang="es-PE" sz="800" b="0" i="0" u="none" strike="noStrike" dirty="0">
                        <a:latin typeface="Arial"/>
                      </a:endParaRPr>
                    </a:p>
                  </a:txBody>
                  <a:tcPr marL="0" marR="0" marT="0" marB="0" anchor="b">
                    <a:solidFill>
                      <a:schemeClr val="bg1"/>
                    </a:solidFill>
                  </a:tcPr>
                </a:tc>
                <a:extLst>
                  <a:ext uri="{0D108BD9-81ED-4DB2-BD59-A6C34878D82A}">
                    <a16:rowId xmlns:a16="http://schemas.microsoft.com/office/drawing/2014/main" val="10002"/>
                  </a:ext>
                </a:extLst>
              </a:tr>
              <a:tr h="1578195">
                <a:tc>
                  <a:txBody>
                    <a:bodyPr/>
                    <a:lstStyle/>
                    <a:p>
                      <a:pPr algn="l" fontAlgn="b"/>
                      <a:r>
                        <a:rPr lang="es-PE" sz="1200" b="1" u="none" strike="noStrike" dirty="0"/>
                        <a:t> Piloto Pilar</a:t>
                      </a:r>
                      <a:r>
                        <a:rPr lang="es-PE" sz="1200" b="1" u="none" strike="noStrike" baseline="0" dirty="0"/>
                        <a:t> 1</a:t>
                      </a:r>
                      <a:endParaRPr lang="es-PE" sz="1200" b="1" i="0" u="none" strike="noStrike" dirty="0">
                        <a:latin typeface="Arial"/>
                      </a:endParaRPr>
                    </a:p>
                  </a:txBody>
                  <a:tcPr marL="36000" marR="0" marT="0" marB="0" anchor="ctr">
                    <a:solidFill>
                      <a:schemeClr val="bg1"/>
                    </a:solidFill>
                  </a:tcPr>
                </a:tc>
                <a:tc>
                  <a:txBody>
                    <a:bodyPr/>
                    <a:lstStyle/>
                    <a:p>
                      <a:pPr algn="l" fontAlgn="b"/>
                      <a:r>
                        <a:rPr lang="es-PE" sz="800" u="none" strike="noStrike" dirty="0"/>
                        <a:t> </a:t>
                      </a:r>
                      <a:endParaRPr lang="es-PE" sz="800" b="0" i="0" u="none" strike="noStrike" dirty="0">
                        <a:latin typeface="Arial"/>
                      </a:endParaRPr>
                    </a:p>
                  </a:txBody>
                  <a:tcPr marL="0" marR="0" marT="0" marB="0" anchor="b">
                    <a:solidFill>
                      <a:schemeClr val="bg1"/>
                    </a:solidFill>
                  </a:tcPr>
                </a:tc>
                <a:tc>
                  <a:txBody>
                    <a:bodyPr/>
                    <a:lstStyle/>
                    <a:p>
                      <a:pPr algn="l" fontAlgn="b"/>
                      <a:r>
                        <a:rPr lang="es-PE" sz="800" u="none" strike="noStrike" dirty="0"/>
                        <a:t> </a:t>
                      </a:r>
                      <a:endParaRPr lang="es-PE" sz="800" b="0" i="0" u="none" strike="noStrike" dirty="0">
                        <a:latin typeface="Arial"/>
                      </a:endParaRPr>
                    </a:p>
                  </a:txBody>
                  <a:tcPr marL="0" marR="0" marT="0" marB="0" anchor="b">
                    <a:solidFill>
                      <a:schemeClr val="bg1"/>
                    </a:solidFill>
                  </a:tcPr>
                </a:tc>
                <a:tc>
                  <a:txBody>
                    <a:bodyPr/>
                    <a:lstStyle/>
                    <a:p>
                      <a:pPr algn="l" fontAlgn="b"/>
                      <a:r>
                        <a:rPr lang="es-PE" sz="800" u="none" strike="noStrike"/>
                        <a:t> </a:t>
                      </a:r>
                      <a:endParaRPr lang="es-PE" sz="800" b="0" i="0" u="none" strike="noStrike">
                        <a:latin typeface="Arial"/>
                      </a:endParaRPr>
                    </a:p>
                  </a:txBody>
                  <a:tcPr marL="0" marR="0" marT="0" marB="0" anchor="b">
                    <a:solidFill>
                      <a:schemeClr val="bg1"/>
                    </a:solidFill>
                  </a:tcPr>
                </a:tc>
                <a:tc>
                  <a:txBody>
                    <a:bodyPr/>
                    <a:lstStyle/>
                    <a:p>
                      <a:pPr algn="l" fontAlgn="b"/>
                      <a:r>
                        <a:rPr lang="es-PE" sz="800" u="none" strike="noStrike" dirty="0"/>
                        <a:t> </a:t>
                      </a:r>
                      <a:endParaRPr lang="es-PE" sz="800" b="0" i="0" u="none" strike="noStrike" dirty="0">
                        <a:latin typeface="Arial"/>
                      </a:endParaRPr>
                    </a:p>
                  </a:txBody>
                  <a:tcPr marL="0" marR="0" marT="0" marB="0" anchor="b">
                    <a:solidFill>
                      <a:schemeClr val="bg1"/>
                    </a:solidFill>
                  </a:tcPr>
                </a:tc>
                <a:tc>
                  <a:txBody>
                    <a:bodyPr/>
                    <a:lstStyle/>
                    <a:p>
                      <a:pPr algn="l" fontAlgn="b"/>
                      <a:r>
                        <a:rPr lang="es-PE" sz="800" u="none" strike="noStrike" dirty="0"/>
                        <a:t> </a:t>
                      </a:r>
                      <a:endParaRPr lang="es-PE" sz="800" b="0" i="0" u="none" strike="noStrike" dirty="0">
                        <a:latin typeface="Arial"/>
                      </a:endParaRPr>
                    </a:p>
                  </a:txBody>
                  <a:tcPr marL="0" marR="0" marT="0" marB="0" anchor="b">
                    <a:solidFill>
                      <a:schemeClr val="bg1"/>
                    </a:solidFill>
                  </a:tcPr>
                </a:tc>
                <a:tc>
                  <a:txBody>
                    <a:bodyPr/>
                    <a:lstStyle/>
                    <a:p>
                      <a:pPr algn="l" fontAlgn="b"/>
                      <a:r>
                        <a:rPr lang="es-PE" sz="800" u="none" strike="noStrike" dirty="0"/>
                        <a:t> </a:t>
                      </a:r>
                      <a:endParaRPr lang="es-PE" sz="800" b="0" i="0" u="none" strike="noStrike" dirty="0">
                        <a:latin typeface="Arial"/>
                      </a:endParaRPr>
                    </a:p>
                  </a:txBody>
                  <a:tcPr marL="0" marR="0" marT="0" marB="0" anchor="b">
                    <a:solidFill>
                      <a:schemeClr val="bg1"/>
                    </a:solidFill>
                  </a:tcPr>
                </a:tc>
                <a:tc>
                  <a:txBody>
                    <a:bodyPr/>
                    <a:lstStyle/>
                    <a:p>
                      <a:pPr algn="l" fontAlgn="b"/>
                      <a:r>
                        <a:rPr lang="es-PE" sz="800" u="none" strike="noStrike"/>
                        <a:t> </a:t>
                      </a:r>
                      <a:endParaRPr lang="es-PE" sz="800" b="0" i="0" u="none" strike="noStrike">
                        <a:latin typeface="Arial"/>
                      </a:endParaRPr>
                    </a:p>
                  </a:txBody>
                  <a:tcPr marL="0" marR="0" marT="0" marB="0" anchor="b">
                    <a:solidFill>
                      <a:schemeClr val="bg1"/>
                    </a:solidFill>
                  </a:tcPr>
                </a:tc>
                <a:tc>
                  <a:txBody>
                    <a:bodyPr/>
                    <a:lstStyle/>
                    <a:p>
                      <a:pPr algn="l" fontAlgn="b"/>
                      <a:r>
                        <a:rPr lang="es-PE" sz="800" u="none" strike="noStrike" dirty="0"/>
                        <a:t> </a:t>
                      </a:r>
                      <a:endParaRPr lang="es-PE" sz="800" b="0" i="0" u="none" strike="noStrike" dirty="0">
                        <a:latin typeface="Arial"/>
                      </a:endParaRPr>
                    </a:p>
                  </a:txBody>
                  <a:tcPr marL="0" marR="0" marT="0" marB="0" anchor="b">
                    <a:solidFill>
                      <a:schemeClr val="bg1"/>
                    </a:solidFill>
                  </a:tcPr>
                </a:tc>
                <a:tc>
                  <a:txBody>
                    <a:bodyPr/>
                    <a:lstStyle/>
                    <a:p>
                      <a:pPr algn="l" fontAlgn="b"/>
                      <a:r>
                        <a:rPr lang="es-PE" sz="800" u="none" strike="noStrike" dirty="0"/>
                        <a:t> </a:t>
                      </a:r>
                      <a:endParaRPr lang="es-PE" sz="800" b="0" i="0" u="none" strike="noStrike" dirty="0">
                        <a:latin typeface="Arial"/>
                      </a:endParaRPr>
                    </a:p>
                  </a:txBody>
                  <a:tcPr marL="0" marR="0" marT="0" marB="0" anchor="b">
                    <a:solidFill>
                      <a:schemeClr val="bg1"/>
                    </a:solidFill>
                  </a:tcPr>
                </a:tc>
                <a:extLst>
                  <a:ext uri="{0D108BD9-81ED-4DB2-BD59-A6C34878D82A}">
                    <a16:rowId xmlns:a16="http://schemas.microsoft.com/office/drawing/2014/main" val="10003"/>
                  </a:ext>
                </a:extLst>
              </a:tr>
              <a:tr h="1708780">
                <a:tc>
                  <a:txBody>
                    <a:bodyPr/>
                    <a:lstStyle/>
                    <a:p>
                      <a:pPr algn="l" fontAlgn="b"/>
                      <a:r>
                        <a:rPr lang="es-PE" sz="1200" b="1" u="none" strike="noStrike" dirty="0"/>
                        <a:t> BDRS</a:t>
                      </a:r>
                      <a:endParaRPr lang="es-PE" sz="1200" b="1" i="0" u="none" strike="noStrike" dirty="0">
                        <a:latin typeface="Arial"/>
                      </a:endParaRPr>
                    </a:p>
                  </a:txBody>
                  <a:tcPr marL="36000" marR="0" marT="0" marB="0" anchor="ctr">
                    <a:solidFill>
                      <a:schemeClr val="bg1"/>
                    </a:solidFill>
                  </a:tcPr>
                </a:tc>
                <a:tc>
                  <a:txBody>
                    <a:bodyPr/>
                    <a:lstStyle/>
                    <a:p>
                      <a:pPr algn="l" fontAlgn="b"/>
                      <a:r>
                        <a:rPr lang="es-PE" sz="800" u="none" strike="noStrike" dirty="0"/>
                        <a:t> </a:t>
                      </a:r>
                      <a:endParaRPr lang="es-PE" sz="800" b="0" i="0" u="none" strike="noStrike" dirty="0">
                        <a:latin typeface="Arial"/>
                      </a:endParaRPr>
                    </a:p>
                  </a:txBody>
                  <a:tcPr marL="0" marR="0" marT="0" marB="0" anchor="b">
                    <a:solidFill>
                      <a:schemeClr val="bg1"/>
                    </a:solidFill>
                  </a:tcPr>
                </a:tc>
                <a:tc>
                  <a:txBody>
                    <a:bodyPr/>
                    <a:lstStyle/>
                    <a:p>
                      <a:pPr algn="l" fontAlgn="b"/>
                      <a:r>
                        <a:rPr lang="es-PE" sz="800" u="none" strike="noStrike"/>
                        <a:t> </a:t>
                      </a:r>
                      <a:endParaRPr lang="es-PE" sz="800" b="0" i="0" u="none" strike="noStrike">
                        <a:latin typeface="Arial"/>
                      </a:endParaRPr>
                    </a:p>
                  </a:txBody>
                  <a:tcPr marL="0" marR="0" marT="0" marB="0" anchor="b">
                    <a:solidFill>
                      <a:schemeClr val="bg1"/>
                    </a:solidFill>
                  </a:tcPr>
                </a:tc>
                <a:tc>
                  <a:txBody>
                    <a:bodyPr/>
                    <a:lstStyle/>
                    <a:p>
                      <a:pPr algn="l" fontAlgn="b"/>
                      <a:r>
                        <a:rPr lang="es-PE" sz="800" u="none" strike="noStrike" dirty="0"/>
                        <a:t> </a:t>
                      </a:r>
                      <a:endParaRPr lang="es-PE" sz="800" b="0" i="0" u="none" strike="noStrike" dirty="0">
                        <a:latin typeface="Arial"/>
                      </a:endParaRPr>
                    </a:p>
                  </a:txBody>
                  <a:tcPr marL="0" marR="0" marT="0" marB="0" anchor="b">
                    <a:solidFill>
                      <a:schemeClr val="bg1"/>
                    </a:solidFill>
                  </a:tcPr>
                </a:tc>
                <a:tc>
                  <a:txBody>
                    <a:bodyPr/>
                    <a:lstStyle/>
                    <a:p>
                      <a:pPr algn="l" fontAlgn="b"/>
                      <a:r>
                        <a:rPr lang="es-PE" sz="800" u="none" strike="noStrike" dirty="0"/>
                        <a:t> </a:t>
                      </a:r>
                      <a:endParaRPr lang="es-PE" sz="800" b="0" i="0" u="none" strike="noStrike" dirty="0">
                        <a:latin typeface="Arial"/>
                      </a:endParaRPr>
                    </a:p>
                  </a:txBody>
                  <a:tcPr marL="0" marR="0" marT="0" marB="0" anchor="b">
                    <a:solidFill>
                      <a:schemeClr val="bg1"/>
                    </a:solidFill>
                  </a:tcPr>
                </a:tc>
                <a:tc>
                  <a:txBody>
                    <a:bodyPr/>
                    <a:lstStyle/>
                    <a:p>
                      <a:pPr algn="l" fontAlgn="b"/>
                      <a:r>
                        <a:rPr lang="es-PE" sz="800" u="none" strike="noStrike"/>
                        <a:t> </a:t>
                      </a:r>
                      <a:endParaRPr lang="es-PE" sz="800" b="0" i="0" u="none" strike="noStrike">
                        <a:latin typeface="Arial"/>
                      </a:endParaRPr>
                    </a:p>
                  </a:txBody>
                  <a:tcPr marL="0" marR="0" marT="0" marB="0" anchor="b">
                    <a:solidFill>
                      <a:schemeClr val="bg1"/>
                    </a:solidFill>
                  </a:tcPr>
                </a:tc>
                <a:tc>
                  <a:txBody>
                    <a:bodyPr/>
                    <a:lstStyle/>
                    <a:p>
                      <a:pPr algn="l" fontAlgn="b"/>
                      <a:r>
                        <a:rPr lang="es-PE" sz="800" u="none" strike="noStrike"/>
                        <a:t> </a:t>
                      </a:r>
                      <a:endParaRPr lang="es-PE" sz="800" b="0" i="0" u="none" strike="noStrike">
                        <a:latin typeface="Arial"/>
                      </a:endParaRPr>
                    </a:p>
                  </a:txBody>
                  <a:tcPr marL="0" marR="0" marT="0" marB="0" anchor="b">
                    <a:solidFill>
                      <a:schemeClr val="bg1"/>
                    </a:solidFill>
                  </a:tcPr>
                </a:tc>
                <a:tc>
                  <a:txBody>
                    <a:bodyPr/>
                    <a:lstStyle/>
                    <a:p>
                      <a:pPr algn="l" fontAlgn="b"/>
                      <a:r>
                        <a:rPr lang="es-PE" sz="800" u="none" strike="noStrike"/>
                        <a:t> </a:t>
                      </a:r>
                      <a:endParaRPr lang="es-PE" sz="800" b="0" i="0" u="none" strike="noStrike">
                        <a:latin typeface="Arial"/>
                      </a:endParaRPr>
                    </a:p>
                  </a:txBody>
                  <a:tcPr marL="0" marR="0" marT="0" marB="0" anchor="b">
                    <a:solidFill>
                      <a:schemeClr val="bg1"/>
                    </a:solidFill>
                  </a:tcPr>
                </a:tc>
                <a:tc>
                  <a:txBody>
                    <a:bodyPr/>
                    <a:lstStyle/>
                    <a:p>
                      <a:pPr algn="l" fontAlgn="b"/>
                      <a:r>
                        <a:rPr lang="es-PE" sz="800" u="none" strike="noStrike"/>
                        <a:t> </a:t>
                      </a:r>
                      <a:endParaRPr lang="es-PE" sz="800" b="0" i="0" u="none" strike="noStrike">
                        <a:latin typeface="Arial"/>
                      </a:endParaRPr>
                    </a:p>
                  </a:txBody>
                  <a:tcPr marL="0" marR="0" marT="0" marB="0" anchor="b">
                    <a:solidFill>
                      <a:schemeClr val="bg1"/>
                    </a:solidFill>
                  </a:tcPr>
                </a:tc>
                <a:tc>
                  <a:txBody>
                    <a:bodyPr/>
                    <a:lstStyle/>
                    <a:p>
                      <a:pPr algn="l" fontAlgn="b"/>
                      <a:r>
                        <a:rPr lang="es-PE" sz="800" u="none" strike="noStrike"/>
                        <a:t> </a:t>
                      </a:r>
                      <a:endParaRPr lang="es-PE" sz="800" b="0" i="0" u="none" strike="noStrike">
                        <a:latin typeface="Arial"/>
                      </a:endParaRPr>
                    </a:p>
                  </a:txBody>
                  <a:tcPr marL="0" marR="0" marT="0" marB="0" anchor="b">
                    <a:solidFill>
                      <a:schemeClr val="bg1"/>
                    </a:solidFill>
                  </a:tcPr>
                </a:tc>
                <a:extLst>
                  <a:ext uri="{0D108BD9-81ED-4DB2-BD59-A6C34878D82A}">
                    <a16:rowId xmlns:a16="http://schemas.microsoft.com/office/drawing/2014/main" val="10004"/>
                  </a:ext>
                </a:extLst>
              </a:tr>
              <a:tr h="1244046">
                <a:tc>
                  <a:txBody>
                    <a:bodyPr/>
                    <a:lstStyle/>
                    <a:p>
                      <a:pPr algn="l" fontAlgn="b"/>
                      <a:r>
                        <a:rPr lang="es-PE" sz="1200" b="1" u="none" strike="noStrike" dirty="0"/>
                        <a:t> Piloto Pilar II</a:t>
                      </a:r>
                      <a:endParaRPr lang="es-PE" sz="1200" b="1" i="0" u="none" strike="noStrike" dirty="0">
                        <a:latin typeface="Arial"/>
                      </a:endParaRPr>
                    </a:p>
                  </a:txBody>
                  <a:tcPr marL="36000" marR="0" marT="0" marB="0" anchor="ctr">
                    <a:solidFill>
                      <a:schemeClr val="bg1"/>
                    </a:solidFill>
                  </a:tcPr>
                </a:tc>
                <a:tc>
                  <a:txBody>
                    <a:bodyPr/>
                    <a:lstStyle/>
                    <a:p>
                      <a:pPr algn="l" fontAlgn="b"/>
                      <a:endParaRPr lang="es-PE" sz="800" b="0" i="0" u="none" strike="noStrike" dirty="0">
                        <a:latin typeface="Arial"/>
                      </a:endParaRPr>
                    </a:p>
                  </a:txBody>
                  <a:tcPr marL="0" marR="0" marT="0" marB="0" anchor="b">
                    <a:solidFill>
                      <a:schemeClr val="bg1"/>
                    </a:solidFill>
                  </a:tcPr>
                </a:tc>
                <a:tc>
                  <a:txBody>
                    <a:bodyPr/>
                    <a:lstStyle/>
                    <a:p>
                      <a:pPr algn="l" fontAlgn="b"/>
                      <a:endParaRPr lang="es-PE" sz="800" b="0" i="0" u="none" strike="noStrike" dirty="0">
                        <a:latin typeface="Arial"/>
                      </a:endParaRPr>
                    </a:p>
                  </a:txBody>
                  <a:tcPr marL="0" marR="0" marT="0" marB="0" anchor="b">
                    <a:solidFill>
                      <a:schemeClr val="bg1"/>
                    </a:solidFill>
                  </a:tcPr>
                </a:tc>
                <a:tc>
                  <a:txBody>
                    <a:bodyPr/>
                    <a:lstStyle/>
                    <a:p>
                      <a:pPr algn="l" fontAlgn="b"/>
                      <a:endParaRPr lang="es-PE" sz="800" b="0" i="0" u="none" strike="noStrike" dirty="0">
                        <a:latin typeface="Arial"/>
                      </a:endParaRPr>
                    </a:p>
                  </a:txBody>
                  <a:tcPr marL="0" marR="0" marT="0" marB="0" anchor="b">
                    <a:solidFill>
                      <a:schemeClr val="bg1"/>
                    </a:solidFill>
                  </a:tcPr>
                </a:tc>
                <a:tc>
                  <a:txBody>
                    <a:bodyPr/>
                    <a:lstStyle/>
                    <a:p>
                      <a:pPr algn="l" fontAlgn="b"/>
                      <a:endParaRPr lang="es-PE" sz="800" b="0" i="0" u="none" strike="noStrike" dirty="0">
                        <a:latin typeface="Arial"/>
                      </a:endParaRPr>
                    </a:p>
                  </a:txBody>
                  <a:tcPr marL="0" marR="0" marT="0" marB="0" anchor="b">
                    <a:solidFill>
                      <a:schemeClr val="bg1"/>
                    </a:solidFill>
                  </a:tcPr>
                </a:tc>
                <a:tc>
                  <a:txBody>
                    <a:bodyPr/>
                    <a:lstStyle/>
                    <a:p>
                      <a:pPr algn="l" fontAlgn="b"/>
                      <a:endParaRPr lang="es-PE" sz="800" b="0" i="0" u="none" strike="noStrike" dirty="0">
                        <a:latin typeface="Arial"/>
                      </a:endParaRPr>
                    </a:p>
                  </a:txBody>
                  <a:tcPr marL="0" marR="0" marT="0" marB="0" anchor="b">
                    <a:solidFill>
                      <a:schemeClr val="bg1"/>
                    </a:solidFill>
                  </a:tcPr>
                </a:tc>
                <a:tc>
                  <a:txBody>
                    <a:bodyPr/>
                    <a:lstStyle/>
                    <a:p>
                      <a:pPr algn="l" fontAlgn="b"/>
                      <a:endParaRPr lang="es-PE" sz="800" b="0" i="0" u="none" strike="noStrike" dirty="0">
                        <a:latin typeface="Arial"/>
                      </a:endParaRPr>
                    </a:p>
                  </a:txBody>
                  <a:tcPr marL="0" marR="0" marT="0" marB="0" anchor="b">
                    <a:solidFill>
                      <a:schemeClr val="bg1"/>
                    </a:solidFill>
                  </a:tcPr>
                </a:tc>
                <a:tc>
                  <a:txBody>
                    <a:bodyPr/>
                    <a:lstStyle/>
                    <a:p>
                      <a:pPr algn="l" fontAlgn="b"/>
                      <a:endParaRPr lang="es-PE" sz="800" b="0" i="0" u="none" strike="noStrike" dirty="0">
                        <a:latin typeface="Arial"/>
                      </a:endParaRPr>
                    </a:p>
                  </a:txBody>
                  <a:tcPr marL="0" marR="0" marT="0" marB="0" anchor="b">
                    <a:solidFill>
                      <a:schemeClr val="bg1"/>
                    </a:solidFill>
                  </a:tcPr>
                </a:tc>
                <a:tc>
                  <a:txBody>
                    <a:bodyPr/>
                    <a:lstStyle/>
                    <a:p>
                      <a:pPr algn="l" fontAlgn="b"/>
                      <a:endParaRPr lang="es-PE" sz="800" b="0" i="0" u="none" strike="noStrike" dirty="0">
                        <a:latin typeface="Arial"/>
                      </a:endParaRPr>
                    </a:p>
                  </a:txBody>
                  <a:tcPr marL="0" marR="0" marT="0" marB="0" anchor="b">
                    <a:solidFill>
                      <a:schemeClr val="bg1"/>
                    </a:solidFill>
                  </a:tcPr>
                </a:tc>
                <a:tc>
                  <a:txBody>
                    <a:bodyPr/>
                    <a:lstStyle/>
                    <a:p>
                      <a:pPr algn="l" fontAlgn="b"/>
                      <a:endParaRPr lang="es-PE" sz="800" b="0" i="0" u="none" strike="noStrike" dirty="0">
                        <a:latin typeface="Arial"/>
                      </a:endParaRPr>
                    </a:p>
                  </a:txBody>
                  <a:tcPr marL="0" marR="0" marT="0" marB="0" anchor="b">
                    <a:solidFill>
                      <a:schemeClr val="bg1"/>
                    </a:solidFill>
                  </a:tcPr>
                </a:tc>
                <a:extLst>
                  <a:ext uri="{0D108BD9-81ED-4DB2-BD59-A6C34878D82A}">
                    <a16:rowId xmlns:a16="http://schemas.microsoft.com/office/drawing/2014/main" val="10005"/>
                  </a:ext>
                </a:extLst>
              </a:tr>
            </a:tbl>
          </a:graphicData>
        </a:graphic>
      </p:graphicFrame>
      <p:grpSp>
        <p:nvGrpSpPr>
          <p:cNvPr id="3" name="98 Grupo"/>
          <p:cNvGrpSpPr/>
          <p:nvPr/>
        </p:nvGrpSpPr>
        <p:grpSpPr>
          <a:xfrm>
            <a:off x="1631930" y="1557324"/>
            <a:ext cx="7320796" cy="4420342"/>
            <a:chOff x="1631930" y="1557324"/>
            <a:chExt cx="7320796" cy="4420342"/>
          </a:xfrm>
        </p:grpSpPr>
        <p:grpSp>
          <p:nvGrpSpPr>
            <p:cNvPr id="4" name="82 Grupo"/>
            <p:cNvGrpSpPr/>
            <p:nvPr/>
          </p:nvGrpSpPr>
          <p:grpSpPr>
            <a:xfrm>
              <a:off x="2928926" y="5643578"/>
              <a:ext cx="5276082" cy="334088"/>
              <a:chOff x="2928926" y="5643578"/>
              <a:chExt cx="5276082" cy="334088"/>
            </a:xfrm>
          </p:grpSpPr>
          <p:sp>
            <p:nvSpPr>
              <p:cNvPr id="141" name="2 Rectángulo"/>
              <p:cNvSpPr>
                <a:spLocks noChangeArrowheads="1"/>
              </p:cNvSpPr>
              <p:nvPr/>
            </p:nvSpPr>
            <p:spPr bwMode="auto">
              <a:xfrm>
                <a:off x="3083868" y="5643578"/>
                <a:ext cx="4968000" cy="144000"/>
              </a:xfrm>
              <a:prstGeom prst="rect">
                <a:avLst/>
              </a:prstGeom>
              <a:solidFill>
                <a:srgbClr val="FFC000"/>
              </a:solidFill>
              <a:ln>
                <a:headEnd/>
                <a:tailEnd/>
              </a:ln>
            </p:spPr>
            <p:style>
              <a:lnRef idx="0">
                <a:schemeClr val="accent1"/>
              </a:lnRef>
              <a:fillRef idx="3">
                <a:schemeClr val="accent1"/>
              </a:fillRef>
              <a:effectRef idx="3">
                <a:schemeClr val="accent1"/>
              </a:effectRef>
              <a:fontRef idx="minor">
                <a:schemeClr val="lt1"/>
              </a:fontRef>
            </p:style>
            <p:txBody>
              <a:bodyPr wrap="none" anchor="ctr"/>
              <a:lstStyle/>
              <a:p>
                <a:pPr algn="ctr"/>
                <a:endParaRPr lang="es-PE" sz="1200" b="1" i="0" dirty="0">
                  <a:solidFill>
                    <a:schemeClr val="bg1"/>
                  </a:solidFill>
                  <a:latin typeface="Calibri" pitchFamily="34" charset="0"/>
                  <a:cs typeface="Calibri" pitchFamily="34" charset="0"/>
                </a:endParaRPr>
              </a:p>
            </p:txBody>
          </p:sp>
          <p:sp>
            <p:nvSpPr>
              <p:cNvPr id="142" name="95 CuadroTexto"/>
              <p:cNvSpPr txBox="1">
                <a:spLocks noChangeArrowheads="1"/>
              </p:cNvSpPr>
              <p:nvPr/>
            </p:nvSpPr>
            <p:spPr bwMode="auto">
              <a:xfrm>
                <a:off x="2928926" y="5818204"/>
                <a:ext cx="324000" cy="159462"/>
              </a:xfrm>
              <a:prstGeom prst="rect">
                <a:avLst/>
              </a:prstGeom>
              <a:solidFill>
                <a:schemeClr val="bg1"/>
              </a:solidFill>
              <a:ln w="9525">
                <a:noFill/>
                <a:miter lim="800000"/>
                <a:headEnd/>
                <a:tailEnd/>
              </a:ln>
            </p:spPr>
            <p:txBody>
              <a:bodyPr wrap="square" lIns="18000" tIns="18000" rIns="18000" bIns="18000">
                <a:spAutoFit/>
              </a:bodyPr>
              <a:lstStyle/>
              <a:p>
                <a:pPr marL="185738" indent="-185738" algn="ctr">
                  <a:spcBef>
                    <a:spcPts val="600"/>
                  </a:spcBef>
                  <a:spcAft>
                    <a:spcPts val="600"/>
                  </a:spcAft>
                </a:pPr>
                <a:r>
                  <a:rPr lang="es-PE" sz="800" b="1" dirty="0">
                    <a:latin typeface="Arial" pitchFamily="34" charset="0"/>
                    <a:cs typeface="Arial" pitchFamily="34" charset="0"/>
                  </a:rPr>
                  <a:t>03-10</a:t>
                </a:r>
              </a:p>
            </p:txBody>
          </p:sp>
          <p:sp>
            <p:nvSpPr>
              <p:cNvPr id="143" name="95 CuadroTexto"/>
              <p:cNvSpPr txBox="1">
                <a:spLocks noChangeArrowheads="1"/>
              </p:cNvSpPr>
              <p:nvPr/>
            </p:nvSpPr>
            <p:spPr bwMode="auto">
              <a:xfrm>
                <a:off x="7881008" y="5818204"/>
                <a:ext cx="324000" cy="159462"/>
              </a:xfrm>
              <a:prstGeom prst="rect">
                <a:avLst/>
              </a:prstGeom>
              <a:solidFill>
                <a:schemeClr val="bg1"/>
              </a:solidFill>
              <a:ln w="9525">
                <a:noFill/>
                <a:miter lim="800000"/>
                <a:headEnd/>
                <a:tailEnd/>
              </a:ln>
            </p:spPr>
            <p:txBody>
              <a:bodyPr wrap="square" lIns="18000" tIns="18000" rIns="18000" bIns="18000">
                <a:spAutoFit/>
              </a:bodyPr>
              <a:lstStyle/>
              <a:p>
                <a:pPr marL="185738" indent="-185738" algn="ctr">
                  <a:spcBef>
                    <a:spcPts val="600"/>
                  </a:spcBef>
                  <a:spcAft>
                    <a:spcPts val="600"/>
                  </a:spcAft>
                </a:pPr>
                <a:r>
                  <a:rPr lang="es-PE" sz="800" b="1" dirty="0">
                    <a:latin typeface="Arial" pitchFamily="34" charset="0"/>
                    <a:cs typeface="Arial" pitchFamily="34" charset="0"/>
                  </a:rPr>
                  <a:t>27-03</a:t>
                </a:r>
              </a:p>
            </p:txBody>
          </p:sp>
        </p:grpSp>
        <p:grpSp>
          <p:nvGrpSpPr>
            <p:cNvPr id="5" name="79 Grupo"/>
            <p:cNvGrpSpPr/>
            <p:nvPr/>
          </p:nvGrpSpPr>
          <p:grpSpPr>
            <a:xfrm>
              <a:off x="1928794" y="1557324"/>
              <a:ext cx="3708574" cy="342026"/>
              <a:chOff x="1928794" y="1557324"/>
              <a:chExt cx="3708574" cy="342026"/>
            </a:xfrm>
          </p:grpSpPr>
          <p:sp>
            <p:nvSpPr>
              <p:cNvPr id="138" name="2 Rectángulo"/>
              <p:cNvSpPr>
                <a:spLocks noChangeArrowheads="1"/>
              </p:cNvSpPr>
              <p:nvPr/>
            </p:nvSpPr>
            <p:spPr bwMode="auto">
              <a:xfrm>
                <a:off x="2071670" y="1557324"/>
                <a:ext cx="3423934" cy="144000"/>
              </a:xfrm>
              <a:prstGeom prst="rect">
                <a:avLst/>
              </a:prstGeom>
              <a:solidFill>
                <a:srgbClr val="FFC000"/>
              </a:solidFill>
              <a:ln>
                <a:headEnd/>
                <a:tailEnd/>
              </a:ln>
            </p:spPr>
            <p:style>
              <a:lnRef idx="0">
                <a:schemeClr val="accent1"/>
              </a:lnRef>
              <a:fillRef idx="3">
                <a:schemeClr val="accent1"/>
              </a:fillRef>
              <a:effectRef idx="3">
                <a:schemeClr val="accent1"/>
              </a:effectRef>
              <a:fontRef idx="minor">
                <a:schemeClr val="lt1"/>
              </a:fontRef>
            </p:style>
            <p:txBody>
              <a:bodyPr wrap="none" anchor="ctr"/>
              <a:lstStyle/>
              <a:p>
                <a:pPr algn="ctr"/>
                <a:endParaRPr lang="es-PE" sz="1200" b="1" i="0" dirty="0">
                  <a:solidFill>
                    <a:schemeClr val="bg1"/>
                  </a:solidFill>
                  <a:latin typeface="Calibri" pitchFamily="34" charset="0"/>
                  <a:cs typeface="Calibri" pitchFamily="34" charset="0"/>
                </a:endParaRPr>
              </a:p>
            </p:txBody>
          </p:sp>
          <p:sp>
            <p:nvSpPr>
              <p:cNvPr id="139" name="95 CuadroTexto"/>
              <p:cNvSpPr txBox="1">
                <a:spLocks noChangeArrowheads="1"/>
              </p:cNvSpPr>
              <p:nvPr/>
            </p:nvSpPr>
            <p:spPr bwMode="auto">
              <a:xfrm>
                <a:off x="1928794" y="1739888"/>
                <a:ext cx="324000" cy="159462"/>
              </a:xfrm>
              <a:prstGeom prst="rect">
                <a:avLst/>
              </a:prstGeom>
              <a:solidFill>
                <a:schemeClr val="bg1"/>
              </a:solidFill>
              <a:ln w="9525">
                <a:noFill/>
                <a:miter lim="800000"/>
                <a:headEnd/>
                <a:tailEnd/>
              </a:ln>
            </p:spPr>
            <p:txBody>
              <a:bodyPr wrap="square" lIns="18000" tIns="18000" rIns="18000" bIns="18000">
                <a:spAutoFit/>
              </a:bodyPr>
              <a:lstStyle/>
              <a:p>
                <a:pPr marL="185738" indent="-185738" algn="ctr">
                  <a:spcBef>
                    <a:spcPts val="600"/>
                  </a:spcBef>
                  <a:spcAft>
                    <a:spcPts val="600"/>
                  </a:spcAft>
                </a:pPr>
                <a:r>
                  <a:rPr lang="es-PE" sz="800" b="1" dirty="0">
                    <a:latin typeface="Arial" pitchFamily="34" charset="0"/>
                    <a:cs typeface="Arial" pitchFamily="34" charset="0"/>
                  </a:rPr>
                  <a:t>27-08</a:t>
                </a:r>
              </a:p>
            </p:txBody>
          </p:sp>
          <p:sp>
            <p:nvSpPr>
              <p:cNvPr id="140" name="95 CuadroTexto"/>
              <p:cNvSpPr txBox="1">
                <a:spLocks noChangeArrowheads="1"/>
              </p:cNvSpPr>
              <p:nvPr/>
            </p:nvSpPr>
            <p:spPr bwMode="auto">
              <a:xfrm>
                <a:off x="5313368" y="1739888"/>
                <a:ext cx="324000" cy="159462"/>
              </a:xfrm>
              <a:prstGeom prst="rect">
                <a:avLst/>
              </a:prstGeom>
              <a:solidFill>
                <a:schemeClr val="bg1"/>
              </a:solidFill>
              <a:ln w="9525">
                <a:noFill/>
                <a:miter lim="800000"/>
                <a:headEnd/>
                <a:tailEnd/>
              </a:ln>
            </p:spPr>
            <p:txBody>
              <a:bodyPr wrap="square" lIns="18000" tIns="18000" rIns="18000" bIns="18000">
                <a:spAutoFit/>
              </a:bodyPr>
              <a:lstStyle/>
              <a:p>
                <a:pPr marL="185738" indent="-185738" algn="ctr">
                  <a:spcBef>
                    <a:spcPts val="600"/>
                  </a:spcBef>
                  <a:spcAft>
                    <a:spcPts val="600"/>
                  </a:spcAft>
                </a:pPr>
                <a:r>
                  <a:rPr lang="es-PE" sz="800" b="1" dirty="0">
                    <a:latin typeface="Arial" pitchFamily="34" charset="0"/>
                    <a:cs typeface="Arial" pitchFamily="34" charset="0"/>
                  </a:rPr>
                  <a:t>27-12</a:t>
                </a:r>
              </a:p>
            </p:txBody>
          </p:sp>
        </p:grpSp>
        <p:grpSp>
          <p:nvGrpSpPr>
            <p:cNvPr id="6" name="81 Grupo"/>
            <p:cNvGrpSpPr/>
            <p:nvPr/>
          </p:nvGrpSpPr>
          <p:grpSpPr>
            <a:xfrm>
              <a:off x="1845290" y="4005266"/>
              <a:ext cx="7107436" cy="334088"/>
              <a:chOff x="1845290" y="4005266"/>
              <a:chExt cx="7107436" cy="334088"/>
            </a:xfrm>
          </p:grpSpPr>
          <p:sp>
            <p:nvSpPr>
              <p:cNvPr id="135" name="2 Rectángulo"/>
              <p:cNvSpPr>
                <a:spLocks noChangeArrowheads="1"/>
              </p:cNvSpPr>
              <p:nvPr/>
            </p:nvSpPr>
            <p:spPr bwMode="auto">
              <a:xfrm>
                <a:off x="2000232" y="4005266"/>
                <a:ext cx="6876000" cy="144000"/>
              </a:xfrm>
              <a:prstGeom prst="rect">
                <a:avLst/>
              </a:prstGeom>
              <a:solidFill>
                <a:srgbClr val="FFC000"/>
              </a:solidFill>
              <a:ln>
                <a:headEnd/>
                <a:tailEnd/>
              </a:ln>
            </p:spPr>
            <p:style>
              <a:lnRef idx="0">
                <a:schemeClr val="accent1"/>
              </a:lnRef>
              <a:fillRef idx="3">
                <a:schemeClr val="accent1"/>
              </a:fillRef>
              <a:effectRef idx="3">
                <a:schemeClr val="accent1"/>
              </a:effectRef>
              <a:fontRef idx="minor">
                <a:schemeClr val="lt1"/>
              </a:fontRef>
            </p:style>
            <p:txBody>
              <a:bodyPr wrap="none" anchor="ctr"/>
              <a:lstStyle/>
              <a:p>
                <a:pPr algn="ctr"/>
                <a:endParaRPr lang="es-PE" sz="1200" b="1" i="0" dirty="0">
                  <a:solidFill>
                    <a:schemeClr val="bg1"/>
                  </a:solidFill>
                  <a:latin typeface="Calibri" pitchFamily="34" charset="0"/>
                  <a:cs typeface="Calibri" pitchFamily="34" charset="0"/>
                </a:endParaRPr>
              </a:p>
            </p:txBody>
          </p:sp>
          <p:sp>
            <p:nvSpPr>
              <p:cNvPr id="136" name="95 CuadroTexto"/>
              <p:cNvSpPr txBox="1">
                <a:spLocks noChangeArrowheads="1"/>
              </p:cNvSpPr>
              <p:nvPr/>
            </p:nvSpPr>
            <p:spPr bwMode="auto">
              <a:xfrm>
                <a:off x="1845290" y="4179892"/>
                <a:ext cx="324000" cy="159462"/>
              </a:xfrm>
              <a:prstGeom prst="rect">
                <a:avLst/>
              </a:prstGeom>
              <a:solidFill>
                <a:schemeClr val="bg1"/>
              </a:solidFill>
              <a:ln w="9525">
                <a:noFill/>
                <a:miter lim="800000"/>
                <a:headEnd/>
                <a:tailEnd/>
              </a:ln>
            </p:spPr>
            <p:txBody>
              <a:bodyPr wrap="square" lIns="18000" tIns="18000" rIns="18000" bIns="18000">
                <a:spAutoFit/>
              </a:bodyPr>
              <a:lstStyle/>
              <a:p>
                <a:pPr marL="185738" indent="-185738" algn="ctr">
                  <a:spcBef>
                    <a:spcPts val="600"/>
                  </a:spcBef>
                  <a:spcAft>
                    <a:spcPts val="600"/>
                  </a:spcAft>
                </a:pPr>
                <a:r>
                  <a:rPr lang="es-PE" sz="800" b="1" dirty="0">
                    <a:latin typeface="Arial" pitchFamily="34" charset="0"/>
                    <a:cs typeface="Arial" pitchFamily="34" charset="0"/>
                  </a:rPr>
                  <a:t>24-08</a:t>
                </a:r>
              </a:p>
            </p:txBody>
          </p:sp>
          <p:sp>
            <p:nvSpPr>
              <p:cNvPr id="137" name="95 CuadroTexto"/>
              <p:cNvSpPr txBox="1">
                <a:spLocks noChangeArrowheads="1"/>
              </p:cNvSpPr>
              <p:nvPr/>
            </p:nvSpPr>
            <p:spPr bwMode="auto">
              <a:xfrm>
                <a:off x="8628726" y="4179892"/>
                <a:ext cx="324000" cy="159462"/>
              </a:xfrm>
              <a:prstGeom prst="rect">
                <a:avLst/>
              </a:prstGeom>
              <a:solidFill>
                <a:schemeClr val="bg1"/>
              </a:solidFill>
              <a:ln w="9525">
                <a:noFill/>
                <a:miter lim="800000"/>
                <a:headEnd/>
                <a:tailEnd/>
              </a:ln>
            </p:spPr>
            <p:txBody>
              <a:bodyPr wrap="square" lIns="18000" tIns="18000" rIns="18000" bIns="18000">
                <a:spAutoFit/>
              </a:bodyPr>
              <a:lstStyle/>
              <a:p>
                <a:pPr marL="185738" indent="-185738" algn="ctr">
                  <a:spcBef>
                    <a:spcPts val="600"/>
                  </a:spcBef>
                  <a:spcAft>
                    <a:spcPts val="600"/>
                  </a:spcAft>
                </a:pPr>
                <a:r>
                  <a:rPr lang="es-PE" sz="800" b="1" dirty="0">
                    <a:latin typeface="Arial" pitchFamily="34" charset="0"/>
                    <a:cs typeface="Arial" pitchFamily="34" charset="0"/>
                  </a:rPr>
                  <a:t>26-04</a:t>
                </a:r>
              </a:p>
            </p:txBody>
          </p:sp>
        </p:grpSp>
        <p:grpSp>
          <p:nvGrpSpPr>
            <p:cNvPr id="7" name="80 Grupo"/>
            <p:cNvGrpSpPr/>
            <p:nvPr/>
          </p:nvGrpSpPr>
          <p:grpSpPr>
            <a:xfrm>
              <a:off x="1631930" y="2482844"/>
              <a:ext cx="7320796" cy="334088"/>
              <a:chOff x="1631930" y="2482844"/>
              <a:chExt cx="7320796" cy="334088"/>
            </a:xfrm>
          </p:grpSpPr>
          <p:sp>
            <p:nvSpPr>
              <p:cNvPr id="114" name="95 CuadroTexto"/>
              <p:cNvSpPr txBox="1">
                <a:spLocks noChangeArrowheads="1"/>
              </p:cNvSpPr>
              <p:nvPr/>
            </p:nvSpPr>
            <p:spPr bwMode="auto">
              <a:xfrm>
                <a:off x="1631930" y="2657470"/>
                <a:ext cx="324000" cy="159462"/>
              </a:xfrm>
              <a:prstGeom prst="rect">
                <a:avLst/>
              </a:prstGeom>
              <a:solidFill>
                <a:schemeClr val="bg1"/>
              </a:solidFill>
              <a:ln w="9525">
                <a:noFill/>
                <a:miter lim="800000"/>
                <a:headEnd/>
                <a:tailEnd/>
              </a:ln>
            </p:spPr>
            <p:txBody>
              <a:bodyPr wrap="square" lIns="18000" tIns="18000" rIns="18000" bIns="18000">
                <a:spAutoFit/>
              </a:bodyPr>
              <a:lstStyle/>
              <a:p>
                <a:pPr marL="185738" indent="-185738" algn="ctr">
                  <a:spcBef>
                    <a:spcPts val="600"/>
                  </a:spcBef>
                  <a:spcAft>
                    <a:spcPts val="600"/>
                  </a:spcAft>
                </a:pPr>
                <a:r>
                  <a:rPr lang="es-PE" sz="800" b="1" dirty="0">
                    <a:latin typeface="Arial" pitchFamily="34" charset="0"/>
                    <a:cs typeface="Arial" pitchFamily="34" charset="0"/>
                  </a:rPr>
                  <a:t>16-08</a:t>
                </a:r>
              </a:p>
            </p:txBody>
          </p:sp>
          <p:sp>
            <p:nvSpPr>
              <p:cNvPr id="133" name="95 CuadroTexto"/>
              <p:cNvSpPr txBox="1">
                <a:spLocks noChangeArrowheads="1"/>
              </p:cNvSpPr>
              <p:nvPr/>
            </p:nvSpPr>
            <p:spPr bwMode="auto">
              <a:xfrm>
                <a:off x="8628726" y="2657470"/>
                <a:ext cx="324000" cy="159462"/>
              </a:xfrm>
              <a:prstGeom prst="rect">
                <a:avLst/>
              </a:prstGeom>
              <a:solidFill>
                <a:schemeClr val="bg1"/>
              </a:solidFill>
              <a:ln w="9525">
                <a:noFill/>
                <a:miter lim="800000"/>
                <a:headEnd/>
                <a:tailEnd/>
              </a:ln>
            </p:spPr>
            <p:txBody>
              <a:bodyPr wrap="square" lIns="18000" tIns="18000" rIns="18000" bIns="18000">
                <a:spAutoFit/>
              </a:bodyPr>
              <a:lstStyle/>
              <a:p>
                <a:pPr marL="185738" indent="-185738" algn="ctr">
                  <a:spcBef>
                    <a:spcPts val="600"/>
                  </a:spcBef>
                  <a:spcAft>
                    <a:spcPts val="600"/>
                  </a:spcAft>
                </a:pPr>
                <a:r>
                  <a:rPr lang="es-PE" sz="800" b="1" dirty="0">
                    <a:latin typeface="Arial" pitchFamily="34" charset="0"/>
                    <a:cs typeface="Arial" pitchFamily="34" charset="0"/>
                  </a:rPr>
                  <a:t>26-04</a:t>
                </a:r>
              </a:p>
            </p:txBody>
          </p:sp>
          <p:sp>
            <p:nvSpPr>
              <p:cNvPr id="134" name="2 Rectángulo"/>
              <p:cNvSpPr>
                <a:spLocks noChangeArrowheads="1"/>
              </p:cNvSpPr>
              <p:nvPr/>
            </p:nvSpPr>
            <p:spPr bwMode="auto">
              <a:xfrm>
                <a:off x="1784330" y="2482844"/>
                <a:ext cx="7092000" cy="144000"/>
              </a:xfrm>
              <a:prstGeom prst="rect">
                <a:avLst/>
              </a:prstGeom>
              <a:solidFill>
                <a:srgbClr val="FFC000"/>
              </a:solidFill>
              <a:ln>
                <a:headEnd/>
                <a:tailEnd/>
              </a:ln>
            </p:spPr>
            <p:style>
              <a:lnRef idx="0">
                <a:schemeClr val="accent1"/>
              </a:lnRef>
              <a:fillRef idx="3">
                <a:schemeClr val="accent1"/>
              </a:fillRef>
              <a:effectRef idx="3">
                <a:schemeClr val="accent1"/>
              </a:effectRef>
              <a:fontRef idx="minor">
                <a:schemeClr val="lt1"/>
              </a:fontRef>
            </p:style>
            <p:txBody>
              <a:bodyPr wrap="none" anchor="ctr"/>
              <a:lstStyle/>
              <a:p>
                <a:pPr algn="ctr"/>
                <a:endParaRPr lang="es-PE" sz="1200" b="1" i="0" dirty="0">
                  <a:solidFill>
                    <a:schemeClr val="bg1"/>
                  </a:solidFill>
                  <a:latin typeface="Calibri" pitchFamily="34" charset="0"/>
                  <a:cs typeface="Calibri" pitchFamily="34" charset="0"/>
                </a:endParaRPr>
              </a:p>
            </p:txBody>
          </p:sp>
        </p:grpSp>
      </p:grpSp>
      <p:grpSp>
        <p:nvGrpSpPr>
          <p:cNvPr id="8" name="143 Grupo"/>
          <p:cNvGrpSpPr/>
          <p:nvPr/>
        </p:nvGrpSpPr>
        <p:grpSpPr>
          <a:xfrm>
            <a:off x="1936732" y="2806686"/>
            <a:ext cx="6550213" cy="3596433"/>
            <a:chOff x="1936732" y="2806686"/>
            <a:chExt cx="6550213" cy="3596433"/>
          </a:xfrm>
        </p:grpSpPr>
        <p:grpSp>
          <p:nvGrpSpPr>
            <p:cNvPr id="9" name="84 Grupo"/>
            <p:cNvGrpSpPr/>
            <p:nvPr/>
          </p:nvGrpSpPr>
          <p:grpSpPr>
            <a:xfrm>
              <a:off x="4116384" y="3163876"/>
              <a:ext cx="4281666" cy="357190"/>
              <a:chOff x="4116384" y="3163876"/>
              <a:chExt cx="4281666" cy="357190"/>
            </a:xfrm>
          </p:grpSpPr>
          <p:sp>
            <p:nvSpPr>
              <p:cNvPr id="166" name="95 CuadroTexto"/>
              <p:cNvSpPr txBox="1">
                <a:spLocks noChangeArrowheads="1"/>
              </p:cNvSpPr>
              <p:nvPr/>
            </p:nvSpPr>
            <p:spPr bwMode="auto">
              <a:xfrm>
                <a:off x="4116384" y="3335330"/>
                <a:ext cx="324000" cy="159462"/>
              </a:xfrm>
              <a:prstGeom prst="rect">
                <a:avLst/>
              </a:prstGeom>
              <a:solidFill>
                <a:schemeClr val="bg1"/>
              </a:solidFill>
              <a:ln w="9525">
                <a:noFill/>
                <a:miter lim="800000"/>
                <a:headEnd/>
                <a:tailEnd/>
              </a:ln>
            </p:spPr>
            <p:txBody>
              <a:bodyPr wrap="square" lIns="18000" tIns="18000" rIns="18000" bIns="18000">
                <a:spAutoFit/>
              </a:bodyPr>
              <a:lstStyle/>
              <a:p>
                <a:pPr marL="185738" indent="-185738" algn="ctr">
                  <a:spcBef>
                    <a:spcPts val="600"/>
                  </a:spcBef>
                  <a:spcAft>
                    <a:spcPts val="600"/>
                  </a:spcAft>
                </a:pPr>
                <a:r>
                  <a:rPr lang="es-PE" sz="800" b="1" dirty="0">
                    <a:solidFill>
                      <a:srgbClr val="00B050"/>
                    </a:solidFill>
                    <a:latin typeface="Arial" pitchFamily="34" charset="0"/>
                    <a:cs typeface="Arial" pitchFamily="34" charset="0"/>
                  </a:rPr>
                  <a:t>15-11</a:t>
                </a:r>
              </a:p>
            </p:txBody>
          </p:sp>
          <p:sp>
            <p:nvSpPr>
              <p:cNvPr id="167" name="2 Rectángulo"/>
              <p:cNvSpPr>
                <a:spLocks noChangeArrowheads="1"/>
              </p:cNvSpPr>
              <p:nvPr/>
            </p:nvSpPr>
            <p:spPr bwMode="auto">
              <a:xfrm>
                <a:off x="4271957" y="3163876"/>
                <a:ext cx="3996000" cy="144000"/>
              </a:xfrm>
              <a:prstGeom prst="rect">
                <a:avLst/>
              </a:prstGeom>
              <a:solidFill>
                <a:srgbClr val="6699FF"/>
              </a:solidFill>
              <a:ln>
                <a:headEnd/>
                <a:tailEnd/>
              </a:ln>
            </p:spPr>
            <p:style>
              <a:lnRef idx="0">
                <a:schemeClr val="accent1"/>
              </a:lnRef>
              <a:fillRef idx="3">
                <a:schemeClr val="accent1"/>
              </a:fillRef>
              <a:effectRef idx="3">
                <a:schemeClr val="accent1"/>
              </a:effectRef>
              <a:fontRef idx="minor">
                <a:schemeClr val="lt1"/>
              </a:fontRef>
            </p:style>
            <p:txBody>
              <a:bodyPr wrap="none" anchor="ctr"/>
              <a:lstStyle/>
              <a:p>
                <a:pPr algn="ctr"/>
                <a:endParaRPr lang="es-PE" sz="1200" b="1" i="0" dirty="0">
                  <a:solidFill>
                    <a:schemeClr val="bg1"/>
                  </a:solidFill>
                  <a:latin typeface="Calibri" pitchFamily="34" charset="0"/>
                  <a:cs typeface="Calibri" pitchFamily="34" charset="0"/>
                </a:endParaRPr>
              </a:p>
            </p:txBody>
          </p:sp>
          <p:sp>
            <p:nvSpPr>
              <p:cNvPr id="168" name="95 CuadroTexto"/>
              <p:cNvSpPr txBox="1">
                <a:spLocks noChangeArrowheads="1"/>
              </p:cNvSpPr>
              <p:nvPr/>
            </p:nvSpPr>
            <p:spPr bwMode="auto">
              <a:xfrm>
                <a:off x="6000760" y="3361604"/>
                <a:ext cx="857256" cy="159462"/>
              </a:xfrm>
              <a:prstGeom prst="rect">
                <a:avLst/>
              </a:prstGeom>
              <a:solidFill>
                <a:schemeClr val="bg1"/>
              </a:solidFill>
              <a:ln w="9525">
                <a:noFill/>
                <a:miter lim="800000"/>
                <a:headEnd/>
                <a:tailEnd/>
              </a:ln>
            </p:spPr>
            <p:txBody>
              <a:bodyPr wrap="square" lIns="18000" tIns="18000" rIns="18000" bIns="18000">
                <a:spAutoFit/>
              </a:bodyPr>
              <a:lstStyle/>
              <a:p>
                <a:r>
                  <a:rPr lang="es-PE" sz="800" b="1" dirty="0">
                    <a:latin typeface="Arial" pitchFamily="34" charset="0"/>
                    <a:cs typeface="Arial" pitchFamily="34" charset="0"/>
                  </a:rPr>
                  <a:t>Metodología MS</a:t>
                </a:r>
              </a:p>
            </p:txBody>
          </p:sp>
          <p:sp>
            <p:nvSpPr>
              <p:cNvPr id="169" name="95 CuadroTexto"/>
              <p:cNvSpPr txBox="1">
                <a:spLocks noChangeArrowheads="1"/>
              </p:cNvSpPr>
              <p:nvPr/>
            </p:nvSpPr>
            <p:spPr bwMode="auto">
              <a:xfrm>
                <a:off x="8074050" y="3359140"/>
                <a:ext cx="324000" cy="159462"/>
              </a:xfrm>
              <a:prstGeom prst="rect">
                <a:avLst/>
              </a:prstGeom>
              <a:solidFill>
                <a:schemeClr val="bg1"/>
              </a:solidFill>
              <a:ln w="9525">
                <a:noFill/>
                <a:miter lim="800000"/>
                <a:headEnd/>
                <a:tailEnd/>
              </a:ln>
            </p:spPr>
            <p:txBody>
              <a:bodyPr wrap="square" lIns="18000" tIns="18000" rIns="18000" bIns="18000">
                <a:spAutoFit/>
              </a:bodyPr>
              <a:lstStyle/>
              <a:p>
                <a:pPr marL="185738" indent="-185738" algn="ctr">
                  <a:spcBef>
                    <a:spcPts val="600"/>
                  </a:spcBef>
                  <a:spcAft>
                    <a:spcPts val="600"/>
                  </a:spcAft>
                </a:pPr>
                <a:r>
                  <a:rPr lang="es-PE" sz="800" b="1" dirty="0">
                    <a:solidFill>
                      <a:srgbClr val="FF0000"/>
                    </a:solidFill>
                    <a:latin typeface="Arial" pitchFamily="34" charset="0"/>
                    <a:cs typeface="Arial" pitchFamily="34" charset="0"/>
                  </a:rPr>
                  <a:t>05-04</a:t>
                </a:r>
              </a:p>
            </p:txBody>
          </p:sp>
        </p:grpSp>
        <p:grpSp>
          <p:nvGrpSpPr>
            <p:cNvPr id="10" name="83 Grupo"/>
            <p:cNvGrpSpPr/>
            <p:nvPr/>
          </p:nvGrpSpPr>
          <p:grpSpPr>
            <a:xfrm>
              <a:off x="1936732" y="2806686"/>
              <a:ext cx="2367425" cy="361076"/>
              <a:chOff x="1936732" y="2806686"/>
              <a:chExt cx="2367425" cy="361076"/>
            </a:xfrm>
          </p:grpSpPr>
          <p:sp>
            <p:nvSpPr>
              <p:cNvPr id="163" name="95 CuadroTexto"/>
              <p:cNvSpPr txBox="1">
                <a:spLocks noChangeArrowheads="1"/>
              </p:cNvSpPr>
              <p:nvPr/>
            </p:nvSpPr>
            <p:spPr bwMode="auto">
              <a:xfrm>
                <a:off x="1936732" y="2989250"/>
                <a:ext cx="324000" cy="159462"/>
              </a:xfrm>
              <a:prstGeom prst="rect">
                <a:avLst/>
              </a:prstGeom>
              <a:solidFill>
                <a:schemeClr val="bg1"/>
              </a:solidFill>
              <a:ln w="9525">
                <a:noFill/>
                <a:miter lim="800000"/>
                <a:headEnd/>
                <a:tailEnd/>
              </a:ln>
            </p:spPr>
            <p:txBody>
              <a:bodyPr wrap="square" lIns="18000" tIns="18000" rIns="18000" bIns="18000">
                <a:spAutoFit/>
              </a:bodyPr>
              <a:lstStyle/>
              <a:p>
                <a:pPr marL="185738" indent="-185738" algn="ctr">
                  <a:spcBef>
                    <a:spcPts val="600"/>
                  </a:spcBef>
                  <a:spcAft>
                    <a:spcPts val="600"/>
                  </a:spcAft>
                </a:pPr>
                <a:r>
                  <a:rPr lang="es-PE" sz="800" b="1" dirty="0">
                    <a:latin typeface="Arial" pitchFamily="34" charset="0"/>
                    <a:cs typeface="Arial" pitchFamily="34" charset="0"/>
                  </a:rPr>
                  <a:t>28-08</a:t>
                </a:r>
              </a:p>
            </p:txBody>
          </p:sp>
          <p:sp>
            <p:nvSpPr>
              <p:cNvPr id="164" name="95 CuadroTexto"/>
              <p:cNvSpPr txBox="1">
                <a:spLocks noChangeArrowheads="1"/>
              </p:cNvSpPr>
              <p:nvPr/>
            </p:nvSpPr>
            <p:spPr bwMode="auto">
              <a:xfrm>
                <a:off x="2751124" y="3008300"/>
                <a:ext cx="1000132" cy="159462"/>
              </a:xfrm>
              <a:prstGeom prst="rect">
                <a:avLst/>
              </a:prstGeom>
              <a:solidFill>
                <a:schemeClr val="bg1"/>
              </a:solidFill>
              <a:ln w="9525">
                <a:noFill/>
                <a:miter lim="800000"/>
                <a:headEnd/>
                <a:tailEnd/>
              </a:ln>
            </p:spPr>
            <p:txBody>
              <a:bodyPr wrap="square" lIns="18000" tIns="18000" rIns="18000" bIns="18000">
                <a:spAutoFit/>
              </a:bodyPr>
              <a:lstStyle/>
              <a:p>
                <a:pPr algn="ctr"/>
                <a:r>
                  <a:rPr lang="es-PE" sz="800" b="1" dirty="0">
                    <a:latin typeface="Arial" pitchFamily="34" charset="0"/>
                    <a:cs typeface="Arial" pitchFamily="34" charset="0"/>
                  </a:rPr>
                  <a:t>Extracción de data</a:t>
                </a:r>
              </a:p>
            </p:txBody>
          </p:sp>
          <p:sp>
            <p:nvSpPr>
              <p:cNvPr id="165" name="2 Rectángulo"/>
              <p:cNvSpPr>
                <a:spLocks noChangeArrowheads="1"/>
              </p:cNvSpPr>
              <p:nvPr/>
            </p:nvSpPr>
            <p:spPr bwMode="auto">
              <a:xfrm>
                <a:off x="2036157" y="2806686"/>
                <a:ext cx="2268000" cy="144000"/>
              </a:xfrm>
              <a:prstGeom prst="rect">
                <a:avLst/>
              </a:prstGeom>
              <a:solidFill>
                <a:schemeClr val="bg1">
                  <a:lumMod val="65000"/>
                </a:schemeClr>
              </a:solidFill>
              <a:ln>
                <a:headEnd/>
                <a:tailEnd/>
              </a:ln>
            </p:spPr>
            <p:style>
              <a:lnRef idx="0">
                <a:schemeClr val="accent1"/>
              </a:lnRef>
              <a:fillRef idx="3">
                <a:schemeClr val="accent1"/>
              </a:fillRef>
              <a:effectRef idx="3">
                <a:schemeClr val="accent1"/>
              </a:effectRef>
              <a:fontRef idx="minor">
                <a:schemeClr val="lt1"/>
              </a:fontRef>
            </p:style>
            <p:txBody>
              <a:bodyPr wrap="none" anchor="ctr"/>
              <a:lstStyle/>
              <a:p>
                <a:pPr algn="ctr"/>
                <a:endParaRPr lang="es-PE" sz="1200" b="1" i="0" dirty="0">
                  <a:solidFill>
                    <a:schemeClr val="bg1"/>
                  </a:solidFill>
                  <a:latin typeface="Calibri" pitchFamily="34" charset="0"/>
                  <a:cs typeface="Calibri" pitchFamily="34" charset="0"/>
                </a:endParaRPr>
              </a:p>
            </p:txBody>
          </p:sp>
        </p:grpSp>
        <p:grpSp>
          <p:nvGrpSpPr>
            <p:cNvPr id="11" name="86 Grupo"/>
            <p:cNvGrpSpPr/>
            <p:nvPr/>
          </p:nvGrpSpPr>
          <p:grpSpPr>
            <a:xfrm>
              <a:off x="4093524" y="4789170"/>
              <a:ext cx="4393421" cy="354726"/>
              <a:chOff x="4093524" y="4789170"/>
              <a:chExt cx="4393421" cy="354726"/>
            </a:xfrm>
          </p:grpSpPr>
          <p:sp>
            <p:nvSpPr>
              <p:cNvPr id="159" name="95 CuadroTexto"/>
              <p:cNvSpPr txBox="1">
                <a:spLocks noChangeArrowheads="1"/>
              </p:cNvSpPr>
              <p:nvPr/>
            </p:nvSpPr>
            <p:spPr bwMode="auto">
              <a:xfrm>
                <a:off x="4093524" y="4983484"/>
                <a:ext cx="324000" cy="159462"/>
              </a:xfrm>
              <a:prstGeom prst="rect">
                <a:avLst/>
              </a:prstGeom>
              <a:solidFill>
                <a:schemeClr val="bg1"/>
              </a:solidFill>
              <a:ln w="9525">
                <a:noFill/>
                <a:miter lim="800000"/>
                <a:headEnd/>
                <a:tailEnd/>
              </a:ln>
            </p:spPr>
            <p:txBody>
              <a:bodyPr wrap="square" lIns="18000" tIns="18000" rIns="18000" bIns="18000">
                <a:spAutoFit/>
              </a:bodyPr>
              <a:lstStyle/>
              <a:p>
                <a:pPr marL="185738" indent="-185738" algn="ctr">
                  <a:spcBef>
                    <a:spcPts val="600"/>
                  </a:spcBef>
                  <a:spcAft>
                    <a:spcPts val="600"/>
                  </a:spcAft>
                </a:pPr>
                <a:r>
                  <a:rPr lang="es-PE" sz="800" b="1" dirty="0">
                    <a:latin typeface="Arial" pitchFamily="34" charset="0"/>
                    <a:cs typeface="Arial" pitchFamily="34" charset="0"/>
                  </a:rPr>
                  <a:t>15-11</a:t>
                </a:r>
              </a:p>
            </p:txBody>
          </p:sp>
          <p:sp>
            <p:nvSpPr>
              <p:cNvPr id="160" name="2 Rectángulo"/>
              <p:cNvSpPr>
                <a:spLocks noChangeArrowheads="1"/>
              </p:cNvSpPr>
              <p:nvPr/>
            </p:nvSpPr>
            <p:spPr bwMode="auto">
              <a:xfrm>
                <a:off x="4271957" y="4789170"/>
                <a:ext cx="4068000" cy="144000"/>
              </a:xfrm>
              <a:prstGeom prst="rect">
                <a:avLst/>
              </a:prstGeom>
              <a:solidFill>
                <a:srgbClr val="6699FF"/>
              </a:solidFill>
              <a:ln>
                <a:headEnd/>
                <a:tailEnd/>
              </a:ln>
            </p:spPr>
            <p:style>
              <a:lnRef idx="0">
                <a:schemeClr val="accent1"/>
              </a:lnRef>
              <a:fillRef idx="3">
                <a:schemeClr val="accent1"/>
              </a:fillRef>
              <a:effectRef idx="3">
                <a:schemeClr val="accent1"/>
              </a:effectRef>
              <a:fontRef idx="minor">
                <a:schemeClr val="lt1"/>
              </a:fontRef>
            </p:style>
            <p:txBody>
              <a:bodyPr wrap="none" anchor="ctr"/>
              <a:lstStyle/>
              <a:p>
                <a:pPr algn="ctr"/>
                <a:endParaRPr lang="es-PE" sz="1200" b="1" i="0" dirty="0">
                  <a:solidFill>
                    <a:schemeClr val="bg1"/>
                  </a:solidFill>
                  <a:latin typeface="Calibri" pitchFamily="34" charset="0"/>
                  <a:cs typeface="Calibri" pitchFamily="34" charset="0"/>
                </a:endParaRPr>
              </a:p>
            </p:txBody>
          </p:sp>
          <p:sp>
            <p:nvSpPr>
              <p:cNvPr id="161" name="95 CuadroTexto"/>
              <p:cNvSpPr txBox="1">
                <a:spLocks noChangeArrowheads="1"/>
              </p:cNvSpPr>
              <p:nvPr/>
            </p:nvSpPr>
            <p:spPr bwMode="auto">
              <a:xfrm>
                <a:off x="5667383" y="4972061"/>
                <a:ext cx="1214446" cy="159462"/>
              </a:xfrm>
              <a:prstGeom prst="rect">
                <a:avLst/>
              </a:prstGeom>
              <a:solidFill>
                <a:schemeClr val="bg1"/>
              </a:solidFill>
              <a:ln w="9525">
                <a:noFill/>
                <a:miter lim="800000"/>
                <a:headEnd/>
                <a:tailEnd/>
              </a:ln>
            </p:spPr>
            <p:txBody>
              <a:bodyPr wrap="square" lIns="18000" tIns="18000" rIns="18000" bIns="18000">
                <a:spAutoFit/>
              </a:bodyPr>
              <a:lstStyle/>
              <a:p>
                <a:r>
                  <a:rPr lang="es-PE" sz="800" b="1" dirty="0">
                    <a:latin typeface="Arial" pitchFamily="34" charset="0"/>
                    <a:cs typeface="Arial" pitchFamily="34" charset="0"/>
                  </a:rPr>
                  <a:t>MS - Diseño de BDRS</a:t>
                </a:r>
              </a:p>
            </p:txBody>
          </p:sp>
          <p:sp>
            <p:nvSpPr>
              <p:cNvPr id="162" name="95 CuadroTexto"/>
              <p:cNvSpPr txBox="1">
                <a:spLocks noChangeArrowheads="1"/>
              </p:cNvSpPr>
              <p:nvPr/>
            </p:nvSpPr>
            <p:spPr bwMode="auto">
              <a:xfrm>
                <a:off x="8162945" y="4984434"/>
                <a:ext cx="324000" cy="159462"/>
              </a:xfrm>
              <a:prstGeom prst="rect">
                <a:avLst/>
              </a:prstGeom>
              <a:solidFill>
                <a:schemeClr val="bg1"/>
              </a:solidFill>
              <a:ln w="9525">
                <a:noFill/>
                <a:miter lim="800000"/>
                <a:headEnd/>
                <a:tailEnd/>
              </a:ln>
            </p:spPr>
            <p:txBody>
              <a:bodyPr wrap="square" lIns="18000" tIns="18000" rIns="18000" bIns="18000">
                <a:spAutoFit/>
              </a:bodyPr>
              <a:lstStyle/>
              <a:p>
                <a:pPr marL="185738" indent="-185738" algn="ctr">
                  <a:spcBef>
                    <a:spcPts val="600"/>
                  </a:spcBef>
                  <a:spcAft>
                    <a:spcPts val="600"/>
                  </a:spcAft>
                </a:pPr>
                <a:r>
                  <a:rPr lang="es-PE" sz="800" b="1" dirty="0">
                    <a:solidFill>
                      <a:srgbClr val="FF0000"/>
                    </a:solidFill>
                    <a:latin typeface="Arial" pitchFamily="34" charset="0"/>
                    <a:cs typeface="Arial" pitchFamily="34" charset="0"/>
                  </a:rPr>
                  <a:t>08-04</a:t>
                </a:r>
              </a:p>
            </p:txBody>
          </p:sp>
        </p:grpSp>
        <p:grpSp>
          <p:nvGrpSpPr>
            <p:cNvPr id="12" name="87 Grupo"/>
            <p:cNvGrpSpPr/>
            <p:nvPr/>
          </p:nvGrpSpPr>
          <p:grpSpPr>
            <a:xfrm>
              <a:off x="2566826" y="4340540"/>
              <a:ext cx="5505636" cy="342026"/>
              <a:chOff x="2566826" y="4340540"/>
              <a:chExt cx="5505636" cy="342026"/>
            </a:xfrm>
          </p:grpSpPr>
          <p:sp>
            <p:nvSpPr>
              <p:cNvPr id="154" name="95 CuadroTexto"/>
              <p:cNvSpPr txBox="1">
                <a:spLocks noChangeArrowheads="1"/>
              </p:cNvSpPr>
              <p:nvPr/>
            </p:nvSpPr>
            <p:spPr bwMode="auto">
              <a:xfrm>
                <a:off x="4403406" y="4512952"/>
                <a:ext cx="1000132" cy="159462"/>
              </a:xfrm>
              <a:prstGeom prst="rect">
                <a:avLst/>
              </a:prstGeom>
              <a:solidFill>
                <a:schemeClr val="bg1"/>
              </a:solidFill>
              <a:ln w="9525">
                <a:noFill/>
                <a:miter lim="800000"/>
                <a:headEnd/>
                <a:tailEnd/>
              </a:ln>
            </p:spPr>
            <p:txBody>
              <a:bodyPr wrap="square" lIns="18000" tIns="18000" rIns="18000" bIns="18000">
                <a:spAutoFit/>
              </a:bodyPr>
              <a:lstStyle/>
              <a:p>
                <a:pPr algn="ctr"/>
                <a:r>
                  <a:rPr lang="es-PE" sz="800" b="1" dirty="0">
                    <a:latin typeface="Arial" pitchFamily="34" charset="0"/>
                    <a:cs typeface="Arial" pitchFamily="34" charset="0"/>
                  </a:rPr>
                  <a:t>Extracción de data</a:t>
                </a:r>
              </a:p>
            </p:txBody>
          </p:sp>
          <p:grpSp>
            <p:nvGrpSpPr>
              <p:cNvPr id="13" name="85 Grupo"/>
              <p:cNvGrpSpPr/>
              <p:nvPr/>
            </p:nvGrpSpPr>
            <p:grpSpPr>
              <a:xfrm>
                <a:off x="2566826" y="4340540"/>
                <a:ext cx="5505636" cy="342026"/>
                <a:chOff x="2566826" y="4340540"/>
                <a:chExt cx="5505636" cy="342026"/>
              </a:xfrm>
            </p:grpSpPr>
            <p:sp>
              <p:nvSpPr>
                <p:cNvPr id="156" name="95 CuadroTexto"/>
                <p:cNvSpPr txBox="1">
                  <a:spLocks noChangeArrowheads="1"/>
                </p:cNvSpPr>
                <p:nvPr/>
              </p:nvSpPr>
              <p:spPr bwMode="auto">
                <a:xfrm>
                  <a:off x="2566826" y="4523104"/>
                  <a:ext cx="324000" cy="159462"/>
                </a:xfrm>
                <a:prstGeom prst="rect">
                  <a:avLst/>
                </a:prstGeom>
                <a:solidFill>
                  <a:schemeClr val="bg1"/>
                </a:solidFill>
                <a:ln w="9525">
                  <a:noFill/>
                  <a:miter lim="800000"/>
                  <a:headEnd/>
                  <a:tailEnd/>
                </a:ln>
              </p:spPr>
              <p:txBody>
                <a:bodyPr wrap="square" lIns="18000" tIns="18000" rIns="18000" bIns="18000">
                  <a:spAutoFit/>
                </a:bodyPr>
                <a:lstStyle/>
                <a:p>
                  <a:pPr marL="185738" indent="-185738" algn="ctr">
                    <a:spcBef>
                      <a:spcPts val="600"/>
                    </a:spcBef>
                    <a:spcAft>
                      <a:spcPts val="600"/>
                    </a:spcAft>
                  </a:pPr>
                  <a:r>
                    <a:rPr lang="es-PE" sz="800" b="1" dirty="0">
                      <a:latin typeface="Arial" pitchFamily="34" charset="0"/>
                      <a:cs typeface="Arial" pitchFamily="34" charset="0"/>
                    </a:rPr>
                    <a:t>19-09</a:t>
                  </a:r>
                </a:p>
              </p:txBody>
            </p:sp>
            <p:sp>
              <p:nvSpPr>
                <p:cNvPr id="157" name="2 Rectángulo"/>
                <p:cNvSpPr>
                  <a:spLocks noChangeArrowheads="1"/>
                </p:cNvSpPr>
                <p:nvPr/>
              </p:nvSpPr>
              <p:spPr bwMode="auto">
                <a:xfrm>
                  <a:off x="2733190" y="4340540"/>
                  <a:ext cx="5220000" cy="144000"/>
                </a:xfrm>
                <a:prstGeom prst="rect">
                  <a:avLst/>
                </a:prstGeom>
                <a:solidFill>
                  <a:schemeClr val="bg1">
                    <a:lumMod val="65000"/>
                  </a:schemeClr>
                </a:solidFill>
                <a:ln>
                  <a:headEnd/>
                  <a:tailEnd/>
                </a:ln>
              </p:spPr>
              <p:style>
                <a:lnRef idx="0">
                  <a:schemeClr val="accent1"/>
                </a:lnRef>
                <a:fillRef idx="3">
                  <a:schemeClr val="accent1"/>
                </a:fillRef>
                <a:effectRef idx="3">
                  <a:schemeClr val="accent1"/>
                </a:effectRef>
                <a:fontRef idx="minor">
                  <a:schemeClr val="lt1"/>
                </a:fontRef>
              </p:style>
              <p:txBody>
                <a:bodyPr wrap="none" anchor="ctr"/>
                <a:lstStyle/>
                <a:p>
                  <a:pPr algn="ctr"/>
                  <a:endParaRPr lang="es-PE" sz="1200" b="1" i="0" dirty="0">
                    <a:solidFill>
                      <a:schemeClr val="bg1"/>
                    </a:solidFill>
                    <a:latin typeface="Calibri" pitchFamily="34" charset="0"/>
                    <a:cs typeface="Calibri" pitchFamily="34" charset="0"/>
                  </a:endParaRPr>
                </a:p>
              </p:txBody>
            </p:sp>
            <p:sp>
              <p:nvSpPr>
                <p:cNvPr id="158" name="95 CuadroTexto"/>
                <p:cNvSpPr txBox="1">
                  <a:spLocks noChangeArrowheads="1"/>
                </p:cNvSpPr>
                <p:nvPr/>
              </p:nvSpPr>
              <p:spPr bwMode="auto">
                <a:xfrm>
                  <a:off x="7748462" y="4523104"/>
                  <a:ext cx="324000" cy="159462"/>
                </a:xfrm>
                <a:prstGeom prst="rect">
                  <a:avLst/>
                </a:prstGeom>
                <a:solidFill>
                  <a:schemeClr val="bg1"/>
                </a:solidFill>
                <a:ln w="9525">
                  <a:noFill/>
                  <a:miter lim="800000"/>
                  <a:headEnd/>
                  <a:tailEnd/>
                </a:ln>
              </p:spPr>
              <p:txBody>
                <a:bodyPr wrap="square" lIns="18000" tIns="18000" rIns="18000" bIns="18000">
                  <a:spAutoFit/>
                </a:bodyPr>
                <a:lstStyle/>
                <a:p>
                  <a:pPr marL="185738" indent="-185738" algn="ctr">
                    <a:spcBef>
                      <a:spcPts val="600"/>
                    </a:spcBef>
                    <a:spcAft>
                      <a:spcPts val="600"/>
                    </a:spcAft>
                  </a:pPr>
                  <a:r>
                    <a:rPr lang="es-PE" sz="800" b="1" dirty="0">
                      <a:solidFill>
                        <a:srgbClr val="00B050"/>
                      </a:solidFill>
                      <a:latin typeface="Arial" pitchFamily="34" charset="0"/>
                      <a:cs typeface="Arial" pitchFamily="34" charset="0"/>
                    </a:rPr>
                    <a:t>25-03</a:t>
                  </a:r>
                </a:p>
              </p:txBody>
            </p:sp>
          </p:grpSp>
        </p:grpSp>
        <p:grpSp>
          <p:nvGrpSpPr>
            <p:cNvPr id="14" name="88 Grupo"/>
            <p:cNvGrpSpPr/>
            <p:nvPr/>
          </p:nvGrpSpPr>
          <p:grpSpPr>
            <a:xfrm>
              <a:off x="3612826" y="6031248"/>
              <a:ext cx="2847042" cy="371871"/>
              <a:chOff x="3612826" y="6031248"/>
              <a:chExt cx="2847042" cy="371871"/>
            </a:xfrm>
          </p:grpSpPr>
          <p:sp>
            <p:nvSpPr>
              <p:cNvPr id="150" name="2 Rectángulo"/>
              <p:cNvSpPr>
                <a:spLocks noChangeArrowheads="1"/>
              </p:cNvSpPr>
              <p:nvPr/>
            </p:nvSpPr>
            <p:spPr bwMode="auto">
              <a:xfrm>
                <a:off x="3794762" y="6031248"/>
                <a:ext cx="2520000" cy="144000"/>
              </a:xfrm>
              <a:prstGeom prst="rect">
                <a:avLst/>
              </a:prstGeom>
              <a:solidFill>
                <a:srgbClr val="6699FF"/>
              </a:solidFill>
              <a:ln>
                <a:headEnd/>
                <a:tailEnd/>
              </a:ln>
            </p:spPr>
            <p:style>
              <a:lnRef idx="0">
                <a:schemeClr val="accent1"/>
              </a:lnRef>
              <a:fillRef idx="3">
                <a:schemeClr val="accent1"/>
              </a:fillRef>
              <a:effectRef idx="3">
                <a:schemeClr val="accent1"/>
              </a:effectRef>
              <a:fontRef idx="minor">
                <a:schemeClr val="lt1"/>
              </a:fontRef>
            </p:style>
            <p:txBody>
              <a:bodyPr wrap="none" anchor="ctr"/>
              <a:lstStyle/>
              <a:p>
                <a:pPr algn="ctr"/>
                <a:endParaRPr lang="es-PE" sz="1200" b="1" i="0" dirty="0">
                  <a:solidFill>
                    <a:schemeClr val="bg1"/>
                  </a:solidFill>
                  <a:latin typeface="Calibri" pitchFamily="34" charset="0"/>
                  <a:cs typeface="Calibri" pitchFamily="34" charset="0"/>
                </a:endParaRPr>
              </a:p>
            </p:txBody>
          </p:sp>
          <p:sp>
            <p:nvSpPr>
              <p:cNvPr id="151" name="95 CuadroTexto"/>
              <p:cNvSpPr txBox="1">
                <a:spLocks noChangeArrowheads="1"/>
              </p:cNvSpPr>
              <p:nvPr/>
            </p:nvSpPr>
            <p:spPr bwMode="auto">
              <a:xfrm>
                <a:off x="3612826" y="6207462"/>
                <a:ext cx="324000" cy="159462"/>
              </a:xfrm>
              <a:prstGeom prst="rect">
                <a:avLst/>
              </a:prstGeom>
              <a:solidFill>
                <a:schemeClr val="bg1"/>
              </a:solidFill>
              <a:ln w="9525">
                <a:noFill/>
                <a:miter lim="800000"/>
                <a:headEnd/>
                <a:tailEnd/>
              </a:ln>
            </p:spPr>
            <p:txBody>
              <a:bodyPr wrap="square" lIns="18000" tIns="18000" rIns="18000" bIns="18000">
                <a:spAutoFit/>
              </a:bodyPr>
              <a:lstStyle/>
              <a:p>
                <a:pPr marL="185738" indent="-185738" algn="ctr">
                  <a:spcBef>
                    <a:spcPts val="600"/>
                  </a:spcBef>
                  <a:spcAft>
                    <a:spcPts val="600"/>
                  </a:spcAft>
                </a:pPr>
                <a:r>
                  <a:rPr lang="es-PE" sz="800" b="1" dirty="0">
                    <a:latin typeface="Arial" pitchFamily="34" charset="0"/>
                    <a:cs typeface="Arial" pitchFamily="34" charset="0"/>
                  </a:rPr>
                  <a:t>29-10</a:t>
                </a:r>
              </a:p>
            </p:txBody>
          </p:sp>
          <p:sp>
            <p:nvSpPr>
              <p:cNvPr id="152" name="95 CuadroTexto"/>
              <p:cNvSpPr txBox="1">
                <a:spLocks noChangeArrowheads="1"/>
              </p:cNvSpPr>
              <p:nvPr/>
            </p:nvSpPr>
            <p:spPr bwMode="auto">
              <a:xfrm>
                <a:off x="6135868" y="6207462"/>
                <a:ext cx="324000" cy="159462"/>
              </a:xfrm>
              <a:prstGeom prst="rect">
                <a:avLst/>
              </a:prstGeom>
              <a:solidFill>
                <a:schemeClr val="bg1"/>
              </a:solidFill>
              <a:ln w="9525">
                <a:noFill/>
                <a:miter lim="800000"/>
                <a:headEnd/>
                <a:tailEnd/>
              </a:ln>
            </p:spPr>
            <p:txBody>
              <a:bodyPr wrap="square" lIns="18000" tIns="18000" rIns="18000" bIns="18000">
                <a:spAutoFit/>
              </a:bodyPr>
              <a:lstStyle/>
              <a:p>
                <a:pPr marL="185738" indent="-185738" algn="ctr">
                  <a:spcBef>
                    <a:spcPts val="600"/>
                  </a:spcBef>
                  <a:spcAft>
                    <a:spcPts val="600"/>
                  </a:spcAft>
                </a:pPr>
                <a:r>
                  <a:rPr lang="es-PE" sz="800" b="1" dirty="0">
                    <a:solidFill>
                      <a:srgbClr val="FF0000"/>
                    </a:solidFill>
                    <a:latin typeface="Arial" pitchFamily="34" charset="0"/>
                    <a:cs typeface="Arial" pitchFamily="34" charset="0"/>
                  </a:rPr>
                  <a:t>25-01</a:t>
                </a:r>
              </a:p>
            </p:txBody>
          </p:sp>
          <p:sp>
            <p:nvSpPr>
              <p:cNvPr id="153" name="95 CuadroTexto"/>
              <p:cNvSpPr txBox="1">
                <a:spLocks noChangeArrowheads="1"/>
              </p:cNvSpPr>
              <p:nvPr/>
            </p:nvSpPr>
            <p:spPr bwMode="auto">
              <a:xfrm>
                <a:off x="4619626" y="6243657"/>
                <a:ext cx="857256" cy="159462"/>
              </a:xfrm>
              <a:prstGeom prst="rect">
                <a:avLst/>
              </a:prstGeom>
              <a:solidFill>
                <a:schemeClr val="bg1"/>
              </a:solidFill>
              <a:ln w="9525">
                <a:noFill/>
                <a:miter lim="800000"/>
                <a:headEnd/>
                <a:tailEnd/>
              </a:ln>
            </p:spPr>
            <p:txBody>
              <a:bodyPr wrap="square" lIns="18000" tIns="18000" rIns="18000" bIns="18000">
                <a:spAutoFit/>
              </a:bodyPr>
              <a:lstStyle/>
              <a:p>
                <a:r>
                  <a:rPr lang="es-PE" sz="800" b="1" dirty="0">
                    <a:latin typeface="Arial" pitchFamily="34" charset="0"/>
                    <a:cs typeface="Arial" pitchFamily="34" charset="0"/>
                  </a:rPr>
                  <a:t>Metodología MS</a:t>
                </a:r>
              </a:p>
            </p:txBody>
          </p:sp>
        </p:grpSp>
      </p:grpSp>
      <p:grpSp>
        <p:nvGrpSpPr>
          <p:cNvPr id="15" name="169 Grupo"/>
          <p:cNvGrpSpPr/>
          <p:nvPr/>
        </p:nvGrpSpPr>
        <p:grpSpPr>
          <a:xfrm>
            <a:off x="4171947" y="2724146"/>
            <a:ext cx="952507" cy="425030"/>
            <a:chOff x="4171947" y="2724146"/>
            <a:chExt cx="952507" cy="425030"/>
          </a:xfrm>
        </p:grpSpPr>
        <p:sp>
          <p:nvSpPr>
            <p:cNvPr id="171" name="95 CuadroTexto"/>
            <p:cNvSpPr txBox="1">
              <a:spLocks noChangeArrowheads="1"/>
            </p:cNvSpPr>
            <p:nvPr/>
          </p:nvSpPr>
          <p:spPr bwMode="auto">
            <a:xfrm>
              <a:off x="4410074" y="2724146"/>
              <a:ext cx="714380" cy="282573"/>
            </a:xfrm>
            <a:prstGeom prst="rect">
              <a:avLst/>
            </a:prstGeom>
            <a:solidFill>
              <a:schemeClr val="bg1"/>
            </a:solidFill>
            <a:ln w="9525">
              <a:noFill/>
              <a:miter lim="800000"/>
              <a:headEnd/>
              <a:tailEnd/>
            </a:ln>
          </p:spPr>
          <p:txBody>
            <a:bodyPr wrap="square" lIns="18000" tIns="18000" rIns="18000" bIns="18000">
              <a:spAutoFit/>
            </a:bodyPr>
            <a:lstStyle/>
            <a:p>
              <a:r>
                <a:rPr lang="es-PE" sz="800" b="1" dirty="0">
                  <a:solidFill>
                    <a:srgbClr val="00B050"/>
                  </a:solidFill>
                  <a:latin typeface="Arial" pitchFamily="34" charset="0"/>
                  <a:cs typeface="Arial" pitchFamily="34" charset="0"/>
                </a:rPr>
                <a:t>Data RRVV</a:t>
              </a:r>
            </a:p>
            <a:p>
              <a:r>
                <a:rPr lang="es-PE" sz="800" b="1" dirty="0">
                  <a:solidFill>
                    <a:srgbClr val="00B050"/>
                  </a:solidFill>
                  <a:latin typeface="Arial" pitchFamily="34" charset="0"/>
                  <a:cs typeface="Arial" pitchFamily="34" charset="0"/>
                </a:rPr>
                <a:t>y Vehículos</a:t>
              </a:r>
            </a:p>
          </p:txBody>
        </p:sp>
        <p:cxnSp>
          <p:nvCxnSpPr>
            <p:cNvPr id="172" name="171 Conector recto de flecha"/>
            <p:cNvCxnSpPr/>
            <p:nvPr/>
          </p:nvCxnSpPr>
          <p:spPr>
            <a:xfrm rot="5400000">
              <a:off x="4156279" y="3022382"/>
              <a:ext cx="252000" cy="1588"/>
            </a:xfrm>
            <a:prstGeom prst="straightConnector1">
              <a:avLst/>
            </a:prstGeom>
            <a:ln w="19050">
              <a:solidFill>
                <a:srgbClr val="00B050"/>
              </a:solidFill>
              <a:tailEnd type="arrow"/>
            </a:ln>
          </p:spPr>
          <p:style>
            <a:lnRef idx="1">
              <a:schemeClr val="accent1"/>
            </a:lnRef>
            <a:fillRef idx="0">
              <a:schemeClr val="accent1"/>
            </a:fillRef>
            <a:effectRef idx="0">
              <a:schemeClr val="accent1"/>
            </a:effectRef>
            <a:fontRef idx="minor">
              <a:schemeClr val="tx1"/>
            </a:fontRef>
          </p:style>
        </p:cxnSp>
        <p:sp>
          <p:nvSpPr>
            <p:cNvPr id="173" name="172 Triángulo isósceles"/>
            <p:cNvSpPr/>
            <p:nvPr/>
          </p:nvSpPr>
          <p:spPr bwMode="auto">
            <a:xfrm rot="10800000">
              <a:off x="4171947" y="2806686"/>
              <a:ext cx="230491" cy="144016"/>
            </a:xfrm>
            <a:prstGeom prst="triangle">
              <a:avLst/>
            </a:prstGeom>
            <a:solidFill>
              <a:srgbClr val="00B050"/>
            </a:solidFill>
            <a:ln>
              <a:headEnd type="none" w="med" len="med"/>
              <a:tailEnd type="none" w="med" len="med"/>
            </a:ln>
          </p:spPr>
          <p:style>
            <a:lnRef idx="0">
              <a:schemeClr val="dk1"/>
            </a:lnRef>
            <a:fillRef idx="3">
              <a:schemeClr val="dk1"/>
            </a:fillRef>
            <a:effectRef idx="3">
              <a:schemeClr val="dk1"/>
            </a:effectRef>
            <a:fontRef idx="minor">
              <a:schemeClr val="lt1"/>
            </a:fontRef>
          </p:style>
          <p:txBody>
            <a:bodyPr wrap="none" anchor="ctr"/>
            <a:lstStyle/>
            <a:p>
              <a:pPr>
                <a:defRPr/>
              </a:pPr>
              <a:endParaRPr lang="es-PE" sz="1400">
                <a:solidFill>
                  <a:schemeClr val="tx1"/>
                </a:solidFill>
                <a:latin typeface="Times New Roman" pitchFamily="18" charset="0"/>
              </a:endParaRPr>
            </a:p>
          </p:txBody>
        </p:sp>
      </p:grpSp>
      <p:grpSp>
        <p:nvGrpSpPr>
          <p:cNvPr id="16" name="173 Grupo"/>
          <p:cNvGrpSpPr/>
          <p:nvPr/>
        </p:nvGrpSpPr>
        <p:grpSpPr>
          <a:xfrm>
            <a:off x="7812111" y="4286256"/>
            <a:ext cx="974731" cy="282573"/>
            <a:chOff x="7812111" y="4286256"/>
            <a:chExt cx="974731" cy="282573"/>
          </a:xfrm>
        </p:grpSpPr>
        <p:sp>
          <p:nvSpPr>
            <p:cNvPr id="175" name="95 CuadroTexto"/>
            <p:cNvSpPr txBox="1">
              <a:spLocks noChangeArrowheads="1"/>
            </p:cNvSpPr>
            <p:nvPr/>
          </p:nvSpPr>
          <p:spPr bwMode="auto">
            <a:xfrm>
              <a:off x="8072462" y="4286256"/>
              <a:ext cx="714380" cy="282573"/>
            </a:xfrm>
            <a:prstGeom prst="rect">
              <a:avLst/>
            </a:prstGeom>
            <a:noFill/>
            <a:ln w="9525">
              <a:noFill/>
              <a:miter lim="800000"/>
              <a:headEnd/>
              <a:tailEnd/>
            </a:ln>
          </p:spPr>
          <p:txBody>
            <a:bodyPr wrap="square" lIns="18000" tIns="18000" rIns="18000" bIns="18000">
              <a:spAutoFit/>
            </a:bodyPr>
            <a:lstStyle/>
            <a:p>
              <a:r>
                <a:rPr lang="es-PE" sz="800" b="1" dirty="0">
                  <a:solidFill>
                    <a:srgbClr val="00B050"/>
                  </a:solidFill>
                  <a:latin typeface="Arial" pitchFamily="34" charset="0"/>
                  <a:cs typeface="Arial" pitchFamily="34" charset="0"/>
                </a:rPr>
                <a:t>Data para</a:t>
              </a:r>
            </a:p>
            <a:p>
              <a:r>
                <a:rPr lang="es-PE" sz="800" b="1" dirty="0">
                  <a:solidFill>
                    <a:srgbClr val="00B050"/>
                  </a:solidFill>
                  <a:latin typeface="Arial" pitchFamily="34" charset="0"/>
                  <a:cs typeface="Arial" pitchFamily="34" charset="0"/>
                </a:rPr>
                <a:t>completitud</a:t>
              </a:r>
            </a:p>
          </p:txBody>
        </p:sp>
        <p:sp>
          <p:nvSpPr>
            <p:cNvPr id="176" name="175 Triángulo isósceles"/>
            <p:cNvSpPr/>
            <p:nvPr/>
          </p:nvSpPr>
          <p:spPr bwMode="auto">
            <a:xfrm rot="10800000">
              <a:off x="7812111" y="4340540"/>
              <a:ext cx="230491" cy="144016"/>
            </a:xfrm>
            <a:prstGeom prst="triangle">
              <a:avLst/>
            </a:prstGeom>
            <a:solidFill>
              <a:srgbClr val="00B050"/>
            </a:solidFill>
            <a:ln>
              <a:headEnd type="none" w="med" len="med"/>
              <a:tailEnd type="none" w="med" len="med"/>
            </a:ln>
          </p:spPr>
          <p:style>
            <a:lnRef idx="0">
              <a:schemeClr val="dk1"/>
            </a:lnRef>
            <a:fillRef idx="3">
              <a:schemeClr val="dk1"/>
            </a:fillRef>
            <a:effectRef idx="3">
              <a:schemeClr val="dk1"/>
            </a:effectRef>
            <a:fontRef idx="minor">
              <a:schemeClr val="lt1"/>
            </a:fontRef>
          </p:style>
          <p:txBody>
            <a:bodyPr wrap="none" anchor="ctr"/>
            <a:lstStyle/>
            <a:p>
              <a:pPr>
                <a:defRPr/>
              </a:pPr>
              <a:endParaRPr lang="es-PE" sz="1400">
                <a:solidFill>
                  <a:schemeClr val="tx1"/>
                </a:solidFill>
                <a:latin typeface="Times New Roman" pitchFamily="18" charset="0"/>
              </a:endParaRPr>
            </a:p>
          </p:txBody>
        </p:sp>
      </p:grpSp>
      <p:grpSp>
        <p:nvGrpSpPr>
          <p:cNvPr id="17" name="176 Grupo"/>
          <p:cNvGrpSpPr/>
          <p:nvPr/>
        </p:nvGrpSpPr>
        <p:grpSpPr>
          <a:xfrm>
            <a:off x="7934728" y="4789180"/>
            <a:ext cx="990459" cy="646429"/>
            <a:chOff x="7934728" y="4789180"/>
            <a:chExt cx="990459" cy="646429"/>
          </a:xfrm>
        </p:grpSpPr>
        <p:sp>
          <p:nvSpPr>
            <p:cNvPr id="178" name="95 CuadroTexto"/>
            <p:cNvSpPr txBox="1">
              <a:spLocks noChangeArrowheads="1"/>
            </p:cNvSpPr>
            <p:nvPr/>
          </p:nvSpPr>
          <p:spPr bwMode="auto">
            <a:xfrm>
              <a:off x="7934728" y="5153036"/>
              <a:ext cx="990459" cy="282573"/>
            </a:xfrm>
            <a:prstGeom prst="rect">
              <a:avLst/>
            </a:prstGeom>
            <a:solidFill>
              <a:schemeClr val="bg1"/>
            </a:solidFill>
            <a:ln w="9525">
              <a:noFill/>
              <a:miter lim="800000"/>
              <a:headEnd/>
              <a:tailEnd/>
            </a:ln>
          </p:spPr>
          <p:txBody>
            <a:bodyPr wrap="none" lIns="18000" tIns="18000" rIns="18000" bIns="18000">
              <a:spAutoFit/>
            </a:bodyPr>
            <a:lstStyle/>
            <a:p>
              <a:pPr marL="90488" indent="-90488">
                <a:buFontTx/>
                <a:buChar char="-"/>
              </a:pPr>
              <a:r>
                <a:rPr lang="es-PE" sz="800" b="1" dirty="0">
                  <a:solidFill>
                    <a:srgbClr val="FF0000"/>
                  </a:solidFill>
                  <a:latin typeface="Arial" pitchFamily="34" charset="0"/>
                  <a:cs typeface="Arial" pitchFamily="34" charset="0"/>
                </a:rPr>
                <a:t>Diseño BDRS</a:t>
              </a:r>
            </a:p>
            <a:p>
              <a:pPr marL="90488" indent="-90488">
                <a:buFontTx/>
                <a:buChar char="-"/>
              </a:pPr>
              <a:r>
                <a:rPr lang="es-PE" sz="800" b="1" dirty="0">
                  <a:solidFill>
                    <a:srgbClr val="FF0000"/>
                  </a:solidFill>
                  <a:latin typeface="Arial" pitchFamily="34" charset="0"/>
                  <a:cs typeface="Arial" pitchFamily="34" charset="0"/>
                </a:rPr>
                <a:t>Doc. Arquitectura</a:t>
              </a:r>
            </a:p>
          </p:txBody>
        </p:sp>
        <p:sp>
          <p:nvSpPr>
            <p:cNvPr id="179" name="178 Triángulo isósceles"/>
            <p:cNvSpPr/>
            <p:nvPr/>
          </p:nvSpPr>
          <p:spPr bwMode="auto">
            <a:xfrm rot="10800000">
              <a:off x="8220108" y="4789180"/>
              <a:ext cx="230491" cy="144016"/>
            </a:xfrm>
            <a:prstGeom prst="triangle">
              <a:avLst/>
            </a:prstGeom>
            <a:solidFill>
              <a:srgbClr val="FF0000"/>
            </a:solidFill>
            <a:ln>
              <a:headEnd type="none" w="med" len="med"/>
              <a:tailEnd type="none" w="med" len="med"/>
            </a:ln>
          </p:spPr>
          <p:style>
            <a:lnRef idx="0">
              <a:schemeClr val="dk1"/>
            </a:lnRef>
            <a:fillRef idx="3">
              <a:schemeClr val="dk1"/>
            </a:fillRef>
            <a:effectRef idx="3">
              <a:schemeClr val="dk1"/>
            </a:effectRef>
            <a:fontRef idx="minor">
              <a:schemeClr val="lt1"/>
            </a:fontRef>
          </p:style>
          <p:txBody>
            <a:bodyPr wrap="none" anchor="ctr"/>
            <a:lstStyle/>
            <a:p>
              <a:pPr>
                <a:defRPr/>
              </a:pPr>
              <a:endParaRPr lang="es-PE" sz="1400">
                <a:solidFill>
                  <a:schemeClr val="tx1"/>
                </a:solidFill>
                <a:latin typeface="Times New Roman" pitchFamily="18" charset="0"/>
              </a:endParaRPr>
            </a:p>
          </p:txBody>
        </p:sp>
      </p:grpSp>
      <p:grpSp>
        <p:nvGrpSpPr>
          <p:cNvPr id="18" name="179 Grupo"/>
          <p:cNvGrpSpPr/>
          <p:nvPr/>
        </p:nvGrpSpPr>
        <p:grpSpPr>
          <a:xfrm>
            <a:off x="3906300" y="1558912"/>
            <a:ext cx="786557" cy="902613"/>
            <a:chOff x="3906300" y="1558912"/>
            <a:chExt cx="786557" cy="902613"/>
          </a:xfrm>
        </p:grpSpPr>
        <p:grpSp>
          <p:nvGrpSpPr>
            <p:cNvPr id="19" name="90 Grupo"/>
            <p:cNvGrpSpPr/>
            <p:nvPr/>
          </p:nvGrpSpPr>
          <p:grpSpPr>
            <a:xfrm>
              <a:off x="3906300" y="1558912"/>
              <a:ext cx="786557" cy="902613"/>
              <a:chOff x="3906300" y="1558912"/>
              <a:chExt cx="786557" cy="902613"/>
            </a:xfrm>
          </p:grpSpPr>
          <p:cxnSp>
            <p:nvCxnSpPr>
              <p:cNvPr id="183" name="182 Conector recto de flecha"/>
              <p:cNvCxnSpPr/>
              <p:nvPr/>
            </p:nvCxnSpPr>
            <p:spPr>
              <a:xfrm rot="16200000" flipH="1">
                <a:off x="3816050" y="2047525"/>
                <a:ext cx="828000" cy="0"/>
              </a:xfrm>
              <a:prstGeom prst="straightConnector1">
                <a:avLst/>
              </a:prstGeom>
              <a:ln w="19050">
                <a:solidFill>
                  <a:srgbClr val="00B050"/>
                </a:solidFill>
                <a:tailEnd type="arrow"/>
              </a:ln>
            </p:spPr>
            <p:style>
              <a:lnRef idx="1">
                <a:schemeClr val="accent1"/>
              </a:lnRef>
              <a:fillRef idx="0">
                <a:schemeClr val="accent1"/>
              </a:fillRef>
              <a:effectRef idx="0">
                <a:schemeClr val="accent1"/>
              </a:effectRef>
              <a:fontRef idx="minor">
                <a:schemeClr val="tx1"/>
              </a:fontRef>
            </p:style>
          </p:cxnSp>
          <p:sp>
            <p:nvSpPr>
              <p:cNvPr id="184" name="183 Triángulo isósceles"/>
              <p:cNvSpPr/>
              <p:nvPr/>
            </p:nvSpPr>
            <p:spPr bwMode="auto">
              <a:xfrm rot="10800000">
                <a:off x="4116384" y="1558912"/>
                <a:ext cx="230491" cy="144016"/>
              </a:xfrm>
              <a:prstGeom prst="triangle">
                <a:avLst/>
              </a:prstGeom>
              <a:solidFill>
                <a:srgbClr val="00B050"/>
              </a:solidFill>
              <a:ln>
                <a:headEnd type="none" w="med" len="med"/>
                <a:tailEnd type="none" w="med" len="med"/>
              </a:ln>
            </p:spPr>
            <p:style>
              <a:lnRef idx="0">
                <a:schemeClr val="dk1"/>
              </a:lnRef>
              <a:fillRef idx="3">
                <a:schemeClr val="dk1"/>
              </a:fillRef>
              <a:effectRef idx="3">
                <a:schemeClr val="dk1"/>
              </a:effectRef>
              <a:fontRef idx="minor">
                <a:schemeClr val="lt1"/>
              </a:fontRef>
            </p:style>
            <p:txBody>
              <a:bodyPr wrap="none" anchor="ctr"/>
              <a:lstStyle/>
              <a:p>
                <a:pPr>
                  <a:defRPr/>
                </a:pPr>
                <a:endParaRPr lang="es-PE" sz="1400">
                  <a:solidFill>
                    <a:schemeClr val="tx1"/>
                  </a:solidFill>
                  <a:latin typeface="Times New Roman" pitchFamily="18" charset="0"/>
                </a:endParaRPr>
              </a:p>
            </p:txBody>
          </p:sp>
          <p:sp>
            <p:nvSpPr>
              <p:cNvPr id="185" name="95 CuadroTexto"/>
              <p:cNvSpPr txBox="1">
                <a:spLocks noChangeArrowheads="1"/>
              </p:cNvSpPr>
              <p:nvPr/>
            </p:nvSpPr>
            <p:spPr bwMode="auto">
              <a:xfrm>
                <a:off x="3906300" y="1906894"/>
                <a:ext cx="786557" cy="282573"/>
              </a:xfrm>
              <a:prstGeom prst="rect">
                <a:avLst/>
              </a:prstGeom>
              <a:solidFill>
                <a:schemeClr val="bg1"/>
              </a:solidFill>
              <a:ln w="9525">
                <a:noFill/>
                <a:miter lim="800000"/>
                <a:headEnd/>
                <a:tailEnd/>
              </a:ln>
            </p:spPr>
            <p:txBody>
              <a:bodyPr wrap="none" lIns="18000" tIns="18000" rIns="18000" bIns="18000">
                <a:spAutoFit/>
              </a:bodyPr>
              <a:lstStyle/>
              <a:p>
                <a:pPr marL="185738" indent="-185738"/>
                <a:r>
                  <a:rPr lang="es-PE" sz="800" b="1" dirty="0">
                    <a:solidFill>
                      <a:srgbClr val="00B050"/>
                    </a:solidFill>
                    <a:latin typeface="Arial" pitchFamily="34" charset="0"/>
                    <a:cs typeface="Arial" pitchFamily="34" charset="0"/>
                  </a:rPr>
                  <a:t>Herramientas</a:t>
                </a:r>
              </a:p>
              <a:p>
                <a:pPr marL="185738" indent="-185738"/>
                <a:r>
                  <a:rPr lang="es-PE" sz="800" b="1" dirty="0">
                    <a:solidFill>
                      <a:srgbClr val="00B050"/>
                    </a:solidFill>
                    <a:latin typeface="Arial" pitchFamily="34" charset="0"/>
                    <a:cs typeface="Arial" pitchFamily="34" charset="0"/>
                  </a:rPr>
                  <a:t>Implementadas</a:t>
                </a:r>
              </a:p>
            </p:txBody>
          </p:sp>
        </p:grpSp>
        <p:sp>
          <p:nvSpPr>
            <p:cNvPr id="182" name="95 CuadroTexto"/>
            <p:cNvSpPr txBox="1">
              <a:spLocks noChangeArrowheads="1"/>
            </p:cNvSpPr>
            <p:nvPr/>
          </p:nvSpPr>
          <p:spPr bwMode="auto">
            <a:xfrm>
              <a:off x="4082412" y="1755128"/>
              <a:ext cx="324000" cy="159462"/>
            </a:xfrm>
            <a:prstGeom prst="rect">
              <a:avLst/>
            </a:prstGeom>
            <a:solidFill>
              <a:schemeClr val="bg1"/>
            </a:solidFill>
            <a:ln w="9525">
              <a:noFill/>
              <a:miter lim="800000"/>
              <a:headEnd/>
              <a:tailEnd/>
            </a:ln>
          </p:spPr>
          <p:txBody>
            <a:bodyPr wrap="square" lIns="18000" tIns="18000" rIns="18000" bIns="18000">
              <a:spAutoFit/>
            </a:bodyPr>
            <a:lstStyle/>
            <a:p>
              <a:pPr marL="185738" indent="-185738" algn="ctr">
                <a:spcBef>
                  <a:spcPts val="600"/>
                </a:spcBef>
                <a:spcAft>
                  <a:spcPts val="600"/>
                </a:spcAft>
              </a:pPr>
              <a:r>
                <a:rPr lang="es-PE" sz="800" b="1" dirty="0">
                  <a:solidFill>
                    <a:srgbClr val="00B050"/>
                  </a:solidFill>
                  <a:latin typeface="Arial" pitchFamily="34" charset="0"/>
                  <a:cs typeface="Arial" pitchFamily="34" charset="0"/>
                </a:rPr>
                <a:t>13-11</a:t>
              </a:r>
            </a:p>
          </p:txBody>
        </p:sp>
      </p:grpSp>
      <p:grpSp>
        <p:nvGrpSpPr>
          <p:cNvPr id="20" name="185 Grupo"/>
          <p:cNvGrpSpPr/>
          <p:nvPr/>
        </p:nvGrpSpPr>
        <p:grpSpPr>
          <a:xfrm>
            <a:off x="5948372" y="6032518"/>
            <a:ext cx="740070" cy="614363"/>
            <a:chOff x="5948372" y="6032518"/>
            <a:chExt cx="740070" cy="614363"/>
          </a:xfrm>
        </p:grpSpPr>
        <p:sp>
          <p:nvSpPr>
            <p:cNvPr id="187" name="95 CuadroTexto"/>
            <p:cNvSpPr txBox="1">
              <a:spLocks noChangeArrowheads="1"/>
            </p:cNvSpPr>
            <p:nvPr/>
          </p:nvSpPr>
          <p:spPr bwMode="auto">
            <a:xfrm>
              <a:off x="5948372" y="6364308"/>
              <a:ext cx="740070" cy="282573"/>
            </a:xfrm>
            <a:prstGeom prst="rect">
              <a:avLst/>
            </a:prstGeom>
            <a:solidFill>
              <a:schemeClr val="bg1"/>
            </a:solidFill>
            <a:ln w="9525">
              <a:noFill/>
              <a:miter lim="800000"/>
              <a:headEnd/>
              <a:tailEnd/>
            </a:ln>
          </p:spPr>
          <p:txBody>
            <a:bodyPr wrap="none" lIns="18000" tIns="18000" rIns="18000" bIns="18000">
              <a:spAutoFit/>
            </a:bodyPr>
            <a:lstStyle/>
            <a:p>
              <a:pPr marL="185738" indent="-185738"/>
              <a:r>
                <a:rPr lang="es-PE" sz="800" b="1" dirty="0">
                  <a:solidFill>
                    <a:srgbClr val="FF0000"/>
                  </a:solidFill>
                  <a:latin typeface="Arial" pitchFamily="34" charset="0"/>
                  <a:cs typeface="Arial" pitchFamily="34" charset="0"/>
                </a:rPr>
                <a:t>Presentación</a:t>
              </a:r>
            </a:p>
            <a:p>
              <a:pPr marL="185738" indent="-185738"/>
              <a:r>
                <a:rPr lang="es-PE" sz="800" b="1" dirty="0">
                  <a:solidFill>
                    <a:srgbClr val="FF0000"/>
                  </a:solidFill>
                  <a:latin typeface="Arial" pitchFamily="34" charset="0"/>
                  <a:cs typeface="Arial" pitchFamily="34" charset="0"/>
                </a:rPr>
                <a:t>de Resultados</a:t>
              </a:r>
            </a:p>
          </p:txBody>
        </p:sp>
        <p:sp>
          <p:nvSpPr>
            <p:cNvPr id="188" name="187 Triángulo isósceles"/>
            <p:cNvSpPr/>
            <p:nvPr/>
          </p:nvSpPr>
          <p:spPr bwMode="auto">
            <a:xfrm rot="10800000">
              <a:off x="6194436" y="6032518"/>
              <a:ext cx="230491" cy="144016"/>
            </a:xfrm>
            <a:prstGeom prst="triangle">
              <a:avLst/>
            </a:prstGeom>
            <a:solidFill>
              <a:srgbClr val="FF0000"/>
            </a:solidFill>
            <a:ln>
              <a:headEnd type="none" w="med" len="med"/>
              <a:tailEnd type="none" w="med" len="med"/>
            </a:ln>
          </p:spPr>
          <p:style>
            <a:lnRef idx="0">
              <a:schemeClr val="dk1"/>
            </a:lnRef>
            <a:fillRef idx="3">
              <a:schemeClr val="dk1"/>
            </a:fillRef>
            <a:effectRef idx="3">
              <a:schemeClr val="dk1"/>
            </a:effectRef>
            <a:fontRef idx="minor">
              <a:schemeClr val="lt1"/>
            </a:fontRef>
          </p:style>
          <p:txBody>
            <a:bodyPr wrap="none" anchor="ctr"/>
            <a:lstStyle/>
            <a:p>
              <a:pPr>
                <a:defRPr/>
              </a:pPr>
              <a:endParaRPr lang="es-PE" sz="1400">
                <a:solidFill>
                  <a:schemeClr val="tx1"/>
                </a:solidFill>
                <a:latin typeface="Times New Roman" pitchFamily="18" charset="0"/>
              </a:endParaRPr>
            </a:p>
          </p:txBody>
        </p:sp>
      </p:grpSp>
      <p:grpSp>
        <p:nvGrpSpPr>
          <p:cNvPr id="21" name="188 Grupo"/>
          <p:cNvGrpSpPr/>
          <p:nvPr/>
        </p:nvGrpSpPr>
        <p:grpSpPr>
          <a:xfrm>
            <a:off x="7929586" y="3163886"/>
            <a:ext cx="740070" cy="615951"/>
            <a:chOff x="7929586" y="3163886"/>
            <a:chExt cx="740070" cy="615951"/>
          </a:xfrm>
        </p:grpSpPr>
        <p:sp>
          <p:nvSpPr>
            <p:cNvPr id="190" name="95 CuadroTexto"/>
            <p:cNvSpPr txBox="1">
              <a:spLocks noChangeArrowheads="1"/>
            </p:cNvSpPr>
            <p:nvPr/>
          </p:nvSpPr>
          <p:spPr bwMode="auto">
            <a:xfrm>
              <a:off x="7929586" y="3497264"/>
              <a:ext cx="740070" cy="282573"/>
            </a:xfrm>
            <a:prstGeom prst="rect">
              <a:avLst/>
            </a:prstGeom>
            <a:solidFill>
              <a:schemeClr val="bg1"/>
            </a:solidFill>
            <a:ln w="9525">
              <a:noFill/>
              <a:miter lim="800000"/>
              <a:headEnd/>
              <a:tailEnd/>
            </a:ln>
          </p:spPr>
          <p:txBody>
            <a:bodyPr wrap="none" lIns="18000" tIns="18000" rIns="18000" bIns="18000">
              <a:spAutoFit/>
            </a:bodyPr>
            <a:lstStyle/>
            <a:p>
              <a:pPr marL="185738" indent="-185738"/>
              <a:r>
                <a:rPr lang="es-PE" sz="800" b="1" dirty="0">
                  <a:solidFill>
                    <a:srgbClr val="FF0000"/>
                  </a:solidFill>
                  <a:latin typeface="Arial" pitchFamily="34" charset="0"/>
                  <a:cs typeface="Arial" pitchFamily="34" charset="0"/>
                </a:rPr>
                <a:t>Presentación</a:t>
              </a:r>
            </a:p>
            <a:p>
              <a:pPr marL="185738" indent="-185738"/>
              <a:r>
                <a:rPr lang="es-PE" sz="800" b="1" dirty="0">
                  <a:solidFill>
                    <a:srgbClr val="FF0000"/>
                  </a:solidFill>
                  <a:latin typeface="Arial" pitchFamily="34" charset="0"/>
                  <a:cs typeface="Arial" pitchFamily="34" charset="0"/>
                </a:rPr>
                <a:t>de Resultados</a:t>
              </a:r>
            </a:p>
          </p:txBody>
        </p:sp>
        <p:sp>
          <p:nvSpPr>
            <p:cNvPr id="191" name="190 Triángulo isósceles"/>
            <p:cNvSpPr/>
            <p:nvPr/>
          </p:nvSpPr>
          <p:spPr bwMode="auto">
            <a:xfrm rot="10800000">
              <a:off x="8143900" y="3163886"/>
              <a:ext cx="230491" cy="144016"/>
            </a:xfrm>
            <a:prstGeom prst="triangle">
              <a:avLst/>
            </a:prstGeom>
            <a:solidFill>
              <a:srgbClr val="FF0000"/>
            </a:solidFill>
            <a:ln>
              <a:headEnd type="none" w="med" len="med"/>
              <a:tailEnd type="none" w="med" len="med"/>
            </a:ln>
          </p:spPr>
          <p:style>
            <a:lnRef idx="0">
              <a:schemeClr val="dk1"/>
            </a:lnRef>
            <a:fillRef idx="3">
              <a:schemeClr val="dk1"/>
            </a:fillRef>
            <a:effectRef idx="3">
              <a:schemeClr val="dk1"/>
            </a:effectRef>
            <a:fontRef idx="minor">
              <a:schemeClr val="lt1"/>
            </a:fontRef>
          </p:style>
          <p:txBody>
            <a:bodyPr wrap="none" anchor="ctr"/>
            <a:lstStyle/>
            <a:p>
              <a:pPr>
                <a:defRPr/>
              </a:pPr>
              <a:endParaRPr lang="es-PE" sz="1400">
                <a:solidFill>
                  <a:schemeClr val="tx1"/>
                </a:solidFill>
                <a:latin typeface="Times New Roman" pitchFamily="18" charset="0"/>
              </a:endParaRPr>
            </a:p>
          </p:txBody>
        </p:sp>
      </p:grpSp>
      <p:sp>
        <p:nvSpPr>
          <p:cNvPr id="70" name="69 CuadroTexto"/>
          <p:cNvSpPr txBox="1"/>
          <p:nvPr/>
        </p:nvSpPr>
        <p:spPr>
          <a:xfrm>
            <a:off x="6715140" y="6000768"/>
            <a:ext cx="2286016" cy="615553"/>
          </a:xfrm>
          <a:prstGeom prst="rect">
            <a:avLst/>
          </a:prstGeom>
          <a:solidFill>
            <a:schemeClr val="bg1"/>
          </a:solidFill>
          <a:ln>
            <a:solidFill>
              <a:schemeClr val="tx1"/>
            </a:solidFill>
          </a:ln>
        </p:spPr>
        <p:txBody>
          <a:bodyPr wrap="square" rtlCol="0">
            <a:spAutoFit/>
          </a:bodyPr>
          <a:lstStyle/>
          <a:p>
            <a:pPr algn="just" fontAlgn="base">
              <a:spcBef>
                <a:spcPct val="20000"/>
              </a:spcBef>
              <a:spcAft>
                <a:spcPct val="0"/>
              </a:spcAft>
            </a:pPr>
            <a:r>
              <a:rPr lang="es-PE" sz="1000" b="1" dirty="0">
                <a:latin typeface="Arial" pitchFamily="34" charset="0"/>
                <a:cs typeface="Arial" pitchFamily="34" charset="0"/>
              </a:rPr>
              <a:t>Procesos Piloto:</a:t>
            </a:r>
          </a:p>
          <a:p>
            <a:pPr marL="228600" indent="-228600" algn="just" fontAlgn="base">
              <a:spcBef>
                <a:spcPct val="20000"/>
              </a:spcBef>
              <a:spcAft>
                <a:spcPct val="0"/>
              </a:spcAft>
              <a:buAutoNum type="arabicParenBoth"/>
            </a:pPr>
            <a:r>
              <a:rPr lang="es-PE" sz="1000" b="1" dirty="0">
                <a:latin typeface="Arial" pitchFamily="34" charset="0"/>
                <a:cs typeface="Arial" pitchFamily="34" charset="0"/>
              </a:rPr>
              <a:t>Administración de Fondos</a:t>
            </a:r>
          </a:p>
          <a:p>
            <a:pPr marL="228600" indent="-228600" algn="just" fontAlgn="base">
              <a:spcBef>
                <a:spcPct val="20000"/>
              </a:spcBef>
              <a:spcAft>
                <a:spcPct val="0"/>
              </a:spcAft>
              <a:buAutoNum type="arabicParenBoth"/>
            </a:pPr>
            <a:r>
              <a:rPr lang="es-PE" sz="1000" b="1" dirty="0">
                <a:latin typeface="Arial" pitchFamily="34" charset="0"/>
                <a:cs typeface="Arial" pitchFamily="34" charset="0"/>
              </a:rPr>
              <a:t>Suscripción (Ramo Vehículos)</a:t>
            </a:r>
          </a:p>
        </p:txBody>
      </p:sp>
      <p:sp>
        <p:nvSpPr>
          <p:cNvPr id="72" name="71 Rectángulo"/>
          <p:cNvSpPr/>
          <p:nvPr/>
        </p:nvSpPr>
        <p:spPr>
          <a:xfrm>
            <a:off x="40341" y="5509946"/>
            <a:ext cx="9036000" cy="1285884"/>
          </a:xfrm>
          <a:prstGeom prst="rect">
            <a:avLst/>
          </a:prstGeom>
          <a:noFill/>
          <a:ln w="38100">
            <a:solidFill>
              <a:srgbClr val="C0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Tree>
    <p:extLst>
      <p:ext uri="{BB962C8B-B14F-4D97-AF65-F5344CB8AC3E}">
        <p14:creationId xmlns:p14="http://schemas.microsoft.com/office/powerpoint/2010/main" val="34490246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2"/>
                                        </p:tgtEl>
                                        <p:attrNameLst>
                                          <p:attrName>style.visibility</p:attrName>
                                        </p:attrNameLst>
                                      </p:cBhvr>
                                      <p:to>
                                        <p:strVal val="visible"/>
                                      </p:to>
                                    </p:set>
                                    <p:animEffect transition="in" filter="fade">
                                      <p:cBhvr>
                                        <p:cTn id="7" dur="1000"/>
                                        <p:tgtEl>
                                          <p:spTgt spid="7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70"/>
                                        </p:tgtEl>
                                        <p:attrNameLst>
                                          <p:attrName>style.visibility</p:attrName>
                                        </p:attrNameLst>
                                      </p:cBhvr>
                                      <p:to>
                                        <p:strVal val="visible"/>
                                      </p:to>
                                    </p:set>
                                    <p:animEffect transition="in" filter="wipe(down)">
                                      <p:cBhvr>
                                        <p:cTn id="12" dur="500"/>
                                        <p:tgtEl>
                                          <p:spTgt spid="7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0" grpId="0" animBg="1"/>
      <p:bldP spid="72"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PE" sz="1800" dirty="0"/>
              <a:t>Cronograma</a:t>
            </a:r>
          </a:p>
        </p:txBody>
      </p:sp>
      <p:graphicFrame>
        <p:nvGraphicFramePr>
          <p:cNvPr id="34" name="33 Tabla"/>
          <p:cNvGraphicFramePr>
            <a:graphicFrameLocks noGrp="1"/>
          </p:cNvGraphicFramePr>
          <p:nvPr/>
        </p:nvGraphicFramePr>
        <p:xfrm>
          <a:off x="70274" y="684008"/>
          <a:ext cx="8858306" cy="4203169"/>
        </p:xfrm>
        <a:graphic>
          <a:graphicData uri="http://schemas.openxmlformats.org/drawingml/2006/table">
            <a:tbl>
              <a:tblPr firstRow="1" bandRow="1">
                <a:tableStyleId>{5C22544A-7EE6-4342-B048-85BDC9FD1C3A}</a:tableStyleId>
              </a:tblPr>
              <a:tblGrid>
                <a:gridCol w="2072834">
                  <a:extLst>
                    <a:ext uri="{9D8B030D-6E8A-4147-A177-3AD203B41FA5}">
                      <a16:colId xmlns:a16="http://schemas.microsoft.com/office/drawing/2014/main" val="20000"/>
                    </a:ext>
                  </a:extLst>
                </a:gridCol>
                <a:gridCol w="714380">
                  <a:extLst>
                    <a:ext uri="{9D8B030D-6E8A-4147-A177-3AD203B41FA5}">
                      <a16:colId xmlns:a16="http://schemas.microsoft.com/office/drawing/2014/main" val="20001"/>
                    </a:ext>
                  </a:extLst>
                </a:gridCol>
                <a:gridCol w="785818">
                  <a:extLst>
                    <a:ext uri="{9D8B030D-6E8A-4147-A177-3AD203B41FA5}">
                      <a16:colId xmlns:a16="http://schemas.microsoft.com/office/drawing/2014/main" val="20002"/>
                    </a:ext>
                  </a:extLst>
                </a:gridCol>
                <a:gridCol w="428628">
                  <a:extLst>
                    <a:ext uri="{9D8B030D-6E8A-4147-A177-3AD203B41FA5}">
                      <a16:colId xmlns:a16="http://schemas.microsoft.com/office/drawing/2014/main" val="20003"/>
                    </a:ext>
                  </a:extLst>
                </a:gridCol>
                <a:gridCol w="529057">
                  <a:extLst>
                    <a:ext uri="{9D8B030D-6E8A-4147-A177-3AD203B41FA5}">
                      <a16:colId xmlns:a16="http://schemas.microsoft.com/office/drawing/2014/main" val="20004"/>
                    </a:ext>
                  </a:extLst>
                </a:gridCol>
                <a:gridCol w="542757">
                  <a:extLst>
                    <a:ext uri="{9D8B030D-6E8A-4147-A177-3AD203B41FA5}">
                      <a16:colId xmlns:a16="http://schemas.microsoft.com/office/drawing/2014/main" val="20005"/>
                    </a:ext>
                  </a:extLst>
                </a:gridCol>
                <a:gridCol w="473104">
                  <a:extLst>
                    <a:ext uri="{9D8B030D-6E8A-4147-A177-3AD203B41FA5}">
                      <a16:colId xmlns:a16="http://schemas.microsoft.com/office/drawing/2014/main" val="20006"/>
                    </a:ext>
                  </a:extLst>
                </a:gridCol>
                <a:gridCol w="473104">
                  <a:extLst>
                    <a:ext uri="{9D8B030D-6E8A-4147-A177-3AD203B41FA5}">
                      <a16:colId xmlns:a16="http://schemas.microsoft.com/office/drawing/2014/main" val="20007"/>
                    </a:ext>
                  </a:extLst>
                </a:gridCol>
                <a:gridCol w="473104">
                  <a:extLst>
                    <a:ext uri="{9D8B030D-6E8A-4147-A177-3AD203B41FA5}">
                      <a16:colId xmlns:a16="http://schemas.microsoft.com/office/drawing/2014/main" val="20008"/>
                    </a:ext>
                  </a:extLst>
                </a:gridCol>
                <a:gridCol w="473104">
                  <a:extLst>
                    <a:ext uri="{9D8B030D-6E8A-4147-A177-3AD203B41FA5}">
                      <a16:colId xmlns:a16="http://schemas.microsoft.com/office/drawing/2014/main" val="20009"/>
                    </a:ext>
                  </a:extLst>
                </a:gridCol>
                <a:gridCol w="473104">
                  <a:extLst>
                    <a:ext uri="{9D8B030D-6E8A-4147-A177-3AD203B41FA5}">
                      <a16:colId xmlns:a16="http://schemas.microsoft.com/office/drawing/2014/main" val="20010"/>
                    </a:ext>
                  </a:extLst>
                </a:gridCol>
                <a:gridCol w="473104">
                  <a:extLst>
                    <a:ext uri="{9D8B030D-6E8A-4147-A177-3AD203B41FA5}">
                      <a16:colId xmlns:a16="http://schemas.microsoft.com/office/drawing/2014/main" val="20011"/>
                    </a:ext>
                  </a:extLst>
                </a:gridCol>
                <a:gridCol w="473104">
                  <a:extLst>
                    <a:ext uri="{9D8B030D-6E8A-4147-A177-3AD203B41FA5}">
                      <a16:colId xmlns:a16="http://schemas.microsoft.com/office/drawing/2014/main" val="20012"/>
                    </a:ext>
                  </a:extLst>
                </a:gridCol>
                <a:gridCol w="473104">
                  <a:extLst>
                    <a:ext uri="{9D8B030D-6E8A-4147-A177-3AD203B41FA5}">
                      <a16:colId xmlns:a16="http://schemas.microsoft.com/office/drawing/2014/main" val="20013"/>
                    </a:ext>
                  </a:extLst>
                </a:gridCol>
              </a:tblGrid>
              <a:tr h="485740">
                <a:tc>
                  <a:txBody>
                    <a:bodyPr/>
                    <a:lstStyle/>
                    <a:p>
                      <a:pPr marL="0" algn="ctr" defTabSz="914400" rtl="0" eaLnBrk="1" fontAlgn="b" latinLnBrk="0" hangingPunct="1"/>
                      <a:r>
                        <a:rPr lang="es-PE" sz="1100" b="1" u="none" strike="noStrike" kern="1200" dirty="0">
                          <a:solidFill>
                            <a:schemeClr val="dk1"/>
                          </a:solidFill>
                          <a:latin typeface="+mn-lt"/>
                          <a:ea typeface="+mn-ea"/>
                          <a:cs typeface="+mn-cs"/>
                        </a:rPr>
                        <a:t>Fases / Actividades</a:t>
                      </a: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85000"/>
                      </a:schemeClr>
                    </a:solidFill>
                  </a:tcPr>
                </a:tc>
                <a:tc>
                  <a:txBody>
                    <a:bodyPr/>
                    <a:lstStyle/>
                    <a:p>
                      <a:pPr marL="0" algn="ctr" defTabSz="914400" rtl="0" eaLnBrk="1" fontAlgn="b" latinLnBrk="0" hangingPunct="1"/>
                      <a:r>
                        <a:rPr lang="es-PE" sz="1100" b="1" u="none" strike="noStrike" kern="1200" dirty="0">
                          <a:solidFill>
                            <a:schemeClr val="dk1"/>
                          </a:solidFill>
                          <a:latin typeface="+mn-lt"/>
                          <a:ea typeface="+mn-ea"/>
                          <a:cs typeface="+mn-cs"/>
                        </a:rPr>
                        <a:t>Fecha Inicio</a:t>
                      </a: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85000"/>
                      </a:schemeClr>
                    </a:solidFill>
                  </a:tcPr>
                </a:tc>
                <a:tc>
                  <a:txBody>
                    <a:bodyPr/>
                    <a:lstStyle/>
                    <a:p>
                      <a:pPr marL="0" algn="ctr" defTabSz="914400" rtl="0" eaLnBrk="1" fontAlgn="b" latinLnBrk="0" hangingPunct="1"/>
                      <a:r>
                        <a:rPr lang="es-PE" sz="1100" b="1" u="none" strike="noStrike" kern="1200" dirty="0">
                          <a:solidFill>
                            <a:schemeClr val="dk1"/>
                          </a:solidFill>
                          <a:latin typeface="+mn-lt"/>
                          <a:ea typeface="+mn-ea"/>
                          <a:cs typeface="+mn-cs"/>
                        </a:rPr>
                        <a:t>Fecha  Fin</a:t>
                      </a: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85000"/>
                      </a:schemeClr>
                    </a:solidFill>
                  </a:tcPr>
                </a:tc>
                <a:tc>
                  <a:txBody>
                    <a:bodyPr/>
                    <a:lstStyle/>
                    <a:p>
                      <a:pPr marL="0" algn="ctr" defTabSz="914400" rtl="0" eaLnBrk="1" fontAlgn="b" latinLnBrk="0" hangingPunct="1"/>
                      <a:r>
                        <a:rPr lang="es-PE" sz="1100" b="1" u="none" strike="noStrike" kern="1200" dirty="0" err="1">
                          <a:solidFill>
                            <a:schemeClr val="dk1"/>
                          </a:solidFill>
                          <a:latin typeface="+mn-lt"/>
                          <a:ea typeface="+mn-ea"/>
                          <a:cs typeface="+mn-cs"/>
                        </a:rPr>
                        <a:t>Jun</a:t>
                      </a:r>
                      <a:endParaRPr lang="es-PE" sz="1100" b="1" u="none" strike="noStrike" kern="1200" dirty="0">
                        <a:solidFill>
                          <a:schemeClr val="dk1"/>
                        </a:solidFill>
                        <a:latin typeface="+mn-lt"/>
                        <a:ea typeface="+mn-ea"/>
                        <a:cs typeface="+mn-cs"/>
                      </a:endParaRPr>
                    </a:p>
                    <a:p>
                      <a:pPr marL="0" algn="ctr" defTabSz="914400" rtl="0" eaLnBrk="1" fontAlgn="b" latinLnBrk="0" hangingPunct="1"/>
                      <a:r>
                        <a:rPr lang="es-PE" sz="1100" b="1" u="none" strike="noStrike" kern="1200" dirty="0">
                          <a:solidFill>
                            <a:schemeClr val="dk1"/>
                          </a:solidFill>
                          <a:latin typeface="+mn-lt"/>
                          <a:ea typeface="+mn-ea"/>
                          <a:cs typeface="+mn-cs"/>
                        </a:rPr>
                        <a:t>12.</a:t>
                      </a: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85000"/>
                      </a:schemeClr>
                    </a:solidFill>
                  </a:tcPr>
                </a:tc>
                <a:tc>
                  <a:txBody>
                    <a:bodyPr/>
                    <a:lstStyle/>
                    <a:p>
                      <a:pPr marL="0" algn="ctr" defTabSz="914400" rtl="0" eaLnBrk="1" fontAlgn="b" latinLnBrk="0" hangingPunct="1"/>
                      <a:r>
                        <a:rPr lang="es-PE" sz="1100" b="1" u="none" strike="noStrike" kern="1200" dirty="0" err="1">
                          <a:solidFill>
                            <a:schemeClr val="dk1"/>
                          </a:solidFill>
                          <a:latin typeface="+mn-lt"/>
                          <a:ea typeface="+mn-ea"/>
                          <a:cs typeface="+mn-cs"/>
                        </a:rPr>
                        <a:t>Jul</a:t>
                      </a:r>
                      <a:endParaRPr lang="es-PE" sz="1100" b="1" u="none" strike="noStrike" kern="1200" dirty="0">
                        <a:solidFill>
                          <a:schemeClr val="dk1"/>
                        </a:solidFill>
                        <a:latin typeface="+mn-lt"/>
                        <a:ea typeface="+mn-ea"/>
                        <a:cs typeface="+mn-cs"/>
                      </a:endParaRPr>
                    </a:p>
                    <a:p>
                      <a:pPr marL="0" algn="ctr" defTabSz="914400" rtl="0" eaLnBrk="1" fontAlgn="b" latinLnBrk="0" hangingPunct="1"/>
                      <a:r>
                        <a:rPr lang="es-PE" sz="1100" b="1" u="none" strike="noStrike" kern="1200" dirty="0">
                          <a:solidFill>
                            <a:schemeClr val="dk1"/>
                          </a:solidFill>
                          <a:latin typeface="+mn-lt"/>
                          <a:ea typeface="+mn-ea"/>
                          <a:cs typeface="+mn-cs"/>
                        </a:rPr>
                        <a:t>12</a:t>
                      </a: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85000"/>
                      </a:schemeClr>
                    </a:solidFill>
                  </a:tcPr>
                </a:tc>
                <a:tc>
                  <a:txBody>
                    <a:bodyPr/>
                    <a:lstStyle/>
                    <a:p>
                      <a:pPr marL="0" algn="ctr" defTabSz="914400" rtl="0" eaLnBrk="1" fontAlgn="b" latinLnBrk="0" hangingPunct="1"/>
                      <a:r>
                        <a:rPr lang="es-PE" sz="1100" b="1" u="none" strike="noStrike" kern="1200" dirty="0">
                          <a:solidFill>
                            <a:schemeClr val="dk1"/>
                          </a:solidFill>
                          <a:latin typeface="+mn-lt"/>
                          <a:ea typeface="+mn-ea"/>
                          <a:cs typeface="+mn-cs"/>
                        </a:rPr>
                        <a:t>Ago.</a:t>
                      </a:r>
                    </a:p>
                    <a:p>
                      <a:pPr marL="0" algn="ctr" defTabSz="914400" rtl="0" eaLnBrk="1" fontAlgn="b" latinLnBrk="0" hangingPunct="1"/>
                      <a:r>
                        <a:rPr lang="es-PE" sz="1100" b="1" u="none" strike="noStrike" kern="1200" dirty="0">
                          <a:solidFill>
                            <a:schemeClr val="dk1"/>
                          </a:solidFill>
                          <a:latin typeface="+mn-lt"/>
                          <a:ea typeface="+mn-ea"/>
                          <a:cs typeface="+mn-cs"/>
                        </a:rPr>
                        <a:t>12</a:t>
                      </a: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85000"/>
                      </a:schemeClr>
                    </a:solidFill>
                  </a:tcPr>
                </a:tc>
                <a:tc>
                  <a:txBody>
                    <a:bodyPr/>
                    <a:lstStyle/>
                    <a:p>
                      <a:pPr marL="0" algn="ctr" defTabSz="914400" rtl="0" eaLnBrk="1" fontAlgn="b" latinLnBrk="0" hangingPunct="1"/>
                      <a:r>
                        <a:rPr lang="es-PE" sz="1100" b="1" u="none" strike="noStrike" kern="1200" dirty="0">
                          <a:solidFill>
                            <a:schemeClr val="dk1"/>
                          </a:solidFill>
                          <a:latin typeface="+mn-lt"/>
                          <a:ea typeface="+mn-ea"/>
                          <a:cs typeface="+mn-cs"/>
                        </a:rPr>
                        <a:t>Set. 12</a:t>
                      </a: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85000"/>
                      </a:schemeClr>
                    </a:solidFill>
                  </a:tcPr>
                </a:tc>
                <a:tc>
                  <a:txBody>
                    <a:bodyPr/>
                    <a:lstStyle/>
                    <a:p>
                      <a:pPr marL="0" algn="ctr" defTabSz="914400" rtl="0" eaLnBrk="1" fontAlgn="b" latinLnBrk="0" hangingPunct="1"/>
                      <a:r>
                        <a:rPr lang="es-PE" sz="1100" b="1" u="none" strike="noStrike" kern="1200" dirty="0">
                          <a:solidFill>
                            <a:schemeClr val="dk1"/>
                          </a:solidFill>
                          <a:latin typeface="+mn-lt"/>
                          <a:ea typeface="+mn-ea"/>
                          <a:cs typeface="+mn-cs"/>
                        </a:rPr>
                        <a:t>Oct. 12</a:t>
                      </a: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85000"/>
                      </a:schemeClr>
                    </a:solidFill>
                  </a:tcPr>
                </a:tc>
                <a:tc>
                  <a:txBody>
                    <a:bodyPr/>
                    <a:lstStyle/>
                    <a:p>
                      <a:pPr marL="0" algn="ctr" defTabSz="914400" rtl="0" eaLnBrk="1" fontAlgn="b" latinLnBrk="0" hangingPunct="1"/>
                      <a:r>
                        <a:rPr lang="es-PE" sz="1100" b="1" u="none" strike="noStrike" kern="1200" dirty="0" err="1">
                          <a:solidFill>
                            <a:schemeClr val="dk1"/>
                          </a:solidFill>
                          <a:latin typeface="+mn-lt"/>
                          <a:ea typeface="+mn-ea"/>
                          <a:cs typeface="+mn-cs"/>
                        </a:rPr>
                        <a:t>Nov</a:t>
                      </a:r>
                      <a:endParaRPr lang="es-PE" sz="1100" b="1" u="none" strike="noStrike" kern="1200" dirty="0">
                        <a:solidFill>
                          <a:schemeClr val="dk1"/>
                        </a:solidFill>
                        <a:latin typeface="+mn-lt"/>
                        <a:ea typeface="+mn-ea"/>
                        <a:cs typeface="+mn-cs"/>
                      </a:endParaRPr>
                    </a:p>
                    <a:p>
                      <a:pPr marL="0" algn="ctr" defTabSz="914400" rtl="0" eaLnBrk="1" fontAlgn="b" latinLnBrk="0" hangingPunct="1"/>
                      <a:r>
                        <a:rPr lang="es-PE" sz="1100" b="1" u="none" strike="noStrike" kern="1200" dirty="0">
                          <a:solidFill>
                            <a:schemeClr val="dk1"/>
                          </a:solidFill>
                          <a:latin typeface="+mn-lt"/>
                          <a:ea typeface="+mn-ea"/>
                          <a:cs typeface="+mn-cs"/>
                        </a:rPr>
                        <a:t>12</a:t>
                      </a: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85000"/>
                      </a:schemeClr>
                    </a:solidFill>
                  </a:tcPr>
                </a:tc>
                <a:tc>
                  <a:txBody>
                    <a:bodyPr/>
                    <a:lstStyle/>
                    <a:p>
                      <a:pPr marL="0" algn="ctr" defTabSz="914400" rtl="0" eaLnBrk="1" fontAlgn="b" latinLnBrk="0" hangingPunct="1"/>
                      <a:r>
                        <a:rPr lang="es-PE" sz="1100" b="1" u="none" strike="noStrike" kern="1200" dirty="0">
                          <a:solidFill>
                            <a:schemeClr val="dk1"/>
                          </a:solidFill>
                          <a:latin typeface="+mn-lt"/>
                          <a:ea typeface="+mn-ea"/>
                          <a:cs typeface="+mn-cs"/>
                        </a:rPr>
                        <a:t>Dic.</a:t>
                      </a:r>
                    </a:p>
                    <a:p>
                      <a:pPr marL="0" algn="ctr" defTabSz="914400" rtl="0" eaLnBrk="1" fontAlgn="b" latinLnBrk="0" hangingPunct="1"/>
                      <a:r>
                        <a:rPr lang="es-PE" sz="1100" b="1" u="none" strike="noStrike" kern="1200" dirty="0">
                          <a:solidFill>
                            <a:schemeClr val="dk1"/>
                          </a:solidFill>
                          <a:latin typeface="+mn-lt"/>
                          <a:ea typeface="+mn-ea"/>
                          <a:cs typeface="+mn-cs"/>
                        </a:rPr>
                        <a:t>12</a:t>
                      </a: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85000"/>
                      </a:schemeClr>
                    </a:solidFill>
                  </a:tcPr>
                </a:tc>
                <a:tc>
                  <a:txBody>
                    <a:bodyPr/>
                    <a:lstStyle/>
                    <a:p>
                      <a:pPr marL="0" algn="ctr" defTabSz="914400" rtl="0" eaLnBrk="1" fontAlgn="b" latinLnBrk="0" hangingPunct="1"/>
                      <a:r>
                        <a:rPr lang="es-PE" sz="1100" b="1" u="none" strike="noStrike" kern="1200" dirty="0">
                          <a:solidFill>
                            <a:schemeClr val="dk1"/>
                          </a:solidFill>
                          <a:latin typeface="+mn-lt"/>
                          <a:ea typeface="+mn-ea"/>
                          <a:cs typeface="+mn-cs"/>
                        </a:rPr>
                        <a:t>Ene</a:t>
                      </a:r>
                    </a:p>
                    <a:p>
                      <a:pPr marL="0" algn="ctr" defTabSz="914400" rtl="0" eaLnBrk="1" fontAlgn="b" latinLnBrk="0" hangingPunct="1"/>
                      <a:r>
                        <a:rPr lang="es-PE" sz="1100" b="1" u="none" strike="noStrike" kern="1200" dirty="0">
                          <a:solidFill>
                            <a:schemeClr val="dk1"/>
                          </a:solidFill>
                          <a:latin typeface="+mn-lt"/>
                          <a:ea typeface="+mn-ea"/>
                          <a:cs typeface="+mn-cs"/>
                        </a:rPr>
                        <a:t>13</a:t>
                      </a: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85000"/>
                      </a:schemeClr>
                    </a:solidFill>
                  </a:tcPr>
                </a:tc>
                <a:tc>
                  <a:txBody>
                    <a:bodyPr/>
                    <a:lstStyle/>
                    <a:p>
                      <a:pPr marL="0" algn="ctr" defTabSz="914400" rtl="0" eaLnBrk="1" fontAlgn="b" latinLnBrk="0" hangingPunct="1"/>
                      <a:r>
                        <a:rPr lang="es-PE" sz="1100" b="1" u="none" strike="noStrike" kern="1200" dirty="0" err="1">
                          <a:solidFill>
                            <a:schemeClr val="dk1"/>
                          </a:solidFill>
                          <a:latin typeface="+mn-lt"/>
                          <a:ea typeface="+mn-ea"/>
                          <a:cs typeface="+mn-cs"/>
                        </a:rPr>
                        <a:t>Feb</a:t>
                      </a:r>
                      <a:endParaRPr lang="es-PE" sz="1100" b="1" u="none" strike="noStrike" kern="1200" dirty="0">
                        <a:solidFill>
                          <a:schemeClr val="dk1"/>
                        </a:solidFill>
                        <a:latin typeface="+mn-lt"/>
                        <a:ea typeface="+mn-ea"/>
                        <a:cs typeface="+mn-cs"/>
                      </a:endParaRPr>
                    </a:p>
                    <a:p>
                      <a:pPr marL="0" algn="ctr" defTabSz="914400" rtl="0" eaLnBrk="1" fontAlgn="b" latinLnBrk="0" hangingPunct="1"/>
                      <a:r>
                        <a:rPr lang="es-PE" sz="1100" b="1" u="none" strike="noStrike" kern="1200" dirty="0">
                          <a:solidFill>
                            <a:schemeClr val="dk1"/>
                          </a:solidFill>
                          <a:latin typeface="+mn-lt"/>
                          <a:ea typeface="+mn-ea"/>
                          <a:cs typeface="+mn-cs"/>
                        </a:rPr>
                        <a:t>13</a:t>
                      </a: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85000"/>
                      </a:schemeClr>
                    </a:solidFill>
                  </a:tcPr>
                </a:tc>
                <a:tc>
                  <a:txBody>
                    <a:bodyPr/>
                    <a:lstStyle/>
                    <a:p>
                      <a:pPr marL="0" algn="ctr" defTabSz="914400" rtl="0" eaLnBrk="1" fontAlgn="b" latinLnBrk="0" hangingPunct="1"/>
                      <a:r>
                        <a:rPr lang="es-PE" sz="1100" b="1" u="none" strike="noStrike" kern="1200" dirty="0">
                          <a:solidFill>
                            <a:schemeClr val="dk1"/>
                          </a:solidFill>
                          <a:latin typeface="+mn-lt"/>
                          <a:ea typeface="+mn-ea"/>
                          <a:cs typeface="+mn-cs"/>
                        </a:rPr>
                        <a:t>Mar</a:t>
                      </a:r>
                    </a:p>
                    <a:p>
                      <a:pPr marL="0" algn="ctr" defTabSz="914400" rtl="0" eaLnBrk="1" fontAlgn="b" latinLnBrk="0" hangingPunct="1"/>
                      <a:r>
                        <a:rPr lang="es-PE" sz="1100" b="1" u="none" strike="noStrike" kern="1200" dirty="0">
                          <a:solidFill>
                            <a:schemeClr val="dk1"/>
                          </a:solidFill>
                          <a:latin typeface="+mn-lt"/>
                          <a:ea typeface="+mn-ea"/>
                          <a:cs typeface="+mn-cs"/>
                        </a:rPr>
                        <a:t>13</a:t>
                      </a: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85000"/>
                      </a:schemeClr>
                    </a:solidFill>
                  </a:tcPr>
                </a:tc>
                <a:tc>
                  <a:txBody>
                    <a:bodyPr/>
                    <a:lstStyle/>
                    <a:p>
                      <a:pPr marL="0" algn="ctr" defTabSz="914400" rtl="0" eaLnBrk="1" fontAlgn="b" latinLnBrk="0" hangingPunct="1"/>
                      <a:r>
                        <a:rPr lang="es-PE" sz="1100" b="1" u="none" strike="noStrike" kern="1200" dirty="0" err="1">
                          <a:solidFill>
                            <a:schemeClr val="dk1"/>
                          </a:solidFill>
                          <a:latin typeface="+mn-lt"/>
                          <a:ea typeface="+mn-ea"/>
                          <a:cs typeface="+mn-cs"/>
                        </a:rPr>
                        <a:t>Abr</a:t>
                      </a:r>
                      <a:r>
                        <a:rPr lang="es-PE" sz="1100" b="1" u="none" strike="noStrike" kern="1200" dirty="0">
                          <a:solidFill>
                            <a:schemeClr val="dk1"/>
                          </a:solidFill>
                          <a:latin typeface="+mn-lt"/>
                          <a:ea typeface="+mn-ea"/>
                          <a:cs typeface="+mn-cs"/>
                        </a:rPr>
                        <a:t> 13</a:t>
                      </a: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0"/>
                  </a:ext>
                </a:extLst>
              </a:tr>
              <a:tr h="428628">
                <a:tc>
                  <a:txBody>
                    <a:bodyPr/>
                    <a:lstStyle/>
                    <a:p>
                      <a:r>
                        <a:rPr lang="es-PE" sz="1200" dirty="0">
                          <a:latin typeface="Arial" pitchFamily="34" charset="0"/>
                          <a:cs typeface="Arial" pitchFamily="34" charset="0"/>
                        </a:rPr>
                        <a:t>Gestión de Anteproyecto</a:t>
                      </a: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s-PE" sz="1200" kern="1200" dirty="0">
                          <a:solidFill>
                            <a:schemeClr val="dk1"/>
                          </a:solidFill>
                          <a:latin typeface="Arial" pitchFamily="34" charset="0"/>
                          <a:ea typeface="+mn-ea"/>
                          <a:cs typeface="Arial" pitchFamily="34" charset="0"/>
                        </a:rPr>
                        <a:t>11.06</a:t>
                      </a: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s-PE" sz="1200" kern="1200" dirty="0">
                          <a:solidFill>
                            <a:schemeClr val="dk1"/>
                          </a:solidFill>
                          <a:latin typeface="Arial" pitchFamily="34" charset="0"/>
                          <a:ea typeface="+mn-ea"/>
                          <a:cs typeface="Arial" pitchFamily="34" charset="0"/>
                        </a:rPr>
                        <a:t>28.09</a:t>
                      </a: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endParaRPr lang="es-PE" sz="1400" dirty="0">
                        <a:latin typeface="Arial" pitchFamily="34" charset="0"/>
                        <a:cs typeface="Arial" pitchFamily="34" charset="0"/>
                      </a:endParaRP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endParaRPr lang="es-PE" sz="1400" dirty="0">
                        <a:latin typeface="Arial" pitchFamily="34" charset="0"/>
                        <a:cs typeface="Arial" pitchFamily="34" charset="0"/>
                      </a:endParaRP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endParaRPr lang="es-PE" sz="1400" dirty="0">
                        <a:latin typeface="Arial" pitchFamily="34" charset="0"/>
                        <a:cs typeface="Arial" pitchFamily="34" charset="0"/>
                      </a:endParaRP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endParaRPr lang="es-PE" sz="1400" dirty="0">
                        <a:latin typeface="Arial" pitchFamily="34" charset="0"/>
                        <a:cs typeface="Arial" pitchFamily="34" charset="0"/>
                      </a:endParaRP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endParaRPr lang="es-PE" sz="1400" dirty="0">
                        <a:latin typeface="Arial" pitchFamily="34" charset="0"/>
                        <a:cs typeface="Arial" pitchFamily="34" charset="0"/>
                      </a:endParaRP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endParaRPr lang="es-PE" sz="1400" dirty="0">
                        <a:latin typeface="Arial" pitchFamily="34" charset="0"/>
                        <a:cs typeface="Arial" pitchFamily="34" charset="0"/>
                      </a:endParaRP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endParaRPr lang="es-PE" sz="1400" dirty="0">
                        <a:latin typeface="Arial" pitchFamily="34" charset="0"/>
                        <a:cs typeface="Arial" pitchFamily="34" charset="0"/>
                      </a:endParaRP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endParaRPr lang="es-PE" sz="1400" dirty="0">
                        <a:latin typeface="Arial" pitchFamily="34" charset="0"/>
                        <a:cs typeface="Arial" pitchFamily="34" charset="0"/>
                      </a:endParaRP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endParaRPr lang="es-PE" sz="1400" dirty="0">
                        <a:latin typeface="Arial" pitchFamily="34" charset="0"/>
                        <a:cs typeface="Arial" pitchFamily="34" charset="0"/>
                      </a:endParaRP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endParaRPr lang="es-PE" sz="1400" dirty="0">
                        <a:latin typeface="Arial" pitchFamily="34" charset="0"/>
                        <a:cs typeface="Arial" pitchFamily="34" charset="0"/>
                      </a:endParaRP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endParaRPr lang="es-PE" sz="1400">
                        <a:latin typeface="Arial" pitchFamily="34" charset="0"/>
                        <a:cs typeface="Arial" pitchFamily="34" charset="0"/>
                      </a:endParaRP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428628">
                <a:tc>
                  <a:txBody>
                    <a:bodyPr/>
                    <a:lstStyle/>
                    <a:p>
                      <a:r>
                        <a:rPr lang="es-PE" sz="1200" dirty="0">
                          <a:latin typeface="Arial" pitchFamily="34" charset="0"/>
                          <a:cs typeface="Arial" pitchFamily="34" charset="0"/>
                        </a:rPr>
                        <a:t>Planificación</a:t>
                      </a: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s-PE" sz="1200" kern="1200" dirty="0">
                          <a:solidFill>
                            <a:schemeClr val="dk1"/>
                          </a:solidFill>
                          <a:latin typeface="Arial" pitchFamily="34" charset="0"/>
                          <a:ea typeface="+mn-ea"/>
                          <a:cs typeface="Arial" pitchFamily="34" charset="0"/>
                        </a:rPr>
                        <a:t>03.10</a:t>
                      </a: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s-PE" sz="1200" kern="1200" dirty="0">
                          <a:solidFill>
                            <a:schemeClr val="dk1"/>
                          </a:solidFill>
                          <a:latin typeface="Arial" pitchFamily="34" charset="0"/>
                          <a:ea typeface="+mn-ea"/>
                          <a:cs typeface="Arial" pitchFamily="34" charset="0"/>
                        </a:rPr>
                        <a:t>10.10</a:t>
                      </a: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endParaRPr lang="es-PE" sz="1400" dirty="0">
                        <a:latin typeface="Arial" pitchFamily="34" charset="0"/>
                        <a:cs typeface="Arial" pitchFamily="34" charset="0"/>
                      </a:endParaRP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endParaRPr lang="es-PE" sz="1400" dirty="0">
                        <a:latin typeface="Arial" pitchFamily="34" charset="0"/>
                        <a:cs typeface="Arial" pitchFamily="34" charset="0"/>
                      </a:endParaRP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endParaRPr lang="es-PE" sz="1400" dirty="0">
                        <a:latin typeface="Arial" pitchFamily="34" charset="0"/>
                        <a:cs typeface="Arial" pitchFamily="34" charset="0"/>
                      </a:endParaRP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endParaRPr lang="es-PE" sz="1400" dirty="0">
                        <a:latin typeface="Arial" pitchFamily="34" charset="0"/>
                        <a:cs typeface="Arial" pitchFamily="34" charset="0"/>
                      </a:endParaRP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endParaRPr lang="es-PE" sz="1400" dirty="0">
                        <a:latin typeface="Arial" pitchFamily="34" charset="0"/>
                        <a:cs typeface="Arial" pitchFamily="34" charset="0"/>
                      </a:endParaRP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endParaRPr lang="es-PE" sz="1400" dirty="0">
                        <a:latin typeface="Arial" pitchFamily="34" charset="0"/>
                        <a:cs typeface="Arial" pitchFamily="34" charset="0"/>
                      </a:endParaRP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endParaRPr lang="es-PE" sz="1400" dirty="0">
                        <a:latin typeface="Arial" pitchFamily="34" charset="0"/>
                        <a:cs typeface="Arial" pitchFamily="34" charset="0"/>
                      </a:endParaRP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endParaRPr lang="es-PE" sz="1400" dirty="0">
                        <a:latin typeface="Arial" pitchFamily="34" charset="0"/>
                        <a:cs typeface="Arial" pitchFamily="34" charset="0"/>
                      </a:endParaRP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endParaRPr lang="es-PE" sz="1400" dirty="0">
                        <a:latin typeface="Arial" pitchFamily="34" charset="0"/>
                        <a:cs typeface="Arial" pitchFamily="34" charset="0"/>
                      </a:endParaRP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endParaRPr lang="es-PE" sz="1400" dirty="0">
                        <a:latin typeface="Arial" pitchFamily="34" charset="0"/>
                        <a:cs typeface="Arial" pitchFamily="34" charset="0"/>
                      </a:endParaRP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endParaRPr lang="es-PE" sz="1400" dirty="0">
                        <a:latin typeface="Arial" pitchFamily="34" charset="0"/>
                        <a:cs typeface="Arial" pitchFamily="34" charset="0"/>
                      </a:endParaRP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428628">
                <a:tc>
                  <a:txBody>
                    <a:bodyPr/>
                    <a:lstStyle/>
                    <a:p>
                      <a:r>
                        <a:rPr lang="es-PE" sz="1200" dirty="0">
                          <a:latin typeface="Arial" pitchFamily="34" charset="0"/>
                          <a:cs typeface="Arial" pitchFamily="34" charset="0"/>
                        </a:rPr>
                        <a:t>Trabajo Preparatorio</a:t>
                      </a:r>
                      <a:r>
                        <a:rPr lang="es-PE" sz="1200" baseline="0" dirty="0">
                          <a:latin typeface="Arial" pitchFamily="34" charset="0"/>
                          <a:cs typeface="Arial" pitchFamily="34" charset="0"/>
                        </a:rPr>
                        <a:t>  - Marco de Gestión</a:t>
                      </a:r>
                      <a:endParaRPr lang="es-PE" sz="1200" dirty="0">
                        <a:latin typeface="Arial" pitchFamily="34" charset="0"/>
                        <a:cs typeface="Arial" pitchFamily="34" charset="0"/>
                      </a:endParaRP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s-PE" sz="1200" kern="1200" dirty="0">
                          <a:solidFill>
                            <a:schemeClr val="dk1"/>
                          </a:solidFill>
                          <a:latin typeface="Arial" pitchFamily="34" charset="0"/>
                          <a:ea typeface="+mn-ea"/>
                          <a:cs typeface="Arial" pitchFamily="34" charset="0"/>
                        </a:rPr>
                        <a:t>11.10</a:t>
                      </a: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s-PE" sz="1200" kern="1200" dirty="0">
                          <a:solidFill>
                            <a:schemeClr val="dk1"/>
                          </a:solidFill>
                          <a:latin typeface="Arial" pitchFamily="34" charset="0"/>
                          <a:ea typeface="+mn-ea"/>
                          <a:cs typeface="Arial" pitchFamily="34" charset="0"/>
                        </a:rPr>
                        <a:t>09.11</a:t>
                      </a: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endParaRPr lang="es-PE" sz="1400" dirty="0">
                        <a:latin typeface="Arial" pitchFamily="34" charset="0"/>
                        <a:cs typeface="Arial" pitchFamily="34" charset="0"/>
                      </a:endParaRP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endParaRPr lang="es-PE" sz="1400" dirty="0">
                        <a:latin typeface="Arial" pitchFamily="34" charset="0"/>
                        <a:cs typeface="Arial" pitchFamily="34" charset="0"/>
                      </a:endParaRP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endParaRPr lang="es-PE" sz="1400" dirty="0">
                        <a:latin typeface="Arial" pitchFamily="34" charset="0"/>
                        <a:cs typeface="Arial" pitchFamily="34" charset="0"/>
                      </a:endParaRP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endParaRPr lang="es-PE" sz="1400" dirty="0">
                        <a:latin typeface="Arial" pitchFamily="34" charset="0"/>
                        <a:cs typeface="Arial" pitchFamily="34" charset="0"/>
                      </a:endParaRP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endParaRPr lang="es-PE" sz="1400">
                        <a:latin typeface="Arial" pitchFamily="34" charset="0"/>
                        <a:cs typeface="Arial" pitchFamily="34" charset="0"/>
                      </a:endParaRP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endParaRPr lang="es-PE" sz="1400" dirty="0">
                        <a:latin typeface="Arial" pitchFamily="34" charset="0"/>
                        <a:cs typeface="Arial" pitchFamily="34" charset="0"/>
                      </a:endParaRP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endParaRPr lang="es-PE" sz="1400" dirty="0">
                        <a:latin typeface="Arial" pitchFamily="34" charset="0"/>
                        <a:cs typeface="Arial" pitchFamily="34" charset="0"/>
                      </a:endParaRP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endParaRPr lang="es-PE" sz="1400" dirty="0">
                        <a:latin typeface="Arial" pitchFamily="34" charset="0"/>
                        <a:cs typeface="Arial" pitchFamily="34" charset="0"/>
                      </a:endParaRP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endParaRPr lang="es-PE" sz="1400" dirty="0">
                        <a:latin typeface="Arial" pitchFamily="34" charset="0"/>
                        <a:cs typeface="Arial" pitchFamily="34" charset="0"/>
                      </a:endParaRP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endParaRPr lang="es-PE" sz="1400" dirty="0">
                        <a:latin typeface="Arial" pitchFamily="34" charset="0"/>
                        <a:cs typeface="Arial" pitchFamily="34" charset="0"/>
                      </a:endParaRP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endParaRPr lang="es-PE" sz="1400" dirty="0">
                        <a:latin typeface="Arial" pitchFamily="34" charset="0"/>
                        <a:cs typeface="Arial" pitchFamily="34" charset="0"/>
                      </a:endParaRP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400056">
                <a:tc>
                  <a:txBody>
                    <a:bodyPr/>
                    <a:lstStyle/>
                    <a:p>
                      <a:pPr marL="0" algn="l" defTabSz="914400" rtl="0" eaLnBrk="1" latinLnBrk="0" hangingPunct="1"/>
                      <a:r>
                        <a:rPr lang="es-PE" sz="1200" kern="1200" dirty="0">
                          <a:solidFill>
                            <a:schemeClr val="dk1"/>
                          </a:solidFill>
                          <a:latin typeface="Arial" pitchFamily="34" charset="0"/>
                          <a:ea typeface="+mn-ea"/>
                          <a:cs typeface="Arial" pitchFamily="34" charset="0"/>
                        </a:rPr>
                        <a:t>Análisis de R.O.</a:t>
                      </a:r>
                      <a:r>
                        <a:rPr lang="es-PE" sz="1200" kern="1200" baseline="0" dirty="0">
                          <a:solidFill>
                            <a:schemeClr val="dk1"/>
                          </a:solidFill>
                          <a:latin typeface="Arial" pitchFamily="34" charset="0"/>
                          <a:ea typeface="+mn-ea"/>
                          <a:cs typeface="Arial" pitchFamily="34" charset="0"/>
                        </a:rPr>
                        <a:t> asociados a procesos de Piloto.</a:t>
                      </a:r>
                      <a:endParaRPr lang="es-PE" sz="1200" kern="1200" dirty="0">
                        <a:solidFill>
                          <a:schemeClr val="dk1"/>
                        </a:solidFill>
                        <a:latin typeface="Arial" pitchFamily="34" charset="0"/>
                        <a:ea typeface="+mn-ea"/>
                        <a:cs typeface="Arial" pitchFamily="34" charset="0"/>
                      </a:endParaRP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s-PE" sz="1200" kern="1200" dirty="0">
                          <a:solidFill>
                            <a:schemeClr val="dk1"/>
                          </a:solidFill>
                          <a:latin typeface="Arial" pitchFamily="34" charset="0"/>
                          <a:ea typeface="+mn-ea"/>
                          <a:cs typeface="Arial" pitchFamily="34" charset="0"/>
                        </a:rPr>
                        <a:t>12.11</a:t>
                      </a: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s-PE" sz="1200" kern="1200" dirty="0">
                          <a:solidFill>
                            <a:schemeClr val="dk1"/>
                          </a:solidFill>
                          <a:latin typeface="Arial" pitchFamily="34" charset="0"/>
                          <a:ea typeface="+mn-ea"/>
                          <a:cs typeface="Arial" pitchFamily="34" charset="0"/>
                        </a:rPr>
                        <a:t>18.01</a:t>
                      </a: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endParaRPr lang="es-PE" sz="1400" dirty="0">
                        <a:latin typeface="Arial" pitchFamily="34" charset="0"/>
                        <a:cs typeface="Arial" pitchFamily="34" charset="0"/>
                      </a:endParaRP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endParaRPr lang="es-PE" sz="1400" dirty="0">
                        <a:latin typeface="Arial" pitchFamily="34" charset="0"/>
                        <a:cs typeface="Arial" pitchFamily="34" charset="0"/>
                      </a:endParaRP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endParaRPr lang="es-PE" sz="1400" dirty="0">
                        <a:latin typeface="Arial" pitchFamily="34" charset="0"/>
                        <a:cs typeface="Arial" pitchFamily="34" charset="0"/>
                      </a:endParaRP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endParaRPr lang="es-PE" sz="1400" dirty="0">
                        <a:latin typeface="Arial" pitchFamily="34" charset="0"/>
                        <a:cs typeface="Arial" pitchFamily="34" charset="0"/>
                      </a:endParaRP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endParaRPr lang="es-PE" sz="1400" dirty="0">
                        <a:latin typeface="Arial" pitchFamily="34" charset="0"/>
                        <a:cs typeface="Arial" pitchFamily="34" charset="0"/>
                      </a:endParaRP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endParaRPr lang="es-PE" sz="1400" dirty="0">
                        <a:latin typeface="Arial" pitchFamily="34" charset="0"/>
                        <a:cs typeface="Arial" pitchFamily="34" charset="0"/>
                      </a:endParaRP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endParaRPr lang="es-PE" sz="1400" dirty="0">
                        <a:latin typeface="Arial" pitchFamily="34" charset="0"/>
                        <a:cs typeface="Arial" pitchFamily="34" charset="0"/>
                      </a:endParaRP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endParaRPr lang="es-PE" sz="1400" dirty="0">
                        <a:latin typeface="Arial" pitchFamily="34" charset="0"/>
                        <a:cs typeface="Arial" pitchFamily="34" charset="0"/>
                      </a:endParaRP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endParaRPr lang="es-PE" sz="1400" dirty="0">
                        <a:latin typeface="Arial" pitchFamily="34" charset="0"/>
                        <a:cs typeface="Arial" pitchFamily="34" charset="0"/>
                      </a:endParaRP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endParaRPr lang="es-PE" sz="1400" dirty="0">
                        <a:latin typeface="Arial" pitchFamily="34" charset="0"/>
                        <a:cs typeface="Arial" pitchFamily="34" charset="0"/>
                      </a:endParaRP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endParaRPr lang="es-PE" sz="1400" dirty="0">
                        <a:latin typeface="Arial" pitchFamily="34" charset="0"/>
                        <a:cs typeface="Arial" pitchFamily="34" charset="0"/>
                      </a:endParaRP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476993">
                <a:tc>
                  <a:txBody>
                    <a:bodyPr/>
                    <a:lstStyle/>
                    <a:p>
                      <a:pPr marL="0" algn="l" defTabSz="914400" rtl="0" eaLnBrk="1" latinLnBrk="0" hangingPunct="1"/>
                      <a:r>
                        <a:rPr lang="es-PE" sz="1200" kern="1200" dirty="0">
                          <a:solidFill>
                            <a:schemeClr val="dk1"/>
                          </a:solidFill>
                          <a:latin typeface="Arial" pitchFamily="34" charset="0"/>
                          <a:ea typeface="+mn-ea"/>
                          <a:cs typeface="Arial" pitchFamily="34" charset="0"/>
                        </a:rPr>
                        <a:t>Realizar informe resultados piloto</a:t>
                      </a: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s-PE" sz="1200" kern="1200" dirty="0">
                          <a:solidFill>
                            <a:schemeClr val="dk1"/>
                          </a:solidFill>
                          <a:latin typeface="Arial" pitchFamily="34" charset="0"/>
                          <a:ea typeface="+mn-ea"/>
                          <a:cs typeface="Arial" pitchFamily="34" charset="0"/>
                        </a:rPr>
                        <a:t>02.01</a:t>
                      </a: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s-PE" sz="1200" kern="1200" dirty="0">
                          <a:solidFill>
                            <a:schemeClr val="dk1"/>
                          </a:solidFill>
                          <a:latin typeface="Arial" pitchFamily="34" charset="0"/>
                          <a:ea typeface="+mn-ea"/>
                          <a:cs typeface="Arial" pitchFamily="34" charset="0"/>
                        </a:rPr>
                        <a:t>25.01</a:t>
                      </a: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endParaRPr lang="es-PE" sz="1400" dirty="0">
                        <a:latin typeface="Arial" pitchFamily="34" charset="0"/>
                        <a:cs typeface="Arial" pitchFamily="34" charset="0"/>
                      </a:endParaRP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endParaRPr lang="es-PE" sz="1400" dirty="0">
                        <a:latin typeface="Arial" pitchFamily="34" charset="0"/>
                        <a:cs typeface="Arial" pitchFamily="34" charset="0"/>
                      </a:endParaRP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endParaRPr lang="es-PE" sz="1400" dirty="0">
                        <a:latin typeface="Arial" pitchFamily="34" charset="0"/>
                        <a:cs typeface="Arial" pitchFamily="34" charset="0"/>
                      </a:endParaRP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endParaRPr lang="es-PE" sz="1400" dirty="0">
                        <a:latin typeface="Arial" pitchFamily="34" charset="0"/>
                        <a:cs typeface="Arial" pitchFamily="34" charset="0"/>
                      </a:endParaRP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endParaRPr lang="es-PE" sz="1400">
                        <a:latin typeface="Arial" pitchFamily="34" charset="0"/>
                        <a:cs typeface="Arial" pitchFamily="34" charset="0"/>
                      </a:endParaRP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endParaRPr lang="es-PE" sz="1400" dirty="0">
                        <a:latin typeface="Arial" pitchFamily="34" charset="0"/>
                        <a:cs typeface="Arial" pitchFamily="34" charset="0"/>
                      </a:endParaRP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endParaRPr lang="es-PE" sz="1400" dirty="0">
                        <a:latin typeface="Arial" pitchFamily="34" charset="0"/>
                        <a:cs typeface="Arial" pitchFamily="34" charset="0"/>
                      </a:endParaRP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endParaRPr lang="es-PE" sz="1400" dirty="0">
                        <a:latin typeface="Arial" pitchFamily="34" charset="0"/>
                        <a:cs typeface="Arial" pitchFamily="34" charset="0"/>
                      </a:endParaRP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endParaRPr lang="es-PE" sz="1400" dirty="0">
                        <a:latin typeface="Arial" pitchFamily="34" charset="0"/>
                        <a:cs typeface="Arial" pitchFamily="34" charset="0"/>
                      </a:endParaRP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endParaRPr lang="es-PE" sz="1400" dirty="0">
                        <a:latin typeface="Arial" pitchFamily="34" charset="0"/>
                        <a:cs typeface="Arial" pitchFamily="34" charset="0"/>
                      </a:endParaRP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endParaRPr lang="es-PE" sz="1400" dirty="0">
                        <a:latin typeface="Arial" pitchFamily="34" charset="0"/>
                        <a:cs typeface="Arial" pitchFamily="34" charset="0"/>
                      </a:endParaRP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r h="371484">
                <a:tc>
                  <a:txBody>
                    <a:bodyPr/>
                    <a:lstStyle/>
                    <a:p>
                      <a:pPr marL="0" algn="l" defTabSz="914400" rtl="0" eaLnBrk="1" latinLnBrk="0" hangingPunct="1"/>
                      <a:r>
                        <a:rPr lang="es-PE" sz="1200" kern="1200" dirty="0">
                          <a:solidFill>
                            <a:schemeClr val="dk1"/>
                          </a:solidFill>
                          <a:latin typeface="Arial" pitchFamily="34" charset="0"/>
                          <a:ea typeface="+mn-ea"/>
                          <a:cs typeface="Arial" pitchFamily="34" charset="0"/>
                        </a:rPr>
                        <a:t>Actualización Metodologías </a:t>
                      </a:r>
                      <a:r>
                        <a:rPr lang="es-PE" sz="1200" kern="1200" dirty="0" err="1">
                          <a:solidFill>
                            <a:schemeClr val="dk1"/>
                          </a:solidFill>
                          <a:latin typeface="Arial" pitchFamily="34" charset="0"/>
                          <a:ea typeface="+mn-ea"/>
                          <a:cs typeface="Arial" pitchFamily="34" charset="0"/>
                        </a:rPr>
                        <a:t>Rimac</a:t>
                      </a:r>
                      <a:r>
                        <a:rPr lang="es-PE" sz="1200" kern="1200" dirty="0">
                          <a:solidFill>
                            <a:schemeClr val="dk1"/>
                          </a:solidFill>
                          <a:latin typeface="Arial" pitchFamily="34" charset="0"/>
                          <a:ea typeface="+mn-ea"/>
                          <a:cs typeface="Arial" pitchFamily="34" charset="0"/>
                        </a:rPr>
                        <a:t> (R.O.</a:t>
                      </a:r>
                      <a:r>
                        <a:rPr lang="es-PE" sz="1200" kern="1200" baseline="0" dirty="0">
                          <a:solidFill>
                            <a:schemeClr val="dk1"/>
                          </a:solidFill>
                          <a:latin typeface="Arial" pitchFamily="34" charset="0"/>
                          <a:ea typeface="+mn-ea"/>
                          <a:cs typeface="Arial" pitchFamily="34" charset="0"/>
                        </a:rPr>
                        <a:t> y Gestión de Procesos)</a:t>
                      </a:r>
                      <a:endParaRPr lang="es-PE" sz="1200" kern="1200" dirty="0">
                        <a:solidFill>
                          <a:schemeClr val="dk1"/>
                        </a:solidFill>
                        <a:latin typeface="Arial" pitchFamily="34" charset="0"/>
                        <a:ea typeface="+mn-ea"/>
                        <a:cs typeface="Arial" pitchFamily="34" charset="0"/>
                      </a:endParaRP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s-PE" sz="1200" kern="1200" dirty="0">
                          <a:solidFill>
                            <a:schemeClr val="dk1"/>
                          </a:solidFill>
                          <a:latin typeface="Arial" pitchFamily="34" charset="0"/>
                          <a:ea typeface="+mn-ea"/>
                          <a:cs typeface="Arial" pitchFamily="34" charset="0"/>
                        </a:rPr>
                        <a:t>03.12</a:t>
                      </a: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s-PE" sz="1200" kern="1200" dirty="0">
                          <a:solidFill>
                            <a:schemeClr val="dk1"/>
                          </a:solidFill>
                          <a:latin typeface="Arial" pitchFamily="34" charset="0"/>
                          <a:ea typeface="+mn-ea"/>
                          <a:cs typeface="Arial" pitchFamily="34" charset="0"/>
                        </a:rPr>
                        <a:t>01.03</a:t>
                      </a: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endParaRPr lang="es-PE" sz="1400" dirty="0">
                        <a:latin typeface="Arial" pitchFamily="34" charset="0"/>
                        <a:cs typeface="Arial" pitchFamily="34" charset="0"/>
                      </a:endParaRP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endParaRPr lang="es-PE" sz="1400">
                        <a:latin typeface="Arial" pitchFamily="34" charset="0"/>
                        <a:cs typeface="Arial" pitchFamily="34" charset="0"/>
                      </a:endParaRP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endParaRPr lang="es-PE" sz="1400">
                        <a:latin typeface="Arial" pitchFamily="34" charset="0"/>
                        <a:cs typeface="Arial" pitchFamily="34" charset="0"/>
                      </a:endParaRP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endParaRPr lang="es-PE" sz="1400" dirty="0">
                        <a:latin typeface="Arial" pitchFamily="34" charset="0"/>
                        <a:cs typeface="Arial" pitchFamily="34" charset="0"/>
                      </a:endParaRP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endParaRPr lang="es-PE" sz="1400" dirty="0">
                        <a:latin typeface="Arial" pitchFamily="34" charset="0"/>
                        <a:cs typeface="Arial" pitchFamily="34" charset="0"/>
                      </a:endParaRP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endParaRPr lang="es-PE" sz="1400">
                        <a:latin typeface="Arial" pitchFamily="34" charset="0"/>
                        <a:cs typeface="Arial" pitchFamily="34" charset="0"/>
                      </a:endParaRP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endParaRPr lang="es-PE" sz="1400" dirty="0">
                        <a:latin typeface="Arial" pitchFamily="34" charset="0"/>
                        <a:cs typeface="Arial" pitchFamily="34" charset="0"/>
                      </a:endParaRP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endParaRPr lang="es-PE" sz="1400" dirty="0">
                        <a:latin typeface="Arial" pitchFamily="34" charset="0"/>
                        <a:cs typeface="Arial" pitchFamily="34" charset="0"/>
                      </a:endParaRP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endParaRPr lang="es-PE" sz="1400" dirty="0">
                        <a:latin typeface="Arial" pitchFamily="34" charset="0"/>
                        <a:cs typeface="Arial" pitchFamily="34" charset="0"/>
                      </a:endParaRP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endParaRPr lang="es-PE" sz="1400" dirty="0">
                        <a:latin typeface="Arial" pitchFamily="34" charset="0"/>
                        <a:cs typeface="Arial" pitchFamily="34" charset="0"/>
                      </a:endParaRP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endParaRPr lang="es-PE" sz="1400" dirty="0">
                        <a:latin typeface="Arial" pitchFamily="34" charset="0"/>
                        <a:cs typeface="Arial" pitchFamily="34" charset="0"/>
                      </a:endParaRP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6"/>
                  </a:ext>
                </a:extLst>
              </a:tr>
              <a:tr h="414350">
                <a:tc>
                  <a:txBody>
                    <a:bodyPr/>
                    <a:lstStyle/>
                    <a:p>
                      <a:pPr marL="0" algn="l" defTabSz="914400" rtl="0" eaLnBrk="1" latinLnBrk="0" hangingPunct="1"/>
                      <a:r>
                        <a:rPr lang="es-PE" sz="1200" kern="1200" dirty="0">
                          <a:solidFill>
                            <a:schemeClr val="dk1"/>
                          </a:solidFill>
                          <a:latin typeface="Arial" pitchFamily="34" charset="0"/>
                          <a:ea typeface="+mn-ea"/>
                          <a:cs typeface="Arial" pitchFamily="34" charset="0"/>
                        </a:rPr>
                        <a:t>Análisis Gap SII</a:t>
                      </a:r>
                      <a:r>
                        <a:rPr lang="es-PE" sz="1200" kern="1200" baseline="0" dirty="0">
                          <a:solidFill>
                            <a:schemeClr val="dk1"/>
                          </a:solidFill>
                          <a:latin typeface="Arial" pitchFamily="34" charset="0"/>
                          <a:ea typeface="+mn-ea"/>
                          <a:cs typeface="Arial" pitchFamily="34" charset="0"/>
                        </a:rPr>
                        <a:t> – P2</a:t>
                      </a:r>
                      <a:endParaRPr lang="es-PE" sz="1200" kern="1200" dirty="0">
                        <a:solidFill>
                          <a:schemeClr val="dk1"/>
                        </a:solidFill>
                        <a:latin typeface="Arial" pitchFamily="34" charset="0"/>
                        <a:ea typeface="+mn-ea"/>
                        <a:cs typeface="Arial" pitchFamily="34" charset="0"/>
                      </a:endParaRP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s-PE" sz="1200" kern="1200" dirty="0">
                          <a:solidFill>
                            <a:schemeClr val="dk1"/>
                          </a:solidFill>
                          <a:latin typeface="Arial" pitchFamily="34" charset="0"/>
                          <a:ea typeface="+mn-ea"/>
                          <a:cs typeface="Arial" pitchFamily="34" charset="0"/>
                        </a:rPr>
                        <a:t>21.01</a:t>
                      </a: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s-PE" sz="1200" kern="1200" dirty="0">
                          <a:solidFill>
                            <a:schemeClr val="dk1"/>
                          </a:solidFill>
                          <a:latin typeface="Arial" pitchFamily="34" charset="0"/>
                          <a:ea typeface="+mn-ea"/>
                          <a:cs typeface="Arial" pitchFamily="34" charset="0"/>
                        </a:rPr>
                        <a:t>15.03</a:t>
                      </a: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endParaRPr lang="es-PE" sz="1400" dirty="0">
                        <a:latin typeface="Arial" pitchFamily="34" charset="0"/>
                        <a:cs typeface="Arial" pitchFamily="34" charset="0"/>
                      </a:endParaRP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endParaRPr lang="es-PE" sz="1400">
                        <a:latin typeface="Arial" pitchFamily="34" charset="0"/>
                        <a:cs typeface="Arial" pitchFamily="34" charset="0"/>
                      </a:endParaRP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endParaRPr lang="es-PE" sz="1400">
                        <a:latin typeface="Arial" pitchFamily="34" charset="0"/>
                        <a:cs typeface="Arial" pitchFamily="34" charset="0"/>
                      </a:endParaRP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endParaRPr lang="es-PE" sz="1400" dirty="0">
                        <a:latin typeface="Arial" pitchFamily="34" charset="0"/>
                        <a:cs typeface="Arial" pitchFamily="34" charset="0"/>
                      </a:endParaRP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endParaRPr lang="es-PE" sz="1400">
                        <a:latin typeface="Arial" pitchFamily="34" charset="0"/>
                        <a:cs typeface="Arial" pitchFamily="34" charset="0"/>
                      </a:endParaRP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endParaRPr lang="es-PE" sz="1400" dirty="0">
                        <a:latin typeface="Arial" pitchFamily="34" charset="0"/>
                        <a:cs typeface="Arial" pitchFamily="34" charset="0"/>
                      </a:endParaRP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endParaRPr lang="es-PE" sz="1400" dirty="0">
                        <a:latin typeface="Arial" pitchFamily="34" charset="0"/>
                        <a:cs typeface="Arial" pitchFamily="34" charset="0"/>
                      </a:endParaRP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endParaRPr lang="es-PE" sz="1400" dirty="0">
                        <a:latin typeface="Arial" pitchFamily="34" charset="0"/>
                        <a:cs typeface="Arial" pitchFamily="34" charset="0"/>
                      </a:endParaRP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endParaRPr lang="es-PE" sz="1400" dirty="0">
                        <a:latin typeface="Arial" pitchFamily="34" charset="0"/>
                        <a:cs typeface="Arial" pitchFamily="34" charset="0"/>
                      </a:endParaRP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endParaRPr lang="es-PE" sz="1400" dirty="0">
                        <a:latin typeface="Arial" pitchFamily="34" charset="0"/>
                        <a:cs typeface="Arial" pitchFamily="34" charset="0"/>
                      </a:endParaRP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endParaRPr lang="es-PE" sz="1400" dirty="0">
                        <a:latin typeface="Arial" pitchFamily="34" charset="0"/>
                        <a:cs typeface="Arial" pitchFamily="34" charset="0"/>
                      </a:endParaRP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7"/>
                  </a:ext>
                </a:extLst>
              </a:tr>
              <a:tr h="414350">
                <a:tc>
                  <a:txBody>
                    <a:bodyPr/>
                    <a:lstStyle/>
                    <a:p>
                      <a:pPr marL="0" algn="l" defTabSz="914400" rtl="0" eaLnBrk="1" latinLnBrk="0" hangingPunct="1"/>
                      <a:r>
                        <a:rPr lang="es-PE" sz="1200" kern="1200" dirty="0">
                          <a:solidFill>
                            <a:schemeClr val="dk1"/>
                          </a:solidFill>
                          <a:latin typeface="Arial" pitchFamily="34" charset="0"/>
                          <a:ea typeface="+mn-ea"/>
                          <a:cs typeface="Arial" pitchFamily="34" charset="0"/>
                        </a:rPr>
                        <a:t>Cierre de Proyecto</a:t>
                      </a: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s-PE" sz="1200" kern="1200" dirty="0">
                          <a:solidFill>
                            <a:schemeClr val="dk1"/>
                          </a:solidFill>
                          <a:latin typeface="Arial" pitchFamily="34" charset="0"/>
                          <a:ea typeface="+mn-ea"/>
                          <a:cs typeface="Arial" pitchFamily="34" charset="0"/>
                        </a:rPr>
                        <a:t>18.03</a:t>
                      </a: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s-PE" sz="1200" kern="1200" dirty="0">
                          <a:solidFill>
                            <a:schemeClr val="dk1"/>
                          </a:solidFill>
                          <a:latin typeface="Arial" pitchFamily="34" charset="0"/>
                          <a:ea typeface="+mn-ea"/>
                          <a:cs typeface="Arial" pitchFamily="34" charset="0"/>
                        </a:rPr>
                        <a:t>27.03</a:t>
                      </a: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endParaRPr lang="es-PE" sz="1400" dirty="0">
                        <a:latin typeface="Arial" pitchFamily="34" charset="0"/>
                        <a:cs typeface="Arial" pitchFamily="34" charset="0"/>
                      </a:endParaRP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endParaRPr lang="es-PE" sz="1400">
                        <a:latin typeface="Arial" pitchFamily="34" charset="0"/>
                        <a:cs typeface="Arial" pitchFamily="34" charset="0"/>
                      </a:endParaRP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endParaRPr lang="es-PE" sz="1400">
                        <a:latin typeface="Arial" pitchFamily="34" charset="0"/>
                        <a:cs typeface="Arial" pitchFamily="34" charset="0"/>
                      </a:endParaRP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endParaRPr lang="es-PE" sz="1400" dirty="0">
                        <a:latin typeface="Arial" pitchFamily="34" charset="0"/>
                        <a:cs typeface="Arial" pitchFamily="34" charset="0"/>
                      </a:endParaRP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endParaRPr lang="es-PE" sz="1400">
                        <a:latin typeface="Arial" pitchFamily="34" charset="0"/>
                        <a:cs typeface="Arial" pitchFamily="34" charset="0"/>
                      </a:endParaRP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endParaRPr lang="es-PE" sz="1400" dirty="0">
                        <a:latin typeface="Arial" pitchFamily="34" charset="0"/>
                        <a:cs typeface="Arial" pitchFamily="34" charset="0"/>
                      </a:endParaRP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endParaRPr lang="es-PE" sz="1400" dirty="0">
                        <a:latin typeface="Arial" pitchFamily="34" charset="0"/>
                        <a:cs typeface="Arial" pitchFamily="34" charset="0"/>
                      </a:endParaRP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endParaRPr lang="es-PE" sz="1400" dirty="0">
                        <a:latin typeface="Arial" pitchFamily="34" charset="0"/>
                        <a:cs typeface="Arial" pitchFamily="34" charset="0"/>
                      </a:endParaRP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endParaRPr lang="es-PE" sz="1400" dirty="0">
                        <a:latin typeface="Arial" pitchFamily="34" charset="0"/>
                        <a:cs typeface="Arial" pitchFamily="34" charset="0"/>
                      </a:endParaRP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endParaRPr lang="es-PE" sz="1400" dirty="0">
                        <a:latin typeface="Arial" pitchFamily="34" charset="0"/>
                        <a:cs typeface="Arial" pitchFamily="34" charset="0"/>
                      </a:endParaRP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endParaRPr lang="es-PE" sz="1400" dirty="0">
                        <a:latin typeface="Arial" pitchFamily="34" charset="0"/>
                        <a:cs typeface="Arial" pitchFamily="34" charset="0"/>
                      </a:endParaRP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8"/>
                  </a:ext>
                </a:extLst>
              </a:tr>
            </a:tbl>
          </a:graphicData>
        </a:graphic>
      </p:graphicFrame>
      <p:sp>
        <p:nvSpPr>
          <p:cNvPr id="36" name="2 Rectángulo"/>
          <p:cNvSpPr>
            <a:spLocks noChangeArrowheads="1"/>
          </p:cNvSpPr>
          <p:nvPr/>
        </p:nvSpPr>
        <p:spPr bwMode="auto">
          <a:xfrm>
            <a:off x="3786182" y="1371812"/>
            <a:ext cx="1800000" cy="180000"/>
          </a:xfrm>
          <a:prstGeom prst="rect">
            <a:avLst/>
          </a:prstGeom>
          <a:solidFill>
            <a:srgbClr val="FFC000"/>
          </a:solidFill>
          <a:ln>
            <a:headEnd/>
            <a:tailEnd/>
          </a:ln>
        </p:spPr>
        <p:style>
          <a:lnRef idx="0">
            <a:schemeClr val="accent1"/>
          </a:lnRef>
          <a:fillRef idx="3">
            <a:schemeClr val="accent1"/>
          </a:fillRef>
          <a:effectRef idx="3">
            <a:schemeClr val="accent1"/>
          </a:effectRef>
          <a:fontRef idx="minor">
            <a:schemeClr val="lt1"/>
          </a:fontRef>
        </p:style>
        <p:txBody>
          <a:bodyPr wrap="none" anchor="ctr"/>
          <a:lstStyle/>
          <a:p>
            <a:pPr algn="ctr"/>
            <a:endParaRPr lang="es-PE" sz="1200" b="1" dirty="0">
              <a:solidFill>
                <a:schemeClr val="bg1"/>
              </a:solidFill>
              <a:latin typeface="Calibri" pitchFamily="34" charset="0"/>
              <a:cs typeface="Calibri" pitchFamily="34" charset="0"/>
            </a:endParaRPr>
          </a:p>
        </p:txBody>
      </p:sp>
      <p:sp>
        <p:nvSpPr>
          <p:cNvPr id="38" name="2 Rectángulo"/>
          <p:cNvSpPr>
            <a:spLocks noChangeArrowheads="1"/>
          </p:cNvSpPr>
          <p:nvPr/>
        </p:nvSpPr>
        <p:spPr bwMode="auto">
          <a:xfrm>
            <a:off x="5715008" y="2198908"/>
            <a:ext cx="180000" cy="180000"/>
          </a:xfrm>
          <a:prstGeom prst="rect">
            <a:avLst/>
          </a:prstGeom>
          <a:solidFill>
            <a:srgbClr val="FFC000"/>
          </a:solidFill>
          <a:ln>
            <a:headEnd/>
            <a:tailEnd/>
          </a:ln>
        </p:spPr>
        <p:style>
          <a:lnRef idx="0">
            <a:schemeClr val="accent1"/>
          </a:lnRef>
          <a:fillRef idx="3">
            <a:schemeClr val="accent1"/>
          </a:fillRef>
          <a:effectRef idx="3">
            <a:schemeClr val="accent1"/>
          </a:effectRef>
          <a:fontRef idx="minor">
            <a:schemeClr val="lt1"/>
          </a:fontRef>
        </p:style>
        <p:txBody>
          <a:bodyPr wrap="none" anchor="ctr"/>
          <a:lstStyle/>
          <a:p>
            <a:pPr algn="ctr"/>
            <a:endParaRPr lang="es-PE" sz="1200" b="1" dirty="0">
              <a:solidFill>
                <a:schemeClr val="bg1"/>
              </a:solidFill>
              <a:latin typeface="Calibri" pitchFamily="34" charset="0"/>
              <a:cs typeface="Calibri" pitchFamily="34" charset="0"/>
            </a:endParaRPr>
          </a:p>
        </p:txBody>
      </p:sp>
      <p:sp>
        <p:nvSpPr>
          <p:cNvPr id="39" name="2 Rectángulo"/>
          <p:cNvSpPr>
            <a:spLocks noChangeArrowheads="1"/>
          </p:cNvSpPr>
          <p:nvPr/>
        </p:nvSpPr>
        <p:spPr bwMode="auto">
          <a:xfrm>
            <a:off x="6202374" y="2643182"/>
            <a:ext cx="1116000" cy="180000"/>
          </a:xfrm>
          <a:prstGeom prst="rect">
            <a:avLst/>
          </a:prstGeom>
          <a:solidFill>
            <a:srgbClr val="6699FF"/>
          </a:solidFill>
          <a:ln>
            <a:headEnd/>
            <a:tailEnd/>
          </a:ln>
        </p:spPr>
        <p:style>
          <a:lnRef idx="0">
            <a:schemeClr val="accent1"/>
          </a:lnRef>
          <a:fillRef idx="3">
            <a:schemeClr val="accent1"/>
          </a:fillRef>
          <a:effectRef idx="3">
            <a:schemeClr val="accent1"/>
          </a:effectRef>
          <a:fontRef idx="minor">
            <a:schemeClr val="lt1"/>
          </a:fontRef>
        </p:style>
        <p:txBody>
          <a:bodyPr wrap="none" anchor="ctr"/>
          <a:lstStyle/>
          <a:p>
            <a:pPr algn="ctr"/>
            <a:endParaRPr lang="es-PE" sz="1200" b="1" dirty="0">
              <a:solidFill>
                <a:schemeClr val="bg1"/>
              </a:solidFill>
              <a:latin typeface="Calibri" pitchFamily="34" charset="0"/>
              <a:cs typeface="Calibri" pitchFamily="34" charset="0"/>
            </a:endParaRPr>
          </a:p>
        </p:txBody>
      </p:sp>
      <p:sp>
        <p:nvSpPr>
          <p:cNvPr id="41" name="2 Rectángulo"/>
          <p:cNvSpPr>
            <a:spLocks noChangeArrowheads="1"/>
          </p:cNvSpPr>
          <p:nvPr/>
        </p:nvSpPr>
        <p:spPr bwMode="auto">
          <a:xfrm>
            <a:off x="6941158" y="3100838"/>
            <a:ext cx="360000" cy="180000"/>
          </a:xfrm>
          <a:prstGeom prst="rect">
            <a:avLst/>
          </a:prstGeom>
          <a:solidFill>
            <a:srgbClr val="6699FF"/>
          </a:solidFill>
          <a:ln>
            <a:headEnd/>
            <a:tailEnd/>
          </a:ln>
        </p:spPr>
        <p:style>
          <a:lnRef idx="0">
            <a:schemeClr val="accent1"/>
          </a:lnRef>
          <a:fillRef idx="3">
            <a:schemeClr val="accent1"/>
          </a:fillRef>
          <a:effectRef idx="3">
            <a:schemeClr val="accent1"/>
          </a:effectRef>
          <a:fontRef idx="minor">
            <a:schemeClr val="lt1"/>
          </a:fontRef>
        </p:style>
        <p:txBody>
          <a:bodyPr wrap="none" anchor="ctr"/>
          <a:lstStyle/>
          <a:p>
            <a:pPr algn="ctr"/>
            <a:endParaRPr lang="es-PE" sz="1200" b="1" dirty="0">
              <a:solidFill>
                <a:schemeClr val="bg1"/>
              </a:solidFill>
              <a:latin typeface="Calibri" pitchFamily="34" charset="0"/>
              <a:cs typeface="Calibri" pitchFamily="34" charset="0"/>
            </a:endParaRPr>
          </a:p>
        </p:txBody>
      </p:sp>
      <p:sp>
        <p:nvSpPr>
          <p:cNvPr id="42" name="2 Rectángulo"/>
          <p:cNvSpPr>
            <a:spLocks noChangeArrowheads="1"/>
          </p:cNvSpPr>
          <p:nvPr/>
        </p:nvSpPr>
        <p:spPr bwMode="auto">
          <a:xfrm>
            <a:off x="6643702" y="3628800"/>
            <a:ext cx="1440000" cy="180000"/>
          </a:xfrm>
          <a:prstGeom prst="rect">
            <a:avLst/>
          </a:prstGeom>
          <a:solidFill>
            <a:srgbClr val="FFC000"/>
          </a:solidFill>
          <a:ln>
            <a:headEnd/>
            <a:tailEnd/>
          </a:ln>
        </p:spPr>
        <p:style>
          <a:lnRef idx="0">
            <a:schemeClr val="accent1"/>
          </a:lnRef>
          <a:fillRef idx="3">
            <a:schemeClr val="accent1"/>
          </a:fillRef>
          <a:effectRef idx="3">
            <a:schemeClr val="accent1"/>
          </a:effectRef>
          <a:fontRef idx="minor">
            <a:schemeClr val="lt1"/>
          </a:fontRef>
        </p:style>
        <p:txBody>
          <a:bodyPr wrap="none" anchor="ctr"/>
          <a:lstStyle/>
          <a:p>
            <a:pPr algn="ctr"/>
            <a:endParaRPr lang="es-PE" sz="1200" b="1" dirty="0">
              <a:solidFill>
                <a:schemeClr val="bg1"/>
              </a:solidFill>
              <a:latin typeface="Calibri" pitchFamily="34" charset="0"/>
              <a:cs typeface="Calibri" pitchFamily="34" charset="0"/>
            </a:endParaRPr>
          </a:p>
        </p:txBody>
      </p:sp>
      <p:sp>
        <p:nvSpPr>
          <p:cNvPr id="43" name="2 Rectángulo"/>
          <p:cNvSpPr>
            <a:spLocks noChangeArrowheads="1"/>
          </p:cNvSpPr>
          <p:nvPr/>
        </p:nvSpPr>
        <p:spPr bwMode="auto">
          <a:xfrm>
            <a:off x="7286644" y="4143380"/>
            <a:ext cx="972000" cy="180000"/>
          </a:xfrm>
          <a:prstGeom prst="rect">
            <a:avLst/>
          </a:prstGeom>
          <a:solidFill>
            <a:srgbClr val="FFC000"/>
          </a:solidFill>
          <a:ln>
            <a:headEnd/>
            <a:tailEnd/>
          </a:ln>
        </p:spPr>
        <p:style>
          <a:lnRef idx="0">
            <a:schemeClr val="accent1"/>
          </a:lnRef>
          <a:fillRef idx="3">
            <a:schemeClr val="accent1"/>
          </a:fillRef>
          <a:effectRef idx="3">
            <a:schemeClr val="accent1"/>
          </a:effectRef>
          <a:fontRef idx="minor">
            <a:schemeClr val="lt1"/>
          </a:fontRef>
        </p:style>
        <p:txBody>
          <a:bodyPr wrap="none" anchor="ctr"/>
          <a:lstStyle/>
          <a:p>
            <a:pPr algn="ctr"/>
            <a:endParaRPr lang="es-PE" sz="1200" b="1" dirty="0">
              <a:solidFill>
                <a:schemeClr val="bg1"/>
              </a:solidFill>
              <a:latin typeface="Calibri" pitchFamily="34" charset="0"/>
              <a:cs typeface="Calibri" pitchFamily="34" charset="0"/>
            </a:endParaRPr>
          </a:p>
        </p:txBody>
      </p:sp>
      <p:sp>
        <p:nvSpPr>
          <p:cNvPr id="45" name="44 CuadroTexto"/>
          <p:cNvSpPr txBox="1"/>
          <p:nvPr/>
        </p:nvSpPr>
        <p:spPr>
          <a:xfrm>
            <a:off x="6513076" y="2041518"/>
            <a:ext cx="2500298" cy="430887"/>
          </a:xfrm>
          <a:prstGeom prst="rect">
            <a:avLst/>
          </a:prstGeom>
          <a:solidFill>
            <a:schemeClr val="bg1"/>
          </a:solidFill>
          <a:ln>
            <a:solidFill>
              <a:schemeClr val="tx1"/>
            </a:solidFill>
          </a:ln>
        </p:spPr>
        <p:txBody>
          <a:bodyPr wrap="square" rtlCol="0">
            <a:spAutoFit/>
          </a:bodyPr>
          <a:lstStyle/>
          <a:p>
            <a:pPr algn="just" fontAlgn="base">
              <a:spcBef>
                <a:spcPct val="20000"/>
              </a:spcBef>
              <a:spcAft>
                <a:spcPct val="0"/>
              </a:spcAft>
            </a:pPr>
            <a:r>
              <a:rPr lang="es-PE" sz="1000" b="1" dirty="0">
                <a:latin typeface="Arial" pitchFamily="34" charset="0"/>
                <a:cs typeface="Arial" pitchFamily="34" charset="0"/>
              </a:rPr>
              <a:t>Reporte MS con  recomendaciones al </a:t>
            </a:r>
          </a:p>
          <a:p>
            <a:pPr algn="just" fontAlgn="base">
              <a:spcBef>
                <a:spcPct val="20000"/>
              </a:spcBef>
              <a:spcAft>
                <a:spcPct val="0"/>
              </a:spcAft>
            </a:pPr>
            <a:r>
              <a:rPr lang="es-PE" sz="1000" b="1" dirty="0">
                <a:latin typeface="Arial" pitchFamily="34" charset="0"/>
                <a:cs typeface="Arial" pitchFamily="34" charset="0"/>
              </a:rPr>
              <a:t>Marco de Gestión (MS – 29.10)</a:t>
            </a:r>
          </a:p>
        </p:txBody>
      </p:sp>
      <p:sp>
        <p:nvSpPr>
          <p:cNvPr id="46" name="45 CuadroTexto"/>
          <p:cNvSpPr txBox="1"/>
          <p:nvPr/>
        </p:nvSpPr>
        <p:spPr>
          <a:xfrm>
            <a:off x="7500958" y="2556098"/>
            <a:ext cx="1643042" cy="430887"/>
          </a:xfrm>
          <a:prstGeom prst="rect">
            <a:avLst/>
          </a:prstGeom>
          <a:solidFill>
            <a:schemeClr val="bg1"/>
          </a:solidFill>
          <a:ln>
            <a:solidFill>
              <a:schemeClr val="tx1"/>
            </a:solidFill>
          </a:ln>
        </p:spPr>
        <p:txBody>
          <a:bodyPr wrap="square" rtlCol="0">
            <a:spAutoFit/>
          </a:bodyPr>
          <a:lstStyle/>
          <a:p>
            <a:pPr algn="just" fontAlgn="base">
              <a:spcBef>
                <a:spcPct val="20000"/>
              </a:spcBef>
              <a:spcAft>
                <a:spcPct val="0"/>
              </a:spcAft>
            </a:pPr>
            <a:r>
              <a:rPr lang="es-PE" sz="1000" b="1" dirty="0">
                <a:latin typeface="Arial" pitchFamily="34" charset="0"/>
                <a:cs typeface="Arial" pitchFamily="34" charset="0"/>
              </a:rPr>
              <a:t>-Tablero de Riesgos y </a:t>
            </a:r>
          </a:p>
          <a:p>
            <a:pPr algn="just" fontAlgn="base">
              <a:spcBef>
                <a:spcPct val="20000"/>
              </a:spcBef>
              <a:spcAft>
                <a:spcPct val="0"/>
              </a:spcAft>
            </a:pPr>
            <a:r>
              <a:rPr lang="es-PE" sz="1000" b="1" dirty="0">
                <a:latin typeface="Arial" pitchFamily="34" charset="0"/>
                <a:cs typeface="Arial" pitchFamily="34" charset="0"/>
              </a:rPr>
              <a:t>Control + (1)</a:t>
            </a:r>
          </a:p>
        </p:txBody>
      </p:sp>
      <p:sp>
        <p:nvSpPr>
          <p:cNvPr id="47" name="46 CuadroTexto"/>
          <p:cNvSpPr txBox="1"/>
          <p:nvPr/>
        </p:nvSpPr>
        <p:spPr>
          <a:xfrm>
            <a:off x="3956954" y="4942645"/>
            <a:ext cx="1836718" cy="430887"/>
          </a:xfrm>
          <a:prstGeom prst="rect">
            <a:avLst/>
          </a:prstGeom>
          <a:noFill/>
        </p:spPr>
        <p:txBody>
          <a:bodyPr wrap="square" rtlCol="0">
            <a:spAutoFit/>
          </a:bodyPr>
          <a:lstStyle/>
          <a:p>
            <a:pPr algn="just" fontAlgn="base">
              <a:spcBef>
                <a:spcPct val="20000"/>
              </a:spcBef>
              <a:spcAft>
                <a:spcPct val="0"/>
              </a:spcAft>
            </a:pPr>
            <a:r>
              <a:rPr lang="es-PE" sz="1000" dirty="0">
                <a:latin typeface="Arial" pitchFamily="34" charset="0"/>
                <a:cs typeface="Arial" pitchFamily="34" charset="0"/>
              </a:rPr>
              <a:t>(1) PCN por proceso</a:t>
            </a:r>
          </a:p>
          <a:p>
            <a:pPr algn="just" fontAlgn="base">
              <a:spcBef>
                <a:spcPct val="20000"/>
              </a:spcBef>
              <a:spcAft>
                <a:spcPct val="0"/>
              </a:spcAft>
            </a:pPr>
            <a:endParaRPr lang="es-PE" sz="1000" dirty="0">
              <a:latin typeface="Arial" pitchFamily="34" charset="0"/>
              <a:cs typeface="Arial" pitchFamily="34" charset="0"/>
            </a:endParaRPr>
          </a:p>
        </p:txBody>
      </p:sp>
      <p:sp>
        <p:nvSpPr>
          <p:cNvPr id="48" name="47 CuadroTexto"/>
          <p:cNvSpPr txBox="1"/>
          <p:nvPr/>
        </p:nvSpPr>
        <p:spPr>
          <a:xfrm>
            <a:off x="7521628" y="3071810"/>
            <a:ext cx="1622372" cy="246221"/>
          </a:xfrm>
          <a:prstGeom prst="rect">
            <a:avLst/>
          </a:prstGeom>
          <a:solidFill>
            <a:schemeClr val="bg1"/>
          </a:solidFill>
          <a:ln>
            <a:solidFill>
              <a:schemeClr val="tx1"/>
            </a:solidFill>
          </a:ln>
        </p:spPr>
        <p:txBody>
          <a:bodyPr wrap="square" rtlCol="0">
            <a:spAutoFit/>
          </a:bodyPr>
          <a:lstStyle/>
          <a:p>
            <a:pPr algn="just" fontAlgn="base">
              <a:spcBef>
                <a:spcPct val="20000"/>
              </a:spcBef>
              <a:spcAft>
                <a:spcPct val="0"/>
              </a:spcAft>
            </a:pPr>
            <a:r>
              <a:rPr lang="es-PE" sz="1000" b="1" dirty="0">
                <a:latin typeface="Arial" pitchFamily="34" charset="0"/>
                <a:cs typeface="Arial" pitchFamily="34" charset="0"/>
              </a:rPr>
              <a:t>Informe Final Piloto</a:t>
            </a:r>
          </a:p>
        </p:txBody>
      </p:sp>
      <p:sp>
        <p:nvSpPr>
          <p:cNvPr id="49" name="2 Rectángulo"/>
          <p:cNvSpPr>
            <a:spLocks noChangeArrowheads="1"/>
          </p:cNvSpPr>
          <p:nvPr/>
        </p:nvSpPr>
        <p:spPr bwMode="auto">
          <a:xfrm>
            <a:off x="214282" y="5300282"/>
            <a:ext cx="1000132" cy="216000"/>
          </a:xfrm>
          <a:prstGeom prst="rect">
            <a:avLst/>
          </a:prstGeom>
          <a:solidFill>
            <a:srgbClr val="FFC000"/>
          </a:solidFill>
          <a:ln>
            <a:headEnd/>
            <a:tailEnd/>
          </a:ln>
        </p:spPr>
        <p:style>
          <a:lnRef idx="0">
            <a:schemeClr val="accent1"/>
          </a:lnRef>
          <a:fillRef idx="3">
            <a:schemeClr val="accent1"/>
          </a:fillRef>
          <a:effectRef idx="3">
            <a:schemeClr val="accent1"/>
          </a:effectRef>
          <a:fontRef idx="minor">
            <a:schemeClr val="lt1"/>
          </a:fontRef>
        </p:style>
        <p:txBody>
          <a:bodyPr wrap="none" anchor="ctr"/>
          <a:lstStyle/>
          <a:p>
            <a:pPr algn="ctr"/>
            <a:endParaRPr lang="es-PE" sz="1200" b="1" dirty="0">
              <a:solidFill>
                <a:schemeClr val="bg1"/>
              </a:solidFill>
              <a:latin typeface="Calibri" pitchFamily="34" charset="0"/>
              <a:cs typeface="Calibri" pitchFamily="34" charset="0"/>
            </a:endParaRPr>
          </a:p>
        </p:txBody>
      </p:sp>
      <p:sp>
        <p:nvSpPr>
          <p:cNvPr id="50" name="49 CuadroTexto"/>
          <p:cNvSpPr txBox="1"/>
          <p:nvPr/>
        </p:nvSpPr>
        <p:spPr>
          <a:xfrm>
            <a:off x="1216910" y="5272005"/>
            <a:ext cx="1836718" cy="276999"/>
          </a:xfrm>
          <a:prstGeom prst="rect">
            <a:avLst/>
          </a:prstGeom>
          <a:noFill/>
        </p:spPr>
        <p:txBody>
          <a:bodyPr wrap="square" rtlCol="0">
            <a:spAutoFit/>
          </a:bodyPr>
          <a:lstStyle/>
          <a:p>
            <a:pPr algn="just" fontAlgn="base">
              <a:spcBef>
                <a:spcPct val="20000"/>
              </a:spcBef>
              <a:spcAft>
                <a:spcPct val="0"/>
              </a:spcAft>
            </a:pPr>
            <a:r>
              <a:rPr lang="es-PE" sz="1200" dirty="0">
                <a:latin typeface="Arial" pitchFamily="34" charset="0"/>
                <a:cs typeface="Arial" pitchFamily="34" charset="0"/>
              </a:rPr>
              <a:t>Responsabilidad T&amp;MC</a:t>
            </a:r>
          </a:p>
        </p:txBody>
      </p:sp>
      <p:sp>
        <p:nvSpPr>
          <p:cNvPr id="51" name="2 Rectángulo"/>
          <p:cNvSpPr>
            <a:spLocks noChangeArrowheads="1"/>
          </p:cNvSpPr>
          <p:nvPr/>
        </p:nvSpPr>
        <p:spPr bwMode="auto">
          <a:xfrm>
            <a:off x="214282" y="5597152"/>
            <a:ext cx="1000132" cy="216000"/>
          </a:xfrm>
          <a:prstGeom prst="rect">
            <a:avLst/>
          </a:prstGeom>
          <a:solidFill>
            <a:srgbClr val="6699FF"/>
          </a:solidFill>
          <a:ln>
            <a:headEnd/>
            <a:tailEnd/>
          </a:ln>
        </p:spPr>
        <p:style>
          <a:lnRef idx="0">
            <a:schemeClr val="accent1"/>
          </a:lnRef>
          <a:fillRef idx="3">
            <a:schemeClr val="accent1"/>
          </a:fillRef>
          <a:effectRef idx="3">
            <a:schemeClr val="accent1"/>
          </a:effectRef>
          <a:fontRef idx="minor">
            <a:schemeClr val="lt1"/>
          </a:fontRef>
        </p:style>
        <p:txBody>
          <a:bodyPr wrap="none" anchor="ctr"/>
          <a:lstStyle/>
          <a:p>
            <a:pPr algn="ctr"/>
            <a:endParaRPr lang="es-PE" sz="1200" b="1" dirty="0">
              <a:solidFill>
                <a:schemeClr val="bg1"/>
              </a:solidFill>
              <a:latin typeface="Calibri" pitchFamily="34" charset="0"/>
              <a:cs typeface="Calibri" pitchFamily="34" charset="0"/>
            </a:endParaRPr>
          </a:p>
        </p:txBody>
      </p:sp>
      <p:sp>
        <p:nvSpPr>
          <p:cNvPr id="52" name="51 CuadroTexto"/>
          <p:cNvSpPr txBox="1"/>
          <p:nvPr/>
        </p:nvSpPr>
        <p:spPr>
          <a:xfrm>
            <a:off x="1210334" y="5580893"/>
            <a:ext cx="2908288" cy="276999"/>
          </a:xfrm>
          <a:prstGeom prst="rect">
            <a:avLst/>
          </a:prstGeom>
          <a:noFill/>
        </p:spPr>
        <p:txBody>
          <a:bodyPr wrap="square" rtlCol="0">
            <a:spAutoFit/>
          </a:bodyPr>
          <a:lstStyle/>
          <a:p>
            <a:pPr algn="just" fontAlgn="base">
              <a:spcBef>
                <a:spcPct val="20000"/>
              </a:spcBef>
              <a:spcAft>
                <a:spcPct val="0"/>
              </a:spcAft>
            </a:pPr>
            <a:r>
              <a:rPr lang="es-PE" sz="1200" dirty="0">
                <a:latin typeface="Arial" pitchFamily="34" charset="0"/>
                <a:cs typeface="Arial" pitchFamily="34" charset="0"/>
              </a:rPr>
              <a:t>Responsabilidad Consultora MS</a:t>
            </a:r>
          </a:p>
        </p:txBody>
      </p:sp>
      <p:sp>
        <p:nvSpPr>
          <p:cNvPr id="53" name="2 Rectángulo"/>
          <p:cNvSpPr>
            <a:spLocks noChangeArrowheads="1"/>
          </p:cNvSpPr>
          <p:nvPr/>
        </p:nvSpPr>
        <p:spPr bwMode="auto">
          <a:xfrm>
            <a:off x="5929322" y="2200040"/>
            <a:ext cx="270000" cy="180000"/>
          </a:xfrm>
          <a:prstGeom prst="rect">
            <a:avLst/>
          </a:prstGeom>
          <a:solidFill>
            <a:srgbClr val="6699FF"/>
          </a:solidFill>
          <a:ln>
            <a:headEnd/>
            <a:tailEnd/>
          </a:ln>
        </p:spPr>
        <p:style>
          <a:lnRef idx="0">
            <a:schemeClr val="accent1"/>
          </a:lnRef>
          <a:fillRef idx="3">
            <a:schemeClr val="accent1"/>
          </a:fillRef>
          <a:effectRef idx="3">
            <a:schemeClr val="accent1"/>
          </a:effectRef>
          <a:fontRef idx="minor">
            <a:schemeClr val="lt1"/>
          </a:fontRef>
        </p:style>
        <p:txBody>
          <a:bodyPr wrap="none" anchor="ctr"/>
          <a:lstStyle/>
          <a:p>
            <a:pPr algn="ctr"/>
            <a:endParaRPr lang="es-PE" sz="1200" b="1" dirty="0">
              <a:solidFill>
                <a:schemeClr val="bg1"/>
              </a:solidFill>
              <a:latin typeface="Calibri" pitchFamily="34" charset="0"/>
              <a:cs typeface="Calibri" pitchFamily="34" charset="0"/>
            </a:endParaRPr>
          </a:p>
        </p:txBody>
      </p:sp>
      <p:sp>
        <p:nvSpPr>
          <p:cNvPr id="56" name="55 CuadroTexto"/>
          <p:cNvSpPr txBox="1"/>
          <p:nvPr/>
        </p:nvSpPr>
        <p:spPr>
          <a:xfrm>
            <a:off x="8156509" y="3571876"/>
            <a:ext cx="407958" cy="246221"/>
          </a:xfrm>
          <a:prstGeom prst="rect">
            <a:avLst/>
          </a:prstGeom>
          <a:noFill/>
        </p:spPr>
        <p:txBody>
          <a:bodyPr wrap="square" rtlCol="0">
            <a:spAutoFit/>
          </a:bodyPr>
          <a:lstStyle/>
          <a:p>
            <a:pPr algn="just" fontAlgn="base">
              <a:spcBef>
                <a:spcPct val="20000"/>
              </a:spcBef>
              <a:spcAft>
                <a:spcPct val="0"/>
              </a:spcAft>
            </a:pPr>
            <a:r>
              <a:rPr lang="es-PE" sz="1000" dirty="0">
                <a:latin typeface="Arial" pitchFamily="34" charset="0"/>
                <a:cs typeface="Arial" pitchFamily="34" charset="0"/>
              </a:rPr>
              <a:t>(2)</a:t>
            </a:r>
          </a:p>
        </p:txBody>
      </p:sp>
      <p:sp>
        <p:nvSpPr>
          <p:cNvPr id="57" name="56 CuadroTexto"/>
          <p:cNvSpPr txBox="1"/>
          <p:nvPr/>
        </p:nvSpPr>
        <p:spPr>
          <a:xfrm>
            <a:off x="8395648" y="4098836"/>
            <a:ext cx="407958" cy="246221"/>
          </a:xfrm>
          <a:prstGeom prst="rect">
            <a:avLst/>
          </a:prstGeom>
          <a:noFill/>
        </p:spPr>
        <p:txBody>
          <a:bodyPr wrap="square" rtlCol="0">
            <a:spAutoFit/>
          </a:bodyPr>
          <a:lstStyle/>
          <a:p>
            <a:pPr algn="just" fontAlgn="base">
              <a:spcBef>
                <a:spcPct val="20000"/>
              </a:spcBef>
              <a:spcAft>
                <a:spcPct val="0"/>
              </a:spcAft>
            </a:pPr>
            <a:r>
              <a:rPr lang="es-PE" sz="1000" dirty="0">
                <a:latin typeface="Arial" pitchFamily="34" charset="0"/>
                <a:cs typeface="Arial" pitchFamily="34" charset="0"/>
              </a:rPr>
              <a:t>(3)</a:t>
            </a:r>
          </a:p>
        </p:txBody>
      </p:sp>
      <p:sp>
        <p:nvSpPr>
          <p:cNvPr id="58" name="57 CuadroTexto"/>
          <p:cNvSpPr txBox="1"/>
          <p:nvPr/>
        </p:nvSpPr>
        <p:spPr>
          <a:xfrm>
            <a:off x="3957019" y="5130065"/>
            <a:ext cx="2571768" cy="400110"/>
          </a:xfrm>
          <a:prstGeom prst="rect">
            <a:avLst/>
          </a:prstGeom>
          <a:noFill/>
        </p:spPr>
        <p:txBody>
          <a:bodyPr wrap="square" rtlCol="0">
            <a:spAutoFit/>
          </a:bodyPr>
          <a:lstStyle/>
          <a:p>
            <a:pPr fontAlgn="base">
              <a:spcBef>
                <a:spcPct val="20000"/>
              </a:spcBef>
              <a:spcAft>
                <a:spcPct val="0"/>
              </a:spcAft>
            </a:pPr>
            <a:r>
              <a:rPr lang="es-PE" sz="1000" dirty="0">
                <a:latin typeface="Arial" pitchFamily="34" charset="0"/>
                <a:cs typeface="Arial" pitchFamily="34" charset="0"/>
              </a:rPr>
              <a:t>(2) Metodologías actualizadas, documentación de procesos actualizados</a:t>
            </a:r>
          </a:p>
        </p:txBody>
      </p:sp>
      <p:sp>
        <p:nvSpPr>
          <p:cNvPr id="59" name="58 CuadroTexto"/>
          <p:cNvSpPr txBox="1"/>
          <p:nvPr/>
        </p:nvSpPr>
        <p:spPr>
          <a:xfrm>
            <a:off x="3955887" y="5487255"/>
            <a:ext cx="2571768" cy="246221"/>
          </a:xfrm>
          <a:prstGeom prst="rect">
            <a:avLst/>
          </a:prstGeom>
          <a:noFill/>
        </p:spPr>
        <p:txBody>
          <a:bodyPr wrap="square" rtlCol="0">
            <a:spAutoFit/>
          </a:bodyPr>
          <a:lstStyle/>
          <a:p>
            <a:pPr fontAlgn="base">
              <a:spcBef>
                <a:spcPct val="20000"/>
              </a:spcBef>
              <a:spcAft>
                <a:spcPct val="0"/>
              </a:spcAft>
            </a:pPr>
            <a:r>
              <a:rPr lang="es-PE" sz="1000" dirty="0">
                <a:latin typeface="Arial" pitchFamily="34" charset="0"/>
                <a:cs typeface="Arial" pitchFamily="34" charset="0"/>
              </a:rPr>
              <a:t>(3) Matriz de oportunidades y mejoras</a:t>
            </a:r>
          </a:p>
        </p:txBody>
      </p:sp>
      <p:sp>
        <p:nvSpPr>
          <p:cNvPr id="73" name="2 Rectángulo"/>
          <p:cNvSpPr>
            <a:spLocks noChangeArrowheads="1"/>
          </p:cNvSpPr>
          <p:nvPr/>
        </p:nvSpPr>
        <p:spPr bwMode="auto">
          <a:xfrm>
            <a:off x="5677884" y="1785926"/>
            <a:ext cx="144000" cy="180000"/>
          </a:xfrm>
          <a:prstGeom prst="rect">
            <a:avLst/>
          </a:prstGeom>
          <a:solidFill>
            <a:srgbClr val="FFC000"/>
          </a:solidFill>
          <a:ln>
            <a:headEnd/>
            <a:tailEnd/>
          </a:ln>
        </p:spPr>
        <p:style>
          <a:lnRef idx="0">
            <a:schemeClr val="accent1"/>
          </a:lnRef>
          <a:fillRef idx="3">
            <a:schemeClr val="accent1"/>
          </a:fillRef>
          <a:effectRef idx="3">
            <a:schemeClr val="accent1"/>
          </a:effectRef>
          <a:fontRef idx="minor">
            <a:schemeClr val="lt1"/>
          </a:fontRef>
        </p:style>
        <p:txBody>
          <a:bodyPr wrap="none" anchor="ctr"/>
          <a:lstStyle/>
          <a:p>
            <a:pPr algn="ctr"/>
            <a:endParaRPr lang="es-PE" sz="1200" b="1" dirty="0">
              <a:solidFill>
                <a:schemeClr val="bg1"/>
              </a:solidFill>
              <a:latin typeface="Calibri" pitchFamily="34" charset="0"/>
              <a:cs typeface="Calibri" pitchFamily="34" charset="0"/>
            </a:endParaRPr>
          </a:p>
        </p:txBody>
      </p:sp>
      <p:sp>
        <p:nvSpPr>
          <p:cNvPr id="40" name="2 Rectángulo"/>
          <p:cNvSpPr>
            <a:spLocks noChangeArrowheads="1"/>
          </p:cNvSpPr>
          <p:nvPr/>
        </p:nvSpPr>
        <p:spPr bwMode="auto">
          <a:xfrm>
            <a:off x="8256624" y="4602168"/>
            <a:ext cx="144000" cy="180000"/>
          </a:xfrm>
          <a:prstGeom prst="rect">
            <a:avLst/>
          </a:prstGeom>
          <a:solidFill>
            <a:srgbClr val="FFC000"/>
          </a:solidFill>
          <a:ln>
            <a:headEnd/>
            <a:tailEnd/>
          </a:ln>
        </p:spPr>
        <p:style>
          <a:lnRef idx="0">
            <a:schemeClr val="accent1"/>
          </a:lnRef>
          <a:fillRef idx="3">
            <a:schemeClr val="accent1"/>
          </a:fillRef>
          <a:effectRef idx="3">
            <a:schemeClr val="accent1"/>
          </a:effectRef>
          <a:fontRef idx="minor">
            <a:schemeClr val="lt1"/>
          </a:fontRef>
        </p:style>
        <p:txBody>
          <a:bodyPr wrap="none" anchor="ctr"/>
          <a:lstStyle/>
          <a:p>
            <a:pPr algn="ctr"/>
            <a:endParaRPr lang="es-PE" sz="1200" b="1" dirty="0">
              <a:solidFill>
                <a:schemeClr val="bg1"/>
              </a:solidFill>
              <a:latin typeface="Calibri" pitchFamily="34" charset="0"/>
              <a:cs typeface="Calibri" pitchFamily="34" charset="0"/>
            </a:endParaRPr>
          </a:p>
        </p:txBody>
      </p:sp>
      <p:sp>
        <p:nvSpPr>
          <p:cNvPr id="37" name="36 CuadroTexto"/>
          <p:cNvSpPr txBox="1"/>
          <p:nvPr/>
        </p:nvSpPr>
        <p:spPr>
          <a:xfrm>
            <a:off x="8259882" y="5040167"/>
            <a:ext cx="1513645" cy="246221"/>
          </a:xfrm>
          <a:prstGeom prst="rect">
            <a:avLst/>
          </a:prstGeom>
          <a:noFill/>
        </p:spPr>
        <p:txBody>
          <a:bodyPr wrap="square" rtlCol="0">
            <a:spAutoFit/>
          </a:bodyPr>
          <a:lstStyle/>
          <a:p>
            <a:pPr fontAlgn="base">
              <a:spcBef>
                <a:spcPct val="20000"/>
              </a:spcBef>
              <a:spcAft>
                <a:spcPct val="0"/>
              </a:spcAft>
            </a:pPr>
            <a:r>
              <a:rPr lang="es-PE" sz="1000" dirty="0">
                <a:latin typeface="Arial" pitchFamily="34" charset="0"/>
                <a:cs typeface="Arial" pitchFamily="34" charset="0"/>
              </a:rPr>
              <a:t>Entregables</a:t>
            </a:r>
          </a:p>
        </p:txBody>
      </p:sp>
      <p:sp>
        <p:nvSpPr>
          <p:cNvPr id="54" name="53 CuadroTexto"/>
          <p:cNvSpPr txBox="1"/>
          <p:nvPr/>
        </p:nvSpPr>
        <p:spPr>
          <a:xfrm>
            <a:off x="8481419" y="4572008"/>
            <a:ext cx="407958" cy="246221"/>
          </a:xfrm>
          <a:prstGeom prst="rect">
            <a:avLst/>
          </a:prstGeom>
          <a:noFill/>
        </p:spPr>
        <p:txBody>
          <a:bodyPr wrap="square" rtlCol="0">
            <a:spAutoFit/>
          </a:bodyPr>
          <a:lstStyle/>
          <a:p>
            <a:pPr algn="just" fontAlgn="base">
              <a:spcBef>
                <a:spcPct val="20000"/>
              </a:spcBef>
              <a:spcAft>
                <a:spcPct val="0"/>
              </a:spcAft>
            </a:pPr>
            <a:r>
              <a:rPr lang="es-PE" sz="1000" dirty="0">
                <a:latin typeface="Arial" pitchFamily="34" charset="0"/>
                <a:cs typeface="Arial" pitchFamily="34" charset="0"/>
              </a:rPr>
              <a:t>(4)</a:t>
            </a:r>
          </a:p>
        </p:txBody>
      </p:sp>
      <p:sp>
        <p:nvSpPr>
          <p:cNvPr id="60" name="59 CuadroTexto"/>
          <p:cNvSpPr txBox="1"/>
          <p:nvPr/>
        </p:nvSpPr>
        <p:spPr>
          <a:xfrm>
            <a:off x="3949727" y="5717261"/>
            <a:ext cx="3064611" cy="246221"/>
          </a:xfrm>
          <a:prstGeom prst="rect">
            <a:avLst/>
          </a:prstGeom>
          <a:noFill/>
        </p:spPr>
        <p:txBody>
          <a:bodyPr wrap="square" rtlCol="0">
            <a:spAutoFit/>
          </a:bodyPr>
          <a:lstStyle/>
          <a:p>
            <a:pPr algn="just" fontAlgn="base">
              <a:spcBef>
                <a:spcPct val="20000"/>
              </a:spcBef>
              <a:spcAft>
                <a:spcPct val="0"/>
              </a:spcAft>
            </a:pPr>
            <a:r>
              <a:rPr lang="es-PE" sz="1000" dirty="0">
                <a:latin typeface="Arial" pitchFamily="34" charset="0"/>
                <a:cs typeface="Arial" pitchFamily="34" charset="0"/>
              </a:rPr>
              <a:t>(4) Acta de Cierre de Proyecto </a:t>
            </a:r>
          </a:p>
        </p:txBody>
      </p:sp>
      <p:sp>
        <p:nvSpPr>
          <p:cNvPr id="61" name="60 Triángulo isósceles"/>
          <p:cNvSpPr/>
          <p:nvPr/>
        </p:nvSpPr>
        <p:spPr bwMode="auto">
          <a:xfrm rot="10800000">
            <a:off x="6157083" y="2214554"/>
            <a:ext cx="230491" cy="144016"/>
          </a:xfrm>
          <a:prstGeom prst="triangle">
            <a:avLst/>
          </a:prstGeom>
          <a:solidFill>
            <a:srgbClr val="FF0000"/>
          </a:solidFill>
          <a:ln>
            <a:headEnd type="none" w="med" len="med"/>
            <a:tailEnd type="none" w="med" len="med"/>
          </a:ln>
        </p:spPr>
        <p:style>
          <a:lnRef idx="0">
            <a:schemeClr val="dk1"/>
          </a:lnRef>
          <a:fillRef idx="3">
            <a:schemeClr val="dk1"/>
          </a:fillRef>
          <a:effectRef idx="3">
            <a:schemeClr val="dk1"/>
          </a:effectRef>
          <a:fontRef idx="minor">
            <a:schemeClr val="lt1"/>
          </a:fontRef>
        </p:style>
        <p:txBody>
          <a:bodyPr wrap="none" anchor="ctr"/>
          <a:lstStyle/>
          <a:p>
            <a:pPr>
              <a:defRPr/>
            </a:pPr>
            <a:endParaRPr lang="es-PE" sz="1400">
              <a:solidFill>
                <a:schemeClr val="tx1"/>
              </a:solidFill>
              <a:latin typeface="Times New Roman" pitchFamily="18" charset="0"/>
            </a:endParaRPr>
          </a:p>
        </p:txBody>
      </p:sp>
      <p:sp>
        <p:nvSpPr>
          <p:cNvPr id="65" name="64 Triángulo isósceles"/>
          <p:cNvSpPr/>
          <p:nvPr/>
        </p:nvSpPr>
        <p:spPr bwMode="auto">
          <a:xfrm rot="10800000">
            <a:off x="7270467" y="2655489"/>
            <a:ext cx="230491" cy="144016"/>
          </a:xfrm>
          <a:prstGeom prst="triangle">
            <a:avLst/>
          </a:prstGeom>
          <a:solidFill>
            <a:srgbClr val="FF0000"/>
          </a:solidFill>
          <a:ln>
            <a:headEnd type="none" w="med" len="med"/>
            <a:tailEnd type="none" w="med" len="med"/>
          </a:ln>
        </p:spPr>
        <p:style>
          <a:lnRef idx="0">
            <a:schemeClr val="dk1"/>
          </a:lnRef>
          <a:fillRef idx="3">
            <a:schemeClr val="dk1"/>
          </a:fillRef>
          <a:effectRef idx="3">
            <a:schemeClr val="dk1"/>
          </a:effectRef>
          <a:fontRef idx="minor">
            <a:schemeClr val="lt1"/>
          </a:fontRef>
        </p:style>
        <p:txBody>
          <a:bodyPr wrap="none" anchor="ctr"/>
          <a:lstStyle/>
          <a:p>
            <a:pPr>
              <a:defRPr/>
            </a:pPr>
            <a:endParaRPr lang="es-PE" sz="1400">
              <a:solidFill>
                <a:schemeClr val="tx1"/>
              </a:solidFill>
              <a:latin typeface="Times New Roman" pitchFamily="18" charset="0"/>
            </a:endParaRPr>
          </a:p>
        </p:txBody>
      </p:sp>
      <p:sp>
        <p:nvSpPr>
          <p:cNvPr id="66" name="65 Triángulo isósceles"/>
          <p:cNvSpPr/>
          <p:nvPr/>
        </p:nvSpPr>
        <p:spPr bwMode="auto">
          <a:xfrm rot="10800000">
            <a:off x="7212476" y="3115214"/>
            <a:ext cx="230491" cy="144016"/>
          </a:xfrm>
          <a:prstGeom prst="triangle">
            <a:avLst/>
          </a:prstGeom>
          <a:solidFill>
            <a:srgbClr val="FF0000"/>
          </a:solidFill>
          <a:ln>
            <a:headEnd type="none" w="med" len="med"/>
            <a:tailEnd type="none" w="med" len="med"/>
          </a:ln>
        </p:spPr>
        <p:style>
          <a:lnRef idx="0">
            <a:schemeClr val="dk1"/>
          </a:lnRef>
          <a:fillRef idx="3">
            <a:schemeClr val="dk1"/>
          </a:fillRef>
          <a:effectRef idx="3">
            <a:schemeClr val="dk1"/>
          </a:effectRef>
          <a:fontRef idx="minor">
            <a:schemeClr val="lt1"/>
          </a:fontRef>
        </p:style>
        <p:txBody>
          <a:bodyPr wrap="none" anchor="ctr"/>
          <a:lstStyle/>
          <a:p>
            <a:pPr>
              <a:defRPr/>
            </a:pPr>
            <a:endParaRPr lang="es-PE" sz="1400">
              <a:solidFill>
                <a:schemeClr val="tx1"/>
              </a:solidFill>
              <a:latin typeface="Times New Roman" pitchFamily="18" charset="0"/>
            </a:endParaRPr>
          </a:p>
        </p:txBody>
      </p:sp>
      <p:sp>
        <p:nvSpPr>
          <p:cNvPr id="69" name="68 Triángulo isósceles"/>
          <p:cNvSpPr/>
          <p:nvPr/>
        </p:nvSpPr>
        <p:spPr bwMode="auto">
          <a:xfrm rot="10800000">
            <a:off x="8001024" y="3642174"/>
            <a:ext cx="230491" cy="144016"/>
          </a:xfrm>
          <a:prstGeom prst="triangle">
            <a:avLst/>
          </a:prstGeom>
          <a:solidFill>
            <a:srgbClr val="FF0000"/>
          </a:solidFill>
          <a:ln>
            <a:headEnd type="none" w="med" len="med"/>
            <a:tailEnd type="none" w="med" len="med"/>
          </a:ln>
        </p:spPr>
        <p:style>
          <a:lnRef idx="0">
            <a:schemeClr val="dk1"/>
          </a:lnRef>
          <a:fillRef idx="3">
            <a:schemeClr val="dk1"/>
          </a:fillRef>
          <a:effectRef idx="3">
            <a:schemeClr val="dk1"/>
          </a:effectRef>
          <a:fontRef idx="minor">
            <a:schemeClr val="lt1"/>
          </a:fontRef>
        </p:style>
        <p:txBody>
          <a:bodyPr wrap="none" anchor="ctr"/>
          <a:lstStyle/>
          <a:p>
            <a:pPr>
              <a:defRPr/>
            </a:pPr>
            <a:endParaRPr lang="es-PE" sz="1400">
              <a:solidFill>
                <a:schemeClr val="tx1"/>
              </a:solidFill>
              <a:latin typeface="Times New Roman" pitchFamily="18" charset="0"/>
            </a:endParaRPr>
          </a:p>
        </p:txBody>
      </p:sp>
      <p:sp>
        <p:nvSpPr>
          <p:cNvPr id="70" name="69 Triángulo isósceles"/>
          <p:cNvSpPr/>
          <p:nvPr/>
        </p:nvSpPr>
        <p:spPr bwMode="auto">
          <a:xfrm rot="10800000">
            <a:off x="8199161" y="4155687"/>
            <a:ext cx="230491" cy="144016"/>
          </a:xfrm>
          <a:prstGeom prst="triangle">
            <a:avLst/>
          </a:prstGeom>
          <a:solidFill>
            <a:srgbClr val="FF0000"/>
          </a:solidFill>
          <a:ln>
            <a:headEnd type="none" w="med" len="med"/>
            <a:tailEnd type="none" w="med" len="med"/>
          </a:ln>
        </p:spPr>
        <p:style>
          <a:lnRef idx="0">
            <a:schemeClr val="dk1"/>
          </a:lnRef>
          <a:fillRef idx="3">
            <a:schemeClr val="dk1"/>
          </a:fillRef>
          <a:effectRef idx="3">
            <a:schemeClr val="dk1"/>
          </a:effectRef>
          <a:fontRef idx="minor">
            <a:schemeClr val="lt1"/>
          </a:fontRef>
        </p:style>
        <p:txBody>
          <a:bodyPr wrap="none" anchor="ctr"/>
          <a:lstStyle/>
          <a:p>
            <a:pPr>
              <a:defRPr/>
            </a:pPr>
            <a:endParaRPr lang="es-PE" sz="1400">
              <a:solidFill>
                <a:schemeClr val="tx1"/>
              </a:solidFill>
              <a:latin typeface="Times New Roman" pitchFamily="18" charset="0"/>
            </a:endParaRPr>
          </a:p>
        </p:txBody>
      </p:sp>
      <p:sp>
        <p:nvSpPr>
          <p:cNvPr id="71" name="70 Triángulo isósceles"/>
          <p:cNvSpPr/>
          <p:nvPr/>
        </p:nvSpPr>
        <p:spPr bwMode="auto">
          <a:xfrm rot="10800000">
            <a:off x="8355484" y="4615411"/>
            <a:ext cx="230491" cy="144016"/>
          </a:xfrm>
          <a:prstGeom prst="triangle">
            <a:avLst/>
          </a:prstGeom>
          <a:solidFill>
            <a:srgbClr val="FF0000"/>
          </a:solidFill>
          <a:ln>
            <a:headEnd type="none" w="med" len="med"/>
            <a:tailEnd type="none" w="med" len="med"/>
          </a:ln>
        </p:spPr>
        <p:style>
          <a:lnRef idx="0">
            <a:schemeClr val="dk1"/>
          </a:lnRef>
          <a:fillRef idx="3">
            <a:schemeClr val="dk1"/>
          </a:fillRef>
          <a:effectRef idx="3">
            <a:schemeClr val="dk1"/>
          </a:effectRef>
          <a:fontRef idx="minor">
            <a:schemeClr val="lt1"/>
          </a:fontRef>
        </p:style>
        <p:txBody>
          <a:bodyPr wrap="none" anchor="ctr"/>
          <a:lstStyle/>
          <a:p>
            <a:pPr>
              <a:defRPr/>
            </a:pPr>
            <a:endParaRPr lang="es-PE" sz="1400">
              <a:solidFill>
                <a:schemeClr val="tx1"/>
              </a:solidFill>
              <a:latin typeface="Times New Roman" pitchFamily="18" charset="0"/>
            </a:endParaRPr>
          </a:p>
        </p:txBody>
      </p:sp>
      <p:sp>
        <p:nvSpPr>
          <p:cNvPr id="72" name="71 Triángulo isósceles"/>
          <p:cNvSpPr/>
          <p:nvPr/>
        </p:nvSpPr>
        <p:spPr bwMode="auto">
          <a:xfrm rot="10800000">
            <a:off x="8087382" y="5097827"/>
            <a:ext cx="230491" cy="144016"/>
          </a:xfrm>
          <a:prstGeom prst="triangle">
            <a:avLst/>
          </a:prstGeom>
          <a:solidFill>
            <a:srgbClr val="FF0000"/>
          </a:solidFill>
          <a:ln>
            <a:headEnd type="none" w="med" len="med"/>
            <a:tailEnd type="none" w="med" len="med"/>
          </a:ln>
        </p:spPr>
        <p:style>
          <a:lnRef idx="0">
            <a:schemeClr val="dk1"/>
          </a:lnRef>
          <a:fillRef idx="3">
            <a:schemeClr val="dk1"/>
          </a:fillRef>
          <a:effectRef idx="3">
            <a:schemeClr val="dk1"/>
          </a:effectRef>
          <a:fontRef idx="minor">
            <a:schemeClr val="lt1"/>
          </a:fontRef>
        </p:style>
        <p:txBody>
          <a:bodyPr wrap="none" anchor="ctr"/>
          <a:lstStyle/>
          <a:p>
            <a:pPr>
              <a:defRPr/>
            </a:pPr>
            <a:endParaRPr lang="es-PE" sz="1400">
              <a:solidFill>
                <a:schemeClr val="tx1"/>
              </a:solidFill>
              <a:latin typeface="Times New Roman" pitchFamily="18" charset="0"/>
            </a:endParaRPr>
          </a:p>
        </p:txBody>
      </p:sp>
      <p:sp>
        <p:nvSpPr>
          <p:cNvPr id="75" name="74 CuadroTexto"/>
          <p:cNvSpPr txBox="1"/>
          <p:nvPr/>
        </p:nvSpPr>
        <p:spPr>
          <a:xfrm>
            <a:off x="2955820" y="3040713"/>
            <a:ext cx="642942" cy="276999"/>
          </a:xfrm>
          <a:prstGeom prst="rect">
            <a:avLst/>
          </a:prstGeom>
          <a:solidFill>
            <a:schemeClr val="bg1"/>
          </a:solidFill>
        </p:spPr>
        <p:txBody>
          <a:bodyPr wrap="square" rtlCol="0">
            <a:spAutoFit/>
          </a:bodyPr>
          <a:lstStyle/>
          <a:p>
            <a:r>
              <a:rPr lang="es-PE" sz="1200" b="1" dirty="0">
                <a:latin typeface="Arial" pitchFamily="34" charset="0"/>
                <a:cs typeface="Arial" pitchFamily="34" charset="0"/>
              </a:rPr>
              <a:t>08.02</a:t>
            </a:r>
          </a:p>
        </p:txBody>
      </p:sp>
    </p:spTree>
    <p:extLst>
      <p:ext uri="{BB962C8B-B14F-4D97-AF65-F5344CB8AC3E}">
        <p14:creationId xmlns:p14="http://schemas.microsoft.com/office/powerpoint/2010/main" val="34490246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61"/>
                                        </p:tgtEl>
                                        <p:attrNameLst>
                                          <p:attrName>style.visibility</p:attrName>
                                        </p:attrNameLst>
                                      </p:cBhvr>
                                      <p:to>
                                        <p:strVal val="visible"/>
                                      </p:to>
                                    </p:set>
                                    <p:animEffect transition="in" filter="wipe(down)">
                                      <p:cBhvr>
                                        <p:cTn id="7" dur="500"/>
                                        <p:tgtEl>
                                          <p:spTgt spid="61"/>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45"/>
                                        </p:tgtEl>
                                        <p:attrNameLst>
                                          <p:attrName>style.visibility</p:attrName>
                                        </p:attrNameLst>
                                      </p:cBhvr>
                                      <p:to>
                                        <p:strVal val="visible"/>
                                      </p:to>
                                    </p:set>
                                    <p:animEffect transition="in" filter="wipe(down)">
                                      <p:cBhvr>
                                        <p:cTn id="10" dur="500"/>
                                        <p:tgtEl>
                                          <p:spTgt spid="45"/>
                                        </p:tgtEl>
                                      </p:cBhvr>
                                    </p:animEffect>
                                  </p:childTnLst>
                                </p:cTn>
                              </p:par>
                              <p:par>
                                <p:cTn id="11" presetID="22" presetClass="entr" presetSubtype="4" fill="hold" grpId="0" nodeType="withEffect">
                                  <p:stCondLst>
                                    <p:cond delay="0"/>
                                  </p:stCondLst>
                                  <p:childTnLst>
                                    <p:set>
                                      <p:cBhvr>
                                        <p:cTn id="12" dur="1" fill="hold">
                                          <p:stCondLst>
                                            <p:cond delay="0"/>
                                          </p:stCondLst>
                                        </p:cTn>
                                        <p:tgtEl>
                                          <p:spTgt spid="72"/>
                                        </p:tgtEl>
                                        <p:attrNameLst>
                                          <p:attrName>style.visibility</p:attrName>
                                        </p:attrNameLst>
                                      </p:cBhvr>
                                      <p:to>
                                        <p:strVal val="visible"/>
                                      </p:to>
                                    </p:set>
                                    <p:animEffect transition="in" filter="wipe(down)">
                                      <p:cBhvr>
                                        <p:cTn id="13" dur="500"/>
                                        <p:tgtEl>
                                          <p:spTgt spid="72"/>
                                        </p:tgtEl>
                                      </p:cBhvr>
                                    </p:animEffect>
                                  </p:childTnLst>
                                </p:cTn>
                              </p:par>
                              <p:par>
                                <p:cTn id="14" presetID="22" presetClass="entr" presetSubtype="4" fill="hold" grpId="0" nodeType="withEffect">
                                  <p:stCondLst>
                                    <p:cond delay="0"/>
                                  </p:stCondLst>
                                  <p:childTnLst>
                                    <p:set>
                                      <p:cBhvr>
                                        <p:cTn id="15" dur="1" fill="hold">
                                          <p:stCondLst>
                                            <p:cond delay="0"/>
                                          </p:stCondLst>
                                        </p:cTn>
                                        <p:tgtEl>
                                          <p:spTgt spid="37"/>
                                        </p:tgtEl>
                                        <p:attrNameLst>
                                          <p:attrName>style.visibility</p:attrName>
                                        </p:attrNameLst>
                                      </p:cBhvr>
                                      <p:to>
                                        <p:strVal val="visible"/>
                                      </p:to>
                                    </p:set>
                                    <p:animEffect transition="in" filter="wipe(down)">
                                      <p:cBhvr>
                                        <p:cTn id="16" dur="500"/>
                                        <p:tgtEl>
                                          <p:spTgt spid="37"/>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4" fill="hold" grpId="0" nodeType="clickEffect">
                                  <p:stCondLst>
                                    <p:cond delay="0"/>
                                  </p:stCondLst>
                                  <p:childTnLst>
                                    <p:set>
                                      <p:cBhvr>
                                        <p:cTn id="20" dur="1" fill="hold">
                                          <p:stCondLst>
                                            <p:cond delay="0"/>
                                          </p:stCondLst>
                                        </p:cTn>
                                        <p:tgtEl>
                                          <p:spTgt spid="65"/>
                                        </p:tgtEl>
                                        <p:attrNameLst>
                                          <p:attrName>style.visibility</p:attrName>
                                        </p:attrNameLst>
                                      </p:cBhvr>
                                      <p:to>
                                        <p:strVal val="visible"/>
                                      </p:to>
                                    </p:set>
                                    <p:animEffect transition="in" filter="wipe(down)">
                                      <p:cBhvr>
                                        <p:cTn id="21" dur="500"/>
                                        <p:tgtEl>
                                          <p:spTgt spid="65"/>
                                        </p:tgtEl>
                                      </p:cBhvr>
                                    </p:animEffect>
                                  </p:childTnLst>
                                </p:cTn>
                              </p:par>
                              <p:par>
                                <p:cTn id="22" presetID="22" presetClass="entr" presetSubtype="4" fill="hold" grpId="0" nodeType="withEffect">
                                  <p:stCondLst>
                                    <p:cond delay="0"/>
                                  </p:stCondLst>
                                  <p:childTnLst>
                                    <p:set>
                                      <p:cBhvr>
                                        <p:cTn id="23" dur="1" fill="hold">
                                          <p:stCondLst>
                                            <p:cond delay="0"/>
                                          </p:stCondLst>
                                        </p:cTn>
                                        <p:tgtEl>
                                          <p:spTgt spid="46"/>
                                        </p:tgtEl>
                                        <p:attrNameLst>
                                          <p:attrName>style.visibility</p:attrName>
                                        </p:attrNameLst>
                                      </p:cBhvr>
                                      <p:to>
                                        <p:strVal val="visible"/>
                                      </p:to>
                                    </p:set>
                                    <p:animEffect transition="in" filter="wipe(down)">
                                      <p:cBhvr>
                                        <p:cTn id="24" dur="500"/>
                                        <p:tgtEl>
                                          <p:spTgt spid="46"/>
                                        </p:tgtEl>
                                      </p:cBhvr>
                                    </p:animEffect>
                                  </p:childTnLst>
                                </p:cTn>
                              </p:par>
                              <p:par>
                                <p:cTn id="25" presetID="22" presetClass="entr" presetSubtype="4" fill="hold" grpId="0" nodeType="withEffect">
                                  <p:stCondLst>
                                    <p:cond delay="0"/>
                                  </p:stCondLst>
                                  <p:childTnLst>
                                    <p:set>
                                      <p:cBhvr>
                                        <p:cTn id="26" dur="1" fill="hold">
                                          <p:stCondLst>
                                            <p:cond delay="0"/>
                                          </p:stCondLst>
                                        </p:cTn>
                                        <p:tgtEl>
                                          <p:spTgt spid="47"/>
                                        </p:tgtEl>
                                        <p:attrNameLst>
                                          <p:attrName>style.visibility</p:attrName>
                                        </p:attrNameLst>
                                      </p:cBhvr>
                                      <p:to>
                                        <p:strVal val="visible"/>
                                      </p:to>
                                    </p:set>
                                    <p:animEffect transition="in" filter="wipe(down)">
                                      <p:cBhvr>
                                        <p:cTn id="27" dur="500"/>
                                        <p:tgtEl>
                                          <p:spTgt spid="47"/>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grpId="0" nodeType="clickEffect">
                                  <p:stCondLst>
                                    <p:cond delay="0"/>
                                  </p:stCondLst>
                                  <p:childTnLst>
                                    <p:set>
                                      <p:cBhvr>
                                        <p:cTn id="31" dur="1" fill="hold">
                                          <p:stCondLst>
                                            <p:cond delay="0"/>
                                          </p:stCondLst>
                                        </p:cTn>
                                        <p:tgtEl>
                                          <p:spTgt spid="66"/>
                                        </p:tgtEl>
                                        <p:attrNameLst>
                                          <p:attrName>style.visibility</p:attrName>
                                        </p:attrNameLst>
                                      </p:cBhvr>
                                      <p:to>
                                        <p:strVal val="visible"/>
                                      </p:to>
                                    </p:set>
                                    <p:animEffect transition="in" filter="wipe(down)">
                                      <p:cBhvr>
                                        <p:cTn id="32" dur="500"/>
                                        <p:tgtEl>
                                          <p:spTgt spid="66"/>
                                        </p:tgtEl>
                                      </p:cBhvr>
                                    </p:animEffect>
                                  </p:childTnLst>
                                </p:cTn>
                              </p:par>
                              <p:par>
                                <p:cTn id="33" presetID="22" presetClass="entr" presetSubtype="4" fill="hold" grpId="0" nodeType="withEffect">
                                  <p:stCondLst>
                                    <p:cond delay="0"/>
                                  </p:stCondLst>
                                  <p:childTnLst>
                                    <p:set>
                                      <p:cBhvr>
                                        <p:cTn id="34" dur="1" fill="hold">
                                          <p:stCondLst>
                                            <p:cond delay="0"/>
                                          </p:stCondLst>
                                        </p:cTn>
                                        <p:tgtEl>
                                          <p:spTgt spid="48"/>
                                        </p:tgtEl>
                                        <p:attrNameLst>
                                          <p:attrName>style.visibility</p:attrName>
                                        </p:attrNameLst>
                                      </p:cBhvr>
                                      <p:to>
                                        <p:strVal val="visible"/>
                                      </p:to>
                                    </p:set>
                                    <p:animEffect transition="in" filter="wipe(down)">
                                      <p:cBhvr>
                                        <p:cTn id="35" dur="500"/>
                                        <p:tgtEl>
                                          <p:spTgt spid="48"/>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4" fill="hold" grpId="0" nodeType="clickEffect">
                                  <p:stCondLst>
                                    <p:cond delay="0"/>
                                  </p:stCondLst>
                                  <p:childTnLst>
                                    <p:set>
                                      <p:cBhvr>
                                        <p:cTn id="39" dur="1" fill="hold">
                                          <p:stCondLst>
                                            <p:cond delay="0"/>
                                          </p:stCondLst>
                                        </p:cTn>
                                        <p:tgtEl>
                                          <p:spTgt spid="75"/>
                                        </p:tgtEl>
                                        <p:attrNameLst>
                                          <p:attrName>style.visibility</p:attrName>
                                        </p:attrNameLst>
                                      </p:cBhvr>
                                      <p:to>
                                        <p:strVal val="visible"/>
                                      </p:to>
                                    </p:set>
                                    <p:animEffect transition="in" filter="wipe(down)">
                                      <p:cBhvr>
                                        <p:cTn id="40" dur="500"/>
                                        <p:tgtEl>
                                          <p:spTgt spid="75"/>
                                        </p:tgtEl>
                                      </p:cBhvr>
                                    </p:animEffect>
                                  </p:childTnLst>
                                </p:cTn>
                              </p:par>
                            </p:childTnLst>
                          </p:cTn>
                        </p:par>
                      </p:childTnLst>
                    </p:cTn>
                  </p:par>
                  <p:par>
                    <p:cTn id="41" fill="hold">
                      <p:stCondLst>
                        <p:cond delay="indefinite"/>
                      </p:stCondLst>
                      <p:childTnLst>
                        <p:par>
                          <p:cTn id="42" fill="hold">
                            <p:stCondLst>
                              <p:cond delay="0"/>
                            </p:stCondLst>
                            <p:childTnLst>
                              <p:par>
                                <p:cTn id="43" presetID="22" presetClass="entr" presetSubtype="4" fill="hold" grpId="0" nodeType="clickEffect">
                                  <p:stCondLst>
                                    <p:cond delay="0"/>
                                  </p:stCondLst>
                                  <p:childTnLst>
                                    <p:set>
                                      <p:cBhvr>
                                        <p:cTn id="44" dur="1" fill="hold">
                                          <p:stCondLst>
                                            <p:cond delay="0"/>
                                          </p:stCondLst>
                                        </p:cTn>
                                        <p:tgtEl>
                                          <p:spTgt spid="69"/>
                                        </p:tgtEl>
                                        <p:attrNameLst>
                                          <p:attrName>style.visibility</p:attrName>
                                        </p:attrNameLst>
                                      </p:cBhvr>
                                      <p:to>
                                        <p:strVal val="visible"/>
                                      </p:to>
                                    </p:set>
                                    <p:animEffect transition="in" filter="wipe(down)">
                                      <p:cBhvr>
                                        <p:cTn id="45" dur="500"/>
                                        <p:tgtEl>
                                          <p:spTgt spid="69"/>
                                        </p:tgtEl>
                                      </p:cBhvr>
                                    </p:animEffect>
                                  </p:childTnLst>
                                </p:cTn>
                              </p:par>
                              <p:par>
                                <p:cTn id="46" presetID="22" presetClass="entr" presetSubtype="4" fill="hold" grpId="0" nodeType="withEffect">
                                  <p:stCondLst>
                                    <p:cond delay="0"/>
                                  </p:stCondLst>
                                  <p:childTnLst>
                                    <p:set>
                                      <p:cBhvr>
                                        <p:cTn id="47" dur="1" fill="hold">
                                          <p:stCondLst>
                                            <p:cond delay="0"/>
                                          </p:stCondLst>
                                        </p:cTn>
                                        <p:tgtEl>
                                          <p:spTgt spid="56"/>
                                        </p:tgtEl>
                                        <p:attrNameLst>
                                          <p:attrName>style.visibility</p:attrName>
                                        </p:attrNameLst>
                                      </p:cBhvr>
                                      <p:to>
                                        <p:strVal val="visible"/>
                                      </p:to>
                                    </p:set>
                                    <p:animEffect transition="in" filter="wipe(down)">
                                      <p:cBhvr>
                                        <p:cTn id="48" dur="500"/>
                                        <p:tgtEl>
                                          <p:spTgt spid="56"/>
                                        </p:tgtEl>
                                      </p:cBhvr>
                                    </p:animEffect>
                                  </p:childTnLst>
                                </p:cTn>
                              </p:par>
                              <p:par>
                                <p:cTn id="49" presetID="22" presetClass="entr" presetSubtype="4" fill="hold" grpId="0" nodeType="withEffect">
                                  <p:stCondLst>
                                    <p:cond delay="0"/>
                                  </p:stCondLst>
                                  <p:childTnLst>
                                    <p:set>
                                      <p:cBhvr>
                                        <p:cTn id="50" dur="1" fill="hold">
                                          <p:stCondLst>
                                            <p:cond delay="0"/>
                                          </p:stCondLst>
                                        </p:cTn>
                                        <p:tgtEl>
                                          <p:spTgt spid="58"/>
                                        </p:tgtEl>
                                        <p:attrNameLst>
                                          <p:attrName>style.visibility</p:attrName>
                                        </p:attrNameLst>
                                      </p:cBhvr>
                                      <p:to>
                                        <p:strVal val="visible"/>
                                      </p:to>
                                    </p:set>
                                    <p:animEffect transition="in" filter="wipe(down)">
                                      <p:cBhvr>
                                        <p:cTn id="51" dur="500"/>
                                        <p:tgtEl>
                                          <p:spTgt spid="58"/>
                                        </p:tgtEl>
                                      </p:cBhvr>
                                    </p:animEffect>
                                  </p:childTnLst>
                                </p:cTn>
                              </p:par>
                            </p:childTnLst>
                          </p:cTn>
                        </p:par>
                      </p:childTnLst>
                    </p:cTn>
                  </p:par>
                  <p:par>
                    <p:cTn id="52" fill="hold">
                      <p:stCondLst>
                        <p:cond delay="indefinite"/>
                      </p:stCondLst>
                      <p:childTnLst>
                        <p:par>
                          <p:cTn id="53" fill="hold">
                            <p:stCondLst>
                              <p:cond delay="0"/>
                            </p:stCondLst>
                            <p:childTnLst>
                              <p:par>
                                <p:cTn id="54" presetID="22" presetClass="entr" presetSubtype="4" fill="hold" grpId="0" nodeType="clickEffect">
                                  <p:stCondLst>
                                    <p:cond delay="0"/>
                                  </p:stCondLst>
                                  <p:childTnLst>
                                    <p:set>
                                      <p:cBhvr>
                                        <p:cTn id="55" dur="1" fill="hold">
                                          <p:stCondLst>
                                            <p:cond delay="0"/>
                                          </p:stCondLst>
                                        </p:cTn>
                                        <p:tgtEl>
                                          <p:spTgt spid="70"/>
                                        </p:tgtEl>
                                        <p:attrNameLst>
                                          <p:attrName>style.visibility</p:attrName>
                                        </p:attrNameLst>
                                      </p:cBhvr>
                                      <p:to>
                                        <p:strVal val="visible"/>
                                      </p:to>
                                    </p:set>
                                    <p:animEffect transition="in" filter="wipe(down)">
                                      <p:cBhvr>
                                        <p:cTn id="56" dur="500"/>
                                        <p:tgtEl>
                                          <p:spTgt spid="70"/>
                                        </p:tgtEl>
                                      </p:cBhvr>
                                    </p:animEffect>
                                  </p:childTnLst>
                                </p:cTn>
                              </p:par>
                              <p:par>
                                <p:cTn id="57" presetID="22" presetClass="entr" presetSubtype="4" fill="hold" grpId="0" nodeType="withEffect">
                                  <p:stCondLst>
                                    <p:cond delay="0"/>
                                  </p:stCondLst>
                                  <p:childTnLst>
                                    <p:set>
                                      <p:cBhvr>
                                        <p:cTn id="58" dur="1" fill="hold">
                                          <p:stCondLst>
                                            <p:cond delay="0"/>
                                          </p:stCondLst>
                                        </p:cTn>
                                        <p:tgtEl>
                                          <p:spTgt spid="57"/>
                                        </p:tgtEl>
                                        <p:attrNameLst>
                                          <p:attrName>style.visibility</p:attrName>
                                        </p:attrNameLst>
                                      </p:cBhvr>
                                      <p:to>
                                        <p:strVal val="visible"/>
                                      </p:to>
                                    </p:set>
                                    <p:animEffect transition="in" filter="wipe(down)">
                                      <p:cBhvr>
                                        <p:cTn id="59" dur="500"/>
                                        <p:tgtEl>
                                          <p:spTgt spid="57"/>
                                        </p:tgtEl>
                                      </p:cBhvr>
                                    </p:animEffect>
                                  </p:childTnLst>
                                </p:cTn>
                              </p:par>
                              <p:par>
                                <p:cTn id="60" presetID="22" presetClass="entr" presetSubtype="4" fill="hold" grpId="0" nodeType="withEffect">
                                  <p:stCondLst>
                                    <p:cond delay="0"/>
                                  </p:stCondLst>
                                  <p:childTnLst>
                                    <p:set>
                                      <p:cBhvr>
                                        <p:cTn id="61" dur="1" fill="hold">
                                          <p:stCondLst>
                                            <p:cond delay="0"/>
                                          </p:stCondLst>
                                        </p:cTn>
                                        <p:tgtEl>
                                          <p:spTgt spid="59"/>
                                        </p:tgtEl>
                                        <p:attrNameLst>
                                          <p:attrName>style.visibility</p:attrName>
                                        </p:attrNameLst>
                                      </p:cBhvr>
                                      <p:to>
                                        <p:strVal val="visible"/>
                                      </p:to>
                                    </p:set>
                                    <p:animEffect transition="in" filter="wipe(down)">
                                      <p:cBhvr>
                                        <p:cTn id="62" dur="500"/>
                                        <p:tgtEl>
                                          <p:spTgt spid="59"/>
                                        </p:tgtEl>
                                      </p:cBhvr>
                                    </p:animEffect>
                                  </p:childTnLst>
                                </p:cTn>
                              </p:par>
                            </p:childTnLst>
                          </p:cTn>
                        </p:par>
                      </p:childTnLst>
                    </p:cTn>
                  </p:par>
                  <p:par>
                    <p:cTn id="63" fill="hold">
                      <p:stCondLst>
                        <p:cond delay="indefinite"/>
                      </p:stCondLst>
                      <p:childTnLst>
                        <p:par>
                          <p:cTn id="64" fill="hold">
                            <p:stCondLst>
                              <p:cond delay="0"/>
                            </p:stCondLst>
                            <p:childTnLst>
                              <p:par>
                                <p:cTn id="65" presetID="22" presetClass="entr" presetSubtype="4" fill="hold" grpId="0" nodeType="clickEffect">
                                  <p:stCondLst>
                                    <p:cond delay="0"/>
                                  </p:stCondLst>
                                  <p:childTnLst>
                                    <p:set>
                                      <p:cBhvr>
                                        <p:cTn id="66" dur="1" fill="hold">
                                          <p:stCondLst>
                                            <p:cond delay="0"/>
                                          </p:stCondLst>
                                        </p:cTn>
                                        <p:tgtEl>
                                          <p:spTgt spid="54"/>
                                        </p:tgtEl>
                                        <p:attrNameLst>
                                          <p:attrName>style.visibility</p:attrName>
                                        </p:attrNameLst>
                                      </p:cBhvr>
                                      <p:to>
                                        <p:strVal val="visible"/>
                                      </p:to>
                                    </p:set>
                                    <p:animEffect transition="in" filter="wipe(down)">
                                      <p:cBhvr>
                                        <p:cTn id="67" dur="500"/>
                                        <p:tgtEl>
                                          <p:spTgt spid="54"/>
                                        </p:tgtEl>
                                      </p:cBhvr>
                                    </p:animEffect>
                                  </p:childTnLst>
                                </p:cTn>
                              </p:par>
                              <p:par>
                                <p:cTn id="68" presetID="22" presetClass="entr" presetSubtype="4" fill="hold" grpId="0" nodeType="withEffect">
                                  <p:stCondLst>
                                    <p:cond delay="0"/>
                                  </p:stCondLst>
                                  <p:childTnLst>
                                    <p:set>
                                      <p:cBhvr>
                                        <p:cTn id="69" dur="1" fill="hold">
                                          <p:stCondLst>
                                            <p:cond delay="0"/>
                                          </p:stCondLst>
                                        </p:cTn>
                                        <p:tgtEl>
                                          <p:spTgt spid="71"/>
                                        </p:tgtEl>
                                        <p:attrNameLst>
                                          <p:attrName>style.visibility</p:attrName>
                                        </p:attrNameLst>
                                      </p:cBhvr>
                                      <p:to>
                                        <p:strVal val="visible"/>
                                      </p:to>
                                    </p:set>
                                    <p:animEffect transition="in" filter="wipe(down)">
                                      <p:cBhvr>
                                        <p:cTn id="70" dur="500"/>
                                        <p:tgtEl>
                                          <p:spTgt spid="71"/>
                                        </p:tgtEl>
                                      </p:cBhvr>
                                    </p:animEffect>
                                  </p:childTnLst>
                                </p:cTn>
                              </p:par>
                              <p:par>
                                <p:cTn id="71" presetID="22" presetClass="entr" presetSubtype="4" fill="hold" grpId="0" nodeType="withEffect">
                                  <p:stCondLst>
                                    <p:cond delay="0"/>
                                  </p:stCondLst>
                                  <p:childTnLst>
                                    <p:set>
                                      <p:cBhvr>
                                        <p:cTn id="72" dur="1" fill="hold">
                                          <p:stCondLst>
                                            <p:cond delay="0"/>
                                          </p:stCondLst>
                                        </p:cTn>
                                        <p:tgtEl>
                                          <p:spTgt spid="60"/>
                                        </p:tgtEl>
                                        <p:attrNameLst>
                                          <p:attrName>style.visibility</p:attrName>
                                        </p:attrNameLst>
                                      </p:cBhvr>
                                      <p:to>
                                        <p:strVal val="visible"/>
                                      </p:to>
                                    </p:set>
                                    <p:animEffect transition="in" filter="wipe(down)">
                                      <p:cBhvr>
                                        <p:cTn id="73" dur="500"/>
                                        <p:tgtEl>
                                          <p:spTgt spid="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 grpId="0" animBg="1"/>
      <p:bldP spid="46" grpId="0" animBg="1"/>
      <p:bldP spid="47" grpId="0"/>
      <p:bldP spid="48" grpId="0" animBg="1"/>
      <p:bldP spid="56" grpId="0"/>
      <p:bldP spid="57" grpId="0"/>
      <p:bldP spid="58" grpId="0"/>
      <p:bldP spid="59" grpId="0"/>
      <p:bldP spid="37" grpId="0"/>
      <p:bldP spid="54" grpId="0"/>
      <p:bldP spid="60" grpId="0"/>
      <p:bldP spid="61" grpId="0" animBg="1"/>
      <p:bldP spid="65" grpId="0" animBg="1"/>
      <p:bldP spid="66" grpId="0" animBg="1"/>
      <p:bldP spid="69" grpId="0" animBg="1"/>
      <p:bldP spid="70" grpId="0" animBg="1"/>
      <p:bldP spid="71" grpId="0" animBg="1"/>
      <p:bldP spid="72" grpId="0" animBg="1"/>
      <p:bldP spid="75"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AutoShape 5"/>
          <p:cNvSpPr>
            <a:spLocks noChangeArrowheads="1"/>
          </p:cNvSpPr>
          <p:nvPr/>
        </p:nvSpPr>
        <p:spPr bwMode="auto">
          <a:xfrm>
            <a:off x="467544" y="836712"/>
            <a:ext cx="8136906" cy="1332000"/>
          </a:xfrm>
          <a:prstGeom prst="roundRect">
            <a:avLst>
              <a:gd name="adj" fmla="val 16667"/>
            </a:avLst>
          </a:prstGeom>
          <a:solidFill>
            <a:schemeClr val="accent1">
              <a:lumMod val="20000"/>
              <a:lumOff val="80000"/>
            </a:schemeClr>
          </a:solidFill>
          <a:ln w="9525" algn="ctr">
            <a:noFill/>
            <a:round/>
            <a:headEnd/>
            <a:tailEnd/>
          </a:ln>
          <a:effectLst/>
        </p:spPr>
        <p:txBody>
          <a:bodyPr wrap="none" anchor="ctr"/>
          <a:lstStyle/>
          <a:p>
            <a:endParaRPr lang="en-US" dirty="0"/>
          </a:p>
        </p:txBody>
      </p:sp>
      <p:sp>
        <p:nvSpPr>
          <p:cNvPr id="2" name="1 Título"/>
          <p:cNvSpPr>
            <a:spLocks noGrp="1"/>
          </p:cNvSpPr>
          <p:nvPr>
            <p:ph type="title"/>
          </p:nvPr>
        </p:nvSpPr>
        <p:spPr/>
        <p:txBody>
          <a:bodyPr/>
          <a:lstStyle/>
          <a:p>
            <a:r>
              <a:rPr lang="es-PE" dirty="0"/>
              <a:t>Objetivos de la Presentación</a:t>
            </a:r>
          </a:p>
        </p:txBody>
      </p:sp>
      <p:sp>
        <p:nvSpPr>
          <p:cNvPr id="24" name="Rectangle 29"/>
          <p:cNvSpPr txBox="1">
            <a:spLocks noChangeArrowheads="1"/>
          </p:cNvSpPr>
          <p:nvPr/>
        </p:nvSpPr>
        <p:spPr bwMode="gray">
          <a:xfrm>
            <a:off x="673226" y="963523"/>
            <a:ext cx="7725542" cy="1078379"/>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lgn="ctr" fontAlgn="base">
              <a:spcBef>
                <a:spcPct val="0"/>
              </a:spcBef>
              <a:spcAft>
                <a:spcPct val="0"/>
              </a:spcAft>
              <a:defRPr/>
            </a:pPr>
            <a:r>
              <a:rPr lang="es-ES_tradnl" b="1" dirty="0">
                <a:latin typeface="+mj-lt"/>
                <a:sym typeface="Wingdings" pitchFamily="2" charset="2"/>
              </a:rPr>
              <a:t>Durante los últimos meses MS, como parte del  proyecto GIR, ha colaborado con </a:t>
            </a:r>
            <a:r>
              <a:rPr lang="es-ES_tradnl" b="1" dirty="0" err="1">
                <a:latin typeface="+mj-lt"/>
                <a:sym typeface="Wingdings" pitchFamily="2" charset="2"/>
              </a:rPr>
              <a:t>Rimac</a:t>
            </a:r>
            <a:r>
              <a:rPr lang="es-ES_tradnl" b="1" dirty="0">
                <a:latin typeface="+mj-lt"/>
                <a:sym typeface="Wingdings" pitchFamily="2" charset="2"/>
              </a:rPr>
              <a:t> en el </a:t>
            </a:r>
            <a:r>
              <a:rPr lang="es-ES_tradnl" b="1" dirty="0" err="1">
                <a:latin typeface="+mj-lt"/>
                <a:sym typeface="Wingdings" pitchFamily="2" charset="2"/>
              </a:rPr>
              <a:t>workstream</a:t>
            </a:r>
            <a:r>
              <a:rPr lang="es-ES_tradnl" b="1" dirty="0">
                <a:latin typeface="+mj-lt"/>
                <a:sym typeface="Wingdings" pitchFamily="2" charset="2"/>
              </a:rPr>
              <a:t> del proyecto ROCI en la identificación y valoración del riesgo operacional con foco en dos procesos: i) Administración de Fondos y </a:t>
            </a:r>
          </a:p>
          <a:p>
            <a:pPr lvl="0" algn="ctr" fontAlgn="base">
              <a:spcBef>
                <a:spcPct val="0"/>
              </a:spcBef>
              <a:spcAft>
                <a:spcPct val="0"/>
              </a:spcAft>
              <a:defRPr/>
            </a:pPr>
            <a:r>
              <a:rPr lang="es-ES_tradnl" b="1" dirty="0" err="1">
                <a:latin typeface="+mj-lt"/>
                <a:sym typeface="Wingdings" pitchFamily="2" charset="2"/>
              </a:rPr>
              <a:t>ii</a:t>
            </a:r>
            <a:r>
              <a:rPr lang="es-ES_tradnl" b="1" dirty="0">
                <a:latin typeface="+mj-lt"/>
                <a:sym typeface="Wingdings" pitchFamily="2" charset="2"/>
              </a:rPr>
              <a:t>) </a:t>
            </a:r>
            <a:r>
              <a:rPr lang="es-ES_tradnl" b="1" dirty="0">
                <a:sym typeface="Wingdings" pitchFamily="2" charset="2"/>
              </a:rPr>
              <a:t>Suscripción Vehicular</a:t>
            </a:r>
            <a:r>
              <a:rPr lang="es-ES_tradnl" b="1" dirty="0">
                <a:latin typeface="+mj-lt"/>
                <a:sym typeface="Wingdings" pitchFamily="2" charset="2"/>
              </a:rPr>
              <a:t> </a:t>
            </a:r>
          </a:p>
        </p:txBody>
      </p:sp>
      <p:sp>
        <p:nvSpPr>
          <p:cNvPr id="33" name="Text Box 100"/>
          <p:cNvSpPr txBox="1">
            <a:spLocks noChangeArrowheads="1"/>
          </p:cNvSpPr>
          <p:nvPr/>
        </p:nvSpPr>
        <p:spPr bwMode="blackWhite">
          <a:xfrm>
            <a:off x="773997" y="5589240"/>
            <a:ext cx="7524000" cy="338554"/>
          </a:xfrm>
          <a:prstGeom prst="rect">
            <a:avLst/>
          </a:prstGeom>
          <a:noFill/>
          <a:ln w="12700" algn="ctr">
            <a:noFill/>
            <a:miter lim="800000"/>
            <a:headEnd/>
            <a:tailEnd/>
          </a:ln>
        </p:spPr>
        <p:txBody>
          <a:bodyPr wrap="square">
            <a:spAutoFit/>
          </a:bodyPr>
          <a:lstStyle/>
          <a:p>
            <a:pPr marL="261938" indent="-261938" algn="just">
              <a:spcBef>
                <a:spcPct val="20000"/>
              </a:spcBef>
              <a:buClr>
                <a:schemeClr val="tx1"/>
              </a:buClr>
              <a:buFont typeface="Webdings" pitchFamily="18" charset="2"/>
              <a:buChar char="4"/>
            </a:pPr>
            <a:r>
              <a:rPr lang="es-CL" sz="1600" b="0" dirty="0"/>
              <a:t>Proponer </a:t>
            </a:r>
            <a:r>
              <a:rPr lang="es-CL" sz="1600" b="1" dirty="0"/>
              <a:t>próximos pasos</a:t>
            </a:r>
            <a:r>
              <a:rPr lang="es-CL" sz="1600" b="0" dirty="0"/>
              <a:t> </a:t>
            </a:r>
            <a:r>
              <a:rPr lang="es-CL" sz="1600" dirty="0"/>
              <a:t> para dar cumplimiento</a:t>
            </a:r>
            <a:r>
              <a:rPr lang="es-CL" sz="1600" b="0" dirty="0"/>
              <a:t> al </a:t>
            </a:r>
            <a:r>
              <a:rPr lang="es-CL" sz="1600" b="1" dirty="0"/>
              <a:t>Plan Director del GIR.</a:t>
            </a:r>
          </a:p>
        </p:txBody>
      </p:sp>
      <p:sp>
        <p:nvSpPr>
          <p:cNvPr id="34" name="Text Box 100"/>
          <p:cNvSpPr txBox="1">
            <a:spLocks noChangeArrowheads="1"/>
          </p:cNvSpPr>
          <p:nvPr/>
        </p:nvSpPr>
        <p:spPr bwMode="blackWhite">
          <a:xfrm>
            <a:off x="773997" y="3090446"/>
            <a:ext cx="7524000" cy="338554"/>
          </a:xfrm>
          <a:prstGeom prst="rect">
            <a:avLst/>
          </a:prstGeom>
          <a:noFill/>
          <a:ln w="12700" algn="ctr">
            <a:noFill/>
            <a:miter lim="800000"/>
            <a:headEnd/>
            <a:tailEnd/>
          </a:ln>
        </p:spPr>
        <p:txBody>
          <a:bodyPr wrap="square">
            <a:spAutoFit/>
          </a:bodyPr>
          <a:lstStyle/>
          <a:p>
            <a:pPr marL="261938" indent="-261938" algn="just">
              <a:spcBef>
                <a:spcPct val="20000"/>
              </a:spcBef>
              <a:buClr>
                <a:schemeClr val="tx1"/>
              </a:buClr>
              <a:buFont typeface="Webdings" pitchFamily="18" charset="2"/>
              <a:buChar char="4"/>
            </a:pPr>
            <a:r>
              <a:rPr lang="es-CL" sz="1600" b="0" dirty="0"/>
              <a:t>Validar la práctica de </a:t>
            </a:r>
            <a:r>
              <a:rPr lang="es-CL" sz="1600" b="1" dirty="0"/>
              <a:t>RO de </a:t>
            </a:r>
            <a:r>
              <a:rPr lang="es-CL" sz="1600" b="1" dirty="0" err="1"/>
              <a:t>Rimac</a:t>
            </a:r>
            <a:r>
              <a:rPr lang="es-CL" sz="1600" b="0" dirty="0"/>
              <a:t> en el </a:t>
            </a:r>
            <a:r>
              <a:rPr lang="es-CL" sz="1600" b="1" dirty="0"/>
              <a:t>contexto internacional</a:t>
            </a:r>
            <a:r>
              <a:rPr lang="es-CL" sz="1600" b="0" dirty="0"/>
              <a:t>.</a:t>
            </a:r>
            <a:endParaRPr lang="es-CL" sz="1600" b="0" dirty="0">
              <a:solidFill>
                <a:srgbClr val="FF0000"/>
              </a:solidFill>
            </a:endParaRPr>
          </a:p>
        </p:txBody>
      </p:sp>
      <p:sp>
        <p:nvSpPr>
          <p:cNvPr id="35" name="Text Box 100"/>
          <p:cNvSpPr txBox="1">
            <a:spLocks noChangeArrowheads="1"/>
          </p:cNvSpPr>
          <p:nvPr/>
        </p:nvSpPr>
        <p:spPr bwMode="blackWhite">
          <a:xfrm>
            <a:off x="773997" y="3575918"/>
            <a:ext cx="7524000" cy="1077218"/>
          </a:xfrm>
          <a:prstGeom prst="rect">
            <a:avLst/>
          </a:prstGeom>
          <a:noFill/>
          <a:ln w="12700" algn="ctr">
            <a:noFill/>
            <a:miter lim="800000"/>
            <a:headEnd/>
            <a:tailEnd/>
          </a:ln>
        </p:spPr>
        <p:txBody>
          <a:bodyPr wrap="square">
            <a:spAutoFit/>
          </a:bodyPr>
          <a:lstStyle/>
          <a:p>
            <a:pPr marL="261938" indent="-261938" algn="just">
              <a:spcBef>
                <a:spcPct val="20000"/>
              </a:spcBef>
              <a:buClr>
                <a:schemeClr val="tx1"/>
              </a:buClr>
              <a:buFont typeface="Webdings" pitchFamily="18" charset="2"/>
              <a:buChar char="4"/>
            </a:pPr>
            <a:r>
              <a:rPr lang="es-CL" sz="1600" b="0" dirty="0"/>
              <a:t>Presentar al Comité de GIR y equipo participante del </a:t>
            </a:r>
            <a:r>
              <a:rPr lang="es-CL" sz="1600" b="0" dirty="0" err="1"/>
              <a:t>workstream</a:t>
            </a:r>
            <a:r>
              <a:rPr lang="es-CL" sz="1600" b="0" dirty="0"/>
              <a:t> de ROCI: </a:t>
            </a:r>
            <a:r>
              <a:rPr lang="es-CL" sz="1600" b="1" dirty="0"/>
              <a:t>i)</a:t>
            </a:r>
            <a:r>
              <a:rPr lang="es-CL" sz="1600" b="0" dirty="0"/>
              <a:t> la </a:t>
            </a:r>
            <a:r>
              <a:rPr lang="es-CL" sz="1600" b="1" dirty="0"/>
              <a:t>aproximación metodológica</a:t>
            </a:r>
            <a:r>
              <a:rPr lang="es-CL" sz="1600" b="0" dirty="0"/>
              <a:t> y </a:t>
            </a:r>
            <a:r>
              <a:rPr lang="es-CL" sz="1600" b="1" dirty="0"/>
              <a:t>ii)</a:t>
            </a:r>
            <a:r>
              <a:rPr lang="es-CL" sz="1600" b="0" dirty="0"/>
              <a:t> los </a:t>
            </a:r>
            <a:r>
              <a:rPr lang="es-CL" sz="1600" b="1" dirty="0"/>
              <a:t>resultados finales</a:t>
            </a:r>
            <a:r>
              <a:rPr lang="es-CL" sz="1600" b="0" dirty="0"/>
              <a:t> obtenidos en el proyecto en términos de </a:t>
            </a:r>
            <a:r>
              <a:rPr lang="es-CL" sz="1600" b="1" dirty="0"/>
              <a:t>identificación y medición cualitativa de riesgos</a:t>
            </a:r>
            <a:r>
              <a:rPr lang="es-CL" sz="1600" b="0" dirty="0"/>
              <a:t>, resultados que han sido validados con cada una de las áreas intervinientes.</a:t>
            </a:r>
            <a:endParaRPr lang="es-CL" sz="1600" b="0" dirty="0">
              <a:solidFill>
                <a:srgbClr val="FF0000"/>
              </a:solidFill>
            </a:endParaRPr>
          </a:p>
        </p:txBody>
      </p:sp>
      <p:sp>
        <p:nvSpPr>
          <p:cNvPr id="37" name="Text Box 100"/>
          <p:cNvSpPr txBox="1">
            <a:spLocks noChangeArrowheads="1"/>
          </p:cNvSpPr>
          <p:nvPr/>
        </p:nvSpPr>
        <p:spPr bwMode="blackWhite">
          <a:xfrm>
            <a:off x="773997" y="4788441"/>
            <a:ext cx="7524000" cy="584775"/>
          </a:xfrm>
          <a:prstGeom prst="rect">
            <a:avLst/>
          </a:prstGeom>
          <a:noFill/>
          <a:ln w="12700" algn="ctr">
            <a:noFill/>
            <a:miter lim="800000"/>
            <a:headEnd/>
            <a:tailEnd/>
          </a:ln>
        </p:spPr>
        <p:txBody>
          <a:bodyPr wrap="square">
            <a:spAutoFit/>
          </a:bodyPr>
          <a:lstStyle/>
          <a:p>
            <a:pPr marL="261938" indent="-261938" algn="just">
              <a:spcBef>
                <a:spcPct val="20000"/>
              </a:spcBef>
              <a:buClr>
                <a:schemeClr val="tx1"/>
              </a:buClr>
              <a:buFont typeface="Webdings" pitchFamily="18" charset="2"/>
              <a:buChar char="4"/>
            </a:pPr>
            <a:r>
              <a:rPr lang="es-CL" sz="1600" b="0" dirty="0"/>
              <a:t>Realizar una </a:t>
            </a:r>
            <a:r>
              <a:rPr lang="es-CL" sz="1600" b="1" dirty="0"/>
              <a:t>demo práctica</a:t>
            </a:r>
            <a:r>
              <a:rPr lang="es-CL" sz="1600" b="0" dirty="0"/>
              <a:t> de cómo </a:t>
            </a:r>
            <a:r>
              <a:rPr lang="es-CL" sz="1600" b="0" dirty="0" err="1"/>
              <a:t>Rimac</a:t>
            </a:r>
            <a:r>
              <a:rPr lang="es-CL" sz="1600" b="0" dirty="0"/>
              <a:t> va a </a:t>
            </a:r>
            <a:r>
              <a:rPr lang="es-CL" sz="1600" b="1" dirty="0"/>
              <a:t>“sistematizar” la gestión del riesgo operacional</a:t>
            </a:r>
            <a:r>
              <a:rPr lang="es-CL" sz="1600" b="0" dirty="0"/>
              <a:t> </a:t>
            </a:r>
            <a:r>
              <a:rPr lang="es-CL" sz="1600" dirty="0"/>
              <a:t>como parte de la estrategia </a:t>
            </a:r>
            <a:r>
              <a:rPr lang="es-CL" sz="1600" b="1" dirty="0"/>
              <a:t>de mejora continua</a:t>
            </a:r>
            <a:r>
              <a:rPr lang="es-CL" sz="1600" b="0" dirty="0"/>
              <a:t>.</a:t>
            </a:r>
            <a:endParaRPr lang="es-CL" sz="1600" b="0" dirty="0">
              <a:solidFill>
                <a:srgbClr val="FF0000"/>
              </a:solidFill>
            </a:endParaRPr>
          </a:p>
        </p:txBody>
      </p:sp>
      <p:sp>
        <p:nvSpPr>
          <p:cNvPr id="15" name="Text Box 100"/>
          <p:cNvSpPr txBox="1">
            <a:spLocks noChangeArrowheads="1"/>
          </p:cNvSpPr>
          <p:nvPr/>
        </p:nvSpPr>
        <p:spPr bwMode="blackWhite">
          <a:xfrm>
            <a:off x="467544" y="2564904"/>
            <a:ext cx="5580000" cy="338554"/>
          </a:xfrm>
          <a:prstGeom prst="rect">
            <a:avLst/>
          </a:prstGeom>
          <a:noFill/>
          <a:ln w="12700" algn="ctr">
            <a:noFill/>
            <a:miter lim="800000"/>
            <a:headEnd/>
            <a:tailEnd/>
          </a:ln>
        </p:spPr>
        <p:txBody>
          <a:bodyPr>
            <a:spAutoFit/>
          </a:bodyPr>
          <a:lstStyle/>
          <a:p>
            <a:pPr marL="6350" indent="-6350" algn="just">
              <a:spcBef>
                <a:spcPct val="20000"/>
              </a:spcBef>
              <a:buClr>
                <a:schemeClr val="tx1"/>
              </a:buClr>
            </a:pPr>
            <a:r>
              <a:rPr lang="es-CL" sz="1600" b="0" dirty="0"/>
              <a:t>Bajo este contexto, los objetivos de la presentación son:</a:t>
            </a:r>
            <a:endParaRPr lang="es-CL" sz="1600" b="0" dirty="0">
              <a:solidFill>
                <a:srgbClr val="FF0000"/>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PE" dirty="0"/>
              <a:t>Agenda</a:t>
            </a:r>
          </a:p>
        </p:txBody>
      </p:sp>
      <p:sp>
        <p:nvSpPr>
          <p:cNvPr id="26" name="Rounded Rectangle 3">
            <a:hlinkClick r:id="rId2" action="ppaction://hlinksldjump"/>
          </p:cNvPr>
          <p:cNvSpPr/>
          <p:nvPr/>
        </p:nvSpPr>
        <p:spPr>
          <a:xfrm>
            <a:off x="899592" y="1198493"/>
            <a:ext cx="470426" cy="360040"/>
          </a:xfrm>
          <a:prstGeom prst="roundRect">
            <a:avLst/>
          </a:prstGeom>
          <a:solidFill>
            <a:srgbClr val="DB0613"/>
          </a:solidFill>
          <a:ln>
            <a:solidFill>
              <a:srgbClr val="A9A9A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400" b="1" dirty="0"/>
              <a:t>1</a:t>
            </a:r>
          </a:p>
        </p:txBody>
      </p:sp>
      <p:sp>
        <p:nvSpPr>
          <p:cNvPr id="27" name="Rounded Rectangle 4">
            <a:hlinkClick r:id="rId3" action="ppaction://hlinksldjump"/>
          </p:cNvPr>
          <p:cNvSpPr/>
          <p:nvPr/>
        </p:nvSpPr>
        <p:spPr>
          <a:xfrm>
            <a:off x="899592" y="1780135"/>
            <a:ext cx="470426" cy="360040"/>
          </a:xfrm>
          <a:prstGeom prst="roundRect">
            <a:avLst/>
          </a:prstGeom>
          <a:solidFill>
            <a:srgbClr val="DB0613"/>
          </a:solidFill>
          <a:ln>
            <a:solidFill>
              <a:srgbClr val="A9A9A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400" b="1" dirty="0"/>
              <a:t>2</a:t>
            </a:r>
          </a:p>
        </p:txBody>
      </p:sp>
      <p:sp>
        <p:nvSpPr>
          <p:cNvPr id="28" name="Rounded Rectangle 5">
            <a:hlinkClick r:id="rId4" action="ppaction://hlinksldjump"/>
          </p:cNvPr>
          <p:cNvSpPr>
            <a:spLocks noChangeAspect="1"/>
          </p:cNvSpPr>
          <p:nvPr/>
        </p:nvSpPr>
        <p:spPr>
          <a:xfrm>
            <a:off x="1603349" y="2284191"/>
            <a:ext cx="399819" cy="306000"/>
          </a:xfrm>
          <a:prstGeom prst="roundRect">
            <a:avLst/>
          </a:prstGeom>
          <a:solidFill>
            <a:srgbClr val="DB0613"/>
          </a:solidFill>
          <a:ln>
            <a:solidFill>
              <a:srgbClr val="A9A9A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PE" sz="1000" b="1" dirty="0"/>
              <a:t>2.1</a:t>
            </a:r>
            <a:endParaRPr lang="es-ES" sz="1000" b="1" dirty="0"/>
          </a:p>
        </p:txBody>
      </p:sp>
      <p:sp>
        <p:nvSpPr>
          <p:cNvPr id="29" name="Rounded Rectangle 7">
            <a:hlinkClick r:id="rId5" action="ppaction://hlinksldjump"/>
          </p:cNvPr>
          <p:cNvSpPr>
            <a:spLocks noChangeAspect="1"/>
          </p:cNvSpPr>
          <p:nvPr/>
        </p:nvSpPr>
        <p:spPr>
          <a:xfrm>
            <a:off x="1603349" y="2786506"/>
            <a:ext cx="399819" cy="306000"/>
          </a:xfrm>
          <a:prstGeom prst="roundRect">
            <a:avLst/>
          </a:prstGeom>
          <a:solidFill>
            <a:srgbClr val="DB0613"/>
          </a:solidFill>
          <a:ln>
            <a:solidFill>
              <a:srgbClr val="A9A9A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PE" sz="1000" b="1" dirty="0"/>
              <a:t>2.2</a:t>
            </a:r>
            <a:endParaRPr lang="es-ES" sz="1000" b="1" dirty="0"/>
          </a:p>
        </p:txBody>
      </p:sp>
      <p:sp>
        <p:nvSpPr>
          <p:cNvPr id="30" name="Rounded Rectangle 8">
            <a:hlinkClick r:id="rId6" action="ppaction://hlinksldjump"/>
          </p:cNvPr>
          <p:cNvSpPr/>
          <p:nvPr/>
        </p:nvSpPr>
        <p:spPr>
          <a:xfrm>
            <a:off x="899592" y="3362570"/>
            <a:ext cx="470426" cy="360040"/>
          </a:xfrm>
          <a:prstGeom prst="roundRect">
            <a:avLst/>
          </a:prstGeom>
          <a:solidFill>
            <a:srgbClr val="DB0613"/>
          </a:solidFill>
          <a:ln>
            <a:solidFill>
              <a:srgbClr val="A9A9A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PE" sz="1400" b="1" dirty="0"/>
              <a:t>3</a:t>
            </a:r>
            <a:endParaRPr lang="es-ES" sz="1400" b="1" dirty="0"/>
          </a:p>
        </p:txBody>
      </p:sp>
      <p:sp>
        <p:nvSpPr>
          <p:cNvPr id="31" name="Rounded Rectangle 9">
            <a:hlinkClick r:id="rId7" action="ppaction://hlinksldjump"/>
          </p:cNvPr>
          <p:cNvSpPr/>
          <p:nvPr/>
        </p:nvSpPr>
        <p:spPr>
          <a:xfrm>
            <a:off x="899592" y="3866626"/>
            <a:ext cx="470426" cy="360040"/>
          </a:xfrm>
          <a:prstGeom prst="roundRect">
            <a:avLst/>
          </a:prstGeom>
          <a:solidFill>
            <a:srgbClr val="DB0613"/>
          </a:solidFill>
          <a:ln>
            <a:solidFill>
              <a:srgbClr val="A9A9A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PE" sz="1400" b="1" dirty="0"/>
              <a:t>4</a:t>
            </a:r>
            <a:endParaRPr lang="es-ES" sz="1400" b="1" dirty="0"/>
          </a:p>
        </p:txBody>
      </p:sp>
      <p:sp>
        <p:nvSpPr>
          <p:cNvPr id="33" name="Rectangle 11"/>
          <p:cNvSpPr/>
          <p:nvPr/>
        </p:nvSpPr>
        <p:spPr>
          <a:xfrm>
            <a:off x="1303226" y="1056218"/>
            <a:ext cx="4720267" cy="646331"/>
          </a:xfrm>
          <a:prstGeom prst="rect">
            <a:avLst/>
          </a:prstGeom>
        </p:spPr>
        <p:txBody>
          <a:bodyPr wrap="none">
            <a:spAutoFit/>
          </a:bodyPr>
          <a:lstStyle/>
          <a:p>
            <a:pPr marL="468000" indent="-342900" algn="just">
              <a:lnSpc>
                <a:spcPct val="200000"/>
              </a:lnSpc>
            </a:pPr>
            <a:r>
              <a:rPr lang="es-PE" b="1" dirty="0">
                <a:solidFill>
                  <a:schemeClr val="bg1">
                    <a:lumMod val="50000"/>
                  </a:schemeClr>
                </a:solidFill>
                <a:cs typeface="Arial" pitchFamily="34" charset="0"/>
              </a:rPr>
              <a:t>Contexto Internacional del Riesgo Operacional</a:t>
            </a:r>
          </a:p>
        </p:txBody>
      </p:sp>
      <p:sp>
        <p:nvSpPr>
          <p:cNvPr id="34" name="Rectangle 12"/>
          <p:cNvSpPr/>
          <p:nvPr/>
        </p:nvSpPr>
        <p:spPr>
          <a:xfrm>
            <a:off x="1303226" y="1637860"/>
            <a:ext cx="3761735" cy="646331"/>
          </a:xfrm>
          <a:prstGeom prst="rect">
            <a:avLst/>
          </a:prstGeom>
        </p:spPr>
        <p:txBody>
          <a:bodyPr wrap="none">
            <a:spAutoFit/>
          </a:bodyPr>
          <a:lstStyle/>
          <a:p>
            <a:pPr marL="468000" indent="-342900" algn="just">
              <a:lnSpc>
                <a:spcPct val="200000"/>
              </a:lnSpc>
            </a:pPr>
            <a:r>
              <a:rPr lang="es-PE" b="1" dirty="0">
                <a:solidFill>
                  <a:schemeClr val="bg1">
                    <a:lumMod val="50000"/>
                  </a:schemeClr>
                </a:solidFill>
                <a:cs typeface="Arial" pitchFamily="34" charset="0"/>
              </a:rPr>
              <a:t>Resultados del Piloto ROCI en </a:t>
            </a:r>
            <a:r>
              <a:rPr lang="es-PE" b="1" dirty="0" err="1">
                <a:solidFill>
                  <a:schemeClr val="bg1">
                    <a:lumMod val="50000"/>
                  </a:schemeClr>
                </a:solidFill>
                <a:cs typeface="Arial" pitchFamily="34" charset="0"/>
              </a:rPr>
              <a:t>Rimac</a:t>
            </a:r>
            <a:endParaRPr lang="es-PE" b="1" dirty="0">
              <a:solidFill>
                <a:schemeClr val="bg1">
                  <a:lumMod val="50000"/>
                </a:schemeClr>
              </a:solidFill>
              <a:cs typeface="Arial" pitchFamily="34" charset="0"/>
            </a:endParaRPr>
          </a:p>
        </p:txBody>
      </p:sp>
      <p:sp>
        <p:nvSpPr>
          <p:cNvPr id="35" name="Rectangle 13"/>
          <p:cNvSpPr/>
          <p:nvPr/>
        </p:nvSpPr>
        <p:spPr>
          <a:xfrm>
            <a:off x="2006982" y="2140175"/>
            <a:ext cx="4797266" cy="568745"/>
          </a:xfrm>
          <a:prstGeom prst="rect">
            <a:avLst/>
          </a:prstGeom>
        </p:spPr>
        <p:txBody>
          <a:bodyPr wrap="square">
            <a:spAutoFit/>
          </a:bodyPr>
          <a:lstStyle/>
          <a:p>
            <a:pPr marL="468000" indent="-342900" algn="just">
              <a:lnSpc>
                <a:spcPct val="200000"/>
              </a:lnSpc>
            </a:pPr>
            <a:r>
              <a:rPr lang="es-PE" b="1" dirty="0">
                <a:solidFill>
                  <a:schemeClr val="bg1">
                    <a:lumMod val="50000"/>
                  </a:schemeClr>
                </a:solidFill>
                <a:cs typeface="Arial" pitchFamily="34" charset="0"/>
              </a:rPr>
              <a:t>Resumen Ejecutivo</a:t>
            </a:r>
          </a:p>
        </p:txBody>
      </p:sp>
      <p:sp>
        <p:nvSpPr>
          <p:cNvPr id="36" name="Rectangle 15"/>
          <p:cNvSpPr/>
          <p:nvPr/>
        </p:nvSpPr>
        <p:spPr>
          <a:xfrm>
            <a:off x="2006982" y="2605615"/>
            <a:ext cx="2437655" cy="568745"/>
          </a:xfrm>
          <a:prstGeom prst="rect">
            <a:avLst/>
          </a:prstGeom>
        </p:spPr>
        <p:txBody>
          <a:bodyPr wrap="none">
            <a:spAutoFit/>
          </a:bodyPr>
          <a:lstStyle/>
          <a:p>
            <a:pPr marL="468000" indent="-342900" algn="just">
              <a:lnSpc>
                <a:spcPct val="200000"/>
              </a:lnSpc>
            </a:pPr>
            <a:r>
              <a:rPr lang="es-PE" b="1" dirty="0">
                <a:solidFill>
                  <a:schemeClr val="bg1">
                    <a:lumMod val="50000"/>
                  </a:schemeClr>
                </a:solidFill>
                <a:cs typeface="Arial" pitchFamily="34" charset="0"/>
              </a:rPr>
              <a:t>Información Detallada</a:t>
            </a:r>
          </a:p>
        </p:txBody>
      </p:sp>
      <p:sp>
        <p:nvSpPr>
          <p:cNvPr id="37" name="Rectangle 16"/>
          <p:cNvSpPr/>
          <p:nvPr/>
        </p:nvSpPr>
        <p:spPr>
          <a:xfrm>
            <a:off x="1303226" y="3220295"/>
            <a:ext cx="4773486" cy="646331"/>
          </a:xfrm>
          <a:prstGeom prst="rect">
            <a:avLst/>
          </a:prstGeom>
        </p:spPr>
        <p:txBody>
          <a:bodyPr wrap="none">
            <a:spAutoFit/>
          </a:bodyPr>
          <a:lstStyle/>
          <a:p>
            <a:pPr marL="468000" indent="-342900" algn="just">
              <a:lnSpc>
                <a:spcPct val="200000"/>
              </a:lnSpc>
            </a:pPr>
            <a:r>
              <a:rPr lang="es-PE" b="1" dirty="0">
                <a:solidFill>
                  <a:schemeClr val="bg1">
                    <a:lumMod val="50000"/>
                  </a:schemeClr>
                </a:solidFill>
                <a:cs typeface="Arial" pitchFamily="34" charset="0"/>
              </a:rPr>
              <a:t>Demo Práctica: Gestión del Riesgo Operacional</a:t>
            </a:r>
          </a:p>
        </p:txBody>
      </p:sp>
      <p:sp>
        <p:nvSpPr>
          <p:cNvPr id="38" name="Rectangle 17"/>
          <p:cNvSpPr/>
          <p:nvPr/>
        </p:nvSpPr>
        <p:spPr>
          <a:xfrm>
            <a:off x="1303226" y="3724351"/>
            <a:ext cx="1788246" cy="568745"/>
          </a:xfrm>
          <a:prstGeom prst="rect">
            <a:avLst/>
          </a:prstGeom>
        </p:spPr>
        <p:txBody>
          <a:bodyPr wrap="none">
            <a:spAutoFit/>
          </a:bodyPr>
          <a:lstStyle/>
          <a:p>
            <a:pPr marL="468000" indent="-342900" algn="just">
              <a:lnSpc>
                <a:spcPct val="200000"/>
              </a:lnSpc>
            </a:pPr>
            <a:r>
              <a:rPr lang="es-PE" b="1" dirty="0">
                <a:solidFill>
                  <a:schemeClr val="bg1">
                    <a:lumMod val="50000"/>
                  </a:schemeClr>
                </a:solidFill>
                <a:cs typeface="Arial" pitchFamily="34" charset="0"/>
              </a:rPr>
              <a:t>Próximos Pasos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PE" dirty="0"/>
              <a:t>Agenda</a:t>
            </a:r>
          </a:p>
        </p:txBody>
      </p:sp>
      <p:sp>
        <p:nvSpPr>
          <p:cNvPr id="26" name="Rounded Rectangle 3">
            <a:hlinkClick r:id="rId2" action="ppaction://hlinksldjump"/>
          </p:cNvPr>
          <p:cNvSpPr/>
          <p:nvPr/>
        </p:nvSpPr>
        <p:spPr>
          <a:xfrm>
            <a:off x="899592" y="1198493"/>
            <a:ext cx="470426" cy="360040"/>
          </a:xfrm>
          <a:prstGeom prst="roundRect">
            <a:avLst/>
          </a:prstGeom>
          <a:solidFill>
            <a:srgbClr val="DB0613"/>
          </a:solidFill>
          <a:ln>
            <a:solidFill>
              <a:srgbClr val="A9A9A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400" b="1" dirty="0"/>
              <a:t>1</a:t>
            </a:r>
          </a:p>
        </p:txBody>
      </p:sp>
      <p:sp>
        <p:nvSpPr>
          <p:cNvPr id="27" name="Rounded Rectangle 4">
            <a:hlinkClick r:id="rId3" action="ppaction://hlinksldjump"/>
          </p:cNvPr>
          <p:cNvSpPr/>
          <p:nvPr/>
        </p:nvSpPr>
        <p:spPr>
          <a:xfrm>
            <a:off x="899592" y="1780135"/>
            <a:ext cx="470426" cy="360040"/>
          </a:xfrm>
          <a:prstGeom prst="roundRect">
            <a:avLst/>
          </a:prstGeom>
          <a:solidFill>
            <a:srgbClr val="DB0613">
              <a:alpha val="40000"/>
            </a:srgbClr>
          </a:solidFill>
          <a:ln>
            <a:solidFill>
              <a:srgbClr val="A9A9A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400" b="1" dirty="0"/>
              <a:t>2</a:t>
            </a:r>
          </a:p>
        </p:txBody>
      </p:sp>
      <p:sp>
        <p:nvSpPr>
          <p:cNvPr id="28" name="Rounded Rectangle 5">
            <a:hlinkClick r:id="rId4" action="ppaction://hlinksldjump"/>
          </p:cNvPr>
          <p:cNvSpPr>
            <a:spLocks noChangeAspect="1"/>
          </p:cNvSpPr>
          <p:nvPr/>
        </p:nvSpPr>
        <p:spPr>
          <a:xfrm>
            <a:off x="1603349" y="2284191"/>
            <a:ext cx="399819" cy="306000"/>
          </a:xfrm>
          <a:prstGeom prst="roundRect">
            <a:avLst/>
          </a:prstGeom>
          <a:solidFill>
            <a:srgbClr val="DB0613">
              <a:alpha val="40000"/>
            </a:srgbClr>
          </a:solidFill>
          <a:ln>
            <a:solidFill>
              <a:srgbClr val="A9A9A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PE" sz="1000" b="1" dirty="0">
                <a:solidFill>
                  <a:schemeClr val="bg1"/>
                </a:solidFill>
              </a:rPr>
              <a:t>2.1</a:t>
            </a:r>
            <a:endParaRPr lang="es-ES" sz="1000" b="1" dirty="0">
              <a:solidFill>
                <a:schemeClr val="bg1"/>
              </a:solidFill>
            </a:endParaRPr>
          </a:p>
        </p:txBody>
      </p:sp>
      <p:sp>
        <p:nvSpPr>
          <p:cNvPr id="29" name="Rounded Rectangle 7">
            <a:hlinkClick r:id="rId5" action="ppaction://hlinksldjump"/>
          </p:cNvPr>
          <p:cNvSpPr>
            <a:spLocks noChangeAspect="1"/>
          </p:cNvSpPr>
          <p:nvPr/>
        </p:nvSpPr>
        <p:spPr>
          <a:xfrm>
            <a:off x="1603349" y="2786506"/>
            <a:ext cx="399819" cy="306000"/>
          </a:xfrm>
          <a:prstGeom prst="roundRect">
            <a:avLst/>
          </a:prstGeom>
          <a:solidFill>
            <a:srgbClr val="DB0613">
              <a:alpha val="40000"/>
            </a:srgbClr>
          </a:solidFill>
          <a:ln>
            <a:solidFill>
              <a:srgbClr val="A9A9A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PE" sz="1000" b="1" dirty="0">
                <a:solidFill>
                  <a:schemeClr val="bg1"/>
                </a:solidFill>
              </a:rPr>
              <a:t>2.2</a:t>
            </a:r>
            <a:endParaRPr lang="es-ES" sz="1000" b="1" dirty="0">
              <a:solidFill>
                <a:schemeClr val="bg1"/>
              </a:solidFill>
            </a:endParaRPr>
          </a:p>
        </p:txBody>
      </p:sp>
      <p:sp>
        <p:nvSpPr>
          <p:cNvPr id="30" name="Rounded Rectangle 8">
            <a:hlinkClick r:id="rId6" action="ppaction://hlinksldjump"/>
          </p:cNvPr>
          <p:cNvSpPr/>
          <p:nvPr/>
        </p:nvSpPr>
        <p:spPr>
          <a:xfrm>
            <a:off x="899592" y="3362570"/>
            <a:ext cx="470426" cy="360040"/>
          </a:xfrm>
          <a:prstGeom prst="roundRect">
            <a:avLst/>
          </a:prstGeom>
          <a:solidFill>
            <a:srgbClr val="DB0613">
              <a:alpha val="40000"/>
            </a:srgbClr>
          </a:solidFill>
          <a:ln>
            <a:solidFill>
              <a:srgbClr val="A9A9A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PE" sz="1400" b="1" dirty="0"/>
              <a:t>3</a:t>
            </a:r>
            <a:endParaRPr lang="es-ES" sz="1400" b="1" dirty="0"/>
          </a:p>
        </p:txBody>
      </p:sp>
      <p:sp>
        <p:nvSpPr>
          <p:cNvPr id="31" name="Rounded Rectangle 9">
            <a:hlinkClick r:id="rId7" action="ppaction://hlinksldjump"/>
          </p:cNvPr>
          <p:cNvSpPr/>
          <p:nvPr/>
        </p:nvSpPr>
        <p:spPr>
          <a:xfrm>
            <a:off x="899592" y="3866626"/>
            <a:ext cx="470426" cy="360040"/>
          </a:xfrm>
          <a:prstGeom prst="roundRect">
            <a:avLst/>
          </a:prstGeom>
          <a:solidFill>
            <a:srgbClr val="DB0613">
              <a:alpha val="40000"/>
            </a:srgbClr>
          </a:solidFill>
          <a:ln>
            <a:solidFill>
              <a:srgbClr val="A9A9A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PE" sz="1400" b="1" dirty="0"/>
              <a:t>4</a:t>
            </a:r>
            <a:endParaRPr lang="es-ES" sz="1400" b="1" dirty="0"/>
          </a:p>
        </p:txBody>
      </p:sp>
      <p:sp>
        <p:nvSpPr>
          <p:cNvPr id="33" name="Rectangle 11"/>
          <p:cNvSpPr/>
          <p:nvPr/>
        </p:nvSpPr>
        <p:spPr>
          <a:xfrm>
            <a:off x="1303226" y="1056218"/>
            <a:ext cx="4720267" cy="646331"/>
          </a:xfrm>
          <a:prstGeom prst="rect">
            <a:avLst/>
          </a:prstGeom>
        </p:spPr>
        <p:txBody>
          <a:bodyPr wrap="none">
            <a:spAutoFit/>
          </a:bodyPr>
          <a:lstStyle/>
          <a:p>
            <a:pPr marL="468000" indent="-342900" algn="just">
              <a:lnSpc>
                <a:spcPct val="200000"/>
              </a:lnSpc>
            </a:pPr>
            <a:r>
              <a:rPr lang="es-PE" b="1" dirty="0">
                <a:solidFill>
                  <a:schemeClr val="bg1">
                    <a:lumMod val="50000"/>
                  </a:schemeClr>
                </a:solidFill>
                <a:cs typeface="Arial" pitchFamily="34" charset="0"/>
              </a:rPr>
              <a:t>Contexto Internacional del Riesgo Operacional</a:t>
            </a:r>
          </a:p>
        </p:txBody>
      </p:sp>
      <p:sp>
        <p:nvSpPr>
          <p:cNvPr id="34" name="Rectangle 12"/>
          <p:cNvSpPr/>
          <p:nvPr/>
        </p:nvSpPr>
        <p:spPr>
          <a:xfrm>
            <a:off x="1303226" y="1637860"/>
            <a:ext cx="3761735" cy="646331"/>
          </a:xfrm>
          <a:prstGeom prst="rect">
            <a:avLst/>
          </a:prstGeom>
        </p:spPr>
        <p:txBody>
          <a:bodyPr wrap="none">
            <a:spAutoFit/>
          </a:bodyPr>
          <a:lstStyle/>
          <a:p>
            <a:pPr marL="468000" indent="-342900" algn="just">
              <a:lnSpc>
                <a:spcPct val="200000"/>
              </a:lnSpc>
            </a:pPr>
            <a:r>
              <a:rPr lang="es-PE" b="1" dirty="0">
                <a:solidFill>
                  <a:schemeClr val="bg1">
                    <a:lumMod val="75000"/>
                  </a:schemeClr>
                </a:solidFill>
                <a:cs typeface="Arial" pitchFamily="34" charset="0"/>
              </a:rPr>
              <a:t>Resultados del Piloto ROCI en </a:t>
            </a:r>
            <a:r>
              <a:rPr lang="es-PE" b="1" dirty="0" err="1">
                <a:solidFill>
                  <a:schemeClr val="bg1">
                    <a:lumMod val="75000"/>
                  </a:schemeClr>
                </a:solidFill>
                <a:cs typeface="Arial" pitchFamily="34" charset="0"/>
              </a:rPr>
              <a:t>Rimac</a:t>
            </a:r>
            <a:endParaRPr lang="es-PE" b="1" dirty="0">
              <a:solidFill>
                <a:schemeClr val="bg1">
                  <a:lumMod val="75000"/>
                </a:schemeClr>
              </a:solidFill>
              <a:cs typeface="Arial" pitchFamily="34" charset="0"/>
            </a:endParaRPr>
          </a:p>
        </p:txBody>
      </p:sp>
      <p:sp>
        <p:nvSpPr>
          <p:cNvPr id="35" name="Rectangle 13"/>
          <p:cNvSpPr/>
          <p:nvPr/>
        </p:nvSpPr>
        <p:spPr>
          <a:xfrm>
            <a:off x="2006982" y="2140175"/>
            <a:ext cx="4797266" cy="646331"/>
          </a:xfrm>
          <a:prstGeom prst="rect">
            <a:avLst/>
          </a:prstGeom>
        </p:spPr>
        <p:txBody>
          <a:bodyPr wrap="square">
            <a:spAutoFit/>
          </a:bodyPr>
          <a:lstStyle/>
          <a:p>
            <a:pPr marL="468000" indent="-342900" algn="just">
              <a:lnSpc>
                <a:spcPct val="200000"/>
              </a:lnSpc>
            </a:pPr>
            <a:r>
              <a:rPr lang="es-PE" b="1" dirty="0">
                <a:solidFill>
                  <a:schemeClr val="bg1">
                    <a:lumMod val="75000"/>
                  </a:schemeClr>
                </a:solidFill>
                <a:cs typeface="Arial" pitchFamily="34" charset="0"/>
              </a:rPr>
              <a:t>Resumen Ejecutivo</a:t>
            </a:r>
          </a:p>
        </p:txBody>
      </p:sp>
      <p:sp>
        <p:nvSpPr>
          <p:cNvPr id="36" name="Rectangle 15"/>
          <p:cNvSpPr/>
          <p:nvPr/>
        </p:nvSpPr>
        <p:spPr>
          <a:xfrm>
            <a:off x="2006982" y="2605615"/>
            <a:ext cx="2437655" cy="646331"/>
          </a:xfrm>
          <a:prstGeom prst="rect">
            <a:avLst/>
          </a:prstGeom>
        </p:spPr>
        <p:txBody>
          <a:bodyPr wrap="none">
            <a:spAutoFit/>
          </a:bodyPr>
          <a:lstStyle/>
          <a:p>
            <a:pPr marL="468000" indent="-342900" algn="just">
              <a:lnSpc>
                <a:spcPct val="200000"/>
              </a:lnSpc>
            </a:pPr>
            <a:r>
              <a:rPr lang="es-PE" b="1" dirty="0">
                <a:solidFill>
                  <a:schemeClr val="bg1">
                    <a:lumMod val="75000"/>
                  </a:schemeClr>
                </a:solidFill>
                <a:cs typeface="Arial" pitchFamily="34" charset="0"/>
              </a:rPr>
              <a:t>Información Detallada</a:t>
            </a:r>
          </a:p>
        </p:txBody>
      </p:sp>
      <p:sp>
        <p:nvSpPr>
          <p:cNvPr id="37" name="Rectangle 16"/>
          <p:cNvSpPr/>
          <p:nvPr/>
        </p:nvSpPr>
        <p:spPr>
          <a:xfrm>
            <a:off x="1303226" y="3220295"/>
            <a:ext cx="4773486" cy="568745"/>
          </a:xfrm>
          <a:prstGeom prst="rect">
            <a:avLst/>
          </a:prstGeom>
        </p:spPr>
        <p:txBody>
          <a:bodyPr wrap="none">
            <a:spAutoFit/>
          </a:bodyPr>
          <a:lstStyle/>
          <a:p>
            <a:pPr marL="468000" indent="-342900" algn="just">
              <a:lnSpc>
                <a:spcPct val="200000"/>
              </a:lnSpc>
            </a:pPr>
            <a:r>
              <a:rPr lang="es-PE" b="1" dirty="0">
                <a:solidFill>
                  <a:schemeClr val="bg1">
                    <a:lumMod val="75000"/>
                  </a:schemeClr>
                </a:solidFill>
                <a:cs typeface="Arial" pitchFamily="34" charset="0"/>
              </a:rPr>
              <a:t>Demo Práctica: Gestión del Riesgo Operacional</a:t>
            </a:r>
          </a:p>
        </p:txBody>
      </p:sp>
      <p:sp>
        <p:nvSpPr>
          <p:cNvPr id="38" name="Rectangle 17"/>
          <p:cNvSpPr/>
          <p:nvPr/>
        </p:nvSpPr>
        <p:spPr>
          <a:xfrm>
            <a:off x="1303226" y="3724351"/>
            <a:ext cx="1788246" cy="646331"/>
          </a:xfrm>
          <a:prstGeom prst="rect">
            <a:avLst/>
          </a:prstGeom>
        </p:spPr>
        <p:txBody>
          <a:bodyPr wrap="none">
            <a:spAutoFit/>
          </a:bodyPr>
          <a:lstStyle/>
          <a:p>
            <a:pPr marL="468000" indent="-342900" algn="just">
              <a:lnSpc>
                <a:spcPct val="200000"/>
              </a:lnSpc>
            </a:pPr>
            <a:r>
              <a:rPr lang="es-PE" b="1" dirty="0">
                <a:solidFill>
                  <a:schemeClr val="bg1">
                    <a:lumMod val="75000"/>
                  </a:schemeClr>
                </a:solidFill>
                <a:cs typeface="Arial" pitchFamily="34" charset="0"/>
              </a:rPr>
              <a:t>Próximos Pasos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47625" y="32965"/>
            <a:ext cx="8217470" cy="587723"/>
          </a:xfrm>
        </p:spPr>
        <p:txBody>
          <a:bodyPr/>
          <a:lstStyle/>
          <a:p>
            <a:r>
              <a:rPr lang="es-PE" dirty="0"/>
              <a:t>          Contexto Internacional del Riesgo Operacional</a:t>
            </a:r>
          </a:p>
        </p:txBody>
      </p:sp>
      <p:sp>
        <p:nvSpPr>
          <p:cNvPr id="11" name="Rounded Rectangle 3">
            <a:hlinkClick r:id="rId2" action="ppaction://hlinksldjump"/>
          </p:cNvPr>
          <p:cNvSpPr/>
          <p:nvPr/>
        </p:nvSpPr>
        <p:spPr>
          <a:xfrm>
            <a:off x="217915" y="146806"/>
            <a:ext cx="470426" cy="360040"/>
          </a:xfrm>
          <a:prstGeom prst="roundRect">
            <a:avLst/>
          </a:prstGeom>
          <a:solidFill>
            <a:srgbClr val="DB0613"/>
          </a:solidFill>
          <a:ln>
            <a:solidFill>
              <a:srgbClr val="A9A9A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400" b="1" dirty="0"/>
              <a:t>1</a:t>
            </a:r>
          </a:p>
        </p:txBody>
      </p:sp>
      <p:sp>
        <p:nvSpPr>
          <p:cNvPr id="27" name="Text Box 100"/>
          <p:cNvSpPr txBox="1">
            <a:spLocks noChangeArrowheads="1"/>
          </p:cNvSpPr>
          <p:nvPr/>
        </p:nvSpPr>
        <p:spPr bwMode="blackWhite">
          <a:xfrm>
            <a:off x="323528" y="620688"/>
            <a:ext cx="7056784" cy="400110"/>
          </a:xfrm>
          <a:prstGeom prst="rect">
            <a:avLst/>
          </a:prstGeom>
          <a:noFill/>
          <a:ln w="12700" algn="ctr">
            <a:noFill/>
            <a:miter lim="800000"/>
            <a:headEnd/>
            <a:tailEnd/>
          </a:ln>
        </p:spPr>
        <p:txBody>
          <a:bodyPr wrap="square">
            <a:spAutoFit/>
          </a:bodyPr>
          <a:lstStyle/>
          <a:p>
            <a:pPr marL="6350" indent="-6350" algn="just">
              <a:spcBef>
                <a:spcPct val="20000"/>
              </a:spcBef>
              <a:buClr>
                <a:schemeClr val="tx1"/>
              </a:buClr>
            </a:pPr>
            <a:r>
              <a:rPr lang="es-CL" sz="2000" b="1" dirty="0"/>
              <a:t>1. Contexto Normativo Actual</a:t>
            </a:r>
            <a:endParaRPr lang="es-CL" sz="2000" b="1" dirty="0">
              <a:solidFill>
                <a:srgbClr val="FF0000"/>
              </a:solidFill>
            </a:endParaRPr>
          </a:p>
        </p:txBody>
      </p:sp>
      <p:sp>
        <p:nvSpPr>
          <p:cNvPr id="28" name="Text Box 100"/>
          <p:cNvSpPr txBox="1">
            <a:spLocks noChangeArrowheads="1"/>
          </p:cNvSpPr>
          <p:nvPr/>
        </p:nvSpPr>
        <p:spPr bwMode="blackWhite">
          <a:xfrm>
            <a:off x="323528" y="1012617"/>
            <a:ext cx="8496622" cy="1336263"/>
          </a:xfrm>
          <a:prstGeom prst="rect">
            <a:avLst/>
          </a:prstGeom>
          <a:noFill/>
          <a:ln w="12700" algn="ctr">
            <a:noFill/>
            <a:miter lim="800000"/>
            <a:headEnd/>
            <a:tailEnd/>
          </a:ln>
        </p:spPr>
        <p:txBody>
          <a:bodyPr wrap="square">
            <a:spAutoFit/>
          </a:bodyPr>
          <a:lstStyle/>
          <a:p>
            <a:pPr indent="-266400" algn="just">
              <a:lnSpc>
                <a:spcPts val="1675"/>
              </a:lnSpc>
              <a:spcBef>
                <a:spcPts val="1200"/>
              </a:spcBef>
              <a:buClr>
                <a:srgbClr val="77933C"/>
              </a:buClr>
            </a:pPr>
            <a:r>
              <a:rPr lang="es-ES" sz="1600" dirty="0">
                <a:cs typeface="Arial" charset="0"/>
              </a:rPr>
              <a:t>El riesgo operacional ha sido </a:t>
            </a:r>
            <a:r>
              <a:rPr lang="es-ES" sz="1600" b="1" dirty="0">
                <a:cs typeface="Arial" charset="0"/>
              </a:rPr>
              <a:t>gestionado</a:t>
            </a:r>
            <a:r>
              <a:rPr lang="es-ES" sz="1600" dirty="0">
                <a:cs typeface="Arial" charset="0"/>
              </a:rPr>
              <a:t> </a:t>
            </a:r>
            <a:r>
              <a:rPr lang="es-ES" sz="1600" b="1" dirty="0">
                <a:cs typeface="Arial" charset="0"/>
              </a:rPr>
              <a:t>tradicionalmente en todas las organizaciones empresariales </a:t>
            </a:r>
            <a:r>
              <a:rPr lang="es-ES" sz="1600" dirty="0">
                <a:cs typeface="Arial" charset="0"/>
              </a:rPr>
              <a:t>pero, sin duda, su incorporación a través de </a:t>
            </a:r>
            <a:r>
              <a:rPr lang="es-ES" sz="1600" b="1" dirty="0">
                <a:cs typeface="Arial" charset="0"/>
              </a:rPr>
              <a:t>requerimientos de capital  normativos     (en entidades financieras) ,</a:t>
            </a:r>
            <a:r>
              <a:rPr lang="es-ES" sz="1600" dirty="0">
                <a:cs typeface="Arial" charset="0"/>
              </a:rPr>
              <a:t> ha supuesto un </a:t>
            </a:r>
            <a:r>
              <a:rPr lang="es-ES" sz="1600" b="1" dirty="0">
                <a:cs typeface="Arial" charset="0"/>
              </a:rPr>
              <a:t>impulso muy significativo </a:t>
            </a:r>
            <a:r>
              <a:rPr lang="es-ES" sz="1600" dirty="0">
                <a:cs typeface="Arial" charset="0"/>
              </a:rPr>
              <a:t>en los procedimientos, metodologías y gestión activa del riesgo .</a:t>
            </a:r>
          </a:p>
          <a:p>
            <a:pPr indent="-266400" algn="just">
              <a:lnSpc>
                <a:spcPts val="1675"/>
              </a:lnSpc>
              <a:spcBef>
                <a:spcPts val="1200"/>
              </a:spcBef>
              <a:buClr>
                <a:srgbClr val="77933C"/>
              </a:buClr>
            </a:pPr>
            <a:r>
              <a:rPr lang="es-ES" sz="1600" dirty="0">
                <a:cs typeface="Arial" charset="0"/>
              </a:rPr>
              <a:t>Los requerimientos de capital  bajo riesgo operacional consideran </a:t>
            </a:r>
            <a:r>
              <a:rPr lang="es-ES" sz="1600" b="1" dirty="0">
                <a:cs typeface="Arial" charset="0"/>
              </a:rPr>
              <a:t>3 métodos </a:t>
            </a:r>
            <a:r>
              <a:rPr lang="es-ES" sz="1600" dirty="0">
                <a:cs typeface="Arial" charset="0"/>
              </a:rPr>
              <a:t>:</a:t>
            </a:r>
          </a:p>
        </p:txBody>
      </p:sp>
      <p:sp>
        <p:nvSpPr>
          <p:cNvPr id="29" name="Text Box 3"/>
          <p:cNvSpPr txBox="1">
            <a:spLocks noChangeArrowheads="1"/>
          </p:cNvSpPr>
          <p:nvPr/>
        </p:nvSpPr>
        <p:spPr bwMode="auto">
          <a:xfrm rot="16200000">
            <a:off x="-1074017" y="4157770"/>
            <a:ext cx="2644427" cy="342939"/>
          </a:xfrm>
          <a:prstGeom prst="rect">
            <a:avLst/>
          </a:prstGeom>
          <a:noFill/>
          <a:ln>
            <a:noFill/>
          </a:ln>
          <a:effectLst/>
          <a:extLst>
            <a:ext uri="{909E8E84-426E-40DD-AFC4-6F175D3DCCD1}">
              <a14:hiddenFill xmlns:a14="http://schemas.microsoft.com/office/drawing/2010/main">
                <a:solidFill>
                  <a:srgbClr val="4242D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5782" tIns="47891" rIns="95782" bIns="47891">
            <a:spAutoFit/>
          </a:bodyPr>
          <a:lstStyle/>
          <a:p>
            <a:pPr marL="0" marR="0" lvl="0" indent="0" algn="ctr" defTabSz="914400" eaLnBrk="0" fontAlgn="auto" latinLnBrk="0" hangingPunct="0">
              <a:lnSpc>
                <a:spcPct val="100000"/>
              </a:lnSpc>
              <a:spcBef>
                <a:spcPts val="0"/>
              </a:spcBef>
              <a:spcAft>
                <a:spcPts val="0"/>
              </a:spcAft>
              <a:buClr>
                <a:srgbClr val="E5501E"/>
              </a:buClr>
              <a:buSzTx/>
              <a:buFontTx/>
              <a:buNone/>
              <a:tabLst/>
              <a:defRPr/>
            </a:pPr>
            <a:r>
              <a:rPr kumimoji="0" lang="es-ES_tradnl" sz="1600" b="1" i="0" u="none" strike="noStrike" kern="0" cap="none" spc="0" normalizeH="0" baseline="0" noProof="0" dirty="0">
                <a:ln>
                  <a:noFill/>
                </a:ln>
                <a:solidFill>
                  <a:schemeClr val="tx1">
                    <a:lumMod val="65000"/>
                    <a:lumOff val="35000"/>
                  </a:schemeClr>
                </a:solidFill>
                <a:effectLst/>
                <a:uLnTx/>
                <a:uFillTx/>
              </a:rPr>
              <a:t>EXIGENCIAS CUANTITATIVAS</a:t>
            </a:r>
            <a:endParaRPr kumimoji="0" lang="en-US" sz="1600" b="1" i="0" u="none" strike="noStrike" kern="0" cap="none" spc="0" normalizeH="0" baseline="0" noProof="0" dirty="0">
              <a:ln>
                <a:noFill/>
              </a:ln>
              <a:solidFill>
                <a:schemeClr val="tx1">
                  <a:lumMod val="65000"/>
                  <a:lumOff val="35000"/>
                </a:schemeClr>
              </a:solidFill>
              <a:effectLst/>
              <a:uLnTx/>
              <a:uFillTx/>
            </a:endParaRPr>
          </a:p>
        </p:txBody>
      </p:sp>
      <p:sp>
        <p:nvSpPr>
          <p:cNvPr id="30" name="Rectangle 4"/>
          <p:cNvSpPr>
            <a:spLocks noChangeArrowheads="1"/>
          </p:cNvSpPr>
          <p:nvPr/>
        </p:nvSpPr>
        <p:spPr bwMode="auto">
          <a:xfrm>
            <a:off x="347093" y="2461007"/>
            <a:ext cx="2160000" cy="541338"/>
          </a:xfrm>
          <a:prstGeom prst="rect">
            <a:avLst/>
          </a:prstGeom>
          <a:solidFill>
            <a:schemeClr val="tx1">
              <a:lumMod val="50000"/>
              <a:lumOff val="50000"/>
            </a:schemeClr>
          </a:solidFill>
          <a:ln w="9525" algn="ctr">
            <a:noFill/>
            <a:miter lim="800000"/>
            <a:headEnd/>
            <a:tailEnd/>
          </a:ln>
          <a:effectLst>
            <a:prstShdw prst="shdw17" dist="17961" dir="2700000">
              <a:srgbClr val="DDDDDD">
                <a:gamma/>
                <a:shade val="60000"/>
                <a:invGamma/>
              </a:srgbClr>
            </a:prstShdw>
          </a:effectLst>
        </p:spPr>
        <p:txBody>
          <a:bodyPr wrap="none" anchor="ctr"/>
          <a:lstStyle/>
          <a:p>
            <a:pPr marR="0" lvl="0" indent="0" algn="ctr" fontAlgn="auto">
              <a:lnSpc>
                <a:spcPct val="100000"/>
              </a:lnSpc>
              <a:spcBef>
                <a:spcPts val="0"/>
              </a:spcBef>
              <a:spcAft>
                <a:spcPts val="0"/>
              </a:spcAft>
              <a:buClr>
                <a:srgbClr val="E5501E"/>
              </a:buClr>
              <a:buSzTx/>
              <a:buFontTx/>
              <a:buNone/>
              <a:tabLst/>
              <a:defRPr/>
            </a:pPr>
            <a:r>
              <a:rPr lang="es-ES_tradnl" sz="1300" b="1" dirty="0">
                <a:solidFill>
                  <a:schemeClr val="bg1"/>
                </a:solidFill>
              </a:rPr>
              <a:t>INDICADOR BÁSICO</a:t>
            </a:r>
          </a:p>
          <a:p>
            <a:pPr marR="0" lvl="0" indent="0" algn="ctr" fontAlgn="auto">
              <a:lnSpc>
                <a:spcPct val="100000"/>
              </a:lnSpc>
              <a:spcBef>
                <a:spcPts val="0"/>
              </a:spcBef>
              <a:spcAft>
                <a:spcPts val="0"/>
              </a:spcAft>
              <a:buClr>
                <a:srgbClr val="E5501E"/>
              </a:buClr>
              <a:buSzTx/>
              <a:buFontTx/>
              <a:buNone/>
              <a:tabLst/>
              <a:defRPr/>
            </a:pPr>
            <a:r>
              <a:rPr lang="es-ES_tradnl" sz="1300" b="1" dirty="0">
                <a:solidFill>
                  <a:schemeClr val="bg1"/>
                </a:solidFill>
              </a:rPr>
              <a:t>(BIA)</a:t>
            </a:r>
            <a:endParaRPr lang="en-US" sz="1300" b="1" dirty="0">
              <a:solidFill>
                <a:schemeClr val="bg1"/>
              </a:solidFill>
            </a:endParaRPr>
          </a:p>
        </p:txBody>
      </p:sp>
      <p:sp>
        <p:nvSpPr>
          <p:cNvPr id="31" name="Rectangle 5"/>
          <p:cNvSpPr>
            <a:spLocks noChangeArrowheads="1"/>
          </p:cNvSpPr>
          <p:nvPr/>
        </p:nvSpPr>
        <p:spPr bwMode="auto">
          <a:xfrm>
            <a:off x="2555776" y="2461007"/>
            <a:ext cx="3492000" cy="541338"/>
          </a:xfrm>
          <a:prstGeom prst="rect">
            <a:avLst/>
          </a:prstGeom>
          <a:solidFill>
            <a:schemeClr val="tx1">
              <a:lumMod val="50000"/>
              <a:lumOff val="50000"/>
            </a:schemeClr>
          </a:solidFill>
          <a:ln w="9525" algn="ctr">
            <a:noFill/>
            <a:miter lim="800000"/>
            <a:headEnd/>
            <a:tailEnd/>
          </a:ln>
          <a:effectLst>
            <a:prstShdw prst="shdw17" dist="17961" dir="2700000">
              <a:srgbClr val="DDDDDD">
                <a:gamma/>
                <a:shade val="60000"/>
                <a:invGamma/>
              </a:srgbClr>
            </a:prstShdw>
          </a:effectLst>
        </p:spPr>
        <p:txBody>
          <a:bodyPr wrap="none" anchor="ctr"/>
          <a:lstStyle/>
          <a:p>
            <a:pPr marR="0" lvl="0" indent="0" algn="ctr" fontAlgn="auto">
              <a:lnSpc>
                <a:spcPct val="100000"/>
              </a:lnSpc>
              <a:spcBef>
                <a:spcPts val="0"/>
              </a:spcBef>
              <a:spcAft>
                <a:spcPts val="0"/>
              </a:spcAft>
              <a:buClr>
                <a:srgbClr val="E5501E"/>
              </a:buClr>
              <a:buSzTx/>
              <a:buFontTx/>
              <a:buNone/>
              <a:tabLst/>
              <a:defRPr/>
            </a:pPr>
            <a:r>
              <a:rPr lang="es-ES_tradnl" sz="1300" b="1" dirty="0">
                <a:solidFill>
                  <a:schemeClr val="bg1"/>
                </a:solidFill>
              </a:rPr>
              <a:t>ESTÁNDAR (TSA) /</a:t>
            </a:r>
          </a:p>
          <a:p>
            <a:pPr marR="0" lvl="0" indent="0" algn="ctr" fontAlgn="auto">
              <a:lnSpc>
                <a:spcPct val="100000"/>
              </a:lnSpc>
              <a:spcBef>
                <a:spcPts val="0"/>
              </a:spcBef>
              <a:spcAft>
                <a:spcPts val="0"/>
              </a:spcAft>
              <a:buClr>
                <a:srgbClr val="E5501E"/>
              </a:buClr>
              <a:buSzTx/>
              <a:buFontTx/>
              <a:buNone/>
              <a:tabLst/>
              <a:defRPr/>
            </a:pPr>
            <a:r>
              <a:rPr lang="es-ES_tradnl" sz="1300" b="1" dirty="0">
                <a:solidFill>
                  <a:schemeClr val="bg1"/>
                </a:solidFill>
              </a:rPr>
              <a:t>ESTÁNDAR ALTERNATIVO (ASA)</a:t>
            </a:r>
            <a:endParaRPr lang="en-US" sz="1300" b="1" dirty="0">
              <a:solidFill>
                <a:schemeClr val="bg1"/>
              </a:solidFill>
            </a:endParaRPr>
          </a:p>
        </p:txBody>
      </p:sp>
      <p:sp>
        <p:nvSpPr>
          <p:cNvPr id="32" name="Rectangle 6"/>
          <p:cNvSpPr>
            <a:spLocks noChangeArrowheads="1"/>
          </p:cNvSpPr>
          <p:nvPr/>
        </p:nvSpPr>
        <p:spPr bwMode="auto">
          <a:xfrm>
            <a:off x="6097816" y="2461007"/>
            <a:ext cx="2736000" cy="541338"/>
          </a:xfrm>
          <a:prstGeom prst="rect">
            <a:avLst/>
          </a:prstGeom>
          <a:solidFill>
            <a:schemeClr val="tx1">
              <a:lumMod val="50000"/>
              <a:lumOff val="50000"/>
            </a:schemeClr>
          </a:solidFill>
          <a:ln w="9525" algn="ctr">
            <a:noFill/>
            <a:miter lim="800000"/>
            <a:headEnd/>
            <a:tailEnd/>
          </a:ln>
          <a:effectLst>
            <a:prstShdw prst="shdw17" dist="17961" dir="2700000">
              <a:srgbClr val="DDDDDD">
                <a:gamma/>
                <a:shade val="60000"/>
                <a:invGamma/>
              </a:srgbClr>
            </a:prstShdw>
          </a:effectLst>
        </p:spPr>
        <p:txBody>
          <a:bodyPr wrap="none" anchor="ctr"/>
          <a:lstStyle/>
          <a:p>
            <a:pPr algn="ctr">
              <a:buClr>
                <a:srgbClr val="E5501E"/>
              </a:buClr>
              <a:defRPr/>
            </a:pPr>
            <a:r>
              <a:rPr lang="es-ES_tradnl" sz="1300" b="1" dirty="0">
                <a:solidFill>
                  <a:schemeClr val="bg1"/>
                </a:solidFill>
              </a:rPr>
              <a:t>AVANZADO </a:t>
            </a:r>
            <a:br>
              <a:rPr lang="es-ES_tradnl" sz="1300" b="1" dirty="0">
                <a:solidFill>
                  <a:schemeClr val="bg1"/>
                </a:solidFill>
              </a:rPr>
            </a:br>
            <a:r>
              <a:rPr lang="es-ES_tradnl" sz="1300" b="1" dirty="0">
                <a:solidFill>
                  <a:schemeClr val="bg1"/>
                </a:solidFill>
              </a:rPr>
              <a:t>(AMA)</a:t>
            </a:r>
            <a:endParaRPr lang="en-US" sz="1300" b="1" dirty="0">
              <a:solidFill>
                <a:schemeClr val="bg1"/>
              </a:solidFill>
            </a:endParaRPr>
          </a:p>
        </p:txBody>
      </p:sp>
      <p:sp>
        <p:nvSpPr>
          <p:cNvPr id="36" name="Text Box 7"/>
          <p:cNvSpPr txBox="1">
            <a:spLocks noChangeArrowheads="1"/>
          </p:cNvSpPr>
          <p:nvPr/>
        </p:nvSpPr>
        <p:spPr bwMode="auto">
          <a:xfrm>
            <a:off x="347093" y="3037269"/>
            <a:ext cx="2160000" cy="2628000"/>
          </a:xfrm>
          <a:prstGeom prst="rect">
            <a:avLst/>
          </a:prstGeom>
          <a:solidFill>
            <a:schemeClr val="bg1"/>
          </a:solidFill>
          <a:ln w="9525">
            <a:solidFill>
              <a:schemeClr val="bg1">
                <a:lumMod val="50000"/>
              </a:schemeClr>
            </a:solidFill>
            <a:miter lim="800000"/>
            <a:headEnd/>
            <a:tailEnd/>
          </a:ln>
          <a:effectLst/>
        </p:spPr>
        <p:txBody>
          <a:bodyPr/>
          <a:lstStyle>
            <a:lvl1pPr marL="177800" indent="-177800">
              <a:defRPr>
                <a:solidFill>
                  <a:schemeClr val="tx1"/>
                </a:solidFill>
                <a:latin typeface="Arial" charset="0"/>
              </a:defRPr>
            </a:lvl1pPr>
            <a:lvl2pPr>
              <a:defRPr>
                <a:solidFill>
                  <a:schemeClr val="tx1"/>
                </a:solidFill>
                <a:latin typeface="Arial" charset="0"/>
              </a:defRPr>
            </a:lvl2pPr>
            <a:lvl3pPr>
              <a:defRPr>
                <a:solidFill>
                  <a:schemeClr val="tx1"/>
                </a:solidFill>
                <a:latin typeface="Arial" charset="0"/>
              </a:defRPr>
            </a:lvl3pPr>
            <a:lvl4pPr>
              <a:defRPr>
                <a:solidFill>
                  <a:schemeClr val="tx1"/>
                </a:solidFill>
                <a:latin typeface="Arial" charset="0"/>
              </a:defRPr>
            </a:lvl4pPr>
            <a:lvl5pPr>
              <a:defRPr>
                <a:solidFill>
                  <a:schemeClr val="tx1"/>
                </a:solidFill>
                <a:latin typeface="Arial" charset="0"/>
              </a:defRPr>
            </a:lvl5pPr>
            <a:lvl6pPr fontAlgn="base">
              <a:spcBef>
                <a:spcPct val="0"/>
              </a:spcBef>
              <a:spcAft>
                <a:spcPct val="0"/>
              </a:spcAft>
              <a:defRPr>
                <a:solidFill>
                  <a:schemeClr val="tx1"/>
                </a:solidFill>
                <a:latin typeface="Arial" charset="0"/>
              </a:defRPr>
            </a:lvl6pPr>
            <a:lvl7pPr fontAlgn="base">
              <a:spcBef>
                <a:spcPct val="0"/>
              </a:spcBef>
              <a:spcAft>
                <a:spcPct val="0"/>
              </a:spcAft>
              <a:defRPr>
                <a:solidFill>
                  <a:schemeClr val="tx1"/>
                </a:solidFill>
                <a:latin typeface="Arial" charset="0"/>
              </a:defRPr>
            </a:lvl7pPr>
            <a:lvl8pPr fontAlgn="base">
              <a:spcBef>
                <a:spcPct val="0"/>
              </a:spcBef>
              <a:spcAft>
                <a:spcPct val="0"/>
              </a:spcAft>
              <a:defRPr>
                <a:solidFill>
                  <a:schemeClr val="tx1"/>
                </a:solidFill>
                <a:latin typeface="Arial" charset="0"/>
              </a:defRPr>
            </a:lvl8pPr>
            <a:lvl9pPr fontAlgn="base">
              <a:spcBef>
                <a:spcPct val="0"/>
              </a:spcBef>
              <a:spcAft>
                <a:spcPct val="0"/>
              </a:spcAft>
              <a:defRPr>
                <a:solidFill>
                  <a:schemeClr val="tx1"/>
                </a:solidFill>
                <a:latin typeface="Arial" charset="0"/>
              </a:defRPr>
            </a:lvl9pPr>
          </a:lstStyle>
          <a:p>
            <a:pPr marL="177800" marR="0" lvl="0" indent="-177800" algn="just" defTabSz="914400" eaLnBrk="0" fontAlgn="auto" latinLnBrk="0" hangingPunct="0">
              <a:lnSpc>
                <a:spcPct val="100000"/>
              </a:lnSpc>
              <a:spcBef>
                <a:spcPct val="50000"/>
              </a:spcBef>
              <a:spcAft>
                <a:spcPts val="0"/>
              </a:spcAft>
              <a:buClr>
                <a:srgbClr val="DB0613"/>
              </a:buClr>
              <a:buSzTx/>
              <a:buFont typeface="Webdings" pitchFamily="18" charset="2"/>
              <a:buChar char="4"/>
              <a:tabLst/>
              <a:defRPr/>
            </a:pPr>
            <a:r>
              <a:rPr kumimoji="0" lang="es-ES_tradnl" sz="1100" b="0" i="0" u="none" strike="noStrike" kern="0" cap="none" spc="0" normalizeH="0" baseline="0" noProof="0" dirty="0">
                <a:ln>
                  <a:noFill/>
                </a:ln>
                <a:effectLst/>
                <a:uLnTx/>
                <a:uFillTx/>
                <a:latin typeface="+mn-lt"/>
              </a:rPr>
              <a:t>Capital basado en el margen ordinario ajustado (15%).</a:t>
            </a:r>
          </a:p>
          <a:p>
            <a:pPr marL="177800" marR="0" lvl="0" indent="-177800" defTabSz="914400" eaLnBrk="0" fontAlgn="auto" latinLnBrk="0" hangingPunct="0">
              <a:lnSpc>
                <a:spcPct val="100000"/>
              </a:lnSpc>
              <a:spcBef>
                <a:spcPct val="50000"/>
              </a:spcBef>
              <a:spcAft>
                <a:spcPts val="0"/>
              </a:spcAft>
              <a:buClr>
                <a:srgbClr val="DB0613"/>
              </a:buClr>
              <a:buSzTx/>
              <a:buFont typeface="Webdings" pitchFamily="18" charset="2"/>
              <a:buChar char="4"/>
              <a:tabLst/>
              <a:defRPr/>
            </a:pPr>
            <a:r>
              <a:rPr kumimoji="0" lang="es-ES_tradnl" sz="1100" b="0" i="0" u="none" strike="noStrike" kern="0" cap="none" spc="0" normalizeH="0" baseline="0" noProof="0" dirty="0">
                <a:ln>
                  <a:noFill/>
                </a:ln>
                <a:effectLst/>
                <a:uLnTx/>
                <a:uFillTx/>
                <a:latin typeface="+mn-lt"/>
              </a:rPr>
              <a:t>Orientado a pequeñas Entidades con una estructura  sencilla de actividades de negocio.</a:t>
            </a:r>
          </a:p>
        </p:txBody>
      </p:sp>
      <p:sp>
        <p:nvSpPr>
          <p:cNvPr id="38" name="Text Box 8"/>
          <p:cNvSpPr txBox="1">
            <a:spLocks noChangeArrowheads="1"/>
          </p:cNvSpPr>
          <p:nvPr/>
        </p:nvSpPr>
        <p:spPr bwMode="auto">
          <a:xfrm>
            <a:off x="2555776" y="3037270"/>
            <a:ext cx="3492000" cy="3024000"/>
          </a:xfrm>
          <a:prstGeom prst="rect">
            <a:avLst/>
          </a:prstGeom>
          <a:solidFill>
            <a:schemeClr val="bg1"/>
          </a:solidFill>
          <a:ln w="9525">
            <a:solidFill>
              <a:srgbClr val="99A8C3"/>
            </a:solidFill>
            <a:miter lim="800000"/>
            <a:headEnd/>
            <a:tailEnd/>
          </a:ln>
          <a:effectLst/>
        </p:spPr>
        <p:txBody>
          <a:bodyPr/>
          <a:lstStyle>
            <a:lvl1pPr marL="177800" indent="-177800">
              <a:defRPr>
                <a:solidFill>
                  <a:schemeClr val="tx1"/>
                </a:solidFill>
                <a:latin typeface="Arial" charset="0"/>
              </a:defRPr>
            </a:lvl1pPr>
            <a:lvl2pPr marL="355600" indent="-114300">
              <a:defRPr>
                <a:solidFill>
                  <a:schemeClr val="tx1"/>
                </a:solidFill>
                <a:latin typeface="Arial" charset="0"/>
              </a:defRPr>
            </a:lvl2pPr>
            <a:lvl3pPr marL="3392488" indent="-342900">
              <a:defRPr>
                <a:solidFill>
                  <a:schemeClr val="tx1"/>
                </a:solidFill>
                <a:latin typeface="Arial" charset="0"/>
              </a:defRPr>
            </a:lvl3pPr>
            <a:lvl4pPr marL="3914775" indent="-342900">
              <a:defRPr>
                <a:solidFill>
                  <a:schemeClr val="tx1"/>
                </a:solidFill>
                <a:latin typeface="Arial" charset="0"/>
              </a:defRPr>
            </a:lvl4pPr>
            <a:lvl5pPr marL="4437063" indent="-342900">
              <a:defRPr>
                <a:solidFill>
                  <a:schemeClr val="tx1"/>
                </a:solidFill>
                <a:latin typeface="Arial" charset="0"/>
              </a:defRPr>
            </a:lvl5pPr>
            <a:lvl6pPr marL="4894263" indent="-342900" fontAlgn="base">
              <a:spcBef>
                <a:spcPct val="0"/>
              </a:spcBef>
              <a:spcAft>
                <a:spcPct val="0"/>
              </a:spcAft>
              <a:defRPr>
                <a:solidFill>
                  <a:schemeClr val="tx1"/>
                </a:solidFill>
                <a:latin typeface="Arial" charset="0"/>
              </a:defRPr>
            </a:lvl6pPr>
            <a:lvl7pPr marL="5351463" indent="-342900" fontAlgn="base">
              <a:spcBef>
                <a:spcPct val="0"/>
              </a:spcBef>
              <a:spcAft>
                <a:spcPct val="0"/>
              </a:spcAft>
              <a:defRPr>
                <a:solidFill>
                  <a:schemeClr val="tx1"/>
                </a:solidFill>
                <a:latin typeface="Arial" charset="0"/>
              </a:defRPr>
            </a:lvl7pPr>
            <a:lvl8pPr marL="5808663" indent="-342900" fontAlgn="base">
              <a:spcBef>
                <a:spcPct val="0"/>
              </a:spcBef>
              <a:spcAft>
                <a:spcPct val="0"/>
              </a:spcAft>
              <a:defRPr>
                <a:solidFill>
                  <a:schemeClr val="tx1"/>
                </a:solidFill>
                <a:latin typeface="Arial" charset="0"/>
              </a:defRPr>
            </a:lvl8pPr>
            <a:lvl9pPr marL="6265863" indent="-342900" fontAlgn="base">
              <a:spcBef>
                <a:spcPct val="0"/>
              </a:spcBef>
              <a:spcAft>
                <a:spcPct val="0"/>
              </a:spcAft>
              <a:defRPr>
                <a:solidFill>
                  <a:schemeClr val="tx1"/>
                </a:solidFill>
                <a:latin typeface="Arial" charset="0"/>
              </a:defRPr>
            </a:lvl9pPr>
          </a:lstStyle>
          <a:p>
            <a:pPr marL="177800" marR="0" lvl="0" indent="-177800" defTabSz="914400" eaLnBrk="0" fontAlgn="auto" latinLnBrk="0" hangingPunct="0">
              <a:lnSpc>
                <a:spcPct val="100000"/>
              </a:lnSpc>
              <a:spcBef>
                <a:spcPct val="50000"/>
              </a:spcBef>
              <a:spcAft>
                <a:spcPts val="0"/>
              </a:spcAft>
              <a:buClr>
                <a:srgbClr val="DB0613"/>
              </a:buClr>
              <a:buSzTx/>
              <a:buFont typeface="Webdings" pitchFamily="18" charset="2"/>
              <a:buChar char="4"/>
              <a:tabLst/>
              <a:defRPr/>
            </a:pPr>
            <a:r>
              <a:rPr kumimoji="0" lang="es-ES_tradnl" sz="1100" b="0" i="0" u="none" strike="noStrike" kern="0" cap="none" spc="0" normalizeH="0" baseline="0" noProof="0" dirty="0">
                <a:ln>
                  <a:noFill/>
                </a:ln>
                <a:effectLst/>
                <a:uLnTx/>
                <a:uFillTx/>
                <a:latin typeface="+mn-lt"/>
              </a:rPr>
              <a:t>División de la Entidad en unidades y líneas de negocio estándares.</a:t>
            </a:r>
          </a:p>
          <a:p>
            <a:pPr marL="177800" marR="0" lvl="0" indent="-177800" defTabSz="914400" eaLnBrk="0" fontAlgn="auto" latinLnBrk="0" hangingPunct="0">
              <a:lnSpc>
                <a:spcPct val="100000"/>
              </a:lnSpc>
              <a:spcBef>
                <a:spcPct val="50000"/>
              </a:spcBef>
              <a:spcAft>
                <a:spcPts val="0"/>
              </a:spcAft>
              <a:buClr>
                <a:srgbClr val="DB0613"/>
              </a:buClr>
              <a:buSzTx/>
              <a:buFont typeface="Webdings" pitchFamily="18" charset="2"/>
              <a:buChar char="4"/>
              <a:tabLst/>
              <a:defRPr/>
            </a:pPr>
            <a:r>
              <a:rPr kumimoji="0" lang="es-ES_tradnl" sz="1100" b="0" i="0" u="none" strike="noStrike" kern="0" cap="none" spc="0" normalizeH="0" baseline="0" noProof="0" dirty="0">
                <a:ln>
                  <a:noFill/>
                </a:ln>
                <a:effectLst/>
                <a:uLnTx/>
                <a:uFillTx/>
                <a:latin typeface="+mn-lt"/>
              </a:rPr>
              <a:t>Capital basado en el margen ordinario ajustado de cada línea de negocio (calibrado al 13%).</a:t>
            </a:r>
          </a:p>
          <a:p>
            <a:pPr marL="355600" marR="0" lvl="1" indent="-114300" defTabSz="914400" eaLnBrk="0" fontAlgn="auto" latinLnBrk="0" hangingPunct="0">
              <a:lnSpc>
                <a:spcPct val="100000"/>
              </a:lnSpc>
              <a:spcBef>
                <a:spcPts val="300"/>
              </a:spcBef>
              <a:spcAft>
                <a:spcPts val="0"/>
              </a:spcAft>
              <a:buClr>
                <a:srgbClr val="DB0613"/>
              </a:buClr>
              <a:buSzTx/>
              <a:buFontTx/>
              <a:buChar char="•"/>
              <a:tabLst/>
              <a:defRPr/>
            </a:pPr>
            <a:r>
              <a:rPr kumimoji="0" lang="es-ES_tradnl" sz="1100" b="0" i="0" u="none" strike="noStrike" kern="0" cap="none" spc="0" normalizeH="0" baseline="0" noProof="0" dirty="0">
                <a:ln>
                  <a:noFill/>
                </a:ln>
                <a:effectLst/>
                <a:uLnTx/>
                <a:uFillTx/>
                <a:latin typeface="+mn-lt"/>
              </a:rPr>
              <a:t>Banca minorista (ß = 12%) </a:t>
            </a:r>
            <a:r>
              <a:rPr kumimoji="0" lang="es-ES_tradnl" sz="1100" b="0" i="0" u="none" strike="noStrike" kern="0" cap="none" spc="0" normalizeH="0" baseline="30000" noProof="0" dirty="0">
                <a:ln>
                  <a:noFill/>
                </a:ln>
                <a:effectLst/>
                <a:uLnTx/>
                <a:uFillTx/>
                <a:latin typeface="+mn-lt"/>
              </a:rPr>
              <a:t>(1)</a:t>
            </a:r>
          </a:p>
          <a:p>
            <a:pPr marL="355600" marR="0" lvl="1" indent="-114300" defTabSz="914400" eaLnBrk="0" fontAlgn="auto" latinLnBrk="0" hangingPunct="0">
              <a:lnSpc>
                <a:spcPct val="100000"/>
              </a:lnSpc>
              <a:spcBef>
                <a:spcPts val="300"/>
              </a:spcBef>
              <a:spcAft>
                <a:spcPts val="0"/>
              </a:spcAft>
              <a:buClr>
                <a:srgbClr val="DB0613"/>
              </a:buClr>
              <a:buSzTx/>
              <a:buFontTx/>
              <a:buChar char="•"/>
              <a:tabLst/>
              <a:defRPr/>
            </a:pPr>
            <a:r>
              <a:rPr kumimoji="0" lang="es-ES_tradnl" sz="1100" b="0" i="0" u="none" strike="noStrike" kern="0" cap="none" spc="0" normalizeH="0" baseline="0" noProof="0" dirty="0">
                <a:ln>
                  <a:noFill/>
                </a:ln>
                <a:effectLst/>
                <a:uLnTx/>
                <a:uFillTx/>
                <a:latin typeface="+mn-lt"/>
              </a:rPr>
              <a:t>Intermediación minorista (ß= 12%)</a:t>
            </a:r>
          </a:p>
          <a:p>
            <a:pPr marL="355600" marR="0" lvl="1" indent="-114300" defTabSz="914400" eaLnBrk="0" fontAlgn="auto" latinLnBrk="0" hangingPunct="0">
              <a:lnSpc>
                <a:spcPct val="100000"/>
              </a:lnSpc>
              <a:spcBef>
                <a:spcPts val="300"/>
              </a:spcBef>
              <a:spcAft>
                <a:spcPts val="0"/>
              </a:spcAft>
              <a:buClr>
                <a:srgbClr val="DB0613"/>
              </a:buClr>
              <a:buSzTx/>
              <a:buFontTx/>
              <a:buChar char="•"/>
              <a:tabLst/>
              <a:defRPr/>
            </a:pPr>
            <a:r>
              <a:rPr kumimoji="0" lang="es-ES_tradnl" sz="1100" b="0" i="0" u="none" strike="noStrike" kern="0" cap="none" spc="0" normalizeH="0" baseline="0" noProof="0" dirty="0">
                <a:ln>
                  <a:noFill/>
                </a:ln>
                <a:effectLst/>
                <a:uLnTx/>
                <a:uFillTx/>
                <a:latin typeface="+mn-lt"/>
              </a:rPr>
              <a:t>Gestión de activos (ß=12%) </a:t>
            </a:r>
          </a:p>
          <a:p>
            <a:pPr lvl="1" eaLnBrk="0" fontAlgn="auto" hangingPunct="0">
              <a:spcBef>
                <a:spcPts val="300"/>
              </a:spcBef>
              <a:spcAft>
                <a:spcPts val="0"/>
              </a:spcAft>
              <a:buClr>
                <a:srgbClr val="DB0613"/>
              </a:buClr>
              <a:buFontTx/>
              <a:buChar char="•"/>
            </a:pPr>
            <a:r>
              <a:rPr kumimoji="0" lang="es-ES_tradnl" sz="1100" b="0" i="0" u="none" strike="noStrike" kern="0" cap="none" spc="0" normalizeH="0" baseline="0" noProof="0" dirty="0">
                <a:ln>
                  <a:noFill/>
                </a:ln>
                <a:effectLst/>
                <a:uLnTx/>
                <a:uFillTx/>
                <a:latin typeface="+mn-lt"/>
              </a:rPr>
              <a:t>Banca comercial (ß = 15%) </a:t>
            </a:r>
            <a:r>
              <a:rPr lang="es-ES_tradnl" sz="1100" kern="0" baseline="30000" dirty="0">
                <a:latin typeface="+mn-lt"/>
              </a:rPr>
              <a:t>(1)</a:t>
            </a:r>
            <a:endParaRPr kumimoji="0" lang="es-ES_tradnl" sz="1100" b="0" i="0" u="none" strike="noStrike" kern="0" cap="none" spc="0" normalizeH="0" baseline="0" noProof="0" dirty="0">
              <a:ln>
                <a:noFill/>
              </a:ln>
              <a:effectLst/>
              <a:uLnTx/>
              <a:uFillTx/>
              <a:latin typeface="+mn-lt"/>
            </a:endParaRPr>
          </a:p>
          <a:p>
            <a:pPr marL="355600" marR="0" lvl="1" indent="-114300" defTabSz="914400" eaLnBrk="0" fontAlgn="auto" latinLnBrk="0" hangingPunct="0">
              <a:lnSpc>
                <a:spcPct val="100000"/>
              </a:lnSpc>
              <a:spcBef>
                <a:spcPts val="300"/>
              </a:spcBef>
              <a:spcAft>
                <a:spcPts val="0"/>
              </a:spcAft>
              <a:buClr>
                <a:srgbClr val="DB0613"/>
              </a:buClr>
              <a:buSzTx/>
              <a:buFontTx/>
              <a:buChar char="•"/>
              <a:tabLst/>
              <a:defRPr/>
            </a:pPr>
            <a:r>
              <a:rPr kumimoji="0" lang="es-ES_tradnl" sz="1100" b="0" i="0" u="none" strike="noStrike" kern="0" cap="none" spc="0" normalizeH="0" baseline="0" noProof="0" dirty="0">
                <a:ln>
                  <a:noFill/>
                </a:ln>
                <a:effectLst/>
                <a:uLnTx/>
                <a:uFillTx/>
                <a:latin typeface="+mn-lt"/>
              </a:rPr>
              <a:t>Servicios de agencia (ß = 15%) </a:t>
            </a:r>
          </a:p>
          <a:p>
            <a:pPr marL="355600" marR="0" lvl="1" indent="-114300" defTabSz="914400" eaLnBrk="0" fontAlgn="auto" latinLnBrk="0" hangingPunct="0">
              <a:lnSpc>
                <a:spcPct val="100000"/>
              </a:lnSpc>
              <a:spcBef>
                <a:spcPts val="300"/>
              </a:spcBef>
              <a:spcAft>
                <a:spcPts val="0"/>
              </a:spcAft>
              <a:buClr>
                <a:srgbClr val="DB0613"/>
              </a:buClr>
              <a:buSzTx/>
              <a:buFontTx/>
              <a:buChar char="•"/>
              <a:tabLst/>
              <a:defRPr/>
            </a:pPr>
            <a:r>
              <a:rPr kumimoji="0" lang="es-ES_tradnl" sz="1100" b="0" i="0" u="none" strike="noStrike" kern="0" cap="none" spc="0" normalizeH="0" baseline="0" noProof="0" dirty="0">
                <a:ln>
                  <a:noFill/>
                </a:ln>
                <a:effectLst/>
                <a:uLnTx/>
                <a:uFillTx/>
                <a:latin typeface="+mn-lt"/>
              </a:rPr>
              <a:t>Comercialización y ventas (ß = 18%) </a:t>
            </a:r>
          </a:p>
          <a:p>
            <a:pPr marL="355600" marR="0" lvl="1" indent="-114300" defTabSz="914400" eaLnBrk="0" fontAlgn="auto" latinLnBrk="0" hangingPunct="0">
              <a:lnSpc>
                <a:spcPct val="100000"/>
              </a:lnSpc>
              <a:spcBef>
                <a:spcPts val="300"/>
              </a:spcBef>
              <a:spcAft>
                <a:spcPts val="0"/>
              </a:spcAft>
              <a:buClr>
                <a:srgbClr val="DB0613"/>
              </a:buClr>
              <a:buSzTx/>
              <a:buFontTx/>
              <a:buChar char="•"/>
              <a:tabLst/>
              <a:defRPr/>
            </a:pPr>
            <a:r>
              <a:rPr kumimoji="0" lang="es-ES_tradnl" sz="1100" b="0" i="0" u="none" strike="noStrike" kern="0" cap="none" spc="0" normalizeH="0" baseline="0" noProof="0" dirty="0">
                <a:ln>
                  <a:noFill/>
                </a:ln>
                <a:effectLst/>
                <a:uLnTx/>
                <a:uFillTx/>
                <a:latin typeface="+mn-lt"/>
              </a:rPr>
              <a:t>Financiación empresarial (ß = 18%) </a:t>
            </a:r>
          </a:p>
          <a:p>
            <a:pPr marL="355600" marR="0" lvl="1" indent="-114300" defTabSz="914400" eaLnBrk="0" fontAlgn="auto" latinLnBrk="0" hangingPunct="0">
              <a:lnSpc>
                <a:spcPct val="100000"/>
              </a:lnSpc>
              <a:spcBef>
                <a:spcPts val="300"/>
              </a:spcBef>
              <a:spcAft>
                <a:spcPts val="0"/>
              </a:spcAft>
              <a:buClr>
                <a:srgbClr val="DB0613"/>
              </a:buClr>
              <a:buSzTx/>
              <a:buFontTx/>
              <a:buChar char="•"/>
              <a:tabLst/>
              <a:defRPr/>
            </a:pPr>
            <a:r>
              <a:rPr kumimoji="0" lang="es-ES_tradnl" sz="1100" b="0" i="0" u="none" strike="noStrike" kern="0" cap="none" spc="0" normalizeH="0" baseline="0" noProof="0" dirty="0">
                <a:ln>
                  <a:noFill/>
                </a:ln>
                <a:effectLst/>
                <a:uLnTx/>
                <a:uFillTx/>
                <a:latin typeface="+mn-lt"/>
              </a:rPr>
              <a:t>Pago y liquidación (ß = 18%) </a:t>
            </a:r>
          </a:p>
          <a:p>
            <a:pPr marL="234950" indent="-171450" eaLnBrk="0" fontAlgn="auto" hangingPunct="0">
              <a:spcBef>
                <a:spcPts val="300"/>
              </a:spcBef>
              <a:spcAft>
                <a:spcPts val="0"/>
              </a:spcAft>
              <a:buClr>
                <a:srgbClr val="DB0613"/>
              </a:buClr>
            </a:pPr>
            <a:r>
              <a:rPr lang="es-ES_tradnl" sz="1100" kern="0" baseline="30000" dirty="0">
                <a:latin typeface="+mn-lt"/>
              </a:rPr>
              <a:t>	(1)</a:t>
            </a:r>
            <a:r>
              <a:rPr lang="es-ES_tradnl" sz="1100" kern="0" dirty="0">
                <a:latin typeface="+mn-lt"/>
              </a:rPr>
              <a:t> En Estándar Alternativo, las 2 líneas de negocio de </a:t>
            </a:r>
            <a:r>
              <a:rPr lang="es-ES_tradnl" sz="1100" kern="0" dirty="0" err="1">
                <a:latin typeface="+mn-lt"/>
              </a:rPr>
              <a:t>Retail</a:t>
            </a:r>
            <a:r>
              <a:rPr lang="es-ES_tradnl" sz="1100" kern="0" dirty="0">
                <a:latin typeface="+mn-lt"/>
              </a:rPr>
              <a:t>-comercial se estiman a partir del total activos (en lugar de Margen bruto) </a:t>
            </a:r>
            <a:endParaRPr kumimoji="0" lang="es-ES_tradnl" sz="1100" b="0" i="0" u="none" strike="noStrike" kern="0" cap="none" spc="0" normalizeH="0" baseline="0" noProof="0" dirty="0">
              <a:ln>
                <a:noFill/>
              </a:ln>
              <a:effectLst/>
              <a:uLnTx/>
              <a:uFillTx/>
              <a:latin typeface="+mn-lt"/>
            </a:endParaRPr>
          </a:p>
        </p:txBody>
      </p:sp>
      <p:sp>
        <p:nvSpPr>
          <p:cNvPr id="39" name="Text Box 9"/>
          <p:cNvSpPr txBox="1">
            <a:spLocks noChangeArrowheads="1"/>
          </p:cNvSpPr>
          <p:nvPr/>
        </p:nvSpPr>
        <p:spPr bwMode="auto">
          <a:xfrm>
            <a:off x="6097816" y="3037270"/>
            <a:ext cx="2736000" cy="2628000"/>
          </a:xfrm>
          <a:prstGeom prst="rect">
            <a:avLst/>
          </a:prstGeom>
          <a:solidFill>
            <a:schemeClr val="bg1"/>
          </a:solidFill>
          <a:ln w="9525">
            <a:solidFill>
              <a:srgbClr val="99A8C3"/>
            </a:solidFill>
            <a:miter lim="800000"/>
            <a:headEnd/>
            <a:tailEnd/>
          </a:ln>
          <a:effectLst/>
        </p:spPr>
        <p:txBody>
          <a:bodyPr/>
          <a:lstStyle>
            <a:lvl1pPr marL="177800" indent="-177800">
              <a:defRPr>
                <a:solidFill>
                  <a:schemeClr val="tx1"/>
                </a:solidFill>
                <a:latin typeface="Arial" charset="0"/>
              </a:defRPr>
            </a:lvl1pPr>
            <a:lvl2pPr>
              <a:defRPr>
                <a:solidFill>
                  <a:schemeClr val="tx1"/>
                </a:solidFill>
                <a:latin typeface="Arial" charset="0"/>
              </a:defRPr>
            </a:lvl2pPr>
            <a:lvl3pPr>
              <a:defRPr>
                <a:solidFill>
                  <a:schemeClr val="tx1"/>
                </a:solidFill>
                <a:latin typeface="Arial" charset="0"/>
              </a:defRPr>
            </a:lvl3pPr>
            <a:lvl4pPr>
              <a:defRPr>
                <a:solidFill>
                  <a:schemeClr val="tx1"/>
                </a:solidFill>
                <a:latin typeface="Arial" charset="0"/>
              </a:defRPr>
            </a:lvl4pPr>
            <a:lvl5pPr>
              <a:defRPr>
                <a:solidFill>
                  <a:schemeClr val="tx1"/>
                </a:solidFill>
                <a:latin typeface="Arial" charset="0"/>
              </a:defRPr>
            </a:lvl5pPr>
            <a:lvl6pPr fontAlgn="base">
              <a:spcBef>
                <a:spcPct val="0"/>
              </a:spcBef>
              <a:spcAft>
                <a:spcPct val="0"/>
              </a:spcAft>
              <a:defRPr>
                <a:solidFill>
                  <a:schemeClr val="tx1"/>
                </a:solidFill>
                <a:latin typeface="Arial" charset="0"/>
              </a:defRPr>
            </a:lvl6pPr>
            <a:lvl7pPr fontAlgn="base">
              <a:spcBef>
                <a:spcPct val="0"/>
              </a:spcBef>
              <a:spcAft>
                <a:spcPct val="0"/>
              </a:spcAft>
              <a:defRPr>
                <a:solidFill>
                  <a:schemeClr val="tx1"/>
                </a:solidFill>
                <a:latin typeface="Arial" charset="0"/>
              </a:defRPr>
            </a:lvl7pPr>
            <a:lvl8pPr fontAlgn="base">
              <a:spcBef>
                <a:spcPct val="0"/>
              </a:spcBef>
              <a:spcAft>
                <a:spcPct val="0"/>
              </a:spcAft>
              <a:defRPr>
                <a:solidFill>
                  <a:schemeClr val="tx1"/>
                </a:solidFill>
                <a:latin typeface="Arial" charset="0"/>
              </a:defRPr>
            </a:lvl8pPr>
            <a:lvl9pPr fontAlgn="base">
              <a:spcBef>
                <a:spcPct val="0"/>
              </a:spcBef>
              <a:spcAft>
                <a:spcPct val="0"/>
              </a:spcAft>
              <a:defRPr>
                <a:solidFill>
                  <a:schemeClr val="tx1"/>
                </a:solidFill>
                <a:latin typeface="Arial" charset="0"/>
              </a:defRPr>
            </a:lvl9pPr>
          </a:lstStyle>
          <a:p>
            <a:pPr marL="177800" marR="0" lvl="0" indent="-177800" defTabSz="914400" eaLnBrk="0" fontAlgn="auto" latinLnBrk="0" hangingPunct="0">
              <a:lnSpc>
                <a:spcPct val="100000"/>
              </a:lnSpc>
              <a:spcBef>
                <a:spcPct val="50000"/>
              </a:spcBef>
              <a:spcAft>
                <a:spcPts val="0"/>
              </a:spcAft>
              <a:buClr>
                <a:srgbClr val="DB0613"/>
              </a:buClr>
              <a:buSzTx/>
              <a:buFont typeface="Webdings" pitchFamily="18" charset="2"/>
              <a:buChar char="4"/>
              <a:tabLst/>
              <a:defRPr/>
            </a:pPr>
            <a:r>
              <a:rPr kumimoji="0" lang="es-ES_tradnl" sz="1100" b="0" i="0" u="none" strike="noStrike" kern="0" cap="none" spc="0" normalizeH="0" baseline="0" noProof="0" dirty="0">
                <a:ln>
                  <a:noFill/>
                </a:ln>
                <a:effectLst/>
                <a:uLnTx/>
                <a:uFillTx/>
                <a:latin typeface="+mn-lt"/>
              </a:rPr>
              <a:t>División de la Entidad en líneas de negocio y tipologías de riesgo.</a:t>
            </a:r>
          </a:p>
          <a:p>
            <a:pPr marL="177800" marR="0" lvl="0" indent="-177800" defTabSz="914400" eaLnBrk="0" fontAlgn="auto" latinLnBrk="0" hangingPunct="0">
              <a:lnSpc>
                <a:spcPct val="100000"/>
              </a:lnSpc>
              <a:spcBef>
                <a:spcPct val="50000"/>
              </a:spcBef>
              <a:spcAft>
                <a:spcPts val="0"/>
              </a:spcAft>
              <a:buClr>
                <a:srgbClr val="DB0613"/>
              </a:buClr>
              <a:buSzTx/>
              <a:buFont typeface="Webdings" pitchFamily="18" charset="2"/>
              <a:buChar char="4"/>
              <a:tabLst/>
              <a:defRPr/>
            </a:pPr>
            <a:r>
              <a:rPr kumimoji="0" lang="es-ES_tradnl" sz="1100" b="0" i="0" u="none" strike="noStrike" kern="0" cap="none" spc="0" normalizeH="0" baseline="0" noProof="0" dirty="0">
                <a:ln>
                  <a:noFill/>
                </a:ln>
                <a:effectLst/>
                <a:uLnTx/>
                <a:uFillTx/>
                <a:latin typeface="+mn-lt"/>
              </a:rPr>
              <a:t>Capital basado en el cálculo de pérdidas esperadas e inesperadas (99,9%, en un horizonte temporal de un año). (Estimado menos del 10 % del Margen ordinario)</a:t>
            </a:r>
          </a:p>
          <a:p>
            <a:pPr marL="177800" marR="0" lvl="0" indent="-177800" defTabSz="914400" eaLnBrk="0" fontAlgn="auto" latinLnBrk="0" hangingPunct="0">
              <a:lnSpc>
                <a:spcPct val="100000"/>
              </a:lnSpc>
              <a:spcBef>
                <a:spcPct val="50000"/>
              </a:spcBef>
              <a:spcAft>
                <a:spcPts val="0"/>
              </a:spcAft>
              <a:buClr>
                <a:srgbClr val="DB0613"/>
              </a:buClr>
              <a:buSzTx/>
              <a:buFont typeface="Webdings" pitchFamily="18" charset="2"/>
              <a:buChar char="4"/>
              <a:tabLst/>
              <a:defRPr/>
            </a:pPr>
            <a:r>
              <a:rPr kumimoji="0" lang="es-ES_tradnl" sz="1100" b="0" i="0" u="none" strike="noStrike" kern="0" cap="none" spc="0" normalizeH="0" baseline="0" noProof="0" dirty="0">
                <a:ln>
                  <a:noFill/>
                </a:ln>
                <a:effectLst/>
                <a:uLnTx/>
                <a:uFillTx/>
                <a:latin typeface="+mn-lt"/>
              </a:rPr>
              <a:t>Dos funciones de distribución (Severidad y Frecuencia) de las que se deriva la función de distribución de pérdidas por Riesgo Operacional (</a:t>
            </a:r>
            <a:r>
              <a:rPr kumimoji="0" lang="es-ES_tradnl" sz="1100" b="0" i="0" u="none" strike="noStrike" kern="0" cap="none" spc="0" normalizeH="0" baseline="0" noProof="0" dirty="0" err="1">
                <a:ln>
                  <a:noFill/>
                </a:ln>
                <a:effectLst/>
                <a:uLnTx/>
                <a:uFillTx/>
                <a:latin typeface="+mn-lt"/>
              </a:rPr>
              <a:t>VaR</a:t>
            </a:r>
            <a:r>
              <a:rPr kumimoji="0" lang="es-ES_tradnl" sz="1100" b="0" i="0" u="none" strike="noStrike" kern="0" cap="none" spc="0" normalizeH="0" baseline="0" noProof="0" dirty="0">
                <a:ln>
                  <a:noFill/>
                </a:ln>
                <a:effectLst/>
                <a:uLnTx/>
                <a:uFillTx/>
                <a:latin typeface="+mn-lt"/>
              </a:rPr>
              <a:t>).</a:t>
            </a:r>
          </a:p>
          <a:p>
            <a:pPr marL="177800" marR="0" lvl="0" indent="-177800" defTabSz="914400" eaLnBrk="0" fontAlgn="auto" latinLnBrk="0" hangingPunct="0">
              <a:lnSpc>
                <a:spcPct val="100000"/>
              </a:lnSpc>
              <a:spcBef>
                <a:spcPct val="50000"/>
              </a:spcBef>
              <a:spcAft>
                <a:spcPts val="0"/>
              </a:spcAft>
              <a:buClr>
                <a:srgbClr val="DB0613"/>
              </a:buClr>
              <a:buSzTx/>
              <a:buFont typeface="Webdings" pitchFamily="18" charset="2"/>
              <a:buChar char="4"/>
              <a:tabLst/>
              <a:defRPr/>
            </a:pPr>
            <a:r>
              <a:rPr kumimoji="0" lang="es-ES_tradnl" sz="1100" b="0" i="0" u="none" strike="noStrike" kern="0" cap="none" spc="0" normalizeH="0" baseline="0" noProof="0" dirty="0">
                <a:ln>
                  <a:noFill/>
                </a:ln>
                <a:effectLst/>
                <a:uLnTx/>
                <a:uFillTx/>
                <a:latin typeface="+mn-lt"/>
              </a:rPr>
              <a:t>Reconocimiento de Seguros como mitigante hasta un límite del 20%</a:t>
            </a:r>
          </a:p>
        </p:txBody>
      </p:sp>
      <p:sp>
        <p:nvSpPr>
          <p:cNvPr id="40" name="Text Box 19"/>
          <p:cNvSpPr txBox="1">
            <a:spLocks noChangeArrowheads="1"/>
          </p:cNvSpPr>
          <p:nvPr/>
        </p:nvSpPr>
        <p:spPr bwMode="auto">
          <a:xfrm>
            <a:off x="347093" y="5719608"/>
            <a:ext cx="2160000" cy="328612"/>
          </a:xfrm>
          <a:prstGeom prst="rect">
            <a:avLst/>
          </a:prstGeom>
          <a:solidFill>
            <a:srgbClr val="DB0613"/>
          </a:solidFill>
          <a:ln>
            <a:solidFill>
              <a:srgbClr val="A9A9A9"/>
            </a:solidFill>
          </a:ln>
          <a:extLst>
            <a:ext uri="{AF507438-7753-43E0-B8FC-AC1667EBCBE1}">
              <a14:hiddenEffects xmlns:a14="http://schemas.microsoft.com/office/drawing/2010/main">
                <a:effectLst>
                  <a:outerShdw dist="35921" dir="2700000" algn="ctr" rotWithShape="0">
                    <a:schemeClr val="bg2"/>
                  </a:outerShdw>
                </a:effectLst>
              </a14:hiddenEffects>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177800" indent="-177800">
              <a:defRPr>
                <a:solidFill>
                  <a:schemeClr val="tx1"/>
                </a:solidFill>
                <a:latin typeface="Arial" charset="0"/>
              </a:defRPr>
            </a:lvl1pPr>
            <a:lvl2pPr>
              <a:defRPr>
                <a:solidFill>
                  <a:schemeClr val="tx1"/>
                </a:solidFill>
                <a:latin typeface="Arial" charset="0"/>
              </a:defRPr>
            </a:lvl2pPr>
            <a:lvl3pPr>
              <a:defRPr>
                <a:solidFill>
                  <a:schemeClr val="tx1"/>
                </a:solidFill>
                <a:latin typeface="Arial" charset="0"/>
              </a:defRPr>
            </a:lvl3pPr>
            <a:lvl4pPr>
              <a:defRPr>
                <a:solidFill>
                  <a:schemeClr val="tx1"/>
                </a:solidFill>
                <a:latin typeface="Arial" charset="0"/>
              </a:defRPr>
            </a:lvl4pPr>
            <a:lvl5pPr>
              <a:defRPr>
                <a:solidFill>
                  <a:schemeClr val="tx1"/>
                </a:solidFill>
                <a:latin typeface="Arial" charset="0"/>
              </a:defRPr>
            </a:lvl5pPr>
            <a:lvl6pPr fontAlgn="base">
              <a:spcBef>
                <a:spcPct val="0"/>
              </a:spcBef>
              <a:spcAft>
                <a:spcPct val="0"/>
              </a:spcAft>
              <a:defRPr>
                <a:solidFill>
                  <a:schemeClr val="tx1"/>
                </a:solidFill>
                <a:latin typeface="Arial" charset="0"/>
              </a:defRPr>
            </a:lvl6pPr>
            <a:lvl7pPr fontAlgn="base">
              <a:spcBef>
                <a:spcPct val="0"/>
              </a:spcBef>
              <a:spcAft>
                <a:spcPct val="0"/>
              </a:spcAft>
              <a:defRPr>
                <a:solidFill>
                  <a:schemeClr val="tx1"/>
                </a:solidFill>
                <a:latin typeface="Arial" charset="0"/>
              </a:defRPr>
            </a:lvl7pPr>
            <a:lvl8pPr fontAlgn="base">
              <a:spcBef>
                <a:spcPct val="0"/>
              </a:spcBef>
              <a:spcAft>
                <a:spcPct val="0"/>
              </a:spcAft>
              <a:defRPr>
                <a:solidFill>
                  <a:schemeClr val="tx1"/>
                </a:solidFill>
                <a:latin typeface="Arial" charset="0"/>
              </a:defRPr>
            </a:lvl8pPr>
            <a:lvl9pPr fontAlgn="base">
              <a:spcBef>
                <a:spcPct val="0"/>
              </a:spcBef>
              <a:spcAft>
                <a:spcPct val="0"/>
              </a:spcAft>
              <a:defRPr>
                <a:solidFill>
                  <a:schemeClr val="tx1"/>
                </a:solidFill>
                <a:latin typeface="Arial" charset="0"/>
              </a:defRPr>
            </a:lvl9pPr>
          </a:lstStyle>
          <a:p>
            <a:pPr marL="0" marR="0" lvl="0" indent="-177800" algn="ctr" fontAlgn="auto">
              <a:lnSpc>
                <a:spcPct val="100000"/>
              </a:lnSpc>
              <a:spcBef>
                <a:spcPts val="0"/>
              </a:spcBef>
              <a:spcAft>
                <a:spcPts val="0"/>
              </a:spcAft>
              <a:buClr>
                <a:srgbClr val="BFA13E"/>
              </a:buClr>
              <a:buSzTx/>
              <a:buFont typeface="Webdings" pitchFamily="18" charset="2"/>
              <a:buNone/>
              <a:tabLst/>
              <a:defRPr/>
            </a:pPr>
            <a:r>
              <a:rPr lang="es-ES_tradnl" sz="1100" b="1" dirty="0">
                <a:solidFill>
                  <a:schemeClr val="lt1"/>
                </a:solidFill>
                <a:latin typeface="+mn-lt"/>
              </a:rPr>
              <a:t>Menor complejidad</a:t>
            </a:r>
          </a:p>
          <a:p>
            <a:pPr marL="0" marR="0" lvl="0" indent="-177800" algn="ctr" fontAlgn="auto">
              <a:lnSpc>
                <a:spcPct val="100000"/>
              </a:lnSpc>
              <a:spcBef>
                <a:spcPts val="0"/>
              </a:spcBef>
              <a:spcAft>
                <a:spcPts val="0"/>
              </a:spcAft>
              <a:buClr>
                <a:srgbClr val="BFA13E"/>
              </a:buClr>
              <a:buSzTx/>
              <a:buFont typeface="Webdings" pitchFamily="18" charset="2"/>
              <a:buNone/>
              <a:tabLst/>
              <a:defRPr/>
            </a:pPr>
            <a:r>
              <a:rPr lang="es-ES_tradnl" sz="1100" b="1" dirty="0">
                <a:solidFill>
                  <a:schemeClr val="lt1"/>
                </a:solidFill>
                <a:latin typeface="+mn-lt"/>
              </a:rPr>
              <a:t>Mayor requerimiento de capital</a:t>
            </a:r>
          </a:p>
        </p:txBody>
      </p:sp>
      <p:sp>
        <p:nvSpPr>
          <p:cNvPr id="41" name="Text Box 20"/>
          <p:cNvSpPr txBox="1">
            <a:spLocks noChangeArrowheads="1"/>
          </p:cNvSpPr>
          <p:nvPr/>
        </p:nvSpPr>
        <p:spPr bwMode="auto">
          <a:xfrm>
            <a:off x="6097816" y="5719608"/>
            <a:ext cx="2736000" cy="328612"/>
          </a:xfrm>
          <a:prstGeom prst="rect">
            <a:avLst/>
          </a:prstGeom>
          <a:solidFill>
            <a:srgbClr val="DB0613"/>
          </a:solidFill>
          <a:ln>
            <a:solidFill>
              <a:srgbClr val="A9A9A9"/>
            </a:solidFill>
          </a:ln>
          <a:extLst>
            <a:ext uri="{AF507438-7753-43E0-B8FC-AC1667EBCBE1}">
              <a14:hiddenEffects xmlns:a14="http://schemas.microsoft.com/office/drawing/2010/main">
                <a:effectLst>
                  <a:outerShdw dist="35921" dir="2700000" algn="ctr" rotWithShape="0">
                    <a:schemeClr val="bg2"/>
                  </a:outerShdw>
                </a:effectLst>
              </a14:hiddenEffects>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177800" indent="-177800">
              <a:defRPr>
                <a:solidFill>
                  <a:schemeClr val="tx1"/>
                </a:solidFill>
                <a:latin typeface="Arial" charset="0"/>
              </a:defRPr>
            </a:lvl1pPr>
            <a:lvl2pPr>
              <a:defRPr>
                <a:solidFill>
                  <a:schemeClr val="tx1"/>
                </a:solidFill>
                <a:latin typeface="Arial" charset="0"/>
              </a:defRPr>
            </a:lvl2pPr>
            <a:lvl3pPr>
              <a:defRPr>
                <a:solidFill>
                  <a:schemeClr val="tx1"/>
                </a:solidFill>
                <a:latin typeface="Arial" charset="0"/>
              </a:defRPr>
            </a:lvl3pPr>
            <a:lvl4pPr>
              <a:defRPr>
                <a:solidFill>
                  <a:schemeClr val="tx1"/>
                </a:solidFill>
                <a:latin typeface="Arial" charset="0"/>
              </a:defRPr>
            </a:lvl4pPr>
            <a:lvl5pPr>
              <a:defRPr>
                <a:solidFill>
                  <a:schemeClr val="tx1"/>
                </a:solidFill>
                <a:latin typeface="Arial" charset="0"/>
              </a:defRPr>
            </a:lvl5pPr>
            <a:lvl6pPr fontAlgn="base">
              <a:spcBef>
                <a:spcPct val="0"/>
              </a:spcBef>
              <a:spcAft>
                <a:spcPct val="0"/>
              </a:spcAft>
              <a:defRPr>
                <a:solidFill>
                  <a:schemeClr val="tx1"/>
                </a:solidFill>
                <a:latin typeface="Arial" charset="0"/>
              </a:defRPr>
            </a:lvl6pPr>
            <a:lvl7pPr fontAlgn="base">
              <a:spcBef>
                <a:spcPct val="0"/>
              </a:spcBef>
              <a:spcAft>
                <a:spcPct val="0"/>
              </a:spcAft>
              <a:defRPr>
                <a:solidFill>
                  <a:schemeClr val="tx1"/>
                </a:solidFill>
                <a:latin typeface="Arial" charset="0"/>
              </a:defRPr>
            </a:lvl7pPr>
            <a:lvl8pPr fontAlgn="base">
              <a:spcBef>
                <a:spcPct val="0"/>
              </a:spcBef>
              <a:spcAft>
                <a:spcPct val="0"/>
              </a:spcAft>
              <a:defRPr>
                <a:solidFill>
                  <a:schemeClr val="tx1"/>
                </a:solidFill>
                <a:latin typeface="Arial" charset="0"/>
              </a:defRPr>
            </a:lvl8pPr>
            <a:lvl9pPr fontAlgn="base">
              <a:spcBef>
                <a:spcPct val="0"/>
              </a:spcBef>
              <a:spcAft>
                <a:spcPct val="0"/>
              </a:spcAft>
              <a:defRPr>
                <a:solidFill>
                  <a:schemeClr val="tx1"/>
                </a:solidFill>
                <a:latin typeface="Arial" charset="0"/>
              </a:defRPr>
            </a:lvl9pPr>
          </a:lstStyle>
          <a:p>
            <a:pPr marL="0" algn="ctr">
              <a:buClr>
                <a:srgbClr val="BFA13E"/>
              </a:buClr>
              <a:defRPr/>
            </a:pPr>
            <a:r>
              <a:rPr lang="es-ES_tradnl" sz="1100" b="1" dirty="0">
                <a:solidFill>
                  <a:schemeClr val="lt1"/>
                </a:solidFill>
                <a:latin typeface="+mn-lt"/>
              </a:rPr>
              <a:t>Mayor complejidad</a:t>
            </a:r>
          </a:p>
          <a:p>
            <a:pPr marL="0" algn="ctr">
              <a:buClr>
                <a:srgbClr val="BFA13E"/>
              </a:buClr>
              <a:defRPr/>
            </a:pPr>
            <a:r>
              <a:rPr lang="es-ES_tradnl" sz="1100" b="1" dirty="0">
                <a:solidFill>
                  <a:schemeClr val="lt1"/>
                </a:solidFill>
                <a:latin typeface="+mn-lt"/>
              </a:rPr>
              <a:t>Menor requerimiento de capital</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Text Box 8"/>
          <p:cNvSpPr txBox="1">
            <a:spLocks noChangeArrowheads="1"/>
          </p:cNvSpPr>
          <p:nvPr/>
        </p:nvSpPr>
        <p:spPr bwMode="auto">
          <a:xfrm>
            <a:off x="539552" y="2052000"/>
            <a:ext cx="6516000" cy="3924000"/>
          </a:xfrm>
          <a:prstGeom prst="rect">
            <a:avLst/>
          </a:prstGeom>
          <a:solidFill>
            <a:schemeClr val="bg1"/>
          </a:solidFill>
          <a:ln w="9525">
            <a:solidFill>
              <a:schemeClr val="tx1">
                <a:lumMod val="50000"/>
                <a:lumOff val="50000"/>
              </a:schemeClr>
            </a:solidFill>
            <a:miter lim="800000"/>
            <a:headEnd/>
            <a:tailEnd/>
          </a:ln>
          <a:effectLst/>
        </p:spPr>
        <p:txBody>
          <a:bodyPr/>
          <a:lstStyle>
            <a:lvl1pPr marL="177800" indent="-177800">
              <a:defRPr>
                <a:solidFill>
                  <a:schemeClr val="tx1"/>
                </a:solidFill>
                <a:latin typeface="Arial" charset="0"/>
              </a:defRPr>
            </a:lvl1pPr>
            <a:lvl2pPr marL="355600" indent="-114300">
              <a:defRPr>
                <a:solidFill>
                  <a:schemeClr val="tx1"/>
                </a:solidFill>
                <a:latin typeface="Arial" charset="0"/>
              </a:defRPr>
            </a:lvl2pPr>
            <a:lvl3pPr marL="3392488" indent="-342900">
              <a:defRPr>
                <a:solidFill>
                  <a:schemeClr val="tx1"/>
                </a:solidFill>
                <a:latin typeface="Arial" charset="0"/>
              </a:defRPr>
            </a:lvl3pPr>
            <a:lvl4pPr marL="3914775" indent="-342900">
              <a:defRPr>
                <a:solidFill>
                  <a:schemeClr val="tx1"/>
                </a:solidFill>
                <a:latin typeface="Arial" charset="0"/>
              </a:defRPr>
            </a:lvl4pPr>
            <a:lvl5pPr marL="4437063" indent="-342900">
              <a:defRPr>
                <a:solidFill>
                  <a:schemeClr val="tx1"/>
                </a:solidFill>
                <a:latin typeface="Arial" charset="0"/>
              </a:defRPr>
            </a:lvl5pPr>
            <a:lvl6pPr marL="4894263" indent="-342900" fontAlgn="base">
              <a:spcBef>
                <a:spcPct val="0"/>
              </a:spcBef>
              <a:spcAft>
                <a:spcPct val="0"/>
              </a:spcAft>
              <a:defRPr>
                <a:solidFill>
                  <a:schemeClr val="tx1"/>
                </a:solidFill>
                <a:latin typeface="Arial" charset="0"/>
              </a:defRPr>
            </a:lvl6pPr>
            <a:lvl7pPr marL="5351463" indent="-342900" fontAlgn="base">
              <a:spcBef>
                <a:spcPct val="0"/>
              </a:spcBef>
              <a:spcAft>
                <a:spcPct val="0"/>
              </a:spcAft>
              <a:defRPr>
                <a:solidFill>
                  <a:schemeClr val="tx1"/>
                </a:solidFill>
                <a:latin typeface="Arial" charset="0"/>
              </a:defRPr>
            </a:lvl7pPr>
            <a:lvl8pPr marL="5808663" indent="-342900" fontAlgn="base">
              <a:spcBef>
                <a:spcPct val="0"/>
              </a:spcBef>
              <a:spcAft>
                <a:spcPct val="0"/>
              </a:spcAft>
              <a:defRPr>
                <a:solidFill>
                  <a:schemeClr val="tx1"/>
                </a:solidFill>
                <a:latin typeface="Arial" charset="0"/>
              </a:defRPr>
            </a:lvl8pPr>
            <a:lvl9pPr marL="6265863" indent="-342900" fontAlgn="base">
              <a:spcBef>
                <a:spcPct val="0"/>
              </a:spcBef>
              <a:spcAft>
                <a:spcPct val="0"/>
              </a:spcAft>
              <a:defRPr>
                <a:solidFill>
                  <a:schemeClr val="tx1"/>
                </a:solidFill>
                <a:latin typeface="Arial" charset="0"/>
              </a:defRPr>
            </a:lvl9pPr>
          </a:lstStyle>
          <a:p>
            <a:pPr marL="177800" marR="0" lvl="0" indent="-177800" defTabSz="914400" eaLnBrk="0" fontAlgn="auto" latinLnBrk="0" hangingPunct="0">
              <a:lnSpc>
                <a:spcPct val="100000"/>
              </a:lnSpc>
              <a:spcBef>
                <a:spcPct val="50000"/>
              </a:spcBef>
              <a:spcAft>
                <a:spcPts val="0"/>
              </a:spcAft>
              <a:buClr>
                <a:srgbClr val="DB0613"/>
              </a:buClr>
              <a:buSzTx/>
              <a:tabLst/>
              <a:defRPr/>
            </a:pPr>
            <a:endParaRPr kumimoji="0" lang="es-ES_tradnl" sz="1100" b="0" i="0" u="none" strike="noStrike" kern="0" cap="none" spc="0" normalizeH="0" baseline="0" noProof="0" dirty="0">
              <a:ln>
                <a:noFill/>
              </a:ln>
              <a:effectLst/>
              <a:uLnTx/>
              <a:uFillTx/>
              <a:latin typeface="+mn-lt"/>
            </a:endParaRPr>
          </a:p>
        </p:txBody>
      </p:sp>
      <p:sp>
        <p:nvSpPr>
          <p:cNvPr id="2" name="1 Título"/>
          <p:cNvSpPr>
            <a:spLocks noGrp="1"/>
          </p:cNvSpPr>
          <p:nvPr>
            <p:ph type="title"/>
          </p:nvPr>
        </p:nvSpPr>
        <p:spPr>
          <a:xfrm>
            <a:off x="47625" y="32965"/>
            <a:ext cx="8217470" cy="587723"/>
          </a:xfrm>
        </p:spPr>
        <p:txBody>
          <a:bodyPr/>
          <a:lstStyle/>
          <a:p>
            <a:r>
              <a:rPr lang="es-PE" dirty="0"/>
              <a:t>          Contexto Internacional del Riesgo Operacional</a:t>
            </a:r>
          </a:p>
        </p:txBody>
      </p:sp>
      <p:sp>
        <p:nvSpPr>
          <p:cNvPr id="11" name="Rounded Rectangle 3">
            <a:hlinkClick r:id="rId2" action="ppaction://hlinksldjump"/>
          </p:cNvPr>
          <p:cNvSpPr/>
          <p:nvPr/>
        </p:nvSpPr>
        <p:spPr>
          <a:xfrm>
            <a:off x="217915" y="146806"/>
            <a:ext cx="470426" cy="360040"/>
          </a:xfrm>
          <a:prstGeom prst="roundRect">
            <a:avLst/>
          </a:prstGeom>
          <a:solidFill>
            <a:srgbClr val="DB0613"/>
          </a:solidFill>
          <a:ln>
            <a:solidFill>
              <a:srgbClr val="A9A9A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400" b="1" dirty="0"/>
              <a:t>1</a:t>
            </a:r>
          </a:p>
        </p:txBody>
      </p:sp>
      <p:sp>
        <p:nvSpPr>
          <p:cNvPr id="27" name="Text Box 100"/>
          <p:cNvSpPr txBox="1">
            <a:spLocks noChangeArrowheads="1"/>
          </p:cNvSpPr>
          <p:nvPr/>
        </p:nvSpPr>
        <p:spPr bwMode="blackWhite">
          <a:xfrm>
            <a:off x="323528" y="620688"/>
            <a:ext cx="7056784" cy="400110"/>
          </a:xfrm>
          <a:prstGeom prst="rect">
            <a:avLst/>
          </a:prstGeom>
          <a:noFill/>
          <a:ln w="12700" algn="ctr">
            <a:noFill/>
            <a:miter lim="800000"/>
            <a:headEnd/>
            <a:tailEnd/>
          </a:ln>
        </p:spPr>
        <p:txBody>
          <a:bodyPr wrap="square">
            <a:spAutoFit/>
          </a:bodyPr>
          <a:lstStyle/>
          <a:p>
            <a:pPr marL="6350" indent="-6350" algn="just">
              <a:spcBef>
                <a:spcPct val="20000"/>
              </a:spcBef>
              <a:buClr>
                <a:schemeClr val="tx1"/>
              </a:buClr>
            </a:pPr>
            <a:r>
              <a:rPr lang="es-CL" sz="2000" b="1" dirty="0"/>
              <a:t>2. Situación por país</a:t>
            </a:r>
          </a:p>
        </p:txBody>
      </p:sp>
      <p:sp>
        <p:nvSpPr>
          <p:cNvPr id="15" name="Text Box 100"/>
          <p:cNvSpPr txBox="1">
            <a:spLocks noChangeArrowheads="1"/>
          </p:cNvSpPr>
          <p:nvPr/>
        </p:nvSpPr>
        <p:spPr bwMode="blackWhite">
          <a:xfrm>
            <a:off x="323528" y="980728"/>
            <a:ext cx="7056784" cy="400110"/>
          </a:xfrm>
          <a:prstGeom prst="rect">
            <a:avLst/>
          </a:prstGeom>
          <a:noFill/>
          <a:ln w="12700" algn="ctr">
            <a:noFill/>
            <a:miter lim="800000"/>
            <a:headEnd/>
            <a:tailEnd/>
          </a:ln>
        </p:spPr>
        <p:txBody>
          <a:bodyPr wrap="square">
            <a:spAutoFit/>
          </a:bodyPr>
          <a:lstStyle/>
          <a:p>
            <a:pPr marL="6350" indent="-6350" algn="just">
              <a:spcBef>
                <a:spcPct val="20000"/>
              </a:spcBef>
              <a:buClr>
                <a:schemeClr val="tx1"/>
              </a:buClr>
            </a:pPr>
            <a:r>
              <a:rPr lang="es-CL" sz="2000" b="1" dirty="0">
                <a:solidFill>
                  <a:schemeClr val="tx1">
                    <a:lumMod val="50000"/>
                    <a:lumOff val="50000"/>
                  </a:schemeClr>
                </a:solidFill>
              </a:rPr>
              <a:t>Método aplicado por Top 100-Bancos</a:t>
            </a:r>
          </a:p>
        </p:txBody>
      </p:sp>
      <p:sp>
        <p:nvSpPr>
          <p:cNvPr id="24" name="Text Box 100"/>
          <p:cNvSpPr txBox="1">
            <a:spLocks noChangeArrowheads="1"/>
          </p:cNvSpPr>
          <p:nvPr/>
        </p:nvSpPr>
        <p:spPr bwMode="blackWhite">
          <a:xfrm>
            <a:off x="323528" y="1444714"/>
            <a:ext cx="8496622" cy="564001"/>
          </a:xfrm>
          <a:prstGeom prst="rect">
            <a:avLst/>
          </a:prstGeom>
          <a:noFill/>
          <a:ln w="12700" algn="ctr">
            <a:noFill/>
            <a:miter lim="800000"/>
            <a:headEnd/>
            <a:tailEnd/>
          </a:ln>
        </p:spPr>
        <p:txBody>
          <a:bodyPr wrap="square">
            <a:spAutoFit/>
          </a:bodyPr>
          <a:lstStyle/>
          <a:p>
            <a:pPr algn="ctr">
              <a:lnSpc>
                <a:spcPts val="1800"/>
              </a:lnSpc>
            </a:pPr>
            <a:r>
              <a:rPr lang="es-ES" sz="1600" b="1" dirty="0"/>
              <a:t>El análisis por país muestra aquellos donde está ampliamente extendido y otros cuya aplicación es muy limitada.</a:t>
            </a:r>
          </a:p>
        </p:txBody>
      </p:sp>
      <p:graphicFrame>
        <p:nvGraphicFramePr>
          <p:cNvPr id="25" name="Chart 21"/>
          <p:cNvGraphicFramePr>
            <a:graphicFrameLocks noGrp="1" noChangeAspect="1"/>
          </p:cNvGraphicFramePr>
          <p:nvPr>
            <p:extLst>
              <p:ext uri="{D42A27DB-BD31-4B8C-83A1-F6EECF244321}">
                <p14:modId xmlns:p14="http://schemas.microsoft.com/office/powerpoint/2010/main" val="26561017"/>
              </p:ext>
            </p:extLst>
          </p:nvPr>
        </p:nvGraphicFramePr>
        <p:xfrm>
          <a:off x="696028" y="2412000"/>
          <a:ext cx="6219904" cy="3564000"/>
        </p:xfrm>
        <a:graphic>
          <a:graphicData uri="http://schemas.openxmlformats.org/drawingml/2006/chart">
            <c:chart xmlns:c="http://schemas.openxmlformats.org/drawingml/2006/chart" xmlns:r="http://schemas.openxmlformats.org/officeDocument/2006/relationships" r:id="rId3"/>
          </a:graphicData>
        </a:graphic>
      </p:graphicFrame>
      <p:sp>
        <p:nvSpPr>
          <p:cNvPr id="34" name="TextBox 83"/>
          <p:cNvSpPr txBox="1">
            <a:spLocks noChangeArrowheads="1"/>
          </p:cNvSpPr>
          <p:nvPr/>
        </p:nvSpPr>
        <p:spPr bwMode="auto">
          <a:xfrm>
            <a:off x="968417" y="2047200"/>
            <a:ext cx="5658271" cy="274638"/>
          </a:xfrm>
          <a:prstGeom prst="rect">
            <a:avLst/>
          </a:prstGeom>
          <a:noFill/>
          <a:ln w="9525">
            <a:noFill/>
            <a:miter lim="800000"/>
            <a:headEnd/>
            <a:tailEnd/>
          </a:ln>
        </p:spPr>
        <p:txBody>
          <a:bodyPr/>
          <a:lstStyle/>
          <a:p>
            <a:pPr algn="ctr">
              <a:defRPr/>
            </a:pPr>
            <a:r>
              <a:rPr lang="es-ES" sz="1200" b="1" dirty="0">
                <a:latin typeface="+mj-lt"/>
              </a:rPr>
              <a:t>Distribución de Top-100 Bancos por País y Método aplicado</a:t>
            </a:r>
            <a:br>
              <a:rPr lang="es-ES" sz="1200" b="1" dirty="0">
                <a:latin typeface="+mj-lt"/>
              </a:rPr>
            </a:br>
            <a:r>
              <a:rPr lang="es-ES" sz="1200" b="1" dirty="0">
                <a:latin typeface="+mj-lt"/>
              </a:rPr>
              <a:t>(Número de Bancos)</a:t>
            </a:r>
          </a:p>
        </p:txBody>
      </p:sp>
      <p:sp>
        <p:nvSpPr>
          <p:cNvPr id="35" name="Rounded Rectangular Callout 1"/>
          <p:cNvSpPr/>
          <p:nvPr/>
        </p:nvSpPr>
        <p:spPr>
          <a:xfrm>
            <a:off x="5004048" y="2996952"/>
            <a:ext cx="4032448" cy="2376264"/>
          </a:xfrm>
          <a:prstGeom prst="wedgeRoundRectCallout">
            <a:avLst>
              <a:gd name="adj1" fmla="val -54975"/>
              <a:gd name="adj2" fmla="val 11501"/>
              <a:gd name="adj3" fmla="val 16667"/>
            </a:avLst>
          </a:prstGeom>
          <a:solidFill>
            <a:schemeClr val="bg1"/>
          </a:solidFill>
          <a:ln>
            <a:solidFill>
              <a:srgbClr val="DB061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1200"/>
          </a:p>
        </p:txBody>
      </p:sp>
      <p:sp>
        <p:nvSpPr>
          <p:cNvPr id="37" name="TextBox 83"/>
          <p:cNvSpPr txBox="1">
            <a:spLocks noChangeArrowheads="1"/>
          </p:cNvSpPr>
          <p:nvPr/>
        </p:nvSpPr>
        <p:spPr bwMode="auto">
          <a:xfrm>
            <a:off x="5058272" y="3087084"/>
            <a:ext cx="3924000" cy="2196000"/>
          </a:xfrm>
          <a:prstGeom prst="rect">
            <a:avLst/>
          </a:prstGeom>
          <a:noFill/>
          <a:ln w="9525">
            <a:noFill/>
            <a:miter lim="800000"/>
            <a:headEnd/>
            <a:tailEnd/>
          </a:ln>
        </p:spPr>
        <p:txBody>
          <a:bodyPr/>
          <a:lstStyle/>
          <a:p>
            <a:pPr marL="176400" indent="-176400" algn="just" fontAlgn="ctr">
              <a:spcBef>
                <a:spcPts val="600"/>
              </a:spcBef>
              <a:spcAft>
                <a:spcPts val="0"/>
              </a:spcAft>
              <a:buClr>
                <a:srgbClr val="DB0613"/>
              </a:buClr>
              <a:buFont typeface="Webdings" pitchFamily="18" charset="2"/>
              <a:buChar char="4"/>
            </a:pPr>
            <a:r>
              <a:rPr lang="es-ES" sz="1200" dirty="0"/>
              <a:t>La existencia de Entidades </a:t>
            </a:r>
            <a:r>
              <a:rPr lang="es-ES" sz="1200" b="1" dirty="0"/>
              <a:t>AMA </a:t>
            </a:r>
            <a:r>
              <a:rPr lang="es-ES" sz="1200" dirty="0"/>
              <a:t>se encuentra ampliamente </a:t>
            </a:r>
            <a:r>
              <a:rPr lang="es-ES" sz="1200" b="1" dirty="0"/>
              <a:t>distribuida</a:t>
            </a:r>
            <a:r>
              <a:rPr lang="es-ES" sz="1200" dirty="0">
                <a:solidFill>
                  <a:srgbClr val="FF0000"/>
                </a:solidFill>
              </a:rPr>
              <a:t> </a:t>
            </a:r>
            <a:r>
              <a:rPr lang="es-ES" sz="1200" dirty="0"/>
              <a:t>entre diferentes países.</a:t>
            </a:r>
          </a:p>
          <a:p>
            <a:pPr marL="176400" indent="-176400" algn="just" fontAlgn="ctr">
              <a:spcBef>
                <a:spcPts val="600"/>
              </a:spcBef>
              <a:spcAft>
                <a:spcPts val="0"/>
              </a:spcAft>
              <a:buClr>
                <a:srgbClr val="DB0613"/>
              </a:buClr>
              <a:buFont typeface="Webdings" pitchFamily="18" charset="2"/>
              <a:buChar char="4"/>
            </a:pPr>
            <a:r>
              <a:rPr lang="es-ES" sz="1200" b="1" dirty="0"/>
              <a:t>Predominio</a:t>
            </a:r>
            <a:r>
              <a:rPr lang="es-ES" sz="1200" dirty="0"/>
              <a:t> de Entidades </a:t>
            </a:r>
            <a:r>
              <a:rPr lang="es-ES" sz="1200" b="1" dirty="0"/>
              <a:t>AMA</a:t>
            </a:r>
            <a:r>
              <a:rPr lang="es-ES" sz="1200" dirty="0"/>
              <a:t> entre los </a:t>
            </a:r>
            <a:r>
              <a:rPr lang="es-ES" sz="1200" i="1" dirty="0"/>
              <a:t>Top </a:t>
            </a:r>
            <a:r>
              <a:rPr lang="es-ES" sz="1200" dirty="0"/>
              <a:t>Bancos de</a:t>
            </a:r>
            <a:r>
              <a:rPr lang="es-ES" sz="1200" b="1" dirty="0"/>
              <a:t> Francia, Australia, Italia, Holanda y Japón</a:t>
            </a:r>
            <a:r>
              <a:rPr lang="es-ES" sz="1200" dirty="0"/>
              <a:t>. Por su parte, en </a:t>
            </a:r>
            <a:r>
              <a:rPr lang="es-ES" sz="1200" b="1" dirty="0"/>
              <a:t>USA</a:t>
            </a:r>
            <a:r>
              <a:rPr lang="es-ES" sz="1200" dirty="0"/>
              <a:t> hay diversas entidades que manifiestan estar ya preparadas para aplicar AMA</a:t>
            </a:r>
          </a:p>
          <a:p>
            <a:pPr marL="176400" indent="-176400" algn="just" fontAlgn="ctr">
              <a:spcBef>
                <a:spcPts val="600"/>
              </a:spcBef>
              <a:spcAft>
                <a:spcPts val="0"/>
              </a:spcAft>
              <a:buClr>
                <a:srgbClr val="DB0613"/>
              </a:buClr>
              <a:buFont typeface="Webdings" pitchFamily="18" charset="2"/>
              <a:buChar char="4"/>
            </a:pPr>
            <a:r>
              <a:rPr lang="es-ES" sz="1200" dirty="0"/>
              <a:t>Por el contrario, los países con </a:t>
            </a:r>
            <a:r>
              <a:rPr lang="es-ES" sz="1200" b="1" dirty="0"/>
              <a:t>menos Entidades </a:t>
            </a:r>
            <a:r>
              <a:rPr lang="es-ES" sz="1200" dirty="0"/>
              <a:t>autorizadas a aplicar</a:t>
            </a:r>
            <a:r>
              <a:rPr lang="es-ES" sz="1200" b="1" dirty="0"/>
              <a:t> AMA son UK, España y Canadá.</a:t>
            </a:r>
          </a:p>
          <a:p>
            <a:pPr marL="176400" indent="-176400" algn="just" fontAlgn="ctr">
              <a:spcBef>
                <a:spcPts val="600"/>
              </a:spcBef>
              <a:spcAft>
                <a:spcPts val="0"/>
              </a:spcAft>
              <a:buClr>
                <a:srgbClr val="DB0613"/>
              </a:buClr>
              <a:buFont typeface="Webdings" pitchFamily="18" charset="2"/>
              <a:buChar char="4"/>
            </a:pPr>
            <a:r>
              <a:rPr lang="es-ES" sz="1200" dirty="0"/>
              <a:t>El Método Estándar Alternativo (</a:t>
            </a:r>
            <a:r>
              <a:rPr lang="es-ES" sz="1200" b="1" dirty="0"/>
              <a:t>ASA</a:t>
            </a:r>
            <a:r>
              <a:rPr lang="es-ES" sz="1200" dirty="0"/>
              <a:t>) es únicamente aplicado en entidades Top-100 en  </a:t>
            </a:r>
            <a:r>
              <a:rPr lang="es-ES" sz="1200" b="1" dirty="0"/>
              <a:t>Brasil</a:t>
            </a:r>
            <a:r>
              <a:rPr lang="es-ES" sz="1200" baseline="30000" dirty="0"/>
              <a:t>(1)</a:t>
            </a:r>
            <a:r>
              <a:rPr lang="es-ES" sz="1200" dirty="0"/>
              <a:t>.</a:t>
            </a:r>
          </a:p>
        </p:txBody>
      </p:sp>
      <p:sp>
        <p:nvSpPr>
          <p:cNvPr id="42" name="TextBox 14"/>
          <p:cNvSpPr txBox="1">
            <a:spLocks noChangeArrowheads="1"/>
          </p:cNvSpPr>
          <p:nvPr/>
        </p:nvSpPr>
        <p:spPr bwMode="auto">
          <a:xfrm>
            <a:off x="1911350" y="6188616"/>
            <a:ext cx="5468962" cy="400110"/>
          </a:xfrm>
          <a:prstGeom prst="rect">
            <a:avLst/>
          </a:prstGeom>
          <a:noFill/>
          <a:ln w="9525">
            <a:noFill/>
            <a:miter lim="800000"/>
            <a:headEnd/>
            <a:tailEnd/>
          </a:ln>
        </p:spPr>
        <p:txBody>
          <a:bodyPr wrap="square">
            <a:spAutoFit/>
          </a:bodyPr>
          <a:lstStyle/>
          <a:p>
            <a:pPr marL="228600" indent="-228600">
              <a:buAutoNum type="arabicParenBoth"/>
            </a:pPr>
            <a:r>
              <a:rPr lang="es-ES" sz="1000" dirty="0"/>
              <a:t>Si bien, </a:t>
            </a:r>
            <a:r>
              <a:rPr lang="es-ES" sz="1000" dirty="0" err="1"/>
              <a:t>Bacen</a:t>
            </a:r>
            <a:r>
              <a:rPr lang="es-ES" sz="1000" dirty="0"/>
              <a:t> ha iniciado el proceso de autorización para aplicar método AMA en las entidades brasileñas a partir de 2013.</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Text Box 8"/>
          <p:cNvSpPr txBox="1">
            <a:spLocks noChangeArrowheads="1"/>
          </p:cNvSpPr>
          <p:nvPr/>
        </p:nvSpPr>
        <p:spPr bwMode="auto">
          <a:xfrm>
            <a:off x="539552" y="2052000"/>
            <a:ext cx="7704000" cy="3312000"/>
          </a:xfrm>
          <a:prstGeom prst="rect">
            <a:avLst/>
          </a:prstGeom>
          <a:solidFill>
            <a:schemeClr val="bg1"/>
          </a:solidFill>
          <a:ln w="9525">
            <a:solidFill>
              <a:schemeClr val="tx1">
                <a:lumMod val="50000"/>
                <a:lumOff val="50000"/>
              </a:schemeClr>
            </a:solidFill>
            <a:miter lim="800000"/>
            <a:headEnd/>
            <a:tailEnd/>
          </a:ln>
          <a:effectLst/>
        </p:spPr>
        <p:txBody>
          <a:bodyPr/>
          <a:lstStyle>
            <a:lvl1pPr marL="177800" indent="-177800">
              <a:defRPr>
                <a:solidFill>
                  <a:schemeClr val="tx1"/>
                </a:solidFill>
                <a:latin typeface="Arial" charset="0"/>
              </a:defRPr>
            </a:lvl1pPr>
            <a:lvl2pPr marL="355600" indent="-114300">
              <a:defRPr>
                <a:solidFill>
                  <a:schemeClr val="tx1"/>
                </a:solidFill>
                <a:latin typeface="Arial" charset="0"/>
              </a:defRPr>
            </a:lvl2pPr>
            <a:lvl3pPr marL="3392488" indent="-342900">
              <a:defRPr>
                <a:solidFill>
                  <a:schemeClr val="tx1"/>
                </a:solidFill>
                <a:latin typeface="Arial" charset="0"/>
              </a:defRPr>
            </a:lvl3pPr>
            <a:lvl4pPr marL="3914775" indent="-342900">
              <a:defRPr>
                <a:solidFill>
                  <a:schemeClr val="tx1"/>
                </a:solidFill>
                <a:latin typeface="Arial" charset="0"/>
              </a:defRPr>
            </a:lvl4pPr>
            <a:lvl5pPr marL="4437063" indent="-342900">
              <a:defRPr>
                <a:solidFill>
                  <a:schemeClr val="tx1"/>
                </a:solidFill>
                <a:latin typeface="Arial" charset="0"/>
              </a:defRPr>
            </a:lvl5pPr>
            <a:lvl6pPr marL="4894263" indent="-342900" fontAlgn="base">
              <a:spcBef>
                <a:spcPct val="0"/>
              </a:spcBef>
              <a:spcAft>
                <a:spcPct val="0"/>
              </a:spcAft>
              <a:defRPr>
                <a:solidFill>
                  <a:schemeClr val="tx1"/>
                </a:solidFill>
                <a:latin typeface="Arial" charset="0"/>
              </a:defRPr>
            </a:lvl6pPr>
            <a:lvl7pPr marL="5351463" indent="-342900" fontAlgn="base">
              <a:spcBef>
                <a:spcPct val="0"/>
              </a:spcBef>
              <a:spcAft>
                <a:spcPct val="0"/>
              </a:spcAft>
              <a:defRPr>
                <a:solidFill>
                  <a:schemeClr val="tx1"/>
                </a:solidFill>
                <a:latin typeface="Arial" charset="0"/>
              </a:defRPr>
            </a:lvl7pPr>
            <a:lvl8pPr marL="5808663" indent="-342900" fontAlgn="base">
              <a:spcBef>
                <a:spcPct val="0"/>
              </a:spcBef>
              <a:spcAft>
                <a:spcPct val="0"/>
              </a:spcAft>
              <a:defRPr>
                <a:solidFill>
                  <a:schemeClr val="tx1"/>
                </a:solidFill>
                <a:latin typeface="Arial" charset="0"/>
              </a:defRPr>
            </a:lvl8pPr>
            <a:lvl9pPr marL="6265863" indent="-342900" fontAlgn="base">
              <a:spcBef>
                <a:spcPct val="0"/>
              </a:spcBef>
              <a:spcAft>
                <a:spcPct val="0"/>
              </a:spcAft>
              <a:defRPr>
                <a:solidFill>
                  <a:schemeClr val="tx1"/>
                </a:solidFill>
                <a:latin typeface="Arial" charset="0"/>
              </a:defRPr>
            </a:lvl9pPr>
          </a:lstStyle>
          <a:p>
            <a:pPr marL="177800" marR="0" lvl="0" indent="-177800" defTabSz="914400" eaLnBrk="0" fontAlgn="auto" latinLnBrk="0" hangingPunct="0">
              <a:lnSpc>
                <a:spcPct val="100000"/>
              </a:lnSpc>
              <a:spcBef>
                <a:spcPct val="50000"/>
              </a:spcBef>
              <a:spcAft>
                <a:spcPts val="0"/>
              </a:spcAft>
              <a:buClr>
                <a:srgbClr val="DB0613"/>
              </a:buClr>
              <a:buSzTx/>
              <a:tabLst/>
              <a:defRPr/>
            </a:pPr>
            <a:endParaRPr kumimoji="0" lang="es-ES_tradnl" sz="1100" b="0" i="0" u="none" strike="noStrike" kern="0" cap="none" spc="0" normalizeH="0" baseline="0" noProof="0" dirty="0">
              <a:ln>
                <a:noFill/>
              </a:ln>
              <a:effectLst/>
              <a:uLnTx/>
              <a:uFillTx/>
              <a:latin typeface="+mn-lt"/>
            </a:endParaRPr>
          </a:p>
        </p:txBody>
      </p:sp>
      <p:sp>
        <p:nvSpPr>
          <p:cNvPr id="2" name="1 Título"/>
          <p:cNvSpPr>
            <a:spLocks noGrp="1"/>
          </p:cNvSpPr>
          <p:nvPr>
            <p:ph type="title"/>
          </p:nvPr>
        </p:nvSpPr>
        <p:spPr>
          <a:xfrm>
            <a:off x="47625" y="32965"/>
            <a:ext cx="8217470" cy="587723"/>
          </a:xfrm>
        </p:spPr>
        <p:txBody>
          <a:bodyPr/>
          <a:lstStyle/>
          <a:p>
            <a:r>
              <a:rPr lang="es-PE" dirty="0"/>
              <a:t>          Contexto Internacional del Riesgo Operacional</a:t>
            </a:r>
          </a:p>
        </p:txBody>
      </p:sp>
      <p:sp>
        <p:nvSpPr>
          <p:cNvPr id="11" name="Rounded Rectangle 3">
            <a:hlinkClick r:id="rId2" action="ppaction://hlinksldjump"/>
          </p:cNvPr>
          <p:cNvSpPr/>
          <p:nvPr/>
        </p:nvSpPr>
        <p:spPr>
          <a:xfrm>
            <a:off x="217915" y="146806"/>
            <a:ext cx="470426" cy="360040"/>
          </a:xfrm>
          <a:prstGeom prst="roundRect">
            <a:avLst/>
          </a:prstGeom>
          <a:solidFill>
            <a:srgbClr val="DB0613"/>
          </a:solidFill>
          <a:ln>
            <a:solidFill>
              <a:srgbClr val="A9A9A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400" b="1" dirty="0"/>
              <a:t>1</a:t>
            </a:r>
          </a:p>
        </p:txBody>
      </p:sp>
      <p:sp>
        <p:nvSpPr>
          <p:cNvPr id="27" name="Text Box 100"/>
          <p:cNvSpPr txBox="1">
            <a:spLocks noChangeArrowheads="1"/>
          </p:cNvSpPr>
          <p:nvPr/>
        </p:nvSpPr>
        <p:spPr bwMode="blackWhite">
          <a:xfrm>
            <a:off x="323528" y="620688"/>
            <a:ext cx="7056784" cy="400110"/>
          </a:xfrm>
          <a:prstGeom prst="rect">
            <a:avLst/>
          </a:prstGeom>
          <a:noFill/>
          <a:ln w="12700" algn="ctr">
            <a:noFill/>
            <a:miter lim="800000"/>
            <a:headEnd/>
            <a:tailEnd/>
          </a:ln>
        </p:spPr>
        <p:txBody>
          <a:bodyPr wrap="square">
            <a:spAutoFit/>
          </a:bodyPr>
          <a:lstStyle/>
          <a:p>
            <a:pPr marL="6350" indent="-6350" algn="just">
              <a:spcBef>
                <a:spcPct val="20000"/>
              </a:spcBef>
              <a:buClr>
                <a:schemeClr val="tx1"/>
              </a:buClr>
            </a:pPr>
            <a:r>
              <a:rPr lang="es-CL" sz="2000" b="1" dirty="0"/>
              <a:t>2. Situación por país</a:t>
            </a:r>
          </a:p>
        </p:txBody>
      </p:sp>
      <p:sp>
        <p:nvSpPr>
          <p:cNvPr id="15" name="Text Box 100"/>
          <p:cNvSpPr txBox="1">
            <a:spLocks noChangeArrowheads="1"/>
          </p:cNvSpPr>
          <p:nvPr/>
        </p:nvSpPr>
        <p:spPr bwMode="blackWhite">
          <a:xfrm>
            <a:off x="323528" y="980728"/>
            <a:ext cx="7056784" cy="400110"/>
          </a:xfrm>
          <a:prstGeom prst="rect">
            <a:avLst/>
          </a:prstGeom>
          <a:noFill/>
          <a:ln w="12700" algn="ctr">
            <a:noFill/>
            <a:miter lim="800000"/>
            <a:headEnd/>
            <a:tailEnd/>
          </a:ln>
        </p:spPr>
        <p:txBody>
          <a:bodyPr wrap="square">
            <a:spAutoFit/>
          </a:bodyPr>
          <a:lstStyle/>
          <a:p>
            <a:pPr marL="6350" indent="-6350" algn="just">
              <a:spcBef>
                <a:spcPct val="20000"/>
              </a:spcBef>
              <a:buClr>
                <a:schemeClr val="tx1"/>
              </a:buClr>
            </a:pPr>
            <a:r>
              <a:rPr lang="es-CL" sz="2000" b="1" dirty="0">
                <a:solidFill>
                  <a:schemeClr val="tx1">
                    <a:lumMod val="50000"/>
                    <a:lumOff val="50000"/>
                  </a:schemeClr>
                </a:solidFill>
              </a:rPr>
              <a:t>Método aplicado por Top 100-Bancos</a:t>
            </a:r>
          </a:p>
        </p:txBody>
      </p:sp>
      <p:sp>
        <p:nvSpPr>
          <p:cNvPr id="24" name="Text Box 100"/>
          <p:cNvSpPr txBox="1">
            <a:spLocks noChangeArrowheads="1"/>
          </p:cNvSpPr>
          <p:nvPr/>
        </p:nvSpPr>
        <p:spPr bwMode="blackWhite">
          <a:xfrm>
            <a:off x="323528" y="1444714"/>
            <a:ext cx="8496622" cy="553998"/>
          </a:xfrm>
          <a:prstGeom prst="rect">
            <a:avLst/>
          </a:prstGeom>
          <a:noFill/>
          <a:ln w="12700" algn="ctr">
            <a:noFill/>
            <a:miter lim="800000"/>
            <a:headEnd/>
            <a:tailEnd/>
          </a:ln>
        </p:spPr>
        <p:txBody>
          <a:bodyPr wrap="square">
            <a:spAutoFit/>
          </a:bodyPr>
          <a:lstStyle/>
          <a:p>
            <a:pPr algn="ctr">
              <a:lnSpc>
                <a:spcPts val="1800"/>
              </a:lnSpc>
            </a:pPr>
            <a:r>
              <a:rPr lang="es-ES" sz="1600" b="1" dirty="0"/>
              <a:t>La aplicación del método AMA se encuentra  especialmente extendida entre los Bancos del Top-40 (un 58%) y  en menor medida en el resto (22%).</a:t>
            </a:r>
          </a:p>
        </p:txBody>
      </p:sp>
      <p:sp>
        <p:nvSpPr>
          <p:cNvPr id="34" name="TextBox 83"/>
          <p:cNvSpPr txBox="1">
            <a:spLocks noChangeArrowheads="1"/>
          </p:cNvSpPr>
          <p:nvPr/>
        </p:nvSpPr>
        <p:spPr bwMode="auto">
          <a:xfrm>
            <a:off x="1562417" y="2047200"/>
            <a:ext cx="5658271" cy="274638"/>
          </a:xfrm>
          <a:prstGeom prst="rect">
            <a:avLst/>
          </a:prstGeom>
          <a:noFill/>
          <a:ln w="9525">
            <a:noFill/>
            <a:miter lim="800000"/>
            <a:headEnd/>
            <a:tailEnd/>
          </a:ln>
        </p:spPr>
        <p:txBody>
          <a:bodyPr/>
          <a:lstStyle/>
          <a:p>
            <a:pPr algn="ctr">
              <a:defRPr/>
            </a:pPr>
            <a:r>
              <a:rPr lang="es-ES" sz="1200" b="1" dirty="0"/>
              <a:t>Método aplicado por las Entidades en función de su dimensión(Total Activos)</a:t>
            </a:r>
          </a:p>
        </p:txBody>
      </p:sp>
      <p:graphicFrame>
        <p:nvGraphicFramePr>
          <p:cNvPr id="13" name="Chart 22"/>
          <p:cNvGraphicFramePr>
            <a:graphicFrameLocks noGrp="1"/>
          </p:cNvGraphicFramePr>
          <p:nvPr>
            <p:extLst>
              <p:ext uri="{D42A27DB-BD31-4B8C-83A1-F6EECF244321}">
                <p14:modId xmlns:p14="http://schemas.microsoft.com/office/powerpoint/2010/main" val="250101826"/>
              </p:ext>
            </p:extLst>
          </p:nvPr>
        </p:nvGraphicFramePr>
        <p:xfrm>
          <a:off x="396000" y="2232000"/>
          <a:ext cx="7120063" cy="3023915"/>
        </p:xfrm>
        <a:graphic>
          <a:graphicData uri="http://schemas.openxmlformats.org/drawingml/2006/chart">
            <c:chart xmlns:c="http://schemas.openxmlformats.org/drawingml/2006/chart" xmlns:r="http://schemas.openxmlformats.org/officeDocument/2006/relationships" r:id="rId3"/>
          </a:graphicData>
        </a:graphic>
      </p:graphicFrame>
      <p:sp>
        <p:nvSpPr>
          <p:cNvPr id="14" name="TextBox 15"/>
          <p:cNvSpPr txBox="1">
            <a:spLocks noChangeArrowheads="1"/>
          </p:cNvSpPr>
          <p:nvPr/>
        </p:nvSpPr>
        <p:spPr bwMode="auto">
          <a:xfrm>
            <a:off x="7030388" y="3212976"/>
            <a:ext cx="1214020" cy="553998"/>
          </a:xfrm>
          <a:prstGeom prst="rect">
            <a:avLst/>
          </a:prstGeom>
          <a:solidFill>
            <a:schemeClr val="bg1">
              <a:alpha val="0"/>
            </a:schemeClr>
          </a:solidFill>
          <a:ln w="9525">
            <a:noFill/>
            <a:miter lim="800000"/>
            <a:headEnd/>
            <a:tailEnd/>
          </a:ln>
        </p:spPr>
        <p:txBody>
          <a:bodyPr wrap="square">
            <a:spAutoFit/>
          </a:bodyPr>
          <a:lstStyle/>
          <a:p>
            <a:pPr algn="ctr"/>
            <a:r>
              <a:rPr lang="es-ES" sz="1000" b="1" dirty="0"/>
              <a:t>Media  AMA </a:t>
            </a:r>
          </a:p>
          <a:p>
            <a:pPr algn="ctr"/>
            <a:r>
              <a:rPr lang="es-ES" sz="1000" b="1" dirty="0"/>
              <a:t>Top 40:</a:t>
            </a:r>
          </a:p>
          <a:p>
            <a:pPr algn="ctr"/>
            <a:r>
              <a:rPr lang="es-ES" sz="1000" b="1" dirty="0"/>
              <a:t>58%</a:t>
            </a:r>
          </a:p>
        </p:txBody>
      </p:sp>
      <p:sp>
        <p:nvSpPr>
          <p:cNvPr id="16" name="TextBox 16"/>
          <p:cNvSpPr txBox="1">
            <a:spLocks noChangeArrowheads="1"/>
          </p:cNvSpPr>
          <p:nvPr/>
        </p:nvSpPr>
        <p:spPr bwMode="auto">
          <a:xfrm>
            <a:off x="7099925" y="4221088"/>
            <a:ext cx="1216491" cy="553998"/>
          </a:xfrm>
          <a:prstGeom prst="rect">
            <a:avLst/>
          </a:prstGeom>
          <a:solidFill>
            <a:schemeClr val="bg1">
              <a:alpha val="0"/>
            </a:schemeClr>
          </a:solidFill>
          <a:ln w="9525">
            <a:noFill/>
            <a:miter lim="800000"/>
            <a:headEnd/>
            <a:tailEnd/>
          </a:ln>
        </p:spPr>
        <p:txBody>
          <a:bodyPr wrap="square">
            <a:spAutoFit/>
          </a:bodyPr>
          <a:lstStyle/>
          <a:p>
            <a:pPr algn="ctr"/>
            <a:r>
              <a:rPr lang="es-ES" sz="1000" b="1" dirty="0"/>
              <a:t>Media  AMA entre Top 40-100:</a:t>
            </a:r>
          </a:p>
          <a:p>
            <a:pPr algn="ctr"/>
            <a:r>
              <a:rPr lang="es-ES" sz="1000" b="1" dirty="0"/>
              <a:t>22%</a:t>
            </a:r>
          </a:p>
        </p:txBody>
      </p:sp>
      <p:sp>
        <p:nvSpPr>
          <p:cNvPr id="17" name="Rounded Rectangular Callout 16"/>
          <p:cNvSpPr/>
          <p:nvPr/>
        </p:nvSpPr>
        <p:spPr>
          <a:xfrm>
            <a:off x="396424" y="5085184"/>
            <a:ext cx="8388000" cy="1044000"/>
          </a:xfrm>
          <a:prstGeom prst="wedgeRoundRectCallout">
            <a:avLst>
              <a:gd name="adj1" fmla="val -26611"/>
              <a:gd name="adj2" fmla="val -68162"/>
              <a:gd name="adj3" fmla="val 16667"/>
            </a:avLst>
          </a:prstGeom>
          <a:solidFill>
            <a:schemeClr val="bg1"/>
          </a:solidFill>
          <a:ln>
            <a:solidFill>
              <a:srgbClr val="DB061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1200"/>
          </a:p>
        </p:txBody>
      </p:sp>
      <p:sp>
        <p:nvSpPr>
          <p:cNvPr id="18" name="TextBox 83"/>
          <p:cNvSpPr txBox="1">
            <a:spLocks noChangeArrowheads="1"/>
          </p:cNvSpPr>
          <p:nvPr/>
        </p:nvSpPr>
        <p:spPr bwMode="auto">
          <a:xfrm>
            <a:off x="323528" y="5157192"/>
            <a:ext cx="8496622" cy="936000"/>
          </a:xfrm>
          <a:prstGeom prst="rect">
            <a:avLst/>
          </a:prstGeom>
          <a:noFill/>
          <a:ln w="9525">
            <a:noFill/>
            <a:miter lim="800000"/>
            <a:headEnd/>
            <a:tailEnd/>
          </a:ln>
        </p:spPr>
        <p:txBody>
          <a:bodyPr/>
          <a:lstStyle/>
          <a:p>
            <a:pPr marL="176400" indent="-176400" algn="just" fontAlgn="ctr">
              <a:spcBef>
                <a:spcPts val="600"/>
              </a:spcBef>
              <a:spcAft>
                <a:spcPts val="0"/>
              </a:spcAft>
              <a:buClr>
                <a:srgbClr val="DB0613"/>
              </a:buClr>
              <a:buFont typeface="Webdings" pitchFamily="18" charset="2"/>
              <a:buChar char="4"/>
              <a:defRPr/>
            </a:pPr>
            <a:r>
              <a:rPr lang="es-ES" sz="1200" dirty="0">
                <a:latin typeface="+mj-lt"/>
              </a:rPr>
              <a:t>La media de Entidades en el </a:t>
            </a:r>
            <a:r>
              <a:rPr lang="es-ES" sz="1200" b="1" dirty="0">
                <a:latin typeface="+mj-lt"/>
              </a:rPr>
              <a:t>Top-40</a:t>
            </a:r>
            <a:r>
              <a:rPr lang="es-ES" sz="1200" dirty="0">
                <a:latin typeface="+mj-lt"/>
              </a:rPr>
              <a:t> por Activos que aplica </a:t>
            </a:r>
            <a:r>
              <a:rPr lang="es-ES" sz="1200" b="1" dirty="0">
                <a:latin typeface="+mj-lt"/>
              </a:rPr>
              <a:t>método AMA </a:t>
            </a:r>
            <a:r>
              <a:rPr lang="es-ES" sz="1200" dirty="0">
                <a:latin typeface="+mj-lt"/>
              </a:rPr>
              <a:t>es del </a:t>
            </a:r>
            <a:r>
              <a:rPr lang="es-ES" sz="1200" b="1" dirty="0">
                <a:latin typeface="+mj-lt"/>
              </a:rPr>
              <a:t>58%</a:t>
            </a:r>
            <a:r>
              <a:rPr lang="es-ES" sz="1200" dirty="0">
                <a:latin typeface="+mj-lt"/>
              </a:rPr>
              <a:t> vs. el </a:t>
            </a:r>
            <a:r>
              <a:rPr lang="es-ES" sz="1200" b="1" dirty="0">
                <a:latin typeface="+mj-lt"/>
              </a:rPr>
              <a:t>22%</a:t>
            </a:r>
            <a:r>
              <a:rPr lang="es-ES" sz="1200" dirty="0">
                <a:latin typeface="+mj-lt"/>
              </a:rPr>
              <a:t> entre </a:t>
            </a:r>
            <a:r>
              <a:rPr lang="es-ES" sz="1200" b="1" dirty="0">
                <a:latin typeface="+mj-lt"/>
              </a:rPr>
              <a:t>Top40 y Top100</a:t>
            </a:r>
            <a:r>
              <a:rPr lang="es-ES" sz="1200" dirty="0">
                <a:latin typeface="+mj-lt"/>
              </a:rPr>
              <a:t>.</a:t>
            </a:r>
          </a:p>
          <a:p>
            <a:pPr marL="176400" indent="-176400" algn="just" fontAlgn="ctr">
              <a:spcBef>
                <a:spcPts val="600"/>
              </a:spcBef>
              <a:spcAft>
                <a:spcPts val="0"/>
              </a:spcAft>
              <a:buClr>
                <a:srgbClr val="DB0613"/>
              </a:buClr>
              <a:buFont typeface="Webdings" pitchFamily="18" charset="2"/>
              <a:buChar char="4"/>
              <a:defRPr/>
            </a:pPr>
            <a:r>
              <a:rPr lang="es-ES" sz="1200" dirty="0">
                <a:latin typeface="+mj-lt"/>
              </a:rPr>
              <a:t>Únicamente </a:t>
            </a:r>
            <a:r>
              <a:rPr lang="es-ES" sz="1200" b="1" dirty="0">
                <a:latin typeface="+mj-lt"/>
              </a:rPr>
              <a:t>1 Entidad </a:t>
            </a:r>
            <a:r>
              <a:rPr lang="es-ES" sz="1200" dirty="0">
                <a:latin typeface="+mj-lt"/>
              </a:rPr>
              <a:t>aplica el método </a:t>
            </a:r>
            <a:r>
              <a:rPr lang="es-ES" sz="1200" b="1" dirty="0">
                <a:latin typeface="+mj-lt"/>
              </a:rPr>
              <a:t>BIA</a:t>
            </a:r>
            <a:r>
              <a:rPr lang="es-ES" sz="1200" dirty="0">
                <a:latin typeface="+mj-lt"/>
              </a:rPr>
              <a:t>.</a:t>
            </a:r>
          </a:p>
          <a:p>
            <a:pPr marL="176400" indent="-176400" algn="just" fontAlgn="ctr">
              <a:spcBef>
                <a:spcPts val="600"/>
              </a:spcBef>
              <a:spcAft>
                <a:spcPts val="0"/>
              </a:spcAft>
              <a:buClr>
                <a:srgbClr val="DB0613"/>
              </a:buClr>
              <a:buFont typeface="Webdings" pitchFamily="18" charset="2"/>
              <a:buChar char="4"/>
              <a:defRPr/>
            </a:pPr>
            <a:r>
              <a:rPr lang="es-ES" sz="1200" dirty="0">
                <a:latin typeface="+mj-lt"/>
              </a:rPr>
              <a:t>Entre las entidades de mayor dimensión que no aplican el </a:t>
            </a:r>
            <a:r>
              <a:rPr lang="es-ES" sz="1200" b="1" dirty="0">
                <a:latin typeface="+mj-lt"/>
              </a:rPr>
              <a:t>método AMA </a:t>
            </a:r>
            <a:r>
              <a:rPr lang="es-ES" sz="1200" dirty="0">
                <a:latin typeface="+mj-lt"/>
              </a:rPr>
              <a:t>se encuentran: </a:t>
            </a:r>
            <a:r>
              <a:rPr lang="es-ES" sz="1200" b="1" dirty="0">
                <a:latin typeface="+mj-lt"/>
              </a:rPr>
              <a:t>HSBC, RBS, Bank of </a:t>
            </a:r>
            <a:r>
              <a:rPr lang="es-ES" sz="1200" b="1" dirty="0" err="1">
                <a:latin typeface="+mj-lt"/>
              </a:rPr>
              <a:t>America</a:t>
            </a:r>
            <a:r>
              <a:rPr lang="es-ES" sz="1200" b="1" dirty="0">
                <a:latin typeface="+mj-lt"/>
              </a:rPr>
              <a:t>, Banco Santander y </a:t>
            </a:r>
            <a:r>
              <a:rPr lang="es-ES" sz="1200" b="1" dirty="0" err="1">
                <a:latin typeface="+mj-lt"/>
              </a:rPr>
              <a:t>Lloyds</a:t>
            </a:r>
            <a:r>
              <a:rPr lang="es-ES" sz="1200" b="1" dirty="0">
                <a:latin typeface="+mj-lt"/>
              </a:rPr>
              <a:t>,</a:t>
            </a:r>
            <a:r>
              <a:rPr lang="es-ES" sz="1200" dirty="0">
                <a:latin typeface="+mj-lt"/>
              </a:rPr>
              <a:t> entre otros.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Text Box 8"/>
          <p:cNvSpPr txBox="1">
            <a:spLocks noChangeArrowheads="1"/>
          </p:cNvSpPr>
          <p:nvPr/>
        </p:nvSpPr>
        <p:spPr bwMode="auto">
          <a:xfrm>
            <a:off x="539552" y="2052000"/>
            <a:ext cx="7992000" cy="3312000"/>
          </a:xfrm>
          <a:prstGeom prst="rect">
            <a:avLst/>
          </a:prstGeom>
          <a:solidFill>
            <a:schemeClr val="bg1"/>
          </a:solidFill>
          <a:ln w="9525">
            <a:solidFill>
              <a:schemeClr val="tx1">
                <a:lumMod val="50000"/>
                <a:lumOff val="50000"/>
              </a:schemeClr>
            </a:solidFill>
            <a:miter lim="800000"/>
            <a:headEnd/>
            <a:tailEnd/>
          </a:ln>
          <a:effectLst/>
        </p:spPr>
        <p:txBody>
          <a:bodyPr/>
          <a:lstStyle>
            <a:lvl1pPr marL="177800" indent="-177800">
              <a:defRPr>
                <a:solidFill>
                  <a:schemeClr val="tx1"/>
                </a:solidFill>
                <a:latin typeface="Arial" charset="0"/>
              </a:defRPr>
            </a:lvl1pPr>
            <a:lvl2pPr marL="355600" indent="-114300">
              <a:defRPr>
                <a:solidFill>
                  <a:schemeClr val="tx1"/>
                </a:solidFill>
                <a:latin typeface="Arial" charset="0"/>
              </a:defRPr>
            </a:lvl2pPr>
            <a:lvl3pPr marL="3392488" indent="-342900">
              <a:defRPr>
                <a:solidFill>
                  <a:schemeClr val="tx1"/>
                </a:solidFill>
                <a:latin typeface="Arial" charset="0"/>
              </a:defRPr>
            </a:lvl3pPr>
            <a:lvl4pPr marL="3914775" indent="-342900">
              <a:defRPr>
                <a:solidFill>
                  <a:schemeClr val="tx1"/>
                </a:solidFill>
                <a:latin typeface="Arial" charset="0"/>
              </a:defRPr>
            </a:lvl4pPr>
            <a:lvl5pPr marL="4437063" indent="-342900">
              <a:defRPr>
                <a:solidFill>
                  <a:schemeClr val="tx1"/>
                </a:solidFill>
                <a:latin typeface="Arial" charset="0"/>
              </a:defRPr>
            </a:lvl5pPr>
            <a:lvl6pPr marL="4894263" indent="-342900" fontAlgn="base">
              <a:spcBef>
                <a:spcPct val="0"/>
              </a:spcBef>
              <a:spcAft>
                <a:spcPct val="0"/>
              </a:spcAft>
              <a:defRPr>
                <a:solidFill>
                  <a:schemeClr val="tx1"/>
                </a:solidFill>
                <a:latin typeface="Arial" charset="0"/>
              </a:defRPr>
            </a:lvl6pPr>
            <a:lvl7pPr marL="5351463" indent="-342900" fontAlgn="base">
              <a:spcBef>
                <a:spcPct val="0"/>
              </a:spcBef>
              <a:spcAft>
                <a:spcPct val="0"/>
              </a:spcAft>
              <a:defRPr>
                <a:solidFill>
                  <a:schemeClr val="tx1"/>
                </a:solidFill>
                <a:latin typeface="Arial" charset="0"/>
              </a:defRPr>
            </a:lvl7pPr>
            <a:lvl8pPr marL="5808663" indent="-342900" fontAlgn="base">
              <a:spcBef>
                <a:spcPct val="0"/>
              </a:spcBef>
              <a:spcAft>
                <a:spcPct val="0"/>
              </a:spcAft>
              <a:defRPr>
                <a:solidFill>
                  <a:schemeClr val="tx1"/>
                </a:solidFill>
                <a:latin typeface="Arial" charset="0"/>
              </a:defRPr>
            </a:lvl8pPr>
            <a:lvl9pPr marL="6265863" indent="-342900" fontAlgn="base">
              <a:spcBef>
                <a:spcPct val="0"/>
              </a:spcBef>
              <a:spcAft>
                <a:spcPct val="0"/>
              </a:spcAft>
              <a:defRPr>
                <a:solidFill>
                  <a:schemeClr val="tx1"/>
                </a:solidFill>
                <a:latin typeface="Arial" charset="0"/>
              </a:defRPr>
            </a:lvl9pPr>
          </a:lstStyle>
          <a:p>
            <a:pPr marL="177800" marR="0" lvl="0" indent="-177800" defTabSz="914400" eaLnBrk="0" fontAlgn="auto" latinLnBrk="0" hangingPunct="0">
              <a:lnSpc>
                <a:spcPct val="100000"/>
              </a:lnSpc>
              <a:spcBef>
                <a:spcPct val="50000"/>
              </a:spcBef>
              <a:spcAft>
                <a:spcPts val="0"/>
              </a:spcAft>
              <a:buClr>
                <a:srgbClr val="DB0613"/>
              </a:buClr>
              <a:buSzTx/>
              <a:tabLst/>
              <a:defRPr/>
            </a:pPr>
            <a:endParaRPr kumimoji="0" lang="es-ES_tradnl" sz="1100" b="0" i="0" u="none" strike="noStrike" kern="0" cap="none" spc="0" normalizeH="0" baseline="0" noProof="0" dirty="0">
              <a:ln>
                <a:noFill/>
              </a:ln>
              <a:effectLst/>
              <a:uLnTx/>
              <a:uFillTx/>
              <a:latin typeface="+mn-lt"/>
            </a:endParaRPr>
          </a:p>
        </p:txBody>
      </p:sp>
      <p:sp>
        <p:nvSpPr>
          <p:cNvPr id="22" name="Rounded Rectangular Callout 16"/>
          <p:cNvSpPr/>
          <p:nvPr/>
        </p:nvSpPr>
        <p:spPr>
          <a:xfrm>
            <a:off x="688341" y="5229200"/>
            <a:ext cx="7916107" cy="899984"/>
          </a:xfrm>
          <a:prstGeom prst="wedgeRoundRectCallout">
            <a:avLst>
              <a:gd name="adj1" fmla="val -26611"/>
              <a:gd name="adj2" fmla="val -68162"/>
              <a:gd name="adj3" fmla="val 16667"/>
            </a:avLst>
          </a:prstGeom>
          <a:solidFill>
            <a:schemeClr val="bg1"/>
          </a:solidFill>
          <a:ln>
            <a:solidFill>
              <a:srgbClr val="DB061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1200"/>
          </a:p>
        </p:txBody>
      </p:sp>
      <p:sp>
        <p:nvSpPr>
          <p:cNvPr id="2" name="1 Título"/>
          <p:cNvSpPr>
            <a:spLocks noGrp="1"/>
          </p:cNvSpPr>
          <p:nvPr>
            <p:ph type="title"/>
          </p:nvPr>
        </p:nvSpPr>
        <p:spPr>
          <a:xfrm>
            <a:off x="47625" y="32965"/>
            <a:ext cx="8217470" cy="587723"/>
          </a:xfrm>
        </p:spPr>
        <p:txBody>
          <a:bodyPr/>
          <a:lstStyle/>
          <a:p>
            <a:r>
              <a:rPr lang="es-PE" dirty="0"/>
              <a:t>          Contexto Internacional del Riesgo Operacional</a:t>
            </a:r>
          </a:p>
        </p:txBody>
      </p:sp>
      <p:sp>
        <p:nvSpPr>
          <p:cNvPr id="11" name="Rounded Rectangle 3">
            <a:hlinkClick r:id="rId2" action="ppaction://hlinksldjump"/>
          </p:cNvPr>
          <p:cNvSpPr/>
          <p:nvPr/>
        </p:nvSpPr>
        <p:spPr>
          <a:xfrm>
            <a:off x="217915" y="146806"/>
            <a:ext cx="470426" cy="360040"/>
          </a:xfrm>
          <a:prstGeom prst="roundRect">
            <a:avLst/>
          </a:prstGeom>
          <a:solidFill>
            <a:srgbClr val="DB0613"/>
          </a:solidFill>
          <a:ln>
            <a:solidFill>
              <a:srgbClr val="A9A9A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400" b="1" dirty="0"/>
              <a:t>1</a:t>
            </a:r>
          </a:p>
        </p:txBody>
      </p:sp>
      <p:sp>
        <p:nvSpPr>
          <p:cNvPr id="27" name="Text Box 100"/>
          <p:cNvSpPr txBox="1">
            <a:spLocks noChangeArrowheads="1"/>
          </p:cNvSpPr>
          <p:nvPr/>
        </p:nvSpPr>
        <p:spPr bwMode="blackWhite">
          <a:xfrm>
            <a:off x="323528" y="620688"/>
            <a:ext cx="7056784" cy="400110"/>
          </a:xfrm>
          <a:prstGeom prst="rect">
            <a:avLst/>
          </a:prstGeom>
          <a:noFill/>
          <a:ln w="12700" algn="ctr">
            <a:noFill/>
            <a:miter lim="800000"/>
            <a:headEnd/>
            <a:tailEnd/>
          </a:ln>
        </p:spPr>
        <p:txBody>
          <a:bodyPr wrap="square">
            <a:spAutoFit/>
          </a:bodyPr>
          <a:lstStyle/>
          <a:p>
            <a:pPr marL="6350" indent="-6350" algn="just">
              <a:spcBef>
                <a:spcPct val="20000"/>
              </a:spcBef>
              <a:buClr>
                <a:schemeClr val="tx1"/>
              </a:buClr>
            </a:pPr>
            <a:r>
              <a:rPr lang="es-CL" sz="2000" b="1" dirty="0"/>
              <a:t>2. Situación por país</a:t>
            </a:r>
          </a:p>
        </p:txBody>
      </p:sp>
      <p:sp>
        <p:nvSpPr>
          <p:cNvPr id="15" name="Text Box 100"/>
          <p:cNvSpPr txBox="1">
            <a:spLocks noChangeArrowheads="1"/>
          </p:cNvSpPr>
          <p:nvPr/>
        </p:nvSpPr>
        <p:spPr bwMode="blackWhite">
          <a:xfrm>
            <a:off x="323528" y="980728"/>
            <a:ext cx="7056784" cy="400110"/>
          </a:xfrm>
          <a:prstGeom prst="rect">
            <a:avLst/>
          </a:prstGeom>
          <a:noFill/>
          <a:ln w="12700" algn="ctr">
            <a:noFill/>
            <a:miter lim="800000"/>
            <a:headEnd/>
            <a:tailEnd/>
          </a:ln>
        </p:spPr>
        <p:txBody>
          <a:bodyPr wrap="square">
            <a:spAutoFit/>
          </a:bodyPr>
          <a:lstStyle/>
          <a:p>
            <a:pPr marL="6350" indent="-6350" algn="just">
              <a:spcBef>
                <a:spcPct val="20000"/>
              </a:spcBef>
              <a:buClr>
                <a:schemeClr val="tx1"/>
              </a:buClr>
            </a:pPr>
            <a:r>
              <a:rPr lang="es-CL" sz="2000" b="1" dirty="0">
                <a:solidFill>
                  <a:schemeClr val="tx1">
                    <a:lumMod val="50000"/>
                    <a:lumOff val="50000"/>
                  </a:schemeClr>
                </a:solidFill>
              </a:rPr>
              <a:t>Región LATAM</a:t>
            </a:r>
          </a:p>
        </p:txBody>
      </p:sp>
      <p:sp>
        <p:nvSpPr>
          <p:cNvPr id="24" name="Text Box 100"/>
          <p:cNvSpPr txBox="1">
            <a:spLocks noChangeArrowheads="1"/>
          </p:cNvSpPr>
          <p:nvPr/>
        </p:nvSpPr>
        <p:spPr bwMode="blackWhite">
          <a:xfrm>
            <a:off x="323528" y="1444714"/>
            <a:ext cx="8496622" cy="553998"/>
          </a:xfrm>
          <a:prstGeom prst="rect">
            <a:avLst/>
          </a:prstGeom>
          <a:noFill/>
          <a:ln w="12700" algn="ctr">
            <a:noFill/>
            <a:miter lim="800000"/>
            <a:headEnd/>
            <a:tailEnd/>
          </a:ln>
        </p:spPr>
        <p:txBody>
          <a:bodyPr wrap="square">
            <a:spAutoFit/>
          </a:bodyPr>
          <a:lstStyle/>
          <a:p>
            <a:pPr algn="ctr">
              <a:lnSpc>
                <a:spcPts val="1800"/>
              </a:lnSpc>
            </a:pPr>
            <a:r>
              <a:rPr lang="es-ES" sz="1600" b="1" dirty="0"/>
              <a:t>Existen asimismo diferencias importantes entre los principales países de la Región en lo relativo a requerimientos de capital por riesgo operacional</a:t>
            </a:r>
          </a:p>
        </p:txBody>
      </p:sp>
      <p:sp>
        <p:nvSpPr>
          <p:cNvPr id="34" name="TextBox 83"/>
          <p:cNvSpPr txBox="1">
            <a:spLocks noChangeArrowheads="1"/>
          </p:cNvSpPr>
          <p:nvPr/>
        </p:nvSpPr>
        <p:spPr bwMode="auto">
          <a:xfrm>
            <a:off x="1706417" y="2047200"/>
            <a:ext cx="5658271" cy="274638"/>
          </a:xfrm>
          <a:prstGeom prst="rect">
            <a:avLst/>
          </a:prstGeom>
          <a:noFill/>
          <a:ln w="9525">
            <a:noFill/>
            <a:miter lim="800000"/>
            <a:headEnd/>
            <a:tailEnd/>
          </a:ln>
        </p:spPr>
        <p:txBody>
          <a:bodyPr/>
          <a:lstStyle/>
          <a:p>
            <a:pPr algn="ctr">
              <a:defRPr/>
            </a:pPr>
            <a:r>
              <a:rPr lang="es-ES" sz="1200" b="1" dirty="0"/>
              <a:t>Contexto Normativo en Latinoamérica</a:t>
            </a:r>
          </a:p>
        </p:txBody>
      </p:sp>
      <p:graphicFrame>
        <p:nvGraphicFramePr>
          <p:cNvPr id="19" name="Table 2"/>
          <p:cNvGraphicFramePr>
            <a:graphicFrameLocks noGrp="1"/>
          </p:cNvGraphicFramePr>
          <p:nvPr>
            <p:extLst>
              <p:ext uri="{D42A27DB-BD31-4B8C-83A1-F6EECF244321}">
                <p14:modId xmlns:p14="http://schemas.microsoft.com/office/powerpoint/2010/main" val="2665196709"/>
              </p:ext>
            </p:extLst>
          </p:nvPr>
        </p:nvGraphicFramePr>
        <p:xfrm>
          <a:off x="683569" y="2447782"/>
          <a:ext cx="7704856" cy="2565394"/>
        </p:xfrm>
        <a:graphic>
          <a:graphicData uri="http://schemas.openxmlformats.org/drawingml/2006/table">
            <a:tbl>
              <a:tblPr/>
              <a:tblGrid>
                <a:gridCol w="1187516">
                  <a:extLst>
                    <a:ext uri="{9D8B030D-6E8A-4147-A177-3AD203B41FA5}">
                      <a16:colId xmlns:a16="http://schemas.microsoft.com/office/drawing/2014/main" val="20000"/>
                    </a:ext>
                  </a:extLst>
                </a:gridCol>
                <a:gridCol w="1404771">
                  <a:extLst>
                    <a:ext uri="{9D8B030D-6E8A-4147-A177-3AD203B41FA5}">
                      <a16:colId xmlns:a16="http://schemas.microsoft.com/office/drawing/2014/main" val="20001"/>
                    </a:ext>
                  </a:extLst>
                </a:gridCol>
                <a:gridCol w="1440160">
                  <a:extLst>
                    <a:ext uri="{9D8B030D-6E8A-4147-A177-3AD203B41FA5}">
                      <a16:colId xmlns:a16="http://schemas.microsoft.com/office/drawing/2014/main" val="20002"/>
                    </a:ext>
                  </a:extLst>
                </a:gridCol>
                <a:gridCol w="1224136">
                  <a:extLst>
                    <a:ext uri="{9D8B030D-6E8A-4147-A177-3AD203B41FA5}">
                      <a16:colId xmlns:a16="http://schemas.microsoft.com/office/drawing/2014/main" val="20003"/>
                    </a:ext>
                  </a:extLst>
                </a:gridCol>
                <a:gridCol w="1296144">
                  <a:extLst>
                    <a:ext uri="{9D8B030D-6E8A-4147-A177-3AD203B41FA5}">
                      <a16:colId xmlns:a16="http://schemas.microsoft.com/office/drawing/2014/main" val="20004"/>
                    </a:ext>
                  </a:extLst>
                </a:gridCol>
                <a:gridCol w="1152129">
                  <a:extLst>
                    <a:ext uri="{9D8B030D-6E8A-4147-A177-3AD203B41FA5}">
                      <a16:colId xmlns:a16="http://schemas.microsoft.com/office/drawing/2014/main" val="20005"/>
                    </a:ext>
                  </a:extLst>
                </a:gridCol>
              </a:tblGrid>
              <a:tr h="330896">
                <a:tc>
                  <a:txBody>
                    <a:bodyPr/>
                    <a:lstStyle/>
                    <a:p>
                      <a:pPr algn="ctr" fontAlgn="ctr"/>
                      <a:endParaRPr lang="es-ES" sz="1200" b="0" i="0" u="none" strike="noStrike" dirty="0">
                        <a:solidFill>
                          <a:srgbClr val="000000"/>
                        </a:solidFill>
                        <a:effectLst/>
                        <a:latin typeface="+mn-lt"/>
                      </a:endParaRPr>
                    </a:p>
                  </a:txBody>
                  <a:tcPr marL="6128" marR="6128" marT="6128" marB="0" anchor="ctr">
                    <a:lnL>
                      <a:noFill/>
                    </a:lnL>
                    <a:lnR>
                      <a:noFill/>
                    </a:lnR>
                    <a:lnT>
                      <a:noFill/>
                    </a:lnT>
                    <a:lnB w="6350" cap="flat" cmpd="sng" algn="ctr">
                      <a:solidFill>
                        <a:srgbClr val="000000"/>
                      </a:solidFill>
                      <a:prstDash val="solid"/>
                      <a:round/>
                      <a:headEnd type="none" w="med" len="med"/>
                      <a:tailEnd type="none" w="med" len="med"/>
                    </a:lnB>
                  </a:tcPr>
                </a:tc>
                <a:tc>
                  <a:txBody>
                    <a:bodyPr/>
                    <a:lstStyle/>
                    <a:p>
                      <a:pPr algn="ctr" fontAlgn="ctr"/>
                      <a:r>
                        <a:rPr lang="es-ES" sz="1200" b="0" i="0" u="none" strike="noStrike" dirty="0">
                          <a:solidFill>
                            <a:srgbClr val="FFFFFF"/>
                          </a:solidFill>
                          <a:effectLst/>
                          <a:latin typeface="+mn-lt"/>
                        </a:rPr>
                        <a:t>Brasil</a:t>
                      </a:r>
                    </a:p>
                  </a:txBody>
                  <a:tcPr marL="6128" marR="6128" marT="6128" marB="0" anchor="ctr">
                    <a:lnL>
                      <a:noFill/>
                    </a:lnL>
                    <a:lnR>
                      <a:noFill/>
                    </a:lnR>
                    <a:lnT>
                      <a:noFill/>
                    </a:lnT>
                    <a:lnB w="6350" cap="flat" cmpd="sng" algn="ctr">
                      <a:solidFill>
                        <a:srgbClr val="000000"/>
                      </a:solidFill>
                      <a:prstDash val="solid"/>
                      <a:round/>
                      <a:headEnd type="none" w="med" len="med"/>
                      <a:tailEnd type="none" w="med" len="med"/>
                    </a:lnB>
                    <a:solidFill>
                      <a:srgbClr val="16365C"/>
                    </a:solidFill>
                  </a:tcPr>
                </a:tc>
                <a:tc>
                  <a:txBody>
                    <a:bodyPr/>
                    <a:lstStyle/>
                    <a:p>
                      <a:pPr algn="ctr" fontAlgn="ctr"/>
                      <a:r>
                        <a:rPr lang="es-ES" sz="1200" b="0" i="0" u="none" strike="noStrike" dirty="0">
                          <a:solidFill>
                            <a:srgbClr val="FFFFFF"/>
                          </a:solidFill>
                          <a:effectLst/>
                          <a:latin typeface="+mn-lt"/>
                        </a:rPr>
                        <a:t>Argentina</a:t>
                      </a:r>
                    </a:p>
                  </a:txBody>
                  <a:tcPr marL="6128" marR="6128" marT="6128" marB="0" anchor="ctr">
                    <a:lnL>
                      <a:noFill/>
                    </a:lnL>
                    <a:lnR>
                      <a:noFill/>
                    </a:lnR>
                    <a:lnT>
                      <a:noFill/>
                    </a:lnT>
                    <a:lnB w="6350" cap="flat" cmpd="sng" algn="ctr">
                      <a:solidFill>
                        <a:srgbClr val="000000"/>
                      </a:solidFill>
                      <a:prstDash val="solid"/>
                      <a:round/>
                      <a:headEnd type="none" w="med" len="med"/>
                      <a:tailEnd type="none" w="med" len="med"/>
                    </a:lnB>
                    <a:solidFill>
                      <a:srgbClr val="538DD5"/>
                    </a:solidFill>
                  </a:tcPr>
                </a:tc>
                <a:tc>
                  <a:txBody>
                    <a:bodyPr/>
                    <a:lstStyle/>
                    <a:p>
                      <a:pPr algn="ctr" fontAlgn="ctr"/>
                      <a:r>
                        <a:rPr lang="es-ES" sz="1200" b="0" i="0" u="none" strike="noStrike" dirty="0">
                          <a:solidFill>
                            <a:srgbClr val="FFFFFF"/>
                          </a:solidFill>
                          <a:effectLst/>
                          <a:latin typeface="+mn-lt"/>
                        </a:rPr>
                        <a:t>Chile</a:t>
                      </a:r>
                    </a:p>
                  </a:txBody>
                  <a:tcPr marL="6128" marR="6128" marT="6128" marB="0" anchor="ctr">
                    <a:lnL>
                      <a:noFill/>
                    </a:lnL>
                    <a:lnR>
                      <a:noFill/>
                    </a:lnR>
                    <a:lnT>
                      <a:noFill/>
                    </a:lnT>
                    <a:lnB w="6350" cap="flat" cmpd="sng" algn="ctr">
                      <a:solidFill>
                        <a:srgbClr val="000000"/>
                      </a:solidFill>
                      <a:prstDash val="solid"/>
                      <a:round/>
                      <a:headEnd type="none" w="med" len="med"/>
                      <a:tailEnd type="none" w="med" len="med"/>
                    </a:lnB>
                    <a:solidFill>
                      <a:srgbClr val="16365C"/>
                    </a:solidFill>
                  </a:tcPr>
                </a:tc>
                <a:tc>
                  <a:txBody>
                    <a:bodyPr/>
                    <a:lstStyle/>
                    <a:p>
                      <a:pPr algn="ctr" fontAlgn="ctr"/>
                      <a:r>
                        <a:rPr lang="es-ES" sz="1200" b="0" i="0" u="none" strike="noStrike" dirty="0">
                          <a:solidFill>
                            <a:srgbClr val="FFFFFF"/>
                          </a:solidFill>
                          <a:effectLst/>
                          <a:latin typeface="+mn-lt"/>
                        </a:rPr>
                        <a:t>Perú</a:t>
                      </a:r>
                    </a:p>
                  </a:txBody>
                  <a:tcPr marL="6128" marR="6128" marT="6128" marB="0" anchor="ctr">
                    <a:lnL>
                      <a:noFill/>
                    </a:lnL>
                    <a:lnR>
                      <a:noFill/>
                    </a:lnR>
                    <a:lnT>
                      <a:noFill/>
                    </a:lnT>
                    <a:lnB w="6350" cap="flat" cmpd="sng" algn="ctr">
                      <a:solidFill>
                        <a:srgbClr val="000000"/>
                      </a:solidFill>
                      <a:prstDash val="solid"/>
                      <a:round/>
                      <a:headEnd type="none" w="med" len="med"/>
                      <a:tailEnd type="none" w="med" len="med"/>
                    </a:lnB>
                    <a:solidFill>
                      <a:srgbClr val="538DD5"/>
                    </a:solidFill>
                  </a:tcPr>
                </a:tc>
                <a:tc>
                  <a:txBody>
                    <a:bodyPr/>
                    <a:lstStyle/>
                    <a:p>
                      <a:pPr algn="ctr" fontAlgn="ctr"/>
                      <a:r>
                        <a:rPr lang="es-ES" sz="1200" b="0" i="0" u="none" strike="noStrike" dirty="0">
                          <a:solidFill>
                            <a:srgbClr val="FFFFFF"/>
                          </a:solidFill>
                          <a:effectLst/>
                          <a:latin typeface="+mn-lt"/>
                        </a:rPr>
                        <a:t>México</a:t>
                      </a:r>
                    </a:p>
                  </a:txBody>
                  <a:tcPr marL="6128" marR="6128" marT="6128" marB="0" anchor="ctr">
                    <a:lnL>
                      <a:noFill/>
                    </a:lnL>
                    <a:lnR>
                      <a:noFill/>
                    </a:lnR>
                    <a:lnT>
                      <a:noFill/>
                    </a:lnT>
                    <a:lnB w="6350" cap="flat" cmpd="sng" algn="ctr">
                      <a:solidFill>
                        <a:srgbClr val="000000"/>
                      </a:solidFill>
                      <a:prstDash val="solid"/>
                      <a:round/>
                      <a:headEnd type="none" w="med" len="med"/>
                      <a:tailEnd type="none" w="med" len="med"/>
                    </a:lnB>
                    <a:solidFill>
                      <a:srgbClr val="16365C"/>
                    </a:solidFill>
                  </a:tcPr>
                </a:tc>
                <a:extLst>
                  <a:ext uri="{0D108BD9-81ED-4DB2-BD59-A6C34878D82A}">
                    <a16:rowId xmlns:a16="http://schemas.microsoft.com/office/drawing/2014/main" val="10000"/>
                  </a:ext>
                </a:extLst>
              </a:tr>
              <a:tr h="578314">
                <a:tc>
                  <a:txBody>
                    <a:bodyPr/>
                    <a:lstStyle/>
                    <a:p>
                      <a:pPr algn="ctr" fontAlgn="ctr"/>
                      <a:r>
                        <a:rPr lang="es-ES" sz="1100" b="0" i="0" u="none" strike="noStrike" dirty="0">
                          <a:solidFill>
                            <a:srgbClr val="000000"/>
                          </a:solidFill>
                          <a:effectLst/>
                          <a:latin typeface="+mn-lt"/>
                        </a:rPr>
                        <a:t>Requerimiento de capital actual por RO</a:t>
                      </a:r>
                    </a:p>
                  </a:txBody>
                  <a:tcPr marL="6128" marR="6128" marT="612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s-ES" sz="1100" b="0" i="0" u="none" strike="noStrike" dirty="0">
                          <a:solidFill>
                            <a:srgbClr val="000000"/>
                          </a:solidFill>
                          <a:effectLst/>
                          <a:latin typeface="+mn-lt"/>
                        </a:rPr>
                        <a:t>Sí</a:t>
                      </a:r>
                    </a:p>
                  </a:txBody>
                  <a:tcPr marL="6128" marR="6128" marT="612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s-ES" sz="1100" b="0" i="0" u="none" strike="noStrike" dirty="0">
                          <a:solidFill>
                            <a:srgbClr val="000000"/>
                          </a:solidFill>
                          <a:effectLst/>
                          <a:latin typeface="+mn-lt"/>
                        </a:rPr>
                        <a:t>Sí</a:t>
                      </a:r>
                    </a:p>
                  </a:txBody>
                  <a:tcPr marL="6128" marR="6128" marT="612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s-ES" sz="1100" b="0" i="0" u="none" strike="noStrike" dirty="0">
                          <a:solidFill>
                            <a:srgbClr val="000000"/>
                          </a:solidFill>
                          <a:effectLst/>
                          <a:latin typeface="+mn-lt"/>
                        </a:rPr>
                        <a:t> No </a:t>
                      </a:r>
                      <a:br>
                        <a:rPr lang="es-ES" sz="1100" b="0" i="0" u="none" strike="noStrike" dirty="0">
                          <a:solidFill>
                            <a:srgbClr val="000000"/>
                          </a:solidFill>
                          <a:effectLst/>
                          <a:latin typeface="+mn-lt"/>
                        </a:rPr>
                      </a:br>
                      <a:r>
                        <a:rPr lang="es-ES" sz="1100" b="0" i="0" u="none" strike="noStrike" dirty="0">
                          <a:solidFill>
                            <a:srgbClr val="000000"/>
                          </a:solidFill>
                          <a:effectLst/>
                          <a:latin typeface="+mn-lt"/>
                        </a:rPr>
                        <a:t>(sólo para QIS)</a:t>
                      </a:r>
                    </a:p>
                  </a:txBody>
                  <a:tcPr marL="6128" marR="6128" marT="612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s-ES" sz="1100" b="0" i="0" u="none" strike="noStrike" dirty="0">
                          <a:solidFill>
                            <a:srgbClr val="000000"/>
                          </a:solidFill>
                          <a:effectLst/>
                          <a:latin typeface="+mn-lt"/>
                        </a:rPr>
                        <a:t>Sí</a:t>
                      </a:r>
                    </a:p>
                  </a:txBody>
                  <a:tcPr marL="6128" marR="6128" marT="612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s-ES" sz="1100" b="0" i="0" u="none" strike="noStrike">
                          <a:solidFill>
                            <a:srgbClr val="000000"/>
                          </a:solidFill>
                          <a:effectLst/>
                          <a:latin typeface="+mn-lt"/>
                        </a:rPr>
                        <a:t>Sí</a:t>
                      </a:r>
                    </a:p>
                  </a:txBody>
                  <a:tcPr marL="6128" marR="6128" marT="612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576064">
                <a:tc>
                  <a:txBody>
                    <a:bodyPr/>
                    <a:lstStyle/>
                    <a:p>
                      <a:pPr algn="ctr" fontAlgn="ctr"/>
                      <a:r>
                        <a:rPr lang="es-ES" sz="1100" b="0" i="0" u="none" strike="noStrike" dirty="0">
                          <a:solidFill>
                            <a:srgbClr val="000000"/>
                          </a:solidFill>
                          <a:effectLst/>
                          <a:latin typeface="+mn-lt"/>
                        </a:rPr>
                        <a:t>Métodos admitidos</a:t>
                      </a:r>
                    </a:p>
                  </a:txBody>
                  <a:tcPr marL="6128" marR="6128" marT="612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s-ES" sz="1100" b="0" i="0" u="none" strike="noStrike" dirty="0">
                          <a:solidFill>
                            <a:srgbClr val="000000"/>
                          </a:solidFill>
                          <a:effectLst/>
                          <a:latin typeface="+mn-lt"/>
                        </a:rPr>
                        <a:t>Estándar Alternativo</a:t>
                      </a:r>
                    </a:p>
                  </a:txBody>
                  <a:tcPr marL="6128" marR="6128" marT="612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s-ES" sz="1100" b="0" i="0" u="none" strike="noStrike" dirty="0">
                          <a:solidFill>
                            <a:srgbClr val="000000"/>
                          </a:solidFill>
                          <a:effectLst/>
                          <a:latin typeface="+mn-lt"/>
                        </a:rPr>
                        <a:t>Indicador Básico</a:t>
                      </a:r>
                    </a:p>
                  </a:txBody>
                  <a:tcPr marL="6128" marR="6128" marT="612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s-ES" sz="1100" b="0" i="0" u="none" strike="noStrike" dirty="0">
                          <a:solidFill>
                            <a:srgbClr val="000000"/>
                          </a:solidFill>
                          <a:effectLst/>
                          <a:latin typeface="+mn-lt"/>
                        </a:rPr>
                        <a:t>Sólo para QIS - Estándar Alternativo</a:t>
                      </a:r>
                    </a:p>
                  </a:txBody>
                  <a:tcPr marL="6128" marR="6128" marT="612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s-ES" sz="1100" b="0" i="0" u="none" strike="noStrike">
                          <a:solidFill>
                            <a:srgbClr val="000000"/>
                          </a:solidFill>
                          <a:effectLst/>
                          <a:latin typeface="+mn-lt"/>
                        </a:rPr>
                        <a:t>Indicador Básico, Estándar Alternativo y Métodos Avanzados</a:t>
                      </a:r>
                    </a:p>
                  </a:txBody>
                  <a:tcPr marL="6128" marR="6128" marT="612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s-ES" sz="1100" b="0" i="0" u="none" strike="noStrike" dirty="0">
                          <a:solidFill>
                            <a:srgbClr val="000000"/>
                          </a:solidFill>
                          <a:effectLst/>
                          <a:latin typeface="+mn-lt"/>
                        </a:rPr>
                        <a:t>Indicador Básico</a:t>
                      </a:r>
                    </a:p>
                  </a:txBody>
                  <a:tcPr marL="6128" marR="6128" marT="612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1080120">
                <a:tc>
                  <a:txBody>
                    <a:bodyPr/>
                    <a:lstStyle/>
                    <a:p>
                      <a:pPr algn="ctr" fontAlgn="ctr"/>
                      <a:r>
                        <a:rPr lang="es-ES" sz="1100" b="0" i="0" u="none" strike="noStrike" dirty="0">
                          <a:solidFill>
                            <a:srgbClr val="000000"/>
                          </a:solidFill>
                          <a:effectLst/>
                          <a:latin typeface="+mn-lt"/>
                        </a:rPr>
                        <a:t>¿Previsión método AMA?</a:t>
                      </a:r>
                    </a:p>
                  </a:txBody>
                  <a:tcPr marL="6128" marR="6128" marT="612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s-ES" sz="1100" b="0" i="0" u="none" strike="noStrike" dirty="0">
                          <a:solidFill>
                            <a:srgbClr val="000000"/>
                          </a:solidFill>
                          <a:effectLst/>
                          <a:latin typeface="+mn-lt"/>
                        </a:rPr>
                        <a:t>Sí, emitido borrador de normativa en dic'11. Fecha solicitud: 2013</a:t>
                      </a:r>
                    </a:p>
                  </a:txBody>
                  <a:tcPr marL="6128" marR="6128" marT="612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s-ES" sz="1100" b="0" i="0" u="none" strike="noStrike" dirty="0">
                          <a:solidFill>
                            <a:srgbClr val="000000"/>
                          </a:solidFill>
                          <a:effectLst/>
                          <a:latin typeface="+mn-lt"/>
                        </a:rPr>
                        <a:t>No, si bien se solicita a las entidades contar con una base de datos de eventos de pérdida y marco de gestión del RO</a:t>
                      </a:r>
                    </a:p>
                  </a:txBody>
                  <a:tcPr marL="6128" marR="6128" marT="612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s-ES" sz="1100" b="0" i="0" u="none" strike="noStrike" dirty="0">
                          <a:solidFill>
                            <a:srgbClr val="000000"/>
                          </a:solidFill>
                          <a:effectLst/>
                          <a:latin typeface="+mn-lt"/>
                        </a:rPr>
                        <a:t>No</a:t>
                      </a:r>
                    </a:p>
                  </a:txBody>
                  <a:tcPr marL="6128" marR="6128" marT="612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s-ES" sz="1100" b="0" i="0" u="none" strike="noStrike" dirty="0">
                          <a:solidFill>
                            <a:srgbClr val="000000"/>
                          </a:solidFill>
                          <a:effectLst/>
                          <a:latin typeface="+mn-lt"/>
                        </a:rPr>
                        <a:t>Incluido en la Res. SBS Nº 2115-2009</a:t>
                      </a:r>
                    </a:p>
                  </a:txBody>
                  <a:tcPr marL="6128" marR="6128" marT="612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s-ES" sz="1100" b="0" i="0" u="none" strike="noStrike" dirty="0">
                          <a:solidFill>
                            <a:srgbClr val="000000"/>
                          </a:solidFill>
                          <a:effectLst/>
                          <a:latin typeface="+mn-lt"/>
                        </a:rPr>
                        <a:t>No</a:t>
                      </a:r>
                    </a:p>
                  </a:txBody>
                  <a:tcPr marL="6128" marR="6128" marT="612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21" name="TextBox 83"/>
          <p:cNvSpPr txBox="1">
            <a:spLocks noChangeArrowheads="1"/>
          </p:cNvSpPr>
          <p:nvPr/>
        </p:nvSpPr>
        <p:spPr bwMode="auto">
          <a:xfrm>
            <a:off x="755576" y="5301208"/>
            <a:ext cx="7704856" cy="864096"/>
          </a:xfrm>
          <a:prstGeom prst="rect">
            <a:avLst/>
          </a:prstGeom>
          <a:noFill/>
          <a:ln w="9525">
            <a:noFill/>
            <a:miter lim="800000"/>
            <a:headEnd/>
            <a:tailEnd/>
          </a:ln>
        </p:spPr>
        <p:txBody>
          <a:bodyPr/>
          <a:lstStyle/>
          <a:p>
            <a:pPr marL="176400" indent="-176400" algn="just" fontAlgn="ctr">
              <a:spcBef>
                <a:spcPts val="600"/>
              </a:spcBef>
              <a:spcAft>
                <a:spcPts val="0"/>
              </a:spcAft>
              <a:buClr>
                <a:srgbClr val="DB0613"/>
              </a:buClr>
              <a:buFont typeface="Webdings" pitchFamily="18" charset="2"/>
              <a:buChar char="4"/>
              <a:defRPr/>
            </a:pPr>
            <a:r>
              <a:rPr lang="es-ES" sz="1200" b="1" dirty="0">
                <a:latin typeface="+mj-lt"/>
              </a:rPr>
              <a:t>Ninguna entidad a la fecha </a:t>
            </a:r>
            <a:r>
              <a:rPr lang="es-ES" sz="1200" dirty="0">
                <a:latin typeface="+mj-lt"/>
              </a:rPr>
              <a:t>aplica localmente y con impacto en requerimientos de capital el método avanzado (AMA), si bien, ciertas filiales de Entidades internacionales están aplicando dicho método a nivel consolidado.</a:t>
            </a:r>
          </a:p>
          <a:p>
            <a:pPr marL="176400" indent="-176400" algn="just" fontAlgn="ctr">
              <a:spcBef>
                <a:spcPts val="600"/>
              </a:spcBef>
              <a:spcAft>
                <a:spcPts val="0"/>
              </a:spcAft>
              <a:buClr>
                <a:srgbClr val="DB0613"/>
              </a:buClr>
              <a:buFont typeface="Webdings" pitchFamily="18" charset="2"/>
              <a:buChar char="4"/>
              <a:defRPr/>
            </a:pPr>
            <a:r>
              <a:rPr lang="es-ES" sz="1200" dirty="0">
                <a:latin typeface="+mj-lt"/>
              </a:rPr>
              <a:t>La </a:t>
            </a:r>
            <a:r>
              <a:rPr lang="es-ES" sz="1200" b="1" dirty="0">
                <a:latin typeface="+mj-lt"/>
              </a:rPr>
              <a:t>oleada de Entidades </a:t>
            </a:r>
            <a:r>
              <a:rPr lang="es-ES" sz="1200" dirty="0">
                <a:latin typeface="+mj-lt"/>
              </a:rPr>
              <a:t>más significativa que está </a:t>
            </a:r>
            <a:r>
              <a:rPr lang="es-ES" sz="1200" b="1" dirty="0">
                <a:latin typeface="+mj-lt"/>
              </a:rPr>
              <a:t>avanzando hacia AMA </a:t>
            </a:r>
            <a:r>
              <a:rPr lang="es-ES" sz="1200" dirty="0">
                <a:latin typeface="+mj-lt"/>
              </a:rPr>
              <a:t>se produce en Brasil</a:t>
            </a:r>
            <a:r>
              <a:rPr lang="es-ES" sz="1200" baseline="30000" dirty="0"/>
              <a:t>(1)</a:t>
            </a:r>
            <a:r>
              <a:rPr lang="es-ES" sz="1200" dirty="0">
                <a:latin typeface="+mj-lt"/>
              </a:rPr>
              <a:t>.</a:t>
            </a:r>
          </a:p>
        </p:txBody>
      </p:sp>
      <p:sp>
        <p:nvSpPr>
          <p:cNvPr id="25" name="TextBox 14"/>
          <p:cNvSpPr txBox="1">
            <a:spLocks noChangeArrowheads="1"/>
          </p:cNvSpPr>
          <p:nvPr/>
        </p:nvSpPr>
        <p:spPr bwMode="auto">
          <a:xfrm>
            <a:off x="1911350" y="6188616"/>
            <a:ext cx="5468962" cy="400110"/>
          </a:xfrm>
          <a:prstGeom prst="rect">
            <a:avLst/>
          </a:prstGeom>
          <a:noFill/>
          <a:ln w="9525">
            <a:noFill/>
            <a:miter lim="800000"/>
            <a:headEnd/>
            <a:tailEnd/>
          </a:ln>
        </p:spPr>
        <p:txBody>
          <a:bodyPr wrap="square">
            <a:spAutoFit/>
          </a:bodyPr>
          <a:lstStyle/>
          <a:p>
            <a:pPr marL="228600" indent="-228600">
              <a:buAutoNum type="arabicParenBoth"/>
            </a:pPr>
            <a:r>
              <a:rPr lang="es-ES" sz="1000" dirty="0"/>
              <a:t>Si bien, </a:t>
            </a:r>
            <a:r>
              <a:rPr lang="es-ES" sz="1000" dirty="0" err="1"/>
              <a:t>Bacen</a:t>
            </a:r>
            <a:r>
              <a:rPr lang="es-ES" sz="1000" dirty="0"/>
              <a:t> ha iniciado el proceso de autorización para aplicar método AMA en las entidades brasileñas a partir de 2013.</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47625" y="32965"/>
            <a:ext cx="8217470" cy="587723"/>
          </a:xfrm>
        </p:spPr>
        <p:txBody>
          <a:bodyPr/>
          <a:lstStyle/>
          <a:p>
            <a:r>
              <a:rPr lang="es-PE" dirty="0"/>
              <a:t>          Contexto Internacional del Riesgo Operacional</a:t>
            </a:r>
          </a:p>
        </p:txBody>
      </p:sp>
      <p:sp>
        <p:nvSpPr>
          <p:cNvPr id="11" name="Rounded Rectangle 3">
            <a:hlinkClick r:id="rId2" action="ppaction://hlinksldjump"/>
          </p:cNvPr>
          <p:cNvSpPr/>
          <p:nvPr/>
        </p:nvSpPr>
        <p:spPr>
          <a:xfrm>
            <a:off x="217915" y="146806"/>
            <a:ext cx="470426" cy="360040"/>
          </a:xfrm>
          <a:prstGeom prst="roundRect">
            <a:avLst/>
          </a:prstGeom>
          <a:solidFill>
            <a:srgbClr val="DB0613"/>
          </a:solidFill>
          <a:ln>
            <a:solidFill>
              <a:srgbClr val="A9A9A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400" b="1" dirty="0"/>
              <a:t>1</a:t>
            </a:r>
          </a:p>
        </p:txBody>
      </p:sp>
      <p:sp>
        <p:nvSpPr>
          <p:cNvPr id="27" name="Text Box 100"/>
          <p:cNvSpPr txBox="1">
            <a:spLocks noChangeArrowheads="1"/>
          </p:cNvSpPr>
          <p:nvPr/>
        </p:nvSpPr>
        <p:spPr bwMode="blackWhite">
          <a:xfrm>
            <a:off x="323528" y="620688"/>
            <a:ext cx="7056784" cy="400110"/>
          </a:xfrm>
          <a:prstGeom prst="rect">
            <a:avLst/>
          </a:prstGeom>
          <a:noFill/>
          <a:ln w="12700" algn="ctr">
            <a:noFill/>
            <a:miter lim="800000"/>
            <a:headEnd/>
            <a:tailEnd/>
          </a:ln>
        </p:spPr>
        <p:txBody>
          <a:bodyPr wrap="square">
            <a:spAutoFit/>
          </a:bodyPr>
          <a:lstStyle/>
          <a:p>
            <a:pPr marL="6350" indent="-6350" algn="just">
              <a:spcBef>
                <a:spcPct val="20000"/>
              </a:spcBef>
              <a:buClr>
                <a:schemeClr val="tx1"/>
              </a:buClr>
            </a:pPr>
            <a:r>
              <a:rPr lang="es-CL" sz="2000" b="1" dirty="0"/>
              <a:t>3. Algunas reflexiones generales </a:t>
            </a:r>
            <a:r>
              <a:rPr lang="es-CL" sz="1400" b="1" dirty="0"/>
              <a:t>(1/2)</a:t>
            </a:r>
            <a:r>
              <a:rPr lang="es-CL" sz="2000" b="1" dirty="0"/>
              <a:t>.</a:t>
            </a:r>
            <a:endParaRPr lang="es-CL" sz="1600" b="1" dirty="0"/>
          </a:p>
        </p:txBody>
      </p:sp>
      <p:sp>
        <p:nvSpPr>
          <p:cNvPr id="13" name="TextBox 83"/>
          <p:cNvSpPr txBox="1">
            <a:spLocks noChangeArrowheads="1"/>
          </p:cNvSpPr>
          <p:nvPr/>
        </p:nvSpPr>
        <p:spPr bwMode="auto">
          <a:xfrm>
            <a:off x="306076" y="1196752"/>
            <a:ext cx="8496176" cy="4896544"/>
          </a:xfrm>
          <a:prstGeom prst="rect">
            <a:avLst/>
          </a:prstGeom>
          <a:noFill/>
          <a:ln w="9525">
            <a:noFill/>
            <a:miter lim="800000"/>
            <a:headEnd/>
            <a:tailEnd/>
          </a:ln>
        </p:spPr>
        <p:txBody>
          <a:bodyPr/>
          <a:lstStyle/>
          <a:p>
            <a:pPr indent="-266400">
              <a:lnSpc>
                <a:spcPts val="1675"/>
              </a:lnSpc>
              <a:spcBef>
                <a:spcPts val="1200"/>
              </a:spcBef>
            </a:pPr>
            <a:r>
              <a:rPr lang="es-ES" sz="1600" b="1" dirty="0"/>
              <a:t>Desde Management </a:t>
            </a:r>
            <a:r>
              <a:rPr lang="es-ES" sz="1600" b="1" dirty="0" err="1"/>
              <a:t>Solutions</a:t>
            </a:r>
            <a:r>
              <a:rPr lang="es-ES" sz="1600" b="1" dirty="0"/>
              <a:t> emitimos este análisis por segundo año consecutivo y ello posibilita confirmar ciertas reflexiones que se alcanzaban ya en el estudio del año pasado:</a:t>
            </a:r>
          </a:p>
          <a:p>
            <a:pPr indent="-266400">
              <a:lnSpc>
                <a:spcPts val="1675"/>
              </a:lnSpc>
              <a:spcBef>
                <a:spcPts val="1200"/>
              </a:spcBef>
            </a:pPr>
            <a:endParaRPr lang="es-ES" sz="1600" b="1" dirty="0"/>
          </a:p>
          <a:p>
            <a:pPr marL="342900" lvl="0" indent="-266400" algn="just">
              <a:lnSpc>
                <a:spcPts val="1675"/>
              </a:lnSpc>
              <a:spcBef>
                <a:spcPts val="1200"/>
              </a:spcBef>
              <a:buFont typeface="+mj-lt"/>
              <a:buAutoNum type="arabicPeriod"/>
            </a:pPr>
            <a:r>
              <a:rPr lang="es-ES" sz="1600" dirty="0"/>
              <a:t>Extensión de la </a:t>
            </a:r>
            <a:r>
              <a:rPr lang="es-ES" sz="1600" b="1" dirty="0"/>
              <a:t>aplicación del método AMA</a:t>
            </a:r>
            <a:r>
              <a:rPr lang="es-ES" sz="1600" dirty="0"/>
              <a:t> entre las Entidades en el Top-100 y especialmente en las </a:t>
            </a:r>
            <a:r>
              <a:rPr lang="es-ES" sz="1600" b="1" dirty="0"/>
              <a:t>entidades de mayor dimensión</a:t>
            </a:r>
            <a:r>
              <a:rPr lang="es-ES" sz="1600" dirty="0"/>
              <a:t>: Top-40 aplicado en un 60%</a:t>
            </a:r>
          </a:p>
          <a:p>
            <a:pPr marL="361950" indent="-266400" algn="just">
              <a:lnSpc>
                <a:spcPts val="1675"/>
              </a:lnSpc>
              <a:spcBef>
                <a:spcPts val="1200"/>
              </a:spcBef>
              <a:buFont typeface="+mj-lt"/>
              <a:buAutoNum type="arabicPeriod"/>
            </a:pPr>
            <a:r>
              <a:rPr lang="es-ES" sz="1600" b="1" dirty="0"/>
              <a:t>No existen diferencias significativas que permitan apreciar menores requerimientos de capital en entidades AMA vs. Estándar</a:t>
            </a:r>
            <a:r>
              <a:rPr lang="es-ES" sz="1600" dirty="0"/>
              <a:t>.</a:t>
            </a:r>
          </a:p>
          <a:p>
            <a:pPr marL="342900" lvl="0" indent="-266400" algn="just">
              <a:lnSpc>
                <a:spcPts val="1675"/>
              </a:lnSpc>
              <a:spcBef>
                <a:spcPts val="1200"/>
              </a:spcBef>
              <a:buFont typeface="+mj-lt"/>
              <a:buAutoNum type="arabicPeriod"/>
            </a:pPr>
            <a:r>
              <a:rPr lang="es-ES" sz="1600" dirty="0"/>
              <a:t>Por lo general, </a:t>
            </a:r>
            <a:r>
              <a:rPr lang="es-ES" sz="1600" b="1" dirty="0"/>
              <a:t>no se observa un carácter anticipativo del capital por riesgo operacional respecto a estos grandes eventos de pérdida</a:t>
            </a:r>
            <a:r>
              <a:rPr lang="es-ES" sz="1600" dirty="0"/>
              <a:t>. Las Entidades que presentaron grandes pérdidas a lo largo del 2012 no presentaban unos niveles superiores de requerimientos de capital por riesgo operacional (a pesar de ser AMA en varios casos).</a:t>
            </a:r>
          </a:p>
          <a:p>
            <a:pPr marL="342900" indent="-266400" algn="just">
              <a:lnSpc>
                <a:spcPts val="1675"/>
              </a:lnSpc>
              <a:spcBef>
                <a:spcPts val="1200"/>
              </a:spcBef>
              <a:buFont typeface="+mj-lt"/>
              <a:buAutoNum type="arabicPeriod"/>
            </a:pPr>
            <a:r>
              <a:rPr lang="es-ES" sz="1600" dirty="0"/>
              <a:t>Aquellas Entidades que presentaron </a:t>
            </a:r>
            <a:r>
              <a:rPr lang="es-ES" sz="1600" b="1" dirty="0"/>
              <a:t>pérdidas significativas en años previos, presentan mayores requerimientos de capital</a:t>
            </a:r>
            <a:r>
              <a:rPr lang="es-ES" sz="1600" dirty="0"/>
              <a:t> por riesgo operacional </a:t>
            </a:r>
            <a:r>
              <a:rPr lang="es-ES" sz="1600" dirty="0">
                <a:sym typeface="Wingdings"/>
              </a:rPr>
              <a:t></a:t>
            </a:r>
            <a:r>
              <a:rPr lang="es-ES" sz="1600" dirty="0"/>
              <a:t> Ej. </a:t>
            </a:r>
            <a:r>
              <a:rPr lang="es-ES" sz="1600" dirty="0" err="1"/>
              <a:t>Societé</a:t>
            </a:r>
            <a:r>
              <a:rPr lang="es-ES" sz="1600" dirty="0"/>
              <a:t> </a:t>
            </a:r>
            <a:r>
              <a:rPr lang="es-ES" sz="1600" dirty="0" err="1"/>
              <a:t>Generale</a:t>
            </a:r>
            <a:r>
              <a:rPr lang="es-ES" sz="1600" dirty="0"/>
              <a:t>; UBS (ambas AMA), existiendo una traslación directa a </a:t>
            </a:r>
            <a:r>
              <a:rPr lang="es-ES" sz="1600" b="1" dirty="0"/>
              <a:t>mayores requerimientos de capital </a:t>
            </a:r>
            <a:r>
              <a:rPr lang="es-ES" sz="1600" dirty="0"/>
              <a:t>en estas Entidades (lo cuál no es óbice para que en Entidades por método Estándar y si estos se produjese, no se requiriese más capital por Pilar 2).</a:t>
            </a:r>
          </a:p>
          <a:p>
            <a:pPr marL="342900" indent="-266400" algn="just">
              <a:lnSpc>
                <a:spcPts val="1675"/>
              </a:lnSpc>
              <a:spcBef>
                <a:spcPts val="1200"/>
              </a:spcBef>
            </a:pPr>
            <a:r>
              <a:rPr lang="es-PE" sz="1600" dirty="0"/>
              <a:t>	…</a:t>
            </a:r>
            <a:endParaRPr lang="es-ES" sz="16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47625" y="32965"/>
            <a:ext cx="8217470" cy="587723"/>
          </a:xfrm>
        </p:spPr>
        <p:txBody>
          <a:bodyPr/>
          <a:lstStyle/>
          <a:p>
            <a:r>
              <a:rPr lang="es-PE" dirty="0"/>
              <a:t>          Contexto Internacional del Riesgo Operacional</a:t>
            </a:r>
          </a:p>
        </p:txBody>
      </p:sp>
      <p:sp>
        <p:nvSpPr>
          <p:cNvPr id="11" name="Rounded Rectangle 3">
            <a:hlinkClick r:id="rId2" action="ppaction://hlinksldjump"/>
          </p:cNvPr>
          <p:cNvSpPr/>
          <p:nvPr/>
        </p:nvSpPr>
        <p:spPr>
          <a:xfrm>
            <a:off x="217915" y="146806"/>
            <a:ext cx="470426" cy="360040"/>
          </a:xfrm>
          <a:prstGeom prst="roundRect">
            <a:avLst/>
          </a:prstGeom>
          <a:solidFill>
            <a:srgbClr val="DB0613"/>
          </a:solidFill>
          <a:ln>
            <a:solidFill>
              <a:srgbClr val="A9A9A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400" b="1" dirty="0"/>
              <a:t>1</a:t>
            </a:r>
          </a:p>
        </p:txBody>
      </p:sp>
      <p:sp>
        <p:nvSpPr>
          <p:cNvPr id="27" name="Text Box 100"/>
          <p:cNvSpPr txBox="1">
            <a:spLocks noChangeArrowheads="1"/>
          </p:cNvSpPr>
          <p:nvPr/>
        </p:nvSpPr>
        <p:spPr bwMode="blackWhite">
          <a:xfrm>
            <a:off x="323528" y="620688"/>
            <a:ext cx="7056784" cy="400110"/>
          </a:xfrm>
          <a:prstGeom prst="rect">
            <a:avLst/>
          </a:prstGeom>
          <a:noFill/>
          <a:ln w="12700" algn="ctr">
            <a:noFill/>
            <a:miter lim="800000"/>
            <a:headEnd/>
            <a:tailEnd/>
          </a:ln>
        </p:spPr>
        <p:txBody>
          <a:bodyPr wrap="square">
            <a:spAutoFit/>
          </a:bodyPr>
          <a:lstStyle/>
          <a:p>
            <a:pPr marL="6350" indent="-6350" algn="just">
              <a:spcBef>
                <a:spcPct val="20000"/>
              </a:spcBef>
              <a:buClr>
                <a:schemeClr val="tx1"/>
              </a:buClr>
            </a:pPr>
            <a:r>
              <a:rPr lang="es-CL" sz="2000" b="1" dirty="0"/>
              <a:t>3. Algunas reflexiones generales </a:t>
            </a:r>
            <a:r>
              <a:rPr lang="es-CL" sz="1400" b="1" dirty="0"/>
              <a:t>(2/2)</a:t>
            </a:r>
            <a:r>
              <a:rPr lang="es-CL" sz="2000" b="1" dirty="0"/>
              <a:t>.</a:t>
            </a:r>
            <a:endParaRPr lang="es-CL" sz="1600" b="1" dirty="0"/>
          </a:p>
        </p:txBody>
      </p:sp>
      <p:sp>
        <p:nvSpPr>
          <p:cNvPr id="13" name="TextBox 83"/>
          <p:cNvSpPr txBox="1">
            <a:spLocks noChangeArrowheads="1"/>
          </p:cNvSpPr>
          <p:nvPr/>
        </p:nvSpPr>
        <p:spPr bwMode="auto">
          <a:xfrm>
            <a:off x="306076" y="1196752"/>
            <a:ext cx="8496176" cy="3312368"/>
          </a:xfrm>
          <a:prstGeom prst="rect">
            <a:avLst/>
          </a:prstGeom>
          <a:noFill/>
          <a:ln w="9525">
            <a:noFill/>
            <a:miter lim="800000"/>
            <a:headEnd/>
            <a:tailEnd/>
          </a:ln>
        </p:spPr>
        <p:txBody>
          <a:bodyPr/>
          <a:lstStyle/>
          <a:p>
            <a:pPr indent="-266400" algn="ctr">
              <a:lnSpc>
                <a:spcPts val="1675"/>
              </a:lnSpc>
              <a:spcBef>
                <a:spcPts val="1200"/>
              </a:spcBef>
            </a:pPr>
            <a:r>
              <a:rPr lang="es-ES" sz="1600" b="1" dirty="0"/>
              <a:t>Si bien en la industria aseguradora no existen estadísticos de las metodologías de Riesgo Operacional por las principales compañías aseguradoras, podemos afirmar que….</a:t>
            </a:r>
          </a:p>
          <a:p>
            <a:pPr indent="-266400">
              <a:lnSpc>
                <a:spcPts val="1675"/>
              </a:lnSpc>
              <a:spcBef>
                <a:spcPts val="1200"/>
              </a:spcBef>
            </a:pPr>
            <a:endParaRPr lang="es-ES" sz="1600" b="1" dirty="0"/>
          </a:p>
          <a:p>
            <a:pPr marL="419400" indent="-342900" algn="just">
              <a:lnSpc>
                <a:spcPts val="1675"/>
              </a:lnSpc>
              <a:spcBef>
                <a:spcPts val="1200"/>
              </a:spcBef>
              <a:buFont typeface="+mj-lt"/>
              <a:buAutoNum type="arabicPeriod" startAt="5"/>
            </a:pPr>
            <a:r>
              <a:rPr lang="es-ES" sz="1600" b="1" dirty="0"/>
              <a:t>Las Entidades Aseguradoras </a:t>
            </a:r>
            <a:r>
              <a:rPr lang="es-ES" sz="1600" dirty="0"/>
              <a:t>vinculadas a  Entidades Bancarias (*) están implementando mayoritariamente los </a:t>
            </a:r>
            <a:r>
              <a:rPr lang="es-ES" sz="1600" b="1" dirty="0"/>
              <a:t>modelos AMA por la contribución de los Seguros a sus márgenes , porque muchos de estos riesgos se generan en la red de oficinas y por extensión de las metodologías corporativas.</a:t>
            </a:r>
          </a:p>
          <a:p>
            <a:pPr marL="419400" indent="-342900" algn="just">
              <a:lnSpc>
                <a:spcPts val="1675"/>
              </a:lnSpc>
              <a:spcBef>
                <a:spcPts val="1200"/>
              </a:spcBef>
              <a:buFont typeface="+mj-lt"/>
              <a:buAutoNum type="arabicPeriod" startAt="5"/>
            </a:pPr>
            <a:r>
              <a:rPr lang="es-ES" sz="1600" b="1" dirty="0"/>
              <a:t>Las Entidades Aseguradoras tradicionales (*)  </a:t>
            </a:r>
            <a:r>
              <a:rPr lang="es-ES" sz="1600" dirty="0"/>
              <a:t>no están implementando modelos AMA principalmente por la falta de información estadística para el cálculo de la PE y  Var, si bien, se están realizando proyectos para gestionar riesgos concretos (</a:t>
            </a:r>
            <a:r>
              <a:rPr lang="es-ES" sz="1600" dirty="0" err="1"/>
              <a:t>ej</a:t>
            </a:r>
            <a:r>
              <a:rPr lang="es-ES" sz="1600" dirty="0"/>
              <a:t>: fraude externo), y estableciendo rigurosos entornos de identificación y control </a:t>
            </a:r>
            <a:endParaRPr lang="es-ES" sz="1600" b="1" dirty="0"/>
          </a:p>
          <a:p>
            <a:pPr algn="just">
              <a:spcBef>
                <a:spcPts val="600"/>
              </a:spcBef>
              <a:buClr>
                <a:srgbClr val="766A34"/>
              </a:buClr>
            </a:pPr>
            <a:endParaRPr lang="es-ES" sz="1600" dirty="0"/>
          </a:p>
          <a:p>
            <a:pPr lvl="0" algn="just">
              <a:spcBef>
                <a:spcPts val="600"/>
              </a:spcBef>
              <a:buClr>
                <a:srgbClr val="766A34"/>
              </a:buClr>
            </a:pPr>
            <a:endParaRPr lang="es-ES" sz="1600" dirty="0"/>
          </a:p>
          <a:p>
            <a:pPr lvl="0" algn="just">
              <a:spcBef>
                <a:spcPts val="600"/>
              </a:spcBef>
              <a:buClr>
                <a:srgbClr val="766A34"/>
              </a:buClr>
            </a:pPr>
            <a:endParaRPr lang="es-ES" sz="1600" dirty="0"/>
          </a:p>
          <a:p>
            <a:pPr marL="342900" lvl="0" indent="-342900" algn="just">
              <a:spcBef>
                <a:spcPts val="600"/>
              </a:spcBef>
              <a:buClr>
                <a:srgbClr val="766A34"/>
              </a:buClr>
              <a:buFont typeface="+mj-lt"/>
              <a:buAutoNum type="arabicPeriod"/>
            </a:pPr>
            <a:endParaRPr lang="es-ES" sz="1600" dirty="0"/>
          </a:p>
          <a:p>
            <a:pPr lvl="1" algn="just">
              <a:spcBef>
                <a:spcPts val="600"/>
              </a:spcBef>
              <a:buClr>
                <a:srgbClr val="766A34"/>
              </a:buClr>
            </a:pPr>
            <a:endParaRPr lang="es-ES" sz="1600" dirty="0"/>
          </a:p>
          <a:p>
            <a:pPr marL="342900" lvl="0" indent="-342900" algn="just">
              <a:spcBef>
                <a:spcPts val="600"/>
              </a:spcBef>
              <a:buClr>
                <a:srgbClr val="766A34"/>
              </a:buClr>
              <a:buFont typeface="+mj-lt"/>
              <a:buAutoNum type="arabicPeriod"/>
            </a:pPr>
            <a:endParaRPr lang="es-ES" sz="1600" dirty="0"/>
          </a:p>
          <a:p>
            <a:pPr algn="just">
              <a:spcBef>
                <a:spcPts val="600"/>
              </a:spcBef>
              <a:buClr>
                <a:srgbClr val="766A34"/>
              </a:buClr>
            </a:pPr>
            <a:endParaRPr lang="es-ES" sz="16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PE" dirty="0"/>
              <a:t>Agenda</a:t>
            </a:r>
          </a:p>
        </p:txBody>
      </p:sp>
      <p:sp>
        <p:nvSpPr>
          <p:cNvPr id="26" name="Rounded Rectangle 3">
            <a:hlinkClick r:id="rId2" action="ppaction://hlinksldjump"/>
          </p:cNvPr>
          <p:cNvSpPr/>
          <p:nvPr/>
        </p:nvSpPr>
        <p:spPr>
          <a:xfrm>
            <a:off x="899592" y="1198493"/>
            <a:ext cx="470426" cy="360040"/>
          </a:xfrm>
          <a:prstGeom prst="roundRect">
            <a:avLst/>
          </a:prstGeom>
          <a:solidFill>
            <a:srgbClr val="DB0613">
              <a:alpha val="40000"/>
            </a:srgbClr>
          </a:solidFill>
          <a:ln>
            <a:solidFill>
              <a:srgbClr val="A9A9A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400" b="1" dirty="0"/>
              <a:t>1</a:t>
            </a:r>
          </a:p>
        </p:txBody>
      </p:sp>
      <p:sp>
        <p:nvSpPr>
          <p:cNvPr id="27" name="Rounded Rectangle 4">
            <a:hlinkClick r:id="rId3" action="ppaction://hlinksldjump"/>
          </p:cNvPr>
          <p:cNvSpPr/>
          <p:nvPr/>
        </p:nvSpPr>
        <p:spPr>
          <a:xfrm>
            <a:off x="899592" y="1780135"/>
            <a:ext cx="470426" cy="360040"/>
          </a:xfrm>
          <a:prstGeom prst="roundRect">
            <a:avLst/>
          </a:prstGeom>
          <a:solidFill>
            <a:srgbClr val="DB0613"/>
          </a:solidFill>
          <a:ln>
            <a:solidFill>
              <a:srgbClr val="A9A9A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400" b="1" dirty="0"/>
              <a:t>2</a:t>
            </a:r>
          </a:p>
        </p:txBody>
      </p:sp>
      <p:sp>
        <p:nvSpPr>
          <p:cNvPr id="28" name="Rounded Rectangle 5">
            <a:hlinkClick r:id="rId4" action="ppaction://hlinksldjump"/>
          </p:cNvPr>
          <p:cNvSpPr>
            <a:spLocks noChangeAspect="1"/>
          </p:cNvSpPr>
          <p:nvPr/>
        </p:nvSpPr>
        <p:spPr>
          <a:xfrm>
            <a:off x="1603349" y="2284191"/>
            <a:ext cx="399819" cy="306000"/>
          </a:xfrm>
          <a:prstGeom prst="roundRect">
            <a:avLst/>
          </a:prstGeom>
          <a:solidFill>
            <a:srgbClr val="DB0613"/>
          </a:solidFill>
          <a:ln>
            <a:solidFill>
              <a:srgbClr val="A9A9A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PE" sz="1000" b="1" dirty="0">
                <a:solidFill>
                  <a:schemeClr val="bg1"/>
                </a:solidFill>
              </a:rPr>
              <a:t>2.1</a:t>
            </a:r>
            <a:endParaRPr lang="es-ES" sz="1000" b="1" dirty="0">
              <a:solidFill>
                <a:schemeClr val="bg1"/>
              </a:solidFill>
            </a:endParaRPr>
          </a:p>
        </p:txBody>
      </p:sp>
      <p:sp>
        <p:nvSpPr>
          <p:cNvPr id="29" name="Rounded Rectangle 7">
            <a:hlinkClick r:id="rId5" action="ppaction://hlinksldjump"/>
          </p:cNvPr>
          <p:cNvSpPr>
            <a:spLocks noChangeAspect="1"/>
          </p:cNvSpPr>
          <p:nvPr/>
        </p:nvSpPr>
        <p:spPr>
          <a:xfrm>
            <a:off x="1603349" y="2786506"/>
            <a:ext cx="399819" cy="306000"/>
          </a:xfrm>
          <a:prstGeom prst="roundRect">
            <a:avLst/>
          </a:prstGeom>
          <a:solidFill>
            <a:srgbClr val="DB0613">
              <a:alpha val="40000"/>
            </a:srgbClr>
          </a:solidFill>
          <a:ln>
            <a:solidFill>
              <a:srgbClr val="A9A9A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PE" sz="1000" b="1" dirty="0">
                <a:solidFill>
                  <a:schemeClr val="bg1"/>
                </a:solidFill>
              </a:rPr>
              <a:t>2.2</a:t>
            </a:r>
            <a:endParaRPr lang="es-ES" sz="1000" b="1" dirty="0">
              <a:solidFill>
                <a:schemeClr val="bg1"/>
              </a:solidFill>
            </a:endParaRPr>
          </a:p>
        </p:txBody>
      </p:sp>
      <p:sp>
        <p:nvSpPr>
          <p:cNvPr id="30" name="Rounded Rectangle 8">
            <a:hlinkClick r:id="rId6" action="ppaction://hlinksldjump"/>
          </p:cNvPr>
          <p:cNvSpPr/>
          <p:nvPr/>
        </p:nvSpPr>
        <p:spPr>
          <a:xfrm>
            <a:off x="899592" y="3362570"/>
            <a:ext cx="470426" cy="360040"/>
          </a:xfrm>
          <a:prstGeom prst="roundRect">
            <a:avLst/>
          </a:prstGeom>
          <a:solidFill>
            <a:srgbClr val="DB0613">
              <a:alpha val="40000"/>
            </a:srgbClr>
          </a:solidFill>
          <a:ln>
            <a:solidFill>
              <a:srgbClr val="A9A9A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PE" sz="1400" b="1" dirty="0"/>
              <a:t>3</a:t>
            </a:r>
            <a:endParaRPr lang="es-ES" sz="1400" b="1" dirty="0"/>
          </a:p>
        </p:txBody>
      </p:sp>
      <p:sp>
        <p:nvSpPr>
          <p:cNvPr id="31" name="Rounded Rectangle 9">
            <a:hlinkClick r:id="rId7" action="ppaction://hlinksldjump"/>
          </p:cNvPr>
          <p:cNvSpPr/>
          <p:nvPr/>
        </p:nvSpPr>
        <p:spPr>
          <a:xfrm>
            <a:off x="899592" y="3866626"/>
            <a:ext cx="470426" cy="360040"/>
          </a:xfrm>
          <a:prstGeom prst="roundRect">
            <a:avLst/>
          </a:prstGeom>
          <a:solidFill>
            <a:srgbClr val="DB0613">
              <a:alpha val="40000"/>
            </a:srgbClr>
          </a:solidFill>
          <a:ln>
            <a:solidFill>
              <a:srgbClr val="A9A9A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PE" sz="1400" b="1" dirty="0"/>
              <a:t>4</a:t>
            </a:r>
            <a:endParaRPr lang="es-ES" sz="1400" b="1" dirty="0"/>
          </a:p>
        </p:txBody>
      </p:sp>
      <p:sp>
        <p:nvSpPr>
          <p:cNvPr id="33" name="Rectangle 11"/>
          <p:cNvSpPr/>
          <p:nvPr/>
        </p:nvSpPr>
        <p:spPr>
          <a:xfrm>
            <a:off x="1303226" y="1056218"/>
            <a:ext cx="4720267" cy="646331"/>
          </a:xfrm>
          <a:prstGeom prst="rect">
            <a:avLst/>
          </a:prstGeom>
        </p:spPr>
        <p:txBody>
          <a:bodyPr wrap="none">
            <a:spAutoFit/>
          </a:bodyPr>
          <a:lstStyle/>
          <a:p>
            <a:pPr marL="468000" indent="-342900" algn="just">
              <a:lnSpc>
                <a:spcPct val="200000"/>
              </a:lnSpc>
            </a:pPr>
            <a:r>
              <a:rPr lang="es-PE" b="1" dirty="0">
                <a:solidFill>
                  <a:schemeClr val="bg1">
                    <a:lumMod val="75000"/>
                  </a:schemeClr>
                </a:solidFill>
                <a:cs typeface="Arial" pitchFamily="34" charset="0"/>
              </a:rPr>
              <a:t>Contexto Internacional del Riesgo Operacional</a:t>
            </a:r>
          </a:p>
        </p:txBody>
      </p:sp>
      <p:sp>
        <p:nvSpPr>
          <p:cNvPr id="34" name="Rectangle 12"/>
          <p:cNvSpPr/>
          <p:nvPr/>
        </p:nvSpPr>
        <p:spPr>
          <a:xfrm>
            <a:off x="1303226" y="1637860"/>
            <a:ext cx="3761735" cy="646331"/>
          </a:xfrm>
          <a:prstGeom prst="rect">
            <a:avLst/>
          </a:prstGeom>
        </p:spPr>
        <p:txBody>
          <a:bodyPr wrap="none">
            <a:spAutoFit/>
          </a:bodyPr>
          <a:lstStyle/>
          <a:p>
            <a:pPr marL="468000" indent="-342900" algn="just">
              <a:lnSpc>
                <a:spcPct val="200000"/>
              </a:lnSpc>
            </a:pPr>
            <a:r>
              <a:rPr lang="es-PE" b="1" dirty="0">
                <a:solidFill>
                  <a:schemeClr val="bg1">
                    <a:lumMod val="50000"/>
                  </a:schemeClr>
                </a:solidFill>
                <a:cs typeface="Arial" pitchFamily="34" charset="0"/>
              </a:rPr>
              <a:t>Resultados del Piloto ROCI en </a:t>
            </a:r>
            <a:r>
              <a:rPr lang="es-PE" b="1" dirty="0" err="1">
                <a:solidFill>
                  <a:schemeClr val="bg1">
                    <a:lumMod val="50000"/>
                  </a:schemeClr>
                </a:solidFill>
                <a:cs typeface="Arial" pitchFamily="34" charset="0"/>
              </a:rPr>
              <a:t>Rimac</a:t>
            </a:r>
            <a:endParaRPr lang="es-PE" b="1" dirty="0">
              <a:solidFill>
                <a:schemeClr val="bg1">
                  <a:lumMod val="50000"/>
                </a:schemeClr>
              </a:solidFill>
              <a:cs typeface="Arial" pitchFamily="34" charset="0"/>
            </a:endParaRPr>
          </a:p>
        </p:txBody>
      </p:sp>
      <p:sp>
        <p:nvSpPr>
          <p:cNvPr id="35" name="Rectangle 13"/>
          <p:cNvSpPr/>
          <p:nvPr/>
        </p:nvSpPr>
        <p:spPr>
          <a:xfrm>
            <a:off x="2006982" y="2140175"/>
            <a:ext cx="4797266" cy="646331"/>
          </a:xfrm>
          <a:prstGeom prst="rect">
            <a:avLst/>
          </a:prstGeom>
        </p:spPr>
        <p:txBody>
          <a:bodyPr wrap="square">
            <a:spAutoFit/>
          </a:bodyPr>
          <a:lstStyle/>
          <a:p>
            <a:pPr marL="468000" indent="-342900" algn="just">
              <a:lnSpc>
                <a:spcPct val="200000"/>
              </a:lnSpc>
            </a:pPr>
            <a:r>
              <a:rPr lang="es-PE" b="1" dirty="0">
                <a:solidFill>
                  <a:schemeClr val="bg1">
                    <a:lumMod val="50000"/>
                  </a:schemeClr>
                </a:solidFill>
                <a:cs typeface="Arial" pitchFamily="34" charset="0"/>
              </a:rPr>
              <a:t>Resumen Ejecutivo</a:t>
            </a:r>
          </a:p>
        </p:txBody>
      </p:sp>
      <p:sp>
        <p:nvSpPr>
          <p:cNvPr id="36" name="Rectangle 15"/>
          <p:cNvSpPr/>
          <p:nvPr/>
        </p:nvSpPr>
        <p:spPr>
          <a:xfrm>
            <a:off x="2006982" y="2605615"/>
            <a:ext cx="2437655" cy="646331"/>
          </a:xfrm>
          <a:prstGeom prst="rect">
            <a:avLst/>
          </a:prstGeom>
        </p:spPr>
        <p:txBody>
          <a:bodyPr wrap="none">
            <a:spAutoFit/>
          </a:bodyPr>
          <a:lstStyle/>
          <a:p>
            <a:pPr marL="468000" indent="-342900" algn="just">
              <a:lnSpc>
                <a:spcPct val="200000"/>
              </a:lnSpc>
            </a:pPr>
            <a:r>
              <a:rPr lang="es-PE" b="1" dirty="0">
                <a:solidFill>
                  <a:schemeClr val="bg1">
                    <a:lumMod val="75000"/>
                  </a:schemeClr>
                </a:solidFill>
                <a:cs typeface="Arial" pitchFamily="34" charset="0"/>
              </a:rPr>
              <a:t>Información Detallada</a:t>
            </a:r>
          </a:p>
        </p:txBody>
      </p:sp>
      <p:sp>
        <p:nvSpPr>
          <p:cNvPr id="37" name="Rectangle 16"/>
          <p:cNvSpPr/>
          <p:nvPr/>
        </p:nvSpPr>
        <p:spPr>
          <a:xfrm>
            <a:off x="1303226" y="3220295"/>
            <a:ext cx="4773486" cy="568745"/>
          </a:xfrm>
          <a:prstGeom prst="rect">
            <a:avLst/>
          </a:prstGeom>
        </p:spPr>
        <p:txBody>
          <a:bodyPr wrap="none">
            <a:spAutoFit/>
          </a:bodyPr>
          <a:lstStyle/>
          <a:p>
            <a:pPr marL="468000" indent="-342900" algn="just">
              <a:lnSpc>
                <a:spcPct val="200000"/>
              </a:lnSpc>
            </a:pPr>
            <a:r>
              <a:rPr lang="es-PE" b="1" dirty="0">
                <a:solidFill>
                  <a:schemeClr val="bg1">
                    <a:lumMod val="75000"/>
                  </a:schemeClr>
                </a:solidFill>
                <a:cs typeface="Arial" pitchFamily="34" charset="0"/>
              </a:rPr>
              <a:t>Demo Práctica: Gestión del Riesgo Operacional</a:t>
            </a:r>
          </a:p>
        </p:txBody>
      </p:sp>
      <p:sp>
        <p:nvSpPr>
          <p:cNvPr id="38" name="Rectangle 17"/>
          <p:cNvSpPr/>
          <p:nvPr/>
        </p:nvSpPr>
        <p:spPr>
          <a:xfrm>
            <a:off x="1303226" y="3724351"/>
            <a:ext cx="1788246" cy="646331"/>
          </a:xfrm>
          <a:prstGeom prst="rect">
            <a:avLst/>
          </a:prstGeom>
        </p:spPr>
        <p:txBody>
          <a:bodyPr wrap="none">
            <a:spAutoFit/>
          </a:bodyPr>
          <a:lstStyle/>
          <a:p>
            <a:pPr marL="468000" indent="-342900" algn="just">
              <a:lnSpc>
                <a:spcPct val="200000"/>
              </a:lnSpc>
            </a:pPr>
            <a:r>
              <a:rPr lang="es-PE" b="1" dirty="0">
                <a:solidFill>
                  <a:schemeClr val="bg1">
                    <a:lumMod val="75000"/>
                  </a:schemeClr>
                </a:solidFill>
                <a:cs typeface="Arial" pitchFamily="34" charset="0"/>
              </a:rPr>
              <a:t>Próximos Pasos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1 Título"/>
          <p:cNvSpPr>
            <a:spLocks noGrp="1"/>
          </p:cNvSpPr>
          <p:nvPr>
            <p:ph type="title"/>
          </p:nvPr>
        </p:nvSpPr>
        <p:spPr>
          <a:xfrm>
            <a:off x="47625" y="32965"/>
            <a:ext cx="8217470" cy="587723"/>
          </a:xfrm>
        </p:spPr>
        <p:txBody>
          <a:bodyPr/>
          <a:lstStyle/>
          <a:p>
            <a:r>
              <a:rPr lang="es-PE" dirty="0"/>
              <a:t>          Resumen Ejecutivo</a:t>
            </a:r>
          </a:p>
        </p:txBody>
      </p:sp>
      <p:sp>
        <p:nvSpPr>
          <p:cNvPr id="7" name="Rounded Rectangle 3">
            <a:hlinkClick r:id="rId2" action="ppaction://hlinksldjump"/>
          </p:cNvPr>
          <p:cNvSpPr/>
          <p:nvPr/>
        </p:nvSpPr>
        <p:spPr>
          <a:xfrm>
            <a:off x="217915" y="146806"/>
            <a:ext cx="470426" cy="360040"/>
          </a:xfrm>
          <a:prstGeom prst="roundRect">
            <a:avLst/>
          </a:prstGeom>
          <a:solidFill>
            <a:srgbClr val="DB0613"/>
          </a:solidFill>
          <a:ln>
            <a:solidFill>
              <a:srgbClr val="A9A9A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400" b="1" dirty="0"/>
              <a:t>2.1</a:t>
            </a:r>
          </a:p>
        </p:txBody>
      </p:sp>
      <p:sp>
        <p:nvSpPr>
          <p:cNvPr id="8" name="Text Box 100"/>
          <p:cNvSpPr txBox="1">
            <a:spLocks noChangeArrowheads="1"/>
          </p:cNvSpPr>
          <p:nvPr/>
        </p:nvSpPr>
        <p:spPr bwMode="blackWhite">
          <a:xfrm>
            <a:off x="323528" y="620688"/>
            <a:ext cx="7056784" cy="400110"/>
          </a:xfrm>
          <a:prstGeom prst="rect">
            <a:avLst/>
          </a:prstGeom>
          <a:noFill/>
          <a:ln w="12700" algn="ctr">
            <a:noFill/>
            <a:miter lim="800000"/>
            <a:headEnd/>
            <a:tailEnd/>
          </a:ln>
        </p:spPr>
        <p:txBody>
          <a:bodyPr wrap="square">
            <a:spAutoFit/>
          </a:bodyPr>
          <a:lstStyle/>
          <a:p>
            <a:pPr marL="6350" indent="-6350" algn="just">
              <a:spcBef>
                <a:spcPct val="20000"/>
              </a:spcBef>
              <a:buClr>
                <a:schemeClr val="tx1"/>
              </a:buClr>
            </a:pPr>
            <a:r>
              <a:rPr lang="es-CL" sz="2000" b="1" dirty="0"/>
              <a:t>Resultado del Trabajo</a:t>
            </a:r>
          </a:p>
        </p:txBody>
      </p:sp>
      <p:sp>
        <p:nvSpPr>
          <p:cNvPr id="14" name="Action Button: Forward or Next 92">
            <a:hlinkClick r:id="rId3" action="ppaction://hlinksldjump" highlightClick="1"/>
          </p:cNvPr>
          <p:cNvSpPr/>
          <p:nvPr/>
        </p:nvSpPr>
        <p:spPr>
          <a:xfrm>
            <a:off x="8748464" y="1453133"/>
            <a:ext cx="144000" cy="144000"/>
          </a:xfrm>
          <a:prstGeom prst="actionButtonForwardNext">
            <a:avLst/>
          </a:prstGeom>
          <a:solidFill>
            <a:schemeClr val="bg1">
              <a:lumMod val="7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p>
        </p:txBody>
      </p:sp>
      <p:sp>
        <p:nvSpPr>
          <p:cNvPr id="15" name="Action Button: Forward or Next 92">
            <a:hlinkClick r:id="rId4" action="ppaction://hlinksldjump" highlightClick="1"/>
          </p:cNvPr>
          <p:cNvSpPr/>
          <p:nvPr/>
        </p:nvSpPr>
        <p:spPr>
          <a:xfrm>
            <a:off x="8748464" y="2146319"/>
            <a:ext cx="144000" cy="144000"/>
          </a:xfrm>
          <a:prstGeom prst="actionButtonForwardNext">
            <a:avLst/>
          </a:prstGeom>
          <a:solidFill>
            <a:schemeClr val="bg1">
              <a:lumMod val="7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p>
        </p:txBody>
      </p:sp>
      <p:sp>
        <p:nvSpPr>
          <p:cNvPr id="11" name="TextBox 2"/>
          <p:cNvSpPr txBox="1"/>
          <p:nvPr/>
        </p:nvSpPr>
        <p:spPr>
          <a:xfrm>
            <a:off x="539552" y="1342504"/>
            <a:ext cx="7992888" cy="4355038"/>
          </a:xfrm>
          <a:prstGeom prst="rect">
            <a:avLst/>
          </a:prstGeom>
          <a:noFill/>
        </p:spPr>
        <p:txBody>
          <a:bodyPr wrap="square" rtlCol="0">
            <a:spAutoFit/>
          </a:bodyPr>
          <a:lstStyle/>
          <a:p>
            <a:pPr marL="261938" indent="-261938" algn="just">
              <a:spcBef>
                <a:spcPct val="20000"/>
              </a:spcBef>
              <a:spcAft>
                <a:spcPts val="600"/>
              </a:spcAft>
              <a:buClr>
                <a:schemeClr val="tx1"/>
              </a:buClr>
              <a:buFont typeface="Webdings" pitchFamily="18" charset="2"/>
              <a:buChar char="4"/>
            </a:pPr>
            <a:r>
              <a:rPr lang="es-ES" dirty="0"/>
              <a:t>Se ha trabajado en </a:t>
            </a:r>
            <a:r>
              <a:rPr lang="es-ES" b="1" dirty="0">
                <a:solidFill>
                  <a:srgbClr val="DB0613"/>
                </a:solidFill>
              </a:rPr>
              <a:t>2 procesos: Administración de Fondos</a:t>
            </a:r>
            <a:r>
              <a:rPr lang="es-ES" b="1" dirty="0"/>
              <a:t> </a:t>
            </a:r>
            <a:r>
              <a:rPr lang="es-ES" dirty="0"/>
              <a:t>y </a:t>
            </a:r>
            <a:r>
              <a:rPr lang="es-ES" b="1" dirty="0">
                <a:solidFill>
                  <a:srgbClr val="DB0613"/>
                </a:solidFill>
              </a:rPr>
              <a:t>Suscripción Vehicular</a:t>
            </a:r>
            <a:r>
              <a:rPr lang="es-ES" dirty="0"/>
              <a:t>, habiendo participado</a:t>
            </a:r>
            <a:r>
              <a:rPr lang="es-ES" b="1" dirty="0">
                <a:solidFill>
                  <a:srgbClr val="DB0613"/>
                </a:solidFill>
              </a:rPr>
              <a:t> 18 áreas </a:t>
            </a:r>
            <a:r>
              <a:rPr lang="es-ES" dirty="0"/>
              <a:t>y </a:t>
            </a:r>
            <a:r>
              <a:rPr lang="es-ES" b="1" dirty="0">
                <a:solidFill>
                  <a:srgbClr val="DB0613"/>
                </a:solidFill>
              </a:rPr>
              <a:t>43 gestores de riesgos.</a:t>
            </a:r>
          </a:p>
          <a:p>
            <a:pPr marL="261938" indent="-261938" algn="just">
              <a:spcBef>
                <a:spcPct val="20000"/>
              </a:spcBef>
              <a:spcAft>
                <a:spcPts val="600"/>
              </a:spcAft>
              <a:buClr>
                <a:schemeClr val="tx1"/>
              </a:buClr>
              <a:buFont typeface="Webdings" pitchFamily="18" charset="2"/>
              <a:buChar char="4"/>
            </a:pPr>
            <a:r>
              <a:rPr lang="es-ES" dirty="0"/>
              <a:t>Se han detectado </a:t>
            </a:r>
            <a:r>
              <a:rPr lang="es-ES" b="1" dirty="0">
                <a:solidFill>
                  <a:srgbClr val="DB0613"/>
                </a:solidFill>
              </a:rPr>
              <a:t>49 Riesgos</a:t>
            </a:r>
            <a:r>
              <a:rPr lang="es-ES" dirty="0"/>
              <a:t> (17 en S.V. y 32 en A.F.).</a:t>
            </a:r>
          </a:p>
          <a:p>
            <a:pPr marL="261938" indent="-261938" algn="just">
              <a:spcBef>
                <a:spcPct val="20000"/>
              </a:spcBef>
              <a:spcAft>
                <a:spcPts val="600"/>
              </a:spcAft>
              <a:buClr>
                <a:schemeClr val="tx1"/>
              </a:buClr>
              <a:buFont typeface="Webdings" pitchFamily="18" charset="2"/>
              <a:buChar char="4"/>
            </a:pPr>
            <a:r>
              <a:rPr lang="es-ES" dirty="0"/>
              <a:t>Se </a:t>
            </a:r>
            <a:r>
              <a:rPr lang="es-ES" b="1" dirty="0">
                <a:solidFill>
                  <a:srgbClr val="DB0613"/>
                </a:solidFill>
              </a:rPr>
              <a:t>estima</a:t>
            </a:r>
            <a:r>
              <a:rPr lang="es-ES" dirty="0"/>
              <a:t> encontrar </a:t>
            </a:r>
            <a:r>
              <a:rPr lang="es-ES" b="1" dirty="0">
                <a:solidFill>
                  <a:srgbClr val="DB0613"/>
                </a:solidFill>
              </a:rPr>
              <a:t>900 riesgos</a:t>
            </a:r>
            <a:r>
              <a:rPr lang="es-ES" dirty="0"/>
              <a:t> en todos los Macroprocesos de Negocio de Rimac. </a:t>
            </a:r>
          </a:p>
          <a:p>
            <a:pPr marL="261938" indent="-261938" algn="just">
              <a:spcBef>
                <a:spcPct val="20000"/>
              </a:spcBef>
              <a:spcAft>
                <a:spcPts val="600"/>
              </a:spcAft>
              <a:buClr>
                <a:schemeClr val="tx1"/>
              </a:buClr>
              <a:buFont typeface="Webdings" pitchFamily="18" charset="2"/>
              <a:buChar char="4"/>
            </a:pPr>
            <a:r>
              <a:rPr lang="es-ES" dirty="0"/>
              <a:t>No todos los riesgos tienen controles asociados, se identificaron </a:t>
            </a:r>
            <a:r>
              <a:rPr lang="es-ES" b="1" dirty="0">
                <a:solidFill>
                  <a:srgbClr val="DB0613"/>
                </a:solidFill>
              </a:rPr>
              <a:t>40 controles</a:t>
            </a:r>
            <a:r>
              <a:rPr lang="es-ES" dirty="0"/>
              <a:t>, lo que arroja un </a:t>
            </a:r>
            <a:r>
              <a:rPr lang="es-ES" b="1" dirty="0">
                <a:solidFill>
                  <a:srgbClr val="DB0613"/>
                </a:solidFill>
              </a:rPr>
              <a:t>entorno de control </a:t>
            </a:r>
            <a:r>
              <a:rPr lang="es-ES" dirty="0"/>
              <a:t>del 82%.</a:t>
            </a:r>
            <a:r>
              <a:rPr lang="es-ES" b="1" dirty="0">
                <a:solidFill>
                  <a:srgbClr val="DB0613"/>
                </a:solidFill>
              </a:rPr>
              <a:t> </a:t>
            </a:r>
            <a:r>
              <a:rPr lang="es-ES" dirty="0"/>
              <a:t>El 27% de los controles tienen una </a:t>
            </a:r>
            <a:r>
              <a:rPr lang="es-ES" b="1" dirty="0">
                <a:solidFill>
                  <a:srgbClr val="DB0613"/>
                </a:solidFill>
              </a:rPr>
              <a:t>eficacia</a:t>
            </a:r>
            <a:r>
              <a:rPr lang="es-ES" dirty="0"/>
              <a:t> superior al 75%.</a:t>
            </a:r>
          </a:p>
          <a:p>
            <a:pPr marL="261938" indent="-261938" algn="just">
              <a:spcBef>
                <a:spcPct val="20000"/>
              </a:spcBef>
              <a:spcAft>
                <a:spcPts val="600"/>
              </a:spcAft>
              <a:buClr>
                <a:schemeClr val="tx1"/>
              </a:buClr>
              <a:buFont typeface="Webdings" pitchFamily="18" charset="2"/>
              <a:buChar char="4"/>
            </a:pPr>
            <a:r>
              <a:rPr lang="es-ES" dirty="0"/>
              <a:t>Estos riesgos representan una Pérdida Esperada Anual (</a:t>
            </a:r>
            <a:r>
              <a:rPr lang="es-ES" b="1" dirty="0">
                <a:solidFill>
                  <a:srgbClr val="DB0613"/>
                </a:solidFill>
              </a:rPr>
              <a:t>PEA</a:t>
            </a:r>
            <a:r>
              <a:rPr lang="es-ES" dirty="0"/>
              <a:t>) de </a:t>
            </a:r>
            <a:r>
              <a:rPr lang="es-ES" b="1" dirty="0">
                <a:solidFill>
                  <a:srgbClr val="DB0613"/>
                </a:solidFill>
              </a:rPr>
              <a:t>S/.10.9MM</a:t>
            </a:r>
            <a:r>
              <a:rPr lang="es-ES" dirty="0"/>
              <a:t> y una Pérdida Máxima Anual (</a:t>
            </a:r>
            <a:r>
              <a:rPr lang="es-ES" b="1" dirty="0">
                <a:solidFill>
                  <a:srgbClr val="DB0613"/>
                </a:solidFill>
              </a:rPr>
              <a:t>PMA</a:t>
            </a:r>
            <a:r>
              <a:rPr lang="es-ES" dirty="0"/>
              <a:t>) de </a:t>
            </a:r>
            <a:r>
              <a:rPr lang="es-ES" b="1" dirty="0">
                <a:solidFill>
                  <a:srgbClr val="DB0613"/>
                </a:solidFill>
              </a:rPr>
              <a:t>S/.53.4MM</a:t>
            </a:r>
            <a:r>
              <a:rPr lang="es-ES" dirty="0"/>
              <a:t>. Lo cual supone un </a:t>
            </a:r>
            <a:r>
              <a:rPr lang="es-ES" b="1" dirty="0">
                <a:solidFill>
                  <a:srgbClr val="DB0613"/>
                </a:solidFill>
              </a:rPr>
              <a:t>Multiplicador</a:t>
            </a:r>
            <a:r>
              <a:rPr lang="es-ES" dirty="0"/>
              <a:t> (PMA/PEA) de </a:t>
            </a:r>
            <a:r>
              <a:rPr lang="es-ES" b="1" dirty="0">
                <a:solidFill>
                  <a:srgbClr val="DB0613"/>
                </a:solidFill>
              </a:rPr>
              <a:t>4,9.</a:t>
            </a:r>
          </a:p>
          <a:p>
            <a:pPr marL="261938" indent="-261938" algn="just">
              <a:spcBef>
                <a:spcPct val="20000"/>
              </a:spcBef>
              <a:spcAft>
                <a:spcPts val="600"/>
              </a:spcAft>
              <a:buClr>
                <a:schemeClr val="tx1"/>
              </a:buClr>
              <a:buFont typeface="Webdings" pitchFamily="18" charset="2"/>
              <a:buChar char="4"/>
            </a:pPr>
            <a:r>
              <a:rPr lang="es-ES" dirty="0"/>
              <a:t>Como </a:t>
            </a:r>
            <a:r>
              <a:rPr lang="es-ES" b="1" dirty="0">
                <a:solidFill>
                  <a:srgbClr val="DB0613"/>
                </a:solidFill>
              </a:rPr>
              <a:t>medidas de mitigación</a:t>
            </a:r>
            <a:r>
              <a:rPr lang="es-ES" dirty="0"/>
              <a:t> se proponen 7 planes de acción, 9 planes de mejora y 2 planes de continuidad (para dar cumplimiento regulatorio).</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1 Título"/>
          <p:cNvSpPr>
            <a:spLocks noGrp="1"/>
          </p:cNvSpPr>
          <p:nvPr>
            <p:ph type="title"/>
          </p:nvPr>
        </p:nvSpPr>
        <p:spPr>
          <a:xfrm>
            <a:off x="47625" y="32965"/>
            <a:ext cx="8217470" cy="587723"/>
          </a:xfrm>
        </p:spPr>
        <p:txBody>
          <a:bodyPr/>
          <a:lstStyle/>
          <a:p>
            <a:r>
              <a:rPr lang="es-PE" dirty="0"/>
              <a:t>          Resumen Ejecutivo</a:t>
            </a:r>
          </a:p>
        </p:txBody>
      </p:sp>
      <p:sp>
        <p:nvSpPr>
          <p:cNvPr id="7" name="Rounded Rectangle 3">
            <a:hlinkClick r:id="rId2" action="ppaction://hlinksldjump"/>
          </p:cNvPr>
          <p:cNvSpPr/>
          <p:nvPr/>
        </p:nvSpPr>
        <p:spPr>
          <a:xfrm>
            <a:off x="217915" y="146806"/>
            <a:ext cx="470426" cy="360040"/>
          </a:xfrm>
          <a:prstGeom prst="roundRect">
            <a:avLst/>
          </a:prstGeom>
          <a:solidFill>
            <a:srgbClr val="DB0613"/>
          </a:solidFill>
          <a:ln>
            <a:solidFill>
              <a:srgbClr val="A9A9A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400" b="1" dirty="0"/>
              <a:t>2.1</a:t>
            </a:r>
          </a:p>
        </p:txBody>
      </p:sp>
      <p:graphicFrame>
        <p:nvGraphicFramePr>
          <p:cNvPr id="8" name="Table 2"/>
          <p:cNvGraphicFramePr>
            <a:graphicFrameLocks noGrp="1"/>
          </p:cNvGraphicFramePr>
          <p:nvPr/>
        </p:nvGraphicFramePr>
        <p:xfrm>
          <a:off x="755576" y="1973065"/>
          <a:ext cx="7653536" cy="2680071"/>
        </p:xfrm>
        <a:graphic>
          <a:graphicData uri="http://schemas.openxmlformats.org/drawingml/2006/table">
            <a:tbl>
              <a:tblPr firstRow="1" bandRow="1">
                <a:tableStyleId>{72833802-FEF1-4C79-8D5D-14CF1EAF98D9}</a:tableStyleId>
              </a:tblPr>
              <a:tblGrid>
                <a:gridCol w="1913384">
                  <a:extLst>
                    <a:ext uri="{9D8B030D-6E8A-4147-A177-3AD203B41FA5}">
                      <a16:colId xmlns:a16="http://schemas.microsoft.com/office/drawing/2014/main" val="20000"/>
                    </a:ext>
                  </a:extLst>
                </a:gridCol>
                <a:gridCol w="1913384">
                  <a:extLst>
                    <a:ext uri="{9D8B030D-6E8A-4147-A177-3AD203B41FA5}">
                      <a16:colId xmlns:a16="http://schemas.microsoft.com/office/drawing/2014/main" val="20001"/>
                    </a:ext>
                  </a:extLst>
                </a:gridCol>
                <a:gridCol w="1913384">
                  <a:extLst>
                    <a:ext uri="{9D8B030D-6E8A-4147-A177-3AD203B41FA5}">
                      <a16:colId xmlns:a16="http://schemas.microsoft.com/office/drawing/2014/main" val="20002"/>
                    </a:ext>
                  </a:extLst>
                </a:gridCol>
                <a:gridCol w="1913384">
                  <a:extLst>
                    <a:ext uri="{9D8B030D-6E8A-4147-A177-3AD203B41FA5}">
                      <a16:colId xmlns:a16="http://schemas.microsoft.com/office/drawing/2014/main" val="20003"/>
                    </a:ext>
                  </a:extLst>
                </a:gridCol>
              </a:tblGrid>
              <a:tr h="893357">
                <a:tc>
                  <a:txBody>
                    <a:bodyPr/>
                    <a:lstStyle/>
                    <a:p>
                      <a:endParaRPr lang="es-ES" sz="1800" b="1" kern="1200" dirty="0">
                        <a:solidFill>
                          <a:schemeClr val="bg1"/>
                        </a:solidFill>
                        <a:latin typeface="+mn-lt"/>
                        <a:ea typeface="+mn-ea"/>
                        <a:cs typeface="+mn-cs"/>
                      </a:endParaRPr>
                    </a:p>
                  </a:txBody>
                  <a:tcPr>
                    <a:lnL w="9525" cap="flat" cmpd="sng" algn="ctr">
                      <a:noFill/>
                      <a:prstDash val="solid"/>
                    </a:lnL>
                    <a:lnR w="12700" cap="flat" cmpd="sng" algn="ctr">
                      <a:noFill/>
                      <a:prstDash val="solid"/>
                      <a:round/>
                      <a:headEnd type="none" w="med" len="med"/>
                      <a:tailEnd type="none" w="med" len="med"/>
                    </a:lnR>
                    <a:lnT w="9525" cap="flat" cmpd="sng" algn="ctr">
                      <a:noFill/>
                      <a:prstDash val="soli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s-ES" sz="2000" dirty="0"/>
                        <a:t>Suscripción</a:t>
                      </a:r>
                      <a:r>
                        <a:rPr lang="es-ES" sz="2000" baseline="0" dirty="0"/>
                        <a:t> Vehicular</a:t>
                      </a:r>
                      <a:r>
                        <a:rPr lang="es-ES" sz="2000" baseline="30000" dirty="0"/>
                        <a:t>(1)(*)</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noFill/>
                      <a:prstDash val="soli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B0613"/>
                    </a:solidFill>
                  </a:tcPr>
                </a:tc>
                <a:tc>
                  <a:txBody>
                    <a:bodyPr/>
                    <a:lstStyle/>
                    <a:p>
                      <a:pPr algn="ctr"/>
                      <a:r>
                        <a:rPr lang="es-ES" sz="2000" dirty="0"/>
                        <a:t>Rimac</a:t>
                      </a:r>
                      <a:r>
                        <a:rPr lang="es-ES" sz="2000" baseline="30000" dirty="0"/>
                        <a:t>(2)(**)</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noFill/>
                      <a:prstDash val="soli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B0613"/>
                    </a:solidFill>
                  </a:tcPr>
                </a:tc>
                <a:tc>
                  <a:txBody>
                    <a:bodyPr/>
                    <a:lstStyle/>
                    <a:p>
                      <a:pPr algn="ctr"/>
                      <a:r>
                        <a:rPr lang="es-ES" sz="2000" dirty="0"/>
                        <a:t>Sistema Financiero</a:t>
                      </a:r>
                      <a:r>
                        <a:rPr lang="es-ES" sz="2000" baseline="30000" dirty="0"/>
                        <a:t>(***)</a:t>
                      </a:r>
                    </a:p>
                  </a:txBody>
                  <a:tcPr anchor="ctr">
                    <a:lnL w="12700" cap="flat" cmpd="sng" algn="ctr">
                      <a:noFill/>
                      <a:prstDash val="solid"/>
                      <a:round/>
                      <a:headEnd type="none" w="med" len="med"/>
                      <a:tailEnd type="none" w="med" len="med"/>
                    </a:lnL>
                    <a:lnR w="9525" cap="flat" cmpd="sng" algn="ctr">
                      <a:noFill/>
                      <a:prstDash val="solid"/>
                    </a:lnR>
                    <a:lnT w="9525" cap="flat" cmpd="sng" algn="ctr">
                      <a:noFill/>
                      <a:prstDash val="soli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B0613"/>
                    </a:solidFill>
                  </a:tcPr>
                </a:tc>
                <a:extLst>
                  <a:ext uri="{0D108BD9-81ED-4DB2-BD59-A6C34878D82A}">
                    <a16:rowId xmlns:a16="http://schemas.microsoft.com/office/drawing/2014/main" val="10000"/>
                  </a:ext>
                </a:extLst>
              </a:tr>
              <a:tr h="893357">
                <a:tc>
                  <a:txBody>
                    <a:bodyPr/>
                    <a:lstStyle/>
                    <a:p>
                      <a:pPr algn="ctr"/>
                      <a:r>
                        <a:rPr lang="es-ES" sz="2000" b="1" kern="1200" dirty="0">
                          <a:solidFill>
                            <a:schemeClr val="bg1"/>
                          </a:solidFill>
                          <a:latin typeface="+mn-lt"/>
                          <a:ea typeface="+mn-ea"/>
                          <a:cs typeface="+mn-cs"/>
                        </a:rPr>
                        <a:t>PMA/Resultado</a:t>
                      </a:r>
                      <a:r>
                        <a:rPr lang="es-ES" sz="2000" b="1" kern="1200" baseline="0" dirty="0">
                          <a:solidFill>
                            <a:schemeClr val="bg1"/>
                          </a:solidFill>
                          <a:latin typeface="+mn-lt"/>
                          <a:ea typeface="+mn-ea"/>
                          <a:cs typeface="+mn-cs"/>
                        </a:rPr>
                        <a:t> Técnico</a:t>
                      </a:r>
                      <a:endParaRPr lang="es-ES" sz="2000" b="1" kern="1200" dirty="0">
                        <a:solidFill>
                          <a:schemeClr val="bg1"/>
                        </a:solidFill>
                        <a:latin typeface="+mn-lt"/>
                        <a:ea typeface="+mn-ea"/>
                        <a:cs typeface="+mn-cs"/>
                      </a:endParaRPr>
                    </a:p>
                  </a:txBody>
                  <a:tcPr anchor="ctr">
                    <a:lnL w="9525" cap="flat" cmpd="sng" algn="ctr">
                      <a:noFill/>
                      <a:prstDash val="soli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A9A9A9"/>
                    </a:solidFill>
                  </a:tcPr>
                </a:tc>
                <a:tc>
                  <a:txBody>
                    <a:bodyPr/>
                    <a:lstStyle/>
                    <a:p>
                      <a:pPr algn="ctr"/>
                      <a:r>
                        <a:rPr lang="es-ES" sz="2000" dirty="0"/>
                        <a:t>17.5%</a:t>
                      </a: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s-ES" sz="2000" dirty="0"/>
                        <a:t>9.7%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s-ES" sz="2000" dirty="0"/>
                        <a:t>10.8% - 13%</a:t>
                      </a:r>
                    </a:p>
                  </a:txBody>
                  <a:tcPr anchor="ctr">
                    <a:lnL w="12700" cap="flat" cmpd="sng" algn="ctr">
                      <a:solidFill>
                        <a:schemeClr val="tx1"/>
                      </a:solidFill>
                      <a:prstDash val="solid"/>
                      <a:round/>
                      <a:headEnd type="none" w="med" len="med"/>
                      <a:tailEnd type="none" w="med" len="med"/>
                    </a:lnL>
                    <a:lnR w="9525" cap="flat" cmpd="sng" algn="ctr">
                      <a:noFill/>
                      <a:prstDash val="soli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893357">
                <a:tc>
                  <a:txBody>
                    <a:bodyPr/>
                    <a:lstStyle/>
                    <a:p>
                      <a:pPr algn="ctr"/>
                      <a:r>
                        <a:rPr lang="es-ES" sz="2000" b="1" kern="1200" dirty="0">
                          <a:solidFill>
                            <a:schemeClr val="bg1"/>
                          </a:solidFill>
                          <a:latin typeface="+mn-lt"/>
                          <a:ea typeface="+mn-ea"/>
                          <a:cs typeface="+mn-cs"/>
                        </a:rPr>
                        <a:t>PEA/</a:t>
                      </a:r>
                      <a:r>
                        <a:rPr lang="es-ES" sz="2000" b="1" kern="1200" baseline="0" dirty="0">
                          <a:solidFill>
                            <a:schemeClr val="bg1"/>
                          </a:solidFill>
                          <a:latin typeface="+mn-lt"/>
                          <a:ea typeface="+mn-ea"/>
                          <a:cs typeface="+mn-cs"/>
                        </a:rPr>
                        <a:t>Resultado Técnico</a:t>
                      </a:r>
                      <a:endParaRPr lang="es-ES" sz="2000" b="1" kern="1200" dirty="0">
                        <a:solidFill>
                          <a:schemeClr val="bg1"/>
                        </a:solidFill>
                        <a:latin typeface="+mn-lt"/>
                        <a:ea typeface="+mn-ea"/>
                        <a:cs typeface="+mn-cs"/>
                      </a:endParaRPr>
                    </a:p>
                  </a:txBody>
                  <a:tcPr anchor="ctr">
                    <a:lnL w="9525" cap="flat" cmpd="sng" algn="ctr">
                      <a:noFill/>
                      <a:prstDash val="soli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9525" cap="flat" cmpd="sng" algn="ctr">
                      <a:noFill/>
                      <a:prstDash val="solid"/>
                    </a:lnB>
                    <a:lnTlToBr w="12700" cmpd="sng">
                      <a:noFill/>
                      <a:prstDash val="solid"/>
                    </a:lnTlToBr>
                    <a:lnBlToTr w="12700" cmpd="sng">
                      <a:noFill/>
                      <a:prstDash val="solid"/>
                    </a:lnBlToTr>
                    <a:solidFill>
                      <a:srgbClr val="A9A9A9"/>
                    </a:solidFill>
                  </a:tcPr>
                </a:tc>
                <a:tc>
                  <a:txBody>
                    <a:bodyPr/>
                    <a:lstStyle/>
                    <a:p>
                      <a:pPr algn="ctr"/>
                      <a:r>
                        <a:rPr lang="es-ES" sz="2000" dirty="0"/>
                        <a:t>4.6%</a:t>
                      </a: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noFill/>
                      <a:prstDash val="solid"/>
                    </a:lnB>
                    <a:lnTlToBr w="12700" cmpd="sng">
                      <a:noFill/>
                      <a:prstDash val="solid"/>
                    </a:lnTlToBr>
                    <a:lnBlToTr w="12700" cmpd="sng">
                      <a:noFill/>
                      <a:prstDash val="solid"/>
                    </a:lnBlToTr>
                  </a:tcPr>
                </a:tc>
                <a:tc>
                  <a:txBody>
                    <a:bodyPr/>
                    <a:lstStyle/>
                    <a:p>
                      <a:pPr algn="ctr"/>
                      <a:r>
                        <a:rPr lang="es-ES" sz="2000" dirty="0"/>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noFill/>
                      <a:prstDash val="solid"/>
                    </a:lnB>
                    <a:lnTlToBr w="12700" cmpd="sng">
                      <a:noFill/>
                      <a:prstDash val="solid"/>
                    </a:lnTlToBr>
                    <a:lnBlToTr w="12700" cmpd="sng">
                      <a:noFill/>
                      <a:prstDash val="solid"/>
                    </a:lnBlToTr>
                  </a:tcPr>
                </a:tc>
                <a:tc>
                  <a:txBody>
                    <a:bodyPr/>
                    <a:lstStyle/>
                    <a:p>
                      <a:pPr algn="ctr"/>
                      <a:r>
                        <a:rPr lang="es-ES" sz="2000" dirty="0"/>
                        <a:t>1% - 3%</a:t>
                      </a:r>
                    </a:p>
                  </a:txBody>
                  <a:tcPr anchor="ctr">
                    <a:lnL w="12700" cap="flat" cmpd="sng" algn="ctr">
                      <a:solidFill>
                        <a:schemeClr val="tx1"/>
                      </a:solidFill>
                      <a:prstDash val="solid"/>
                      <a:round/>
                      <a:headEnd type="none" w="med" len="med"/>
                      <a:tailEnd type="none" w="med" len="med"/>
                    </a:lnL>
                    <a:lnR w="9525" cap="flat" cmpd="sng" algn="ctr">
                      <a:noFill/>
                      <a:prstDash val="solid"/>
                    </a:lnR>
                    <a:lnT w="12700" cap="flat" cmpd="sng" algn="ctr">
                      <a:solidFill>
                        <a:schemeClr val="tx1"/>
                      </a:solidFill>
                      <a:prstDash val="solid"/>
                      <a:round/>
                      <a:headEnd type="none" w="med" len="med"/>
                      <a:tailEnd type="none" w="med" len="med"/>
                    </a:lnT>
                    <a:lnB w="9525" cap="flat" cmpd="sng" algn="ctr">
                      <a:noFill/>
                      <a:prstDash val="solid"/>
                    </a:lnB>
                    <a:lnTlToBr w="12700" cmpd="sng">
                      <a:noFill/>
                      <a:prstDash val="solid"/>
                    </a:lnTlToBr>
                    <a:lnBlToTr w="12700" cmpd="sng">
                      <a:noFill/>
                      <a:prstDash val="solid"/>
                    </a:lnBlToTr>
                  </a:tcPr>
                </a:tc>
                <a:extLst>
                  <a:ext uri="{0D108BD9-81ED-4DB2-BD59-A6C34878D82A}">
                    <a16:rowId xmlns:a16="http://schemas.microsoft.com/office/drawing/2014/main" val="10002"/>
                  </a:ext>
                </a:extLst>
              </a:tr>
            </a:tbl>
          </a:graphicData>
        </a:graphic>
      </p:graphicFrame>
      <p:sp>
        <p:nvSpPr>
          <p:cNvPr id="9" name="TextBox 3"/>
          <p:cNvSpPr txBox="1"/>
          <p:nvPr/>
        </p:nvSpPr>
        <p:spPr>
          <a:xfrm>
            <a:off x="1043608" y="692696"/>
            <a:ext cx="6984776" cy="1323439"/>
          </a:xfrm>
          <a:prstGeom prst="rect">
            <a:avLst/>
          </a:prstGeom>
          <a:noFill/>
        </p:spPr>
        <p:txBody>
          <a:bodyPr wrap="square" rtlCol="0">
            <a:spAutoFit/>
          </a:bodyPr>
          <a:lstStyle/>
          <a:p>
            <a:pPr algn="ctr"/>
            <a:r>
              <a:rPr lang="es-ES" sz="2000" b="1" dirty="0"/>
              <a:t>La PEA y la PMA  “preliminares” muestran oportunidades de mejora en el Resultado Técnico de Rimac… si bien dichas valoraciones deberán ser calibradas y revisadas  en futuras evaluaciones.</a:t>
            </a:r>
          </a:p>
        </p:txBody>
      </p:sp>
      <p:sp>
        <p:nvSpPr>
          <p:cNvPr id="10" name="TextBox 4"/>
          <p:cNvSpPr txBox="1"/>
          <p:nvPr/>
        </p:nvSpPr>
        <p:spPr>
          <a:xfrm>
            <a:off x="107504" y="5157192"/>
            <a:ext cx="9036496" cy="1015663"/>
          </a:xfrm>
          <a:prstGeom prst="rect">
            <a:avLst/>
          </a:prstGeom>
          <a:noFill/>
        </p:spPr>
        <p:txBody>
          <a:bodyPr wrap="square" rtlCol="0">
            <a:spAutoFit/>
          </a:bodyPr>
          <a:lstStyle/>
          <a:p>
            <a:r>
              <a:rPr lang="es-ES" sz="1200" baseline="30000" dirty="0"/>
              <a:t>(1)</a:t>
            </a:r>
            <a:r>
              <a:rPr lang="es-ES" sz="1200" dirty="0"/>
              <a:t> Representa la (PMA o PEA de Suscripción Vehicular)/Resultado Técnico Bruto del ramo Vehicular. Año 2012.</a:t>
            </a:r>
          </a:p>
          <a:p>
            <a:r>
              <a:rPr lang="es-ES" sz="1200" baseline="30000" dirty="0"/>
              <a:t>(2) </a:t>
            </a:r>
            <a:r>
              <a:rPr lang="es-ES" sz="1200" dirty="0"/>
              <a:t>Representa la (PMA o PEA de Suscripción Vehicular + PMA de Administración de Fondos)/Resultado Técnico Bruto Total de Rimac. Año 2011 </a:t>
            </a:r>
            <a:endParaRPr lang="es-ES" sz="1200" dirty="0">
              <a:solidFill>
                <a:srgbClr val="FF0000"/>
              </a:solidFill>
            </a:endParaRPr>
          </a:p>
          <a:p>
            <a:r>
              <a:rPr lang="es-PE" sz="1200" dirty="0"/>
              <a:t>Fuentes: (*)   Resultado técnico proporcionado por el área de Contabilidad de Rimac.</a:t>
            </a:r>
          </a:p>
          <a:p>
            <a:r>
              <a:rPr lang="es-PE" sz="1200" dirty="0"/>
              <a:t>                (**)  Resultado técnico obtenido de la memoria anual de Rimac 2011.</a:t>
            </a:r>
          </a:p>
          <a:p>
            <a:pPr lvl="1"/>
            <a:r>
              <a:rPr lang="es-PE" sz="1200" dirty="0"/>
              <a:t>  (***)  Información obtenida de la Risk.net.</a:t>
            </a:r>
            <a:endParaRPr lang="es-E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1 Título"/>
          <p:cNvSpPr>
            <a:spLocks noGrp="1"/>
          </p:cNvSpPr>
          <p:nvPr>
            <p:ph type="title"/>
          </p:nvPr>
        </p:nvSpPr>
        <p:spPr>
          <a:xfrm>
            <a:off x="47625" y="32965"/>
            <a:ext cx="8217470" cy="587723"/>
          </a:xfrm>
        </p:spPr>
        <p:txBody>
          <a:bodyPr/>
          <a:lstStyle/>
          <a:p>
            <a:r>
              <a:rPr lang="es-PE" dirty="0"/>
              <a:t>          Resumen Ejecutivo</a:t>
            </a:r>
          </a:p>
        </p:txBody>
      </p:sp>
      <p:sp>
        <p:nvSpPr>
          <p:cNvPr id="7" name="Rounded Rectangle 3">
            <a:hlinkClick r:id="rId2" action="ppaction://hlinksldjump"/>
          </p:cNvPr>
          <p:cNvSpPr/>
          <p:nvPr/>
        </p:nvSpPr>
        <p:spPr>
          <a:xfrm>
            <a:off x="217915" y="146806"/>
            <a:ext cx="470426" cy="360040"/>
          </a:xfrm>
          <a:prstGeom prst="roundRect">
            <a:avLst/>
          </a:prstGeom>
          <a:solidFill>
            <a:srgbClr val="DB0613"/>
          </a:solidFill>
          <a:ln>
            <a:solidFill>
              <a:srgbClr val="A9A9A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400" b="1" dirty="0"/>
              <a:t>2.1</a:t>
            </a:r>
          </a:p>
        </p:txBody>
      </p:sp>
      <p:sp>
        <p:nvSpPr>
          <p:cNvPr id="8" name="TextBox 2"/>
          <p:cNvSpPr txBox="1"/>
          <p:nvPr/>
        </p:nvSpPr>
        <p:spPr>
          <a:xfrm>
            <a:off x="539552" y="1196752"/>
            <a:ext cx="7992888" cy="4896725"/>
          </a:xfrm>
          <a:prstGeom prst="rect">
            <a:avLst/>
          </a:prstGeom>
          <a:noFill/>
        </p:spPr>
        <p:txBody>
          <a:bodyPr wrap="square" rtlCol="0">
            <a:spAutoFit/>
          </a:bodyPr>
          <a:lstStyle/>
          <a:p>
            <a:pPr marL="261938" indent="-261938" algn="just">
              <a:spcBef>
                <a:spcPct val="20000"/>
              </a:spcBef>
              <a:spcAft>
                <a:spcPts val="600"/>
              </a:spcAft>
              <a:buClr>
                <a:schemeClr val="tx1"/>
              </a:buClr>
              <a:buFont typeface="Webdings" pitchFamily="18" charset="2"/>
              <a:buChar char="4"/>
            </a:pPr>
            <a:r>
              <a:rPr lang="es-ES" b="1" dirty="0">
                <a:solidFill>
                  <a:srgbClr val="DB0613"/>
                </a:solidFill>
              </a:rPr>
              <a:t>Entorno de control mejorable</a:t>
            </a:r>
            <a:r>
              <a:rPr lang="es-ES" dirty="0"/>
              <a:t>, que implica la necesidad de aumentar el número de controles y la efectividad de los mismos.</a:t>
            </a:r>
            <a:endParaRPr lang="es-ES" b="1" dirty="0">
              <a:solidFill>
                <a:srgbClr val="DB0613"/>
              </a:solidFill>
            </a:endParaRPr>
          </a:p>
          <a:p>
            <a:pPr marL="261938" indent="-261938" algn="just">
              <a:spcBef>
                <a:spcPct val="20000"/>
              </a:spcBef>
              <a:spcAft>
                <a:spcPts val="600"/>
              </a:spcAft>
              <a:buClr>
                <a:schemeClr val="tx1"/>
              </a:buClr>
              <a:buFont typeface="Webdings" pitchFamily="18" charset="2"/>
              <a:buChar char="4"/>
            </a:pPr>
            <a:r>
              <a:rPr lang="es-ES" b="1" dirty="0">
                <a:solidFill>
                  <a:srgbClr val="DB0613"/>
                </a:solidFill>
              </a:rPr>
              <a:t>Alta pérdida esperada anual (PEA) y pérdida máxima anual (PMA)</a:t>
            </a:r>
            <a:r>
              <a:rPr lang="es-ES" dirty="0"/>
              <a:t>, con lo cual se propone:</a:t>
            </a:r>
          </a:p>
          <a:p>
            <a:pPr marL="1176338" lvl="2" indent="-261938" algn="just">
              <a:spcBef>
                <a:spcPct val="20000"/>
              </a:spcBef>
              <a:spcAft>
                <a:spcPts val="600"/>
              </a:spcAft>
              <a:buClr>
                <a:schemeClr val="tx1"/>
              </a:buClr>
              <a:buFont typeface="Webdings" pitchFamily="18" charset="2"/>
              <a:buChar char="4"/>
            </a:pPr>
            <a:r>
              <a:rPr lang="es-PE" dirty="0"/>
              <a:t>Revisar y ajustar la calibración en las próximas evaluaciones del RO.</a:t>
            </a:r>
          </a:p>
          <a:p>
            <a:pPr marL="1176338" lvl="2" indent="-261938" algn="just">
              <a:spcBef>
                <a:spcPct val="20000"/>
              </a:spcBef>
              <a:spcAft>
                <a:spcPts val="600"/>
              </a:spcAft>
              <a:buClr>
                <a:schemeClr val="tx1"/>
              </a:buClr>
              <a:buFont typeface="Webdings" pitchFamily="18" charset="2"/>
              <a:buChar char="4"/>
            </a:pPr>
            <a:r>
              <a:rPr lang="es-PE" b="1" dirty="0"/>
              <a:t>Aprovechar las oportunidades identificadas </a:t>
            </a:r>
            <a:r>
              <a:rPr lang="es-PE" dirty="0"/>
              <a:t>para mejorar el margen técnico del ramo vehicular  en particular, y de </a:t>
            </a:r>
            <a:r>
              <a:rPr lang="es-PE" dirty="0" err="1"/>
              <a:t>Rimac</a:t>
            </a:r>
            <a:r>
              <a:rPr lang="es-PE" dirty="0"/>
              <a:t> en general.</a:t>
            </a:r>
          </a:p>
          <a:p>
            <a:pPr marL="1176338" lvl="2" indent="-261938" algn="just">
              <a:spcBef>
                <a:spcPct val="20000"/>
              </a:spcBef>
              <a:spcAft>
                <a:spcPts val="600"/>
              </a:spcAft>
              <a:buClr>
                <a:schemeClr val="tx1"/>
              </a:buClr>
            </a:pPr>
            <a:endParaRPr lang="es-ES" dirty="0"/>
          </a:p>
          <a:p>
            <a:pPr marL="261938" indent="-261938" algn="just">
              <a:spcBef>
                <a:spcPct val="20000"/>
              </a:spcBef>
              <a:spcAft>
                <a:spcPts val="600"/>
              </a:spcAft>
              <a:buClr>
                <a:schemeClr val="tx1"/>
              </a:buClr>
              <a:buFont typeface="Webdings" pitchFamily="18" charset="2"/>
              <a:buChar char="4"/>
            </a:pPr>
            <a:r>
              <a:rPr lang="es-ES" dirty="0"/>
              <a:t>Se </a:t>
            </a:r>
            <a:r>
              <a:rPr lang="es-ES" b="1" dirty="0">
                <a:solidFill>
                  <a:srgbClr val="DB0613"/>
                </a:solidFill>
              </a:rPr>
              <a:t>estima</a:t>
            </a:r>
            <a:r>
              <a:rPr lang="es-ES" dirty="0"/>
              <a:t> encontrar </a:t>
            </a:r>
            <a:r>
              <a:rPr lang="es-ES" b="1" dirty="0">
                <a:solidFill>
                  <a:srgbClr val="DB0613"/>
                </a:solidFill>
              </a:rPr>
              <a:t>900 riesgos</a:t>
            </a:r>
            <a:r>
              <a:rPr lang="es-ES" dirty="0"/>
              <a:t> en todos los Macroprocesos de Negocio de </a:t>
            </a:r>
            <a:r>
              <a:rPr lang="es-ES" dirty="0" err="1"/>
              <a:t>Rimac</a:t>
            </a:r>
            <a:r>
              <a:rPr lang="es-ES" dirty="0"/>
              <a:t>, se propone priorizar el análisis de aquellos </a:t>
            </a:r>
            <a:r>
              <a:rPr lang="es-ES" b="1" dirty="0"/>
              <a:t>procesos y riesgos </a:t>
            </a:r>
            <a:r>
              <a:rPr lang="es-ES" dirty="0"/>
              <a:t>con mayor RO ( especialmente con impacto en P/L ).</a:t>
            </a:r>
          </a:p>
          <a:p>
            <a:pPr marL="261938" indent="-261938" algn="just">
              <a:spcBef>
                <a:spcPct val="20000"/>
              </a:spcBef>
              <a:spcAft>
                <a:spcPts val="600"/>
              </a:spcAft>
              <a:buClr>
                <a:schemeClr val="tx1"/>
              </a:buClr>
            </a:pPr>
            <a:endParaRPr lang="es-ES" dirty="0"/>
          </a:p>
          <a:p>
            <a:pPr marL="261938" indent="-261938" algn="just">
              <a:spcBef>
                <a:spcPct val="20000"/>
              </a:spcBef>
              <a:spcAft>
                <a:spcPts val="600"/>
              </a:spcAft>
              <a:buClr>
                <a:schemeClr val="tx1"/>
              </a:buClr>
              <a:buFont typeface="Webdings" pitchFamily="18" charset="2"/>
              <a:buChar char="4"/>
            </a:pPr>
            <a:r>
              <a:rPr lang="es-PE" dirty="0"/>
              <a:t>Implantar la metodología propuesta para la “sistematización” del seguimiento y gestión del RO.</a:t>
            </a:r>
            <a:endParaRPr lang="es-ES" dirty="0"/>
          </a:p>
        </p:txBody>
      </p:sp>
      <p:sp>
        <p:nvSpPr>
          <p:cNvPr id="9" name="Text Box 100"/>
          <p:cNvSpPr txBox="1">
            <a:spLocks noChangeArrowheads="1"/>
          </p:cNvSpPr>
          <p:nvPr/>
        </p:nvSpPr>
        <p:spPr bwMode="blackWhite">
          <a:xfrm>
            <a:off x="323528" y="620688"/>
            <a:ext cx="7056784" cy="400110"/>
          </a:xfrm>
          <a:prstGeom prst="rect">
            <a:avLst/>
          </a:prstGeom>
          <a:noFill/>
          <a:ln w="12700" algn="ctr">
            <a:noFill/>
            <a:miter lim="800000"/>
            <a:headEnd/>
            <a:tailEnd/>
          </a:ln>
        </p:spPr>
        <p:txBody>
          <a:bodyPr wrap="square">
            <a:spAutoFit/>
          </a:bodyPr>
          <a:lstStyle/>
          <a:p>
            <a:pPr marL="6350" indent="-6350" algn="just">
              <a:spcBef>
                <a:spcPct val="20000"/>
              </a:spcBef>
              <a:buClr>
                <a:schemeClr val="tx1"/>
              </a:buClr>
            </a:pPr>
            <a:r>
              <a:rPr lang="es-CL" sz="2000" b="1" dirty="0"/>
              <a:t>Conclusiones</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PE" dirty="0"/>
              <a:t>Agenda</a:t>
            </a:r>
          </a:p>
        </p:txBody>
      </p:sp>
      <p:sp>
        <p:nvSpPr>
          <p:cNvPr id="26" name="Rounded Rectangle 3">
            <a:hlinkClick r:id="rId2" action="ppaction://hlinksldjump"/>
          </p:cNvPr>
          <p:cNvSpPr/>
          <p:nvPr/>
        </p:nvSpPr>
        <p:spPr>
          <a:xfrm>
            <a:off x="899592" y="1198493"/>
            <a:ext cx="470426" cy="360040"/>
          </a:xfrm>
          <a:prstGeom prst="roundRect">
            <a:avLst/>
          </a:prstGeom>
          <a:solidFill>
            <a:srgbClr val="DB0613">
              <a:alpha val="40000"/>
            </a:srgbClr>
          </a:solidFill>
          <a:ln>
            <a:solidFill>
              <a:srgbClr val="A9A9A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400" b="1" dirty="0"/>
              <a:t>1</a:t>
            </a:r>
          </a:p>
        </p:txBody>
      </p:sp>
      <p:sp>
        <p:nvSpPr>
          <p:cNvPr id="27" name="Rounded Rectangle 4">
            <a:hlinkClick r:id="rId3" action="ppaction://hlinksldjump"/>
          </p:cNvPr>
          <p:cNvSpPr/>
          <p:nvPr/>
        </p:nvSpPr>
        <p:spPr>
          <a:xfrm>
            <a:off x="899592" y="1780135"/>
            <a:ext cx="470426" cy="360040"/>
          </a:xfrm>
          <a:prstGeom prst="roundRect">
            <a:avLst/>
          </a:prstGeom>
          <a:solidFill>
            <a:srgbClr val="DB0613"/>
          </a:solidFill>
          <a:ln>
            <a:solidFill>
              <a:srgbClr val="A9A9A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400" b="1" dirty="0"/>
              <a:t>2</a:t>
            </a:r>
          </a:p>
        </p:txBody>
      </p:sp>
      <p:sp>
        <p:nvSpPr>
          <p:cNvPr id="28" name="Rounded Rectangle 5">
            <a:hlinkClick r:id="rId4" action="ppaction://hlinksldjump"/>
          </p:cNvPr>
          <p:cNvSpPr>
            <a:spLocks noChangeAspect="1"/>
          </p:cNvSpPr>
          <p:nvPr/>
        </p:nvSpPr>
        <p:spPr>
          <a:xfrm>
            <a:off x="1603349" y="2284191"/>
            <a:ext cx="399819" cy="306000"/>
          </a:xfrm>
          <a:prstGeom prst="roundRect">
            <a:avLst/>
          </a:prstGeom>
          <a:solidFill>
            <a:srgbClr val="DB0613">
              <a:alpha val="40000"/>
            </a:srgbClr>
          </a:solidFill>
          <a:ln>
            <a:solidFill>
              <a:srgbClr val="A9A9A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PE" sz="1000" b="1" dirty="0">
                <a:solidFill>
                  <a:schemeClr val="bg1"/>
                </a:solidFill>
              </a:rPr>
              <a:t>2.1</a:t>
            </a:r>
            <a:endParaRPr lang="es-ES" sz="1000" b="1" dirty="0">
              <a:solidFill>
                <a:schemeClr val="bg1"/>
              </a:solidFill>
            </a:endParaRPr>
          </a:p>
        </p:txBody>
      </p:sp>
      <p:sp>
        <p:nvSpPr>
          <p:cNvPr id="29" name="Rounded Rectangle 7">
            <a:hlinkClick r:id="rId5" action="ppaction://hlinksldjump"/>
          </p:cNvPr>
          <p:cNvSpPr>
            <a:spLocks noChangeAspect="1"/>
          </p:cNvSpPr>
          <p:nvPr/>
        </p:nvSpPr>
        <p:spPr>
          <a:xfrm>
            <a:off x="1603349" y="2786506"/>
            <a:ext cx="399819" cy="306000"/>
          </a:xfrm>
          <a:prstGeom prst="roundRect">
            <a:avLst/>
          </a:prstGeom>
          <a:solidFill>
            <a:srgbClr val="DB0613"/>
          </a:solidFill>
          <a:ln>
            <a:solidFill>
              <a:srgbClr val="A9A9A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PE" sz="1000" b="1" dirty="0">
                <a:solidFill>
                  <a:schemeClr val="bg1"/>
                </a:solidFill>
              </a:rPr>
              <a:t>2.2</a:t>
            </a:r>
            <a:endParaRPr lang="es-ES" sz="1000" b="1" dirty="0">
              <a:solidFill>
                <a:schemeClr val="bg1"/>
              </a:solidFill>
            </a:endParaRPr>
          </a:p>
        </p:txBody>
      </p:sp>
      <p:sp>
        <p:nvSpPr>
          <p:cNvPr id="30" name="Rounded Rectangle 8">
            <a:hlinkClick r:id="rId6" action="ppaction://hlinksldjump"/>
          </p:cNvPr>
          <p:cNvSpPr/>
          <p:nvPr/>
        </p:nvSpPr>
        <p:spPr>
          <a:xfrm>
            <a:off x="899592" y="3362570"/>
            <a:ext cx="470426" cy="360040"/>
          </a:xfrm>
          <a:prstGeom prst="roundRect">
            <a:avLst/>
          </a:prstGeom>
          <a:solidFill>
            <a:srgbClr val="DB0613">
              <a:alpha val="40000"/>
            </a:srgbClr>
          </a:solidFill>
          <a:ln>
            <a:solidFill>
              <a:srgbClr val="A9A9A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PE" sz="1400" b="1" dirty="0"/>
              <a:t>3</a:t>
            </a:r>
            <a:endParaRPr lang="es-ES" sz="1400" b="1" dirty="0"/>
          </a:p>
        </p:txBody>
      </p:sp>
      <p:sp>
        <p:nvSpPr>
          <p:cNvPr id="31" name="Rounded Rectangle 9">
            <a:hlinkClick r:id="rId7" action="ppaction://hlinksldjump"/>
          </p:cNvPr>
          <p:cNvSpPr/>
          <p:nvPr/>
        </p:nvSpPr>
        <p:spPr>
          <a:xfrm>
            <a:off x="899592" y="3866626"/>
            <a:ext cx="470426" cy="360040"/>
          </a:xfrm>
          <a:prstGeom prst="roundRect">
            <a:avLst/>
          </a:prstGeom>
          <a:solidFill>
            <a:srgbClr val="DB0613">
              <a:alpha val="40000"/>
            </a:srgbClr>
          </a:solidFill>
          <a:ln>
            <a:solidFill>
              <a:srgbClr val="A9A9A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PE" sz="1400" b="1" dirty="0"/>
              <a:t>4</a:t>
            </a:r>
            <a:endParaRPr lang="es-ES" sz="1400" b="1" dirty="0"/>
          </a:p>
        </p:txBody>
      </p:sp>
      <p:sp>
        <p:nvSpPr>
          <p:cNvPr id="33" name="Rectangle 11"/>
          <p:cNvSpPr/>
          <p:nvPr/>
        </p:nvSpPr>
        <p:spPr>
          <a:xfrm>
            <a:off x="1303226" y="1056218"/>
            <a:ext cx="4720267" cy="646331"/>
          </a:xfrm>
          <a:prstGeom prst="rect">
            <a:avLst/>
          </a:prstGeom>
        </p:spPr>
        <p:txBody>
          <a:bodyPr wrap="none">
            <a:spAutoFit/>
          </a:bodyPr>
          <a:lstStyle/>
          <a:p>
            <a:pPr marL="468000" indent="-342900" algn="just">
              <a:lnSpc>
                <a:spcPct val="200000"/>
              </a:lnSpc>
            </a:pPr>
            <a:r>
              <a:rPr lang="es-PE" b="1" dirty="0">
                <a:solidFill>
                  <a:schemeClr val="bg1">
                    <a:lumMod val="75000"/>
                  </a:schemeClr>
                </a:solidFill>
                <a:cs typeface="Arial" pitchFamily="34" charset="0"/>
              </a:rPr>
              <a:t>Contexto Internacional del Riesgo Operacional</a:t>
            </a:r>
          </a:p>
        </p:txBody>
      </p:sp>
      <p:sp>
        <p:nvSpPr>
          <p:cNvPr id="34" name="Rectangle 12"/>
          <p:cNvSpPr/>
          <p:nvPr/>
        </p:nvSpPr>
        <p:spPr>
          <a:xfrm>
            <a:off x="1303226" y="1637860"/>
            <a:ext cx="3761735" cy="646331"/>
          </a:xfrm>
          <a:prstGeom prst="rect">
            <a:avLst/>
          </a:prstGeom>
        </p:spPr>
        <p:txBody>
          <a:bodyPr wrap="none">
            <a:spAutoFit/>
          </a:bodyPr>
          <a:lstStyle/>
          <a:p>
            <a:pPr marL="468000" indent="-342900" algn="just">
              <a:lnSpc>
                <a:spcPct val="200000"/>
              </a:lnSpc>
            </a:pPr>
            <a:r>
              <a:rPr lang="es-PE" b="1" dirty="0">
                <a:solidFill>
                  <a:schemeClr val="bg1">
                    <a:lumMod val="50000"/>
                  </a:schemeClr>
                </a:solidFill>
                <a:cs typeface="Arial" pitchFamily="34" charset="0"/>
              </a:rPr>
              <a:t>Resultados del Piloto ROCI en </a:t>
            </a:r>
            <a:r>
              <a:rPr lang="es-PE" b="1" dirty="0" err="1">
                <a:solidFill>
                  <a:schemeClr val="bg1">
                    <a:lumMod val="50000"/>
                  </a:schemeClr>
                </a:solidFill>
                <a:cs typeface="Arial" pitchFamily="34" charset="0"/>
              </a:rPr>
              <a:t>Rimac</a:t>
            </a:r>
            <a:endParaRPr lang="es-PE" b="1" dirty="0">
              <a:solidFill>
                <a:schemeClr val="bg1">
                  <a:lumMod val="50000"/>
                </a:schemeClr>
              </a:solidFill>
              <a:cs typeface="Arial" pitchFamily="34" charset="0"/>
            </a:endParaRPr>
          </a:p>
        </p:txBody>
      </p:sp>
      <p:sp>
        <p:nvSpPr>
          <p:cNvPr id="35" name="Rectangle 13"/>
          <p:cNvSpPr/>
          <p:nvPr/>
        </p:nvSpPr>
        <p:spPr>
          <a:xfrm>
            <a:off x="2006982" y="2140175"/>
            <a:ext cx="4797266" cy="646331"/>
          </a:xfrm>
          <a:prstGeom prst="rect">
            <a:avLst/>
          </a:prstGeom>
        </p:spPr>
        <p:txBody>
          <a:bodyPr wrap="square">
            <a:spAutoFit/>
          </a:bodyPr>
          <a:lstStyle/>
          <a:p>
            <a:pPr marL="468000" indent="-342900" algn="just">
              <a:lnSpc>
                <a:spcPct val="200000"/>
              </a:lnSpc>
            </a:pPr>
            <a:r>
              <a:rPr lang="es-PE" b="1" dirty="0">
                <a:solidFill>
                  <a:schemeClr val="bg1">
                    <a:lumMod val="75000"/>
                  </a:schemeClr>
                </a:solidFill>
                <a:cs typeface="Arial" pitchFamily="34" charset="0"/>
              </a:rPr>
              <a:t>Resumen Ejecutivo</a:t>
            </a:r>
          </a:p>
        </p:txBody>
      </p:sp>
      <p:sp>
        <p:nvSpPr>
          <p:cNvPr id="36" name="Rectangle 15"/>
          <p:cNvSpPr/>
          <p:nvPr/>
        </p:nvSpPr>
        <p:spPr>
          <a:xfrm>
            <a:off x="2006982" y="2605615"/>
            <a:ext cx="2437655" cy="646331"/>
          </a:xfrm>
          <a:prstGeom prst="rect">
            <a:avLst/>
          </a:prstGeom>
        </p:spPr>
        <p:txBody>
          <a:bodyPr wrap="none">
            <a:spAutoFit/>
          </a:bodyPr>
          <a:lstStyle/>
          <a:p>
            <a:pPr marL="468000" indent="-342900" algn="just">
              <a:lnSpc>
                <a:spcPct val="200000"/>
              </a:lnSpc>
            </a:pPr>
            <a:r>
              <a:rPr lang="es-PE" b="1" dirty="0">
                <a:solidFill>
                  <a:schemeClr val="bg1">
                    <a:lumMod val="50000"/>
                  </a:schemeClr>
                </a:solidFill>
                <a:cs typeface="Arial" pitchFamily="34" charset="0"/>
              </a:rPr>
              <a:t>Información Detallada</a:t>
            </a:r>
          </a:p>
        </p:txBody>
      </p:sp>
      <p:sp>
        <p:nvSpPr>
          <p:cNvPr id="37" name="Rectangle 16"/>
          <p:cNvSpPr/>
          <p:nvPr/>
        </p:nvSpPr>
        <p:spPr>
          <a:xfrm>
            <a:off x="1303226" y="3220295"/>
            <a:ext cx="4773486" cy="568745"/>
          </a:xfrm>
          <a:prstGeom prst="rect">
            <a:avLst/>
          </a:prstGeom>
        </p:spPr>
        <p:txBody>
          <a:bodyPr wrap="none">
            <a:spAutoFit/>
          </a:bodyPr>
          <a:lstStyle/>
          <a:p>
            <a:pPr marL="468000" indent="-342900" algn="just">
              <a:lnSpc>
                <a:spcPct val="200000"/>
              </a:lnSpc>
            </a:pPr>
            <a:r>
              <a:rPr lang="es-PE" b="1" dirty="0">
                <a:solidFill>
                  <a:schemeClr val="bg1">
                    <a:lumMod val="75000"/>
                  </a:schemeClr>
                </a:solidFill>
                <a:cs typeface="Arial" pitchFamily="34" charset="0"/>
              </a:rPr>
              <a:t>Demo Práctica: Gestión del Riesgo Operacional</a:t>
            </a:r>
          </a:p>
        </p:txBody>
      </p:sp>
      <p:sp>
        <p:nvSpPr>
          <p:cNvPr id="38" name="Rectangle 17"/>
          <p:cNvSpPr/>
          <p:nvPr/>
        </p:nvSpPr>
        <p:spPr>
          <a:xfrm>
            <a:off x="1303226" y="3724351"/>
            <a:ext cx="1788246" cy="646331"/>
          </a:xfrm>
          <a:prstGeom prst="rect">
            <a:avLst/>
          </a:prstGeom>
        </p:spPr>
        <p:txBody>
          <a:bodyPr wrap="none">
            <a:spAutoFit/>
          </a:bodyPr>
          <a:lstStyle/>
          <a:p>
            <a:pPr marL="468000" indent="-342900" algn="just">
              <a:lnSpc>
                <a:spcPct val="200000"/>
              </a:lnSpc>
            </a:pPr>
            <a:r>
              <a:rPr lang="es-PE" b="1" dirty="0">
                <a:solidFill>
                  <a:schemeClr val="bg1">
                    <a:lumMod val="75000"/>
                  </a:schemeClr>
                </a:solidFill>
                <a:cs typeface="Arial" pitchFamily="34" charset="0"/>
              </a:rPr>
              <a:t>Próximos Pasos</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Rectangle 29"/>
          <p:cNvSpPr txBox="1">
            <a:spLocks noChangeArrowheads="1"/>
          </p:cNvSpPr>
          <p:nvPr/>
        </p:nvSpPr>
        <p:spPr bwMode="gray">
          <a:xfrm>
            <a:off x="539552" y="667141"/>
            <a:ext cx="7992888" cy="1078379"/>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lgn="ctr" fontAlgn="base">
              <a:spcBef>
                <a:spcPct val="0"/>
              </a:spcBef>
              <a:spcAft>
                <a:spcPct val="0"/>
              </a:spcAft>
              <a:defRPr/>
            </a:pPr>
            <a:r>
              <a:rPr lang="es-ES_tradnl" b="1" dirty="0">
                <a:latin typeface="+mj-lt"/>
                <a:sym typeface="Wingdings" pitchFamily="2" charset="2"/>
              </a:rPr>
              <a:t>La finalidad</a:t>
            </a:r>
            <a:r>
              <a:rPr lang="es-ES_tradnl" b="1" noProof="0" dirty="0">
                <a:latin typeface="+mj-lt"/>
                <a:sym typeface="Wingdings" pitchFamily="2" charset="2"/>
              </a:rPr>
              <a:t> de este apartado es presentar los resultados detallados del análisis de Riesgo Operaciona</a:t>
            </a:r>
            <a:r>
              <a:rPr lang="es-ES_tradnl" b="1" dirty="0">
                <a:latin typeface="+mj-lt"/>
                <a:sym typeface="Wingdings" pitchFamily="2" charset="2"/>
              </a:rPr>
              <a:t>l y Control Interno realizado </a:t>
            </a:r>
            <a:r>
              <a:rPr lang="es-ES_tradnl" b="1" noProof="0" dirty="0">
                <a:latin typeface="+mj-lt"/>
                <a:sym typeface="Wingdings" pitchFamily="2" charset="2"/>
              </a:rPr>
              <a:t>para los procesos de Administración de Fondos y Suscripción </a:t>
            </a:r>
            <a:r>
              <a:rPr lang="es-ES_tradnl" b="1" dirty="0">
                <a:latin typeface="+mj-lt"/>
                <a:sym typeface="Wingdings" pitchFamily="2" charset="2"/>
              </a:rPr>
              <a:t>Vehicular, en relación a la situación actual de </a:t>
            </a:r>
            <a:r>
              <a:rPr lang="es-ES_tradnl" b="1" dirty="0" err="1">
                <a:latin typeface="+mj-lt"/>
                <a:sym typeface="Wingdings" pitchFamily="2" charset="2"/>
              </a:rPr>
              <a:t>Rimac</a:t>
            </a:r>
            <a:r>
              <a:rPr lang="es-ES_tradnl" b="1" dirty="0">
                <a:latin typeface="+mj-lt"/>
                <a:sym typeface="Wingdings" pitchFamily="2" charset="2"/>
              </a:rPr>
              <a:t>…</a:t>
            </a:r>
          </a:p>
        </p:txBody>
      </p:sp>
      <p:sp>
        <p:nvSpPr>
          <p:cNvPr id="28" name="AutoShape 84"/>
          <p:cNvSpPr>
            <a:spLocks noChangeArrowheads="1"/>
          </p:cNvSpPr>
          <p:nvPr/>
        </p:nvSpPr>
        <p:spPr bwMode="blackWhite">
          <a:xfrm>
            <a:off x="827784" y="2957998"/>
            <a:ext cx="1800000" cy="612000"/>
          </a:xfrm>
          <a:prstGeom prst="rightArrow">
            <a:avLst>
              <a:gd name="adj1" fmla="val 100000"/>
              <a:gd name="adj2" fmla="val 27728"/>
            </a:avLst>
          </a:prstGeom>
          <a:solidFill>
            <a:srgbClr val="DB0613"/>
          </a:solidFill>
          <a:ln>
            <a:solidFill>
              <a:srgbClr val="A9A9A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pt-BR" sz="1400" b="1" dirty="0">
                <a:solidFill>
                  <a:schemeClr val="lt1"/>
                </a:solidFill>
              </a:rPr>
              <a:t>Exposición al RO y Entorno de Control</a:t>
            </a:r>
          </a:p>
        </p:txBody>
      </p:sp>
      <p:sp>
        <p:nvSpPr>
          <p:cNvPr id="30" name="AutoShape 84"/>
          <p:cNvSpPr>
            <a:spLocks noChangeArrowheads="1"/>
          </p:cNvSpPr>
          <p:nvPr/>
        </p:nvSpPr>
        <p:spPr bwMode="blackWhite">
          <a:xfrm>
            <a:off x="827784" y="3793532"/>
            <a:ext cx="1800000" cy="612000"/>
          </a:xfrm>
          <a:prstGeom prst="rightArrow">
            <a:avLst>
              <a:gd name="adj1" fmla="val 100000"/>
              <a:gd name="adj2" fmla="val 27728"/>
            </a:avLst>
          </a:prstGeom>
          <a:solidFill>
            <a:srgbClr val="DB0613"/>
          </a:solidFill>
          <a:ln>
            <a:solidFill>
              <a:srgbClr val="A9A9A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pt-BR" sz="1400" b="1" dirty="0">
                <a:solidFill>
                  <a:schemeClr val="lt1"/>
                </a:solidFill>
              </a:rPr>
              <a:t>Análisis de Impacto Reputacional</a:t>
            </a:r>
          </a:p>
        </p:txBody>
      </p:sp>
      <p:sp>
        <p:nvSpPr>
          <p:cNvPr id="31" name="AutoShape 84"/>
          <p:cNvSpPr>
            <a:spLocks noChangeArrowheads="1"/>
          </p:cNvSpPr>
          <p:nvPr/>
        </p:nvSpPr>
        <p:spPr bwMode="blackWhite">
          <a:xfrm>
            <a:off x="827784" y="4617200"/>
            <a:ext cx="1800000" cy="612000"/>
          </a:xfrm>
          <a:prstGeom prst="rightArrow">
            <a:avLst>
              <a:gd name="adj1" fmla="val 100000"/>
              <a:gd name="adj2" fmla="val 27728"/>
            </a:avLst>
          </a:prstGeom>
          <a:solidFill>
            <a:srgbClr val="DB0613"/>
          </a:solidFill>
          <a:ln>
            <a:solidFill>
              <a:srgbClr val="A9A9A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pt-BR" sz="1400" b="1" dirty="0">
                <a:solidFill>
                  <a:schemeClr val="lt1"/>
                </a:solidFill>
              </a:rPr>
              <a:t>Planes de Mitigación</a:t>
            </a:r>
          </a:p>
        </p:txBody>
      </p:sp>
      <p:sp>
        <p:nvSpPr>
          <p:cNvPr id="32" name="AutoShape 84"/>
          <p:cNvSpPr>
            <a:spLocks noChangeArrowheads="1"/>
          </p:cNvSpPr>
          <p:nvPr/>
        </p:nvSpPr>
        <p:spPr bwMode="blackWhite">
          <a:xfrm>
            <a:off x="827784" y="2152213"/>
            <a:ext cx="1800000" cy="612000"/>
          </a:xfrm>
          <a:prstGeom prst="rightArrow">
            <a:avLst>
              <a:gd name="adj1" fmla="val 100000"/>
              <a:gd name="adj2" fmla="val 27728"/>
            </a:avLst>
          </a:prstGeom>
          <a:solidFill>
            <a:srgbClr val="DB0613"/>
          </a:solidFill>
          <a:ln>
            <a:solidFill>
              <a:srgbClr val="A9A9A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pt-BR" sz="1400" b="1" dirty="0"/>
              <a:t>Metodología</a:t>
            </a:r>
            <a:endParaRPr lang="pt-BR" sz="1400" b="1" dirty="0">
              <a:solidFill>
                <a:schemeClr val="lt1"/>
              </a:solidFill>
            </a:endParaRPr>
          </a:p>
        </p:txBody>
      </p:sp>
      <p:sp>
        <p:nvSpPr>
          <p:cNvPr id="34" name="Text Box 100"/>
          <p:cNvSpPr txBox="1">
            <a:spLocks noChangeArrowheads="1"/>
          </p:cNvSpPr>
          <p:nvPr/>
        </p:nvSpPr>
        <p:spPr bwMode="blackWhite">
          <a:xfrm>
            <a:off x="2592400" y="2152213"/>
            <a:ext cx="5580000" cy="584775"/>
          </a:xfrm>
          <a:prstGeom prst="rect">
            <a:avLst/>
          </a:prstGeom>
          <a:noFill/>
          <a:ln w="12700" algn="ctr">
            <a:noFill/>
            <a:miter lim="800000"/>
            <a:headEnd/>
            <a:tailEnd/>
          </a:ln>
        </p:spPr>
        <p:txBody>
          <a:bodyPr>
            <a:spAutoFit/>
          </a:bodyPr>
          <a:lstStyle/>
          <a:p>
            <a:pPr marL="261938" indent="-261938" algn="just">
              <a:spcBef>
                <a:spcPct val="20000"/>
              </a:spcBef>
              <a:buClr>
                <a:schemeClr val="tx1"/>
              </a:buClr>
              <a:buFont typeface="Webdings" pitchFamily="18" charset="2"/>
              <a:buChar char="4"/>
            </a:pPr>
            <a:r>
              <a:rPr lang="es-CL" sz="1600" b="0" dirty="0"/>
              <a:t>Detalle de la metodología utilizada en el levantamiento de información, áreas involucradas, valoraciones, etc.</a:t>
            </a:r>
            <a:endParaRPr lang="es-CL" sz="1600" b="0" dirty="0">
              <a:solidFill>
                <a:srgbClr val="FF0000"/>
              </a:solidFill>
            </a:endParaRPr>
          </a:p>
        </p:txBody>
      </p:sp>
      <p:sp>
        <p:nvSpPr>
          <p:cNvPr id="35" name="Text Box 100"/>
          <p:cNvSpPr txBox="1">
            <a:spLocks noChangeArrowheads="1"/>
          </p:cNvSpPr>
          <p:nvPr/>
        </p:nvSpPr>
        <p:spPr bwMode="blackWhite">
          <a:xfrm>
            <a:off x="2592400" y="2957998"/>
            <a:ext cx="5580000" cy="584775"/>
          </a:xfrm>
          <a:prstGeom prst="rect">
            <a:avLst/>
          </a:prstGeom>
          <a:noFill/>
          <a:ln w="12700" algn="ctr">
            <a:noFill/>
            <a:miter lim="800000"/>
            <a:headEnd/>
            <a:tailEnd/>
          </a:ln>
        </p:spPr>
        <p:txBody>
          <a:bodyPr>
            <a:spAutoFit/>
          </a:bodyPr>
          <a:lstStyle/>
          <a:p>
            <a:pPr marL="261938" indent="-261938" algn="just">
              <a:spcBef>
                <a:spcPct val="20000"/>
              </a:spcBef>
              <a:buClr>
                <a:schemeClr val="tx1"/>
              </a:buClr>
              <a:buFont typeface="Webdings" pitchFamily="18" charset="2"/>
              <a:buChar char="4"/>
            </a:pPr>
            <a:r>
              <a:rPr lang="es-CL" sz="1600" b="0" dirty="0"/>
              <a:t>Resumen a alto nivel de la identificación y análisis de los riesgos operacionales detectados y de los controles asociados.</a:t>
            </a:r>
            <a:endParaRPr lang="es-CL" sz="1600" b="0" dirty="0">
              <a:solidFill>
                <a:srgbClr val="FF0000"/>
              </a:solidFill>
            </a:endParaRPr>
          </a:p>
        </p:txBody>
      </p:sp>
      <p:sp>
        <p:nvSpPr>
          <p:cNvPr id="36" name="Text Box 100"/>
          <p:cNvSpPr txBox="1">
            <a:spLocks noChangeArrowheads="1"/>
          </p:cNvSpPr>
          <p:nvPr/>
        </p:nvSpPr>
        <p:spPr bwMode="blackWhite">
          <a:xfrm>
            <a:off x="2592400" y="3793532"/>
            <a:ext cx="5580000" cy="584775"/>
          </a:xfrm>
          <a:prstGeom prst="rect">
            <a:avLst/>
          </a:prstGeom>
          <a:noFill/>
          <a:ln w="12700" algn="ctr">
            <a:noFill/>
            <a:miter lim="800000"/>
            <a:headEnd/>
            <a:tailEnd/>
          </a:ln>
        </p:spPr>
        <p:txBody>
          <a:bodyPr>
            <a:spAutoFit/>
          </a:bodyPr>
          <a:lstStyle/>
          <a:p>
            <a:pPr marL="261938" indent="-261938" algn="just">
              <a:spcBef>
                <a:spcPct val="20000"/>
              </a:spcBef>
              <a:buClr>
                <a:schemeClr val="tx1"/>
              </a:buClr>
              <a:buFont typeface="Webdings" pitchFamily="18" charset="2"/>
              <a:buChar char="4"/>
            </a:pPr>
            <a:r>
              <a:rPr lang="es-CL" sz="1600" b="0" dirty="0"/>
              <a:t>Resumen a alto nivel de la identificación y análisis del posible impacto reputacional vinculado a los procesos.</a:t>
            </a:r>
            <a:endParaRPr lang="es-CL" sz="1600" b="0" dirty="0">
              <a:solidFill>
                <a:srgbClr val="FF0000"/>
              </a:solidFill>
            </a:endParaRPr>
          </a:p>
        </p:txBody>
      </p:sp>
      <p:sp>
        <p:nvSpPr>
          <p:cNvPr id="37" name="Text Box 100"/>
          <p:cNvSpPr txBox="1">
            <a:spLocks noChangeArrowheads="1"/>
          </p:cNvSpPr>
          <p:nvPr/>
        </p:nvSpPr>
        <p:spPr bwMode="blackWhite">
          <a:xfrm>
            <a:off x="2592400" y="4617200"/>
            <a:ext cx="5580000" cy="584775"/>
          </a:xfrm>
          <a:prstGeom prst="rect">
            <a:avLst/>
          </a:prstGeom>
          <a:noFill/>
          <a:ln w="12700" algn="ctr">
            <a:noFill/>
            <a:miter lim="800000"/>
            <a:headEnd/>
            <a:tailEnd/>
          </a:ln>
        </p:spPr>
        <p:txBody>
          <a:bodyPr>
            <a:spAutoFit/>
          </a:bodyPr>
          <a:lstStyle/>
          <a:p>
            <a:pPr marL="261938" indent="-261938" algn="just">
              <a:spcBef>
                <a:spcPct val="20000"/>
              </a:spcBef>
              <a:buClr>
                <a:schemeClr val="tx1"/>
              </a:buClr>
              <a:buFont typeface="Webdings" pitchFamily="18" charset="2"/>
              <a:buChar char="4"/>
            </a:pPr>
            <a:r>
              <a:rPr lang="es-CL" sz="1600" b="0" dirty="0"/>
              <a:t>Detección de oportunidades de mejora materializadas en propuestas concretas de mitigación del riesgo.</a:t>
            </a:r>
            <a:endParaRPr lang="es-CL" sz="1600" b="0" dirty="0">
              <a:solidFill>
                <a:srgbClr val="FF0000"/>
              </a:solidFill>
            </a:endParaRPr>
          </a:p>
        </p:txBody>
      </p:sp>
      <p:sp>
        <p:nvSpPr>
          <p:cNvPr id="16" name="1 Título"/>
          <p:cNvSpPr>
            <a:spLocks noGrp="1"/>
          </p:cNvSpPr>
          <p:nvPr>
            <p:ph type="title"/>
          </p:nvPr>
        </p:nvSpPr>
        <p:spPr>
          <a:xfrm>
            <a:off x="47624" y="32965"/>
            <a:ext cx="8627715" cy="587723"/>
          </a:xfrm>
        </p:spPr>
        <p:txBody>
          <a:bodyPr/>
          <a:lstStyle/>
          <a:p>
            <a:r>
              <a:rPr lang="es-PE" dirty="0"/>
              <a:t>          Información Detallada: Introducción </a:t>
            </a:r>
          </a:p>
        </p:txBody>
      </p:sp>
      <p:sp>
        <p:nvSpPr>
          <p:cNvPr id="17" name="Rounded Rectangle 3">
            <a:hlinkClick r:id="rId2" action="ppaction://hlinksldjump"/>
          </p:cNvPr>
          <p:cNvSpPr/>
          <p:nvPr/>
        </p:nvSpPr>
        <p:spPr>
          <a:xfrm>
            <a:off x="217915" y="146806"/>
            <a:ext cx="470426" cy="360040"/>
          </a:xfrm>
          <a:prstGeom prst="roundRect">
            <a:avLst/>
          </a:prstGeom>
          <a:solidFill>
            <a:srgbClr val="DB0613"/>
          </a:solidFill>
          <a:ln>
            <a:solidFill>
              <a:srgbClr val="A9A9A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PE" sz="1400" b="1" dirty="0"/>
              <a:t>2.2</a:t>
            </a:r>
            <a:endParaRPr lang="es-ES" sz="1400" b="1"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 name="Rectangle 7"/>
          <p:cNvSpPr>
            <a:spLocks noChangeArrowheads="1"/>
          </p:cNvSpPr>
          <p:nvPr/>
        </p:nvSpPr>
        <p:spPr bwMode="auto">
          <a:xfrm rot="16200000">
            <a:off x="215904" y="2659856"/>
            <a:ext cx="3744000" cy="3240000"/>
          </a:xfrm>
          <a:prstGeom prst="rect">
            <a:avLst/>
          </a:prstGeom>
          <a:solidFill>
            <a:schemeClr val="tx1">
              <a:lumMod val="50000"/>
              <a:lumOff val="50000"/>
            </a:schemeClr>
          </a:solidFill>
          <a:ln w="9525" algn="ctr">
            <a:noFill/>
            <a:miter lim="800000"/>
            <a:headEnd/>
            <a:tailEnd/>
          </a:ln>
          <a:effectLst>
            <a:prstShdw prst="shdw17" dist="17961" dir="2700000">
              <a:srgbClr val="DDDDDD">
                <a:gamma/>
                <a:shade val="60000"/>
                <a:invGamma/>
              </a:srgbClr>
            </a:prstShdw>
          </a:effectLst>
        </p:spPr>
        <p:txBody>
          <a:bodyPr wrap="none" anchor="t" anchorCtr="0"/>
          <a:lstStyle/>
          <a:p>
            <a:pPr algn="ctr"/>
            <a:r>
              <a:rPr lang="es-PE" sz="2000" b="1" dirty="0">
                <a:solidFill>
                  <a:schemeClr val="bg1"/>
                </a:solidFill>
              </a:rPr>
              <a:t>MARCO DE GESTIÓN</a:t>
            </a:r>
            <a:endParaRPr lang="es-ES" sz="2000" b="1" dirty="0">
              <a:solidFill>
                <a:schemeClr val="bg1"/>
              </a:solidFill>
            </a:endParaRPr>
          </a:p>
        </p:txBody>
      </p:sp>
      <p:sp>
        <p:nvSpPr>
          <p:cNvPr id="16" name="1 Título"/>
          <p:cNvSpPr>
            <a:spLocks noGrp="1"/>
          </p:cNvSpPr>
          <p:nvPr>
            <p:ph type="title"/>
          </p:nvPr>
        </p:nvSpPr>
        <p:spPr>
          <a:xfrm>
            <a:off x="47624" y="32965"/>
            <a:ext cx="8627715" cy="587723"/>
          </a:xfrm>
        </p:spPr>
        <p:txBody>
          <a:bodyPr/>
          <a:lstStyle/>
          <a:p>
            <a:r>
              <a:rPr lang="es-PE" dirty="0"/>
              <a:t>          Información Detallada: Metodología</a:t>
            </a:r>
          </a:p>
        </p:txBody>
      </p:sp>
      <p:sp>
        <p:nvSpPr>
          <p:cNvPr id="17" name="Rounded Rectangle 3">
            <a:hlinkClick r:id="rId2" action="ppaction://hlinksldjump"/>
          </p:cNvPr>
          <p:cNvSpPr/>
          <p:nvPr/>
        </p:nvSpPr>
        <p:spPr>
          <a:xfrm>
            <a:off x="217915" y="146806"/>
            <a:ext cx="470426" cy="360040"/>
          </a:xfrm>
          <a:prstGeom prst="roundRect">
            <a:avLst/>
          </a:prstGeom>
          <a:solidFill>
            <a:srgbClr val="DB0613"/>
          </a:solidFill>
          <a:ln>
            <a:solidFill>
              <a:srgbClr val="A9A9A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PE" sz="1400" b="1" dirty="0"/>
              <a:t>2.2</a:t>
            </a:r>
            <a:endParaRPr lang="es-ES" sz="1400" b="1" dirty="0"/>
          </a:p>
        </p:txBody>
      </p:sp>
      <p:sp>
        <p:nvSpPr>
          <p:cNvPr id="14" name="Rectangle 29"/>
          <p:cNvSpPr txBox="1">
            <a:spLocks noChangeArrowheads="1"/>
          </p:cNvSpPr>
          <p:nvPr/>
        </p:nvSpPr>
        <p:spPr bwMode="gray">
          <a:xfrm>
            <a:off x="179512" y="553453"/>
            <a:ext cx="8640000" cy="1078379"/>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lgn="ctr" fontAlgn="base">
              <a:spcBef>
                <a:spcPct val="0"/>
              </a:spcBef>
              <a:spcAft>
                <a:spcPct val="0"/>
              </a:spcAft>
              <a:defRPr/>
            </a:pPr>
            <a:r>
              <a:rPr lang="es-ES" dirty="0">
                <a:latin typeface="+mj-lt"/>
                <a:sym typeface="Wingdings" pitchFamily="2" charset="2"/>
              </a:rPr>
              <a:t>El objetivo global de Rimac en la gestión de Riesgo Operacional es: “</a:t>
            </a:r>
            <a:r>
              <a:rPr lang="es-ES" i="1" dirty="0">
                <a:latin typeface="+mj-lt"/>
                <a:sym typeface="Wingdings" pitchFamily="2" charset="2"/>
              </a:rPr>
              <a:t>Poseer un enfoque proactivo y estructurado para identificar, evaluar, monitorear y reportar los riesgos operativos a los que está expuesta la organización en todas sus operaciones.</a:t>
            </a:r>
            <a:r>
              <a:rPr lang="es-ES" dirty="0">
                <a:latin typeface="+mj-lt"/>
                <a:sym typeface="Wingdings" pitchFamily="2" charset="2"/>
              </a:rPr>
              <a:t>” </a:t>
            </a:r>
            <a:endParaRPr lang="es-ES_tradnl" dirty="0">
              <a:latin typeface="+mj-lt"/>
              <a:sym typeface="Wingdings" pitchFamily="2" charset="2"/>
            </a:endParaRPr>
          </a:p>
        </p:txBody>
      </p:sp>
      <p:sp>
        <p:nvSpPr>
          <p:cNvPr id="15" name="TextBox 2"/>
          <p:cNvSpPr txBox="1"/>
          <p:nvPr/>
        </p:nvSpPr>
        <p:spPr>
          <a:xfrm>
            <a:off x="35496" y="1628800"/>
            <a:ext cx="4104456" cy="830997"/>
          </a:xfrm>
          <a:prstGeom prst="rect">
            <a:avLst/>
          </a:prstGeom>
          <a:noFill/>
          <a:ln w="57150">
            <a:noFill/>
            <a:miter lim="800000"/>
            <a:headEnd/>
            <a:tailEnd/>
          </a:ln>
        </p:spPr>
        <p:txBody>
          <a:bodyPr wrap="square">
            <a:spAutoFit/>
          </a:bodyPr>
          <a:lstStyle/>
          <a:p>
            <a:pPr marL="174625" indent="-174625" algn="just">
              <a:spcBef>
                <a:spcPct val="40000"/>
              </a:spcBef>
              <a:buSzPct val="80000"/>
            </a:pPr>
            <a:r>
              <a:rPr lang="es-ES_tradnl" sz="1600" dirty="0"/>
              <a:t>Adecuar la actual metodología de RO a las mejores prácticas del mercado de seguros a través de:</a:t>
            </a:r>
            <a:endParaRPr lang="es-ES" sz="1600" dirty="0"/>
          </a:p>
        </p:txBody>
      </p:sp>
      <p:sp>
        <p:nvSpPr>
          <p:cNvPr id="18" name="Line 44"/>
          <p:cNvSpPr>
            <a:spLocks noChangeShapeType="1"/>
          </p:cNvSpPr>
          <p:nvPr/>
        </p:nvSpPr>
        <p:spPr bwMode="auto">
          <a:xfrm>
            <a:off x="4139952" y="1988840"/>
            <a:ext cx="1588" cy="3960000"/>
          </a:xfrm>
          <a:prstGeom prst="line">
            <a:avLst/>
          </a:prstGeom>
          <a:noFill/>
          <a:ln w="9525">
            <a:solidFill>
              <a:schemeClr val="tx1"/>
            </a:solidFill>
            <a:round/>
            <a:headEnd/>
            <a:tailEnd/>
          </a:ln>
        </p:spPr>
        <p:txBody>
          <a:bodyPr/>
          <a:lstStyle/>
          <a:p>
            <a:endParaRPr lang="es-ES" dirty="0"/>
          </a:p>
        </p:txBody>
      </p:sp>
      <p:sp>
        <p:nvSpPr>
          <p:cNvPr id="21" name="Text Box 7"/>
          <p:cNvSpPr txBox="1">
            <a:spLocks noChangeArrowheads="1"/>
          </p:cNvSpPr>
          <p:nvPr/>
        </p:nvSpPr>
        <p:spPr bwMode="auto">
          <a:xfrm>
            <a:off x="4715891" y="1628800"/>
            <a:ext cx="3549203" cy="338554"/>
          </a:xfrm>
          <a:prstGeom prst="rect">
            <a:avLst/>
          </a:prstGeom>
          <a:noFill/>
          <a:ln w="57150">
            <a:noFill/>
            <a:miter lim="800000"/>
            <a:headEnd/>
            <a:tailEnd/>
          </a:ln>
        </p:spPr>
        <p:txBody>
          <a:bodyPr wrap="square">
            <a:spAutoFit/>
          </a:bodyPr>
          <a:lstStyle/>
          <a:p>
            <a:pPr marL="174625" indent="-174625">
              <a:spcBef>
                <a:spcPct val="40000"/>
              </a:spcBef>
              <a:buSzPct val="80000"/>
            </a:pPr>
            <a:r>
              <a:rPr lang="es-ES" sz="1600" b="0" dirty="0"/>
              <a:t>Los procesos y áreas participantes son:</a:t>
            </a:r>
          </a:p>
        </p:txBody>
      </p:sp>
      <p:grpSp>
        <p:nvGrpSpPr>
          <p:cNvPr id="93" name="92 Grupo"/>
          <p:cNvGrpSpPr/>
          <p:nvPr/>
        </p:nvGrpSpPr>
        <p:grpSpPr>
          <a:xfrm>
            <a:off x="5130628" y="2493527"/>
            <a:ext cx="3132000" cy="1728000"/>
            <a:chOff x="5130628" y="2493527"/>
            <a:chExt cx="3132000" cy="1728000"/>
          </a:xfrm>
        </p:grpSpPr>
        <p:sp>
          <p:nvSpPr>
            <p:cNvPr id="23" name="Rectangle 7"/>
            <p:cNvSpPr>
              <a:spLocks noChangeArrowheads="1"/>
            </p:cNvSpPr>
            <p:nvPr/>
          </p:nvSpPr>
          <p:spPr bwMode="auto">
            <a:xfrm>
              <a:off x="5130628" y="2493527"/>
              <a:ext cx="3132000" cy="1728000"/>
            </a:xfrm>
            <a:prstGeom prst="rect">
              <a:avLst/>
            </a:prstGeom>
            <a:solidFill>
              <a:schemeClr val="accent1">
                <a:lumMod val="20000"/>
                <a:lumOff val="80000"/>
              </a:schemeClr>
            </a:solidFill>
            <a:ln w="9525" algn="ctr">
              <a:noFill/>
              <a:miter lim="800000"/>
              <a:headEnd/>
              <a:tailEnd/>
            </a:ln>
            <a:effectLst>
              <a:prstShdw prst="shdw17" dist="17961" dir="2700000">
                <a:srgbClr val="DDDDDD">
                  <a:gamma/>
                  <a:shade val="60000"/>
                  <a:invGamma/>
                </a:srgbClr>
              </a:prstShdw>
            </a:effectLst>
          </p:spPr>
          <p:txBody>
            <a:bodyPr wrap="none" anchor="ctr"/>
            <a:lstStyle/>
            <a:p>
              <a:pPr algn="ctr"/>
              <a:endParaRPr lang="es-ES" sz="1300" b="1" dirty="0">
                <a:solidFill>
                  <a:srgbClr val="525252"/>
                </a:solidFill>
              </a:endParaRPr>
            </a:p>
          </p:txBody>
        </p:sp>
        <p:sp>
          <p:nvSpPr>
            <p:cNvPr id="25" name="Rectangle 7"/>
            <p:cNvSpPr>
              <a:spLocks noChangeArrowheads="1"/>
            </p:cNvSpPr>
            <p:nvPr/>
          </p:nvSpPr>
          <p:spPr bwMode="auto">
            <a:xfrm>
              <a:off x="5301084" y="2658727"/>
              <a:ext cx="1368000" cy="1368000"/>
            </a:xfrm>
            <a:prstGeom prst="rect">
              <a:avLst/>
            </a:prstGeom>
            <a:solidFill>
              <a:schemeClr val="tx1">
                <a:lumMod val="50000"/>
                <a:lumOff val="50000"/>
              </a:schemeClr>
            </a:solidFill>
            <a:ln w="9525" algn="ctr">
              <a:noFill/>
              <a:miter lim="800000"/>
              <a:headEnd/>
              <a:tailEnd/>
            </a:ln>
            <a:effectLst>
              <a:prstShdw prst="shdw17" dist="17961" dir="2700000">
                <a:srgbClr val="DDDDDD">
                  <a:gamma/>
                  <a:shade val="60000"/>
                  <a:invGamma/>
                </a:srgbClr>
              </a:prstShdw>
            </a:effectLst>
          </p:spPr>
          <p:txBody>
            <a:bodyPr wrap="none" anchor="ctr"/>
            <a:lstStyle/>
            <a:p>
              <a:pPr algn="ctr"/>
              <a:r>
                <a:rPr lang="es-ES" sz="1300" b="1" dirty="0">
                  <a:solidFill>
                    <a:schemeClr val="bg1"/>
                  </a:solidFill>
                </a:rPr>
                <a:t>Proceso:</a:t>
              </a:r>
            </a:p>
            <a:p>
              <a:pPr algn="ctr"/>
              <a:r>
                <a:rPr lang="es-ES" sz="1300" b="1" dirty="0">
                  <a:solidFill>
                    <a:schemeClr val="bg1"/>
                  </a:solidFill>
                </a:rPr>
                <a:t>Administración</a:t>
              </a:r>
            </a:p>
            <a:p>
              <a:pPr algn="ctr"/>
              <a:r>
                <a:rPr lang="es-ES" sz="1300" b="1" dirty="0">
                  <a:solidFill>
                    <a:schemeClr val="bg1"/>
                  </a:solidFill>
                </a:rPr>
                <a:t>de Fondos</a:t>
              </a:r>
            </a:p>
          </p:txBody>
        </p:sp>
        <p:sp>
          <p:nvSpPr>
            <p:cNvPr id="26" name="Rectangle 7"/>
            <p:cNvSpPr>
              <a:spLocks noChangeArrowheads="1"/>
            </p:cNvSpPr>
            <p:nvPr/>
          </p:nvSpPr>
          <p:spPr bwMode="auto">
            <a:xfrm>
              <a:off x="6727596" y="2658727"/>
              <a:ext cx="1368000" cy="1368000"/>
            </a:xfrm>
            <a:prstGeom prst="rect">
              <a:avLst/>
            </a:prstGeom>
            <a:solidFill>
              <a:schemeClr val="tx1">
                <a:lumMod val="50000"/>
                <a:lumOff val="50000"/>
              </a:schemeClr>
            </a:solidFill>
            <a:ln w="9525" algn="ctr">
              <a:noFill/>
              <a:miter lim="800000"/>
              <a:headEnd/>
              <a:tailEnd/>
            </a:ln>
            <a:effectLst>
              <a:prstShdw prst="shdw17" dist="17961" dir="2700000">
                <a:srgbClr val="DDDDDD">
                  <a:gamma/>
                  <a:shade val="60000"/>
                  <a:invGamma/>
                </a:srgbClr>
              </a:prstShdw>
            </a:effectLst>
          </p:spPr>
          <p:txBody>
            <a:bodyPr wrap="none" anchor="ctr"/>
            <a:lstStyle/>
            <a:p>
              <a:pPr algn="ctr"/>
              <a:r>
                <a:rPr lang="es-ES" sz="1300" b="1" dirty="0">
                  <a:solidFill>
                    <a:schemeClr val="bg1"/>
                  </a:solidFill>
                </a:rPr>
                <a:t>Proceso:</a:t>
              </a:r>
            </a:p>
            <a:p>
              <a:pPr algn="ctr"/>
              <a:r>
                <a:rPr lang="es-ES" sz="1300" b="1" dirty="0">
                  <a:solidFill>
                    <a:schemeClr val="bg1"/>
                  </a:solidFill>
                </a:rPr>
                <a:t>Suscripción</a:t>
              </a:r>
            </a:p>
            <a:p>
              <a:pPr algn="ctr"/>
              <a:r>
                <a:rPr lang="es-ES" sz="1300" b="1" dirty="0">
                  <a:solidFill>
                    <a:schemeClr val="bg1"/>
                  </a:solidFill>
                </a:rPr>
                <a:t>Vehicular</a:t>
              </a:r>
            </a:p>
          </p:txBody>
        </p:sp>
      </p:grpSp>
      <p:grpSp>
        <p:nvGrpSpPr>
          <p:cNvPr id="107" name="106 Grupo"/>
          <p:cNvGrpSpPr/>
          <p:nvPr/>
        </p:nvGrpSpPr>
        <p:grpSpPr>
          <a:xfrm>
            <a:off x="4806245" y="4293272"/>
            <a:ext cx="3816000" cy="1584000"/>
            <a:chOff x="4806245" y="4293272"/>
            <a:chExt cx="3816000" cy="1584000"/>
          </a:xfrm>
        </p:grpSpPr>
        <p:sp>
          <p:nvSpPr>
            <p:cNvPr id="47" name="AutoShape 10"/>
            <p:cNvSpPr>
              <a:spLocks noChangeArrowheads="1"/>
            </p:cNvSpPr>
            <p:nvPr/>
          </p:nvSpPr>
          <p:spPr bwMode="auto">
            <a:xfrm rot="16200000">
              <a:off x="5922245" y="3177272"/>
              <a:ext cx="1584000" cy="3816000"/>
            </a:xfrm>
            <a:prstGeom prst="homePlate">
              <a:avLst>
                <a:gd name="adj" fmla="val 15445"/>
              </a:avLst>
            </a:prstGeom>
            <a:solidFill>
              <a:schemeClr val="accent1">
                <a:lumMod val="20000"/>
                <a:lumOff val="80000"/>
              </a:schemeClr>
            </a:solidFill>
            <a:ln w="9525" algn="ctr">
              <a:noFill/>
              <a:miter lim="800000"/>
              <a:headEnd/>
              <a:tailEnd/>
            </a:ln>
            <a:effectLst>
              <a:prstShdw prst="shdw17" dist="17961" dir="2700000">
                <a:srgbClr val="DDDDDD">
                  <a:gamma/>
                  <a:shade val="60000"/>
                  <a:invGamma/>
                </a:srgbClr>
              </a:prstShdw>
            </a:effectLst>
          </p:spPr>
          <p:txBody>
            <a:bodyPr wrap="none" anchor="ctr"/>
            <a:lstStyle/>
            <a:p>
              <a:pPr algn="ctr"/>
              <a:endParaRPr lang="en-US" sz="1300" b="1" dirty="0">
                <a:solidFill>
                  <a:srgbClr val="525252"/>
                </a:solidFill>
              </a:endParaRPr>
            </a:p>
          </p:txBody>
        </p:sp>
        <p:sp>
          <p:nvSpPr>
            <p:cNvPr id="48" name="Rectangle 7"/>
            <p:cNvSpPr>
              <a:spLocks noChangeArrowheads="1"/>
            </p:cNvSpPr>
            <p:nvPr/>
          </p:nvSpPr>
          <p:spPr bwMode="auto">
            <a:xfrm>
              <a:off x="4873477" y="4581607"/>
              <a:ext cx="1800000" cy="252000"/>
            </a:xfrm>
            <a:prstGeom prst="rect">
              <a:avLst/>
            </a:prstGeom>
            <a:solidFill>
              <a:schemeClr val="bg2">
                <a:lumMod val="90000"/>
              </a:schemeClr>
            </a:solidFill>
            <a:ln w="9525" algn="ctr">
              <a:noFill/>
              <a:miter lim="800000"/>
              <a:headEnd/>
              <a:tailEnd/>
            </a:ln>
            <a:effectLst>
              <a:prstShdw prst="shdw17" dist="17961" dir="2700000">
                <a:srgbClr val="DDDDDD">
                  <a:gamma/>
                  <a:shade val="60000"/>
                  <a:invGamma/>
                </a:srgbClr>
              </a:prstShdw>
            </a:effectLst>
          </p:spPr>
          <p:txBody>
            <a:bodyPr wrap="none" anchor="ctr"/>
            <a:lstStyle/>
            <a:p>
              <a:pPr algn="ctr"/>
              <a:r>
                <a:rPr lang="es-ES" sz="1200" b="1" dirty="0">
                  <a:solidFill>
                    <a:srgbClr val="525252"/>
                  </a:solidFill>
                </a:rPr>
                <a:t>Riesgo Operacional</a:t>
              </a:r>
            </a:p>
          </p:txBody>
        </p:sp>
        <p:sp>
          <p:nvSpPr>
            <p:cNvPr id="49" name="Rectangle 7"/>
            <p:cNvSpPr>
              <a:spLocks noChangeArrowheads="1"/>
            </p:cNvSpPr>
            <p:nvPr/>
          </p:nvSpPr>
          <p:spPr bwMode="auto">
            <a:xfrm>
              <a:off x="4873477" y="4905671"/>
              <a:ext cx="1800000" cy="252000"/>
            </a:xfrm>
            <a:prstGeom prst="rect">
              <a:avLst/>
            </a:prstGeom>
            <a:solidFill>
              <a:schemeClr val="bg2">
                <a:lumMod val="90000"/>
              </a:schemeClr>
            </a:solidFill>
            <a:ln w="9525" algn="ctr">
              <a:noFill/>
              <a:miter lim="800000"/>
              <a:headEnd/>
              <a:tailEnd/>
            </a:ln>
            <a:effectLst>
              <a:prstShdw prst="shdw17" dist="17961" dir="2700000">
                <a:srgbClr val="DDDDDD">
                  <a:gamma/>
                  <a:shade val="60000"/>
                  <a:invGamma/>
                </a:srgbClr>
              </a:prstShdw>
            </a:effectLst>
          </p:spPr>
          <p:txBody>
            <a:bodyPr wrap="none" anchor="ctr"/>
            <a:lstStyle/>
            <a:p>
              <a:pPr algn="ctr"/>
              <a:r>
                <a:rPr lang="es-ES" sz="1200" b="1" dirty="0">
                  <a:solidFill>
                    <a:srgbClr val="525252"/>
                  </a:solidFill>
                </a:rPr>
                <a:t>T&amp;MC</a:t>
              </a:r>
            </a:p>
          </p:txBody>
        </p:sp>
        <p:sp>
          <p:nvSpPr>
            <p:cNvPr id="50" name="Rectangle 7"/>
            <p:cNvSpPr>
              <a:spLocks noChangeArrowheads="1"/>
            </p:cNvSpPr>
            <p:nvPr/>
          </p:nvSpPr>
          <p:spPr bwMode="auto">
            <a:xfrm>
              <a:off x="4874171" y="5229679"/>
              <a:ext cx="1800000" cy="252000"/>
            </a:xfrm>
            <a:prstGeom prst="rect">
              <a:avLst/>
            </a:prstGeom>
            <a:solidFill>
              <a:schemeClr val="bg2">
                <a:lumMod val="90000"/>
              </a:schemeClr>
            </a:solidFill>
            <a:ln w="9525" algn="ctr">
              <a:noFill/>
              <a:miter lim="800000"/>
              <a:headEnd/>
              <a:tailEnd/>
            </a:ln>
            <a:effectLst>
              <a:prstShdw prst="shdw17" dist="17961" dir="2700000">
                <a:srgbClr val="DDDDDD">
                  <a:gamma/>
                  <a:shade val="60000"/>
                  <a:invGamma/>
                </a:srgbClr>
              </a:prstShdw>
            </a:effectLst>
          </p:spPr>
          <p:txBody>
            <a:bodyPr wrap="none" anchor="ctr"/>
            <a:lstStyle/>
            <a:p>
              <a:pPr algn="ctr"/>
              <a:r>
                <a:rPr lang="es-ES" sz="1200" b="1" dirty="0">
                  <a:solidFill>
                    <a:srgbClr val="525252"/>
                  </a:solidFill>
                </a:rPr>
                <a:t>Seguridad de la Información</a:t>
              </a:r>
            </a:p>
          </p:txBody>
        </p:sp>
        <p:sp>
          <p:nvSpPr>
            <p:cNvPr id="51" name="Rectangle 7"/>
            <p:cNvSpPr>
              <a:spLocks noChangeArrowheads="1"/>
            </p:cNvSpPr>
            <p:nvPr/>
          </p:nvSpPr>
          <p:spPr bwMode="auto">
            <a:xfrm>
              <a:off x="4874865" y="5553743"/>
              <a:ext cx="1800000" cy="252000"/>
            </a:xfrm>
            <a:prstGeom prst="rect">
              <a:avLst/>
            </a:prstGeom>
            <a:solidFill>
              <a:schemeClr val="bg2">
                <a:lumMod val="90000"/>
              </a:schemeClr>
            </a:solidFill>
            <a:ln w="9525" algn="ctr">
              <a:noFill/>
              <a:miter lim="800000"/>
              <a:headEnd/>
              <a:tailEnd/>
            </a:ln>
            <a:effectLst>
              <a:prstShdw prst="shdw17" dist="17961" dir="2700000">
                <a:srgbClr val="DDDDDD">
                  <a:gamma/>
                  <a:shade val="60000"/>
                  <a:invGamma/>
                </a:srgbClr>
              </a:prstShdw>
            </a:effectLst>
          </p:spPr>
          <p:txBody>
            <a:bodyPr wrap="none" anchor="ctr"/>
            <a:lstStyle/>
            <a:p>
              <a:pPr algn="ctr"/>
              <a:r>
                <a:rPr lang="es-ES" sz="1200" b="1" dirty="0">
                  <a:solidFill>
                    <a:srgbClr val="525252"/>
                  </a:solidFill>
                </a:rPr>
                <a:t>Tecnología</a:t>
              </a:r>
            </a:p>
          </p:txBody>
        </p:sp>
        <p:sp>
          <p:nvSpPr>
            <p:cNvPr id="52" name="Rectangle 7"/>
            <p:cNvSpPr>
              <a:spLocks noChangeArrowheads="1"/>
            </p:cNvSpPr>
            <p:nvPr/>
          </p:nvSpPr>
          <p:spPr bwMode="auto">
            <a:xfrm>
              <a:off x="6745191" y="4583037"/>
              <a:ext cx="1800000" cy="252000"/>
            </a:xfrm>
            <a:prstGeom prst="rect">
              <a:avLst/>
            </a:prstGeom>
            <a:solidFill>
              <a:schemeClr val="bg2">
                <a:lumMod val="90000"/>
              </a:schemeClr>
            </a:solidFill>
            <a:ln w="9525" algn="ctr">
              <a:noFill/>
              <a:miter lim="800000"/>
              <a:headEnd/>
              <a:tailEnd/>
            </a:ln>
            <a:effectLst>
              <a:prstShdw prst="shdw17" dist="17961" dir="2700000">
                <a:srgbClr val="DDDDDD">
                  <a:gamma/>
                  <a:shade val="60000"/>
                  <a:invGamma/>
                </a:srgbClr>
              </a:prstShdw>
            </a:effectLst>
          </p:spPr>
          <p:txBody>
            <a:bodyPr wrap="none" anchor="ctr"/>
            <a:lstStyle/>
            <a:p>
              <a:pPr algn="ctr"/>
              <a:r>
                <a:rPr lang="es-ES" sz="1200" b="1" dirty="0">
                  <a:solidFill>
                    <a:srgbClr val="525252"/>
                  </a:solidFill>
                </a:rPr>
                <a:t>Defensoría del Cliente</a:t>
              </a:r>
            </a:p>
          </p:txBody>
        </p:sp>
        <p:sp>
          <p:nvSpPr>
            <p:cNvPr id="53" name="Rectangle 7"/>
            <p:cNvSpPr>
              <a:spLocks noChangeArrowheads="1"/>
            </p:cNvSpPr>
            <p:nvPr/>
          </p:nvSpPr>
          <p:spPr bwMode="auto">
            <a:xfrm>
              <a:off x="6745191" y="4896983"/>
              <a:ext cx="1800000" cy="252000"/>
            </a:xfrm>
            <a:prstGeom prst="rect">
              <a:avLst/>
            </a:prstGeom>
            <a:solidFill>
              <a:schemeClr val="bg2">
                <a:lumMod val="90000"/>
              </a:schemeClr>
            </a:solidFill>
            <a:ln w="9525" algn="ctr">
              <a:noFill/>
              <a:miter lim="800000"/>
              <a:headEnd/>
              <a:tailEnd/>
            </a:ln>
            <a:effectLst>
              <a:prstShdw prst="shdw17" dist="17961" dir="2700000">
                <a:srgbClr val="DDDDDD">
                  <a:gamma/>
                  <a:shade val="60000"/>
                  <a:invGamma/>
                </a:srgbClr>
              </a:prstShdw>
            </a:effectLst>
          </p:spPr>
          <p:txBody>
            <a:bodyPr wrap="none" anchor="ctr"/>
            <a:lstStyle/>
            <a:p>
              <a:pPr algn="ctr"/>
              <a:r>
                <a:rPr lang="es-ES" sz="1200" b="1" dirty="0">
                  <a:solidFill>
                    <a:srgbClr val="525252"/>
                  </a:solidFill>
                </a:rPr>
                <a:t>Legal</a:t>
              </a:r>
            </a:p>
          </p:txBody>
        </p:sp>
        <p:sp>
          <p:nvSpPr>
            <p:cNvPr id="54" name="Rectangle 7"/>
            <p:cNvSpPr>
              <a:spLocks noChangeArrowheads="1"/>
            </p:cNvSpPr>
            <p:nvPr/>
          </p:nvSpPr>
          <p:spPr bwMode="auto">
            <a:xfrm>
              <a:off x="6745885" y="5231109"/>
              <a:ext cx="1800000" cy="252000"/>
            </a:xfrm>
            <a:prstGeom prst="rect">
              <a:avLst/>
            </a:prstGeom>
            <a:solidFill>
              <a:schemeClr val="bg2">
                <a:lumMod val="90000"/>
              </a:schemeClr>
            </a:solidFill>
            <a:ln w="9525" algn="ctr">
              <a:noFill/>
              <a:miter lim="800000"/>
              <a:headEnd/>
              <a:tailEnd/>
            </a:ln>
            <a:effectLst>
              <a:prstShdw prst="shdw17" dist="17961" dir="2700000">
                <a:srgbClr val="DDDDDD">
                  <a:gamma/>
                  <a:shade val="60000"/>
                  <a:invGamma/>
                </a:srgbClr>
              </a:prstShdw>
            </a:effectLst>
          </p:spPr>
          <p:txBody>
            <a:bodyPr wrap="none" anchor="ctr"/>
            <a:lstStyle/>
            <a:p>
              <a:pPr algn="ctr"/>
              <a:r>
                <a:rPr lang="es-ES" sz="1200" b="1" dirty="0">
                  <a:solidFill>
                    <a:srgbClr val="525252"/>
                  </a:solidFill>
                </a:rPr>
                <a:t>Auditoria</a:t>
              </a:r>
            </a:p>
          </p:txBody>
        </p:sp>
        <p:sp>
          <p:nvSpPr>
            <p:cNvPr id="55" name="Rectangle 7"/>
            <p:cNvSpPr>
              <a:spLocks noChangeArrowheads="1"/>
            </p:cNvSpPr>
            <p:nvPr/>
          </p:nvSpPr>
          <p:spPr bwMode="auto">
            <a:xfrm>
              <a:off x="6745191" y="5553743"/>
              <a:ext cx="1800000" cy="252000"/>
            </a:xfrm>
            <a:prstGeom prst="rect">
              <a:avLst/>
            </a:prstGeom>
            <a:solidFill>
              <a:schemeClr val="bg2">
                <a:lumMod val="90000"/>
              </a:schemeClr>
            </a:solidFill>
            <a:ln w="9525" algn="ctr">
              <a:noFill/>
              <a:miter lim="800000"/>
              <a:headEnd/>
              <a:tailEnd/>
            </a:ln>
            <a:effectLst>
              <a:prstShdw prst="shdw17" dist="17961" dir="2700000">
                <a:srgbClr val="DDDDDD">
                  <a:gamma/>
                  <a:shade val="60000"/>
                  <a:invGamma/>
                </a:srgbClr>
              </a:prstShdw>
            </a:effectLst>
          </p:spPr>
          <p:txBody>
            <a:bodyPr wrap="none" anchor="ctr"/>
            <a:lstStyle/>
            <a:p>
              <a:pPr algn="ctr"/>
              <a:r>
                <a:rPr lang="es-ES" sz="1200" b="1" dirty="0">
                  <a:solidFill>
                    <a:srgbClr val="525252"/>
                  </a:solidFill>
                </a:rPr>
                <a:t>Cumplimiento Normativo</a:t>
              </a:r>
            </a:p>
          </p:txBody>
        </p:sp>
      </p:grpSp>
      <p:grpSp>
        <p:nvGrpSpPr>
          <p:cNvPr id="57" name="88 Grupo"/>
          <p:cNvGrpSpPr>
            <a:grpSpLocks noChangeAspect="1"/>
          </p:cNvGrpSpPr>
          <p:nvPr/>
        </p:nvGrpSpPr>
        <p:grpSpPr>
          <a:xfrm>
            <a:off x="1007576" y="5504971"/>
            <a:ext cx="2479320" cy="593640"/>
            <a:chOff x="953740" y="5504971"/>
            <a:chExt cx="2556000" cy="612000"/>
          </a:xfrm>
        </p:grpSpPr>
        <p:sp>
          <p:nvSpPr>
            <p:cNvPr id="79" name="AutoShape 10"/>
            <p:cNvSpPr>
              <a:spLocks noChangeArrowheads="1"/>
            </p:cNvSpPr>
            <p:nvPr/>
          </p:nvSpPr>
          <p:spPr bwMode="auto">
            <a:xfrm rot="5400000">
              <a:off x="1925740" y="4532971"/>
              <a:ext cx="612000" cy="2556000"/>
            </a:xfrm>
            <a:prstGeom prst="homePlate">
              <a:avLst>
                <a:gd name="adj" fmla="val 28273"/>
              </a:avLst>
            </a:prstGeom>
            <a:solidFill>
              <a:srgbClr val="DB0613"/>
            </a:solidFill>
            <a:ln w="9525" algn="ctr">
              <a:solidFill>
                <a:schemeClr val="bg1"/>
              </a:solidFill>
              <a:miter lim="800000"/>
              <a:headEnd/>
              <a:tailEnd/>
            </a:ln>
            <a:effectLst>
              <a:prstShdw prst="shdw17" dist="17961" dir="2700000">
                <a:srgbClr val="DDDDDD">
                  <a:gamma/>
                  <a:shade val="60000"/>
                  <a:invGamma/>
                </a:srgbClr>
              </a:prstShdw>
            </a:effectLst>
          </p:spPr>
          <p:txBody>
            <a:bodyPr wrap="none" anchor="ctr"/>
            <a:lstStyle/>
            <a:p>
              <a:pPr algn="ctr"/>
              <a:endParaRPr lang="en-US" sz="1200" b="1" dirty="0">
                <a:solidFill>
                  <a:srgbClr val="525252"/>
                </a:solidFill>
              </a:endParaRPr>
            </a:p>
          </p:txBody>
        </p:sp>
        <p:sp>
          <p:nvSpPr>
            <p:cNvPr id="80" name="Rectangle 7"/>
            <p:cNvSpPr>
              <a:spLocks noChangeArrowheads="1"/>
            </p:cNvSpPr>
            <p:nvPr/>
          </p:nvSpPr>
          <p:spPr bwMode="auto">
            <a:xfrm>
              <a:off x="1223740" y="5741578"/>
              <a:ext cx="2016000" cy="252000"/>
            </a:xfrm>
            <a:prstGeom prst="rect">
              <a:avLst/>
            </a:prstGeom>
            <a:noFill/>
            <a:ln w="9525" algn="ctr">
              <a:noFill/>
              <a:miter lim="800000"/>
              <a:headEnd/>
              <a:tailEnd/>
            </a:ln>
            <a:effectLst>
              <a:prstShdw prst="shdw17" dist="17961" dir="2700000">
                <a:srgbClr val="DDDDDD">
                  <a:gamma/>
                  <a:shade val="60000"/>
                  <a:invGamma/>
                </a:srgbClr>
              </a:prstShdw>
            </a:effectLst>
          </p:spPr>
          <p:txBody>
            <a:bodyPr wrap="none" anchor="ctr"/>
            <a:lstStyle/>
            <a:p>
              <a:pPr algn="ctr"/>
              <a:r>
                <a:rPr lang="es-PE" sz="1200" b="1" dirty="0">
                  <a:solidFill>
                    <a:schemeClr val="bg1"/>
                  </a:solidFill>
                </a:rPr>
                <a:t>Resultados</a:t>
              </a:r>
              <a:endParaRPr lang="es-ES" sz="1200" b="1" dirty="0">
                <a:solidFill>
                  <a:schemeClr val="bg1"/>
                </a:solidFill>
              </a:endParaRPr>
            </a:p>
          </p:txBody>
        </p:sp>
      </p:grpSp>
      <p:grpSp>
        <p:nvGrpSpPr>
          <p:cNvPr id="58" name="89 Grupo"/>
          <p:cNvGrpSpPr>
            <a:grpSpLocks noChangeAspect="1"/>
          </p:cNvGrpSpPr>
          <p:nvPr/>
        </p:nvGrpSpPr>
        <p:grpSpPr>
          <a:xfrm>
            <a:off x="1007576" y="5072923"/>
            <a:ext cx="2479320" cy="593640"/>
            <a:chOff x="953740" y="5072923"/>
            <a:chExt cx="2556000" cy="612000"/>
          </a:xfrm>
        </p:grpSpPr>
        <p:sp>
          <p:nvSpPr>
            <p:cNvPr id="77" name="AutoShape 10"/>
            <p:cNvSpPr>
              <a:spLocks noChangeArrowheads="1"/>
            </p:cNvSpPr>
            <p:nvPr/>
          </p:nvSpPr>
          <p:spPr bwMode="auto">
            <a:xfrm rot="5400000">
              <a:off x="1925740" y="4100923"/>
              <a:ext cx="612000" cy="2556000"/>
            </a:xfrm>
            <a:prstGeom prst="homePlate">
              <a:avLst>
                <a:gd name="adj" fmla="val 28273"/>
              </a:avLst>
            </a:prstGeom>
            <a:solidFill>
              <a:srgbClr val="DB0613"/>
            </a:solidFill>
            <a:ln w="9525" algn="ctr">
              <a:solidFill>
                <a:schemeClr val="bg1"/>
              </a:solidFill>
              <a:miter lim="800000"/>
              <a:headEnd/>
              <a:tailEnd/>
            </a:ln>
            <a:effectLst>
              <a:prstShdw prst="shdw17" dist="17961" dir="2700000">
                <a:srgbClr val="DDDDDD">
                  <a:gamma/>
                  <a:shade val="60000"/>
                  <a:invGamma/>
                </a:srgbClr>
              </a:prstShdw>
            </a:effectLst>
          </p:spPr>
          <p:txBody>
            <a:bodyPr wrap="none" anchor="ctr"/>
            <a:lstStyle/>
            <a:p>
              <a:pPr algn="ctr"/>
              <a:endParaRPr lang="en-US" sz="1200" b="1" dirty="0">
                <a:solidFill>
                  <a:srgbClr val="525252"/>
                </a:solidFill>
              </a:endParaRPr>
            </a:p>
          </p:txBody>
        </p:sp>
        <p:sp>
          <p:nvSpPr>
            <p:cNvPr id="78" name="Rectangle 7"/>
            <p:cNvSpPr>
              <a:spLocks noChangeArrowheads="1"/>
            </p:cNvSpPr>
            <p:nvPr/>
          </p:nvSpPr>
          <p:spPr bwMode="auto">
            <a:xfrm>
              <a:off x="1223740" y="5279087"/>
              <a:ext cx="2016000" cy="252000"/>
            </a:xfrm>
            <a:prstGeom prst="rect">
              <a:avLst/>
            </a:prstGeom>
            <a:noFill/>
            <a:ln w="9525" algn="ctr">
              <a:noFill/>
              <a:miter lim="800000"/>
              <a:headEnd/>
              <a:tailEnd/>
            </a:ln>
            <a:effectLst>
              <a:prstShdw prst="shdw17" dist="17961" dir="2700000">
                <a:srgbClr val="DDDDDD">
                  <a:gamma/>
                  <a:shade val="60000"/>
                  <a:invGamma/>
                </a:srgbClr>
              </a:prstShdw>
            </a:effectLst>
          </p:spPr>
          <p:txBody>
            <a:bodyPr wrap="none" anchor="ctr"/>
            <a:lstStyle/>
            <a:p>
              <a:pPr algn="ctr"/>
              <a:r>
                <a:rPr lang="es-ES" sz="1200" b="1" dirty="0">
                  <a:solidFill>
                    <a:schemeClr val="bg1"/>
                  </a:solidFill>
                </a:rPr>
                <a:t>Valoración de Riesgos y Controles</a:t>
              </a:r>
            </a:p>
          </p:txBody>
        </p:sp>
      </p:grpSp>
      <p:grpSp>
        <p:nvGrpSpPr>
          <p:cNvPr id="59" name="90 Grupo"/>
          <p:cNvGrpSpPr>
            <a:grpSpLocks noChangeAspect="1"/>
          </p:cNvGrpSpPr>
          <p:nvPr/>
        </p:nvGrpSpPr>
        <p:grpSpPr>
          <a:xfrm>
            <a:off x="1007576" y="4640875"/>
            <a:ext cx="2479320" cy="593640"/>
            <a:chOff x="953740" y="4640875"/>
            <a:chExt cx="2556000" cy="612000"/>
          </a:xfrm>
        </p:grpSpPr>
        <p:sp>
          <p:nvSpPr>
            <p:cNvPr id="75" name="AutoShape 10"/>
            <p:cNvSpPr>
              <a:spLocks noChangeArrowheads="1"/>
            </p:cNvSpPr>
            <p:nvPr/>
          </p:nvSpPr>
          <p:spPr bwMode="auto">
            <a:xfrm rot="5400000">
              <a:off x="1925740" y="3668875"/>
              <a:ext cx="612000" cy="2556000"/>
            </a:xfrm>
            <a:prstGeom prst="homePlate">
              <a:avLst>
                <a:gd name="adj" fmla="val 28273"/>
              </a:avLst>
            </a:prstGeom>
            <a:solidFill>
              <a:srgbClr val="DB0613"/>
            </a:solidFill>
            <a:ln w="9525" algn="ctr">
              <a:solidFill>
                <a:schemeClr val="bg1"/>
              </a:solidFill>
              <a:miter lim="800000"/>
              <a:headEnd/>
              <a:tailEnd/>
            </a:ln>
            <a:effectLst>
              <a:prstShdw prst="shdw17" dist="17961" dir="2700000">
                <a:srgbClr val="DDDDDD">
                  <a:gamma/>
                  <a:shade val="60000"/>
                  <a:invGamma/>
                </a:srgbClr>
              </a:prstShdw>
            </a:effectLst>
          </p:spPr>
          <p:txBody>
            <a:bodyPr wrap="none" anchor="ctr"/>
            <a:lstStyle/>
            <a:p>
              <a:pPr algn="ctr"/>
              <a:endParaRPr lang="en-US" sz="1200" b="1" dirty="0">
                <a:solidFill>
                  <a:srgbClr val="525252"/>
                </a:solidFill>
              </a:endParaRPr>
            </a:p>
          </p:txBody>
        </p:sp>
        <p:sp>
          <p:nvSpPr>
            <p:cNvPr id="76" name="Rectangle 7"/>
            <p:cNvSpPr>
              <a:spLocks noChangeArrowheads="1"/>
            </p:cNvSpPr>
            <p:nvPr/>
          </p:nvSpPr>
          <p:spPr bwMode="auto">
            <a:xfrm>
              <a:off x="1223740" y="4847039"/>
              <a:ext cx="2016000" cy="252000"/>
            </a:xfrm>
            <a:prstGeom prst="rect">
              <a:avLst/>
            </a:prstGeom>
            <a:noFill/>
            <a:ln w="9525" algn="ctr">
              <a:noFill/>
              <a:miter lim="800000"/>
              <a:headEnd/>
              <a:tailEnd/>
            </a:ln>
            <a:effectLst>
              <a:prstShdw prst="shdw17" dist="17961" dir="2700000">
                <a:srgbClr val="DDDDDD">
                  <a:gamma/>
                  <a:shade val="60000"/>
                  <a:invGamma/>
                </a:srgbClr>
              </a:prstShdw>
            </a:effectLst>
          </p:spPr>
          <p:txBody>
            <a:bodyPr wrap="none" anchor="ctr"/>
            <a:lstStyle/>
            <a:p>
              <a:pPr algn="ctr"/>
              <a:r>
                <a:rPr lang="es-ES" sz="1200" b="1" dirty="0">
                  <a:solidFill>
                    <a:schemeClr val="bg1"/>
                  </a:solidFill>
                </a:rPr>
                <a:t>Revisión y análisis de coherencia</a:t>
              </a:r>
            </a:p>
          </p:txBody>
        </p:sp>
      </p:grpSp>
      <p:grpSp>
        <p:nvGrpSpPr>
          <p:cNvPr id="60" name="91 Grupo"/>
          <p:cNvGrpSpPr>
            <a:grpSpLocks noChangeAspect="1"/>
          </p:cNvGrpSpPr>
          <p:nvPr/>
        </p:nvGrpSpPr>
        <p:grpSpPr>
          <a:xfrm>
            <a:off x="1007576" y="4208827"/>
            <a:ext cx="2479320" cy="593640"/>
            <a:chOff x="953740" y="4208827"/>
            <a:chExt cx="2556000" cy="612000"/>
          </a:xfrm>
        </p:grpSpPr>
        <p:sp>
          <p:nvSpPr>
            <p:cNvPr id="73" name="AutoShape 10"/>
            <p:cNvSpPr>
              <a:spLocks noChangeArrowheads="1"/>
            </p:cNvSpPr>
            <p:nvPr/>
          </p:nvSpPr>
          <p:spPr bwMode="auto">
            <a:xfrm rot="5400000">
              <a:off x="1925740" y="3236827"/>
              <a:ext cx="612000" cy="2556000"/>
            </a:xfrm>
            <a:prstGeom prst="homePlate">
              <a:avLst>
                <a:gd name="adj" fmla="val 28273"/>
              </a:avLst>
            </a:prstGeom>
            <a:solidFill>
              <a:srgbClr val="DB0613"/>
            </a:solidFill>
            <a:ln w="9525" algn="ctr">
              <a:solidFill>
                <a:schemeClr val="bg1"/>
              </a:solidFill>
              <a:miter lim="800000"/>
              <a:headEnd/>
              <a:tailEnd/>
            </a:ln>
            <a:effectLst>
              <a:prstShdw prst="shdw17" dist="17961" dir="2700000">
                <a:srgbClr val="DDDDDD">
                  <a:gamma/>
                  <a:shade val="60000"/>
                  <a:invGamma/>
                </a:srgbClr>
              </a:prstShdw>
            </a:effectLst>
          </p:spPr>
          <p:txBody>
            <a:bodyPr wrap="none" anchor="ctr"/>
            <a:lstStyle/>
            <a:p>
              <a:pPr algn="ctr"/>
              <a:endParaRPr lang="en-US" sz="1200" b="1" dirty="0">
                <a:solidFill>
                  <a:srgbClr val="525252"/>
                </a:solidFill>
              </a:endParaRPr>
            </a:p>
          </p:txBody>
        </p:sp>
        <p:sp>
          <p:nvSpPr>
            <p:cNvPr id="74" name="Rectangle 7"/>
            <p:cNvSpPr>
              <a:spLocks noChangeArrowheads="1"/>
            </p:cNvSpPr>
            <p:nvPr/>
          </p:nvSpPr>
          <p:spPr bwMode="auto">
            <a:xfrm>
              <a:off x="1223740" y="4414991"/>
              <a:ext cx="2016000" cy="252000"/>
            </a:xfrm>
            <a:prstGeom prst="rect">
              <a:avLst/>
            </a:prstGeom>
            <a:noFill/>
            <a:ln w="9525" algn="ctr">
              <a:noFill/>
              <a:miter lim="800000"/>
              <a:headEnd/>
              <a:tailEnd/>
            </a:ln>
            <a:effectLst>
              <a:prstShdw prst="shdw17" dist="17961" dir="2700000">
                <a:srgbClr val="DDDDDD">
                  <a:gamma/>
                  <a:shade val="60000"/>
                  <a:invGamma/>
                </a:srgbClr>
              </a:prstShdw>
            </a:effectLst>
          </p:spPr>
          <p:txBody>
            <a:bodyPr wrap="none" anchor="ctr"/>
            <a:lstStyle/>
            <a:p>
              <a:pPr algn="ctr"/>
              <a:r>
                <a:rPr lang="es-ES" sz="1200" b="1" dirty="0">
                  <a:solidFill>
                    <a:schemeClr val="bg1"/>
                  </a:solidFill>
                </a:rPr>
                <a:t>Autoevaluación de Riesgos y Controles</a:t>
              </a:r>
            </a:p>
          </p:txBody>
        </p:sp>
      </p:grpSp>
      <p:grpSp>
        <p:nvGrpSpPr>
          <p:cNvPr id="61" name="92 Grupo"/>
          <p:cNvGrpSpPr>
            <a:grpSpLocks noChangeAspect="1"/>
          </p:cNvGrpSpPr>
          <p:nvPr/>
        </p:nvGrpSpPr>
        <p:grpSpPr>
          <a:xfrm>
            <a:off x="1007576" y="3776779"/>
            <a:ext cx="2479320" cy="593640"/>
            <a:chOff x="953740" y="3776779"/>
            <a:chExt cx="2556000" cy="612000"/>
          </a:xfrm>
        </p:grpSpPr>
        <p:sp>
          <p:nvSpPr>
            <p:cNvPr id="71" name="AutoShape 10"/>
            <p:cNvSpPr>
              <a:spLocks noChangeArrowheads="1"/>
            </p:cNvSpPr>
            <p:nvPr/>
          </p:nvSpPr>
          <p:spPr bwMode="auto">
            <a:xfrm rot="5400000">
              <a:off x="1925740" y="2804779"/>
              <a:ext cx="612000" cy="2556000"/>
            </a:xfrm>
            <a:prstGeom prst="homePlate">
              <a:avLst>
                <a:gd name="adj" fmla="val 28273"/>
              </a:avLst>
            </a:prstGeom>
            <a:solidFill>
              <a:srgbClr val="DB0613"/>
            </a:solidFill>
            <a:ln w="9525" algn="ctr">
              <a:solidFill>
                <a:schemeClr val="bg1"/>
              </a:solidFill>
              <a:miter lim="800000"/>
              <a:headEnd/>
              <a:tailEnd/>
            </a:ln>
            <a:effectLst>
              <a:prstShdw prst="shdw17" dist="17961" dir="2700000">
                <a:srgbClr val="DDDDDD">
                  <a:gamma/>
                  <a:shade val="60000"/>
                  <a:invGamma/>
                </a:srgbClr>
              </a:prstShdw>
            </a:effectLst>
          </p:spPr>
          <p:txBody>
            <a:bodyPr wrap="none" anchor="ctr"/>
            <a:lstStyle/>
            <a:p>
              <a:pPr algn="ctr"/>
              <a:endParaRPr lang="en-US" sz="1200" b="1" dirty="0">
                <a:solidFill>
                  <a:srgbClr val="525252"/>
                </a:solidFill>
              </a:endParaRPr>
            </a:p>
          </p:txBody>
        </p:sp>
        <p:sp>
          <p:nvSpPr>
            <p:cNvPr id="72" name="Rectangle 7"/>
            <p:cNvSpPr>
              <a:spLocks noChangeArrowheads="1"/>
            </p:cNvSpPr>
            <p:nvPr/>
          </p:nvSpPr>
          <p:spPr bwMode="auto">
            <a:xfrm>
              <a:off x="1223740" y="3985676"/>
              <a:ext cx="2016000" cy="252000"/>
            </a:xfrm>
            <a:prstGeom prst="rect">
              <a:avLst/>
            </a:prstGeom>
            <a:noFill/>
            <a:ln w="9525" algn="ctr">
              <a:noFill/>
              <a:miter lim="800000"/>
              <a:headEnd/>
              <a:tailEnd/>
            </a:ln>
            <a:effectLst>
              <a:prstShdw prst="shdw17" dist="17961" dir="2700000">
                <a:srgbClr val="DDDDDD">
                  <a:gamma/>
                  <a:shade val="60000"/>
                  <a:invGamma/>
                </a:srgbClr>
              </a:prstShdw>
            </a:effectLst>
          </p:spPr>
          <p:txBody>
            <a:bodyPr wrap="none" anchor="ctr"/>
            <a:lstStyle/>
            <a:p>
              <a:pPr algn="ctr"/>
              <a:r>
                <a:rPr lang="es-ES" sz="1200" b="1" dirty="0">
                  <a:solidFill>
                    <a:schemeClr val="bg1"/>
                  </a:solidFill>
                </a:rPr>
                <a:t>Validación de Riesgos y Controles</a:t>
              </a:r>
            </a:p>
          </p:txBody>
        </p:sp>
      </p:grpSp>
      <p:grpSp>
        <p:nvGrpSpPr>
          <p:cNvPr id="62" name="93 Grupo"/>
          <p:cNvGrpSpPr>
            <a:grpSpLocks noChangeAspect="1"/>
          </p:cNvGrpSpPr>
          <p:nvPr/>
        </p:nvGrpSpPr>
        <p:grpSpPr>
          <a:xfrm>
            <a:off x="1007576" y="3344732"/>
            <a:ext cx="2479320" cy="593640"/>
            <a:chOff x="953740" y="3344732"/>
            <a:chExt cx="2556000" cy="612000"/>
          </a:xfrm>
        </p:grpSpPr>
        <p:sp>
          <p:nvSpPr>
            <p:cNvPr id="69" name="AutoShape 10"/>
            <p:cNvSpPr>
              <a:spLocks noChangeArrowheads="1"/>
            </p:cNvSpPr>
            <p:nvPr/>
          </p:nvSpPr>
          <p:spPr bwMode="auto">
            <a:xfrm rot="5400000">
              <a:off x="1925740" y="2372732"/>
              <a:ext cx="612000" cy="2556000"/>
            </a:xfrm>
            <a:prstGeom prst="homePlate">
              <a:avLst>
                <a:gd name="adj" fmla="val 28273"/>
              </a:avLst>
            </a:prstGeom>
            <a:solidFill>
              <a:srgbClr val="DB0613"/>
            </a:solidFill>
            <a:ln w="9525" algn="ctr">
              <a:solidFill>
                <a:schemeClr val="bg1"/>
              </a:solidFill>
              <a:miter lim="800000"/>
              <a:headEnd/>
              <a:tailEnd/>
            </a:ln>
            <a:effectLst>
              <a:prstShdw prst="shdw17" dist="17961" dir="2700000">
                <a:srgbClr val="DDDDDD">
                  <a:gamma/>
                  <a:shade val="60000"/>
                  <a:invGamma/>
                </a:srgbClr>
              </a:prstShdw>
            </a:effectLst>
          </p:spPr>
          <p:txBody>
            <a:bodyPr wrap="none" anchor="ctr"/>
            <a:lstStyle/>
            <a:p>
              <a:pPr algn="ctr"/>
              <a:endParaRPr lang="en-US" sz="1200" b="1" dirty="0">
                <a:solidFill>
                  <a:srgbClr val="525252"/>
                </a:solidFill>
              </a:endParaRPr>
            </a:p>
          </p:txBody>
        </p:sp>
        <p:sp>
          <p:nvSpPr>
            <p:cNvPr id="70" name="Rectangle 7"/>
            <p:cNvSpPr>
              <a:spLocks noChangeArrowheads="1"/>
            </p:cNvSpPr>
            <p:nvPr/>
          </p:nvSpPr>
          <p:spPr bwMode="auto">
            <a:xfrm>
              <a:off x="1223740" y="3600726"/>
              <a:ext cx="2016000" cy="252000"/>
            </a:xfrm>
            <a:prstGeom prst="rect">
              <a:avLst/>
            </a:prstGeom>
            <a:noFill/>
            <a:ln w="9525" algn="ctr">
              <a:noFill/>
              <a:miter lim="800000"/>
              <a:headEnd/>
              <a:tailEnd/>
            </a:ln>
            <a:effectLst>
              <a:prstShdw prst="shdw17" dist="17961" dir="2700000">
                <a:srgbClr val="DDDDDD">
                  <a:gamma/>
                  <a:shade val="60000"/>
                  <a:invGamma/>
                </a:srgbClr>
              </a:prstShdw>
            </a:effectLst>
          </p:spPr>
          <p:txBody>
            <a:bodyPr wrap="none" anchor="ctr"/>
            <a:lstStyle/>
            <a:p>
              <a:pPr algn="ctr"/>
              <a:r>
                <a:rPr lang="es-ES" sz="1200" b="1" dirty="0">
                  <a:solidFill>
                    <a:schemeClr val="bg1"/>
                  </a:solidFill>
                </a:rPr>
                <a:t>Definición de KRI´s</a:t>
              </a:r>
            </a:p>
          </p:txBody>
        </p:sp>
      </p:grpSp>
      <p:grpSp>
        <p:nvGrpSpPr>
          <p:cNvPr id="63" name="94 Grupo"/>
          <p:cNvGrpSpPr>
            <a:grpSpLocks noChangeAspect="1"/>
          </p:cNvGrpSpPr>
          <p:nvPr/>
        </p:nvGrpSpPr>
        <p:grpSpPr>
          <a:xfrm>
            <a:off x="1007576" y="2912683"/>
            <a:ext cx="2479320" cy="593640"/>
            <a:chOff x="953740" y="2912683"/>
            <a:chExt cx="2556000" cy="612000"/>
          </a:xfrm>
        </p:grpSpPr>
        <p:sp>
          <p:nvSpPr>
            <p:cNvPr id="67" name="AutoShape 10"/>
            <p:cNvSpPr>
              <a:spLocks noChangeArrowheads="1"/>
            </p:cNvSpPr>
            <p:nvPr/>
          </p:nvSpPr>
          <p:spPr bwMode="auto">
            <a:xfrm rot="5400000">
              <a:off x="1925740" y="1940683"/>
              <a:ext cx="612000" cy="2556000"/>
            </a:xfrm>
            <a:prstGeom prst="homePlate">
              <a:avLst>
                <a:gd name="adj" fmla="val 28273"/>
              </a:avLst>
            </a:prstGeom>
            <a:solidFill>
              <a:srgbClr val="DB0613"/>
            </a:solidFill>
            <a:ln w="9525" algn="ctr">
              <a:solidFill>
                <a:schemeClr val="bg1"/>
              </a:solidFill>
              <a:miter lim="800000"/>
              <a:headEnd/>
              <a:tailEnd/>
            </a:ln>
            <a:effectLst>
              <a:prstShdw prst="shdw17" dist="17961" dir="2700000">
                <a:srgbClr val="DDDDDD">
                  <a:gamma/>
                  <a:shade val="60000"/>
                  <a:invGamma/>
                </a:srgbClr>
              </a:prstShdw>
            </a:effectLst>
          </p:spPr>
          <p:txBody>
            <a:bodyPr wrap="none" anchor="ctr"/>
            <a:lstStyle/>
            <a:p>
              <a:pPr algn="ctr"/>
              <a:endParaRPr lang="en-US" sz="1200" b="1" dirty="0">
                <a:solidFill>
                  <a:srgbClr val="525252"/>
                </a:solidFill>
              </a:endParaRPr>
            </a:p>
          </p:txBody>
        </p:sp>
        <p:sp>
          <p:nvSpPr>
            <p:cNvPr id="68" name="Rectangle 7"/>
            <p:cNvSpPr>
              <a:spLocks noChangeArrowheads="1"/>
            </p:cNvSpPr>
            <p:nvPr/>
          </p:nvSpPr>
          <p:spPr bwMode="auto">
            <a:xfrm>
              <a:off x="1223740" y="3110525"/>
              <a:ext cx="2016000" cy="252000"/>
            </a:xfrm>
            <a:prstGeom prst="rect">
              <a:avLst/>
            </a:prstGeom>
            <a:noFill/>
            <a:ln w="9525" algn="ctr">
              <a:noFill/>
              <a:miter lim="800000"/>
              <a:headEnd/>
              <a:tailEnd/>
            </a:ln>
            <a:effectLst>
              <a:prstShdw prst="shdw17" dist="17961" dir="2700000">
                <a:srgbClr val="DDDDDD">
                  <a:gamma/>
                  <a:shade val="60000"/>
                  <a:invGamma/>
                </a:srgbClr>
              </a:prstShdw>
            </a:effectLst>
          </p:spPr>
          <p:txBody>
            <a:bodyPr wrap="none" anchor="ctr"/>
            <a:lstStyle/>
            <a:p>
              <a:pPr algn="ctr"/>
              <a:r>
                <a:rPr lang="es-ES" sz="1200" b="1" dirty="0">
                  <a:solidFill>
                    <a:schemeClr val="bg1"/>
                  </a:solidFill>
                </a:rPr>
                <a:t>Identificación de Riesgos y Controles</a:t>
              </a:r>
            </a:p>
          </p:txBody>
        </p:sp>
      </p:grpSp>
      <p:grpSp>
        <p:nvGrpSpPr>
          <p:cNvPr id="64" name="95 Grupo"/>
          <p:cNvGrpSpPr>
            <a:grpSpLocks noChangeAspect="1"/>
          </p:cNvGrpSpPr>
          <p:nvPr/>
        </p:nvGrpSpPr>
        <p:grpSpPr>
          <a:xfrm>
            <a:off x="1007576" y="2514184"/>
            <a:ext cx="2479320" cy="523800"/>
            <a:chOff x="953740" y="2514184"/>
            <a:chExt cx="2556000" cy="540000"/>
          </a:xfrm>
        </p:grpSpPr>
        <p:sp>
          <p:nvSpPr>
            <p:cNvPr id="65" name="AutoShape 10"/>
            <p:cNvSpPr>
              <a:spLocks noChangeArrowheads="1"/>
            </p:cNvSpPr>
            <p:nvPr/>
          </p:nvSpPr>
          <p:spPr bwMode="auto">
            <a:xfrm rot="5400000">
              <a:off x="1961740" y="1506184"/>
              <a:ext cx="540000" cy="2556000"/>
            </a:xfrm>
            <a:prstGeom prst="homePlate">
              <a:avLst>
                <a:gd name="adj" fmla="val 28273"/>
              </a:avLst>
            </a:prstGeom>
            <a:solidFill>
              <a:srgbClr val="DB0613"/>
            </a:solidFill>
            <a:ln w="9525" algn="ctr">
              <a:solidFill>
                <a:schemeClr val="bg1"/>
              </a:solidFill>
              <a:miter lim="800000"/>
              <a:headEnd/>
              <a:tailEnd/>
            </a:ln>
            <a:effectLst>
              <a:prstShdw prst="shdw17" dist="17961" dir="2700000">
                <a:srgbClr val="DDDDDD">
                  <a:gamma/>
                  <a:shade val="60000"/>
                  <a:invGamma/>
                </a:srgbClr>
              </a:prstShdw>
            </a:effectLst>
          </p:spPr>
          <p:txBody>
            <a:bodyPr wrap="none" anchor="ctr"/>
            <a:lstStyle/>
            <a:p>
              <a:pPr algn="ctr"/>
              <a:endParaRPr lang="en-US" sz="1200" b="1" dirty="0">
                <a:solidFill>
                  <a:srgbClr val="525252"/>
                </a:solidFill>
              </a:endParaRPr>
            </a:p>
          </p:txBody>
        </p:sp>
        <p:sp>
          <p:nvSpPr>
            <p:cNvPr id="66" name="Rectangle 7"/>
            <p:cNvSpPr>
              <a:spLocks noChangeArrowheads="1"/>
            </p:cNvSpPr>
            <p:nvPr/>
          </p:nvSpPr>
          <p:spPr bwMode="auto">
            <a:xfrm>
              <a:off x="1223740" y="2636040"/>
              <a:ext cx="2016000" cy="252000"/>
            </a:xfrm>
            <a:prstGeom prst="rect">
              <a:avLst/>
            </a:prstGeom>
            <a:noFill/>
            <a:ln w="9525" algn="ctr">
              <a:noFill/>
              <a:miter lim="800000"/>
              <a:headEnd/>
              <a:tailEnd/>
            </a:ln>
            <a:effectLst>
              <a:prstShdw prst="shdw17" dist="17961" dir="2700000">
                <a:srgbClr val="DDDDDD">
                  <a:gamma/>
                  <a:shade val="60000"/>
                  <a:invGamma/>
                </a:srgbClr>
              </a:prstShdw>
            </a:effectLst>
          </p:spPr>
          <p:txBody>
            <a:bodyPr wrap="none" anchor="ctr"/>
            <a:lstStyle/>
            <a:p>
              <a:pPr algn="ctr"/>
              <a:r>
                <a:rPr lang="es-ES" sz="1200" b="1" dirty="0">
                  <a:solidFill>
                    <a:schemeClr val="bg1"/>
                  </a:solidFill>
                </a:rPr>
                <a:t>Mapeo de Procesos</a:t>
              </a:r>
            </a:p>
          </p:txBody>
        </p:sp>
      </p:grpSp>
      <p:grpSp>
        <p:nvGrpSpPr>
          <p:cNvPr id="99" name="98 Grupo"/>
          <p:cNvGrpSpPr/>
          <p:nvPr/>
        </p:nvGrpSpPr>
        <p:grpSpPr>
          <a:xfrm>
            <a:off x="7794708" y="2393624"/>
            <a:ext cx="1260000" cy="1957832"/>
            <a:chOff x="7794708" y="2393624"/>
            <a:chExt cx="1260000" cy="1957832"/>
          </a:xfrm>
        </p:grpSpPr>
        <p:grpSp>
          <p:nvGrpSpPr>
            <p:cNvPr id="38" name="51 Grupo"/>
            <p:cNvGrpSpPr/>
            <p:nvPr/>
          </p:nvGrpSpPr>
          <p:grpSpPr>
            <a:xfrm>
              <a:off x="7794708" y="3399128"/>
              <a:ext cx="1260000" cy="288000"/>
              <a:chOff x="8293040" y="2852936"/>
              <a:chExt cx="1188000" cy="396000"/>
            </a:xfrm>
          </p:grpSpPr>
          <p:sp>
            <p:nvSpPr>
              <p:cNvPr id="45" name="AutoShape 10"/>
              <p:cNvSpPr>
                <a:spLocks noChangeArrowheads="1"/>
              </p:cNvSpPr>
              <p:nvPr/>
            </p:nvSpPr>
            <p:spPr bwMode="auto">
              <a:xfrm rot="10800000">
                <a:off x="8293040" y="2852936"/>
                <a:ext cx="1188000" cy="396000"/>
              </a:xfrm>
              <a:prstGeom prst="homePlate">
                <a:avLst>
                  <a:gd name="adj" fmla="val 28726"/>
                </a:avLst>
              </a:prstGeom>
              <a:solidFill>
                <a:schemeClr val="bg2">
                  <a:lumMod val="90000"/>
                </a:schemeClr>
              </a:solidFill>
              <a:ln w="9525" algn="ctr">
                <a:noFill/>
                <a:miter lim="800000"/>
                <a:headEnd/>
                <a:tailEnd/>
              </a:ln>
              <a:effectLst>
                <a:prstShdw prst="shdw17" dist="17961" dir="2700000">
                  <a:srgbClr val="DDDDDD">
                    <a:gamma/>
                    <a:shade val="60000"/>
                    <a:invGamma/>
                  </a:srgbClr>
                </a:prstShdw>
              </a:effectLst>
            </p:spPr>
            <p:txBody>
              <a:bodyPr wrap="none" anchor="ctr"/>
              <a:lstStyle/>
              <a:p>
                <a:pPr algn="ctr"/>
                <a:endParaRPr lang="en-US" sz="1100" b="1" dirty="0">
                  <a:solidFill>
                    <a:srgbClr val="525252"/>
                  </a:solidFill>
                </a:endParaRPr>
              </a:p>
            </p:txBody>
          </p:sp>
          <p:sp>
            <p:nvSpPr>
              <p:cNvPr id="46" name="Rectangle 7"/>
              <p:cNvSpPr>
                <a:spLocks noChangeArrowheads="1"/>
              </p:cNvSpPr>
              <p:nvPr/>
            </p:nvSpPr>
            <p:spPr bwMode="auto">
              <a:xfrm>
                <a:off x="8365040" y="2870936"/>
                <a:ext cx="1116000" cy="360000"/>
              </a:xfrm>
              <a:prstGeom prst="rect">
                <a:avLst/>
              </a:prstGeom>
              <a:noFill/>
              <a:ln w="9525" algn="ctr">
                <a:noFill/>
                <a:miter lim="800000"/>
                <a:headEnd/>
                <a:tailEnd/>
              </a:ln>
              <a:effectLst>
                <a:prstShdw prst="shdw17" dist="17961" dir="2700000">
                  <a:srgbClr val="DDDDDD">
                    <a:gamma/>
                    <a:shade val="60000"/>
                    <a:invGamma/>
                  </a:srgbClr>
                </a:prstShdw>
              </a:effectLst>
            </p:spPr>
            <p:txBody>
              <a:bodyPr wrap="none" anchor="ctr"/>
              <a:lstStyle/>
              <a:p>
                <a:pPr algn="ctr"/>
                <a:r>
                  <a:rPr lang="es-ES" sz="1100" b="1" dirty="0">
                    <a:solidFill>
                      <a:srgbClr val="525252"/>
                    </a:solidFill>
                  </a:rPr>
                  <a:t>Gestión de</a:t>
                </a:r>
              </a:p>
              <a:p>
                <a:pPr algn="ctr"/>
                <a:r>
                  <a:rPr lang="es-ES" sz="1100" b="1" dirty="0">
                    <a:solidFill>
                      <a:srgbClr val="525252"/>
                    </a:solidFill>
                  </a:rPr>
                  <a:t>Proveedores</a:t>
                </a:r>
              </a:p>
            </p:txBody>
          </p:sp>
        </p:grpSp>
        <p:grpSp>
          <p:nvGrpSpPr>
            <p:cNvPr id="39" name="52 Grupo"/>
            <p:cNvGrpSpPr/>
            <p:nvPr/>
          </p:nvGrpSpPr>
          <p:grpSpPr>
            <a:xfrm>
              <a:off x="7794708" y="3731840"/>
              <a:ext cx="1260000" cy="288000"/>
              <a:chOff x="8293040" y="3321032"/>
              <a:chExt cx="1188000" cy="396000"/>
            </a:xfrm>
          </p:grpSpPr>
          <p:sp>
            <p:nvSpPr>
              <p:cNvPr id="43" name="AutoShape 10"/>
              <p:cNvSpPr>
                <a:spLocks noChangeArrowheads="1"/>
              </p:cNvSpPr>
              <p:nvPr/>
            </p:nvSpPr>
            <p:spPr bwMode="auto">
              <a:xfrm rot="10800000">
                <a:off x="8293040" y="3321032"/>
                <a:ext cx="1188000" cy="396000"/>
              </a:xfrm>
              <a:prstGeom prst="homePlate">
                <a:avLst>
                  <a:gd name="adj" fmla="val 28726"/>
                </a:avLst>
              </a:prstGeom>
              <a:solidFill>
                <a:schemeClr val="bg2">
                  <a:lumMod val="90000"/>
                </a:schemeClr>
              </a:solidFill>
              <a:ln w="9525" algn="ctr">
                <a:noFill/>
                <a:miter lim="800000"/>
                <a:headEnd/>
                <a:tailEnd/>
              </a:ln>
              <a:effectLst>
                <a:prstShdw prst="shdw17" dist="17961" dir="2700000">
                  <a:srgbClr val="DDDDDD">
                    <a:gamma/>
                    <a:shade val="60000"/>
                    <a:invGamma/>
                  </a:srgbClr>
                </a:prstShdw>
              </a:effectLst>
            </p:spPr>
            <p:txBody>
              <a:bodyPr wrap="none" anchor="ctr"/>
              <a:lstStyle/>
              <a:p>
                <a:pPr algn="ctr"/>
                <a:endParaRPr lang="en-US" sz="1100" b="1" dirty="0">
                  <a:solidFill>
                    <a:srgbClr val="525252"/>
                  </a:solidFill>
                </a:endParaRPr>
              </a:p>
            </p:txBody>
          </p:sp>
          <p:sp>
            <p:nvSpPr>
              <p:cNvPr id="44" name="Rectangle 7"/>
              <p:cNvSpPr>
                <a:spLocks noChangeArrowheads="1"/>
              </p:cNvSpPr>
              <p:nvPr/>
            </p:nvSpPr>
            <p:spPr bwMode="auto">
              <a:xfrm>
                <a:off x="8365040" y="3339032"/>
                <a:ext cx="1116000" cy="360000"/>
              </a:xfrm>
              <a:prstGeom prst="rect">
                <a:avLst/>
              </a:prstGeom>
              <a:noFill/>
              <a:ln w="9525" algn="ctr">
                <a:noFill/>
                <a:miter lim="800000"/>
                <a:headEnd/>
                <a:tailEnd/>
              </a:ln>
              <a:effectLst>
                <a:prstShdw prst="shdw17" dist="17961" dir="2700000">
                  <a:srgbClr val="DDDDDD">
                    <a:gamma/>
                    <a:shade val="60000"/>
                    <a:invGamma/>
                  </a:srgbClr>
                </a:prstShdw>
              </a:effectLst>
            </p:spPr>
            <p:txBody>
              <a:bodyPr wrap="none" anchor="ctr"/>
              <a:lstStyle/>
              <a:p>
                <a:pPr algn="ctr"/>
                <a:r>
                  <a:rPr lang="es-ES" sz="1100" b="1" dirty="0">
                    <a:solidFill>
                      <a:srgbClr val="525252"/>
                    </a:solidFill>
                  </a:rPr>
                  <a:t>Emisión</a:t>
                </a:r>
              </a:p>
            </p:txBody>
          </p:sp>
        </p:grpSp>
        <p:grpSp>
          <p:nvGrpSpPr>
            <p:cNvPr id="40" name="53 Grupo"/>
            <p:cNvGrpSpPr/>
            <p:nvPr/>
          </p:nvGrpSpPr>
          <p:grpSpPr>
            <a:xfrm>
              <a:off x="7794708" y="4063456"/>
              <a:ext cx="1260000" cy="288000"/>
              <a:chOff x="8293040" y="3789040"/>
              <a:chExt cx="1188000" cy="396000"/>
            </a:xfrm>
          </p:grpSpPr>
          <p:sp>
            <p:nvSpPr>
              <p:cNvPr id="41" name="AutoShape 10"/>
              <p:cNvSpPr>
                <a:spLocks noChangeArrowheads="1"/>
              </p:cNvSpPr>
              <p:nvPr/>
            </p:nvSpPr>
            <p:spPr bwMode="auto">
              <a:xfrm rot="10800000">
                <a:off x="8293040" y="3789040"/>
                <a:ext cx="1188000" cy="396000"/>
              </a:xfrm>
              <a:prstGeom prst="homePlate">
                <a:avLst>
                  <a:gd name="adj" fmla="val 28726"/>
                </a:avLst>
              </a:prstGeom>
              <a:solidFill>
                <a:schemeClr val="bg2">
                  <a:lumMod val="90000"/>
                </a:schemeClr>
              </a:solidFill>
              <a:ln w="9525" algn="ctr">
                <a:noFill/>
                <a:miter lim="800000"/>
                <a:headEnd/>
                <a:tailEnd/>
              </a:ln>
              <a:effectLst>
                <a:prstShdw prst="shdw17" dist="17961" dir="2700000">
                  <a:srgbClr val="DDDDDD">
                    <a:gamma/>
                    <a:shade val="60000"/>
                    <a:invGamma/>
                  </a:srgbClr>
                </a:prstShdw>
              </a:effectLst>
            </p:spPr>
            <p:txBody>
              <a:bodyPr wrap="none" anchor="ctr"/>
              <a:lstStyle/>
              <a:p>
                <a:pPr algn="ctr"/>
                <a:endParaRPr lang="en-US" sz="1100" b="1" dirty="0">
                  <a:solidFill>
                    <a:srgbClr val="525252"/>
                  </a:solidFill>
                </a:endParaRPr>
              </a:p>
            </p:txBody>
          </p:sp>
          <p:sp>
            <p:nvSpPr>
              <p:cNvPr id="42" name="Rectangle 7"/>
              <p:cNvSpPr>
                <a:spLocks noChangeArrowheads="1"/>
              </p:cNvSpPr>
              <p:nvPr/>
            </p:nvSpPr>
            <p:spPr bwMode="auto">
              <a:xfrm>
                <a:off x="8365040" y="3807040"/>
                <a:ext cx="1116000" cy="360000"/>
              </a:xfrm>
              <a:prstGeom prst="rect">
                <a:avLst/>
              </a:prstGeom>
              <a:noFill/>
              <a:ln w="9525" algn="ctr">
                <a:noFill/>
                <a:miter lim="800000"/>
                <a:headEnd/>
                <a:tailEnd/>
              </a:ln>
              <a:effectLst>
                <a:prstShdw prst="shdw17" dist="17961" dir="2700000">
                  <a:srgbClr val="DDDDDD">
                    <a:gamma/>
                    <a:shade val="60000"/>
                    <a:invGamma/>
                  </a:srgbClr>
                </a:prstShdw>
              </a:effectLst>
            </p:spPr>
            <p:txBody>
              <a:bodyPr wrap="none" anchor="ctr"/>
              <a:lstStyle/>
              <a:p>
                <a:pPr algn="ctr"/>
                <a:r>
                  <a:rPr lang="es-ES" sz="1100" b="1" dirty="0">
                    <a:solidFill>
                      <a:srgbClr val="525252"/>
                    </a:solidFill>
                  </a:rPr>
                  <a:t>Siniestros</a:t>
                </a:r>
              </a:p>
            </p:txBody>
          </p:sp>
        </p:grpSp>
        <p:grpSp>
          <p:nvGrpSpPr>
            <p:cNvPr id="81" name="51 Grupo"/>
            <p:cNvGrpSpPr/>
            <p:nvPr/>
          </p:nvGrpSpPr>
          <p:grpSpPr>
            <a:xfrm>
              <a:off x="7794708" y="2393624"/>
              <a:ext cx="1260000" cy="288000"/>
              <a:chOff x="8293040" y="2852936"/>
              <a:chExt cx="1188000" cy="396000"/>
            </a:xfrm>
          </p:grpSpPr>
          <p:sp>
            <p:nvSpPr>
              <p:cNvPr id="82" name="AutoShape 10"/>
              <p:cNvSpPr>
                <a:spLocks noChangeArrowheads="1"/>
              </p:cNvSpPr>
              <p:nvPr/>
            </p:nvSpPr>
            <p:spPr bwMode="auto">
              <a:xfrm rot="10800000">
                <a:off x="8293040" y="2852936"/>
                <a:ext cx="1188000" cy="396000"/>
              </a:xfrm>
              <a:prstGeom prst="homePlate">
                <a:avLst>
                  <a:gd name="adj" fmla="val 28726"/>
                </a:avLst>
              </a:prstGeom>
              <a:solidFill>
                <a:schemeClr val="bg2">
                  <a:lumMod val="90000"/>
                </a:schemeClr>
              </a:solidFill>
              <a:ln w="9525" algn="ctr">
                <a:noFill/>
                <a:miter lim="800000"/>
                <a:headEnd/>
                <a:tailEnd/>
              </a:ln>
              <a:effectLst>
                <a:prstShdw prst="shdw17" dist="17961" dir="2700000">
                  <a:srgbClr val="DDDDDD">
                    <a:gamma/>
                    <a:shade val="60000"/>
                    <a:invGamma/>
                  </a:srgbClr>
                </a:prstShdw>
              </a:effectLst>
            </p:spPr>
            <p:txBody>
              <a:bodyPr wrap="none" anchor="ctr"/>
              <a:lstStyle/>
              <a:p>
                <a:pPr algn="ctr"/>
                <a:endParaRPr lang="en-US" sz="1100" b="1" dirty="0">
                  <a:solidFill>
                    <a:srgbClr val="525252"/>
                  </a:solidFill>
                </a:endParaRPr>
              </a:p>
            </p:txBody>
          </p:sp>
          <p:sp>
            <p:nvSpPr>
              <p:cNvPr id="83" name="Rectangle 7"/>
              <p:cNvSpPr>
                <a:spLocks noChangeArrowheads="1"/>
              </p:cNvSpPr>
              <p:nvPr/>
            </p:nvSpPr>
            <p:spPr bwMode="auto">
              <a:xfrm>
                <a:off x="8365040" y="2870936"/>
                <a:ext cx="1116000" cy="360000"/>
              </a:xfrm>
              <a:prstGeom prst="rect">
                <a:avLst/>
              </a:prstGeom>
              <a:noFill/>
              <a:ln w="9525" algn="ctr">
                <a:noFill/>
                <a:miter lim="800000"/>
                <a:headEnd/>
                <a:tailEnd/>
              </a:ln>
              <a:effectLst>
                <a:prstShdw prst="shdw17" dist="17961" dir="2700000">
                  <a:srgbClr val="DDDDDD">
                    <a:gamma/>
                    <a:shade val="60000"/>
                    <a:invGamma/>
                  </a:srgbClr>
                </a:prstShdw>
              </a:effectLst>
            </p:spPr>
            <p:txBody>
              <a:bodyPr wrap="none" anchor="ctr"/>
              <a:lstStyle/>
              <a:p>
                <a:pPr algn="ctr"/>
                <a:r>
                  <a:rPr lang="es-ES" sz="1100" b="1" dirty="0">
                    <a:solidFill>
                      <a:srgbClr val="525252"/>
                    </a:solidFill>
                  </a:rPr>
                  <a:t>Suscripción Vehículos</a:t>
                </a:r>
              </a:p>
            </p:txBody>
          </p:sp>
        </p:grpSp>
        <p:grpSp>
          <p:nvGrpSpPr>
            <p:cNvPr id="84" name="52 Grupo"/>
            <p:cNvGrpSpPr/>
            <p:nvPr/>
          </p:nvGrpSpPr>
          <p:grpSpPr>
            <a:xfrm>
              <a:off x="7794708" y="2736216"/>
              <a:ext cx="1260000" cy="288000"/>
              <a:chOff x="8293040" y="3321032"/>
              <a:chExt cx="1188000" cy="396000"/>
            </a:xfrm>
          </p:grpSpPr>
          <p:sp>
            <p:nvSpPr>
              <p:cNvPr id="85" name="AutoShape 10"/>
              <p:cNvSpPr>
                <a:spLocks noChangeArrowheads="1"/>
              </p:cNvSpPr>
              <p:nvPr/>
            </p:nvSpPr>
            <p:spPr bwMode="auto">
              <a:xfrm rot="10800000">
                <a:off x="8293040" y="3321032"/>
                <a:ext cx="1188000" cy="396000"/>
              </a:xfrm>
              <a:prstGeom prst="homePlate">
                <a:avLst>
                  <a:gd name="adj" fmla="val 28726"/>
                </a:avLst>
              </a:prstGeom>
              <a:solidFill>
                <a:schemeClr val="bg2">
                  <a:lumMod val="90000"/>
                </a:schemeClr>
              </a:solidFill>
              <a:ln w="9525" algn="ctr">
                <a:noFill/>
                <a:miter lim="800000"/>
                <a:headEnd/>
                <a:tailEnd/>
              </a:ln>
              <a:effectLst>
                <a:prstShdw prst="shdw17" dist="17961" dir="2700000">
                  <a:srgbClr val="DDDDDD">
                    <a:gamma/>
                    <a:shade val="60000"/>
                    <a:invGamma/>
                  </a:srgbClr>
                </a:prstShdw>
              </a:effectLst>
            </p:spPr>
            <p:txBody>
              <a:bodyPr wrap="none" anchor="ctr"/>
              <a:lstStyle/>
              <a:p>
                <a:pPr algn="ctr"/>
                <a:endParaRPr lang="en-US" sz="1100" b="1" dirty="0">
                  <a:solidFill>
                    <a:srgbClr val="525252"/>
                  </a:solidFill>
                </a:endParaRPr>
              </a:p>
            </p:txBody>
          </p:sp>
          <p:sp>
            <p:nvSpPr>
              <p:cNvPr id="86" name="Rectangle 7"/>
              <p:cNvSpPr>
                <a:spLocks noChangeArrowheads="1"/>
              </p:cNvSpPr>
              <p:nvPr/>
            </p:nvSpPr>
            <p:spPr bwMode="auto">
              <a:xfrm>
                <a:off x="8339304" y="3339032"/>
                <a:ext cx="1116000" cy="360000"/>
              </a:xfrm>
              <a:prstGeom prst="rect">
                <a:avLst/>
              </a:prstGeom>
              <a:noFill/>
              <a:ln w="9525" algn="ctr">
                <a:noFill/>
                <a:miter lim="800000"/>
                <a:headEnd/>
                <a:tailEnd/>
              </a:ln>
              <a:effectLst>
                <a:prstShdw prst="shdw17" dist="17961" dir="2700000">
                  <a:srgbClr val="DDDDDD">
                    <a:gamma/>
                    <a:shade val="60000"/>
                    <a:invGamma/>
                  </a:srgbClr>
                </a:prstShdw>
              </a:effectLst>
            </p:spPr>
            <p:txBody>
              <a:bodyPr wrap="none" anchor="ctr"/>
              <a:lstStyle/>
              <a:p>
                <a:pPr algn="ctr"/>
                <a:r>
                  <a:rPr lang="es-ES" sz="1100" b="1" dirty="0">
                    <a:solidFill>
                      <a:srgbClr val="525252"/>
                    </a:solidFill>
                  </a:rPr>
                  <a:t>Comercial Corredores</a:t>
                </a:r>
              </a:p>
            </p:txBody>
          </p:sp>
        </p:grpSp>
        <p:grpSp>
          <p:nvGrpSpPr>
            <p:cNvPr id="87" name="53 Grupo"/>
            <p:cNvGrpSpPr/>
            <p:nvPr/>
          </p:nvGrpSpPr>
          <p:grpSpPr>
            <a:xfrm>
              <a:off x="7794708" y="3067833"/>
              <a:ext cx="1260000" cy="288000"/>
              <a:chOff x="8293040" y="3789040"/>
              <a:chExt cx="1188000" cy="396000"/>
            </a:xfrm>
          </p:grpSpPr>
          <p:sp>
            <p:nvSpPr>
              <p:cNvPr id="88" name="AutoShape 10"/>
              <p:cNvSpPr>
                <a:spLocks noChangeArrowheads="1"/>
              </p:cNvSpPr>
              <p:nvPr/>
            </p:nvSpPr>
            <p:spPr bwMode="auto">
              <a:xfrm rot="10800000">
                <a:off x="8293040" y="3789040"/>
                <a:ext cx="1188000" cy="396000"/>
              </a:xfrm>
              <a:prstGeom prst="homePlate">
                <a:avLst>
                  <a:gd name="adj" fmla="val 28726"/>
                </a:avLst>
              </a:prstGeom>
              <a:solidFill>
                <a:schemeClr val="bg2">
                  <a:lumMod val="90000"/>
                </a:schemeClr>
              </a:solidFill>
              <a:ln w="9525" algn="ctr">
                <a:noFill/>
                <a:miter lim="800000"/>
                <a:headEnd/>
                <a:tailEnd/>
              </a:ln>
              <a:effectLst>
                <a:prstShdw prst="shdw17" dist="17961" dir="2700000">
                  <a:srgbClr val="DDDDDD">
                    <a:gamma/>
                    <a:shade val="60000"/>
                    <a:invGamma/>
                  </a:srgbClr>
                </a:prstShdw>
              </a:effectLst>
            </p:spPr>
            <p:txBody>
              <a:bodyPr wrap="none" anchor="ctr"/>
              <a:lstStyle/>
              <a:p>
                <a:pPr algn="ctr"/>
                <a:endParaRPr lang="en-US" sz="1100" b="1" dirty="0">
                  <a:solidFill>
                    <a:srgbClr val="525252"/>
                  </a:solidFill>
                </a:endParaRPr>
              </a:p>
            </p:txBody>
          </p:sp>
          <p:sp>
            <p:nvSpPr>
              <p:cNvPr id="89" name="Rectangle 7"/>
              <p:cNvSpPr>
                <a:spLocks noChangeArrowheads="1"/>
              </p:cNvSpPr>
              <p:nvPr/>
            </p:nvSpPr>
            <p:spPr bwMode="auto">
              <a:xfrm>
                <a:off x="8365040" y="3807040"/>
                <a:ext cx="1116000" cy="360000"/>
              </a:xfrm>
              <a:prstGeom prst="rect">
                <a:avLst/>
              </a:prstGeom>
              <a:noFill/>
              <a:ln w="9525" algn="ctr">
                <a:noFill/>
                <a:miter lim="800000"/>
                <a:headEnd/>
                <a:tailEnd/>
              </a:ln>
              <a:effectLst>
                <a:prstShdw prst="shdw17" dist="17961" dir="2700000">
                  <a:srgbClr val="DDDDDD">
                    <a:gamma/>
                    <a:shade val="60000"/>
                    <a:invGamma/>
                  </a:srgbClr>
                </a:prstShdw>
              </a:effectLst>
            </p:spPr>
            <p:txBody>
              <a:bodyPr wrap="none" anchor="ctr"/>
              <a:lstStyle/>
              <a:p>
                <a:pPr algn="ctr"/>
                <a:r>
                  <a:rPr lang="es-ES" sz="1100" b="1" dirty="0">
                    <a:solidFill>
                      <a:srgbClr val="525252"/>
                    </a:solidFill>
                  </a:rPr>
                  <a:t>Comercial Indirecto</a:t>
                </a:r>
              </a:p>
            </p:txBody>
          </p:sp>
        </p:grpSp>
      </p:grpSp>
      <p:grpSp>
        <p:nvGrpSpPr>
          <p:cNvPr id="96" name="95 Grupo"/>
          <p:cNvGrpSpPr/>
          <p:nvPr/>
        </p:nvGrpSpPr>
        <p:grpSpPr>
          <a:xfrm>
            <a:off x="4230181" y="2721439"/>
            <a:ext cx="1260000" cy="1283624"/>
            <a:chOff x="4230181" y="2721439"/>
            <a:chExt cx="1260000" cy="1283624"/>
          </a:xfrm>
        </p:grpSpPr>
        <p:grpSp>
          <p:nvGrpSpPr>
            <p:cNvPr id="104" name="103 Grupo"/>
            <p:cNvGrpSpPr/>
            <p:nvPr/>
          </p:nvGrpSpPr>
          <p:grpSpPr>
            <a:xfrm>
              <a:off x="4230181" y="3384351"/>
              <a:ext cx="1260000" cy="288000"/>
              <a:chOff x="4283969" y="3384351"/>
              <a:chExt cx="1260000" cy="288000"/>
            </a:xfrm>
          </p:grpSpPr>
          <p:sp>
            <p:nvSpPr>
              <p:cNvPr id="91" name="AutoShape 10"/>
              <p:cNvSpPr>
                <a:spLocks noChangeArrowheads="1"/>
              </p:cNvSpPr>
              <p:nvPr/>
            </p:nvSpPr>
            <p:spPr bwMode="auto">
              <a:xfrm>
                <a:off x="4283969" y="3384351"/>
                <a:ext cx="1260000" cy="288000"/>
              </a:xfrm>
              <a:prstGeom prst="homePlate">
                <a:avLst>
                  <a:gd name="adj" fmla="val 28726"/>
                </a:avLst>
              </a:prstGeom>
              <a:solidFill>
                <a:schemeClr val="bg2">
                  <a:lumMod val="90000"/>
                </a:schemeClr>
              </a:solidFill>
              <a:ln w="9525" algn="ctr">
                <a:noFill/>
                <a:miter lim="800000"/>
                <a:headEnd/>
                <a:tailEnd/>
              </a:ln>
              <a:effectLst>
                <a:prstShdw prst="shdw17" dist="17961" dir="2700000">
                  <a:srgbClr val="DDDDDD">
                    <a:gamma/>
                    <a:shade val="60000"/>
                    <a:invGamma/>
                  </a:srgbClr>
                </a:prstShdw>
              </a:effectLst>
            </p:spPr>
            <p:txBody>
              <a:bodyPr wrap="none" anchor="ctr"/>
              <a:lstStyle/>
              <a:p>
                <a:pPr algn="ctr"/>
                <a:endParaRPr lang="en-US" sz="1100" b="1" dirty="0">
                  <a:solidFill>
                    <a:srgbClr val="525252"/>
                  </a:solidFill>
                </a:endParaRPr>
              </a:p>
            </p:txBody>
          </p:sp>
          <p:sp>
            <p:nvSpPr>
              <p:cNvPr id="92" name="Rectangle 7"/>
              <p:cNvSpPr>
                <a:spLocks noChangeArrowheads="1"/>
              </p:cNvSpPr>
              <p:nvPr/>
            </p:nvSpPr>
            <p:spPr bwMode="auto">
              <a:xfrm>
                <a:off x="4322151" y="3397442"/>
                <a:ext cx="1183636" cy="261818"/>
              </a:xfrm>
              <a:prstGeom prst="rect">
                <a:avLst/>
              </a:prstGeom>
              <a:noFill/>
              <a:ln w="9525" algn="ctr">
                <a:noFill/>
                <a:miter lim="800000"/>
                <a:headEnd/>
                <a:tailEnd/>
              </a:ln>
              <a:effectLst>
                <a:prstShdw prst="shdw17" dist="17961" dir="2700000">
                  <a:srgbClr val="DDDDDD">
                    <a:gamma/>
                    <a:shade val="60000"/>
                    <a:invGamma/>
                  </a:srgbClr>
                </a:prstShdw>
              </a:effectLst>
            </p:spPr>
            <p:txBody>
              <a:bodyPr wrap="none" anchor="ctr"/>
              <a:lstStyle/>
              <a:p>
                <a:pPr algn="ctr"/>
                <a:r>
                  <a:rPr lang="es-ES" sz="1100" b="1" dirty="0">
                    <a:solidFill>
                      <a:srgbClr val="525252"/>
                    </a:solidFill>
                  </a:rPr>
                  <a:t>Selección de Activos</a:t>
                </a:r>
              </a:p>
            </p:txBody>
          </p:sp>
        </p:grpSp>
        <p:grpSp>
          <p:nvGrpSpPr>
            <p:cNvPr id="105" name="104 Grupo"/>
            <p:cNvGrpSpPr/>
            <p:nvPr/>
          </p:nvGrpSpPr>
          <p:grpSpPr>
            <a:xfrm>
              <a:off x="4230181" y="3717063"/>
              <a:ext cx="1260000" cy="288000"/>
              <a:chOff x="4283969" y="3717063"/>
              <a:chExt cx="1260000" cy="288000"/>
            </a:xfrm>
          </p:grpSpPr>
          <p:sp>
            <p:nvSpPr>
              <p:cNvPr id="94" name="AutoShape 10"/>
              <p:cNvSpPr>
                <a:spLocks noChangeArrowheads="1"/>
              </p:cNvSpPr>
              <p:nvPr/>
            </p:nvSpPr>
            <p:spPr bwMode="auto">
              <a:xfrm>
                <a:off x="4283969" y="3717063"/>
                <a:ext cx="1260000" cy="288000"/>
              </a:xfrm>
              <a:prstGeom prst="homePlate">
                <a:avLst>
                  <a:gd name="adj" fmla="val 28726"/>
                </a:avLst>
              </a:prstGeom>
              <a:solidFill>
                <a:schemeClr val="bg2">
                  <a:lumMod val="90000"/>
                </a:schemeClr>
              </a:solidFill>
              <a:ln w="9525" algn="ctr">
                <a:noFill/>
                <a:miter lim="800000"/>
                <a:headEnd/>
                <a:tailEnd/>
              </a:ln>
              <a:effectLst>
                <a:prstShdw prst="shdw17" dist="17961" dir="2700000">
                  <a:srgbClr val="DDDDDD">
                    <a:gamma/>
                    <a:shade val="60000"/>
                    <a:invGamma/>
                  </a:srgbClr>
                </a:prstShdw>
              </a:effectLst>
            </p:spPr>
            <p:txBody>
              <a:bodyPr wrap="none" anchor="ctr"/>
              <a:lstStyle/>
              <a:p>
                <a:pPr algn="ctr"/>
                <a:endParaRPr lang="en-US" sz="1100" b="1" dirty="0">
                  <a:solidFill>
                    <a:srgbClr val="525252"/>
                  </a:solidFill>
                </a:endParaRPr>
              </a:p>
            </p:txBody>
          </p:sp>
          <p:sp>
            <p:nvSpPr>
              <p:cNvPr id="95" name="Rectangle 7"/>
              <p:cNvSpPr>
                <a:spLocks noChangeArrowheads="1"/>
              </p:cNvSpPr>
              <p:nvPr/>
            </p:nvSpPr>
            <p:spPr bwMode="auto">
              <a:xfrm>
                <a:off x="4322151" y="3730154"/>
                <a:ext cx="1183636" cy="261818"/>
              </a:xfrm>
              <a:prstGeom prst="rect">
                <a:avLst/>
              </a:prstGeom>
              <a:noFill/>
              <a:ln w="9525" algn="ctr">
                <a:noFill/>
                <a:miter lim="800000"/>
                <a:headEnd/>
                <a:tailEnd/>
              </a:ln>
              <a:effectLst>
                <a:prstShdw prst="shdw17" dist="17961" dir="2700000">
                  <a:srgbClr val="DDDDDD">
                    <a:gamma/>
                    <a:shade val="60000"/>
                    <a:invGamma/>
                  </a:srgbClr>
                </a:prstShdw>
              </a:effectLst>
            </p:spPr>
            <p:txBody>
              <a:bodyPr wrap="none" anchor="ctr"/>
              <a:lstStyle/>
              <a:p>
                <a:pPr algn="ctr"/>
                <a:r>
                  <a:rPr lang="es-ES" sz="1100" b="1" dirty="0">
                    <a:solidFill>
                      <a:srgbClr val="525252"/>
                    </a:solidFill>
                  </a:rPr>
                  <a:t>Riesgo de</a:t>
                </a:r>
              </a:p>
              <a:p>
                <a:pPr algn="ctr"/>
                <a:r>
                  <a:rPr lang="es-ES" sz="1100" b="1" dirty="0">
                    <a:solidFill>
                      <a:srgbClr val="525252"/>
                    </a:solidFill>
                  </a:rPr>
                  <a:t>Mercado y Crédito</a:t>
                </a:r>
              </a:p>
            </p:txBody>
          </p:sp>
        </p:grpSp>
        <p:grpSp>
          <p:nvGrpSpPr>
            <p:cNvPr id="102" name="101 Grupo"/>
            <p:cNvGrpSpPr/>
            <p:nvPr/>
          </p:nvGrpSpPr>
          <p:grpSpPr>
            <a:xfrm>
              <a:off x="4230181" y="2721439"/>
              <a:ext cx="1260000" cy="288000"/>
              <a:chOff x="4283969" y="2721439"/>
              <a:chExt cx="1260000" cy="288000"/>
            </a:xfrm>
          </p:grpSpPr>
          <p:sp>
            <p:nvSpPr>
              <p:cNvPr id="97" name="AutoShape 10"/>
              <p:cNvSpPr>
                <a:spLocks noChangeArrowheads="1"/>
              </p:cNvSpPr>
              <p:nvPr/>
            </p:nvSpPr>
            <p:spPr bwMode="auto">
              <a:xfrm>
                <a:off x="4283969" y="2721439"/>
                <a:ext cx="1260000" cy="288000"/>
              </a:xfrm>
              <a:prstGeom prst="homePlate">
                <a:avLst>
                  <a:gd name="adj" fmla="val 28726"/>
                </a:avLst>
              </a:prstGeom>
              <a:solidFill>
                <a:schemeClr val="bg2">
                  <a:lumMod val="90000"/>
                </a:schemeClr>
              </a:solidFill>
              <a:ln w="9525" algn="ctr">
                <a:noFill/>
                <a:miter lim="800000"/>
                <a:headEnd/>
                <a:tailEnd/>
              </a:ln>
              <a:effectLst>
                <a:prstShdw prst="shdw17" dist="17961" dir="2700000">
                  <a:srgbClr val="DDDDDD">
                    <a:gamma/>
                    <a:shade val="60000"/>
                    <a:invGamma/>
                  </a:srgbClr>
                </a:prstShdw>
              </a:effectLst>
            </p:spPr>
            <p:txBody>
              <a:bodyPr wrap="none" anchor="ctr"/>
              <a:lstStyle/>
              <a:p>
                <a:pPr algn="ctr"/>
                <a:endParaRPr lang="en-US" sz="1100" b="1" dirty="0">
                  <a:solidFill>
                    <a:srgbClr val="525252"/>
                  </a:solidFill>
                </a:endParaRPr>
              </a:p>
            </p:txBody>
          </p:sp>
          <p:sp>
            <p:nvSpPr>
              <p:cNvPr id="98" name="Rectangle 7"/>
              <p:cNvSpPr>
                <a:spLocks noChangeArrowheads="1"/>
              </p:cNvSpPr>
              <p:nvPr/>
            </p:nvSpPr>
            <p:spPr bwMode="auto">
              <a:xfrm>
                <a:off x="4311265" y="2734530"/>
                <a:ext cx="1183636" cy="261818"/>
              </a:xfrm>
              <a:prstGeom prst="rect">
                <a:avLst/>
              </a:prstGeom>
              <a:noFill/>
              <a:ln w="9525" algn="ctr">
                <a:noFill/>
                <a:miter lim="800000"/>
                <a:headEnd/>
                <a:tailEnd/>
              </a:ln>
              <a:effectLst>
                <a:prstShdw prst="shdw17" dist="17961" dir="2700000">
                  <a:srgbClr val="DDDDDD">
                    <a:gamma/>
                    <a:shade val="60000"/>
                    <a:invGamma/>
                  </a:srgbClr>
                </a:prstShdw>
              </a:effectLst>
            </p:spPr>
            <p:txBody>
              <a:bodyPr wrap="none" anchor="ctr"/>
              <a:lstStyle/>
              <a:p>
                <a:pPr algn="ctr"/>
                <a:r>
                  <a:rPr lang="es-PE" sz="1100" b="1" dirty="0">
                    <a:solidFill>
                      <a:srgbClr val="525252"/>
                    </a:solidFill>
                  </a:rPr>
                  <a:t>Inversiones</a:t>
                </a:r>
                <a:endParaRPr lang="es-ES" sz="1100" b="1" dirty="0">
                  <a:solidFill>
                    <a:srgbClr val="525252"/>
                  </a:solidFill>
                </a:endParaRPr>
              </a:p>
            </p:txBody>
          </p:sp>
        </p:grpSp>
        <p:grpSp>
          <p:nvGrpSpPr>
            <p:cNvPr id="103" name="102 Grupo"/>
            <p:cNvGrpSpPr/>
            <p:nvPr/>
          </p:nvGrpSpPr>
          <p:grpSpPr>
            <a:xfrm>
              <a:off x="4230181" y="3053056"/>
              <a:ext cx="1260000" cy="288000"/>
              <a:chOff x="4283969" y="3053056"/>
              <a:chExt cx="1260000" cy="288000"/>
            </a:xfrm>
          </p:grpSpPr>
          <p:sp>
            <p:nvSpPr>
              <p:cNvPr id="100" name="AutoShape 10"/>
              <p:cNvSpPr>
                <a:spLocks noChangeArrowheads="1"/>
              </p:cNvSpPr>
              <p:nvPr/>
            </p:nvSpPr>
            <p:spPr bwMode="auto">
              <a:xfrm>
                <a:off x="4283969" y="3053056"/>
                <a:ext cx="1260000" cy="288000"/>
              </a:xfrm>
              <a:prstGeom prst="homePlate">
                <a:avLst>
                  <a:gd name="adj" fmla="val 28726"/>
                </a:avLst>
              </a:prstGeom>
              <a:solidFill>
                <a:schemeClr val="bg2">
                  <a:lumMod val="90000"/>
                </a:schemeClr>
              </a:solidFill>
              <a:ln w="9525" algn="ctr">
                <a:noFill/>
                <a:miter lim="800000"/>
                <a:headEnd/>
                <a:tailEnd/>
              </a:ln>
              <a:effectLst>
                <a:prstShdw prst="shdw17" dist="17961" dir="2700000">
                  <a:srgbClr val="DDDDDD">
                    <a:gamma/>
                    <a:shade val="60000"/>
                    <a:invGamma/>
                  </a:srgbClr>
                </a:prstShdw>
              </a:effectLst>
            </p:spPr>
            <p:txBody>
              <a:bodyPr wrap="none" anchor="ctr"/>
              <a:lstStyle/>
              <a:p>
                <a:pPr algn="ctr"/>
                <a:endParaRPr lang="en-US" sz="1100" b="1" dirty="0">
                  <a:solidFill>
                    <a:srgbClr val="525252"/>
                  </a:solidFill>
                </a:endParaRPr>
              </a:p>
            </p:txBody>
          </p:sp>
          <p:sp>
            <p:nvSpPr>
              <p:cNvPr id="101" name="Rectangle 7"/>
              <p:cNvSpPr>
                <a:spLocks noChangeArrowheads="1"/>
              </p:cNvSpPr>
              <p:nvPr/>
            </p:nvSpPr>
            <p:spPr bwMode="auto">
              <a:xfrm>
                <a:off x="4322151" y="3066147"/>
                <a:ext cx="1183636" cy="261818"/>
              </a:xfrm>
              <a:prstGeom prst="rect">
                <a:avLst/>
              </a:prstGeom>
              <a:noFill/>
              <a:ln w="9525" algn="ctr">
                <a:noFill/>
                <a:miter lim="800000"/>
                <a:headEnd/>
                <a:tailEnd/>
              </a:ln>
              <a:effectLst>
                <a:prstShdw prst="shdw17" dist="17961" dir="2700000">
                  <a:srgbClr val="DDDDDD">
                    <a:gamma/>
                    <a:shade val="60000"/>
                    <a:invGamma/>
                  </a:srgbClr>
                </a:prstShdw>
              </a:effectLst>
            </p:spPr>
            <p:txBody>
              <a:bodyPr wrap="none" anchor="ctr"/>
              <a:lstStyle/>
              <a:p>
                <a:pPr algn="ctr"/>
                <a:r>
                  <a:rPr lang="es-ES" sz="1100" b="1" dirty="0">
                    <a:solidFill>
                      <a:srgbClr val="525252"/>
                    </a:solidFill>
                  </a:rPr>
                  <a:t>Operaciones de Inv.</a:t>
                </a:r>
              </a:p>
            </p:txBody>
          </p:sp>
        </p:grpSp>
      </p:grpSp>
      <p:sp>
        <p:nvSpPr>
          <p:cNvPr id="106" name="Rounded Rectangle 31">
            <a:hlinkClick r:id="rId3" action="ppaction://hlinksldjump"/>
          </p:cNvPr>
          <p:cNvSpPr/>
          <p:nvPr/>
        </p:nvSpPr>
        <p:spPr>
          <a:xfrm>
            <a:off x="1638012" y="6322807"/>
            <a:ext cx="1080000" cy="360000"/>
          </a:xfrm>
          <a:prstGeom prst="roundRect">
            <a:avLst/>
          </a:prstGeom>
          <a:solidFill>
            <a:schemeClr val="bg1">
              <a:lumMod val="65000"/>
            </a:schemeClr>
          </a:solidFill>
          <a:ln w="25400" cap="sq" cmpd="sng">
            <a:solidFill>
              <a:schemeClr val="bg1">
                <a:lumMod val="75000"/>
              </a:schemeClr>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L" sz="800" b="1" i="1" dirty="0">
                <a:solidFill>
                  <a:schemeClr val="bg1"/>
                </a:solidFill>
                <a:cs typeface="Arial" pitchFamily="34" charset="0"/>
              </a:rPr>
              <a:t>Metodología</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1000"/>
                                        <p:tgtEl>
                                          <p:spTgt spid="15"/>
                                        </p:tgtEl>
                                      </p:cBhvr>
                                    </p:animEffect>
                                    <p:anim calcmode="lin" valueType="num">
                                      <p:cBhvr>
                                        <p:cTn id="8" dur="1000" fill="hold"/>
                                        <p:tgtEl>
                                          <p:spTgt spid="15"/>
                                        </p:tgtEl>
                                        <p:attrNameLst>
                                          <p:attrName>ppt_x</p:attrName>
                                        </p:attrNameLst>
                                      </p:cBhvr>
                                      <p:tavLst>
                                        <p:tav tm="0">
                                          <p:val>
                                            <p:strVal val="#ppt_x"/>
                                          </p:val>
                                        </p:tav>
                                        <p:tav tm="100000">
                                          <p:val>
                                            <p:strVal val="#ppt_x"/>
                                          </p:val>
                                        </p:tav>
                                      </p:tavLst>
                                    </p:anim>
                                    <p:anim calcmode="lin" valueType="num">
                                      <p:cBhvr>
                                        <p:cTn id="9" dur="1000" fill="hold"/>
                                        <p:tgtEl>
                                          <p:spTgt spid="15"/>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90"/>
                                        </p:tgtEl>
                                        <p:attrNameLst>
                                          <p:attrName>style.visibility</p:attrName>
                                        </p:attrNameLst>
                                      </p:cBhvr>
                                      <p:to>
                                        <p:strVal val="visible"/>
                                      </p:to>
                                    </p:set>
                                    <p:animEffect transition="in" filter="fade">
                                      <p:cBhvr>
                                        <p:cTn id="12" dur="1000"/>
                                        <p:tgtEl>
                                          <p:spTgt spid="90"/>
                                        </p:tgtEl>
                                      </p:cBhvr>
                                    </p:animEffect>
                                    <p:anim calcmode="lin" valueType="num">
                                      <p:cBhvr>
                                        <p:cTn id="13" dur="1000" fill="hold"/>
                                        <p:tgtEl>
                                          <p:spTgt spid="90"/>
                                        </p:tgtEl>
                                        <p:attrNameLst>
                                          <p:attrName>ppt_x</p:attrName>
                                        </p:attrNameLst>
                                      </p:cBhvr>
                                      <p:tavLst>
                                        <p:tav tm="0">
                                          <p:val>
                                            <p:strVal val="#ppt_x"/>
                                          </p:val>
                                        </p:tav>
                                        <p:tav tm="100000">
                                          <p:val>
                                            <p:strVal val="#ppt_x"/>
                                          </p:val>
                                        </p:tav>
                                      </p:tavLst>
                                    </p:anim>
                                    <p:anim calcmode="lin" valueType="num">
                                      <p:cBhvr>
                                        <p:cTn id="14" dur="1000" fill="hold"/>
                                        <p:tgtEl>
                                          <p:spTgt spid="90"/>
                                        </p:tgtEl>
                                        <p:attrNameLst>
                                          <p:attrName>ppt_y</p:attrName>
                                        </p:attrNameLst>
                                      </p:cBhvr>
                                      <p:tavLst>
                                        <p:tav tm="0">
                                          <p:val>
                                            <p:strVal val="#ppt_y+.1"/>
                                          </p:val>
                                        </p:tav>
                                        <p:tav tm="100000">
                                          <p:val>
                                            <p:strVal val="#ppt_y"/>
                                          </p:val>
                                        </p:tav>
                                      </p:tavLst>
                                    </p:anim>
                                  </p:childTnLst>
                                </p:cTn>
                              </p:par>
                            </p:childTnLst>
                          </p:cTn>
                        </p:par>
                        <p:par>
                          <p:cTn id="15" fill="hold">
                            <p:stCondLst>
                              <p:cond delay="1000"/>
                            </p:stCondLst>
                            <p:childTnLst>
                              <p:par>
                                <p:cTn id="16" presetID="42" presetClass="entr" presetSubtype="0" fill="hold" nodeType="afterEffect">
                                  <p:stCondLst>
                                    <p:cond delay="0"/>
                                  </p:stCondLst>
                                  <p:childTnLst>
                                    <p:set>
                                      <p:cBhvr>
                                        <p:cTn id="17" dur="1" fill="hold">
                                          <p:stCondLst>
                                            <p:cond delay="0"/>
                                          </p:stCondLst>
                                        </p:cTn>
                                        <p:tgtEl>
                                          <p:spTgt spid="64"/>
                                        </p:tgtEl>
                                        <p:attrNameLst>
                                          <p:attrName>style.visibility</p:attrName>
                                        </p:attrNameLst>
                                      </p:cBhvr>
                                      <p:to>
                                        <p:strVal val="visible"/>
                                      </p:to>
                                    </p:set>
                                    <p:animEffect transition="in" filter="fade">
                                      <p:cBhvr>
                                        <p:cTn id="18" dur="500"/>
                                        <p:tgtEl>
                                          <p:spTgt spid="64"/>
                                        </p:tgtEl>
                                      </p:cBhvr>
                                    </p:animEffect>
                                    <p:anim calcmode="lin" valueType="num">
                                      <p:cBhvr>
                                        <p:cTn id="19" dur="500" fill="hold"/>
                                        <p:tgtEl>
                                          <p:spTgt spid="64"/>
                                        </p:tgtEl>
                                        <p:attrNameLst>
                                          <p:attrName>ppt_x</p:attrName>
                                        </p:attrNameLst>
                                      </p:cBhvr>
                                      <p:tavLst>
                                        <p:tav tm="0">
                                          <p:val>
                                            <p:strVal val="#ppt_x"/>
                                          </p:val>
                                        </p:tav>
                                        <p:tav tm="100000">
                                          <p:val>
                                            <p:strVal val="#ppt_x"/>
                                          </p:val>
                                        </p:tav>
                                      </p:tavLst>
                                    </p:anim>
                                    <p:anim calcmode="lin" valueType="num">
                                      <p:cBhvr>
                                        <p:cTn id="20" dur="500" fill="hold"/>
                                        <p:tgtEl>
                                          <p:spTgt spid="64"/>
                                        </p:tgtEl>
                                        <p:attrNameLst>
                                          <p:attrName>ppt_y</p:attrName>
                                        </p:attrNameLst>
                                      </p:cBhvr>
                                      <p:tavLst>
                                        <p:tav tm="0">
                                          <p:val>
                                            <p:strVal val="#ppt_y+.1"/>
                                          </p:val>
                                        </p:tav>
                                        <p:tav tm="100000">
                                          <p:val>
                                            <p:strVal val="#ppt_y"/>
                                          </p:val>
                                        </p:tav>
                                      </p:tavLst>
                                    </p:anim>
                                  </p:childTnLst>
                                </p:cTn>
                              </p:par>
                            </p:childTnLst>
                          </p:cTn>
                        </p:par>
                        <p:par>
                          <p:cTn id="21" fill="hold">
                            <p:stCondLst>
                              <p:cond delay="1500"/>
                            </p:stCondLst>
                            <p:childTnLst>
                              <p:par>
                                <p:cTn id="22" presetID="42" presetClass="entr" presetSubtype="0" fill="hold" nodeType="afterEffect">
                                  <p:stCondLst>
                                    <p:cond delay="0"/>
                                  </p:stCondLst>
                                  <p:childTnLst>
                                    <p:set>
                                      <p:cBhvr>
                                        <p:cTn id="23" dur="1" fill="hold">
                                          <p:stCondLst>
                                            <p:cond delay="0"/>
                                          </p:stCondLst>
                                        </p:cTn>
                                        <p:tgtEl>
                                          <p:spTgt spid="63"/>
                                        </p:tgtEl>
                                        <p:attrNameLst>
                                          <p:attrName>style.visibility</p:attrName>
                                        </p:attrNameLst>
                                      </p:cBhvr>
                                      <p:to>
                                        <p:strVal val="visible"/>
                                      </p:to>
                                    </p:set>
                                    <p:animEffect transition="in" filter="fade">
                                      <p:cBhvr>
                                        <p:cTn id="24" dur="500"/>
                                        <p:tgtEl>
                                          <p:spTgt spid="63"/>
                                        </p:tgtEl>
                                      </p:cBhvr>
                                    </p:animEffect>
                                    <p:anim calcmode="lin" valueType="num">
                                      <p:cBhvr>
                                        <p:cTn id="25" dur="500" fill="hold"/>
                                        <p:tgtEl>
                                          <p:spTgt spid="63"/>
                                        </p:tgtEl>
                                        <p:attrNameLst>
                                          <p:attrName>ppt_x</p:attrName>
                                        </p:attrNameLst>
                                      </p:cBhvr>
                                      <p:tavLst>
                                        <p:tav tm="0">
                                          <p:val>
                                            <p:strVal val="#ppt_x"/>
                                          </p:val>
                                        </p:tav>
                                        <p:tav tm="100000">
                                          <p:val>
                                            <p:strVal val="#ppt_x"/>
                                          </p:val>
                                        </p:tav>
                                      </p:tavLst>
                                    </p:anim>
                                    <p:anim calcmode="lin" valueType="num">
                                      <p:cBhvr>
                                        <p:cTn id="26" dur="500" fill="hold"/>
                                        <p:tgtEl>
                                          <p:spTgt spid="63"/>
                                        </p:tgtEl>
                                        <p:attrNameLst>
                                          <p:attrName>ppt_y</p:attrName>
                                        </p:attrNameLst>
                                      </p:cBhvr>
                                      <p:tavLst>
                                        <p:tav tm="0">
                                          <p:val>
                                            <p:strVal val="#ppt_y+.1"/>
                                          </p:val>
                                        </p:tav>
                                        <p:tav tm="100000">
                                          <p:val>
                                            <p:strVal val="#ppt_y"/>
                                          </p:val>
                                        </p:tav>
                                      </p:tavLst>
                                    </p:anim>
                                  </p:childTnLst>
                                </p:cTn>
                              </p:par>
                            </p:childTnLst>
                          </p:cTn>
                        </p:par>
                        <p:par>
                          <p:cTn id="27" fill="hold">
                            <p:stCondLst>
                              <p:cond delay="2000"/>
                            </p:stCondLst>
                            <p:childTnLst>
                              <p:par>
                                <p:cTn id="28" presetID="42" presetClass="entr" presetSubtype="0" fill="hold" nodeType="afterEffect">
                                  <p:stCondLst>
                                    <p:cond delay="0"/>
                                  </p:stCondLst>
                                  <p:childTnLst>
                                    <p:set>
                                      <p:cBhvr>
                                        <p:cTn id="29" dur="1" fill="hold">
                                          <p:stCondLst>
                                            <p:cond delay="0"/>
                                          </p:stCondLst>
                                        </p:cTn>
                                        <p:tgtEl>
                                          <p:spTgt spid="62"/>
                                        </p:tgtEl>
                                        <p:attrNameLst>
                                          <p:attrName>style.visibility</p:attrName>
                                        </p:attrNameLst>
                                      </p:cBhvr>
                                      <p:to>
                                        <p:strVal val="visible"/>
                                      </p:to>
                                    </p:set>
                                    <p:animEffect transition="in" filter="fade">
                                      <p:cBhvr>
                                        <p:cTn id="30" dur="500"/>
                                        <p:tgtEl>
                                          <p:spTgt spid="62"/>
                                        </p:tgtEl>
                                      </p:cBhvr>
                                    </p:animEffect>
                                    <p:anim calcmode="lin" valueType="num">
                                      <p:cBhvr>
                                        <p:cTn id="31" dur="500" fill="hold"/>
                                        <p:tgtEl>
                                          <p:spTgt spid="62"/>
                                        </p:tgtEl>
                                        <p:attrNameLst>
                                          <p:attrName>ppt_x</p:attrName>
                                        </p:attrNameLst>
                                      </p:cBhvr>
                                      <p:tavLst>
                                        <p:tav tm="0">
                                          <p:val>
                                            <p:strVal val="#ppt_x"/>
                                          </p:val>
                                        </p:tav>
                                        <p:tav tm="100000">
                                          <p:val>
                                            <p:strVal val="#ppt_x"/>
                                          </p:val>
                                        </p:tav>
                                      </p:tavLst>
                                    </p:anim>
                                    <p:anim calcmode="lin" valueType="num">
                                      <p:cBhvr>
                                        <p:cTn id="32" dur="500" fill="hold"/>
                                        <p:tgtEl>
                                          <p:spTgt spid="62"/>
                                        </p:tgtEl>
                                        <p:attrNameLst>
                                          <p:attrName>ppt_y</p:attrName>
                                        </p:attrNameLst>
                                      </p:cBhvr>
                                      <p:tavLst>
                                        <p:tav tm="0">
                                          <p:val>
                                            <p:strVal val="#ppt_y+.1"/>
                                          </p:val>
                                        </p:tav>
                                        <p:tav tm="100000">
                                          <p:val>
                                            <p:strVal val="#ppt_y"/>
                                          </p:val>
                                        </p:tav>
                                      </p:tavLst>
                                    </p:anim>
                                  </p:childTnLst>
                                </p:cTn>
                              </p:par>
                            </p:childTnLst>
                          </p:cTn>
                        </p:par>
                        <p:par>
                          <p:cTn id="33" fill="hold">
                            <p:stCondLst>
                              <p:cond delay="2500"/>
                            </p:stCondLst>
                            <p:childTnLst>
                              <p:par>
                                <p:cTn id="34" presetID="42" presetClass="entr" presetSubtype="0" fill="hold" nodeType="afterEffect">
                                  <p:stCondLst>
                                    <p:cond delay="0"/>
                                  </p:stCondLst>
                                  <p:childTnLst>
                                    <p:set>
                                      <p:cBhvr>
                                        <p:cTn id="35" dur="1" fill="hold">
                                          <p:stCondLst>
                                            <p:cond delay="0"/>
                                          </p:stCondLst>
                                        </p:cTn>
                                        <p:tgtEl>
                                          <p:spTgt spid="61"/>
                                        </p:tgtEl>
                                        <p:attrNameLst>
                                          <p:attrName>style.visibility</p:attrName>
                                        </p:attrNameLst>
                                      </p:cBhvr>
                                      <p:to>
                                        <p:strVal val="visible"/>
                                      </p:to>
                                    </p:set>
                                    <p:animEffect transition="in" filter="fade">
                                      <p:cBhvr>
                                        <p:cTn id="36" dur="500"/>
                                        <p:tgtEl>
                                          <p:spTgt spid="61"/>
                                        </p:tgtEl>
                                      </p:cBhvr>
                                    </p:animEffect>
                                    <p:anim calcmode="lin" valueType="num">
                                      <p:cBhvr>
                                        <p:cTn id="37" dur="500" fill="hold"/>
                                        <p:tgtEl>
                                          <p:spTgt spid="61"/>
                                        </p:tgtEl>
                                        <p:attrNameLst>
                                          <p:attrName>ppt_x</p:attrName>
                                        </p:attrNameLst>
                                      </p:cBhvr>
                                      <p:tavLst>
                                        <p:tav tm="0">
                                          <p:val>
                                            <p:strVal val="#ppt_x"/>
                                          </p:val>
                                        </p:tav>
                                        <p:tav tm="100000">
                                          <p:val>
                                            <p:strVal val="#ppt_x"/>
                                          </p:val>
                                        </p:tav>
                                      </p:tavLst>
                                    </p:anim>
                                    <p:anim calcmode="lin" valueType="num">
                                      <p:cBhvr>
                                        <p:cTn id="38" dur="500" fill="hold"/>
                                        <p:tgtEl>
                                          <p:spTgt spid="61"/>
                                        </p:tgtEl>
                                        <p:attrNameLst>
                                          <p:attrName>ppt_y</p:attrName>
                                        </p:attrNameLst>
                                      </p:cBhvr>
                                      <p:tavLst>
                                        <p:tav tm="0">
                                          <p:val>
                                            <p:strVal val="#ppt_y+.1"/>
                                          </p:val>
                                        </p:tav>
                                        <p:tav tm="100000">
                                          <p:val>
                                            <p:strVal val="#ppt_y"/>
                                          </p:val>
                                        </p:tav>
                                      </p:tavLst>
                                    </p:anim>
                                  </p:childTnLst>
                                </p:cTn>
                              </p:par>
                            </p:childTnLst>
                          </p:cTn>
                        </p:par>
                        <p:par>
                          <p:cTn id="39" fill="hold">
                            <p:stCondLst>
                              <p:cond delay="3000"/>
                            </p:stCondLst>
                            <p:childTnLst>
                              <p:par>
                                <p:cTn id="40" presetID="42" presetClass="entr" presetSubtype="0" fill="hold" nodeType="afterEffect">
                                  <p:stCondLst>
                                    <p:cond delay="0"/>
                                  </p:stCondLst>
                                  <p:childTnLst>
                                    <p:set>
                                      <p:cBhvr>
                                        <p:cTn id="41" dur="1" fill="hold">
                                          <p:stCondLst>
                                            <p:cond delay="0"/>
                                          </p:stCondLst>
                                        </p:cTn>
                                        <p:tgtEl>
                                          <p:spTgt spid="60"/>
                                        </p:tgtEl>
                                        <p:attrNameLst>
                                          <p:attrName>style.visibility</p:attrName>
                                        </p:attrNameLst>
                                      </p:cBhvr>
                                      <p:to>
                                        <p:strVal val="visible"/>
                                      </p:to>
                                    </p:set>
                                    <p:animEffect transition="in" filter="fade">
                                      <p:cBhvr>
                                        <p:cTn id="42" dur="500"/>
                                        <p:tgtEl>
                                          <p:spTgt spid="60"/>
                                        </p:tgtEl>
                                      </p:cBhvr>
                                    </p:animEffect>
                                    <p:anim calcmode="lin" valueType="num">
                                      <p:cBhvr>
                                        <p:cTn id="43" dur="500" fill="hold"/>
                                        <p:tgtEl>
                                          <p:spTgt spid="60"/>
                                        </p:tgtEl>
                                        <p:attrNameLst>
                                          <p:attrName>ppt_x</p:attrName>
                                        </p:attrNameLst>
                                      </p:cBhvr>
                                      <p:tavLst>
                                        <p:tav tm="0">
                                          <p:val>
                                            <p:strVal val="#ppt_x"/>
                                          </p:val>
                                        </p:tav>
                                        <p:tav tm="100000">
                                          <p:val>
                                            <p:strVal val="#ppt_x"/>
                                          </p:val>
                                        </p:tav>
                                      </p:tavLst>
                                    </p:anim>
                                    <p:anim calcmode="lin" valueType="num">
                                      <p:cBhvr>
                                        <p:cTn id="44" dur="500" fill="hold"/>
                                        <p:tgtEl>
                                          <p:spTgt spid="60"/>
                                        </p:tgtEl>
                                        <p:attrNameLst>
                                          <p:attrName>ppt_y</p:attrName>
                                        </p:attrNameLst>
                                      </p:cBhvr>
                                      <p:tavLst>
                                        <p:tav tm="0">
                                          <p:val>
                                            <p:strVal val="#ppt_y+.1"/>
                                          </p:val>
                                        </p:tav>
                                        <p:tav tm="100000">
                                          <p:val>
                                            <p:strVal val="#ppt_y"/>
                                          </p:val>
                                        </p:tav>
                                      </p:tavLst>
                                    </p:anim>
                                  </p:childTnLst>
                                </p:cTn>
                              </p:par>
                            </p:childTnLst>
                          </p:cTn>
                        </p:par>
                        <p:par>
                          <p:cTn id="45" fill="hold">
                            <p:stCondLst>
                              <p:cond delay="3500"/>
                            </p:stCondLst>
                            <p:childTnLst>
                              <p:par>
                                <p:cTn id="46" presetID="42" presetClass="entr" presetSubtype="0" fill="hold" nodeType="afterEffect">
                                  <p:stCondLst>
                                    <p:cond delay="0"/>
                                  </p:stCondLst>
                                  <p:childTnLst>
                                    <p:set>
                                      <p:cBhvr>
                                        <p:cTn id="47" dur="1" fill="hold">
                                          <p:stCondLst>
                                            <p:cond delay="0"/>
                                          </p:stCondLst>
                                        </p:cTn>
                                        <p:tgtEl>
                                          <p:spTgt spid="59"/>
                                        </p:tgtEl>
                                        <p:attrNameLst>
                                          <p:attrName>style.visibility</p:attrName>
                                        </p:attrNameLst>
                                      </p:cBhvr>
                                      <p:to>
                                        <p:strVal val="visible"/>
                                      </p:to>
                                    </p:set>
                                    <p:animEffect transition="in" filter="fade">
                                      <p:cBhvr>
                                        <p:cTn id="48" dur="500"/>
                                        <p:tgtEl>
                                          <p:spTgt spid="59"/>
                                        </p:tgtEl>
                                      </p:cBhvr>
                                    </p:animEffect>
                                    <p:anim calcmode="lin" valueType="num">
                                      <p:cBhvr>
                                        <p:cTn id="49" dur="500" fill="hold"/>
                                        <p:tgtEl>
                                          <p:spTgt spid="59"/>
                                        </p:tgtEl>
                                        <p:attrNameLst>
                                          <p:attrName>ppt_x</p:attrName>
                                        </p:attrNameLst>
                                      </p:cBhvr>
                                      <p:tavLst>
                                        <p:tav tm="0">
                                          <p:val>
                                            <p:strVal val="#ppt_x"/>
                                          </p:val>
                                        </p:tav>
                                        <p:tav tm="100000">
                                          <p:val>
                                            <p:strVal val="#ppt_x"/>
                                          </p:val>
                                        </p:tav>
                                      </p:tavLst>
                                    </p:anim>
                                    <p:anim calcmode="lin" valueType="num">
                                      <p:cBhvr>
                                        <p:cTn id="50" dur="500" fill="hold"/>
                                        <p:tgtEl>
                                          <p:spTgt spid="59"/>
                                        </p:tgtEl>
                                        <p:attrNameLst>
                                          <p:attrName>ppt_y</p:attrName>
                                        </p:attrNameLst>
                                      </p:cBhvr>
                                      <p:tavLst>
                                        <p:tav tm="0">
                                          <p:val>
                                            <p:strVal val="#ppt_y+.1"/>
                                          </p:val>
                                        </p:tav>
                                        <p:tav tm="100000">
                                          <p:val>
                                            <p:strVal val="#ppt_y"/>
                                          </p:val>
                                        </p:tav>
                                      </p:tavLst>
                                    </p:anim>
                                  </p:childTnLst>
                                </p:cTn>
                              </p:par>
                            </p:childTnLst>
                          </p:cTn>
                        </p:par>
                        <p:par>
                          <p:cTn id="51" fill="hold">
                            <p:stCondLst>
                              <p:cond delay="4000"/>
                            </p:stCondLst>
                            <p:childTnLst>
                              <p:par>
                                <p:cTn id="52" presetID="42" presetClass="entr" presetSubtype="0" fill="hold" nodeType="afterEffect">
                                  <p:stCondLst>
                                    <p:cond delay="0"/>
                                  </p:stCondLst>
                                  <p:childTnLst>
                                    <p:set>
                                      <p:cBhvr>
                                        <p:cTn id="53" dur="1" fill="hold">
                                          <p:stCondLst>
                                            <p:cond delay="0"/>
                                          </p:stCondLst>
                                        </p:cTn>
                                        <p:tgtEl>
                                          <p:spTgt spid="58"/>
                                        </p:tgtEl>
                                        <p:attrNameLst>
                                          <p:attrName>style.visibility</p:attrName>
                                        </p:attrNameLst>
                                      </p:cBhvr>
                                      <p:to>
                                        <p:strVal val="visible"/>
                                      </p:to>
                                    </p:set>
                                    <p:animEffect transition="in" filter="fade">
                                      <p:cBhvr>
                                        <p:cTn id="54" dur="500"/>
                                        <p:tgtEl>
                                          <p:spTgt spid="58"/>
                                        </p:tgtEl>
                                      </p:cBhvr>
                                    </p:animEffect>
                                    <p:anim calcmode="lin" valueType="num">
                                      <p:cBhvr>
                                        <p:cTn id="55" dur="500" fill="hold"/>
                                        <p:tgtEl>
                                          <p:spTgt spid="58"/>
                                        </p:tgtEl>
                                        <p:attrNameLst>
                                          <p:attrName>ppt_x</p:attrName>
                                        </p:attrNameLst>
                                      </p:cBhvr>
                                      <p:tavLst>
                                        <p:tav tm="0">
                                          <p:val>
                                            <p:strVal val="#ppt_x"/>
                                          </p:val>
                                        </p:tav>
                                        <p:tav tm="100000">
                                          <p:val>
                                            <p:strVal val="#ppt_x"/>
                                          </p:val>
                                        </p:tav>
                                      </p:tavLst>
                                    </p:anim>
                                    <p:anim calcmode="lin" valueType="num">
                                      <p:cBhvr>
                                        <p:cTn id="56" dur="500" fill="hold"/>
                                        <p:tgtEl>
                                          <p:spTgt spid="58"/>
                                        </p:tgtEl>
                                        <p:attrNameLst>
                                          <p:attrName>ppt_y</p:attrName>
                                        </p:attrNameLst>
                                      </p:cBhvr>
                                      <p:tavLst>
                                        <p:tav tm="0">
                                          <p:val>
                                            <p:strVal val="#ppt_y+.1"/>
                                          </p:val>
                                        </p:tav>
                                        <p:tav tm="100000">
                                          <p:val>
                                            <p:strVal val="#ppt_y"/>
                                          </p:val>
                                        </p:tav>
                                      </p:tavLst>
                                    </p:anim>
                                  </p:childTnLst>
                                </p:cTn>
                              </p:par>
                            </p:childTnLst>
                          </p:cTn>
                        </p:par>
                        <p:par>
                          <p:cTn id="57" fill="hold">
                            <p:stCondLst>
                              <p:cond delay="4500"/>
                            </p:stCondLst>
                            <p:childTnLst>
                              <p:par>
                                <p:cTn id="58" presetID="42" presetClass="entr" presetSubtype="0" fill="hold" nodeType="afterEffect">
                                  <p:stCondLst>
                                    <p:cond delay="0"/>
                                  </p:stCondLst>
                                  <p:childTnLst>
                                    <p:set>
                                      <p:cBhvr>
                                        <p:cTn id="59" dur="1" fill="hold">
                                          <p:stCondLst>
                                            <p:cond delay="0"/>
                                          </p:stCondLst>
                                        </p:cTn>
                                        <p:tgtEl>
                                          <p:spTgt spid="57"/>
                                        </p:tgtEl>
                                        <p:attrNameLst>
                                          <p:attrName>style.visibility</p:attrName>
                                        </p:attrNameLst>
                                      </p:cBhvr>
                                      <p:to>
                                        <p:strVal val="visible"/>
                                      </p:to>
                                    </p:set>
                                    <p:animEffect transition="in" filter="fade">
                                      <p:cBhvr>
                                        <p:cTn id="60" dur="500"/>
                                        <p:tgtEl>
                                          <p:spTgt spid="57"/>
                                        </p:tgtEl>
                                      </p:cBhvr>
                                    </p:animEffect>
                                    <p:anim calcmode="lin" valueType="num">
                                      <p:cBhvr>
                                        <p:cTn id="61" dur="500" fill="hold"/>
                                        <p:tgtEl>
                                          <p:spTgt spid="57"/>
                                        </p:tgtEl>
                                        <p:attrNameLst>
                                          <p:attrName>ppt_x</p:attrName>
                                        </p:attrNameLst>
                                      </p:cBhvr>
                                      <p:tavLst>
                                        <p:tav tm="0">
                                          <p:val>
                                            <p:strVal val="#ppt_x"/>
                                          </p:val>
                                        </p:tav>
                                        <p:tav tm="100000">
                                          <p:val>
                                            <p:strVal val="#ppt_x"/>
                                          </p:val>
                                        </p:tav>
                                      </p:tavLst>
                                    </p:anim>
                                    <p:anim calcmode="lin" valueType="num">
                                      <p:cBhvr>
                                        <p:cTn id="62" dur="500" fill="hold"/>
                                        <p:tgtEl>
                                          <p:spTgt spid="57"/>
                                        </p:tgtEl>
                                        <p:attrNameLst>
                                          <p:attrName>ppt_y</p:attrName>
                                        </p:attrNameLst>
                                      </p:cBhvr>
                                      <p:tavLst>
                                        <p:tav tm="0">
                                          <p:val>
                                            <p:strVal val="#ppt_y+.1"/>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42" presetClass="entr" presetSubtype="0" fill="hold" grpId="0" nodeType="clickEffect">
                                  <p:stCondLst>
                                    <p:cond delay="0"/>
                                  </p:stCondLst>
                                  <p:childTnLst>
                                    <p:set>
                                      <p:cBhvr>
                                        <p:cTn id="66" dur="1" fill="hold">
                                          <p:stCondLst>
                                            <p:cond delay="0"/>
                                          </p:stCondLst>
                                        </p:cTn>
                                        <p:tgtEl>
                                          <p:spTgt spid="21"/>
                                        </p:tgtEl>
                                        <p:attrNameLst>
                                          <p:attrName>style.visibility</p:attrName>
                                        </p:attrNameLst>
                                      </p:cBhvr>
                                      <p:to>
                                        <p:strVal val="visible"/>
                                      </p:to>
                                    </p:set>
                                    <p:animEffect transition="in" filter="fade">
                                      <p:cBhvr>
                                        <p:cTn id="67" dur="1000"/>
                                        <p:tgtEl>
                                          <p:spTgt spid="21"/>
                                        </p:tgtEl>
                                      </p:cBhvr>
                                    </p:animEffect>
                                    <p:anim calcmode="lin" valueType="num">
                                      <p:cBhvr>
                                        <p:cTn id="68" dur="1000" fill="hold"/>
                                        <p:tgtEl>
                                          <p:spTgt spid="21"/>
                                        </p:tgtEl>
                                        <p:attrNameLst>
                                          <p:attrName>ppt_x</p:attrName>
                                        </p:attrNameLst>
                                      </p:cBhvr>
                                      <p:tavLst>
                                        <p:tav tm="0">
                                          <p:val>
                                            <p:strVal val="#ppt_x"/>
                                          </p:val>
                                        </p:tav>
                                        <p:tav tm="100000">
                                          <p:val>
                                            <p:strVal val="#ppt_x"/>
                                          </p:val>
                                        </p:tav>
                                      </p:tavLst>
                                    </p:anim>
                                    <p:anim calcmode="lin" valueType="num">
                                      <p:cBhvr>
                                        <p:cTn id="69" dur="1000" fill="hold"/>
                                        <p:tgtEl>
                                          <p:spTgt spid="21"/>
                                        </p:tgtEl>
                                        <p:attrNameLst>
                                          <p:attrName>ppt_y</p:attrName>
                                        </p:attrNameLst>
                                      </p:cBhvr>
                                      <p:tavLst>
                                        <p:tav tm="0">
                                          <p:val>
                                            <p:strVal val="#ppt_y+.1"/>
                                          </p:val>
                                        </p:tav>
                                        <p:tav tm="100000">
                                          <p:val>
                                            <p:strVal val="#ppt_y"/>
                                          </p:val>
                                        </p:tav>
                                      </p:tavLst>
                                    </p:anim>
                                  </p:childTnLst>
                                </p:cTn>
                              </p:par>
                              <p:par>
                                <p:cTn id="70" presetID="42" presetClass="entr" presetSubtype="0" fill="hold" nodeType="withEffect">
                                  <p:stCondLst>
                                    <p:cond delay="0"/>
                                  </p:stCondLst>
                                  <p:childTnLst>
                                    <p:set>
                                      <p:cBhvr>
                                        <p:cTn id="71" dur="1" fill="hold">
                                          <p:stCondLst>
                                            <p:cond delay="0"/>
                                          </p:stCondLst>
                                        </p:cTn>
                                        <p:tgtEl>
                                          <p:spTgt spid="93"/>
                                        </p:tgtEl>
                                        <p:attrNameLst>
                                          <p:attrName>style.visibility</p:attrName>
                                        </p:attrNameLst>
                                      </p:cBhvr>
                                      <p:to>
                                        <p:strVal val="visible"/>
                                      </p:to>
                                    </p:set>
                                    <p:animEffect transition="in" filter="fade">
                                      <p:cBhvr>
                                        <p:cTn id="72" dur="1000"/>
                                        <p:tgtEl>
                                          <p:spTgt spid="93"/>
                                        </p:tgtEl>
                                      </p:cBhvr>
                                    </p:animEffect>
                                    <p:anim calcmode="lin" valueType="num">
                                      <p:cBhvr>
                                        <p:cTn id="73" dur="1000" fill="hold"/>
                                        <p:tgtEl>
                                          <p:spTgt spid="93"/>
                                        </p:tgtEl>
                                        <p:attrNameLst>
                                          <p:attrName>ppt_x</p:attrName>
                                        </p:attrNameLst>
                                      </p:cBhvr>
                                      <p:tavLst>
                                        <p:tav tm="0">
                                          <p:val>
                                            <p:strVal val="#ppt_x"/>
                                          </p:val>
                                        </p:tav>
                                        <p:tav tm="100000">
                                          <p:val>
                                            <p:strVal val="#ppt_x"/>
                                          </p:val>
                                        </p:tav>
                                      </p:tavLst>
                                    </p:anim>
                                    <p:anim calcmode="lin" valueType="num">
                                      <p:cBhvr>
                                        <p:cTn id="74" dur="1000" fill="hold"/>
                                        <p:tgtEl>
                                          <p:spTgt spid="93"/>
                                        </p:tgtEl>
                                        <p:attrNameLst>
                                          <p:attrName>ppt_y</p:attrName>
                                        </p:attrNameLst>
                                      </p:cBhvr>
                                      <p:tavLst>
                                        <p:tav tm="0">
                                          <p:val>
                                            <p:strVal val="#ppt_y+.1"/>
                                          </p:val>
                                        </p:tav>
                                        <p:tav tm="100000">
                                          <p:val>
                                            <p:strVal val="#ppt_y"/>
                                          </p:val>
                                        </p:tav>
                                      </p:tavLst>
                                    </p:anim>
                                  </p:childTnLst>
                                </p:cTn>
                              </p:par>
                            </p:childTnLst>
                          </p:cTn>
                        </p:par>
                        <p:par>
                          <p:cTn id="75" fill="hold">
                            <p:stCondLst>
                              <p:cond delay="1000"/>
                            </p:stCondLst>
                            <p:childTnLst>
                              <p:par>
                                <p:cTn id="76" presetID="42" presetClass="entr" presetSubtype="0" fill="hold" nodeType="afterEffect">
                                  <p:stCondLst>
                                    <p:cond delay="0"/>
                                  </p:stCondLst>
                                  <p:childTnLst>
                                    <p:set>
                                      <p:cBhvr>
                                        <p:cTn id="77" dur="1" fill="hold">
                                          <p:stCondLst>
                                            <p:cond delay="0"/>
                                          </p:stCondLst>
                                        </p:cTn>
                                        <p:tgtEl>
                                          <p:spTgt spid="96"/>
                                        </p:tgtEl>
                                        <p:attrNameLst>
                                          <p:attrName>style.visibility</p:attrName>
                                        </p:attrNameLst>
                                      </p:cBhvr>
                                      <p:to>
                                        <p:strVal val="visible"/>
                                      </p:to>
                                    </p:set>
                                    <p:animEffect transition="in" filter="fade">
                                      <p:cBhvr>
                                        <p:cTn id="78" dur="1000"/>
                                        <p:tgtEl>
                                          <p:spTgt spid="96"/>
                                        </p:tgtEl>
                                      </p:cBhvr>
                                    </p:animEffect>
                                    <p:anim calcmode="lin" valueType="num">
                                      <p:cBhvr>
                                        <p:cTn id="79" dur="1000" fill="hold"/>
                                        <p:tgtEl>
                                          <p:spTgt spid="96"/>
                                        </p:tgtEl>
                                        <p:attrNameLst>
                                          <p:attrName>ppt_x</p:attrName>
                                        </p:attrNameLst>
                                      </p:cBhvr>
                                      <p:tavLst>
                                        <p:tav tm="0">
                                          <p:val>
                                            <p:strVal val="#ppt_x"/>
                                          </p:val>
                                        </p:tav>
                                        <p:tav tm="100000">
                                          <p:val>
                                            <p:strVal val="#ppt_x"/>
                                          </p:val>
                                        </p:tav>
                                      </p:tavLst>
                                    </p:anim>
                                    <p:anim calcmode="lin" valueType="num">
                                      <p:cBhvr>
                                        <p:cTn id="80" dur="1000" fill="hold"/>
                                        <p:tgtEl>
                                          <p:spTgt spid="96"/>
                                        </p:tgtEl>
                                        <p:attrNameLst>
                                          <p:attrName>ppt_y</p:attrName>
                                        </p:attrNameLst>
                                      </p:cBhvr>
                                      <p:tavLst>
                                        <p:tav tm="0">
                                          <p:val>
                                            <p:strVal val="#ppt_y+.1"/>
                                          </p:val>
                                        </p:tav>
                                        <p:tav tm="100000">
                                          <p:val>
                                            <p:strVal val="#ppt_y"/>
                                          </p:val>
                                        </p:tav>
                                      </p:tavLst>
                                    </p:anim>
                                  </p:childTnLst>
                                </p:cTn>
                              </p:par>
                            </p:childTnLst>
                          </p:cTn>
                        </p:par>
                        <p:par>
                          <p:cTn id="81" fill="hold">
                            <p:stCondLst>
                              <p:cond delay="2000"/>
                            </p:stCondLst>
                            <p:childTnLst>
                              <p:par>
                                <p:cTn id="82" presetID="42" presetClass="entr" presetSubtype="0" fill="hold" nodeType="afterEffect">
                                  <p:stCondLst>
                                    <p:cond delay="0"/>
                                  </p:stCondLst>
                                  <p:childTnLst>
                                    <p:set>
                                      <p:cBhvr>
                                        <p:cTn id="83" dur="1" fill="hold">
                                          <p:stCondLst>
                                            <p:cond delay="0"/>
                                          </p:stCondLst>
                                        </p:cTn>
                                        <p:tgtEl>
                                          <p:spTgt spid="99"/>
                                        </p:tgtEl>
                                        <p:attrNameLst>
                                          <p:attrName>style.visibility</p:attrName>
                                        </p:attrNameLst>
                                      </p:cBhvr>
                                      <p:to>
                                        <p:strVal val="visible"/>
                                      </p:to>
                                    </p:set>
                                    <p:animEffect transition="in" filter="fade">
                                      <p:cBhvr>
                                        <p:cTn id="84" dur="1000"/>
                                        <p:tgtEl>
                                          <p:spTgt spid="99"/>
                                        </p:tgtEl>
                                      </p:cBhvr>
                                    </p:animEffect>
                                    <p:anim calcmode="lin" valueType="num">
                                      <p:cBhvr>
                                        <p:cTn id="85" dur="1000" fill="hold"/>
                                        <p:tgtEl>
                                          <p:spTgt spid="99"/>
                                        </p:tgtEl>
                                        <p:attrNameLst>
                                          <p:attrName>ppt_x</p:attrName>
                                        </p:attrNameLst>
                                      </p:cBhvr>
                                      <p:tavLst>
                                        <p:tav tm="0">
                                          <p:val>
                                            <p:strVal val="#ppt_x"/>
                                          </p:val>
                                        </p:tav>
                                        <p:tav tm="100000">
                                          <p:val>
                                            <p:strVal val="#ppt_x"/>
                                          </p:val>
                                        </p:tav>
                                      </p:tavLst>
                                    </p:anim>
                                    <p:anim calcmode="lin" valueType="num">
                                      <p:cBhvr>
                                        <p:cTn id="86" dur="1000" fill="hold"/>
                                        <p:tgtEl>
                                          <p:spTgt spid="99"/>
                                        </p:tgtEl>
                                        <p:attrNameLst>
                                          <p:attrName>ppt_y</p:attrName>
                                        </p:attrNameLst>
                                      </p:cBhvr>
                                      <p:tavLst>
                                        <p:tav tm="0">
                                          <p:val>
                                            <p:strVal val="#ppt_y+.1"/>
                                          </p:val>
                                        </p:tav>
                                        <p:tav tm="100000">
                                          <p:val>
                                            <p:strVal val="#ppt_y"/>
                                          </p:val>
                                        </p:tav>
                                      </p:tavLst>
                                    </p:anim>
                                  </p:childTnLst>
                                </p:cTn>
                              </p:par>
                            </p:childTnLst>
                          </p:cTn>
                        </p:par>
                        <p:par>
                          <p:cTn id="87" fill="hold">
                            <p:stCondLst>
                              <p:cond delay="3000"/>
                            </p:stCondLst>
                            <p:childTnLst>
                              <p:par>
                                <p:cTn id="88" presetID="42" presetClass="entr" presetSubtype="0" fill="hold" nodeType="afterEffect">
                                  <p:stCondLst>
                                    <p:cond delay="0"/>
                                  </p:stCondLst>
                                  <p:childTnLst>
                                    <p:set>
                                      <p:cBhvr>
                                        <p:cTn id="89" dur="1" fill="hold">
                                          <p:stCondLst>
                                            <p:cond delay="0"/>
                                          </p:stCondLst>
                                        </p:cTn>
                                        <p:tgtEl>
                                          <p:spTgt spid="107"/>
                                        </p:tgtEl>
                                        <p:attrNameLst>
                                          <p:attrName>style.visibility</p:attrName>
                                        </p:attrNameLst>
                                      </p:cBhvr>
                                      <p:to>
                                        <p:strVal val="visible"/>
                                      </p:to>
                                    </p:set>
                                    <p:animEffect transition="in" filter="fade">
                                      <p:cBhvr>
                                        <p:cTn id="90" dur="1000"/>
                                        <p:tgtEl>
                                          <p:spTgt spid="107"/>
                                        </p:tgtEl>
                                      </p:cBhvr>
                                    </p:animEffect>
                                    <p:anim calcmode="lin" valueType="num">
                                      <p:cBhvr>
                                        <p:cTn id="91" dur="1000" fill="hold"/>
                                        <p:tgtEl>
                                          <p:spTgt spid="107"/>
                                        </p:tgtEl>
                                        <p:attrNameLst>
                                          <p:attrName>ppt_x</p:attrName>
                                        </p:attrNameLst>
                                      </p:cBhvr>
                                      <p:tavLst>
                                        <p:tav tm="0">
                                          <p:val>
                                            <p:strVal val="#ppt_x"/>
                                          </p:val>
                                        </p:tav>
                                        <p:tav tm="100000">
                                          <p:val>
                                            <p:strVal val="#ppt_x"/>
                                          </p:val>
                                        </p:tav>
                                      </p:tavLst>
                                    </p:anim>
                                    <p:anim calcmode="lin" valueType="num">
                                      <p:cBhvr>
                                        <p:cTn id="92" dur="1000" fill="hold"/>
                                        <p:tgtEl>
                                          <p:spTgt spid="10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0" grpId="0" animBg="1"/>
      <p:bldP spid="15" grpId="0"/>
      <p:bldP spid="21"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 name="Oval 90"/>
          <p:cNvSpPr>
            <a:spLocks noChangeArrowheads="1"/>
          </p:cNvSpPr>
          <p:nvPr/>
        </p:nvSpPr>
        <p:spPr bwMode="auto">
          <a:xfrm>
            <a:off x="611560" y="4941168"/>
            <a:ext cx="274320" cy="274320"/>
          </a:xfrm>
          <a:prstGeom prst="ellipse">
            <a:avLst/>
          </a:prstGeom>
          <a:gradFill rotWithShape="1">
            <a:gsLst>
              <a:gs pos="0">
                <a:schemeClr val="accent1">
                  <a:lumMod val="60000"/>
                  <a:lumOff val="40000"/>
                </a:schemeClr>
              </a:gs>
              <a:gs pos="100000">
                <a:schemeClr val="folHlink">
                  <a:gamma/>
                  <a:shade val="46275"/>
                  <a:invGamma/>
                </a:schemeClr>
              </a:gs>
            </a:gsLst>
            <a:path path="shape">
              <a:fillToRect l="50000" t="50000" r="50000" b="50000"/>
            </a:path>
          </a:gradFill>
          <a:ln w="9525" algn="ctr">
            <a:noFill/>
            <a:round/>
            <a:headEnd/>
            <a:tailEnd/>
          </a:ln>
          <a:effectLst/>
        </p:spPr>
        <p:txBody>
          <a:bodyPr wrap="none" anchor="ctr"/>
          <a:lstStyle/>
          <a:p>
            <a:pPr algn="ctr"/>
            <a:endParaRPr lang="en-US" sz="1100" b="1" dirty="0">
              <a:solidFill>
                <a:schemeClr val="bg1"/>
              </a:solidFill>
            </a:endParaRPr>
          </a:p>
        </p:txBody>
      </p:sp>
      <p:sp>
        <p:nvSpPr>
          <p:cNvPr id="71" name="Text Box 44"/>
          <p:cNvSpPr txBox="1">
            <a:spLocks noChangeArrowheads="1"/>
          </p:cNvSpPr>
          <p:nvPr/>
        </p:nvSpPr>
        <p:spPr bwMode="auto">
          <a:xfrm>
            <a:off x="7322478" y="1220502"/>
            <a:ext cx="1354449" cy="230832"/>
          </a:xfrm>
          <a:prstGeom prst="rect">
            <a:avLst/>
          </a:prstGeom>
          <a:noFill/>
          <a:ln w="9525" algn="ctr">
            <a:noFill/>
            <a:miter lim="800000"/>
            <a:headEnd/>
            <a:tailEnd/>
          </a:ln>
          <a:effectLst/>
        </p:spPr>
        <p:txBody>
          <a:bodyPr wrap="square">
            <a:spAutoFit/>
          </a:bodyPr>
          <a:lstStyle/>
          <a:p>
            <a:r>
              <a:rPr lang="es-ES" sz="900" b="1" i="1" dirty="0">
                <a:solidFill>
                  <a:srgbClr val="525252"/>
                </a:solidFill>
              </a:rPr>
              <a:t>Miles de Nuevos Soles</a:t>
            </a:r>
            <a:endParaRPr lang="en-US" sz="900" b="1" i="1" dirty="0">
              <a:solidFill>
                <a:srgbClr val="525252"/>
              </a:solidFill>
            </a:endParaRPr>
          </a:p>
        </p:txBody>
      </p:sp>
      <p:sp>
        <p:nvSpPr>
          <p:cNvPr id="79" name="AutoShape 59"/>
          <p:cNvSpPr>
            <a:spLocks noChangeArrowheads="1"/>
          </p:cNvSpPr>
          <p:nvPr/>
        </p:nvSpPr>
        <p:spPr bwMode="auto">
          <a:xfrm>
            <a:off x="4932040" y="1737492"/>
            <a:ext cx="1727384" cy="467372"/>
          </a:xfrm>
          <a:prstGeom prst="homePlate">
            <a:avLst>
              <a:gd name="adj" fmla="val 0"/>
            </a:avLst>
          </a:prstGeom>
          <a:solidFill>
            <a:srgbClr val="DB0613"/>
          </a:solidFill>
          <a:ln w="9525" algn="ctr">
            <a:solidFill>
              <a:srgbClr val="DDDDDD"/>
            </a:solidFill>
            <a:miter lim="800000"/>
            <a:headEnd/>
            <a:tailEnd/>
          </a:ln>
          <a:effectLst/>
        </p:spPr>
        <p:txBody>
          <a:bodyPr wrap="square" anchor="ctr"/>
          <a:lstStyle/>
          <a:p>
            <a:pPr algn="r"/>
            <a:r>
              <a:rPr lang="es-ES" sz="1100" b="1" i="1" dirty="0">
                <a:solidFill>
                  <a:schemeClr val="bg1"/>
                </a:solidFill>
              </a:rPr>
              <a:t>Identificación de Oportunidades de Inv.</a:t>
            </a:r>
            <a:endParaRPr lang="en-US" sz="1100" b="1" i="1" dirty="0">
              <a:solidFill>
                <a:schemeClr val="bg1"/>
              </a:solidFill>
            </a:endParaRPr>
          </a:p>
        </p:txBody>
      </p:sp>
      <p:sp>
        <p:nvSpPr>
          <p:cNvPr id="80" name="AutoShape 60"/>
          <p:cNvSpPr>
            <a:spLocks noChangeArrowheads="1"/>
          </p:cNvSpPr>
          <p:nvPr/>
        </p:nvSpPr>
        <p:spPr bwMode="auto">
          <a:xfrm>
            <a:off x="6733827" y="1772840"/>
            <a:ext cx="936625" cy="406380"/>
          </a:xfrm>
          <a:prstGeom prst="homePlate">
            <a:avLst>
              <a:gd name="adj" fmla="val 0"/>
            </a:avLst>
          </a:prstGeom>
          <a:noFill/>
          <a:ln w="9525" algn="ctr">
            <a:solidFill>
              <a:schemeClr val="bg2"/>
            </a:solidFill>
            <a:miter lim="800000"/>
            <a:headEnd/>
            <a:tailEnd/>
          </a:ln>
          <a:effectLst/>
        </p:spPr>
        <p:txBody>
          <a:bodyPr wrap="none" anchor="ctr"/>
          <a:lstStyle/>
          <a:p>
            <a:pPr algn="ctr"/>
            <a:r>
              <a:rPr lang="es-ES" sz="1400" b="1" dirty="0"/>
              <a:t>102</a:t>
            </a:r>
            <a:endParaRPr lang="en-US" sz="1400" b="1" dirty="0"/>
          </a:p>
        </p:txBody>
      </p:sp>
      <p:sp>
        <p:nvSpPr>
          <p:cNvPr id="81" name="AutoShape 61"/>
          <p:cNvSpPr>
            <a:spLocks noChangeArrowheads="1"/>
          </p:cNvSpPr>
          <p:nvPr/>
        </p:nvSpPr>
        <p:spPr bwMode="auto">
          <a:xfrm>
            <a:off x="7740302" y="1772840"/>
            <a:ext cx="936625" cy="406380"/>
          </a:xfrm>
          <a:prstGeom prst="homePlate">
            <a:avLst>
              <a:gd name="adj" fmla="val 0"/>
            </a:avLst>
          </a:prstGeom>
          <a:noFill/>
          <a:ln w="9525" algn="ctr">
            <a:solidFill>
              <a:schemeClr val="bg2"/>
            </a:solidFill>
            <a:miter lim="800000"/>
            <a:headEnd/>
            <a:tailEnd/>
          </a:ln>
          <a:effectLst/>
        </p:spPr>
        <p:txBody>
          <a:bodyPr wrap="none" anchor="ctr"/>
          <a:lstStyle/>
          <a:p>
            <a:pPr algn="ctr"/>
            <a:r>
              <a:rPr lang="es-ES" sz="1400" b="1" dirty="0"/>
              <a:t>2,204</a:t>
            </a:r>
            <a:endParaRPr lang="en-US" sz="1400" b="1" dirty="0"/>
          </a:p>
        </p:txBody>
      </p:sp>
      <p:sp>
        <p:nvSpPr>
          <p:cNvPr id="117" name="AutoShape 46"/>
          <p:cNvSpPr>
            <a:spLocks noChangeArrowheads="1"/>
          </p:cNvSpPr>
          <p:nvPr/>
        </p:nvSpPr>
        <p:spPr bwMode="auto">
          <a:xfrm>
            <a:off x="6732240" y="1476136"/>
            <a:ext cx="936625" cy="252000"/>
          </a:xfrm>
          <a:prstGeom prst="homePlate">
            <a:avLst>
              <a:gd name="adj" fmla="val 0"/>
            </a:avLst>
          </a:prstGeom>
          <a:solidFill>
            <a:srgbClr val="DB0613"/>
          </a:solidFill>
          <a:ln w="9525" algn="ctr">
            <a:noFill/>
            <a:miter lim="800000"/>
            <a:headEnd/>
            <a:tailEnd/>
          </a:ln>
          <a:effectLst/>
        </p:spPr>
        <p:txBody>
          <a:bodyPr wrap="none" anchor="ctr"/>
          <a:lstStyle/>
          <a:p>
            <a:pPr algn="ctr"/>
            <a:r>
              <a:rPr lang="es-ES" sz="1100" dirty="0">
                <a:solidFill>
                  <a:schemeClr val="bg1"/>
                </a:solidFill>
              </a:rPr>
              <a:t>PEA*</a:t>
            </a:r>
            <a:endParaRPr lang="en-US" sz="800" i="1" dirty="0">
              <a:solidFill>
                <a:schemeClr val="bg1"/>
              </a:solidFill>
            </a:endParaRPr>
          </a:p>
        </p:txBody>
      </p:sp>
      <p:sp>
        <p:nvSpPr>
          <p:cNvPr id="118" name="AutoShape 47"/>
          <p:cNvSpPr>
            <a:spLocks noChangeArrowheads="1"/>
          </p:cNvSpPr>
          <p:nvPr/>
        </p:nvSpPr>
        <p:spPr bwMode="auto">
          <a:xfrm>
            <a:off x="7740302" y="1476136"/>
            <a:ext cx="936625" cy="252000"/>
          </a:xfrm>
          <a:prstGeom prst="homePlate">
            <a:avLst>
              <a:gd name="adj" fmla="val 0"/>
            </a:avLst>
          </a:prstGeom>
          <a:solidFill>
            <a:srgbClr val="DB0613"/>
          </a:solidFill>
          <a:ln w="9525" algn="ctr">
            <a:noFill/>
            <a:miter lim="800000"/>
            <a:headEnd/>
            <a:tailEnd/>
          </a:ln>
          <a:effectLst/>
        </p:spPr>
        <p:txBody>
          <a:bodyPr wrap="none" anchor="ctr"/>
          <a:lstStyle/>
          <a:p>
            <a:pPr algn="ctr"/>
            <a:r>
              <a:rPr lang="es-ES" sz="1100" dirty="0">
                <a:solidFill>
                  <a:schemeClr val="bg1"/>
                </a:solidFill>
              </a:rPr>
              <a:t>PMA**</a:t>
            </a:r>
          </a:p>
        </p:txBody>
      </p:sp>
      <p:sp>
        <p:nvSpPr>
          <p:cNvPr id="122" name="TextBox 121"/>
          <p:cNvSpPr txBox="1"/>
          <p:nvPr/>
        </p:nvSpPr>
        <p:spPr>
          <a:xfrm>
            <a:off x="827584" y="4961852"/>
            <a:ext cx="864096" cy="261610"/>
          </a:xfrm>
          <a:prstGeom prst="rect">
            <a:avLst/>
          </a:prstGeom>
          <a:noFill/>
        </p:spPr>
        <p:txBody>
          <a:bodyPr wrap="square" rtlCol="0">
            <a:spAutoFit/>
          </a:bodyPr>
          <a:lstStyle/>
          <a:p>
            <a:r>
              <a:rPr lang="es-ES" sz="1050" dirty="0"/>
              <a:t>Subproceso</a:t>
            </a:r>
          </a:p>
        </p:txBody>
      </p:sp>
      <p:sp>
        <p:nvSpPr>
          <p:cNvPr id="123" name="TextBox 122"/>
          <p:cNvSpPr txBox="1"/>
          <p:nvPr/>
        </p:nvSpPr>
        <p:spPr>
          <a:xfrm>
            <a:off x="1908000" y="4961450"/>
            <a:ext cx="1042572" cy="261610"/>
          </a:xfrm>
          <a:prstGeom prst="rect">
            <a:avLst/>
          </a:prstGeom>
          <a:noFill/>
        </p:spPr>
        <p:txBody>
          <a:bodyPr wrap="square" rtlCol="0">
            <a:spAutoFit/>
          </a:bodyPr>
          <a:lstStyle/>
          <a:p>
            <a:r>
              <a:rPr lang="es-ES" sz="1050" dirty="0"/>
              <a:t>N° de Riesgos</a:t>
            </a:r>
          </a:p>
        </p:txBody>
      </p:sp>
      <p:sp>
        <p:nvSpPr>
          <p:cNvPr id="124" name="TextBox 123"/>
          <p:cNvSpPr txBox="1"/>
          <p:nvPr/>
        </p:nvSpPr>
        <p:spPr>
          <a:xfrm>
            <a:off x="3208942" y="4961450"/>
            <a:ext cx="1219042" cy="261610"/>
          </a:xfrm>
          <a:prstGeom prst="rect">
            <a:avLst/>
          </a:prstGeom>
          <a:noFill/>
        </p:spPr>
        <p:txBody>
          <a:bodyPr wrap="square" rtlCol="0">
            <a:spAutoFit/>
          </a:bodyPr>
          <a:lstStyle/>
          <a:p>
            <a:r>
              <a:rPr lang="es-ES" sz="1050" dirty="0"/>
              <a:t>N° de Controles</a:t>
            </a:r>
          </a:p>
        </p:txBody>
      </p:sp>
      <p:sp>
        <p:nvSpPr>
          <p:cNvPr id="139" name="AutoShape 92"/>
          <p:cNvSpPr>
            <a:spLocks noChangeArrowheads="1"/>
          </p:cNvSpPr>
          <p:nvPr/>
        </p:nvSpPr>
        <p:spPr bwMode="auto">
          <a:xfrm>
            <a:off x="3005856" y="4953060"/>
            <a:ext cx="270000" cy="270000"/>
          </a:xfrm>
          <a:prstGeom prst="diamond">
            <a:avLst/>
          </a:prstGeom>
          <a:solidFill>
            <a:srgbClr val="009644"/>
          </a:solidFill>
          <a:ln w="9525" algn="ctr">
            <a:noFill/>
            <a:miter lim="800000"/>
            <a:headEnd/>
            <a:tailEnd/>
          </a:ln>
          <a:effectLst/>
        </p:spPr>
        <p:txBody>
          <a:bodyPr wrap="none" anchor="ctr"/>
          <a:lstStyle/>
          <a:p>
            <a:pPr algn="ctr"/>
            <a:endParaRPr lang="en-US" sz="1000" b="1" dirty="0">
              <a:solidFill>
                <a:schemeClr val="bg1"/>
              </a:solidFill>
            </a:endParaRPr>
          </a:p>
        </p:txBody>
      </p:sp>
      <p:sp>
        <p:nvSpPr>
          <p:cNvPr id="140" name="Rounded Rectangle 139"/>
          <p:cNvSpPr/>
          <p:nvPr/>
        </p:nvSpPr>
        <p:spPr>
          <a:xfrm>
            <a:off x="1763688" y="4980638"/>
            <a:ext cx="216000" cy="216000"/>
          </a:xfrm>
          <a:prstGeom prst="roundRect">
            <a:avLst/>
          </a:prstGeom>
          <a:solidFill>
            <a:srgbClr val="F26D00"/>
          </a:solidFill>
          <a:ln w="9525" algn="ctr">
            <a:noFill/>
            <a:round/>
            <a:headEnd/>
            <a:tailEnd/>
          </a:ln>
          <a:effectLst/>
        </p:spPr>
        <p:txBody>
          <a:bodyPr wrap="none" anchor="ctr"/>
          <a:lstStyle/>
          <a:p>
            <a:pPr algn="ctr"/>
            <a:endParaRPr lang="es-ES" sz="1000" b="1" dirty="0">
              <a:solidFill>
                <a:schemeClr val="bg1"/>
              </a:solidFill>
            </a:endParaRPr>
          </a:p>
        </p:txBody>
      </p:sp>
      <p:sp>
        <p:nvSpPr>
          <p:cNvPr id="74" name="AutoShape 59"/>
          <p:cNvSpPr>
            <a:spLocks noChangeArrowheads="1"/>
          </p:cNvSpPr>
          <p:nvPr/>
        </p:nvSpPr>
        <p:spPr bwMode="auto">
          <a:xfrm>
            <a:off x="4932040" y="2236796"/>
            <a:ext cx="1727384" cy="467372"/>
          </a:xfrm>
          <a:prstGeom prst="homePlate">
            <a:avLst>
              <a:gd name="adj" fmla="val 0"/>
            </a:avLst>
          </a:prstGeom>
          <a:solidFill>
            <a:srgbClr val="DB0613"/>
          </a:solidFill>
          <a:ln w="9525" algn="ctr">
            <a:solidFill>
              <a:srgbClr val="DDDDDD"/>
            </a:solidFill>
            <a:miter lim="800000"/>
            <a:headEnd/>
            <a:tailEnd/>
          </a:ln>
          <a:effectLst/>
        </p:spPr>
        <p:txBody>
          <a:bodyPr wrap="square" anchor="ctr"/>
          <a:lstStyle/>
          <a:p>
            <a:pPr algn="r"/>
            <a:r>
              <a:rPr lang="es-ES" sz="1100" b="1" i="1" dirty="0">
                <a:solidFill>
                  <a:schemeClr val="bg1"/>
                </a:solidFill>
              </a:rPr>
              <a:t>Evaluación de</a:t>
            </a:r>
          </a:p>
          <a:p>
            <a:pPr algn="r"/>
            <a:r>
              <a:rPr lang="es-ES" sz="1100" b="1" i="1" dirty="0">
                <a:solidFill>
                  <a:schemeClr val="bg1"/>
                </a:solidFill>
              </a:rPr>
              <a:t>Oportunidades de Inv.</a:t>
            </a:r>
            <a:endParaRPr lang="en-US" sz="1100" b="1" i="1" dirty="0">
              <a:solidFill>
                <a:schemeClr val="bg1"/>
              </a:solidFill>
            </a:endParaRPr>
          </a:p>
        </p:txBody>
      </p:sp>
      <p:sp>
        <p:nvSpPr>
          <p:cNvPr id="75" name="AutoShape 60"/>
          <p:cNvSpPr>
            <a:spLocks noChangeArrowheads="1"/>
          </p:cNvSpPr>
          <p:nvPr/>
        </p:nvSpPr>
        <p:spPr bwMode="auto">
          <a:xfrm>
            <a:off x="6732240" y="2272120"/>
            <a:ext cx="936625" cy="406380"/>
          </a:xfrm>
          <a:prstGeom prst="homePlate">
            <a:avLst>
              <a:gd name="adj" fmla="val 0"/>
            </a:avLst>
          </a:prstGeom>
          <a:noFill/>
          <a:ln w="9525" algn="ctr">
            <a:solidFill>
              <a:schemeClr val="bg2"/>
            </a:solidFill>
            <a:miter lim="800000"/>
            <a:headEnd/>
            <a:tailEnd/>
          </a:ln>
          <a:effectLst/>
        </p:spPr>
        <p:txBody>
          <a:bodyPr wrap="none" anchor="ctr"/>
          <a:lstStyle/>
          <a:p>
            <a:pPr algn="ctr"/>
            <a:r>
              <a:rPr lang="es-ES" sz="1400" b="1" dirty="0"/>
              <a:t>0</a:t>
            </a:r>
            <a:endParaRPr lang="en-US" sz="1400" b="1" dirty="0"/>
          </a:p>
        </p:txBody>
      </p:sp>
      <p:sp>
        <p:nvSpPr>
          <p:cNvPr id="78" name="AutoShape 61"/>
          <p:cNvSpPr>
            <a:spLocks noChangeArrowheads="1"/>
          </p:cNvSpPr>
          <p:nvPr/>
        </p:nvSpPr>
        <p:spPr bwMode="auto">
          <a:xfrm>
            <a:off x="7738715" y="2272120"/>
            <a:ext cx="936625" cy="406380"/>
          </a:xfrm>
          <a:prstGeom prst="homePlate">
            <a:avLst>
              <a:gd name="adj" fmla="val 0"/>
            </a:avLst>
          </a:prstGeom>
          <a:noFill/>
          <a:ln w="9525" algn="ctr">
            <a:solidFill>
              <a:schemeClr val="bg2"/>
            </a:solidFill>
            <a:miter lim="800000"/>
            <a:headEnd/>
            <a:tailEnd/>
          </a:ln>
          <a:effectLst/>
        </p:spPr>
        <p:txBody>
          <a:bodyPr wrap="none" anchor="ctr"/>
          <a:lstStyle/>
          <a:p>
            <a:pPr algn="ctr"/>
            <a:r>
              <a:rPr lang="es-ES" sz="1400" b="1" dirty="0"/>
              <a:t>0</a:t>
            </a:r>
            <a:endParaRPr lang="en-US" sz="1400" b="1" dirty="0"/>
          </a:p>
        </p:txBody>
      </p:sp>
      <p:sp>
        <p:nvSpPr>
          <p:cNvPr id="82" name="AutoShape 59"/>
          <p:cNvSpPr>
            <a:spLocks noChangeArrowheads="1"/>
          </p:cNvSpPr>
          <p:nvPr/>
        </p:nvSpPr>
        <p:spPr bwMode="auto">
          <a:xfrm>
            <a:off x="4932040" y="2746745"/>
            <a:ext cx="1727384" cy="467372"/>
          </a:xfrm>
          <a:prstGeom prst="homePlate">
            <a:avLst>
              <a:gd name="adj" fmla="val 0"/>
            </a:avLst>
          </a:prstGeom>
          <a:solidFill>
            <a:srgbClr val="DB0613"/>
          </a:solidFill>
          <a:ln w="9525" algn="ctr">
            <a:solidFill>
              <a:srgbClr val="DDDDDD"/>
            </a:solidFill>
            <a:miter lim="800000"/>
            <a:headEnd/>
            <a:tailEnd/>
          </a:ln>
          <a:effectLst/>
        </p:spPr>
        <p:txBody>
          <a:bodyPr wrap="square" anchor="ctr"/>
          <a:lstStyle/>
          <a:p>
            <a:pPr algn="r"/>
            <a:r>
              <a:rPr lang="es-ES" sz="1100" b="1" i="1" dirty="0">
                <a:solidFill>
                  <a:schemeClr val="bg1"/>
                </a:solidFill>
              </a:rPr>
              <a:t>Ejecución de</a:t>
            </a:r>
          </a:p>
          <a:p>
            <a:pPr algn="r"/>
            <a:r>
              <a:rPr lang="es-ES" sz="1100" b="1" i="1" dirty="0">
                <a:solidFill>
                  <a:schemeClr val="bg1"/>
                </a:solidFill>
              </a:rPr>
              <a:t>Propuesta de Inv.</a:t>
            </a:r>
            <a:endParaRPr lang="en-US" sz="1100" b="1" i="1" dirty="0">
              <a:solidFill>
                <a:schemeClr val="bg1"/>
              </a:solidFill>
            </a:endParaRPr>
          </a:p>
        </p:txBody>
      </p:sp>
      <p:sp>
        <p:nvSpPr>
          <p:cNvPr id="83" name="AutoShape 59"/>
          <p:cNvSpPr>
            <a:spLocks noChangeArrowheads="1"/>
          </p:cNvSpPr>
          <p:nvPr/>
        </p:nvSpPr>
        <p:spPr bwMode="auto">
          <a:xfrm>
            <a:off x="4932040" y="3256409"/>
            <a:ext cx="1727384" cy="467372"/>
          </a:xfrm>
          <a:prstGeom prst="homePlate">
            <a:avLst>
              <a:gd name="adj" fmla="val 0"/>
            </a:avLst>
          </a:prstGeom>
          <a:solidFill>
            <a:srgbClr val="DB0613"/>
          </a:solidFill>
          <a:ln w="9525" algn="ctr">
            <a:solidFill>
              <a:srgbClr val="DDDDDD"/>
            </a:solidFill>
            <a:miter lim="800000"/>
            <a:headEnd/>
            <a:tailEnd/>
          </a:ln>
          <a:effectLst/>
        </p:spPr>
        <p:txBody>
          <a:bodyPr wrap="square" anchor="ctr"/>
          <a:lstStyle/>
          <a:p>
            <a:pPr algn="r"/>
            <a:r>
              <a:rPr lang="es-ES" sz="1100" b="1" i="1" dirty="0">
                <a:solidFill>
                  <a:schemeClr val="bg1"/>
                </a:solidFill>
              </a:rPr>
              <a:t>Ingreso y Registro de Operaciones de Inv.</a:t>
            </a:r>
            <a:endParaRPr lang="en-US" sz="1100" b="1" i="1" dirty="0">
              <a:solidFill>
                <a:schemeClr val="bg1"/>
              </a:solidFill>
            </a:endParaRPr>
          </a:p>
        </p:txBody>
      </p:sp>
      <p:sp>
        <p:nvSpPr>
          <p:cNvPr id="84" name="AutoShape 59"/>
          <p:cNvSpPr>
            <a:spLocks noChangeArrowheads="1"/>
          </p:cNvSpPr>
          <p:nvPr/>
        </p:nvSpPr>
        <p:spPr bwMode="auto">
          <a:xfrm>
            <a:off x="4932040" y="3764657"/>
            <a:ext cx="1727384" cy="467372"/>
          </a:xfrm>
          <a:prstGeom prst="homePlate">
            <a:avLst>
              <a:gd name="adj" fmla="val 0"/>
            </a:avLst>
          </a:prstGeom>
          <a:solidFill>
            <a:srgbClr val="DB0613"/>
          </a:solidFill>
          <a:ln w="9525" algn="ctr">
            <a:solidFill>
              <a:srgbClr val="DDDDDD"/>
            </a:solidFill>
            <a:miter lim="800000"/>
            <a:headEnd/>
            <a:tailEnd/>
          </a:ln>
          <a:effectLst/>
        </p:spPr>
        <p:txBody>
          <a:bodyPr wrap="square" anchor="ctr"/>
          <a:lstStyle/>
          <a:p>
            <a:pPr algn="r"/>
            <a:r>
              <a:rPr lang="es-ES" sz="1100" b="1" i="1" dirty="0">
                <a:solidFill>
                  <a:schemeClr val="bg1"/>
                </a:solidFill>
              </a:rPr>
              <a:t>Operaciones de</a:t>
            </a:r>
          </a:p>
          <a:p>
            <a:pPr algn="r"/>
            <a:r>
              <a:rPr lang="es-ES" sz="1100" b="1" i="1" dirty="0">
                <a:solidFill>
                  <a:schemeClr val="bg1"/>
                </a:solidFill>
              </a:rPr>
              <a:t>Money Market</a:t>
            </a:r>
            <a:endParaRPr lang="en-US" sz="1100" b="1" i="1" dirty="0">
              <a:solidFill>
                <a:schemeClr val="bg1"/>
              </a:solidFill>
            </a:endParaRPr>
          </a:p>
        </p:txBody>
      </p:sp>
      <p:sp>
        <p:nvSpPr>
          <p:cNvPr id="85" name="AutoShape 60"/>
          <p:cNvSpPr>
            <a:spLocks noChangeArrowheads="1"/>
          </p:cNvSpPr>
          <p:nvPr/>
        </p:nvSpPr>
        <p:spPr bwMode="auto">
          <a:xfrm>
            <a:off x="6732240" y="2782069"/>
            <a:ext cx="936625" cy="406380"/>
          </a:xfrm>
          <a:prstGeom prst="homePlate">
            <a:avLst>
              <a:gd name="adj" fmla="val 0"/>
            </a:avLst>
          </a:prstGeom>
          <a:noFill/>
          <a:ln w="9525" algn="ctr">
            <a:solidFill>
              <a:schemeClr val="bg2"/>
            </a:solidFill>
            <a:miter lim="800000"/>
            <a:headEnd/>
            <a:tailEnd/>
          </a:ln>
          <a:effectLst/>
        </p:spPr>
        <p:txBody>
          <a:bodyPr wrap="none" anchor="ctr"/>
          <a:lstStyle/>
          <a:p>
            <a:pPr algn="ctr"/>
            <a:r>
              <a:rPr lang="es-ES" sz="1400" b="1" dirty="0"/>
              <a:t>3,879</a:t>
            </a:r>
            <a:endParaRPr lang="en-US" sz="1400" b="1" dirty="0"/>
          </a:p>
        </p:txBody>
      </p:sp>
      <p:sp>
        <p:nvSpPr>
          <p:cNvPr id="86" name="AutoShape 61"/>
          <p:cNvSpPr>
            <a:spLocks noChangeArrowheads="1"/>
          </p:cNvSpPr>
          <p:nvPr/>
        </p:nvSpPr>
        <p:spPr bwMode="auto">
          <a:xfrm>
            <a:off x="7738715" y="2782069"/>
            <a:ext cx="936625" cy="406380"/>
          </a:xfrm>
          <a:prstGeom prst="homePlate">
            <a:avLst>
              <a:gd name="adj" fmla="val 0"/>
            </a:avLst>
          </a:prstGeom>
          <a:noFill/>
          <a:ln w="9525" algn="ctr">
            <a:solidFill>
              <a:schemeClr val="bg2"/>
            </a:solidFill>
            <a:miter lim="800000"/>
            <a:headEnd/>
            <a:tailEnd/>
          </a:ln>
          <a:effectLst/>
        </p:spPr>
        <p:txBody>
          <a:bodyPr wrap="none" anchor="ctr"/>
          <a:lstStyle/>
          <a:p>
            <a:pPr algn="ctr"/>
            <a:r>
              <a:rPr lang="es-ES" sz="1400" b="1" dirty="0"/>
              <a:t>18,326</a:t>
            </a:r>
            <a:endParaRPr lang="en-US" sz="1400" b="1" dirty="0"/>
          </a:p>
        </p:txBody>
      </p:sp>
      <p:sp>
        <p:nvSpPr>
          <p:cNvPr id="87" name="AutoShape 60"/>
          <p:cNvSpPr>
            <a:spLocks noChangeArrowheads="1"/>
          </p:cNvSpPr>
          <p:nvPr/>
        </p:nvSpPr>
        <p:spPr bwMode="auto">
          <a:xfrm>
            <a:off x="6732240" y="3282077"/>
            <a:ext cx="936625" cy="406380"/>
          </a:xfrm>
          <a:prstGeom prst="homePlate">
            <a:avLst>
              <a:gd name="adj" fmla="val 0"/>
            </a:avLst>
          </a:prstGeom>
          <a:noFill/>
          <a:ln w="9525" algn="ctr">
            <a:solidFill>
              <a:schemeClr val="bg2"/>
            </a:solidFill>
            <a:miter lim="800000"/>
            <a:headEnd/>
            <a:tailEnd/>
          </a:ln>
          <a:effectLst/>
        </p:spPr>
        <p:txBody>
          <a:bodyPr wrap="none" anchor="ctr"/>
          <a:lstStyle/>
          <a:p>
            <a:pPr algn="ctr"/>
            <a:r>
              <a:rPr lang="es-ES" sz="1400" b="1" dirty="0"/>
              <a:t>145</a:t>
            </a:r>
            <a:endParaRPr lang="en-US" sz="1400" b="1" dirty="0"/>
          </a:p>
        </p:txBody>
      </p:sp>
      <p:sp>
        <p:nvSpPr>
          <p:cNvPr id="88" name="AutoShape 61"/>
          <p:cNvSpPr>
            <a:spLocks noChangeArrowheads="1"/>
          </p:cNvSpPr>
          <p:nvPr/>
        </p:nvSpPr>
        <p:spPr bwMode="auto">
          <a:xfrm>
            <a:off x="7738715" y="3282077"/>
            <a:ext cx="936625" cy="406380"/>
          </a:xfrm>
          <a:prstGeom prst="homePlate">
            <a:avLst>
              <a:gd name="adj" fmla="val 0"/>
            </a:avLst>
          </a:prstGeom>
          <a:noFill/>
          <a:ln w="9525" algn="ctr">
            <a:solidFill>
              <a:schemeClr val="bg2"/>
            </a:solidFill>
            <a:miter lim="800000"/>
            <a:headEnd/>
            <a:tailEnd/>
          </a:ln>
          <a:effectLst/>
        </p:spPr>
        <p:txBody>
          <a:bodyPr wrap="none" anchor="ctr"/>
          <a:lstStyle/>
          <a:p>
            <a:pPr algn="ctr"/>
            <a:r>
              <a:rPr lang="es-ES" sz="1400" b="1" dirty="0"/>
              <a:t>6,983</a:t>
            </a:r>
            <a:endParaRPr lang="en-US" sz="1400" b="1" dirty="0"/>
          </a:p>
        </p:txBody>
      </p:sp>
      <p:sp>
        <p:nvSpPr>
          <p:cNvPr id="89" name="AutoShape 60"/>
          <p:cNvSpPr>
            <a:spLocks noChangeArrowheads="1"/>
          </p:cNvSpPr>
          <p:nvPr/>
        </p:nvSpPr>
        <p:spPr bwMode="auto">
          <a:xfrm>
            <a:off x="6732240" y="3799981"/>
            <a:ext cx="936625" cy="406380"/>
          </a:xfrm>
          <a:prstGeom prst="homePlate">
            <a:avLst>
              <a:gd name="adj" fmla="val 0"/>
            </a:avLst>
          </a:prstGeom>
          <a:noFill/>
          <a:ln w="9525" algn="ctr">
            <a:solidFill>
              <a:schemeClr val="bg2"/>
            </a:solidFill>
            <a:miter lim="800000"/>
            <a:headEnd/>
            <a:tailEnd/>
          </a:ln>
          <a:effectLst/>
        </p:spPr>
        <p:txBody>
          <a:bodyPr wrap="none" anchor="ctr"/>
          <a:lstStyle/>
          <a:p>
            <a:pPr algn="ctr"/>
            <a:r>
              <a:rPr lang="es-ES" sz="1400" b="1" dirty="0"/>
              <a:t>41</a:t>
            </a:r>
            <a:endParaRPr lang="en-US" sz="1400" b="1" dirty="0"/>
          </a:p>
        </p:txBody>
      </p:sp>
      <p:sp>
        <p:nvSpPr>
          <p:cNvPr id="90" name="AutoShape 61"/>
          <p:cNvSpPr>
            <a:spLocks noChangeArrowheads="1"/>
          </p:cNvSpPr>
          <p:nvPr/>
        </p:nvSpPr>
        <p:spPr bwMode="auto">
          <a:xfrm>
            <a:off x="7738715" y="3799981"/>
            <a:ext cx="936625" cy="406380"/>
          </a:xfrm>
          <a:prstGeom prst="homePlate">
            <a:avLst>
              <a:gd name="adj" fmla="val 0"/>
            </a:avLst>
          </a:prstGeom>
          <a:noFill/>
          <a:ln w="9525" algn="ctr">
            <a:solidFill>
              <a:schemeClr val="bg2"/>
            </a:solidFill>
            <a:miter lim="800000"/>
            <a:headEnd/>
            <a:tailEnd/>
          </a:ln>
          <a:effectLst/>
        </p:spPr>
        <p:txBody>
          <a:bodyPr wrap="none" anchor="ctr"/>
          <a:lstStyle/>
          <a:p>
            <a:pPr algn="ctr"/>
            <a:r>
              <a:rPr lang="es-ES" sz="1400" b="1" dirty="0"/>
              <a:t>352</a:t>
            </a:r>
            <a:endParaRPr lang="en-US" sz="1400" b="1" dirty="0"/>
          </a:p>
        </p:txBody>
      </p:sp>
      <p:sp>
        <p:nvSpPr>
          <p:cNvPr id="91" name="AutoShape 59"/>
          <p:cNvSpPr>
            <a:spLocks noChangeArrowheads="1"/>
          </p:cNvSpPr>
          <p:nvPr/>
        </p:nvSpPr>
        <p:spPr bwMode="auto">
          <a:xfrm>
            <a:off x="4932040" y="4263105"/>
            <a:ext cx="1727384" cy="467372"/>
          </a:xfrm>
          <a:prstGeom prst="homePlate">
            <a:avLst>
              <a:gd name="adj" fmla="val 0"/>
            </a:avLst>
          </a:prstGeom>
          <a:solidFill>
            <a:srgbClr val="DB0613"/>
          </a:solidFill>
          <a:ln w="9525" algn="ctr">
            <a:solidFill>
              <a:srgbClr val="DDDDDD"/>
            </a:solidFill>
            <a:miter lim="800000"/>
            <a:headEnd/>
            <a:tailEnd/>
          </a:ln>
          <a:effectLst/>
        </p:spPr>
        <p:txBody>
          <a:bodyPr wrap="square" anchor="ctr"/>
          <a:lstStyle/>
          <a:p>
            <a:pPr algn="r"/>
            <a:r>
              <a:rPr lang="es-ES" sz="1100" b="1" dirty="0">
                <a:solidFill>
                  <a:schemeClr val="bg1"/>
                </a:solidFill>
              </a:rPr>
              <a:t>Totales Agregados</a:t>
            </a:r>
            <a:endParaRPr lang="en-US" sz="1100" b="1" dirty="0">
              <a:solidFill>
                <a:schemeClr val="bg1"/>
              </a:solidFill>
            </a:endParaRPr>
          </a:p>
        </p:txBody>
      </p:sp>
      <p:sp>
        <p:nvSpPr>
          <p:cNvPr id="96" name="AutoShape 60"/>
          <p:cNvSpPr>
            <a:spLocks noChangeArrowheads="1"/>
          </p:cNvSpPr>
          <p:nvPr/>
        </p:nvSpPr>
        <p:spPr bwMode="auto">
          <a:xfrm>
            <a:off x="6732240" y="4288773"/>
            <a:ext cx="936625" cy="406380"/>
          </a:xfrm>
          <a:prstGeom prst="homePlate">
            <a:avLst>
              <a:gd name="adj" fmla="val 0"/>
            </a:avLst>
          </a:prstGeom>
          <a:noFill/>
          <a:ln w="9525" algn="ctr">
            <a:solidFill>
              <a:schemeClr val="bg2"/>
            </a:solidFill>
            <a:miter lim="800000"/>
            <a:headEnd/>
            <a:tailEnd/>
          </a:ln>
          <a:effectLst/>
        </p:spPr>
        <p:txBody>
          <a:bodyPr wrap="none" anchor="ctr"/>
          <a:lstStyle/>
          <a:p>
            <a:pPr algn="ctr"/>
            <a:r>
              <a:rPr lang="es-ES" sz="1400" b="1" dirty="0"/>
              <a:t>4,168</a:t>
            </a:r>
            <a:endParaRPr lang="en-US" sz="1400" b="1" dirty="0"/>
          </a:p>
        </p:txBody>
      </p:sp>
      <p:sp>
        <p:nvSpPr>
          <p:cNvPr id="97" name="AutoShape 61"/>
          <p:cNvSpPr>
            <a:spLocks noChangeArrowheads="1"/>
          </p:cNvSpPr>
          <p:nvPr/>
        </p:nvSpPr>
        <p:spPr bwMode="auto">
          <a:xfrm>
            <a:off x="7738715" y="4288773"/>
            <a:ext cx="936625" cy="406380"/>
          </a:xfrm>
          <a:prstGeom prst="homePlate">
            <a:avLst>
              <a:gd name="adj" fmla="val 0"/>
            </a:avLst>
          </a:prstGeom>
          <a:noFill/>
          <a:ln w="9525" algn="ctr">
            <a:solidFill>
              <a:schemeClr val="bg2"/>
            </a:solidFill>
            <a:miter lim="800000"/>
            <a:headEnd/>
            <a:tailEnd/>
          </a:ln>
          <a:effectLst/>
        </p:spPr>
        <p:txBody>
          <a:bodyPr wrap="none" anchor="ctr"/>
          <a:lstStyle/>
          <a:p>
            <a:pPr algn="ctr"/>
            <a:r>
              <a:rPr lang="en-US" sz="1400" b="1" dirty="0"/>
              <a:t>27,865</a:t>
            </a:r>
          </a:p>
        </p:txBody>
      </p:sp>
      <p:sp>
        <p:nvSpPr>
          <p:cNvPr id="93" name="Action Button: Forward or Next 92">
            <a:hlinkClick r:id="rId2" action="ppaction://hlinksldjump" highlightClick="1"/>
          </p:cNvPr>
          <p:cNvSpPr/>
          <p:nvPr/>
        </p:nvSpPr>
        <p:spPr>
          <a:xfrm>
            <a:off x="8748464" y="3931171"/>
            <a:ext cx="144000" cy="144000"/>
          </a:xfrm>
          <a:prstGeom prst="actionButtonForwardNext">
            <a:avLst/>
          </a:prstGeom>
          <a:solidFill>
            <a:schemeClr val="bg1">
              <a:lumMod val="7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p>
        </p:txBody>
      </p:sp>
      <p:pic>
        <p:nvPicPr>
          <p:cNvPr id="100" name="Picture 9"/>
          <p:cNvPicPr>
            <a:picLocks noChangeAspect="1" noChangeArrowheads="1"/>
          </p:cNvPicPr>
          <p:nvPr/>
        </p:nvPicPr>
        <p:blipFill>
          <a:blip r:embed="rId3" cstate="print"/>
          <a:srcRect/>
          <a:stretch>
            <a:fillRect/>
          </a:stretch>
        </p:blipFill>
        <p:spPr bwMode="auto">
          <a:xfrm>
            <a:off x="1235496" y="1451244"/>
            <a:ext cx="3043238" cy="3044825"/>
          </a:xfrm>
          <a:prstGeom prst="rect">
            <a:avLst/>
          </a:prstGeom>
          <a:noFill/>
          <a:ln w="9525" algn="ctr">
            <a:noFill/>
            <a:miter lim="800000"/>
            <a:headEnd/>
            <a:tailEnd/>
          </a:ln>
          <a:effectLst/>
        </p:spPr>
      </p:pic>
      <p:sp>
        <p:nvSpPr>
          <p:cNvPr id="101" name="Text Box 10"/>
          <p:cNvSpPr txBox="1">
            <a:spLocks noChangeArrowheads="1"/>
          </p:cNvSpPr>
          <p:nvPr/>
        </p:nvSpPr>
        <p:spPr bwMode="auto">
          <a:xfrm>
            <a:off x="744161" y="3573731"/>
            <a:ext cx="543739" cy="246221"/>
          </a:xfrm>
          <a:prstGeom prst="rect">
            <a:avLst/>
          </a:prstGeom>
          <a:noFill/>
          <a:ln w="9525" algn="ctr">
            <a:noFill/>
            <a:miter lim="800000"/>
            <a:headEnd/>
            <a:tailEnd/>
          </a:ln>
          <a:effectLst/>
        </p:spPr>
        <p:txBody>
          <a:bodyPr wrap="none">
            <a:spAutoFit/>
          </a:bodyPr>
          <a:lstStyle/>
          <a:p>
            <a:pPr algn="r"/>
            <a:r>
              <a:rPr lang="es-ES" sz="1000" dirty="0"/>
              <a:t>&lt;1,000</a:t>
            </a:r>
            <a:endParaRPr lang="en-US" sz="1000" dirty="0"/>
          </a:p>
        </p:txBody>
      </p:sp>
      <p:sp>
        <p:nvSpPr>
          <p:cNvPr id="102" name="Text Box 11"/>
          <p:cNvSpPr txBox="1">
            <a:spLocks noChangeArrowheads="1"/>
          </p:cNvSpPr>
          <p:nvPr/>
        </p:nvSpPr>
        <p:spPr bwMode="auto">
          <a:xfrm>
            <a:off x="678438" y="2827606"/>
            <a:ext cx="609462" cy="246221"/>
          </a:xfrm>
          <a:prstGeom prst="rect">
            <a:avLst/>
          </a:prstGeom>
          <a:noFill/>
          <a:ln w="9525" algn="ctr">
            <a:noFill/>
            <a:miter lim="800000"/>
            <a:headEnd/>
            <a:tailEnd/>
          </a:ln>
          <a:effectLst/>
        </p:spPr>
        <p:txBody>
          <a:bodyPr wrap="none">
            <a:spAutoFit/>
          </a:bodyPr>
          <a:lstStyle/>
          <a:p>
            <a:pPr algn="r"/>
            <a:r>
              <a:rPr lang="es-ES" sz="1000" dirty="0"/>
              <a:t>&lt;10,000</a:t>
            </a:r>
            <a:endParaRPr lang="en-US" sz="1000" dirty="0"/>
          </a:p>
        </p:txBody>
      </p:sp>
      <p:sp>
        <p:nvSpPr>
          <p:cNvPr id="103" name="Text Box 12"/>
          <p:cNvSpPr txBox="1">
            <a:spLocks noChangeArrowheads="1"/>
          </p:cNvSpPr>
          <p:nvPr/>
        </p:nvSpPr>
        <p:spPr bwMode="auto">
          <a:xfrm>
            <a:off x="678438" y="2073544"/>
            <a:ext cx="609462" cy="246221"/>
          </a:xfrm>
          <a:prstGeom prst="rect">
            <a:avLst/>
          </a:prstGeom>
          <a:noFill/>
          <a:ln w="9525" algn="ctr">
            <a:noFill/>
            <a:miter lim="800000"/>
            <a:headEnd/>
            <a:tailEnd/>
          </a:ln>
          <a:effectLst/>
        </p:spPr>
        <p:txBody>
          <a:bodyPr wrap="none">
            <a:spAutoFit/>
          </a:bodyPr>
          <a:lstStyle/>
          <a:p>
            <a:pPr algn="r"/>
            <a:r>
              <a:rPr lang="es-ES" sz="1000" dirty="0"/>
              <a:t>&lt;30,000</a:t>
            </a:r>
            <a:endParaRPr lang="en-US" sz="1000" dirty="0"/>
          </a:p>
        </p:txBody>
      </p:sp>
      <p:sp>
        <p:nvSpPr>
          <p:cNvPr id="104" name="Text Box 13"/>
          <p:cNvSpPr txBox="1">
            <a:spLocks noChangeArrowheads="1"/>
          </p:cNvSpPr>
          <p:nvPr/>
        </p:nvSpPr>
        <p:spPr bwMode="auto">
          <a:xfrm>
            <a:off x="1763688" y="4478923"/>
            <a:ext cx="543739" cy="246221"/>
          </a:xfrm>
          <a:prstGeom prst="rect">
            <a:avLst/>
          </a:prstGeom>
          <a:noFill/>
          <a:ln w="9525" algn="ctr">
            <a:noFill/>
            <a:miter lim="800000"/>
            <a:headEnd/>
            <a:tailEnd/>
          </a:ln>
          <a:effectLst/>
        </p:spPr>
        <p:txBody>
          <a:bodyPr wrap="none">
            <a:spAutoFit/>
          </a:bodyPr>
          <a:lstStyle/>
          <a:p>
            <a:r>
              <a:rPr lang="es-ES" sz="1000" dirty="0"/>
              <a:t>&lt;1,000</a:t>
            </a:r>
            <a:endParaRPr lang="en-US" sz="1000" dirty="0"/>
          </a:p>
        </p:txBody>
      </p:sp>
      <p:sp>
        <p:nvSpPr>
          <p:cNvPr id="105" name="Text Box 14"/>
          <p:cNvSpPr txBox="1">
            <a:spLocks noChangeArrowheads="1"/>
          </p:cNvSpPr>
          <p:nvPr/>
        </p:nvSpPr>
        <p:spPr bwMode="auto">
          <a:xfrm>
            <a:off x="2461046" y="4472256"/>
            <a:ext cx="543739" cy="246221"/>
          </a:xfrm>
          <a:prstGeom prst="rect">
            <a:avLst/>
          </a:prstGeom>
          <a:noFill/>
          <a:ln w="9525" algn="ctr">
            <a:noFill/>
            <a:miter lim="800000"/>
            <a:headEnd/>
            <a:tailEnd/>
          </a:ln>
          <a:effectLst/>
        </p:spPr>
        <p:txBody>
          <a:bodyPr wrap="none">
            <a:spAutoFit/>
          </a:bodyPr>
          <a:lstStyle/>
          <a:p>
            <a:r>
              <a:rPr lang="es-ES" sz="1000" dirty="0"/>
              <a:t>&lt;5,000</a:t>
            </a:r>
            <a:endParaRPr lang="en-US" sz="1000" dirty="0"/>
          </a:p>
        </p:txBody>
      </p:sp>
      <p:sp>
        <p:nvSpPr>
          <p:cNvPr id="106" name="Text Box 15"/>
          <p:cNvSpPr txBox="1">
            <a:spLocks noChangeArrowheads="1"/>
          </p:cNvSpPr>
          <p:nvPr/>
        </p:nvSpPr>
        <p:spPr bwMode="auto">
          <a:xfrm>
            <a:off x="3181771" y="4472256"/>
            <a:ext cx="609462" cy="246221"/>
          </a:xfrm>
          <a:prstGeom prst="rect">
            <a:avLst/>
          </a:prstGeom>
          <a:noFill/>
          <a:ln w="9525" algn="ctr">
            <a:noFill/>
            <a:miter lim="800000"/>
            <a:headEnd/>
            <a:tailEnd/>
          </a:ln>
          <a:effectLst/>
        </p:spPr>
        <p:txBody>
          <a:bodyPr wrap="none">
            <a:spAutoFit/>
          </a:bodyPr>
          <a:lstStyle/>
          <a:p>
            <a:r>
              <a:rPr lang="es-ES" sz="1000" dirty="0"/>
              <a:t>&lt;15,000</a:t>
            </a:r>
            <a:endParaRPr lang="en-US" sz="1000" dirty="0"/>
          </a:p>
        </p:txBody>
      </p:sp>
      <p:sp>
        <p:nvSpPr>
          <p:cNvPr id="107" name="AutoShape 16"/>
          <p:cNvSpPr>
            <a:spLocks noChangeArrowheads="1"/>
          </p:cNvSpPr>
          <p:nvPr/>
        </p:nvSpPr>
        <p:spPr bwMode="auto">
          <a:xfrm>
            <a:off x="198254" y="1425844"/>
            <a:ext cx="509822" cy="3097212"/>
          </a:xfrm>
          <a:prstGeom prst="homePlate">
            <a:avLst>
              <a:gd name="adj" fmla="val 32356"/>
            </a:avLst>
          </a:prstGeom>
          <a:solidFill>
            <a:schemeClr val="tx1">
              <a:lumMod val="10000"/>
              <a:lumOff val="90000"/>
            </a:schemeClr>
          </a:solidFill>
          <a:ln w="9525" algn="ctr">
            <a:noFill/>
            <a:miter lim="800000"/>
            <a:headEnd/>
            <a:tailEnd/>
          </a:ln>
          <a:effectLst>
            <a:prstShdw prst="shdw17" dist="17961" dir="2700000">
              <a:srgbClr val="ECECEC">
                <a:gamma/>
                <a:shade val="60000"/>
                <a:invGamma/>
              </a:srgbClr>
            </a:prstShdw>
          </a:effectLst>
        </p:spPr>
        <p:txBody>
          <a:bodyPr rot="10800000" vert="eaVert" anchor="ctr"/>
          <a:lstStyle/>
          <a:p>
            <a:pPr algn="ctr">
              <a:lnSpc>
                <a:spcPct val="90000"/>
              </a:lnSpc>
            </a:pPr>
            <a:r>
              <a:rPr lang="es-ES" sz="1100" b="1" dirty="0">
                <a:cs typeface="Arial" pitchFamily="34" charset="0"/>
              </a:rPr>
              <a:t>Exposición al Riesgo Operacional ***</a:t>
            </a:r>
          </a:p>
        </p:txBody>
      </p:sp>
      <p:sp>
        <p:nvSpPr>
          <p:cNvPr id="108" name="Oval 90"/>
          <p:cNvSpPr>
            <a:spLocks noChangeArrowheads="1"/>
          </p:cNvSpPr>
          <p:nvPr/>
        </p:nvSpPr>
        <p:spPr bwMode="auto">
          <a:xfrm>
            <a:off x="2555816" y="2120890"/>
            <a:ext cx="360000" cy="360000"/>
          </a:xfrm>
          <a:prstGeom prst="ellipse">
            <a:avLst/>
          </a:prstGeom>
          <a:gradFill rotWithShape="1">
            <a:gsLst>
              <a:gs pos="0">
                <a:schemeClr val="accent1">
                  <a:lumMod val="60000"/>
                  <a:lumOff val="40000"/>
                </a:schemeClr>
              </a:gs>
              <a:gs pos="100000">
                <a:schemeClr val="folHlink">
                  <a:gamma/>
                  <a:shade val="46275"/>
                  <a:invGamma/>
                </a:schemeClr>
              </a:gs>
            </a:gsLst>
            <a:path path="shape">
              <a:fillToRect l="50000" t="50000" r="50000" b="50000"/>
            </a:path>
          </a:gradFill>
          <a:ln w="9525" algn="ctr">
            <a:noFill/>
            <a:round/>
            <a:headEnd/>
            <a:tailEnd/>
          </a:ln>
          <a:effectLst/>
        </p:spPr>
        <p:txBody>
          <a:bodyPr wrap="none" anchor="ctr"/>
          <a:lstStyle/>
          <a:p>
            <a:pPr algn="ctr"/>
            <a:endParaRPr lang="en-US" sz="1100" b="1" dirty="0">
              <a:solidFill>
                <a:schemeClr val="bg1"/>
              </a:solidFill>
            </a:endParaRPr>
          </a:p>
        </p:txBody>
      </p:sp>
      <p:sp>
        <p:nvSpPr>
          <p:cNvPr id="109" name="Oval 90"/>
          <p:cNvSpPr>
            <a:spLocks noChangeArrowheads="1"/>
          </p:cNvSpPr>
          <p:nvPr/>
        </p:nvSpPr>
        <p:spPr bwMode="auto">
          <a:xfrm>
            <a:off x="1223120" y="3430746"/>
            <a:ext cx="274320" cy="274320"/>
          </a:xfrm>
          <a:prstGeom prst="ellipse">
            <a:avLst/>
          </a:prstGeom>
          <a:gradFill rotWithShape="1">
            <a:gsLst>
              <a:gs pos="0">
                <a:schemeClr val="accent1">
                  <a:lumMod val="60000"/>
                  <a:lumOff val="40000"/>
                </a:schemeClr>
              </a:gs>
              <a:gs pos="100000">
                <a:schemeClr val="folHlink">
                  <a:gamma/>
                  <a:shade val="46275"/>
                  <a:invGamma/>
                </a:schemeClr>
              </a:gs>
            </a:gsLst>
            <a:path path="shape">
              <a:fillToRect l="50000" t="50000" r="50000" b="50000"/>
            </a:path>
          </a:gradFill>
          <a:ln w="9525" algn="ctr">
            <a:noFill/>
            <a:round/>
            <a:headEnd/>
            <a:tailEnd/>
          </a:ln>
          <a:effectLst/>
        </p:spPr>
        <p:txBody>
          <a:bodyPr wrap="none" anchor="ctr"/>
          <a:lstStyle/>
          <a:p>
            <a:pPr algn="ctr"/>
            <a:r>
              <a:rPr lang="en-US" sz="1100" b="1" dirty="0">
                <a:solidFill>
                  <a:schemeClr val="bg1"/>
                </a:solidFill>
              </a:rPr>
              <a:t>A</a:t>
            </a:r>
          </a:p>
        </p:txBody>
      </p:sp>
      <p:sp>
        <p:nvSpPr>
          <p:cNvPr id="110" name="Oval 90"/>
          <p:cNvSpPr>
            <a:spLocks noChangeArrowheads="1"/>
          </p:cNvSpPr>
          <p:nvPr/>
        </p:nvSpPr>
        <p:spPr bwMode="auto">
          <a:xfrm>
            <a:off x="1129328" y="4366850"/>
            <a:ext cx="274320" cy="274320"/>
          </a:xfrm>
          <a:prstGeom prst="ellipse">
            <a:avLst/>
          </a:prstGeom>
          <a:gradFill rotWithShape="1">
            <a:gsLst>
              <a:gs pos="0">
                <a:schemeClr val="accent1">
                  <a:lumMod val="60000"/>
                  <a:lumOff val="40000"/>
                </a:schemeClr>
              </a:gs>
              <a:gs pos="100000">
                <a:schemeClr val="folHlink">
                  <a:gamma/>
                  <a:shade val="46275"/>
                  <a:invGamma/>
                </a:schemeClr>
              </a:gs>
            </a:gsLst>
            <a:path path="shape">
              <a:fillToRect l="50000" t="50000" r="50000" b="50000"/>
            </a:path>
          </a:gradFill>
          <a:ln w="9525" algn="ctr">
            <a:noFill/>
            <a:round/>
            <a:headEnd/>
            <a:tailEnd/>
          </a:ln>
          <a:effectLst/>
        </p:spPr>
        <p:txBody>
          <a:bodyPr wrap="none" anchor="ctr"/>
          <a:lstStyle/>
          <a:p>
            <a:pPr algn="ctr"/>
            <a:r>
              <a:rPr lang="en-US" sz="1100" b="1" dirty="0">
                <a:solidFill>
                  <a:schemeClr val="bg1"/>
                </a:solidFill>
              </a:rPr>
              <a:t>B</a:t>
            </a:r>
          </a:p>
        </p:txBody>
      </p:sp>
      <p:sp>
        <p:nvSpPr>
          <p:cNvPr id="111" name="Oval 90"/>
          <p:cNvSpPr>
            <a:spLocks noChangeArrowheads="1"/>
          </p:cNvSpPr>
          <p:nvPr/>
        </p:nvSpPr>
        <p:spPr bwMode="auto">
          <a:xfrm>
            <a:off x="2483768" y="2494642"/>
            <a:ext cx="274320" cy="274320"/>
          </a:xfrm>
          <a:prstGeom prst="ellipse">
            <a:avLst/>
          </a:prstGeom>
          <a:gradFill rotWithShape="1">
            <a:gsLst>
              <a:gs pos="0">
                <a:schemeClr val="accent1">
                  <a:lumMod val="60000"/>
                  <a:lumOff val="40000"/>
                </a:schemeClr>
              </a:gs>
              <a:gs pos="100000">
                <a:schemeClr val="folHlink">
                  <a:gamma/>
                  <a:shade val="46275"/>
                  <a:invGamma/>
                </a:schemeClr>
              </a:gs>
            </a:gsLst>
            <a:path path="shape">
              <a:fillToRect l="50000" t="50000" r="50000" b="50000"/>
            </a:path>
          </a:gradFill>
          <a:ln w="9525" algn="ctr">
            <a:noFill/>
            <a:round/>
            <a:headEnd/>
            <a:tailEnd/>
          </a:ln>
          <a:effectLst/>
        </p:spPr>
        <p:txBody>
          <a:bodyPr wrap="none" anchor="ctr"/>
          <a:lstStyle/>
          <a:p>
            <a:pPr algn="ctr"/>
            <a:r>
              <a:rPr lang="en-US" sz="1100" b="1" dirty="0">
                <a:solidFill>
                  <a:schemeClr val="bg1"/>
                </a:solidFill>
              </a:rPr>
              <a:t>C</a:t>
            </a:r>
          </a:p>
        </p:txBody>
      </p:sp>
      <p:sp>
        <p:nvSpPr>
          <p:cNvPr id="112" name="Oval 90"/>
          <p:cNvSpPr>
            <a:spLocks noChangeArrowheads="1"/>
          </p:cNvSpPr>
          <p:nvPr/>
        </p:nvSpPr>
        <p:spPr bwMode="auto">
          <a:xfrm>
            <a:off x="1223120" y="3214722"/>
            <a:ext cx="274320" cy="274320"/>
          </a:xfrm>
          <a:prstGeom prst="ellipse">
            <a:avLst/>
          </a:prstGeom>
          <a:gradFill rotWithShape="1">
            <a:gsLst>
              <a:gs pos="0">
                <a:schemeClr val="accent1">
                  <a:lumMod val="60000"/>
                  <a:lumOff val="40000"/>
                </a:schemeClr>
              </a:gs>
              <a:gs pos="100000">
                <a:schemeClr val="folHlink">
                  <a:gamma/>
                  <a:shade val="46275"/>
                  <a:invGamma/>
                </a:schemeClr>
              </a:gs>
            </a:gsLst>
            <a:path path="shape">
              <a:fillToRect l="50000" t="50000" r="50000" b="50000"/>
            </a:path>
          </a:gradFill>
          <a:ln w="9525" algn="ctr">
            <a:noFill/>
            <a:round/>
            <a:headEnd/>
            <a:tailEnd/>
          </a:ln>
          <a:effectLst/>
        </p:spPr>
        <p:txBody>
          <a:bodyPr wrap="none" anchor="ctr"/>
          <a:lstStyle/>
          <a:p>
            <a:pPr algn="ctr"/>
            <a:r>
              <a:rPr lang="en-US" sz="1100" b="1" dirty="0">
                <a:solidFill>
                  <a:schemeClr val="bg1"/>
                </a:solidFill>
              </a:rPr>
              <a:t>D</a:t>
            </a:r>
          </a:p>
        </p:txBody>
      </p:sp>
      <p:sp>
        <p:nvSpPr>
          <p:cNvPr id="113" name="Oval 90"/>
          <p:cNvSpPr>
            <a:spLocks noChangeArrowheads="1"/>
          </p:cNvSpPr>
          <p:nvPr/>
        </p:nvSpPr>
        <p:spPr bwMode="auto">
          <a:xfrm>
            <a:off x="1187624" y="4150826"/>
            <a:ext cx="274320" cy="274320"/>
          </a:xfrm>
          <a:prstGeom prst="ellipse">
            <a:avLst/>
          </a:prstGeom>
          <a:gradFill rotWithShape="1">
            <a:gsLst>
              <a:gs pos="0">
                <a:schemeClr val="accent1">
                  <a:lumMod val="60000"/>
                  <a:lumOff val="40000"/>
                </a:schemeClr>
              </a:gs>
              <a:gs pos="100000">
                <a:schemeClr val="folHlink">
                  <a:gamma/>
                  <a:shade val="46275"/>
                  <a:invGamma/>
                </a:schemeClr>
              </a:gs>
            </a:gsLst>
            <a:path path="shape">
              <a:fillToRect l="50000" t="50000" r="50000" b="50000"/>
            </a:path>
          </a:gradFill>
          <a:ln w="9525" algn="ctr">
            <a:noFill/>
            <a:round/>
            <a:headEnd/>
            <a:tailEnd/>
          </a:ln>
          <a:effectLst/>
        </p:spPr>
        <p:txBody>
          <a:bodyPr wrap="none" anchor="ctr"/>
          <a:lstStyle/>
          <a:p>
            <a:pPr algn="ctr"/>
            <a:r>
              <a:rPr lang="en-US" sz="1100" b="1" dirty="0">
                <a:solidFill>
                  <a:schemeClr val="bg1"/>
                </a:solidFill>
              </a:rPr>
              <a:t>E</a:t>
            </a:r>
          </a:p>
        </p:txBody>
      </p:sp>
      <p:sp>
        <p:nvSpPr>
          <p:cNvPr id="114" name="Text Box 34"/>
          <p:cNvSpPr txBox="1">
            <a:spLocks noChangeArrowheads="1"/>
          </p:cNvSpPr>
          <p:nvPr/>
        </p:nvSpPr>
        <p:spPr bwMode="auto">
          <a:xfrm>
            <a:off x="652504" y="1354406"/>
            <a:ext cx="823152" cy="369332"/>
          </a:xfrm>
          <a:prstGeom prst="rect">
            <a:avLst/>
          </a:prstGeom>
          <a:noFill/>
          <a:ln w="9525" algn="ctr">
            <a:noFill/>
            <a:miter lim="800000"/>
            <a:headEnd/>
            <a:tailEnd/>
          </a:ln>
          <a:effectLst/>
        </p:spPr>
        <p:txBody>
          <a:bodyPr wrap="square">
            <a:spAutoFit/>
          </a:bodyPr>
          <a:lstStyle/>
          <a:p>
            <a:r>
              <a:rPr lang="es-ES" sz="900" b="1" i="1" dirty="0"/>
              <a:t>PMA</a:t>
            </a:r>
          </a:p>
          <a:p>
            <a:r>
              <a:rPr lang="es-ES" sz="900" b="1" i="1" dirty="0"/>
              <a:t>(Miles)</a:t>
            </a:r>
            <a:endParaRPr lang="en-US" sz="900" b="1" i="1" dirty="0"/>
          </a:p>
        </p:txBody>
      </p:sp>
      <p:sp>
        <p:nvSpPr>
          <p:cNvPr id="115" name="Text Box 35"/>
          <p:cNvSpPr txBox="1">
            <a:spLocks noChangeArrowheads="1"/>
          </p:cNvSpPr>
          <p:nvPr/>
        </p:nvSpPr>
        <p:spPr bwMode="auto">
          <a:xfrm>
            <a:off x="3994491" y="4499828"/>
            <a:ext cx="937549" cy="369332"/>
          </a:xfrm>
          <a:prstGeom prst="rect">
            <a:avLst/>
          </a:prstGeom>
          <a:noFill/>
          <a:ln w="9525" algn="ctr">
            <a:noFill/>
            <a:miter lim="800000"/>
            <a:headEnd/>
            <a:tailEnd/>
          </a:ln>
          <a:effectLst/>
        </p:spPr>
        <p:txBody>
          <a:bodyPr wrap="square">
            <a:spAutoFit/>
          </a:bodyPr>
          <a:lstStyle/>
          <a:p>
            <a:r>
              <a:rPr lang="es-ES" sz="900" b="1" i="1" dirty="0"/>
              <a:t>PEA</a:t>
            </a:r>
          </a:p>
          <a:p>
            <a:r>
              <a:rPr lang="es-ES" sz="900" b="1" i="1" dirty="0"/>
              <a:t>(Miles)</a:t>
            </a:r>
            <a:endParaRPr lang="en-US" sz="900" b="1" i="1" dirty="0"/>
          </a:p>
        </p:txBody>
      </p:sp>
      <p:sp>
        <p:nvSpPr>
          <p:cNvPr id="145" name="Oval 90"/>
          <p:cNvSpPr>
            <a:spLocks noChangeArrowheads="1"/>
          </p:cNvSpPr>
          <p:nvPr/>
        </p:nvSpPr>
        <p:spPr bwMode="auto">
          <a:xfrm>
            <a:off x="5022505" y="1834018"/>
            <a:ext cx="274320" cy="274320"/>
          </a:xfrm>
          <a:prstGeom prst="ellipse">
            <a:avLst/>
          </a:prstGeom>
          <a:gradFill rotWithShape="1">
            <a:gsLst>
              <a:gs pos="0">
                <a:schemeClr val="accent1">
                  <a:lumMod val="60000"/>
                  <a:lumOff val="40000"/>
                </a:schemeClr>
              </a:gs>
              <a:gs pos="100000">
                <a:schemeClr val="folHlink">
                  <a:gamma/>
                  <a:shade val="46275"/>
                  <a:invGamma/>
                </a:schemeClr>
              </a:gs>
            </a:gsLst>
            <a:path path="shape">
              <a:fillToRect l="50000" t="50000" r="50000" b="50000"/>
            </a:path>
          </a:gradFill>
          <a:ln w="9525" algn="ctr">
            <a:noFill/>
            <a:round/>
            <a:headEnd/>
            <a:tailEnd/>
          </a:ln>
          <a:effectLst/>
        </p:spPr>
        <p:txBody>
          <a:bodyPr wrap="none" anchor="ctr"/>
          <a:lstStyle/>
          <a:p>
            <a:pPr algn="ctr"/>
            <a:r>
              <a:rPr lang="en-US" sz="1100" b="1" dirty="0">
                <a:solidFill>
                  <a:schemeClr val="bg1"/>
                </a:solidFill>
              </a:rPr>
              <a:t>A</a:t>
            </a:r>
          </a:p>
        </p:txBody>
      </p:sp>
      <p:sp>
        <p:nvSpPr>
          <p:cNvPr id="146" name="Oval 90"/>
          <p:cNvSpPr>
            <a:spLocks noChangeArrowheads="1"/>
          </p:cNvSpPr>
          <p:nvPr/>
        </p:nvSpPr>
        <p:spPr bwMode="auto">
          <a:xfrm>
            <a:off x="5022505" y="2333322"/>
            <a:ext cx="274320" cy="274320"/>
          </a:xfrm>
          <a:prstGeom prst="ellipse">
            <a:avLst/>
          </a:prstGeom>
          <a:gradFill rotWithShape="1">
            <a:gsLst>
              <a:gs pos="0">
                <a:schemeClr val="accent1">
                  <a:lumMod val="60000"/>
                  <a:lumOff val="40000"/>
                </a:schemeClr>
              </a:gs>
              <a:gs pos="100000">
                <a:schemeClr val="folHlink">
                  <a:gamma/>
                  <a:shade val="46275"/>
                  <a:invGamma/>
                </a:schemeClr>
              </a:gs>
            </a:gsLst>
            <a:path path="shape">
              <a:fillToRect l="50000" t="50000" r="50000" b="50000"/>
            </a:path>
          </a:gradFill>
          <a:ln w="9525" algn="ctr">
            <a:noFill/>
            <a:round/>
            <a:headEnd/>
            <a:tailEnd/>
          </a:ln>
          <a:effectLst/>
        </p:spPr>
        <p:txBody>
          <a:bodyPr wrap="none" anchor="ctr"/>
          <a:lstStyle/>
          <a:p>
            <a:pPr algn="ctr"/>
            <a:r>
              <a:rPr lang="en-US" sz="1100" b="1" dirty="0">
                <a:solidFill>
                  <a:schemeClr val="bg1"/>
                </a:solidFill>
              </a:rPr>
              <a:t>B</a:t>
            </a:r>
          </a:p>
        </p:txBody>
      </p:sp>
      <p:sp>
        <p:nvSpPr>
          <p:cNvPr id="147" name="Oval 90"/>
          <p:cNvSpPr>
            <a:spLocks noChangeArrowheads="1"/>
          </p:cNvSpPr>
          <p:nvPr/>
        </p:nvSpPr>
        <p:spPr bwMode="auto">
          <a:xfrm>
            <a:off x="5022505" y="2843271"/>
            <a:ext cx="274320" cy="274320"/>
          </a:xfrm>
          <a:prstGeom prst="ellipse">
            <a:avLst/>
          </a:prstGeom>
          <a:gradFill rotWithShape="1">
            <a:gsLst>
              <a:gs pos="0">
                <a:schemeClr val="accent1">
                  <a:lumMod val="60000"/>
                  <a:lumOff val="40000"/>
                </a:schemeClr>
              </a:gs>
              <a:gs pos="100000">
                <a:schemeClr val="folHlink">
                  <a:gamma/>
                  <a:shade val="46275"/>
                  <a:invGamma/>
                </a:schemeClr>
              </a:gs>
            </a:gsLst>
            <a:path path="shape">
              <a:fillToRect l="50000" t="50000" r="50000" b="50000"/>
            </a:path>
          </a:gradFill>
          <a:ln w="9525" algn="ctr">
            <a:noFill/>
            <a:round/>
            <a:headEnd/>
            <a:tailEnd/>
          </a:ln>
          <a:effectLst/>
        </p:spPr>
        <p:txBody>
          <a:bodyPr wrap="none" anchor="ctr"/>
          <a:lstStyle/>
          <a:p>
            <a:pPr algn="ctr"/>
            <a:r>
              <a:rPr lang="en-US" sz="1100" b="1" dirty="0">
                <a:solidFill>
                  <a:schemeClr val="bg1"/>
                </a:solidFill>
              </a:rPr>
              <a:t>C</a:t>
            </a:r>
          </a:p>
        </p:txBody>
      </p:sp>
      <p:sp>
        <p:nvSpPr>
          <p:cNvPr id="148" name="Oval 90"/>
          <p:cNvSpPr>
            <a:spLocks noChangeArrowheads="1"/>
          </p:cNvSpPr>
          <p:nvPr/>
        </p:nvSpPr>
        <p:spPr bwMode="auto">
          <a:xfrm>
            <a:off x="5022505" y="3352935"/>
            <a:ext cx="274320" cy="274320"/>
          </a:xfrm>
          <a:prstGeom prst="ellipse">
            <a:avLst/>
          </a:prstGeom>
          <a:gradFill rotWithShape="1">
            <a:gsLst>
              <a:gs pos="0">
                <a:schemeClr val="accent1">
                  <a:lumMod val="60000"/>
                  <a:lumOff val="40000"/>
                </a:schemeClr>
              </a:gs>
              <a:gs pos="100000">
                <a:schemeClr val="folHlink">
                  <a:gamma/>
                  <a:shade val="46275"/>
                  <a:invGamma/>
                </a:schemeClr>
              </a:gs>
            </a:gsLst>
            <a:path path="shape">
              <a:fillToRect l="50000" t="50000" r="50000" b="50000"/>
            </a:path>
          </a:gradFill>
          <a:ln w="9525" algn="ctr">
            <a:noFill/>
            <a:round/>
            <a:headEnd/>
            <a:tailEnd/>
          </a:ln>
          <a:effectLst/>
        </p:spPr>
        <p:txBody>
          <a:bodyPr wrap="none" anchor="ctr"/>
          <a:lstStyle/>
          <a:p>
            <a:pPr algn="ctr"/>
            <a:r>
              <a:rPr lang="en-US" sz="1100" b="1" dirty="0">
                <a:solidFill>
                  <a:schemeClr val="bg1"/>
                </a:solidFill>
              </a:rPr>
              <a:t>D</a:t>
            </a:r>
          </a:p>
        </p:txBody>
      </p:sp>
      <p:sp>
        <p:nvSpPr>
          <p:cNvPr id="149" name="Oval 90"/>
          <p:cNvSpPr>
            <a:spLocks noChangeArrowheads="1"/>
          </p:cNvSpPr>
          <p:nvPr/>
        </p:nvSpPr>
        <p:spPr bwMode="auto">
          <a:xfrm>
            <a:off x="5022505" y="3861183"/>
            <a:ext cx="274320" cy="274320"/>
          </a:xfrm>
          <a:prstGeom prst="ellipse">
            <a:avLst/>
          </a:prstGeom>
          <a:gradFill rotWithShape="1">
            <a:gsLst>
              <a:gs pos="0">
                <a:schemeClr val="accent1">
                  <a:lumMod val="60000"/>
                  <a:lumOff val="40000"/>
                </a:schemeClr>
              </a:gs>
              <a:gs pos="100000">
                <a:schemeClr val="folHlink">
                  <a:gamma/>
                  <a:shade val="46275"/>
                  <a:invGamma/>
                </a:schemeClr>
              </a:gs>
            </a:gsLst>
            <a:path path="shape">
              <a:fillToRect l="50000" t="50000" r="50000" b="50000"/>
            </a:path>
          </a:gradFill>
          <a:ln w="9525" algn="ctr">
            <a:noFill/>
            <a:round/>
            <a:headEnd/>
            <a:tailEnd/>
          </a:ln>
          <a:effectLst/>
        </p:spPr>
        <p:txBody>
          <a:bodyPr wrap="none" anchor="ctr"/>
          <a:lstStyle/>
          <a:p>
            <a:pPr algn="ctr"/>
            <a:r>
              <a:rPr lang="en-US" sz="1100" b="1" dirty="0">
                <a:solidFill>
                  <a:schemeClr val="bg1"/>
                </a:solidFill>
              </a:rPr>
              <a:t>E</a:t>
            </a:r>
          </a:p>
        </p:txBody>
      </p:sp>
      <p:sp>
        <p:nvSpPr>
          <p:cNvPr id="150" name="Oval 90"/>
          <p:cNvSpPr>
            <a:spLocks noChangeArrowheads="1"/>
          </p:cNvSpPr>
          <p:nvPr/>
        </p:nvSpPr>
        <p:spPr bwMode="auto">
          <a:xfrm>
            <a:off x="4979665" y="4316791"/>
            <a:ext cx="360000" cy="360000"/>
          </a:xfrm>
          <a:prstGeom prst="ellipse">
            <a:avLst/>
          </a:prstGeom>
          <a:gradFill rotWithShape="1">
            <a:gsLst>
              <a:gs pos="0">
                <a:schemeClr val="accent1">
                  <a:lumMod val="60000"/>
                  <a:lumOff val="40000"/>
                </a:schemeClr>
              </a:gs>
              <a:gs pos="100000">
                <a:schemeClr val="folHlink">
                  <a:gamma/>
                  <a:shade val="46275"/>
                  <a:invGamma/>
                </a:schemeClr>
              </a:gs>
            </a:gsLst>
            <a:path path="shape">
              <a:fillToRect l="50000" t="50000" r="50000" b="50000"/>
            </a:path>
          </a:gradFill>
          <a:ln w="9525" algn="ctr">
            <a:noFill/>
            <a:round/>
            <a:headEnd/>
            <a:tailEnd/>
          </a:ln>
          <a:effectLst/>
        </p:spPr>
        <p:txBody>
          <a:bodyPr wrap="none" anchor="ctr"/>
          <a:lstStyle/>
          <a:p>
            <a:pPr algn="ctr"/>
            <a:r>
              <a:rPr lang="en-US" sz="1100" b="1" dirty="0">
                <a:solidFill>
                  <a:schemeClr val="bg1"/>
                </a:solidFill>
              </a:rPr>
              <a:t>32</a:t>
            </a:r>
          </a:p>
        </p:txBody>
      </p:sp>
      <p:sp>
        <p:nvSpPr>
          <p:cNvPr id="64" name="Rectangle 29"/>
          <p:cNvSpPr txBox="1">
            <a:spLocks noChangeArrowheads="1"/>
          </p:cNvSpPr>
          <p:nvPr/>
        </p:nvSpPr>
        <p:spPr bwMode="gray">
          <a:xfrm>
            <a:off x="1043608" y="706143"/>
            <a:ext cx="7003517" cy="455798"/>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lang="es-ES_tradnl" b="1" noProof="0" dirty="0">
                <a:latin typeface="+mj-lt"/>
                <a:sym typeface="Wingdings" pitchFamily="2" charset="2"/>
              </a:rPr>
              <a:t>En </a:t>
            </a:r>
            <a:r>
              <a:rPr lang="es-ES_tradnl" b="1" dirty="0">
                <a:solidFill>
                  <a:srgbClr val="DB0613"/>
                </a:solidFill>
                <a:latin typeface="+mj-lt"/>
                <a:sym typeface="Wingdings" pitchFamily="2" charset="2"/>
              </a:rPr>
              <a:t>Administración de Fondos</a:t>
            </a:r>
            <a:r>
              <a:rPr lang="es-ES_tradnl" b="1" dirty="0">
                <a:latin typeface="+mj-lt"/>
                <a:sym typeface="Wingdings" pitchFamily="2" charset="2"/>
              </a:rPr>
              <a:t>, </a:t>
            </a:r>
            <a:r>
              <a:rPr lang="es-ES_tradnl" b="1" noProof="0" dirty="0">
                <a:latin typeface="+mj-lt"/>
                <a:sym typeface="Wingdings" pitchFamily="2" charset="2"/>
              </a:rPr>
              <a:t>Rimac está expuesto a riesgos operativos que implican impactos monetarios…</a:t>
            </a:r>
            <a:endParaRPr kumimoji="0" lang="es-ES_tradnl" sz="2000" b="1" i="0" u="none" strike="noStrike" kern="0" cap="none" spc="0" normalizeH="0" baseline="0" noProof="0" dirty="0">
              <a:ln>
                <a:noFill/>
              </a:ln>
              <a:effectLst/>
              <a:uLnTx/>
              <a:uFillTx/>
              <a:latin typeface="+mj-lt"/>
              <a:ea typeface="+mj-ea"/>
              <a:cs typeface="+mj-cs"/>
            </a:endParaRPr>
          </a:p>
        </p:txBody>
      </p:sp>
      <p:sp>
        <p:nvSpPr>
          <p:cNvPr id="141" name="Rectangle 29"/>
          <p:cNvSpPr txBox="1">
            <a:spLocks noChangeArrowheads="1"/>
          </p:cNvSpPr>
          <p:nvPr/>
        </p:nvSpPr>
        <p:spPr bwMode="gray">
          <a:xfrm>
            <a:off x="467545" y="5589240"/>
            <a:ext cx="8209382" cy="455798"/>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algn="ctr" fontAlgn="base">
              <a:spcBef>
                <a:spcPct val="0"/>
              </a:spcBef>
              <a:spcAft>
                <a:spcPct val="0"/>
              </a:spcAft>
              <a:defRPr/>
            </a:pPr>
            <a:r>
              <a:rPr lang="es-ES" b="1" dirty="0">
                <a:latin typeface="+mj-lt"/>
                <a:sym typeface="Wingdings" pitchFamily="2" charset="2"/>
              </a:rPr>
              <a:t>… por lo que es necesario, la definición de indicadores (para monitorizarlos y controlarlos); junto con Planes de Acción y Planes de Continuidad (para mitigarlos).</a:t>
            </a:r>
            <a:endParaRPr lang="es-ES_tradnl" b="1" dirty="0">
              <a:latin typeface="+mj-lt"/>
              <a:sym typeface="Wingdings" pitchFamily="2" charset="2"/>
            </a:endParaRPr>
          </a:p>
        </p:txBody>
      </p:sp>
      <p:sp>
        <p:nvSpPr>
          <p:cNvPr id="95" name="TextBox 94"/>
          <p:cNvSpPr txBox="1"/>
          <p:nvPr/>
        </p:nvSpPr>
        <p:spPr>
          <a:xfrm>
            <a:off x="4629834" y="6165304"/>
            <a:ext cx="3038510" cy="707886"/>
          </a:xfrm>
          <a:prstGeom prst="rect">
            <a:avLst/>
          </a:prstGeom>
          <a:noFill/>
        </p:spPr>
        <p:txBody>
          <a:bodyPr wrap="square" rtlCol="0">
            <a:spAutoFit/>
          </a:bodyPr>
          <a:lstStyle/>
          <a:p>
            <a:r>
              <a:rPr lang="es-ES" sz="1000" dirty="0"/>
              <a:t>*     PEA: Pérdida Esperada Anual. </a:t>
            </a:r>
          </a:p>
          <a:p>
            <a:r>
              <a:rPr lang="es-ES" sz="1000" dirty="0"/>
              <a:t>**   PMA: Pérdida Máxima Anual (VaR).</a:t>
            </a:r>
          </a:p>
          <a:p>
            <a:r>
              <a:rPr lang="es-ES" sz="1000" dirty="0"/>
              <a:t>*** Cifras basadas en los cuestionarios respondidos </a:t>
            </a:r>
          </a:p>
          <a:p>
            <a:r>
              <a:rPr lang="es-ES" sz="1000" dirty="0"/>
              <a:t>        por los  usuarios expertos del riesgo.</a:t>
            </a:r>
          </a:p>
        </p:txBody>
      </p:sp>
      <p:grpSp>
        <p:nvGrpSpPr>
          <p:cNvPr id="2" name="155 Grupo"/>
          <p:cNvGrpSpPr/>
          <p:nvPr/>
        </p:nvGrpSpPr>
        <p:grpSpPr>
          <a:xfrm>
            <a:off x="1417095" y="2533237"/>
            <a:ext cx="1574630" cy="2093005"/>
            <a:chOff x="1417095" y="2533237"/>
            <a:chExt cx="1574630" cy="2093005"/>
          </a:xfrm>
        </p:grpSpPr>
        <p:sp>
          <p:nvSpPr>
            <p:cNvPr id="116" name="Rounded Rectangle 139"/>
            <p:cNvSpPr/>
            <p:nvPr/>
          </p:nvSpPr>
          <p:spPr>
            <a:xfrm>
              <a:off x="1417095" y="4410242"/>
              <a:ext cx="216000" cy="216000"/>
            </a:xfrm>
            <a:prstGeom prst="roundRect">
              <a:avLst/>
            </a:prstGeom>
            <a:solidFill>
              <a:srgbClr val="F26D00"/>
            </a:solidFill>
            <a:ln w="9525" algn="ctr">
              <a:noFill/>
              <a:round/>
              <a:headEnd/>
              <a:tailEnd/>
            </a:ln>
            <a:effectLst/>
          </p:spPr>
          <p:txBody>
            <a:bodyPr wrap="none" anchor="ctr"/>
            <a:lstStyle/>
            <a:p>
              <a:pPr algn="ctr"/>
              <a:r>
                <a:rPr lang="es-PE" sz="1000" b="1" dirty="0">
                  <a:solidFill>
                    <a:schemeClr val="bg1"/>
                  </a:solidFill>
                </a:rPr>
                <a:t>4</a:t>
              </a:r>
              <a:endParaRPr lang="es-ES" sz="1000" b="1" dirty="0">
                <a:solidFill>
                  <a:schemeClr val="bg1"/>
                </a:solidFill>
              </a:endParaRPr>
            </a:p>
          </p:txBody>
        </p:sp>
        <p:sp>
          <p:nvSpPr>
            <p:cNvPr id="119" name="Rounded Rectangle 139"/>
            <p:cNvSpPr/>
            <p:nvPr/>
          </p:nvSpPr>
          <p:spPr>
            <a:xfrm>
              <a:off x="1493900" y="4194194"/>
              <a:ext cx="216000" cy="216000"/>
            </a:xfrm>
            <a:prstGeom prst="roundRect">
              <a:avLst/>
            </a:prstGeom>
            <a:solidFill>
              <a:srgbClr val="F26D00"/>
            </a:solidFill>
            <a:ln w="9525" algn="ctr">
              <a:noFill/>
              <a:round/>
              <a:headEnd/>
              <a:tailEnd/>
            </a:ln>
            <a:effectLst/>
          </p:spPr>
          <p:txBody>
            <a:bodyPr wrap="none" anchor="ctr"/>
            <a:lstStyle/>
            <a:p>
              <a:pPr algn="ctr"/>
              <a:r>
                <a:rPr lang="es-PE" sz="1000" b="1" dirty="0">
                  <a:solidFill>
                    <a:schemeClr val="bg1"/>
                  </a:solidFill>
                </a:rPr>
                <a:t>10</a:t>
              </a:r>
              <a:endParaRPr lang="es-ES" sz="1000" b="1" dirty="0">
                <a:solidFill>
                  <a:schemeClr val="bg1"/>
                </a:solidFill>
              </a:endParaRPr>
            </a:p>
          </p:txBody>
        </p:sp>
        <p:sp>
          <p:nvSpPr>
            <p:cNvPr id="120" name="Rounded Rectangle 139"/>
            <p:cNvSpPr/>
            <p:nvPr/>
          </p:nvSpPr>
          <p:spPr>
            <a:xfrm>
              <a:off x="1520794" y="3474114"/>
              <a:ext cx="216000" cy="216000"/>
            </a:xfrm>
            <a:prstGeom prst="roundRect">
              <a:avLst/>
            </a:prstGeom>
            <a:solidFill>
              <a:srgbClr val="F26D00"/>
            </a:solidFill>
            <a:ln w="9525" algn="ctr">
              <a:noFill/>
              <a:round/>
              <a:headEnd/>
              <a:tailEnd/>
            </a:ln>
            <a:effectLst/>
          </p:spPr>
          <p:txBody>
            <a:bodyPr wrap="none" anchor="ctr"/>
            <a:lstStyle/>
            <a:p>
              <a:pPr algn="ctr"/>
              <a:r>
                <a:rPr lang="es-PE" sz="1000" b="1" dirty="0">
                  <a:solidFill>
                    <a:schemeClr val="bg1"/>
                  </a:solidFill>
                </a:rPr>
                <a:t>1</a:t>
              </a:r>
              <a:endParaRPr lang="es-ES" sz="1000" b="1" dirty="0">
                <a:solidFill>
                  <a:schemeClr val="bg1"/>
                </a:solidFill>
              </a:endParaRPr>
            </a:p>
          </p:txBody>
        </p:sp>
        <p:sp>
          <p:nvSpPr>
            <p:cNvPr id="121" name="Rounded Rectangle 139"/>
            <p:cNvSpPr/>
            <p:nvPr/>
          </p:nvSpPr>
          <p:spPr>
            <a:xfrm>
              <a:off x="1520770" y="3244643"/>
              <a:ext cx="216000" cy="216000"/>
            </a:xfrm>
            <a:prstGeom prst="roundRect">
              <a:avLst/>
            </a:prstGeom>
            <a:solidFill>
              <a:srgbClr val="F26D00"/>
            </a:solidFill>
            <a:ln w="9525" algn="ctr">
              <a:noFill/>
              <a:round/>
              <a:headEnd/>
              <a:tailEnd/>
            </a:ln>
            <a:effectLst/>
          </p:spPr>
          <p:txBody>
            <a:bodyPr wrap="none" anchor="ctr"/>
            <a:lstStyle/>
            <a:p>
              <a:pPr algn="ctr"/>
              <a:r>
                <a:rPr lang="es-PE" sz="1000" b="1" dirty="0">
                  <a:solidFill>
                    <a:schemeClr val="bg1"/>
                  </a:solidFill>
                </a:rPr>
                <a:t>8</a:t>
              </a:r>
              <a:endParaRPr lang="es-ES" sz="1000" b="1" dirty="0">
                <a:solidFill>
                  <a:schemeClr val="bg1"/>
                </a:solidFill>
              </a:endParaRPr>
            </a:p>
          </p:txBody>
        </p:sp>
        <p:sp>
          <p:nvSpPr>
            <p:cNvPr id="125" name="Rounded Rectangle 139"/>
            <p:cNvSpPr/>
            <p:nvPr/>
          </p:nvSpPr>
          <p:spPr>
            <a:xfrm>
              <a:off x="2775725" y="2533237"/>
              <a:ext cx="216000" cy="216000"/>
            </a:xfrm>
            <a:prstGeom prst="roundRect">
              <a:avLst/>
            </a:prstGeom>
            <a:solidFill>
              <a:srgbClr val="F26D00"/>
            </a:solidFill>
            <a:ln w="9525" algn="ctr">
              <a:noFill/>
              <a:round/>
              <a:headEnd/>
              <a:tailEnd/>
            </a:ln>
            <a:effectLst/>
          </p:spPr>
          <p:txBody>
            <a:bodyPr wrap="none" anchor="ctr"/>
            <a:lstStyle/>
            <a:p>
              <a:pPr algn="ctr"/>
              <a:r>
                <a:rPr lang="es-PE" sz="1000" b="1" dirty="0">
                  <a:solidFill>
                    <a:schemeClr val="bg1"/>
                  </a:solidFill>
                </a:rPr>
                <a:t>9</a:t>
              </a:r>
              <a:endParaRPr lang="es-ES" sz="1000" b="1" dirty="0">
                <a:solidFill>
                  <a:schemeClr val="bg1"/>
                </a:solidFill>
              </a:endParaRPr>
            </a:p>
          </p:txBody>
        </p:sp>
      </p:grpSp>
      <p:grpSp>
        <p:nvGrpSpPr>
          <p:cNvPr id="3" name="154 Grupo"/>
          <p:cNvGrpSpPr/>
          <p:nvPr/>
        </p:nvGrpSpPr>
        <p:grpSpPr>
          <a:xfrm>
            <a:off x="1646566" y="2492896"/>
            <a:ext cx="1629290" cy="2187346"/>
            <a:chOff x="1646566" y="2492896"/>
            <a:chExt cx="1629290" cy="2187346"/>
          </a:xfrm>
        </p:grpSpPr>
        <p:sp>
          <p:nvSpPr>
            <p:cNvPr id="131" name="AutoShape 92"/>
            <p:cNvSpPr>
              <a:spLocks noChangeArrowheads="1"/>
            </p:cNvSpPr>
            <p:nvPr/>
          </p:nvSpPr>
          <p:spPr bwMode="auto">
            <a:xfrm>
              <a:off x="1646566" y="4410242"/>
              <a:ext cx="270000" cy="270000"/>
            </a:xfrm>
            <a:prstGeom prst="diamond">
              <a:avLst/>
            </a:prstGeom>
            <a:solidFill>
              <a:srgbClr val="009644"/>
            </a:solidFill>
            <a:ln w="9525" algn="ctr">
              <a:noFill/>
              <a:miter lim="800000"/>
              <a:headEnd/>
              <a:tailEnd/>
            </a:ln>
            <a:effectLst/>
          </p:spPr>
          <p:txBody>
            <a:bodyPr wrap="none" anchor="ctr"/>
            <a:lstStyle/>
            <a:p>
              <a:pPr algn="ctr"/>
              <a:r>
                <a:rPr lang="en-US" sz="1000" b="1" dirty="0">
                  <a:solidFill>
                    <a:schemeClr val="bg1"/>
                  </a:solidFill>
                </a:rPr>
                <a:t>4</a:t>
              </a:r>
            </a:p>
          </p:txBody>
        </p:sp>
        <p:sp>
          <p:nvSpPr>
            <p:cNvPr id="132" name="AutoShape 92"/>
            <p:cNvSpPr>
              <a:spLocks noChangeArrowheads="1"/>
            </p:cNvSpPr>
            <p:nvPr/>
          </p:nvSpPr>
          <p:spPr bwMode="auto">
            <a:xfrm>
              <a:off x="1723159" y="4167300"/>
              <a:ext cx="270000" cy="270000"/>
            </a:xfrm>
            <a:prstGeom prst="diamond">
              <a:avLst/>
            </a:prstGeom>
            <a:solidFill>
              <a:srgbClr val="009644"/>
            </a:solidFill>
            <a:ln w="9525" algn="ctr">
              <a:noFill/>
              <a:miter lim="800000"/>
              <a:headEnd/>
              <a:tailEnd/>
            </a:ln>
            <a:effectLst/>
          </p:spPr>
          <p:txBody>
            <a:bodyPr wrap="none" anchor="ctr"/>
            <a:lstStyle/>
            <a:p>
              <a:pPr algn="ctr"/>
              <a:r>
                <a:rPr lang="en-US" sz="1000" b="1" dirty="0">
                  <a:solidFill>
                    <a:schemeClr val="bg1"/>
                  </a:solidFill>
                </a:rPr>
                <a:t>8</a:t>
              </a:r>
            </a:p>
          </p:txBody>
        </p:sp>
        <p:sp>
          <p:nvSpPr>
            <p:cNvPr id="142" name="AutoShape 92"/>
            <p:cNvSpPr>
              <a:spLocks noChangeArrowheads="1"/>
            </p:cNvSpPr>
            <p:nvPr/>
          </p:nvSpPr>
          <p:spPr bwMode="auto">
            <a:xfrm>
              <a:off x="1750241" y="3442447"/>
              <a:ext cx="270000" cy="270000"/>
            </a:xfrm>
            <a:prstGeom prst="diamond">
              <a:avLst/>
            </a:prstGeom>
            <a:solidFill>
              <a:srgbClr val="009644"/>
            </a:solidFill>
            <a:ln w="9525" algn="ctr">
              <a:noFill/>
              <a:miter lim="800000"/>
              <a:headEnd/>
              <a:tailEnd/>
            </a:ln>
            <a:effectLst/>
          </p:spPr>
          <p:txBody>
            <a:bodyPr wrap="none" anchor="ctr"/>
            <a:lstStyle/>
            <a:p>
              <a:pPr algn="ctr"/>
              <a:r>
                <a:rPr lang="en-US" sz="1000" b="1" dirty="0">
                  <a:solidFill>
                    <a:schemeClr val="bg1"/>
                  </a:solidFill>
                </a:rPr>
                <a:t>1</a:t>
              </a:r>
            </a:p>
          </p:txBody>
        </p:sp>
        <p:sp>
          <p:nvSpPr>
            <p:cNvPr id="143" name="AutoShape 92"/>
            <p:cNvSpPr>
              <a:spLocks noChangeArrowheads="1"/>
            </p:cNvSpPr>
            <p:nvPr/>
          </p:nvSpPr>
          <p:spPr bwMode="auto">
            <a:xfrm>
              <a:off x="1763688" y="3212976"/>
              <a:ext cx="270000" cy="270000"/>
            </a:xfrm>
            <a:prstGeom prst="diamond">
              <a:avLst/>
            </a:prstGeom>
            <a:solidFill>
              <a:srgbClr val="009644"/>
            </a:solidFill>
            <a:ln w="9525" algn="ctr">
              <a:noFill/>
              <a:miter lim="800000"/>
              <a:headEnd/>
              <a:tailEnd/>
            </a:ln>
            <a:effectLst/>
          </p:spPr>
          <p:txBody>
            <a:bodyPr wrap="none" anchor="ctr"/>
            <a:lstStyle/>
            <a:p>
              <a:pPr algn="ctr"/>
              <a:r>
                <a:rPr lang="en-US" sz="1000" b="1" dirty="0">
                  <a:solidFill>
                    <a:schemeClr val="bg1"/>
                  </a:solidFill>
                </a:rPr>
                <a:t>8</a:t>
              </a:r>
            </a:p>
          </p:txBody>
        </p:sp>
        <p:sp>
          <p:nvSpPr>
            <p:cNvPr id="144" name="AutoShape 92"/>
            <p:cNvSpPr>
              <a:spLocks noChangeArrowheads="1"/>
            </p:cNvSpPr>
            <p:nvPr/>
          </p:nvSpPr>
          <p:spPr bwMode="auto">
            <a:xfrm>
              <a:off x="3005856" y="2492896"/>
              <a:ext cx="270000" cy="270000"/>
            </a:xfrm>
            <a:prstGeom prst="diamond">
              <a:avLst/>
            </a:prstGeom>
            <a:solidFill>
              <a:srgbClr val="009644"/>
            </a:solidFill>
            <a:ln w="9525" algn="ctr">
              <a:noFill/>
              <a:miter lim="800000"/>
              <a:headEnd/>
              <a:tailEnd/>
            </a:ln>
            <a:effectLst/>
          </p:spPr>
          <p:txBody>
            <a:bodyPr wrap="none" anchor="ctr"/>
            <a:lstStyle/>
            <a:p>
              <a:pPr algn="ctr"/>
              <a:r>
                <a:rPr lang="en-US" sz="1000" b="1" dirty="0">
                  <a:solidFill>
                    <a:schemeClr val="bg1"/>
                  </a:solidFill>
                </a:rPr>
                <a:t>8</a:t>
              </a:r>
            </a:p>
          </p:txBody>
        </p:sp>
      </p:grpSp>
      <p:sp>
        <p:nvSpPr>
          <p:cNvPr id="94" name="Action Button: Forward or Next 92">
            <a:hlinkClick r:id="rId4" action="ppaction://hlinksldjump" highlightClick="1"/>
          </p:cNvPr>
          <p:cNvSpPr/>
          <p:nvPr/>
        </p:nvSpPr>
        <p:spPr>
          <a:xfrm>
            <a:off x="8748464" y="3413267"/>
            <a:ext cx="144000" cy="144000"/>
          </a:xfrm>
          <a:prstGeom prst="actionButtonForwardNext">
            <a:avLst/>
          </a:prstGeom>
          <a:solidFill>
            <a:schemeClr val="bg1">
              <a:lumMod val="7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p>
        </p:txBody>
      </p:sp>
      <p:sp>
        <p:nvSpPr>
          <p:cNvPr id="99" name="Action Button: Forward or Next 92">
            <a:hlinkClick r:id="rId5" action="ppaction://hlinksldjump" highlightClick="1"/>
          </p:cNvPr>
          <p:cNvSpPr/>
          <p:nvPr/>
        </p:nvSpPr>
        <p:spPr>
          <a:xfrm>
            <a:off x="8748464" y="2913259"/>
            <a:ext cx="144000" cy="144000"/>
          </a:xfrm>
          <a:prstGeom prst="actionButtonForwardNext">
            <a:avLst/>
          </a:prstGeom>
          <a:solidFill>
            <a:schemeClr val="bg1">
              <a:lumMod val="7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p>
        </p:txBody>
      </p:sp>
      <p:sp>
        <p:nvSpPr>
          <p:cNvPr id="126" name="Action Button: Forward or Next 92">
            <a:hlinkClick r:id="rId6" action="ppaction://hlinksldjump" highlightClick="1"/>
          </p:cNvPr>
          <p:cNvSpPr/>
          <p:nvPr/>
        </p:nvSpPr>
        <p:spPr>
          <a:xfrm>
            <a:off x="8748464" y="2403310"/>
            <a:ext cx="144000" cy="144000"/>
          </a:xfrm>
          <a:prstGeom prst="actionButtonForwardNext">
            <a:avLst/>
          </a:prstGeom>
          <a:solidFill>
            <a:schemeClr val="bg1">
              <a:lumMod val="7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p>
        </p:txBody>
      </p:sp>
      <p:sp>
        <p:nvSpPr>
          <p:cNvPr id="128" name="Action Button: Forward or Next 92">
            <a:hlinkClick r:id="rId7" action="ppaction://hlinksldjump" highlightClick="1"/>
          </p:cNvPr>
          <p:cNvSpPr/>
          <p:nvPr/>
        </p:nvSpPr>
        <p:spPr>
          <a:xfrm>
            <a:off x="8748464" y="1904030"/>
            <a:ext cx="144000" cy="144000"/>
          </a:xfrm>
          <a:prstGeom prst="actionButtonForwardNext">
            <a:avLst/>
          </a:prstGeom>
          <a:solidFill>
            <a:schemeClr val="bg1">
              <a:lumMod val="7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p>
        </p:txBody>
      </p:sp>
      <p:sp>
        <p:nvSpPr>
          <p:cNvPr id="92" name="1 Título"/>
          <p:cNvSpPr>
            <a:spLocks noGrp="1"/>
          </p:cNvSpPr>
          <p:nvPr>
            <p:ph type="title"/>
          </p:nvPr>
        </p:nvSpPr>
        <p:spPr>
          <a:xfrm>
            <a:off x="47624" y="32965"/>
            <a:ext cx="8627715" cy="587723"/>
          </a:xfrm>
        </p:spPr>
        <p:txBody>
          <a:bodyPr/>
          <a:lstStyle/>
          <a:p>
            <a:r>
              <a:rPr lang="es-PE" dirty="0"/>
              <a:t>          Información Detallada: Exposición al RO y Entorno de Control</a:t>
            </a:r>
          </a:p>
        </p:txBody>
      </p:sp>
      <p:sp>
        <p:nvSpPr>
          <p:cNvPr id="127" name="Rounded Rectangle 3">
            <a:hlinkClick r:id="rId8" action="ppaction://hlinksldjump"/>
          </p:cNvPr>
          <p:cNvSpPr/>
          <p:nvPr/>
        </p:nvSpPr>
        <p:spPr>
          <a:xfrm>
            <a:off x="217915" y="146806"/>
            <a:ext cx="470426" cy="360040"/>
          </a:xfrm>
          <a:prstGeom prst="roundRect">
            <a:avLst/>
          </a:prstGeom>
          <a:solidFill>
            <a:srgbClr val="DB0613"/>
          </a:solidFill>
          <a:ln>
            <a:solidFill>
              <a:srgbClr val="A9A9A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PE" sz="1400" b="1" dirty="0"/>
              <a:t>2.2</a:t>
            </a:r>
            <a:endParaRPr lang="es-ES" sz="1400" b="1" dirty="0"/>
          </a:p>
        </p:txBody>
      </p:sp>
      <p:sp>
        <p:nvSpPr>
          <p:cNvPr id="133" name="Rounded Rectangle 31">
            <a:hlinkClick r:id="rId9" action="ppaction://hlinksldjump"/>
          </p:cNvPr>
          <p:cNvSpPr/>
          <p:nvPr/>
        </p:nvSpPr>
        <p:spPr>
          <a:xfrm>
            <a:off x="1638012" y="6322807"/>
            <a:ext cx="1080000" cy="360000"/>
          </a:xfrm>
          <a:prstGeom prst="roundRect">
            <a:avLst/>
          </a:prstGeom>
          <a:solidFill>
            <a:schemeClr val="bg1">
              <a:lumMod val="65000"/>
            </a:schemeClr>
          </a:solidFill>
          <a:ln w="25400" cap="sq" cmpd="sng">
            <a:solidFill>
              <a:schemeClr val="bg1">
                <a:lumMod val="75000"/>
              </a:schemeClr>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L" sz="800" b="1" i="1" dirty="0">
                <a:solidFill>
                  <a:schemeClr val="bg1"/>
                </a:solidFill>
                <a:cs typeface="Arial" pitchFamily="34" charset="0"/>
              </a:rPr>
              <a:t>Visión Global</a:t>
            </a:r>
          </a:p>
          <a:p>
            <a:pPr algn="ctr"/>
            <a:r>
              <a:rPr lang="es-CL" sz="800" b="1" i="1" dirty="0">
                <a:solidFill>
                  <a:schemeClr val="bg1"/>
                </a:solidFill>
                <a:cs typeface="Arial" pitchFamily="34" charset="0"/>
              </a:rPr>
              <a:t>de Riesgos</a:t>
            </a:r>
          </a:p>
        </p:txBody>
      </p:sp>
      <p:sp>
        <p:nvSpPr>
          <p:cNvPr id="76" name="Action Button: Forward or Next 92">
            <a:hlinkClick r:id="rId10" action="ppaction://hlinksldjump" highlightClick="1"/>
          </p:cNvPr>
          <p:cNvSpPr/>
          <p:nvPr/>
        </p:nvSpPr>
        <p:spPr>
          <a:xfrm>
            <a:off x="8748464" y="4419963"/>
            <a:ext cx="144000" cy="144000"/>
          </a:xfrm>
          <a:prstGeom prst="actionButtonForwardNext">
            <a:avLst/>
          </a:prstGeom>
          <a:solidFill>
            <a:schemeClr val="bg1">
              <a:lumMod val="7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 name="Action Button: Forward or Next 92">
            <a:hlinkClick r:id="rId2" action="ppaction://hlinksldjump" highlightClick="1"/>
          </p:cNvPr>
          <p:cNvSpPr/>
          <p:nvPr/>
        </p:nvSpPr>
        <p:spPr>
          <a:xfrm>
            <a:off x="8748464" y="2913259"/>
            <a:ext cx="144000" cy="144000"/>
          </a:xfrm>
          <a:prstGeom prst="actionButtonForwardNext">
            <a:avLst/>
          </a:prstGeom>
          <a:solidFill>
            <a:schemeClr val="bg1">
              <a:lumMod val="7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p>
        </p:txBody>
      </p:sp>
      <p:sp>
        <p:nvSpPr>
          <p:cNvPr id="66" name="Action Button: Forward or Next 92">
            <a:hlinkClick r:id="rId3" action="ppaction://hlinksldjump" highlightClick="1"/>
          </p:cNvPr>
          <p:cNvSpPr/>
          <p:nvPr/>
        </p:nvSpPr>
        <p:spPr>
          <a:xfrm>
            <a:off x="8748464" y="2403310"/>
            <a:ext cx="144000" cy="144000"/>
          </a:xfrm>
          <a:prstGeom prst="actionButtonForwardNext">
            <a:avLst/>
          </a:prstGeom>
          <a:solidFill>
            <a:schemeClr val="bg1">
              <a:lumMod val="7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p>
        </p:txBody>
      </p:sp>
      <p:sp>
        <p:nvSpPr>
          <p:cNvPr id="67" name="Action Button: Forward or Next 92">
            <a:hlinkClick r:id="rId4" action="ppaction://hlinksldjump" highlightClick="1"/>
          </p:cNvPr>
          <p:cNvSpPr/>
          <p:nvPr/>
        </p:nvSpPr>
        <p:spPr>
          <a:xfrm>
            <a:off x="8748464" y="1904030"/>
            <a:ext cx="144000" cy="144000"/>
          </a:xfrm>
          <a:prstGeom prst="actionButtonForwardNext">
            <a:avLst/>
          </a:prstGeom>
          <a:solidFill>
            <a:schemeClr val="bg1">
              <a:lumMod val="7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p>
        </p:txBody>
      </p:sp>
      <p:sp>
        <p:nvSpPr>
          <p:cNvPr id="62" name="TextBox 94"/>
          <p:cNvSpPr txBox="1"/>
          <p:nvPr/>
        </p:nvSpPr>
        <p:spPr>
          <a:xfrm>
            <a:off x="4629834" y="6165304"/>
            <a:ext cx="3038510" cy="707886"/>
          </a:xfrm>
          <a:prstGeom prst="rect">
            <a:avLst/>
          </a:prstGeom>
          <a:noFill/>
        </p:spPr>
        <p:txBody>
          <a:bodyPr wrap="square" rtlCol="0">
            <a:spAutoFit/>
          </a:bodyPr>
          <a:lstStyle/>
          <a:p>
            <a:r>
              <a:rPr lang="es-ES" sz="1000" dirty="0"/>
              <a:t>*     PEA: Pérdida Esperada Anual. </a:t>
            </a:r>
          </a:p>
          <a:p>
            <a:r>
              <a:rPr lang="es-ES" sz="1000" dirty="0"/>
              <a:t>**   PMA: Pérdida Máxima Anual (VaR).</a:t>
            </a:r>
          </a:p>
          <a:p>
            <a:r>
              <a:rPr lang="es-ES" sz="1000" dirty="0"/>
              <a:t>*** Cifras basadas en los cuestionarios respondidos </a:t>
            </a:r>
          </a:p>
          <a:p>
            <a:r>
              <a:rPr lang="es-ES" sz="1000" dirty="0"/>
              <a:t>        por los  usuarios expertos del riesgo.</a:t>
            </a:r>
          </a:p>
        </p:txBody>
      </p:sp>
      <p:sp>
        <p:nvSpPr>
          <p:cNvPr id="69" name="1 Título"/>
          <p:cNvSpPr>
            <a:spLocks noGrp="1"/>
          </p:cNvSpPr>
          <p:nvPr>
            <p:ph type="title"/>
          </p:nvPr>
        </p:nvSpPr>
        <p:spPr>
          <a:xfrm>
            <a:off x="47624" y="32965"/>
            <a:ext cx="8627715" cy="587723"/>
          </a:xfrm>
        </p:spPr>
        <p:txBody>
          <a:bodyPr/>
          <a:lstStyle/>
          <a:p>
            <a:r>
              <a:rPr lang="es-PE" dirty="0"/>
              <a:t>          Información Detallada: Exposición al RO y Entorno de Control</a:t>
            </a:r>
          </a:p>
        </p:txBody>
      </p:sp>
      <p:sp>
        <p:nvSpPr>
          <p:cNvPr id="70" name="Rounded Rectangle 3">
            <a:hlinkClick r:id="rId5" action="ppaction://hlinksldjump"/>
          </p:cNvPr>
          <p:cNvSpPr/>
          <p:nvPr/>
        </p:nvSpPr>
        <p:spPr>
          <a:xfrm>
            <a:off x="217915" y="146806"/>
            <a:ext cx="470426" cy="360040"/>
          </a:xfrm>
          <a:prstGeom prst="roundRect">
            <a:avLst/>
          </a:prstGeom>
          <a:solidFill>
            <a:srgbClr val="DB0613"/>
          </a:solidFill>
          <a:ln>
            <a:solidFill>
              <a:srgbClr val="A9A9A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PE" sz="1400" b="1" dirty="0"/>
              <a:t>2.2</a:t>
            </a:r>
            <a:endParaRPr lang="es-ES" sz="1400" b="1" dirty="0"/>
          </a:p>
        </p:txBody>
      </p:sp>
      <p:sp>
        <p:nvSpPr>
          <p:cNvPr id="73" name="Rounded Rectangle 31">
            <a:hlinkClick r:id="rId6" action="ppaction://hlinksldjump"/>
          </p:cNvPr>
          <p:cNvSpPr/>
          <p:nvPr/>
        </p:nvSpPr>
        <p:spPr>
          <a:xfrm>
            <a:off x="1638012" y="6322807"/>
            <a:ext cx="1080000" cy="360000"/>
          </a:xfrm>
          <a:prstGeom prst="roundRect">
            <a:avLst/>
          </a:prstGeom>
          <a:solidFill>
            <a:schemeClr val="bg1">
              <a:lumMod val="65000"/>
            </a:schemeClr>
          </a:solidFill>
          <a:ln w="25400" cap="sq" cmpd="sng">
            <a:solidFill>
              <a:schemeClr val="bg1">
                <a:lumMod val="75000"/>
              </a:schemeClr>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L" sz="800" b="1" i="1" dirty="0">
                <a:solidFill>
                  <a:schemeClr val="bg1"/>
                </a:solidFill>
                <a:cs typeface="Arial" pitchFamily="34" charset="0"/>
              </a:rPr>
              <a:t>Visión Global</a:t>
            </a:r>
          </a:p>
          <a:p>
            <a:pPr algn="ctr"/>
            <a:r>
              <a:rPr lang="es-CL" sz="800" b="1" i="1" dirty="0">
                <a:solidFill>
                  <a:schemeClr val="bg1"/>
                </a:solidFill>
                <a:cs typeface="Arial" pitchFamily="34" charset="0"/>
              </a:rPr>
              <a:t>de Riesgos</a:t>
            </a:r>
          </a:p>
        </p:txBody>
      </p:sp>
      <p:sp>
        <p:nvSpPr>
          <p:cNvPr id="59" name="Action Button: Forward or Next 92">
            <a:hlinkClick r:id="rId7" action="ppaction://hlinksldjump" highlightClick="1"/>
          </p:cNvPr>
          <p:cNvSpPr/>
          <p:nvPr/>
        </p:nvSpPr>
        <p:spPr>
          <a:xfrm>
            <a:off x="8748464" y="3413267"/>
            <a:ext cx="144000" cy="144000"/>
          </a:xfrm>
          <a:prstGeom prst="actionButtonForwardNext">
            <a:avLst/>
          </a:prstGeom>
          <a:solidFill>
            <a:schemeClr val="bg1">
              <a:lumMod val="7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p>
        </p:txBody>
      </p:sp>
      <p:sp>
        <p:nvSpPr>
          <p:cNvPr id="60" name="Oval 90"/>
          <p:cNvSpPr>
            <a:spLocks noChangeArrowheads="1"/>
          </p:cNvSpPr>
          <p:nvPr/>
        </p:nvSpPr>
        <p:spPr bwMode="auto">
          <a:xfrm>
            <a:off x="611560" y="4941168"/>
            <a:ext cx="274320" cy="274320"/>
          </a:xfrm>
          <a:prstGeom prst="ellipse">
            <a:avLst/>
          </a:prstGeom>
          <a:gradFill rotWithShape="1">
            <a:gsLst>
              <a:gs pos="0">
                <a:schemeClr val="accent6">
                  <a:lumMod val="75000"/>
                </a:schemeClr>
              </a:gs>
              <a:gs pos="100000">
                <a:schemeClr val="folHlink">
                  <a:gamma/>
                  <a:shade val="46275"/>
                  <a:invGamma/>
                </a:schemeClr>
              </a:gs>
            </a:gsLst>
            <a:path path="shape">
              <a:fillToRect l="50000" t="50000" r="50000" b="50000"/>
            </a:path>
          </a:gradFill>
          <a:ln w="9525" algn="ctr">
            <a:noFill/>
            <a:round/>
            <a:headEnd/>
            <a:tailEnd/>
          </a:ln>
          <a:effectLst/>
        </p:spPr>
        <p:txBody>
          <a:bodyPr wrap="none" anchor="ctr"/>
          <a:lstStyle/>
          <a:p>
            <a:pPr algn="ctr"/>
            <a:endParaRPr lang="en-US" sz="1100" b="1" dirty="0">
              <a:solidFill>
                <a:schemeClr val="bg1"/>
              </a:solidFill>
            </a:endParaRPr>
          </a:p>
        </p:txBody>
      </p:sp>
      <p:sp>
        <p:nvSpPr>
          <p:cNvPr id="61" name="Text Box 44"/>
          <p:cNvSpPr txBox="1">
            <a:spLocks noChangeArrowheads="1"/>
          </p:cNvSpPr>
          <p:nvPr/>
        </p:nvSpPr>
        <p:spPr bwMode="auto">
          <a:xfrm>
            <a:off x="7322478" y="1220502"/>
            <a:ext cx="1354449" cy="230832"/>
          </a:xfrm>
          <a:prstGeom prst="rect">
            <a:avLst/>
          </a:prstGeom>
          <a:noFill/>
          <a:ln w="9525" algn="ctr">
            <a:noFill/>
            <a:miter lim="800000"/>
            <a:headEnd/>
            <a:tailEnd/>
          </a:ln>
          <a:effectLst/>
        </p:spPr>
        <p:txBody>
          <a:bodyPr wrap="square">
            <a:spAutoFit/>
          </a:bodyPr>
          <a:lstStyle/>
          <a:p>
            <a:r>
              <a:rPr lang="es-ES" sz="900" b="1" i="1" dirty="0">
                <a:solidFill>
                  <a:srgbClr val="525252"/>
                </a:solidFill>
              </a:rPr>
              <a:t>Miles de Nuevos Soles</a:t>
            </a:r>
            <a:endParaRPr lang="en-US" sz="900" b="1" i="1" dirty="0">
              <a:solidFill>
                <a:srgbClr val="525252"/>
              </a:solidFill>
            </a:endParaRPr>
          </a:p>
        </p:txBody>
      </p:sp>
      <p:sp>
        <p:nvSpPr>
          <p:cNvPr id="63" name="AutoShape 59"/>
          <p:cNvSpPr>
            <a:spLocks noChangeArrowheads="1"/>
          </p:cNvSpPr>
          <p:nvPr/>
        </p:nvSpPr>
        <p:spPr bwMode="auto">
          <a:xfrm>
            <a:off x="4932040" y="1737492"/>
            <a:ext cx="1727384" cy="467372"/>
          </a:xfrm>
          <a:prstGeom prst="homePlate">
            <a:avLst>
              <a:gd name="adj" fmla="val 0"/>
            </a:avLst>
          </a:prstGeom>
          <a:solidFill>
            <a:srgbClr val="DB0613"/>
          </a:solidFill>
          <a:ln w="9525" algn="ctr">
            <a:solidFill>
              <a:srgbClr val="DDDDDD"/>
            </a:solidFill>
            <a:miter lim="800000"/>
            <a:headEnd/>
            <a:tailEnd/>
          </a:ln>
          <a:effectLst/>
        </p:spPr>
        <p:txBody>
          <a:bodyPr wrap="square" anchor="ctr"/>
          <a:lstStyle/>
          <a:p>
            <a:pPr algn="r"/>
            <a:r>
              <a:rPr lang="es-ES" sz="1000" b="1" i="1" dirty="0">
                <a:solidFill>
                  <a:schemeClr val="bg1"/>
                </a:solidFill>
              </a:rPr>
              <a:t>Evaluación de Solicitudes</a:t>
            </a:r>
          </a:p>
          <a:p>
            <a:pPr algn="r"/>
            <a:r>
              <a:rPr lang="es-ES" sz="1000" b="1" i="1" dirty="0">
                <a:solidFill>
                  <a:schemeClr val="bg1"/>
                </a:solidFill>
              </a:rPr>
              <a:t>de Cotización</a:t>
            </a:r>
            <a:endParaRPr lang="en-US" sz="1000" b="1" i="1" dirty="0">
              <a:solidFill>
                <a:schemeClr val="bg1"/>
              </a:solidFill>
            </a:endParaRPr>
          </a:p>
        </p:txBody>
      </p:sp>
      <p:sp>
        <p:nvSpPr>
          <p:cNvPr id="76" name="AutoShape 60"/>
          <p:cNvSpPr>
            <a:spLocks noChangeArrowheads="1"/>
          </p:cNvSpPr>
          <p:nvPr/>
        </p:nvSpPr>
        <p:spPr bwMode="auto">
          <a:xfrm>
            <a:off x="6733827" y="1772840"/>
            <a:ext cx="936625" cy="406380"/>
          </a:xfrm>
          <a:prstGeom prst="homePlate">
            <a:avLst>
              <a:gd name="adj" fmla="val 0"/>
            </a:avLst>
          </a:prstGeom>
          <a:noFill/>
          <a:ln w="9525" algn="ctr">
            <a:solidFill>
              <a:schemeClr val="bg2"/>
            </a:solidFill>
            <a:miter lim="800000"/>
            <a:headEnd/>
            <a:tailEnd/>
          </a:ln>
          <a:effectLst/>
        </p:spPr>
        <p:txBody>
          <a:bodyPr wrap="none" anchor="ctr"/>
          <a:lstStyle/>
          <a:p>
            <a:pPr algn="ctr"/>
            <a:r>
              <a:rPr lang="es-PE" sz="1400" b="1" dirty="0"/>
              <a:t>236</a:t>
            </a:r>
            <a:endParaRPr lang="en-US" sz="1400" b="1" dirty="0"/>
          </a:p>
        </p:txBody>
      </p:sp>
      <p:sp>
        <p:nvSpPr>
          <p:cNvPr id="77" name="AutoShape 61"/>
          <p:cNvSpPr>
            <a:spLocks noChangeArrowheads="1"/>
          </p:cNvSpPr>
          <p:nvPr/>
        </p:nvSpPr>
        <p:spPr bwMode="auto">
          <a:xfrm>
            <a:off x="7740302" y="1772840"/>
            <a:ext cx="936625" cy="406380"/>
          </a:xfrm>
          <a:prstGeom prst="homePlate">
            <a:avLst>
              <a:gd name="adj" fmla="val 0"/>
            </a:avLst>
          </a:prstGeom>
          <a:noFill/>
          <a:ln w="9525" algn="ctr">
            <a:solidFill>
              <a:schemeClr val="bg2"/>
            </a:solidFill>
            <a:miter lim="800000"/>
            <a:headEnd/>
            <a:tailEnd/>
          </a:ln>
          <a:effectLst/>
        </p:spPr>
        <p:txBody>
          <a:bodyPr wrap="none" anchor="ctr"/>
          <a:lstStyle/>
          <a:p>
            <a:pPr algn="ctr"/>
            <a:r>
              <a:rPr lang="en-US" sz="1400" b="1" dirty="0"/>
              <a:t>2,494</a:t>
            </a:r>
          </a:p>
        </p:txBody>
      </p:sp>
      <p:sp>
        <p:nvSpPr>
          <p:cNvPr id="89" name="AutoShape 46"/>
          <p:cNvSpPr>
            <a:spLocks noChangeArrowheads="1"/>
          </p:cNvSpPr>
          <p:nvPr/>
        </p:nvSpPr>
        <p:spPr bwMode="auto">
          <a:xfrm>
            <a:off x="6732240" y="1476136"/>
            <a:ext cx="936625" cy="252000"/>
          </a:xfrm>
          <a:prstGeom prst="homePlate">
            <a:avLst>
              <a:gd name="adj" fmla="val 0"/>
            </a:avLst>
          </a:prstGeom>
          <a:solidFill>
            <a:srgbClr val="DB0613"/>
          </a:solidFill>
          <a:ln w="9525" algn="ctr">
            <a:noFill/>
            <a:miter lim="800000"/>
            <a:headEnd/>
            <a:tailEnd/>
          </a:ln>
          <a:effectLst/>
        </p:spPr>
        <p:txBody>
          <a:bodyPr wrap="none" anchor="ctr"/>
          <a:lstStyle/>
          <a:p>
            <a:pPr algn="ctr"/>
            <a:r>
              <a:rPr lang="es-ES" sz="1100" dirty="0">
                <a:solidFill>
                  <a:schemeClr val="bg1"/>
                </a:solidFill>
              </a:rPr>
              <a:t>PEA*</a:t>
            </a:r>
            <a:endParaRPr lang="en-US" sz="800" i="1" dirty="0">
              <a:solidFill>
                <a:schemeClr val="bg1"/>
              </a:solidFill>
            </a:endParaRPr>
          </a:p>
        </p:txBody>
      </p:sp>
      <p:sp>
        <p:nvSpPr>
          <p:cNvPr id="90" name="AutoShape 47"/>
          <p:cNvSpPr>
            <a:spLocks noChangeArrowheads="1"/>
          </p:cNvSpPr>
          <p:nvPr/>
        </p:nvSpPr>
        <p:spPr bwMode="auto">
          <a:xfrm>
            <a:off x="7740302" y="1476136"/>
            <a:ext cx="936625" cy="252000"/>
          </a:xfrm>
          <a:prstGeom prst="homePlate">
            <a:avLst>
              <a:gd name="adj" fmla="val 0"/>
            </a:avLst>
          </a:prstGeom>
          <a:solidFill>
            <a:srgbClr val="DB0613"/>
          </a:solidFill>
          <a:ln w="9525" algn="ctr">
            <a:noFill/>
            <a:miter lim="800000"/>
            <a:headEnd/>
            <a:tailEnd/>
          </a:ln>
          <a:effectLst/>
        </p:spPr>
        <p:txBody>
          <a:bodyPr wrap="none" anchor="ctr"/>
          <a:lstStyle/>
          <a:p>
            <a:pPr algn="ctr"/>
            <a:r>
              <a:rPr lang="es-ES" sz="1100" dirty="0">
                <a:solidFill>
                  <a:schemeClr val="bg1"/>
                </a:solidFill>
              </a:rPr>
              <a:t>PMA**</a:t>
            </a:r>
          </a:p>
        </p:txBody>
      </p:sp>
      <p:sp>
        <p:nvSpPr>
          <p:cNvPr id="91" name="TextBox 121"/>
          <p:cNvSpPr txBox="1"/>
          <p:nvPr/>
        </p:nvSpPr>
        <p:spPr>
          <a:xfrm>
            <a:off x="827584" y="4961852"/>
            <a:ext cx="864096" cy="261610"/>
          </a:xfrm>
          <a:prstGeom prst="rect">
            <a:avLst/>
          </a:prstGeom>
          <a:noFill/>
        </p:spPr>
        <p:txBody>
          <a:bodyPr wrap="square" rtlCol="0">
            <a:spAutoFit/>
          </a:bodyPr>
          <a:lstStyle/>
          <a:p>
            <a:r>
              <a:rPr lang="es-ES" sz="1050" dirty="0"/>
              <a:t>Subproceso</a:t>
            </a:r>
          </a:p>
        </p:txBody>
      </p:sp>
      <p:sp>
        <p:nvSpPr>
          <p:cNvPr id="92" name="TextBox 122"/>
          <p:cNvSpPr txBox="1"/>
          <p:nvPr/>
        </p:nvSpPr>
        <p:spPr>
          <a:xfrm>
            <a:off x="1908000" y="4961450"/>
            <a:ext cx="1042572" cy="261610"/>
          </a:xfrm>
          <a:prstGeom prst="rect">
            <a:avLst/>
          </a:prstGeom>
          <a:noFill/>
        </p:spPr>
        <p:txBody>
          <a:bodyPr wrap="square" rtlCol="0">
            <a:spAutoFit/>
          </a:bodyPr>
          <a:lstStyle/>
          <a:p>
            <a:r>
              <a:rPr lang="es-ES" sz="1050" dirty="0"/>
              <a:t>N° de Riesgos</a:t>
            </a:r>
          </a:p>
        </p:txBody>
      </p:sp>
      <p:sp>
        <p:nvSpPr>
          <p:cNvPr id="93" name="TextBox 123"/>
          <p:cNvSpPr txBox="1"/>
          <p:nvPr/>
        </p:nvSpPr>
        <p:spPr>
          <a:xfrm>
            <a:off x="3208942" y="4961450"/>
            <a:ext cx="1219042" cy="261610"/>
          </a:xfrm>
          <a:prstGeom prst="rect">
            <a:avLst/>
          </a:prstGeom>
          <a:noFill/>
        </p:spPr>
        <p:txBody>
          <a:bodyPr wrap="square" rtlCol="0">
            <a:spAutoFit/>
          </a:bodyPr>
          <a:lstStyle/>
          <a:p>
            <a:r>
              <a:rPr lang="es-ES" sz="1050" dirty="0"/>
              <a:t>N° de Controles</a:t>
            </a:r>
          </a:p>
        </p:txBody>
      </p:sp>
      <p:sp>
        <p:nvSpPr>
          <p:cNvPr id="94" name="AutoShape 92"/>
          <p:cNvSpPr>
            <a:spLocks noChangeArrowheads="1"/>
          </p:cNvSpPr>
          <p:nvPr/>
        </p:nvSpPr>
        <p:spPr bwMode="auto">
          <a:xfrm>
            <a:off x="3005856" y="4953060"/>
            <a:ext cx="270000" cy="270000"/>
          </a:xfrm>
          <a:prstGeom prst="diamond">
            <a:avLst/>
          </a:prstGeom>
          <a:solidFill>
            <a:srgbClr val="009644"/>
          </a:solidFill>
          <a:ln w="9525" algn="ctr">
            <a:noFill/>
            <a:miter lim="800000"/>
            <a:headEnd/>
            <a:tailEnd/>
          </a:ln>
          <a:effectLst/>
        </p:spPr>
        <p:txBody>
          <a:bodyPr wrap="none" anchor="ctr"/>
          <a:lstStyle/>
          <a:p>
            <a:pPr algn="ctr"/>
            <a:endParaRPr lang="en-US" sz="1000" b="1" dirty="0">
              <a:solidFill>
                <a:schemeClr val="bg1"/>
              </a:solidFill>
            </a:endParaRPr>
          </a:p>
        </p:txBody>
      </p:sp>
      <p:sp>
        <p:nvSpPr>
          <p:cNvPr id="95" name="Rounded Rectangle 139"/>
          <p:cNvSpPr/>
          <p:nvPr/>
        </p:nvSpPr>
        <p:spPr>
          <a:xfrm>
            <a:off x="1763688" y="4980638"/>
            <a:ext cx="216000" cy="216000"/>
          </a:xfrm>
          <a:prstGeom prst="roundRect">
            <a:avLst/>
          </a:prstGeom>
          <a:solidFill>
            <a:srgbClr val="F26D00"/>
          </a:solidFill>
          <a:ln w="9525" algn="ctr">
            <a:noFill/>
            <a:round/>
            <a:headEnd/>
            <a:tailEnd/>
          </a:ln>
          <a:effectLst/>
        </p:spPr>
        <p:txBody>
          <a:bodyPr wrap="none" anchor="ctr"/>
          <a:lstStyle/>
          <a:p>
            <a:pPr algn="ctr"/>
            <a:endParaRPr lang="es-ES" sz="1000" b="1" dirty="0">
              <a:solidFill>
                <a:schemeClr val="bg1"/>
              </a:solidFill>
            </a:endParaRPr>
          </a:p>
        </p:txBody>
      </p:sp>
      <p:sp>
        <p:nvSpPr>
          <p:cNvPr id="96" name="AutoShape 59"/>
          <p:cNvSpPr>
            <a:spLocks noChangeArrowheads="1"/>
          </p:cNvSpPr>
          <p:nvPr/>
        </p:nvSpPr>
        <p:spPr bwMode="auto">
          <a:xfrm>
            <a:off x="4932040" y="2236796"/>
            <a:ext cx="1727384" cy="467372"/>
          </a:xfrm>
          <a:prstGeom prst="homePlate">
            <a:avLst>
              <a:gd name="adj" fmla="val 0"/>
            </a:avLst>
          </a:prstGeom>
          <a:solidFill>
            <a:srgbClr val="DB0613"/>
          </a:solidFill>
          <a:ln w="9525" algn="ctr">
            <a:solidFill>
              <a:srgbClr val="DDDDDD"/>
            </a:solidFill>
            <a:miter lim="800000"/>
            <a:headEnd/>
            <a:tailEnd/>
          </a:ln>
          <a:effectLst/>
        </p:spPr>
        <p:txBody>
          <a:bodyPr wrap="square" anchor="ctr"/>
          <a:lstStyle/>
          <a:p>
            <a:pPr algn="r"/>
            <a:r>
              <a:rPr lang="es-ES" sz="1000" b="1" i="1" dirty="0">
                <a:solidFill>
                  <a:schemeClr val="bg1"/>
                </a:solidFill>
              </a:rPr>
              <a:t>Cotización Fuera</a:t>
            </a:r>
          </a:p>
          <a:p>
            <a:pPr algn="r"/>
            <a:r>
              <a:rPr lang="es-ES" sz="1000" b="1" i="1" dirty="0">
                <a:solidFill>
                  <a:schemeClr val="bg1"/>
                </a:solidFill>
              </a:rPr>
              <a:t>de Políticas</a:t>
            </a:r>
            <a:endParaRPr lang="en-US" sz="1000" b="1" i="1" dirty="0">
              <a:solidFill>
                <a:schemeClr val="bg1"/>
              </a:solidFill>
            </a:endParaRPr>
          </a:p>
        </p:txBody>
      </p:sp>
      <p:sp>
        <p:nvSpPr>
          <p:cNvPr id="97" name="AutoShape 60"/>
          <p:cNvSpPr>
            <a:spLocks noChangeArrowheads="1"/>
          </p:cNvSpPr>
          <p:nvPr/>
        </p:nvSpPr>
        <p:spPr bwMode="auto">
          <a:xfrm>
            <a:off x="6732240" y="2272120"/>
            <a:ext cx="936625" cy="406380"/>
          </a:xfrm>
          <a:prstGeom prst="homePlate">
            <a:avLst>
              <a:gd name="adj" fmla="val 0"/>
            </a:avLst>
          </a:prstGeom>
          <a:noFill/>
          <a:ln w="9525" algn="ctr">
            <a:solidFill>
              <a:schemeClr val="bg2"/>
            </a:solidFill>
            <a:miter lim="800000"/>
            <a:headEnd/>
            <a:tailEnd/>
          </a:ln>
          <a:effectLst/>
        </p:spPr>
        <p:txBody>
          <a:bodyPr wrap="none" anchor="ctr"/>
          <a:lstStyle/>
          <a:p>
            <a:pPr algn="ctr"/>
            <a:r>
              <a:rPr lang="es-PE" sz="1400" b="1" dirty="0"/>
              <a:t>53</a:t>
            </a:r>
            <a:endParaRPr lang="en-US" sz="1400" b="1" dirty="0"/>
          </a:p>
        </p:txBody>
      </p:sp>
      <p:sp>
        <p:nvSpPr>
          <p:cNvPr id="98" name="AutoShape 61"/>
          <p:cNvSpPr>
            <a:spLocks noChangeArrowheads="1"/>
          </p:cNvSpPr>
          <p:nvPr/>
        </p:nvSpPr>
        <p:spPr bwMode="auto">
          <a:xfrm>
            <a:off x="7738715" y="2272120"/>
            <a:ext cx="936625" cy="406380"/>
          </a:xfrm>
          <a:prstGeom prst="homePlate">
            <a:avLst>
              <a:gd name="adj" fmla="val 0"/>
            </a:avLst>
          </a:prstGeom>
          <a:noFill/>
          <a:ln w="9525" algn="ctr">
            <a:solidFill>
              <a:schemeClr val="bg2"/>
            </a:solidFill>
            <a:miter lim="800000"/>
            <a:headEnd/>
            <a:tailEnd/>
          </a:ln>
          <a:effectLst/>
        </p:spPr>
        <p:txBody>
          <a:bodyPr wrap="none" anchor="ctr"/>
          <a:lstStyle/>
          <a:p>
            <a:pPr algn="ctr"/>
            <a:r>
              <a:rPr lang="es-PE" sz="1400" b="1" dirty="0"/>
              <a:t>453</a:t>
            </a:r>
            <a:endParaRPr lang="en-US" sz="1400" b="1" dirty="0"/>
          </a:p>
        </p:txBody>
      </p:sp>
      <p:sp>
        <p:nvSpPr>
          <p:cNvPr id="108" name="AutoShape 59"/>
          <p:cNvSpPr>
            <a:spLocks noChangeArrowheads="1"/>
          </p:cNvSpPr>
          <p:nvPr/>
        </p:nvSpPr>
        <p:spPr bwMode="auto">
          <a:xfrm>
            <a:off x="4932040" y="2746745"/>
            <a:ext cx="1727384" cy="467372"/>
          </a:xfrm>
          <a:prstGeom prst="homePlate">
            <a:avLst>
              <a:gd name="adj" fmla="val 0"/>
            </a:avLst>
          </a:prstGeom>
          <a:solidFill>
            <a:srgbClr val="DB0613"/>
          </a:solidFill>
          <a:ln w="9525" algn="ctr">
            <a:solidFill>
              <a:srgbClr val="DDDDDD"/>
            </a:solidFill>
            <a:miter lim="800000"/>
            <a:headEnd/>
            <a:tailEnd/>
          </a:ln>
          <a:effectLst/>
        </p:spPr>
        <p:txBody>
          <a:bodyPr wrap="square" anchor="ctr"/>
          <a:lstStyle/>
          <a:p>
            <a:pPr algn="r"/>
            <a:r>
              <a:rPr lang="es-ES" sz="1000" b="1" i="1" dirty="0">
                <a:solidFill>
                  <a:schemeClr val="bg1"/>
                </a:solidFill>
              </a:rPr>
              <a:t>Inspección Técnica</a:t>
            </a:r>
            <a:endParaRPr lang="en-US" sz="1000" b="1" i="1" dirty="0">
              <a:solidFill>
                <a:schemeClr val="bg1"/>
              </a:solidFill>
            </a:endParaRPr>
          </a:p>
        </p:txBody>
      </p:sp>
      <p:sp>
        <p:nvSpPr>
          <p:cNvPr id="109" name="AutoShape 59"/>
          <p:cNvSpPr>
            <a:spLocks noChangeArrowheads="1"/>
          </p:cNvSpPr>
          <p:nvPr/>
        </p:nvSpPr>
        <p:spPr bwMode="auto">
          <a:xfrm>
            <a:off x="4932040" y="3256409"/>
            <a:ext cx="1727384" cy="467372"/>
          </a:xfrm>
          <a:prstGeom prst="homePlate">
            <a:avLst>
              <a:gd name="adj" fmla="val 0"/>
            </a:avLst>
          </a:prstGeom>
          <a:solidFill>
            <a:srgbClr val="DB0613"/>
          </a:solidFill>
          <a:ln w="9525" algn="ctr">
            <a:solidFill>
              <a:srgbClr val="DDDDDD"/>
            </a:solidFill>
            <a:miter lim="800000"/>
            <a:headEnd/>
            <a:tailEnd/>
          </a:ln>
          <a:effectLst/>
        </p:spPr>
        <p:txBody>
          <a:bodyPr wrap="square" anchor="ctr"/>
          <a:lstStyle/>
          <a:p>
            <a:pPr algn="r"/>
            <a:r>
              <a:rPr lang="es-ES" sz="1000" b="1" dirty="0">
                <a:solidFill>
                  <a:schemeClr val="bg1"/>
                </a:solidFill>
              </a:rPr>
              <a:t>Totales Agregados</a:t>
            </a:r>
            <a:endParaRPr lang="en-US" sz="1000" b="1" dirty="0">
              <a:solidFill>
                <a:schemeClr val="bg1"/>
              </a:solidFill>
            </a:endParaRPr>
          </a:p>
        </p:txBody>
      </p:sp>
      <p:sp>
        <p:nvSpPr>
          <p:cNvPr id="110" name="AutoShape 60"/>
          <p:cNvSpPr>
            <a:spLocks noChangeArrowheads="1"/>
          </p:cNvSpPr>
          <p:nvPr/>
        </p:nvSpPr>
        <p:spPr bwMode="auto">
          <a:xfrm>
            <a:off x="6732240" y="2782069"/>
            <a:ext cx="936625" cy="406380"/>
          </a:xfrm>
          <a:prstGeom prst="homePlate">
            <a:avLst>
              <a:gd name="adj" fmla="val 0"/>
            </a:avLst>
          </a:prstGeom>
          <a:noFill/>
          <a:ln w="9525" algn="ctr">
            <a:solidFill>
              <a:schemeClr val="bg2"/>
            </a:solidFill>
            <a:miter lim="800000"/>
            <a:headEnd/>
            <a:tailEnd/>
          </a:ln>
          <a:effectLst/>
        </p:spPr>
        <p:txBody>
          <a:bodyPr wrap="none" anchor="ctr"/>
          <a:lstStyle/>
          <a:p>
            <a:pPr algn="ctr"/>
            <a:r>
              <a:rPr lang="es-PE" sz="1400" b="1" dirty="0"/>
              <a:t>6,449</a:t>
            </a:r>
            <a:endParaRPr lang="en-US" sz="1400" b="1" dirty="0"/>
          </a:p>
        </p:txBody>
      </p:sp>
      <p:sp>
        <p:nvSpPr>
          <p:cNvPr id="111" name="AutoShape 61"/>
          <p:cNvSpPr>
            <a:spLocks noChangeArrowheads="1"/>
          </p:cNvSpPr>
          <p:nvPr/>
        </p:nvSpPr>
        <p:spPr bwMode="auto">
          <a:xfrm>
            <a:off x="7738715" y="2782069"/>
            <a:ext cx="936625" cy="406380"/>
          </a:xfrm>
          <a:prstGeom prst="homePlate">
            <a:avLst>
              <a:gd name="adj" fmla="val 0"/>
            </a:avLst>
          </a:prstGeom>
          <a:noFill/>
          <a:ln w="9525" algn="ctr">
            <a:solidFill>
              <a:schemeClr val="bg2"/>
            </a:solidFill>
            <a:miter lim="800000"/>
            <a:headEnd/>
            <a:tailEnd/>
          </a:ln>
          <a:effectLst/>
        </p:spPr>
        <p:txBody>
          <a:bodyPr wrap="none" anchor="ctr"/>
          <a:lstStyle/>
          <a:p>
            <a:pPr algn="ctr"/>
            <a:r>
              <a:rPr lang="es-PE" sz="1400" b="1" dirty="0"/>
              <a:t>22,635</a:t>
            </a:r>
            <a:endParaRPr lang="en-US" sz="1400" b="1" dirty="0"/>
          </a:p>
        </p:txBody>
      </p:sp>
      <p:sp>
        <p:nvSpPr>
          <p:cNvPr id="112" name="AutoShape 60"/>
          <p:cNvSpPr>
            <a:spLocks noChangeArrowheads="1"/>
          </p:cNvSpPr>
          <p:nvPr/>
        </p:nvSpPr>
        <p:spPr bwMode="auto">
          <a:xfrm>
            <a:off x="6732240" y="3282077"/>
            <a:ext cx="936625" cy="406380"/>
          </a:xfrm>
          <a:prstGeom prst="homePlate">
            <a:avLst>
              <a:gd name="adj" fmla="val 0"/>
            </a:avLst>
          </a:prstGeom>
          <a:noFill/>
          <a:ln w="9525" algn="ctr">
            <a:solidFill>
              <a:schemeClr val="bg2"/>
            </a:solidFill>
            <a:miter lim="800000"/>
            <a:headEnd/>
            <a:tailEnd/>
          </a:ln>
          <a:effectLst/>
        </p:spPr>
        <p:txBody>
          <a:bodyPr wrap="none" anchor="ctr"/>
          <a:lstStyle/>
          <a:p>
            <a:pPr algn="ctr"/>
            <a:r>
              <a:rPr lang="es-ES" sz="1400" b="1" dirty="0"/>
              <a:t>6,738</a:t>
            </a:r>
            <a:endParaRPr lang="en-US" sz="1400" b="1" dirty="0"/>
          </a:p>
        </p:txBody>
      </p:sp>
      <p:sp>
        <p:nvSpPr>
          <p:cNvPr id="113" name="AutoShape 61"/>
          <p:cNvSpPr>
            <a:spLocks noChangeArrowheads="1"/>
          </p:cNvSpPr>
          <p:nvPr/>
        </p:nvSpPr>
        <p:spPr bwMode="auto">
          <a:xfrm>
            <a:off x="7738715" y="3282077"/>
            <a:ext cx="936625" cy="406380"/>
          </a:xfrm>
          <a:prstGeom prst="homePlate">
            <a:avLst>
              <a:gd name="adj" fmla="val 0"/>
            </a:avLst>
          </a:prstGeom>
          <a:noFill/>
          <a:ln w="9525" algn="ctr">
            <a:solidFill>
              <a:schemeClr val="bg2"/>
            </a:solidFill>
            <a:miter lim="800000"/>
            <a:headEnd/>
            <a:tailEnd/>
          </a:ln>
          <a:effectLst/>
        </p:spPr>
        <p:txBody>
          <a:bodyPr wrap="none" anchor="ctr"/>
          <a:lstStyle/>
          <a:p>
            <a:pPr algn="ctr"/>
            <a:r>
              <a:rPr lang="es-PE" sz="1400" b="1" dirty="0"/>
              <a:t>25,582</a:t>
            </a:r>
            <a:endParaRPr lang="en-US" sz="1400" b="1" dirty="0"/>
          </a:p>
        </p:txBody>
      </p:sp>
      <p:pic>
        <p:nvPicPr>
          <p:cNvPr id="116" name="Picture 9"/>
          <p:cNvPicPr>
            <a:picLocks noChangeAspect="1" noChangeArrowheads="1"/>
          </p:cNvPicPr>
          <p:nvPr/>
        </p:nvPicPr>
        <p:blipFill>
          <a:blip r:embed="rId8" cstate="print"/>
          <a:srcRect/>
          <a:stretch>
            <a:fillRect/>
          </a:stretch>
        </p:blipFill>
        <p:spPr bwMode="auto">
          <a:xfrm>
            <a:off x="1235496" y="1451244"/>
            <a:ext cx="3043238" cy="3044825"/>
          </a:xfrm>
          <a:prstGeom prst="rect">
            <a:avLst/>
          </a:prstGeom>
          <a:noFill/>
          <a:ln w="9525" algn="ctr">
            <a:noFill/>
            <a:miter lim="800000"/>
            <a:headEnd/>
            <a:tailEnd/>
          </a:ln>
          <a:effectLst/>
        </p:spPr>
      </p:pic>
      <p:sp>
        <p:nvSpPr>
          <p:cNvPr id="119" name="Text Box 10"/>
          <p:cNvSpPr txBox="1">
            <a:spLocks noChangeArrowheads="1"/>
          </p:cNvSpPr>
          <p:nvPr/>
        </p:nvSpPr>
        <p:spPr bwMode="auto">
          <a:xfrm>
            <a:off x="744161" y="3573731"/>
            <a:ext cx="543739" cy="246221"/>
          </a:xfrm>
          <a:prstGeom prst="rect">
            <a:avLst/>
          </a:prstGeom>
          <a:noFill/>
          <a:ln w="9525" algn="ctr">
            <a:noFill/>
            <a:miter lim="800000"/>
            <a:headEnd/>
            <a:tailEnd/>
          </a:ln>
          <a:effectLst/>
        </p:spPr>
        <p:txBody>
          <a:bodyPr wrap="none">
            <a:spAutoFit/>
          </a:bodyPr>
          <a:lstStyle/>
          <a:p>
            <a:pPr algn="r"/>
            <a:r>
              <a:rPr lang="es-ES" sz="1000" dirty="0"/>
              <a:t>&lt;1,000</a:t>
            </a:r>
            <a:endParaRPr lang="en-US" sz="1000" dirty="0"/>
          </a:p>
        </p:txBody>
      </p:sp>
      <p:sp>
        <p:nvSpPr>
          <p:cNvPr id="120" name="Text Box 11"/>
          <p:cNvSpPr txBox="1">
            <a:spLocks noChangeArrowheads="1"/>
          </p:cNvSpPr>
          <p:nvPr/>
        </p:nvSpPr>
        <p:spPr bwMode="auto">
          <a:xfrm>
            <a:off x="678438" y="2827606"/>
            <a:ext cx="609462" cy="246221"/>
          </a:xfrm>
          <a:prstGeom prst="rect">
            <a:avLst/>
          </a:prstGeom>
          <a:noFill/>
          <a:ln w="9525" algn="ctr">
            <a:noFill/>
            <a:miter lim="800000"/>
            <a:headEnd/>
            <a:tailEnd/>
          </a:ln>
          <a:effectLst/>
        </p:spPr>
        <p:txBody>
          <a:bodyPr wrap="none">
            <a:spAutoFit/>
          </a:bodyPr>
          <a:lstStyle/>
          <a:p>
            <a:pPr algn="r"/>
            <a:r>
              <a:rPr lang="es-ES" sz="1000" dirty="0"/>
              <a:t>&lt;10,000</a:t>
            </a:r>
            <a:endParaRPr lang="en-US" sz="1000" dirty="0"/>
          </a:p>
        </p:txBody>
      </p:sp>
      <p:sp>
        <p:nvSpPr>
          <p:cNvPr id="121" name="Text Box 12"/>
          <p:cNvSpPr txBox="1">
            <a:spLocks noChangeArrowheads="1"/>
          </p:cNvSpPr>
          <p:nvPr/>
        </p:nvSpPr>
        <p:spPr bwMode="auto">
          <a:xfrm>
            <a:off x="678438" y="2073544"/>
            <a:ext cx="609462" cy="246221"/>
          </a:xfrm>
          <a:prstGeom prst="rect">
            <a:avLst/>
          </a:prstGeom>
          <a:noFill/>
          <a:ln w="9525" algn="ctr">
            <a:noFill/>
            <a:miter lim="800000"/>
            <a:headEnd/>
            <a:tailEnd/>
          </a:ln>
          <a:effectLst/>
        </p:spPr>
        <p:txBody>
          <a:bodyPr wrap="none">
            <a:spAutoFit/>
          </a:bodyPr>
          <a:lstStyle/>
          <a:p>
            <a:pPr algn="r"/>
            <a:r>
              <a:rPr lang="es-ES" sz="1000" dirty="0"/>
              <a:t>&lt;30,000</a:t>
            </a:r>
            <a:endParaRPr lang="en-US" sz="1000" dirty="0"/>
          </a:p>
        </p:txBody>
      </p:sp>
      <p:sp>
        <p:nvSpPr>
          <p:cNvPr id="125" name="Text Box 13"/>
          <p:cNvSpPr txBox="1">
            <a:spLocks noChangeArrowheads="1"/>
          </p:cNvSpPr>
          <p:nvPr/>
        </p:nvSpPr>
        <p:spPr bwMode="auto">
          <a:xfrm>
            <a:off x="1656184" y="4478923"/>
            <a:ext cx="543739" cy="246221"/>
          </a:xfrm>
          <a:prstGeom prst="rect">
            <a:avLst/>
          </a:prstGeom>
          <a:noFill/>
          <a:ln w="9525" algn="ctr">
            <a:noFill/>
            <a:miter lim="800000"/>
            <a:headEnd/>
            <a:tailEnd/>
          </a:ln>
          <a:effectLst/>
        </p:spPr>
        <p:txBody>
          <a:bodyPr wrap="none">
            <a:spAutoFit/>
          </a:bodyPr>
          <a:lstStyle/>
          <a:p>
            <a:r>
              <a:rPr lang="es-ES" sz="1000" dirty="0"/>
              <a:t>&lt;1,000</a:t>
            </a:r>
            <a:endParaRPr lang="en-US" sz="1000" dirty="0"/>
          </a:p>
        </p:txBody>
      </p:sp>
      <p:sp>
        <p:nvSpPr>
          <p:cNvPr id="131" name="Text Box 14"/>
          <p:cNvSpPr txBox="1">
            <a:spLocks noChangeArrowheads="1"/>
          </p:cNvSpPr>
          <p:nvPr/>
        </p:nvSpPr>
        <p:spPr bwMode="auto">
          <a:xfrm>
            <a:off x="2461046" y="4472256"/>
            <a:ext cx="543739" cy="246221"/>
          </a:xfrm>
          <a:prstGeom prst="rect">
            <a:avLst/>
          </a:prstGeom>
          <a:noFill/>
          <a:ln w="9525" algn="ctr">
            <a:noFill/>
            <a:miter lim="800000"/>
            <a:headEnd/>
            <a:tailEnd/>
          </a:ln>
          <a:effectLst/>
        </p:spPr>
        <p:txBody>
          <a:bodyPr wrap="none">
            <a:spAutoFit/>
          </a:bodyPr>
          <a:lstStyle/>
          <a:p>
            <a:r>
              <a:rPr lang="es-ES" sz="1000" dirty="0"/>
              <a:t>&lt;5,000</a:t>
            </a:r>
            <a:endParaRPr lang="en-US" sz="1000" dirty="0"/>
          </a:p>
        </p:txBody>
      </p:sp>
      <p:sp>
        <p:nvSpPr>
          <p:cNvPr id="132" name="Text Box 15"/>
          <p:cNvSpPr txBox="1">
            <a:spLocks noChangeArrowheads="1"/>
          </p:cNvSpPr>
          <p:nvPr/>
        </p:nvSpPr>
        <p:spPr bwMode="auto">
          <a:xfrm>
            <a:off x="3181771" y="4472256"/>
            <a:ext cx="609462" cy="246221"/>
          </a:xfrm>
          <a:prstGeom prst="rect">
            <a:avLst/>
          </a:prstGeom>
          <a:noFill/>
          <a:ln w="9525" algn="ctr">
            <a:noFill/>
            <a:miter lim="800000"/>
            <a:headEnd/>
            <a:tailEnd/>
          </a:ln>
          <a:effectLst/>
        </p:spPr>
        <p:txBody>
          <a:bodyPr wrap="none">
            <a:spAutoFit/>
          </a:bodyPr>
          <a:lstStyle/>
          <a:p>
            <a:r>
              <a:rPr lang="es-ES" sz="1000" dirty="0"/>
              <a:t>&lt;15,000</a:t>
            </a:r>
            <a:endParaRPr lang="en-US" sz="1000" dirty="0"/>
          </a:p>
        </p:txBody>
      </p:sp>
      <p:sp>
        <p:nvSpPr>
          <p:cNvPr id="136" name="AutoShape 16"/>
          <p:cNvSpPr>
            <a:spLocks noChangeArrowheads="1"/>
          </p:cNvSpPr>
          <p:nvPr/>
        </p:nvSpPr>
        <p:spPr bwMode="auto">
          <a:xfrm>
            <a:off x="198254" y="1425844"/>
            <a:ext cx="509822" cy="3097212"/>
          </a:xfrm>
          <a:prstGeom prst="homePlate">
            <a:avLst>
              <a:gd name="adj" fmla="val 32356"/>
            </a:avLst>
          </a:prstGeom>
          <a:solidFill>
            <a:schemeClr val="tx1">
              <a:lumMod val="10000"/>
              <a:lumOff val="90000"/>
            </a:schemeClr>
          </a:solidFill>
          <a:ln w="9525" algn="ctr">
            <a:noFill/>
            <a:miter lim="800000"/>
            <a:headEnd/>
            <a:tailEnd/>
          </a:ln>
          <a:effectLst>
            <a:prstShdw prst="shdw17" dist="17961" dir="2700000">
              <a:srgbClr val="ECECEC">
                <a:gamma/>
                <a:shade val="60000"/>
                <a:invGamma/>
              </a:srgbClr>
            </a:prstShdw>
          </a:effectLst>
        </p:spPr>
        <p:txBody>
          <a:bodyPr rot="10800000" vert="eaVert" anchor="ctr"/>
          <a:lstStyle/>
          <a:p>
            <a:pPr algn="ctr">
              <a:lnSpc>
                <a:spcPct val="90000"/>
              </a:lnSpc>
            </a:pPr>
            <a:r>
              <a:rPr lang="es-ES" sz="1100" b="1" dirty="0">
                <a:cs typeface="Arial" pitchFamily="34" charset="0"/>
              </a:rPr>
              <a:t>Exposición al Riesgo Operacional ***</a:t>
            </a:r>
          </a:p>
        </p:txBody>
      </p:sp>
      <p:sp>
        <p:nvSpPr>
          <p:cNvPr id="137" name="Text Box 34"/>
          <p:cNvSpPr txBox="1">
            <a:spLocks noChangeArrowheads="1"/>
          </p:cNvSpPr>
          <p:nvPr/>
        </p:nvSpPr>
        <p:spPr bwMode="auto">
          <a:xfrm>
            <a:off x="652504" y="1354406"/>
            <a:ext cx="823152" cy="369332"/>
          </a:xfrm>
          <a:prstGeom prst="rect">
            <a:avLst/>
          </a:prstGeom>
          <a:noFill/>
          <a:ln w="9525" algn="ctr">
            <a:noFill/>
            <a:miter lim="800000"/>
            <a:headEnd/>
            <a:tailEnd/>
          </a:ln>
          <a:effectLst/>
        </p:spPr>
        <p:txBody>
          <a:bodyPr wrap="square">
            <a:spAutoFit/>
          </a:bodyPr>
          <a:lstStyle/>
          <a:p>
            <a:r>
              <a:rPr lang="es-ES" sz="900" b="1" i="1" dirty="0"/>
              <a:t>PMA</a:t>
            </a:r>
          </a:p>
          <a:p>
            <a:r>
              <a:rPr lang="es-ES" sz="900" b="1" i="1" dirty="0"/>
              <a:t>(Miles)</a:t>
            </a:r>
            <a:endParaRPr lang="en-US" sz="900" b="1" i="1" dirty="0"/>
          </a:p>
        </p:txBody>
      </p:sp>
      <p:sp>
        <p:nvSpPr>
          <p:cNvPr id="138" name="Text Box 35"/>
          <p:cNvSpPr txBox="1">
            <a:spLocks noChangeArrowheads="1"/>
          </p:cNvSpPr>
          <p:nvPr/>
        </p:nvSpPr>
        <p:spPr bwMode="auto">
          <a:xfrm>
            <a:off x="3994491" y="4499828"/>
            <a:ext cx="937549" cy="369332"/>
          </a:xfrm>
          <a:prstGeom prst="rect">
            <a:avLst/>
          </a:prstGeom>
          <a:noFill/>
          <a:ln w="9525" algn="ctr">
            <a:noFill/>
            <a:miter lim="800000"/>
            <a:headEnd/>
            <a:tailEnd/>
          </a:ln>
          <a:effectLst/>
        </p:spPr>
        <p:txBody>
          <a:bodyPr wrap="square">
            <a:spAutoFit/>
          </a:bodyPr>
          <a:lstStyle/>
          <a:p>
            <a:r>
              <a:rPr lang="es-ES" sz="900" b="1" i="1" dirty="0"/>
              <a:t>PEA</a:t>
            </a:r>
          </a:p>
          <a:p>
            <a:r>
              <a:rPr lang="es-ES" sz="900" b="1" i="1" dirty="0"/>
              <a:t>(Miles)</a:t>
            </a:r>
            <a:endParaRPr lang="en-US" sz="900" b="1" i="1" dirty="0"/>
          </a:p>
        </p:txBody>
      </p:sp>
      <p:sp>
        <p:nvSpPr>
          <p:cNvPr id="142" name="Oval 90"/>
          <p:cNvSpPr>
            <a:spLocks noChangeArrowheads="1"/>
          </p:cNvSpPr>
          <p:nvPr/>
        </p:nvSpPr>
        <p:spPr bwMode="auto">
          <a:xfrm>
            <a:off x="4995209" y="1834018"/>
            <a:ext cx="274320" cy="274320"/>
          </a:xfrm>
          <a:prstGeom prst="ellipse">
            <a:avLst/>
          </a:prstGeom>
          <a:gradFill rotWithShape="1">
            <a:gsLst>
              <a:gs pos="0">
                <a:schemeClr val="accent6">
                  <a:lumMod val="75000"/>
                </a:schemeClr>
              </a:gs>
              <a:gs pos="100000">
                <a:schemeClr val="folHlink">
                  <a:gamma/>
                  <a:shade val="46275"/>
                  <a:invGamma/>
                </a:schemeClr>
              </a:gs>
            </a:gsLst>
            <a:path path="shape">
              <a:fillToRect l="50000" t="50000" r="50000" b="50000"/>
            </a:path>
          </a:gradFill>
          <a:ln w="9525" algn="ctr">
            <a:noFill/>
            <a:round/>
            <a:headEnd/>
            <a:tailEnd/>
          </a:ln>
          <a:effectLst/>
        </p:spPr>
        <p:txBody>
          <a:bodyPr wrap="none" anchor="ctr"/>
          <a:lstStyle/>
          <a:p>
            <a:pPr algn="ctr"/>
            <a:r>
              <a:rPr lang="en-US" sz="1100" b="1" dirty="0">
                <a:solidFill>
                  <a:schemeClr val="bg1"/>
                </a:solidFill>
              </a:rPr>
              <a:t>A</a:t>
            </a:r>
          </a:p>
        </p:txBody>
      </p:sp>
      <p:sp>
        <p:nvSpPr>
          <p:cNvPr id="143" name="Oval 90"/>
          <p:cNvSpPr>
            <a:spLocks noChangeArrowheads="1"/>
          </p:cNvSpPr>
          <p:nvPr/>
        </p:nvSpPr>
        <p:spPr bwMode="auto">
          <a:xfrm>
            <a:off x="4995209" y="2333322"/>
            <a:ext cx="274320" cy="274320"/>
          </a:xfrm>
          <a:prstGeom prst="ellipse">
            <a:avLst/>
          </a:prstGeom>
          <a:gradFill rotWithShape="1">
            <a:gsLst>
              <a:gs pos="0">
                <a:schemeClr val="accent6">
                  <a:lumMod val="75000"/>
                </a:schemeClr>
              </a:gs>
              <a:gs pos="100000">
                <a:schemeClr val="folHlink">
                  <a:gamma/>
                  <a:shade val="46275"/>
                  <a:invGamma/>
                </a:schemeClr>
              </a:gs>
            </a:gsLst>
            <a:path path="shape">
              <a:fillToRect l="50000" t="50000" r="50000" b="50000"/>
            </a:path>
          </a:gradFill>
          <a:ln w="9525" algn="ctr">
            <a:noFill/>
            <a:round/>
            <a:headEnd/>
            <a:tailEnd/>
          </a:ln>
          <a:effectLst/>
        </p:spPr>
        <p:txBody>
          <a:bodyPr wrap="none" anchor="ctr"/>
          <a:lstStyle/>
          <a:p>
            <a:pPr algn="ctr"/>
            <a:r>
              <a:rPr lang="en-US" sz="1100" b="1" dirty="0">
                <a:solidFill>
                  <a:schemeClr val="bg1"/>
                </a:solidFill>
              </a:rPr>
              <a:t>B</a:t>
            </a:r>
          </a:p>
        </p:txBody>
      </p:sp>
      <p:sp>
        <p:nvSpPr>
          <p:cNvPr id="144" name="Oval 90"/>
          <p:cNvSpPr>
            <a:spLocks noChangeArrowheads="1"/>
          </p:cNvSpPr>
          <p:nvPr/>
        </p:nvSpPr>
        <p:spPr bwMode="auto">
          <a:xfrm>
            <a:off x="4995209" y="2843271"/>
            <a:ext cx="274320" cy="274320"/>
          </a:xfrm>
          <a:prstGeom prst="ellipse">
            <a:avLst/>
          </a:prstGeom>
          <a:gradFill rotWithShape="1">
            <a:gsLst>
              <a:gs pos="0">
                <a:schemeClr val="accent6">
                  <a:lumMod val="75000"/>
                </a:schemeClr>
              </a:gs>
              <a:gs pos="100000">
                <a:schemeClr val="folHlink">
                  <a:gamma/>
                  <a:shade val="46275"/>
                  <a:invGamma/>
                </a:schemeClr>
              </a:gs>
            </a:gsLst>
            <a:path path="shape">
              <a:fillToRect l="50000" t="50000" r="50000" b="50000"/>
            </a:path>
          </a:gradFill>
          <a:ln w="9525" algn="ctr">
            <a:noFill/>
            <a:round/>
            <a:headEnd/>
            <a:tailEnd/>
          </a:ln>
          <a:effectLst/>
        </p:spPr>
        <p:txBody>
          <a:bodyPr wrap="none" anchor="ctr"/>
          <a:lstStyle/>
          <a:p>
            <a:pPr algn="ctr"/>
            <a:r>
              <a:rPr lang="en-US" sz="1100" b="1" dirty="0">
                <a:solidFill>
                  <a:schemeClr val="bg1"/>
                </a:solidFill>
              </a:rPr>
              <a:t>C</a:t>
            </a:r>
          </a:p>
        </p:txBody>
      </p:sp>
      <p:sp>
        <p:nvSpPr>
          <p:cNvPr id="148" name="Oval 90"/>
          <p:cNvSpPr>
            <a:spLocks noChangeArrowheads="1"/>
          </p:cNvSpPr>
          <p:nvPr/>
        </p:nvSpPr>
        <p:spPr bwMode="auto">
          <a:xfrm>
            <a:off x="4952369" y="3310095"/>
            <a:ext cx="360000" cy="360000"/>
          </a:xfrm>
          <a:prstGeom prst="ellipse">
            <a:avLst/>
          </a:prstGeom>
          <a:gradFill rotWithShape="1">
            <a:gsLst>
              <a:gs pos="0">
                <a:schemeClr val="accent6">
                  <a:lumMod val="75000"/>
                </a:schemeClr>
              </a:gs>
              <a:gs pos="100000">
                <a:schemeClr val="folHlink">
                  <a:gamma/>
                  <a:shade val="46275"/>
                  <a:invGamma/>
                </a:schemeClr>
              </a:gs>
            </a:gsLst>
            <a:path path="shape">
              <a:fillToRect l="50000" t="50000" r="50000" b="50000"/>
            </a:path>
          </a:gradFill>
          <a:ln w="9525" algn="ctr">
            <a:noFill/>
            <a:round/>
            <a:headEnd/>
            <a:tailEnd/>
          </a:ln>
          <a:effectLst/>
        </p:spPr>
        <p:txBody>
          <a:bodyPr wrap="none" anchor="ctr"/>
          <a:lstStyle/>
          <a:p>
            <a:pPr algn="ctr"/>
            <a:r>
              <a:rPr lang="en-US" sz="1100" b="1" dirty="0">
                <a:solidFill>
                  <a:schemeClr val="bg1"/>
                </a:solidFill>
              </a:rPr>
              <a:t>17</a:t>
            </a:r>
          </a:p>
        </p:txBody>
      </p:sp>
      <p:sp>
        <p:nvSpPr>
          <p:cNvPr id="149" name="Oval 90"/>
          <p:cNvSpPr>
            <a:spLocks noChangeArrowheads="1"/>
          </p:cNvSpPr>
          <p:nvPr/>
        </p:nvSpPr>
        <p:spPr bwMode="auto">
          <a:xfrm>
            <a:off x="2771840" y="2132896"/>
            <a:ext cx="360000" cy="360000"/>
          </a:xfrm>
          <a:prstGeom prst="ellipse">
            <a:avLst/>
          </a:prstGeom>
          <a:gradFill rotWithShape="1">
            <a:gsLst>
              <a:gs pos="0">
                <a:schemeClr val="accent6">
                  <a:lumMod val="75000"/>
                </a:schemeClr>
              </a:gs>
              <a:gs pos="100000">
                <a:schemeClr val="folHlink">
                  <a:gamma/>
                  <a:shade val="46275"/>
                  <a:invGamma/>
                </a:schemeClr>
              </a:gs>
            </a:gsLst>
            <a:path path="shape">
              <a:fillToRect l="50000" t="50000" r="50000" b="50000"/>
            </a:path>
          </a:gradFill>
          <a:ln w="9525" algn="ctr">
            <a:noFill/>
            <a:round/>
            <a:headEnd/>
            <a:tailEnd/>
          </a:ln>
          <a:effectLst/>
        </p:spPr>
        <p:txBody>
          <a:bodyPr wrap="none" anchor="ctr"/>
          <a:lstStyle/>
          <a:p>
            <a:pPr algn="ctr"/>
            <a:endParaRPr lang="en-US" sz="1100" b="1" dirty="0">
              <a:solidFill>
                <a:schemeClr val="bg1"/>
              </a:solidFill>
            </a:endParaRPr>
          </a:p>
        </p:txBody>
      </p:sp>
      <p:sp>
        <p:nvSpPr>
          <p:cNvPr id="151" name="Oval 90"/>
          <p:cNvSpPr>
            <a:spLocks noChangeArrowheads="1"/>
          </p:cNvSpPr>
          <p:nvPr/>
        </p:nvSpPr>
        <p:spPr bwMode="auto">
          <a:xfrm>
            <a:off x="2758430" y="2434600"/>
            <a:ext cx="274320" cy="274320"/>
          </a:xfrm>
          <a:prstGeom prst="ellipse">
            <a:avLst/>
          </a:prstGeom>
          <a:gradFill rotWithShape="1">
            <a:gsLst>
              <a:gs pos="0">
                <a:schemeClr val="accent6">
                  <a:lumMod val="75000"/>
                </a:schemeClr>
              </a:gs>
              <a:gs pos="100000">
                <a:schemeClr val="folHlink">
                  <a:gamma/>
                  <a:shade val="46275"/>
                  <a:invGamma/>
                </a:schemeClr>
              </a:gs>
            </a:gsLst>
            <a:path path="shape">
              <a:fillToRect l="50000" t="50000" r="50000" b="50000"/>
            </a:path>
          </a:gradFill>
          <a:ln w="9525" algn="ctr">
            <a:noFill/>
            <a:round/>
            <a:headEnd/>
            <a:tailEnd/>
          </a:ln>
          <a:effectLst/>
        </p:spPr>
        <p:txBody>
          <a:bodyPr wrap="none" anchor="ctr"/>
          <a:lstStyle/>
          <a:p>
            <a:pPr algn="ctr"/>
            <a:r>
              <a:rPr lang="en-US" sz="1100" b="1" dirty="0">
                <a:solidFill>
                  <a:schemeClr val="bg1"/>
                </a:solidFill>
              </a:rPr>
              <a:t>C</a:t>
            </a:r>
          </a:p>
        </p:txBody>
      </p:sp>
      <p:sp>
        <p:nvSpPr>
          <p:cNvPr id="152" name="Oval 90"/>
          <p:cNvSpPr>
            <a:spLocks noChangeArrowheads="1"/>
          </p:cNvSpPr>
          <p:nvPr/>
        </p:nvSpPr>
        <p:spPr bwMode="auto">
          <a:xfrm>
            <a:off x="1417360" y="3356992"/>
            <a:ext cx="274320" cy="274320"/>
          </a:xfrm>
          <a:prstGeom prst="ellipse">
            <a:avLst/>
          </a:prstGeom>
          <a:gradFill rotWithShape="1">
            <a:gsLst>
              <a:gs pos="0">
                <a:schemeClr val="accent6">
                  <a:lumMod val="75000"/>
                </a:schemeClr>
              </a:gs>
              <a:gs pos="100000">
                <a:schemeClr val="folHlink">
                  <a:gamma/>
                  <a:shade val="46275"/>
                  <a:invGamma/>
                </a:schemeClr>
              </a:gs>
            </a:gsLst>
            <a:path path="shape">
              <a:fillToRect l="50000" t="50000" r="50000" b="50000"/>
            </a:path>
          </a:gradFill>
          <a:ln w="9525" algn="ctr">
            <a:noFill/>
            <a:round/>
            <a:headEnd/>
            <a:tailEnd/>
          </a:ln>
          <a:effectLst/>
        </p:spPr>
        <p:txBody>
          <a:bodyPr wrap="none" anchor="ctr"/>
          <a:lstStyle/>
          <a:p>
            <a:pPr algn="ctr"/>
            <a:r>
              <a:rPr lang="en-US" sz="1100" b="1" dirty="0">
                <a:solidFill>
                  <a:schemeClr val="bg1"/>
                </a:solidFill>
              </a:rPr>
              <a:t>A</a:t>
            </a:r>
          </a:p>
        </p:txBody>
      </p:sp>
      <p:sp>
        <p:nvSpPr>
          <p:cNvPr id="153" name="Oval 90"/>
          <p:cNvSpPr>
            <a:spLocks noChangeArrowheads="1"/>
          </p:cNvSpPr>
          <p:nvPr/>
        </p:nvSpPr>
        <p:spPr bwMode="auto">
          <a:xfrm>
            <a:off x="1201336" y="4005064"/>
            <a:ext cx="274320" cy="274320"/>
          </a:xfrm>
          <a:prstGeom prst="ellipse">
            <a:avLst/>
          </a:prstGeom>
          <a:gradFill rotWithShape="1">
            <a:gsLst>
              <a:gs pos="0">
                <a:schemeClr val="accent6">
                  <a:lumMod val="75000"/>
                </a:schemeClr>
              </a:gs>
              <a:gs pos="100000">
                <a:schemeClr val="folHlink">
                  <a:gamma/>
                  <a:shade val="46275"/>
                  <a:invGamma/>
                </a:schemeClr>
              </a:gs>
            </a:gsLst>
            <a:path path="shape">
              <a:fillToRect l="50000" t="50000" r="50000" b="50000"/>
            </a:path>
          </a:gradFill>
          <a:ln w="9525" algn="ctr">
            <a:noFill/>
            <a:round/>
            <a:headEnd/>
            <a:tailEnd/>
          </a:ln>
          <a:effectLst/>
        </p:spPr>
        <p:txBody>
          <a:bodyPr wrap="none" anchor="ctr"/>
          <a:lstStyle/>
          <a:p>
            <a:pPr algn="ctr"/>
            <a:r>
              <a:rPr lang="en-US" sz="1100" b="1" dirty="0">
                <a:solidFill>
                  <a:schemeClr val="bg1"/>
                </a:solidFill>
              </a:rPr>
              <a:t>B</a:t>
            </a:r>
          </a:p>
        </p:txBody>
      </p:sp>
      <p:sp>
        <p:nvSpPr>
          <p:cNvPr id="154" name="Rectangle 29"/>
          <p:cNvSpPr txBox="1">
            <a:spLocks noChangeArrowheads="1"/>
          </p:cNvSpPr>
          <p:nvPr/>
        </p:nvSpPr>
        <p:spPr bwMode="gray">
          <a:xfrm>
            <a:off x="1043608" y="706143"/>
            <a:ext cx="7003517" cy="455798"/>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lang="es-ES_tradnl" b="1" noProof="0" dirty="0">
                <a:latin typeface="+mj-lt"/>
                <a:sym typeface="Wingdings" pitchFamily="2" charset="2"/>
              </a:rPr>
              <a:t>En </a:t>
            </a:r>
            <a:r>
              <a:rPr lang="es-ES_tradnl" b="1" dirty="0">
                <a:solidFill>
                  <a:srgbClr val="DB0613"/>
                </a:solidFill>
                <a:latin typeface="+mj-lt"/>
                <a:sym typeface="Wingdings" pitchFamily="2" charset="2"/>
              </a:rPr>
              <a:t>Suscripción Vehicular</a:t>
            </a:r>
            <a:r>
              <a:rPr lang="es-ES_tradnl" b="1" dirty="0">
                <a:latin typeface="+mj-lt"/>
                <a:sym typeface="Wingdings" pitchFamily="2" charset="2"/>
              </a:rPr>
              <a:t>, </a:t>
            </a:r>
            <a:r>
              <a:rPr lang="es-ES_tradnl" b="1" noProof="0" dirty="0">
                <a:latin typeface="+mj-lt"/>
                <a:sym typeface="Wingdings" pitchFamily="2" charset="2"/>
              </a:rPr>
              <a:t>Rimac está expuesto a riesgos operativos que implican impactos monetarios…</a:t>
            </a:r>
            <a:endParaRPr kumimoji="0" lang="es-ES_tradnl" sz="2000" b="1" i="0" u="none" strike="noStrike" kern="0" cap="none" spc="0" normalizeH="0" baseline="0" noProof="0" dirty="0">
              <a:ln>
                <a:noFill/>
              </a:ln>
              <a:effectLst/>
              <a:uLnTx/>
              <a:uFillTx/>
              <a:latin typeface="+mj-lt"/>
              <a:ea typeface="+mj-ea"/>
              <a:cs typeface="+mj-cs"/>
            </a:endParaRPr>
          </a:p>
        </p:txBody>
      </p:sp>
      <p:sp>
        <p:nvSpPr>
          <p:cNvPr id="155" name="Rectangle 29"/>
          <p:cNvSpPr txBox="1">
            <a:spLocks noChangeArrowheads="1"/>
          </p:cNvSpPr>
          <p:nvPr/>
        </p:nvSpPr>
        <p:spPr bwMode="gray">
          <a:xfrm>
            <a:off x="467545" y="5589240"/>
            <a:ext cx="8209382" cy="455798"/>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algn="ctr" fontAlgn="base">
              <a:spcBef>
                <a:spcPct val="0"/>
              </a:spcBef>
              <a:spcAft>
                <a:spcPct val="0"/>
              </a:spcAft>
              <a:defRPr/>
            </a:pPr>
            <a:r>
              <a:rPr lang="es-ES" b="1" dirty="0">
                <a:latin typeface="+mj-lt"/>
                <a:sym typeface="Wingdings" pitchFamily="2" charset="2"/>
              </a:rPr>
              <a:t>… por lo que es necesario, la definición de indicadores (para monitorizarlos y controlarlos); junto con Planes de Acción y Planes de Continuidad (para mitigarlos).</a:t>
            </a:r>
            <a:endParaRPr lang="es-ES_tradnl" b="1" dirty="0">
              <a:latin typeface="+mj-lt"/>
              <a:sym typeface="Wingdings" pitchFamily="2" charset="2"/>
            </a:endParaRPr>
          </a:p>
        </p:txBody>
      </p:sp>
      <p:sp>
        <p:nvSpPr>
          <p:cNvPr id="156" name="Rounded Rectangle 139"/>
          <p:cNvSpPr/>
          <p:nvPr/>
        </p:nvSpPr>
        <p:spPr>
          <a:xfrm>
            <a:off x="1493876" y="4036755"/>
            <a:ext cx="216000" cy="216000"/>
          </a:xfrm>
          <a:prstGeom prst="roundRect">
            <a:avLst/>
          </a:prstGeom>
          <a:solidFill>
            <a:srgbClr val="F26D00"/>
          </a:solidFill>
          <a:ln w="9525" algn="ctr">
            <a:noFill/>
            <a:round/>
            <a:headEnd/>
            <a:tailEnd/>
          </a:ln>
          <a:effectLst/>
        </p:spPr>
        <p:txBody>
          <a:bodyPr wrap="none" anchor="ctr"/>
          <a:lstStyle/>
          <a:p>
            <a:pPr algn="ctr"/>
            <a:r>
              <a:rPr lang="es-PE" sz="1000" b="1" dirty="0">
                <a:solidFill>
                  <a:schemeClr val="bg1"/>
                </a:solidFill>
              </a:rPr>
              <a:t>3</a:t>
            </a:r>
            <a:endParaRPr lang="es-ES" sz="1000" b="1" dirty="0">
              <a:solidFill>
                <a:schemeClr val="bg1"/>
              </a:solidFill>
            </a:endParaRPr>
          </a:p>
        </p:txBody>
      </p:sp>
      <p:sp>
        <p:nvSpPr>
          <p:cNvPr id="157" name="Rounded Rectangle 139"/>
          <p:cNvSpPr/>
          <p:nvPr/>
        </p:nvSpPr>
        <p:spPr>
          <a:xfrm>
            <a:off x="1718574" y="3383910"/>
            <a:ext cx="216000" cy="216000"/>
          </a:xfrm>
          <a:prstGeom prst="roundRect">
            <a:avLst/>
          </a:prstGeom>
          <a:solidFill>
            <a:srgbClr val="F26D00"/>
          </a:solidFill>
          <a:ln w="9525" algn="ctr">
            <a:noFill/>
            <a:round/>
            <a:headEnd/>
            <a:tailEnd/>
          </a:ln>
          <a:effectLst/>
        </p:spPr>
        <p:txBody>
          <a:bodyPr wrap="none" anchor="ctr"/>
          <a:lstStyle/>
          <a:p>
            <a:pPr algn="ctr"/>
            <a:r>
              <a:rPr lang="es-PE" sz="1000" b="1" dirty="0">
                <a:solidFill>
                  <a:schemeClr val="bg1"/>
                </a:solidFill>
              </a:rPr>
              <a:t>4</a:t>
            </a:r>
            <a:endParaRPr lang="es-ES" sz="1000" b="1" dirty="0">
              <a:solidFill>
                <a:schemeClr val="bg1"/>
              </a:solidFill>
            </a:endParaRPr>
          </a:p>
        </p:txBody>
      </p:sp>
      <p:sp>
        <p:nvSpPr>
          <p:cNvPr id="158" name="Rounded Rectangle 139"/>
          <p:cNvSpPr/>
          <p:nvPr/>
        </p:nvSpPr>
        <p:spPr>
          <a:xfrm>
            <a:off x="3046197" y="2466267"/>
            <a:ext cx="216000" cy="216000"/>
          </a:xfrm>
          <a:prstGeom prst="roundRect">
            <a:avLst/>
          </a:prstGeom>
          <a:solidFill>
            <a:srgbClr val="F26D00"/>
          </a:solidFill>
          <a:ln w="9525" algn="ctr">
            <a:noFill/>
            <a:round/>
            <a:headEnd/>
            <a:tailEnd/>
          </a:ln>
          <a:effectLst/>
        </p:spPr>
        <p:txBody>
          <a:bodyPr wrap="none" anchor="ctr"/>
          <a:lstStyle/>
          <a:p>
            <a:pPr algn="ctr"/>
            <a:r>
              <a:rPr lang="es-PE" sz="1000" b="1" dirty="0">
                <a:solidFill>
                  <a:schemeClr val="bg1"/>
                </a:solidFill>
              </a:rPr>
              <a:t>10</a:t>
            </a:r>
            <a:endParaRPr lang="es-ES" sz="1000" b="1" dirty="0">
              <a:solidFill>
                <a:schemeClr val="bg1"/>
              </a:solidFill>
            </a:endParaRPr>
          </a:p>
        </p:txBody>
      </p:sp>
      <p:sp>
        <p:nvSpPr>
          <p:cNvPr id="159" name="AutoShape 92"/>
          <p:cNvSpPr>
            <a:spLocks noChangeArrowheads="1"/>
          </p:cNvSpPr>
          <p:nvPr/>
        </p:nvSpPr>
        <p:spPr bwMode="auto">
          <a:xfrm>
            <a:off x="1736794" y="4005064"/>
            <a:ext cx="270000" cy="270000"/>
          </a:xfrm>
          <a:prstGeom prst="diamond">
            <a:avLst/>
          </a:prstGeom>
          <a:solidFill>
            <a:srgbClr val="009644"/>
          </a:solidFill>
          <a:ln w="9525" algn="ctr">
            <a:noFill/>
            <a:miter lim="800000"/>
            <a:headEnd/>
            <a:tailEnd/>
          </a:ln>
          <a:effectLst/>
        </p:spPr>
        <p:txBody>
          <a:bodyPr wrap="none" anchor="ctr"/>
          <a:lstStyle/>
          <a:p>
            <a:pPr algn="ctr"/>
            <a:r>
              <a:rPr lang="en-US" sz="1000" b="1" dirty="0">
                <a:solidFill>
                  <a:schemeClr val="bg1"/>
                </a:solidFill>
              </a:rPr>
              <a:t>4</a:t>
            </a:r>
          </a:p>
        </p:txBody>
      </p:sp>
      <p:sp>
        <p:nvSpPr>
          <p:cNvPr id="160" name="AutoShape 92"/>
          <p:cNvSpPr>
            <a:spLocks noChangeArrowheads="1"/>
          </p:cNvSpPr>
          <p:nvPr/>
        </p:nvSpPr>
        <p:spPr bwMode="auto">
          <a:xfrm>
            <a:off x="1957403" y="3356992"/>
            <a:ext cx="270000" cy="270000"/>
          </a:xfrm>
          <a:prstGeom prst="diamond">
            <a:avLst/>
          </a:prstGeom>
          <a:solidFill>
            <a:srgbClr val="009644"/>
          </a:solidFill>
          <a:ln w="9525" algn="ctr">
            <a:noFill/>
            <a:miter lim="800000"/>
            <a:headEnd/>
            <a:tailEnd/>
          </a:ln>
          <a:effectLst/>
        </p:spPr>
        <p:txBody>
          <a:bodyPr wrap="none" anchor="ctr"/>
          <a:lstStyle/>
          <a:p>
            <a:pPr algn="ctr"/>
            <a:r>
              <a:rPr lang="en-US" sz="1000" b="1" dirty="0">
                <a:solidFill>
                  <a:schemeClr val="bg1"/>
                </a:solidFill>
              </a:rPr>
              <a:t>4</a:t>
            </a:r>
          </a:p>
        </p:txBody>
      </p:sp>
      <p:sp>
        <p:nvSpPr>
          <p:cNvPr id="161" name="AutoShape 92"/>
          <p:cNvSpPr>
            <a:spLocks noChangeArrowheads="1"/>
          </p:cNvSpPr>
          <p:nvPr/>
        </p:nvSpPr>
        <p:spPr bwMode="auto">
          <a:xfrm>
            <a:off x="3293888" y="2429827"/>
            <a:ext cx="270000" cy="270000"/>
          </a:xfrm>
          <a:prstGeom prst="diamond">
            <a:avLst/>
          </a:prstGeom>
          <a:solidFill>
            <a:srgbClr val="009644"/>
          </a:solidFill>
          <a:ln w="9525" algn="ctr">
            <a:noFill/>
            <a:miter lim="800000"/>
            <a:headEnd/>
            <a:tailEnd/>
          </a:ln>
          <a:effectLst/>
        </p:spPr>
        <p:txBody>
          <a:bodyPr wrap="none" anchor="ctr"/>
          <a:lstStyle/>
          <a:p>
            <a:pPr algn="ctr"/>
            <a:r>
              <a:rPr lang="en-US" sz="1000" b="1" dirty="0">
                <a:solidFill>
                  <a:schemeClr val="bg1"/>
                </a:solidFill>
              </a:rPr>
              <a:t>3</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 name="Action Button: Forward or Next 133">
            <a:hlinkClick r:id="rId2" action="ppaction://hlinksldjump" highlightClick="1"/>
          </p:cNvPr>
          <p:cNvSpPr/>
          <p:nvPr/>
        </p:nvSpPr>
        <p:spPr>
          <a:xfrm>
            <a:off x="5064369" y="2520016"/>
            <a:ext cx="144449" cy="144000"/>
          </a:xfrm>
          <a:prstGeom prst="actionButtonForwardNext">
            <a:avLst/>
          </a:prstGeom>
          <a:solidFill>
            <a:schemeClr val="bg1">
              <a:lumMod val="7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solidFill>
                <a:schemeClr val="bg1">
                  <a:lumMod val="50000"/>
                </a:schemeClr>
              </a:solidFill>
            </a:endParaRPr>
          </a:p>
        </p:txBody>
      </p:sp>
      <p:sp>
        <p:nvSpPr>
          <p:cNvPr id="135" name="Action Button: Forward or Next 134">
            <a:hlinkClick r:id="rId3" action="ppaction://hlinksldjump" highlightClick="1"/>
          </p:cNvPr>
          <p:cNvSpPr/>
          <p:nvPr/>
        </p:nvSpPr>
        <p:spPr>
          <a:xfrm>
            <a:off x="5064353" y="3132016"/>
            <a:ext cx="144449" cy="144000"/>
          </a:xfrm>
          <a:prstGeom prst="actionButtonForwardNext">
            <a:avLst/>
          </a:prstGeom>
          <a:solidFill>
            <a:schemeClr val="bg1">
              <a:lumMod val="7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solidFill>
                <a:schemeClr val="bg1">
                  <a:lumMod val="50000"/>
                </a:schemeClr>
              </a:solidFill>
            </a:endParaRPr>
          </a:p>
        </p:txBody>
      </p:sp>
      <p:sp>
        <p:nvSpPr>
          <p:cNvPr id="136" name="Action Button: Forward or Next 135">
            <a:hlinkClick r:id="rId4" action="ppaction://hlinksldjump" highlightClick="1"/>
          </p:cNvPr>
          <p:cNvSpPr/>
          <p:nvPr/>
        </p:nvSpPr>
        <p:spPr>
          <a:xfrm>
            <a:off x="5064353" y="3726016"/>
            <a:ext cx="144449" cy="144000"/>
          </a:xfrm>
          <a:prstGeom prst="actionButtonForwardNext">
            <a:avLst/>
          </a:prstGeom>
          <a:solidFill>
            <a:schemeClr val="bg1">
              <a:lumMod val="7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solidFill>
                <a:schemeClr val="bg1">
                  <a:lumMod val="50000"/>
                </a:schemeClr>
              </a:solidFill>
            </a:endParaRPr>
          </a:p>
        </p:txBody>
      </p:sp>
      <p:sp>
        <p:nvSpPr>
          <p:cNvPr id="137" name="Action Button: Forward or Next 136">
            <a:hlinkClick r:id="rId5" action="ppaction://hlinksldjump" highlightClick="1"/>
          </p:cNvPr>
          <p:cNvSpPr/>
          <p:nvPr/>
        </p:nvSpPr>
        <p:spPr>
          <a:xfrm>
            <a:off x="5064353" y="4293112"/>
            <a:ext cx="144449" cy="144000"/>
          </a:xfrm>
          <a:prstGeom prst="actionButtonForwardNext">
            <a:avLst/>
          </a:prstGeom>
          <a:solidFill>
            <a:schemeClr val="bg1">
              <a:lumMod val="7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solidFill>
                <a:schemeClr val="bg1">
                  <a:lumMod val="50000"/>
                </a:schemeClr>
              </a:solidFill>
            </a:endParaRPr>
          </a:p>
        </p:txBody>
      </p:sp>
      <p:sp>
        <p:nvSpPr>
          <p:cNvPr id="138" name="Action Button: Forward or Next 137">
            <a:hlinkClick r:id="rId6" action="ppaction://hlinksldjump" highlightClick="1"/>
          </p:cNvPr>
          <p:cNvSpPr/>
          <p:nvPr/>
        </p:nvSpPr>
        <p:spPr>
          <a:xfrm>
            <a:off x="5064353" y="4941168"/>
            <a:ext cx="144449" cy="144000"/>
          </a:xfrm>
          <a:prstGeom prst="actionButtonForwardNext">
            <a:avLst/>
          </a:prstGeom>
          <a:solidFill>
            <a:schemeClr val="bg1">
              <a:lumMod val="7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solidFill>
                <a:schemeClr val="bg1">
                  <a:lumMod val="50000"/>
                </a:schemeClr>
              </a:solidFill>
            </a:endParaRPr>
          </a:p>
        </p:txBody>
      </p:sp>
      <p:sp>
        <p:nvSpPr>
          <p:cNvPr id="141" name="TextBox 140"/>
          <p:cNvSpPr txBox="1"/>
          <p:nvPr/>
        </p:nvSpPr>
        <p:spPr>
          <a:xfrm>
            <a:off x="2895294" y="6237312"/>
            <a:ext cx="4989074" cy="553998"/>
          </a:xfrm>
          <a:prstGeom prst="rect">
            <a:avLst/>
          </a:prstGeom>
          <a:noFill/>
        </p:spPr>
        <p:txBody>
          <a:bodyPr wrap="square" rtlCol="0">
            <a:spAutoFit/>
          </a:bodyPr>
          <a:lstStyle/>
          <a:p>
            <a:r>
              <a:rPr lang="es-ES" sz="1000" dirty="0"/>
              <a:t>*     PEA: Pérdida Esperada Anual.</a:t>
            </a:r>
          </a:p>
          <a:p>
            <a:r>
              <a:rPr lang="es-ES" sz="1000" dirty="0"/>
              <a:t>**   PMA: Pérdida Máxima Anual (VaR).</a:t>
            </a:r>
          </a:p>
          <a:p>
            <a:r>
              <a:rPr lang="es-ES" sz="1000" dirty="0"/>
              <a:t>*** Porcentaje calculado en base al total de riesgos.</a:t>
            </a:r>
          </a:p>
        </p:txBody>
      </p:sp>
      <p:sp>
        <p:nvSpPr>
          <p:cNvPr id="139" name="1 Título"/>
          <p:cNvSpPr>
            <a:spLocks noGrp="1"/>
          </p:cNvSpPr>
          <p:nvPr>
            <p:ph type="title"/>
          </p:nvPr>
        </p:nvSpPr>
        <p:spPr>
          <a:xfrm>
            <a:off x="47624" y="32965"/>
            <a:ext cx="8627715" cy="587723"/>
          </a:xfrm>
        </p:spPr>
        <p:txBody>
          <a:bodyPr/>
          <a:lstStyle/>
          <a:p>
            <a:r>
              <a:rPr lang="es-PE" dirty="0"/>
              <a:t>          Información Detallada: Exposición al RO y Entorno de Control</a:t>
            </a:r>
          </a:p>
        </p:txBody>
      </p:sp>
      <p:sp>
        <p:nvSpPr>
          <p:cNvPr id="140" name="Rounded Rectangle 3">
            <a:hlinkClick r:id="rId7" action="ppaction://hlinksldjump"/>
          </p:cNvPr>
          <p:cNvSpPr/>
          <p:nvPr/>
        </p:nvSpPr>
        <p:spPr>
          <a:xfrm>
            <a:off x="217915" y="146806"/>
            <a:ext cx="470426" cy="360040"/>
          </a:xfrm>
          <a:prstGeom prst="roundRect">
            <a:avLst/>
          </a:prstGeom>
          <a:solidFill>
            <a:srgbClr val="DB0613"/>
          </a:solidFill>
          <a:ln>
            <a:solidFill>
              <a:srgbClr val="A9A9A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PE" sz="1400" b="1" dirty="0"/>
              <a:t>2.2</a:t>
            </a:r>
            <a:endParaRPr lang="es-ES" sz="1400" b="1" dirty="0"/>
          </a:p>
        </p:txBody>
      </p:sp>
      <p:sp>
        <p:nvSpPr>
          <p:cNvPr id="94" name="AutoShape 220"/>
          <p:cNvSpPr>
            <a:spLocks noChangeArrowheads="1"/>
          </p:cNvSpPr>
          <p:nvPr/>
        </p:nvSpPr>
        <p:spPr bwMode="auto">
          <a:xfrm>
            <a:off x="107504" y="5229200"/>
            <a:ext cx="2520000" cy="900000"/>
          </a:xfrm>
          <a:prstGeom prst="roundRect">
            <a:avLst>
              <a:gd name="adj" fmla="val 4611"/>
            </a:avLst>
          </a:prstGeom>
          <a:solidFill>
            <a:schemeClr val="accent1">
              <a:lumMod val="20000"/>
              <a:lumOff val="80000"/>
            </a:schemeClr>
          </a:solidFill>
          <a:ln w="9525" algn="ctr">
            <a:noFill/>
            <a:prstDash val="dash"/>
            <a:round/>
            <a:headEnd/>
            <a:tailEnd/>
          </a:ln>
          <a:effectLst/>
        </p:spPr>
        <p:txBody>
          <a:bodyPr wrap="none" anchor="ctr"/>
          <a:lstStyle/>
          <a:p>
            <a:endParaRPr lang="en-US" dirty="0"/>
          </a:p>
        </p:txBody>
      </p:sp>
      <p:sp>
        <p:nvSpPr>
          <p:cNvPr id="95" name="Rectangle 29"/>
          <p:cNvSpPr txBox="1">
            <a:spLocks noChangeArrowheads="1"/>
          </p:cNvSpPr>
          <p:nvPr/>
        </p:nvSpPr>
        <p:spPr bwMode="gray">
          <a:xfrm>
            <a:off x="1257424" y="692696"/>
            <a:ext cx="7275016" cy="455798"/>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lang="es-ES_tradnl" sz="1600" b="1" dirty="0">
                <a:solidFill>
                  <a:srgbClr val="4D4D4D"/>
                </a:solidFill>
                <a:latin typeface="+mj-lt"/>
                <a:sym typeface="Wingdings" pitchFamily="2" charset="2"/>
              </a:rPr>
              <a:t>Dentro de los </a:t>
            </a:r>
            <a:r>
              <a:rPr lang="es-ES_tradnl" b="1" dirty="0">
                <a:solidFill>
                  <a:srgbClr val="4D4D4D"/>
                </a:solidFill>
                <a:latin typeface="+mj-lt"/>
                <a:sym typeface="Wingdings" pitchFamily="2" charset="2"/>
              </a:rPr>
              <a:t>subprocesos</a:t>
            </a:r>
            <a:r>
              <a:rPr lang="es-ES_tradnl" sz="1600" b="1" dirty="0">
                <a:solidFill>
                  <a:srgbClr val="4D4D4D"/>
                </a:solidFill>
                <a:latin typeface="+mj-lt"/>
                <a:sym typeface="Wingdings" pitchFamily="2" charset="2"/>
              </a:rPr>
              <a:t> identificados, los </a:t>
            </a:r>
            <a:r>
              <a:rPr lang="es-ES_tradnl" sz="1600" b="1" dirty="0">
                <a:solidFill>
                  <a:srgbClr val="DB0613"/>
                </a:solidFill>
                <a:latin typeface="+mj-lt"/>
                <a:sym typeface="Wingdings" pitchFamily="2" charset="2"/>
              </a:rPr>
              <a:t>riesgos con mayor criticidad </a:t>
            </a:r>
            <a:r>
              <a:rPr lang="es-ES_tradnl" sz="1600" b="1" dirty="0">
                <a:solidFill>
                  <a:srgbClr val="4D4D4D"/>
                </a:solidFill>
                <a:latin typeface="+mj-lt"/>
                <a:sym typeface="Wingdings" pitchFamily="2" charset="2"/>
              </a:rPr>
              <a:t>son…</a:t>
            </a:r>
            <a:endParaRPr kumimoji="0" lang="es-ES_tradnl" sz="1800" b="1" i="0" u="none" strike="noStrike" kern="0" cap="none" spc="0" normalizeH="0" baseline="0" noProof="0" dirty="0">
              <a:ln>
                <a:noFill/>
              </a:ln>
              <a:solidFill>
                <a:schemeClr val="hlink"/>
              </a:solidFill>
              <a:effectLst/>
              <a:uLnTx/>
              <a:uFillTx/>
              <a:latin typeface="+mj-lt"/>
              <a:ea typeface="+mj-ea"/>
              <a:cs typeface="+mj-cs"/>
            </a:endParaRPr>
          </a:p>
        </p:txBody>
      </p:sp>
      <p:sp>
        <p:nvSpPr>
          <p:cNvPr id="99" name="AutoShape 220"/>
          <p:cNvSpPr>
            <a:spLocks noChangeArrowheads="1"/>
          </p:cNvSpPr>
          <p:nvPr/>
        </p:nvSpPr>
        <p:spPr bwMode="auto">
          <a:xfrm>
            <a:off x="5220504" y="5229200"/>
            <a:ext cx="3888000" cy="900000"/>
          </a:xfrm>
          <a:prstGeom prst="roundRect">
            <a:avLst>
              <a:gd name="adj" fmla="val 4611"/>
            </a:avLst>
          </a:prstGeom>
          <a:solidFill>
            <a:schemeClr val="accent1">
              <a:lumMod val="20000"/>
              <a:lumOff val="80000"/>
            </a:schemeClr>
          </a:solidFill>
          <a:ln w="9525" algn="ctr">
            <a:noFill/>
            <a:prstDash val="dash"/>
            <a:round/>
            <a:headEnd/>
            <a:tailEnd/>
          </a:ln>
          <a:effectLst/>
        </p:spPr>
        <p:txBody>
          <a:bodyPr wrap="none" anchor="ctr"/>
          <a:lstStyle/>
          <a:p>
            <a:endParaRPr lang="en-US" dirty="0"/>
          </a:p>
        </p:txBody>
      </p:sp>
      <p:grpSp>
        <p:nvGrpSpPr>
          <p:cNvPr id="100" name="Group 47"/>
          <p:cNvGrpSpPr/>
          <p:nvPr/>
        </p:nvGrpSpPr>
        <p:grpSpPr>
          <a:xfrm>
            <a:off x="251520" y="5390034"/>
            <a:ext cx="1079500" cy="619126"/>
            <a:chOff x="3635896" y="5488867"/>
            <a:chExt cx="1079500" cy="619126"/>
          </a:xfrm>
        </p:grpSpPr>
        <p:sp>
          <p:nvSpPr>
            <p:cNvPr id="101" name="Rectangle 208"/>
            <p:cNvSpPr>
              <a:spLocks noChangeArrowheads="1"/>
            </p:cNvSpPr>
            <p:nvPr/>
          </p:nvSpPr>
          <p:spPr bwMode="auto">
            <a:xfrm>
              <a:off x="3635896" y="5488867"/>
              <a:ext cx="1079500" cy="215900"/>
            </a:xfrm>
            <a:prstGeom prst="rect">
              <a:avLst/>
            </a:prstGeom>
            <a:solidFill>
              <a:srgbClr val="DB0613"/>
            </a:solidFill>
            <a:ln w="9525" algn="ctr">
              <a:noFill/>
              <a:miter lim="800000"/>
              <a:headEnd/>
              <a:tailEnd/>
            </a:ln>
            <a:effectLst/>
          </p:spPr>
          <p:txBody>
            <a:bodyPr anchor="ctr"/>
            <a:lstStyle/>
            <a:p>
              <a:pPr algn="ctr"/>
              <a:r>
                <a:rPr lang="es-ES" sz="1000" b="1" u="none" dirty="0">
                  <a:solidFill>
                    <a:schemeClr val="bg1"/>
                  </a:solidFill>
                </a:rPr>
                <a:t>Riesgos totales</a:t>
              </a:r>
              <a:endParaRPr lang="en-US" sz="1000" b="1" u="none" dirty="0">
                <a:solidFill>
                  <a:schemeClr val="bg1"/>
                </a:solidFill>
              </a:endParaRPr>
            </a:p>
          </p:txBody>
        </p:sp>
        <p:sp>
          <p:nvSpPr>
            <p:cNvPr id="102" name="Rectangle 221"/>
            <p:cNvSpPr>
              <a:spLocks noChangeArrowheads="1"/>
            </p:cNvSpPr>
            <p:nvPr/>
          </p:nvSpPr>
          <p:spPr bwMode="auto">
            <a:xfrm>
              <a:off x="3635896" y="5763505"/>
              <a:ext cx="1079500" cy="344488"/>
            </a:xfrm>
            <a:prstGeom prst="rect">
              <a:avLst/>
            </a:prstGeom>
            <a:solidFill>
              <a:schemeClr val="bg1"/>
            </a:solidFill>
            <a:ln w="9525" algn="ctr">
              <a:noFill/>
              <a:miter lim="800000"/>
              <a:headEnd/>
              <a:tailEnd/>
            </a:ln>
            <a:effectLst/>
          </p:spPr>
          <p:txBody>
            <a:bodyPr anchor="ctr"/>
            <a:lstStyle/>
            <a:p>
              <a:pPr algn="ctr"/>
              <a:r>
                <a:rPr lang="es-PE" sz="1000" b="1" dirty="0">
                  <a:solidFill>
                    <a:srgbClr val="002060"/>
                  </a:solidFill>
                </a:rPr>
                <a:t>49</a:t>
              </a:r>
              <a:endParaRPr lang="en-US" sz="1000" b="1" u="none" dirty="0">
                <a:solidFill>
                  <a:srgbClr val="002060"/>
                </a:solidFill>
              </a:endParaRPr>
            </a:p>
          </p:txBody>
        </p:sp>
      </p:grpSp>
      <p:grpSp>
        <p:nvGrpSpPr>
          <p:cNvPr id="103" name="Group 50"/>
          <p:cNvGrpSpPr/>
          <p:nvPr/>
        </p:nvGrpSpPr>
        <p:grpSpPr>
          <a:xfrm>
            <a:off x="1403648" y="5390034"/>
            <a:ext cx="1079500" cy="619126"/>
            <a:chOff x="4860032" y="5488867"/>
            <a:chExt cx="1079500" cy="619126"/>
          </a:xfrm>
        </p:grpSpPr>
        <p:sp>
          <p:nvSpPr>
            <p:cNvPr id="104" name="Rectangle 217"/>
            <p:cNvSpPr>
              <a:spLocks noChangeArrowheads="1"/>
            </p:cNvSpPr>
            <p:nvPr/>
          </p:nvSpPr>
          <p:spPr bwMode="auto">
            <a:xfrm>
              <a:off x="4860032" y="5488867"/>
              <a:ext cx="1079500" cy="215900"/>
            </a:xfrm>
            <a:prstGeom prst="rect">
              <a:avLst/>
            </a:prstGeom>
            <a:solidFill>
              <a:srgbClr val="DB0613"/>
            </a:solidFill>
            <a:ln w="9525" algn="ctr">
              <a:noFill/>
              <a:miter lim="800000"/>
              <a:headEnd/>
              <a:tailEnd/>
            </a:ln>
            <a:effectLst/>
          </p:spPr>
          <p:txBody>
            <a:bodyPr anchor="ctr"/>
            <a:lstStyle/>
            <a:p>
              <a:pPr lvl="0" algn="ctr"/>
              <a:r>
                <a:rPr lang="es-ES" sz="1000" b="1" dirty="0">
                  <a:solidFill>
                    <a:schemeClr val="bg1"/>
                  </a:solidFill>
                </a:rPr>
                <a:t>Nº Controles</a:t>
              </a:r>
              <a:endParaRPr lang="en-US" sz="1000" b="1" dirty="0">
                <a:solidFill>
                  <a:schemeClr val="bg1"/>
                </a:solidFill>
              </a:endParaRPr>
            </a:p>
          </p:txBody>
        </p:sp>
        <p:sp>
          <p:nvSpPr>
            <p:cNvPr id="105" name="Rectangle 222"/>
            <p:cNvSpPr>
              <a:spLocks noChangeArrowheads="1"/>
            </p:cNvSpPr>
            <p:nvPr/>
          </p:nvSpPr>
          <p:spPr bwMode="auto">
            <a:xfrm>
              <a:off x="4860032" y="5763505"/>
              <a:ext cx="1079500" cy="344488"/>
            </a:xfrm>
            <a:prstGeom prst="rect">
              <a:avLst/>
            </a:prstGeom>
            <a:solidFill>
              <a:schemeClr val="bg1"/>
            </a:solidFill>
            <a:ln w="9525" algn="ctr">
              <a:noFill/>
              <a:miter lim="800000"/>
              <a:headEnd/>
              <a:tailEnd/>
            </a:ln>
            <a:effectLst/>
          </p:spPr>
          <p:txBody>
            <a:bodyPr anchor="ctr"/>
            <a:lstStyle/>
            <a:p>
              <a:pPr algn="ctr"/>
              <a:r>
                <a:rPr lang="es-PE" sz="1000" b="1" dirty="0">
                  <a:solidFill>
                    <a:srgbClr val="002060"/>
                  </a:solidFill>
                </a:rPr>
                <a:t>40</a:t>
              </a:r>
              <a:endParaRPr lang="en-US" sz="1000" b="1" dirty="0">
                <a:solidFill>
                  <a:srgbClr val="002060"/>
                </a:solidFill>
              </a:endParaRPr>
            </a:p>
          </p:txBody>
        </p:sp>
      </p:grpSp>
      <p:grpSp>
        <p:nvGrpSpPr>
          <p:cNvPr id="106" name="105 Grupo"/>
          <p:cNvGrpSpPr/>
          <p:nvPr/>
        </p:nvGrpSpPr>
        <p:grpSpPr>
          <a:xfrm>
            <a:off x="6298628" y="5341837"/>
            <a:ext cx="864000" cy="679451"/>
            <a:chOff x="4090649" y="5329709"/>
            <a:chExt cx="1008000" cy="679451"/>
          </a:xfrm>
        </p:grpSpPr>
        <p:sp>
          <p:nvSpPr>
            <p:cNvPr id="107" name="Rectangle 219"/>
            <p:cNvSpPr>
              <a:spLocks noChangeArrowheads="1"/>
            </p:cNvSpPr>
            <p:nvPr/>
          </p:nvSpPr>
          <p:spPr bwMode="auto">
            <a:xfrm>
              <a:off x="4090649" y="5329709"/>
              <a:ext cx="1008000" cy="304800"/>
            </a:xfrm>
            <a:prstGeom prst="rect">
              <a:avLst/>
            </a:prstGeom>
            <a:solidFill>
              <a:srgbClr val="DB0613"/>
            </a:solidFill>
            <a:ln w="9525" algn="ctr">
              <a:noFill/>
              <a:miter lim="800000"/>
              <a:headEnd/>
              <a:tailEnd/>
            </a:ln>
            <a:effectLst/>
          </p:spPr>
          <p:txBody>
            <a:bodyPr anchor="ctr"/>
            <a:lstStyle/>
            <a:p>
              <a:pPr algn="ctr"/>
              <a:r>
                <a:rPr lang="es-PE" sz="800" b="1" dirty="0">
                  <a:solidFill>
                    <a:schemeClr val="bg1"/>
                  </a:solidFill>
                </a:rPr>
                <a:t>Top 5</a:t>
              </a:r>
            </a:p>
            <a:p>
              <a:pPr algn="ctr"/>
              <a:r>
                <a:rPr lang="es-PE" sz="800" b="1" dirty="0" err="1">
                  <a:solidFill>
                    <a:schemeClr val="bg1"/>
                  </a:solidFill>
                </a:rPr>
                <a:t>VaR</a:t>
              </a:r>
              <a:r>
                <a:rPr lang="es-PE" sz="800" b="1" dirty="0">
                  <a:solidFill>
                    <a:schemeClr val="bg1"/>
                  </a:solidFill>
                </a:rPr>
                <a:t> acumulado</a:t>
              </a:r>
              <a:endParaRPr lang="en-US" sz="800" b="1" dirty="0">
                <a:solidFill>
                  <a:schemeClr val="bg1"/>
                </a:solidFill>
              </a:endParaRPr>
            </a:p>
          </p:txBody>
        </p:sp>
        <p:sp>
          <p:nvSpPr>
            <p:cNvPr id="108" name="Rectangle 224"/>
            <p:cNvSpPr>
              <a:spLocks noChangeArrowheads="1"/>
            </p:cNvSpPr>
            <p:nvPr/>
          </p:nvSpPr>
          <p:spPr bwMode="auto">
            <a:xfrm>
              <a:off x="4090649" y="5664672"/>
              <a:ext cx="1008000" cy="344488"/>
            </a:xfrm>
            <a:prstGeom prst="rect">
              <a:avLst/>
            </a:prstGeom>
            <a:solidFill>
              <a:schemeClr val="bg1"/>
            </a:solidFill>
            <a:ln w="9525" algn="ctr">
              <a:noFill/>
              <a:miter lim="800000"/>
              <a:headEnd/>
              <a:tailEnd/>
            </a:ln>
            <a:effectLst/>
          </p:spPr>
          <p:txBody>
            <a:bodyPr anchor="ctr"/>
            <a:lstStyle/>
            <a:p>
              <a:pPr algn="ctr"/>
              <a:r>
                <a:rPr lang="es-PE" sz="1400" b="1" dirty="0"/>
                <a:t>31,801</a:t>
              </a:r>
              <a:endParaRPr lang="en-US" sz="1400" b="1" dirty="0"/>
            </a:p>
          </p:txBody>
        </p:sp>
      </p:grpSp>
      <p:sp>
        <p:nvSpPr>
          <p:cNvPr id="109" name="Rounded Rectangle 61"/>
          <p:cNvSpPr/>
          <p:nvPr/>
        </p:nvSpPr>
        <p:spPr>
          <a:xfrm>
            <a:off x="179512" y="1263279"/>
            <a:ext cx="8676000" cy="274320"/>
          </a:xfrm>
          <a:prstGeom prst="roundRect">
            <a:avLst/>
          </a:prstGeom>
          <a:solidFill>
            <a:srgbClr val="DB061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80000"/>
              </a:lnSpc>
            </a:pPr>
            <a:r>
              <a:rPr lang="es-CL" sz="1200" b="1" dirty="0">
                <a:solidFill>
                  <a:schemeClr val="lt1"/>
                </a:solidFill>
              </a:rPr>
              <a:t>Ranking Conjunto TOP 5 VaR</a:t>
            </a:r>
          </a:p>
        </p:txBody>
      </p:sp>
      <p:sp>
        <p:nvSpPr>
          <p:cNvPr id="123" name="Rounded Rectangle 60"/>
          <p:cNvSpPr/>
          <p:nvPr/>
        </p:nvSpPr>
        <p:spPr>
          <a:xfrm>
            <a:off x="179512" y="1699766"/>
            <a:ext cx="361123" cy="432048"/>
          </a:xfrm>
          <a:prstGeom prst="roundRect">
            <a:avLst/>
          </a:prstGeom>
          <a:solidFill>
            <a:srgbClr val="DB061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80000"/>
              </a:lnSpc>
            </a:pPr>
            <a:r>
              <a:rPr lang="es-CL" sz="1100" b="1" dirty="0"/>
              <a:t>N°</a:t>
            </a:r>
            <a:endParaRPr lang="es-CL" sz="1100" b="1" dirty="0">
              <a:solidFill>
                <a:schemeClr val="lt1"/>
              </a:solidFill>
            </a:endParaRPr>
          </a:p>
        </p:txBody>
      </p:sp>
      <p:sp>
        <p:nvSpPr>
          <p:cNvPr id="124" name="Rounded Rectangle 62"/>
          <p:cNvSpPr/>
          <p:nvPr/>
        </p:nvSpPr>
        <p:spPr>
          <a:xfrm>
            <a:off x="1475914" y="1699766"/>
            <a:ext cx="902809" cy="432048"/>
          </a:xfrm>
          <a:prstGeom prst="roundRect">
            <a:avLst/>
          </a:prstGeom>
          <a:solidFill>
            <a:srgbClr val="DB061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80000"/>
              </a:lnSpc>
            </a:pPr>
            <a:r>
              <a:rPr lang="es-CL" sz="1100" b="1" dirty="0">
                <a:solidFill>
                  <a:schemeClr val="lt1"/>
                </a:solidFill>
              </a:rPr>
              <a:t>Subproceso</a:t>
            </a:r>
          </a:p>
        </p:txBody>
      </p:sp>
      <p:sp>
        <p:nvSpPr>
          <p:cNvPr id="125" name="Rounded Rectangle 66"/>
          <p:cNvSpPr/>
          <p:nvPr/>
        </p:nvSpPr>
        <p:spPr>
          <a:xfrm>
            <a:off x="2404046" y="1699766"/>
            <a:ext cx="2876780" cy="432048"/>
          </a:xfrm>
          <a:prstGeom prst="roundRect">
            <a:avLst/>
          </a:prstGeom>
          <a:solidFill>
            <a:srgbClr val="DB061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80000"/>
              </a:lnSpc>
            </a:pPr>
            <a:r>
              <a:rPr lang="es-CL" sz="1100" b="1" dirty="0">
                <a:solidFill>
                  <a:schemeClr val="lt1"/>
                </a:solidFill>
              </a:rPr>
              <a:t>Riesgo</a:t>
            </a:r>
          </a:p>
        </p:txBody>
      </p:sp>
      <p:sp>
        <p:nvSpPr>
          <p:cNvPr id="126" name="Rounded Rectangle 68"/>
          <p:cNvSpPr/>
          <p:nvPr/>
        </p:nvSpPr>
        <p:spPr>
          <a:xfrm>
            <a:off x="5395901" y="1699766"/>
            <a:ext cx="794472" cy="432048"/>
          </a:xfrm>
          <a:prstGeom prst="roundRect">
            <a:avLst/>
          </a:prstGeom>
          <a:solidFill>
            <a:srgbClr val="DB061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80000"/>
              </a:lnSpc>
            </a:pPr>
            <a:r>
              <a:rPr lang="es-CL" sz="1100" b="1" dirty="0">
                <a:solidFill>
                  <a:schemeClr val="lt1"/>
                </a:solidFill>
              </a:rPr>
              <a:t>PEA*</a:t>
            </a:r>
          </a:p>
        </p:txBody>
      </p:sp>
      <p:sp>
        <p:nvSpPr>
          <p:cNvPr id="127" name="Rounded Rectangle 70"/>
          <p:cNvSpPr/>
          <p:nvPr/>
        </p:nvSpPr>
        <p:spPr>
          <a:xfrm>
            <a:off x="6300192" y="1699766"/>
            <a:ext cx="794472" cy="432048"/>
          </a:xfrm>
          <a:prstGeom prst="roundRect">
            <a:avLst/>
          </a:prstGeom>
          <a:solidFill>
            <a:srgbClr val="DB061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80000"/>
              </a:lnSpc>
            </a:pPr>
            <a:r>
              <a:rPr lang="es-CL" sz="1100" b="1" dirty="0"/>
              <a:t>PMA**</a:t>
            </a:r>
            <a:endParaRPr lang="es-CL" sz="1100" b="1" dirty="0">
              <a:solidFill>
                <a:schemeClr val="lt1"/>
              </a:solidFill>
            </a:endParaRPr>
          </a:p>
        </p:txBody>
      </p:sp>
      <p:sp>
        <p:nvSpPr>
          <p:cNvPr id="128" name="Rounded Rectangle 77"/>
          <p:cNvSpPr/>
          <p:nvPr/>
        </p:nvSpPr>
        <p:spPr>
          <a:xfrm>
            <a:off x="1476044" y="3383035"/>
            <a:ext cx="902809" cy="548640"/>
          </a:xfrm>
          <a:prstGeom prst="roundRect">
            <a:avLst/>
          </a:prstGeom>
          <a:noFill/>
          <a:ln w="127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ES" sz="1000" dirty="0">
                <a:solidFill>
                  <a:schemeClr val="bg1">
                    <a:lumMod val="50000"/>
                  </a:schemeClr>
                </a:solidFill>
              </a:rPr>
              <a:t>Ejecución de propuesta de inversión</a:t>
            </a:r>
            <a:endParaRPr lang="es-CL" sz="1000" dirty="0">
              <a:solidFill>
                <a:schemeClr val="bg1">
                  <a:lumMod val="50000"/>
                </a:schemeClr>
              </a:solidFill>
            </a:endParaRPr>
          </a:p>
        </p:txBody>
      </p:sp>
      <p:sp>
        <p:nvSpPr>
          <p:cNvPr id="159" name="Rounded Rectangle 78"/>
          <p:cNvSpPr/>
          <p:nvPr/>
        </p:nvSpPr>
        <p:spPr>
          <a:xfrm>
            <a:off x="179512" y="3383035"/>
            <a:ext cx="361123" cy="548640"/>
          </a:xfrm>
          <a:prstGeom prst="roundRect">
            <a:avLst/>
          </a:prstGeom>
          <a:solidFill>
            <a:srgbClr val="969696"/>
          </a:solidFill>
          <a:ln w="9525" algn="ctr">
            <a:solidFill>
              <a:schemeClr val="tx2">
                <a:lumMod val="60000"/>
                <a:lumOff val="40000"/>
              </a:schemeClr>
            </a:solidFill>
            <a:miter lim="800000"/>
            <a:headEnd/>
            <a:tailEnd/>
          </a:ln>
          <a:effectLst/>
        </p:spPr>
        <p:txBody>
          <a:bodyPr anchor="ctr"/>
          <a:lstStyle/>
          <a:p>
            <a:pPr algn="ctr">
              <a:lnSpc>
                <a:spcPct val="80000"/>
              </a:lnSpc>
            </a:pPr>
            <a:r>
              <a:rPr lang="es-CL" sz="1000" b="1" dirty="0">
                <a:solidFill>
                  <a:schemeClr val="bg1"/>
                </a:solidFill>
                <a:latin typeface="+mj-lt"/>
                <a:cs typeface="Arial" pitchFamily="34" charset="0"/>
              </a:rPr>
              <a:t>3</a:t>
            </a:r>
          </a:p>
        </p:txBody>
      </p:sp>
      <p:sp>
        <p:nvSpPr>
          <p:cNvPr id="160" name="Rounded Rectangle 79"/>
          <p:cNvSpPr/>
          <p:nvPr/>
        </p:nvSpPr>
        <p:spPr>
          <a:xfrm>
            <a:off x="2404046" y="3383035"/>
            <a:ext cx="2876780" cy="548640"/>
          </a:xfrm>
          <a:prstGeom prst="roundRect">
            <a:avLst/>
          </a:prstGeom>
          <a:noFill/>
          <a:ln w="127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lnSpc>
                <a:spcPct val="80000"/>
              </a:lnSpc>
            </a:pPr>
            <a:r>
              <a:rPr lang="es-ES" sz="1000" dirty="0">
                <a:solidFill>
                  <a:schemeClr val="bg1">
                    <a:lumMod val="50000"/>
                  </a:schemeClr>
                </a:solidFill>
              </a:rPr>
              <a:t>Incumplimiento de los servicios de un proveedor por huelga (CGS).</a:t>
            </a:r>
            <a:endParaRPr lang="es-CL" sz="1000" dirty="0">
              <a:solidFill>
                <a:schemeClr val="bg1">
                  <a:lumMod val="50000"/>
                </a:schemeClr>
              </a:solidFill>
            </a:endParaRPr>
          </a:p>
        </p:txBody>
      </p:sp>
      <p:sp>
        <p:nvSpPr>
          <p:cNvPr id="161" name="Rounded Rectangle 80"/>
          <p:cNvSpPr/>
          <p:nvPr/>
        </p:nvSpPr>
        <p:spPr>
          <a:xfrm>
            <a:off x="5395901" y="3383035"/>
            <a:ext cx="794472" cy="548640"/>
          </a:xfrm>
          <a:prstGeom prst="roundRect">
            <a:avLst/>
          </a:prstGeom>
          <a:solidFill>
            <a:srgbClr val="969696"/>
          </a:solidFill>
          <a:ln w="9525" algn="ctr">
            <a:solidFill>
              <a:schemeClr val="bg1">
                <a:lumMod val="85000"/>
              </a:schemeClr>
            </a:solidFill>
            <a:miter lim="800000"/>
            <a:headEnd/>
            <a:tailEnd/>
          </a:ln>
          <a:effectLst/>
        </p:spPr>
        <p:txBody>
          <a:bodyPr wrap="none" anchor="ctr"/>
          <a:lstStyle/>
          <a:p>
            <a:pPr algn="ctr"/>
            <a:r>
              <a:rPr lang="es-ES" sz="1200" b="1" dirty="0">
                <a:solidFill>
                  <a:schemeClr val="bg1"/>
                </a:solidFill>
              </a:rPr>
              <a:t>50</a:t>
            </a:r>
            <a:endParaRPr lang="es-CL" sz="1200" b="1" dirty="0">
              <a:solidFill>
                <a:schemeClr val="bg1"/>
              </a:solidFill>
            </a:endParaRPr>
          </a:p>
        </p:txBody>
      </p:sp>
      <p:sp>
        <p:nvSpPr>
          <p:cNvPr id="162" name="Rounded Rectangle 81"/>
          <p:cNvSpPr/>
          <p:nvPr/>
        </p:nvSpPr>
        <p:spPr>
          <a:xfrm>
            <a:off x="6300192" y="3383035"/>
            <a:ext cx="794472" cy="548640"/>
          </a:xfrm>
          <a:prstGeom prst="roundRect">
            <a:avLst/>
          </a:prstGeom>
          <a:solidFill>
            <a:srgbClr val="969696"/>
          </a:solidFill>
          <a:ln w="9525" algn="ctr">
            <a:solidFill>
              <a:schemeClr val="bg1">
                <a:lumMod val="85000"/>
              </a:schemeClr>
            </a:solidFill>
            <a:miter lim="800000"/>
            <a:headEnd/>
            <a:tailEnd/>
          </a:ln>
          <a:effectLst/>
        </p:spPr>
        <p:txBody>
          <a:bodyPr wrap="none" anchor="ctr"/>
          <a:lstStyle/>
          <a:p>
            <a:pPr algn="ctr"/>
            <a:r>
              <a:rPr lang="es-ES" sz="1200" b="1" dirty="0">
                <a:solidFill>
                  <a:schemeClr val="bg1"/>
                </a:solidFill>
              </a:rPr>
              <a:t>6,995</a:t>
            </a:r>
            <a:endParaRPr lang="es-CL" sz="1200" b="1" dirty="0">
              <a:solidFill>
                <a:schemeClr val="bg1"/>
              </a:solidFill>
            </a:endParaRPr>
          </a:p>
        </p:txBody>
      </p:sp>
      <p:sp>
        <p:nvSpPr>
          <p:cNvPr id="163" name="Rounded Rectangle 82"/>
          <p:cNvSpPr/>
          <p:nvPr/>
        </p:nvSpPr>
        <p:spPr>
          <a:xfrm>
            <a:off x="1476044" y="3983858"/>
            <a:ext cx="902809" cy="548640"/>
          </a:xfrm>
          <a:prstGeom prst="roundRect">
            <a:avLst/>
          </a:prstGeom>
          <a:noFill/>
          <a:ln w="127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ES" sz="1000" dirty="0">
                <a:solidFill>
                  <a:schemeClr val="bg1">
                    <a:lumMod val="50000"/>
                  </a:schemeClr>
                </a:solidFill>
              </a:rPr>
              <a:t>Inspección Técnica</a:t>
            </a:r>
            <a:endParaRPr lang="es-CL" sz="1000" dirty="0">
              <a:solidFill>
                <a:schemeClr val="bg1">
                  <a:lumMod val="50000"/>
                </a:schemeClr>
              </a:solidFill>
            </a:endParaRPr>
          </a:p>
        </p:txBody>
      </p:sp>
      <p:sp>
        <p:nvSpPr>
          <p:cNvPr id="164" name="Rounded Rectangle 83"/>
          <p:cNvSpPr/>
          <p:nvPr/>
        </p:nvSpPr>
        <p:spPr>
          <a:xfrm>
            <a:off x="179512" y="3983858"/>
            <a:ext cx="361123" cy="548640"/>
          </a:xfrm>
          <a:prstGeom prst="roundRect">
            <a:avLst/>
          </a:prstGeom>
          <a:solidFill>
            <a:srgbClr val="969696"/>
          </a:solidFill>
          <a:ln w="9525" algn="ctr">
            <a:solidFill>
              <a:srgbClr val="DB0613"/>
            </a:solidFill>
            <a:miter lim="800000"/>
            <a:headEnd/>
            <a:tailEnd/>
          </a:ln>
          <a:effectLst/>
        </p:spPr>
        <p:txBody>
          <a:bodyPr anchor="ctr"/>
          <a:lstStyle/>
          <a:p>
            <a:pPr algn="ctr">
              <a:lnSpc>
                <a:spcPct val="80000"/>
              </a:lnSpc>
            </a:pPr>
            <a:r>
              <a:rPr lang="es-CL" sz="1000" b="1" dirty="0">
                <a:solidFill>
                  <a:schemeClr val="bg1"/>
                </a:solidFill>
                <a:latin typeface="+mj-lt"/>
                <a:cs typeface="Arial" pitchFamily="34" charset="0"/>
              </a:rPr>
              <a:t>4</a:t>
            </a:r>
          </a:p>
        </p:txBody>
      </p:sp>
      <p:sp>
        <p:nvSpPr>
          <p:cNvPr id="165" name="Rounded Rectangle 84"/>
          <p:cNvSpPr/>
          <p:nvPr/>
        </p:nvSpPr>
        <p:spPr>
          <a:xfrm>
            <a:off x="2404046" y="3983858"/>
            <a:ext cx="2876780" cy="548640"/>
          </a:xfrm>
          <a:prstGeom prst="roundRect">
            <a:avLst/>
          </a:prstGeom>
          <a:noFill/>
          <a:ln w="127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CL" sz="1000" dirty="0">
                <a:solidFill>
                  <a:schemeClr val="bg1">
                    <a:lumMod val="50000"/>
                  </a:schemeClr>
                </a:solidFill>
              </a:rPr>
              <a:t>Falla en las </a:t>
            </a:r>
            <a:r>
              <a:rPr lang="es-PE" sz="1000" dirty="0">
                <a:solidFill>
                  <a:schemeClr val="bg1">
                    <a:lumMod val="50000"/>
                  </a:schemeClr>
                </a:solidFill>
              </a:rPr>
              <a:t>telecomunicaciones que impiden contratación de ope. sin posibilidad de conexión telefónica.</a:t>
            </a:r>
            <a:endParaRPr lang="es-ES" sz="1000" dirty="0">
              <a:solidFill>
                <a:schemeClr val="bg1">
                  <a:lumMod val="50000"/>
                </a:schemeClr>
              </a:solidFill>
            </a:endParaRPr>
          </a:p>
        </p:txBody>
      </p:sp>
      <p:sp>
        <p:nvSpPr>
          <p:cNvPr id="166" name="Rounded Rectangle 85"/>
          <p:cNvSpPr/>
          <p:nvPr/>
        </p:nvSpPr>
        <p:spPr>
          <a:xfrm>
            <a:off x="5395901" y="3983858"/>
            <a:ext cx="794472" cy="548640"/>
          </a:xfrm>
          <a:prstGeom prst="roundRect">
            <a:avLst/>
          </a:prstGeom>
          <a:solidFill>
            <a:srgbClr val="969696"/>
          </a:solidFill>
          <a:ln w="9525" algn="ctr">
            <a:solidFill>
              <a:schemeClr val="bg1">
                <a:lumMod val="85000"/>
              </a:schemeClr>
            </a:solidFill>
            <a:miter lim="800000"/>
            <a:headEnd/>
            <a:tailEnd/>
          </a:ln>
          <a:effectLst/>
        </p:spPr>
        <p:txBody>
          <a:bodyPr wrap="none" anchor="ctr"/>
          <a:lstStyle/>
          <a:p>
            <a:pPr algn="ctr"/>
            <a:r>
              <a:rPr lang="es-ES" sz="1200" b="1" dirty="0">
                <a:solidFill>
                  <a:schemeClr val="bg1"/>
                </a:solidFill>
              </a:rPr>
              <a:t>638</a:t>
            </a:r>
            <a:endParaRPr lang="es-CL" sz="1200" b="1" dirty="0">
              <a:solidFill>
                <a:schemeClr val="bg1"/>
              </a:solidFill>
            </a:endParaRPr>
          </a:p>
        </p:txBody>
      </p:sp>
      <p:sp>
        <p:nvSpPr>
          <p:cNvPr id="167" name="Rounded Rectangle 86"/>
          <p:cNvSpPr/>
          <p:nvPr/>
        </p:nvSpPr>
        <p:spPr>
          <a:xfrm>
            <a:off x="6300192" y="3983858"/>
            <a:ext cx="794472" cy="548640"/>
          </a:xfrm>
          <a:prstGeom prst="roundRect">
            <a:avLst/>
          </a:prstGeom>
          <a:solidFill>
            <a:srgbClr val="969696"/>
          </a:solidFill>
          <a:ln w="9525" algn="ctr">
            <a:solidFill>
              <a:schemeClr val="bg1">
                <a:lumMod val="85000"/>
              </a:schemeClr>
            </a:solidFill>
            <a:miter lim="800000"/>
            <a:headEnd/>
            <a:tailEnd/>
          </a:ln>
          <a:effectLst/>
        </p:spPr>
        <p:txBody>
          <a:bodyPr wrap="none" anchor="ctr"/>
          <a:lstStyle/>
          <a:p>
            <a:pPr algn="ctr"/>
            <a:r>
              <a:rPr lang="es-ES" sz="1200" b="1" dirty="0">
                <a:solidFill>
                  <a:schemeClr val="bg1"/>
                </a:solidFill>
              </a:rPr>
              <a:t>5,147</a:t>
            </a:r>
            <a:endParaRPr lang="es-CL" sz="1200" b="1" dirty="0">
              <a:solidFill>
                <a:schemeClr val="bg1"/>
              </a:solidFill>
            </a:endParaRPr>
          </a:p>
        </p:txBody>
      </p:sp>
      <p:sp>
        <p:nvSpPr>
          <p:cNvPr id="168" name="Rounded Rectangle 87"/>
          <p:cNvSpPr/>
          <p:nvPr/>
        </p:nvSpPr>
        <p:spPr>
          <a:xfrm>
            <a:off x="1476044" y="4587218"/>
            <a:ext cx="902809" cy="548640"/>
          </a:xfrm>
          <a:prstGeom prst="roundRect">
            <a:avLst/>
          </a:prstGeom>
          <a:noFill/>
          <a:ln w="127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ES" sz="1000" dirty="0">
                <a:solidFill>
                  <a:schemeClr val="bg1">
                    <a:lumMod val="50000"/>
                  </a:schemeClr>
                </a:solidFill>
              </a:rPr>
              <a:t>Inspección Técnica</a:t>
            </a:r>
            <a:endParaRPr lang="es-CL" sz="1000" dirty="0">
              <a:solidFill>
                <a:schemeClr val="bg1">
                  <a:lumMod val="50000"/>
                </a:schemeClr>
              </a:solidFill>
            </a:endParaRPr>
          </a:p>
        </p:txBody>
      </p:sp>
      <p:sp>
        <p:nvSpPr>
          <p:cNvPr id="169" name="Rounded Rectangle 88"/>
          <p:cNvSpPr/>
          <p:nvPr/>
        </p:nvSpPr>
        <p:spPr>
          <a:xfrm>
            <a:off x="179512" y="4587218"/>
            <a:ext cx="361123" cy="548640"/>
          </a:xfrm>
          <a:prstGeom prst="roundRect">
            <a:avLst/>
          </a:prstGeom>
          <a:solidFill>
            <a:srgbClr val="969696"/>
          </a:solidFill>
          <a:ln w="9525" algn="ctr">
            <a:solidFill>
              <a:srgbClr val="DB0613"/>
            </a:solidFill>
            <a:miter lim="800000"/>
            <a:headEnd/>
            <a:tailEnd/>
          </a:ln>
          <a:effectLst/>
        </p:spPr>
        <p:txBody>
          <a:bodyPr anchor="ctr"/>
          <a:lstStyle/>
          <a:p>
            <a:pPr algn="ctr">
              <a:lnSpc>
                <a:spcPct val="80000"/>
              </a:lnSpc>
            </a:pPr>
            <a:r>
              <a:rPr lang="es-CL" sz="1000" b="1" dirty="0">
                <a:solidFill>
                  <a:schemeClr val="bg1"/>
                </a:solidFill>
                <a:latin typeface="+mj-lt"/>
                <a:cs typeface="Arial" pitchFamily="34" charset="0"/>
              </a:rPr>
              <a:t>5</a:t>
            </a:r>
          </a:p>
        </p:txBody>
      </p:sp>
      <p:sp>
        <p:nvSpPr>
          <p:cNvPr id="170" name="Rounded Rectangle 89"/>
          <p:cNvSpPr/>
          <p:nvPr/>
        </p:nvSpPr>
        <p:spPr>
          <a:xfrm>
            <a:off x="2404046" y="4587218"/>
            <a:ext cx="2876780" cy="548640"/>
          </a:xfrm>
          <a:prstGeom prst="roundRect">
            <a:avLst/>
          </a:prstGeom>
          <a:noFill/>
          <a:ln w="127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lnSpc>
                <a:spcPct val="80000"/>
              </a:lnSpc>
            </a:pPr>
            <a:r>
              <a:rPr lang="es-ES" sz="1000" dirty="0">
                <a:solidFill>
                  <a:schemeClr val="bg1">
                    <a:lumMod val="50000"/>
                  </a:schemeClr>
                </a:solidFill>
              </a:rPr>
              <a:t>Captura errónea de los datos de inspección por parte del inspector al momento de adjuntarlo al trámite. </a:t>
            </a:r>
          </a:p>
        </p:txBody>
      </p:sp>
      <p:sp>
        <p:nvSpPr>
          <p:cNvPr id="171" name="Rounded Rectangle 90"/>
          <p:cNvSpPr/>
          <p:nvPr/>
        </p:nvSpPr>
        <p:spPr>
          <a:xfrm>
            <a:off x="5395901" y="4587218"/>
            <a:ext cx="794472" cy="548640"/>
          </a:xfrm>
          <a:prstGeom prst="roundRect">
            <a:avLst/>
          </a:prstGeom>
          <a:solidFill>
            <a:srgbClr val="969696"/>
          </a:solidFill>
          <a:ln w="9525" algn="ctr">
            <a:solidFill>
              <a:schemeClr val="bg1">
                <a:lumMod val="85000"/>
              </a:schemeClr>
            </a:solidFill>
            <a:miter lim="800000"/>
            <a:headEnd/>
            <a:tailEnd/>
          </a:ln>
          <a:effectLst/>
        </p:spPr>
        <p:txBody>
          <a:bodyPr wrap="none" anchor="ctr"/>
          <a:lstStyle/>
          <a:p>
            <a:pPr algn="ctr"/>
            <a:r>
              <a:rPr lang="es-ES" sz="1200" b="1" dirty="0">
                <a:solidFill>
                  <a:schemeClr val="bg1"/>
                </a:solidFill>
              </a:rPr>
              <a:t>39</a:t>
            </a:r>
            <a:endParaRPr lang="es-CL" sz="1200" b="1" dirty="0">
              <a:solidFill>
                <a:schemeClr val="bg1"/>
              </a:solidFill>
            </a:endParaRPr>
          </a:p>
        </p:txBody>
      </p:sp>
      <p:sp>
        <p:nvSpPr>
          <p:cNvPr id="172" name="Rounded Rectangle 91"/>
          <p:cNvSpPr/>
          <p:nvPr/>
        </p:nvSpPr>
        <p:spPr>
          <a:xfrm>
            <a:off x="6300192" y="4587218"/>
            <a:ext cx="794472" cy="548640"/>
          </a:xfrm>
          <a:prstGeom prst="roundRect">
            <a:avLst/>
          </a:prstGeom>
          <a:solidFill>
            <a:srgbClr val="969696"/>
          </a:solidFill>
          <a:ln w="9525" algn="ctr">
            <a:solidFill>
              <a:schemeClr val="bg1">
                <a:lumMod val="85000"/>
              </a:schemeClr>
            </a:solidFill>
            <a:miter lim="800000"/>
            <a:headEnd/>
            <a:tailEnd/>
          </a:ln>
          <a:effectLst/>
        </p:spPr>
        <p:txBody>
          <a:bodyPr wrap="none" anchor="ctr"/>
          <a:lstStyle/>
          <a:p>
            <a:pPr algn="ctr"/>
            <a:r>
              <a:rPr lang="es-ES" sz="1200" b="1" dirty="0">
                <a:solidFill>
                  <a:schemeClr val="bg1"/>
                </a:solidFill>
              </a:rPr>
              <a:t>1,038</a:t>
            </a:r>
            <a:endParaRPr lang="es-CL" sz="1200" b="1" dirty="0">
              <a:solidFill>
                <a:schemeClr val="bg1"/>
              </a:solidFill>
            </a:endParaRPr>
          </a:p>
        </p:txBody>
      </p:sp>
      <p:sp>
        <p:nvSpPr>
          <p:cNvPr id="173" name="Rounded Rectangle 92"/>
          <p:cNvSpPr/>
          <p:nvPr/>
        </p:nvSpPr>
        <p:spPr>
          <a:xfrm>
            <a:off x="7191358" y="1705047"/>
            <a:ext cx="828000" cy="432048"/>
          </a:xfrm>
          <a:prstGeom prst="roundRect">
            <a:avLst/>
          </a:prstGeom>
          <a:solidFill>
            <a:srgbClr val="DB061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80000"/>
              </a:lnSpc>
            </a:pPr>
            <a:r>
              <a:rPr lang="es-CL" sz="1100" b="1" dirty="0"/>
              <a:t>% PEA***</a:t>
            </a:r>
          </a:p>
        </p:txBody>
      </p:sp>
      <p:sp>
        <p:nvSpPr>
          <p:cNvPr id="174" name="Rounded Rectangle 95"/>
          <p:cNvSpPr/>
          <p:nvPr/>
        </p:nvSpPr>
        <p:spPr>
          <a:xfrm>
            <a:off x="7191358" y="3388316"/>
            <a:ext cx="792000" cy="548640"/>
          </a:xfrm>
          <a:prstGeom prst="roundRect">
            <a:avLst/>
          </a:prstGeom>
          <a:noFill/>
          <a:ln w="127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400" b="1" dirty="0">
                <a:solidFill>
                  <a:schemeClr val="tx1"/>
                </a:solidFill>
                <a:latin typeface="+mj-lt"/>
              </a:rPr>
              <a:t>0,46%</a:t>
            </a:r>
            <a:endParaRPr lang="es-CL" sz="1400" b="1" dirty="0">
              <a:solidFill>
                <a:schemeClr val="tx1"/>
              </a:solidFill>
              <a:latin typeface="+mj-lt"/>
            </a:endParaRPr>
          </a:p>
        </p:txBody>
      </p:sp>
      <p:sp>
        <p:nvSpPr>
          <p:cNvPr id="175" name="Rounded Rectangle 96"/>
          <p:cNvSpPr/>
          <p:nvPr/>
        </p:nvSpPr>
        <p:spPr>
          <a:xfrm>
            <a:off x="7191358" y="3989139"/>
            <a:ext cx="792000" cy="548640"/>
          </a:xfrm>
          <a:prstGeom prst="roundRect">
            <a:avLst/>
          </a:prstGeom>
          <a:noFill/>
          <a:ln w="127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400" b="1" dirty="0">
                <a:solidFill>
                  <a:schemeClr val="tx1"/>
                </a:solidFill>
                <a:latin typeface="+mj-lt"/>
              </a:rPr>
              <a:t>5,9%</a:t>
            </a:r>
            <a:endParaRPr lang="es-CL" sz="1400" b="1" dirty="0">
              <a:solidFill>
                <a:schemeClr val="tx1"/>
              </a:solidFill>
              <a:latin typeface="+mj-lt"/>
            </a:endParaRPr>
          </a:p>
        </p:txBody>
      </p:sp>
      <p:sp>
        <p:nvSpPr>
          <p:cNvPr id="176" name="Rounded Rectangle 97"/>
          <p:cNvSpPr/>
          <p:nvPr/>
        </p:nvSpPr>
        <p:spPr>
          <a:xfrm>
            <a:off x="7191358" y="4592499"/>
            <a:ext cx="792000" cy="548640"/>
          </a:xfrm>
          <a:prstGeom prst="roundRect">
            <a:avLst/>
          </a:prstGeom>
          <a:noFill/>
          <a:ln w="127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400" b="1" dirty="0">
                <a:solidFill>
                  <a:schemeClr val="tx1"/>
                </a:solidFill>
                <a:latin typeface="+mj-lt"/>
              </a:rPr>
              <a:t>0.4%</a:t>
            </a:r>
            <a:endParaRPr lang="es-CL" sz="1400" b="1" dirty="0">
              <a:solidFill>
                <a:schemeClr val="tx1"/>
              </a:solidFill>
              <a:latin typeface="+mj-lt"/>
            </a:endParaRPr>
          </a:p>
        </p:txBody>
      </p:sp>
      <p:sp>
        <p:nvSpPr>
          <p:cNvPr id="177" name="Rounded Rectangle 63"/>
          <p:cNvSpPr/>
          <p:nvPr/>
        </p:nvSpPr>
        <p:spPr>
          <a:xfrm>
            <a:off x="1476044" y="2173778"/>
            <a:ext cx="902809" cy="548640"/>
          </a:xfrm>
          <a:prstGeom prst="roundRect">
            <a:avLst/>
          </a:prstGeom>
          <a:noFill/>
          <a:ln w="127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ES" sz="1000" dirty="0">
                <a:solidFill>
                  <a:schemeClr val="bg1">
                    <a:lumMod val="50000"/>
                  </a:schemeClr>
                </a:solidFill>
                <a:latin typeface="+mj-lt"/>
              </a:rPr>
              <a:t>Inspección Técnica</a:t>
            </a:r>
            <a:endParaRPr lang="es-CL" sz="1000" dirty="0">
              <a:solidFill>
                <a:schemeClr val="bg1">
                  <a:lumMod val="50000"/>
                </a:schemeClr>
              </a:solidFill>
              <a:latin typeface="+mj-lt"/>
            </a:endParaRPr>
          </a:p>
        </p:txBody>
      </p:sp>
      <p:sp>
        <p:nvSpPr>
          <p:cNvPr id="178" name="Rounded Rectangle 64"/>
          <p:cNvSpPr/>
          <p:nvPr/>
        </p:nvSpPr>
        <p:spPr>
          <a:xfrm>
            <a:off x="179512" y="2173778"/>
            <a:ext cx="361123" cy="548640"/>
          </a:xfrm>
          <a:prstGeom prst="roundRect">
            <a:avLst/>
          </a:prstGeom>
          <a:solidFill>
            <a:srgbClr val="969696"/>
          </a:solidFill>
          <a:ln w="9525" algn="ctr">
            <a:solidFill>
              <a:srgbClr val="DB0613"/>
            </a:solidFill>
            <a:miter lim="800000"/>
            <a:headEnd/>
            <a:tailEnd/>
          </a:ln>
          <a:effectLst/>
        </p:spPr>
        <p:txBody>
          <a:bodyPr anchor="ctr"/>
          <a:lstStyle/>
          <a:p>
            <a:pPr algn="ctr">
              <a:lnSpc>
                <a:spcPct val="80000"/>
              </a:lnSpc>
            </a:pPr>
            <a:r>
              <a:rPr lang="es-CL" sz="1000" b="1" dirty="0">
                <a:solidFill>
                  <a:schemeClr val="bg1"/>
                </a:solidFill>
                <a:latin typeface="+mj-lt"/>
                <a:cs typeface="Arial" pitchFamily="34" charset="0"/>
              </a:rPr>
              <a:t>1</a:t>
            </a:r>
          </a:p>
        </p:txBody>
      </p:sp>
      <p:sp>
        <p:nvSpPr>
          <p:cNvPr id="179" name="Rounded Rectangle 67"/>
          <p:cNvSpPr/>
          <p:nvPr/>
        </p:nvSpPr>
        <p:spPr>
          <a:xfrm>
            <a:off x="2404046" y="2173778"/>
            <a:ext cx="2876780" cy="548640"/>
          </a:xfrm>
          <a:prstGeom prst="roundRect">
            <a:avLst/>
          </a:prstGeom>
          <a:noFill/>
          <a:ln w="127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PE" sz="1000" dirty="0">
                <a:solidFill>
                  <a:schemeClr val="bg1">
                    <a:lumMod val="50000"/>
                  </a:schemeClr>
                </a:solidFill>
              </a:rPr>
              <a:t>Falla en las telecomunicaciones que impiden contratación de ope. por Bloomberg y Datatec.</a:t>
            </a:r>
            <a:endParaRPr lang="es-CL" sz="1000" dirty="0">
              <a:solidFill>
                <a:schemeClr val="bg1">
                  <a:lumMod val="50000"/>
                </a:schemeClr>
              </a:solidFill>
              <a:latin typeface="+mj-lt"/>
            </a:endParaRPr>
          </a:p>
        </p:txBody>
      </p:sp>
      <p:sp>
        <p:nvSpPr>
          <p:cNvPr id="180" name="Rounded Rectangle 69"/>
          <p:cNvSpPr/>
          <p:nvPr/>
        </p:nvSpPr>
        <p:spPr>
          <a:xfrm>
            <a:off x="5395901" y="2173778"/>
            <a:ext cx="794472" cy="548640"/>
          </a:xfrm>
          <a:prstGeom prst="roundRect">
            <a:avLst/>
          </a:prstGeom>
          <a:solidFill>
            <a:srgbClr val="969696"/>
          </a:solidFill>
          <a:ln w="127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200" b="1" dirty="0">
                <a:solidFill>
                  <a:schemeClr val="bg1"/>
                </a:solidFill>
              </a:rPr>
              <a:t>3,188</a:t>
            </a:r>
            <a:endParaRPr lang="es-CL" sz="1200" b="1" dirty="0">
              <a:solidFill>
                <a:schemeClr val="bg1"/>
              </a:solidFill>
            </a:endParaRPr>
          </a:p>
        </p:txBody>
      </p:sp>
      <p:sp>
        <p:nvSpPr>
          <p:cNvPr id="181" name="Rounded Rectangle 71"/>
          <p:cNvSpPr/>
          <p:nvPr/>
        </p:nvSpPr>
        <p:spPr>
          <a:xfrm>
            <a:off x="6300192" y="2173778"/>
            <a:ext cx="794472" cy="548640"/>
          </a:xfrm>
          <a:prstGeom prst="roundRect">
            <a:avLst/>
          </a:prstGeom>
          <a:solidFill>
            <a:srgbClr val="969696"/>
          </a:solidFill>
          <a:ln w="9525" algn="ctr">
            <a:solidFill>
              <a:schemeClr val="bg1">
                <a:lumMod val="85000"/>
              </a:schemeClr>
            </a:solidFill>
            <a:miter lim="800000"/>
            <a:headEnd/>
            <a:tailEnd/>
          </a:ln>
          <a:effectLst/>
        </p:spPr>
        <p:txBody>
          <a:bodyPr wrap="none" anchor="ctr"/>
          <a:lstStyle/>
          <a:p>
            <a:pPr algn="ctr"/>
            <a:r>
              <a:rPr lang="es-ES" sz="1200" b="1" dirty="0">
                <a:solidFill>
                  <a:schemeClr val="bg1"/>
                </a:solidFill>
              </a:rPr>
              <a:t>10,647</a:t>
            </a:r>
            <a:endParaRPr lang="es-CL" sz="1200" b="1" dirty="0">
              <a:solidFill>
                <a:schemeClr val="bg1"/>
              </a:solidFill>
            </a:endParaRPr>
          </a:p>
        </p:txBody>
      </p:sp>
      <p:sp>
        <p:nvSpPr>
          <p:cNvPr id="182" name="Rounded Rectangle 72"/>
          <p:cNvSpPr/>
          <p:nvPr/>
        </p:nvSpPr>
        <p:spPr>
          <a:xfrm>
            <a:off x="1476044" y="2777138"/>
            <a:ext cx="902809" cy="548640"/>
          </a:xfrm>
          <a:prstGeom prst="roundRect">
            <a:avLst/>
          </a:prstGeom>
          <a:noFill/>
          <a:ln w="127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ES" sz="1000" dirty="0">
                <a:solidFill>
                  <a:schemeClr val="bg1">
                    <a:lumMod val="50000"/>
                  </a:schemeClr>
                </a:solidFill>
              </a:rPr>
              <a:t>Inspección Técnica</a:t>
            </a:r>
            <a:endParaRPr lang="es-CL" sz="1000" dirty="0">
              <a:solidFill>
                <a:schemeClr val="bg1">
                  <a:lumMod val="50000"/>
                </a:schemeClr>
              </a:solidFill>
            </a:endParaRPr>
          </a:p>
        </p:txBody>
      </p:sp>
      <p:sp>
        <p:nvSpPr>
          <p:cNvPr id="183" name="Rounded Rectangle 73"/>
          <p:cNvSpPr/>
          <p:nvPr/>
        </p:nvSpPr>
        <p:spPr>
          <a:xfrm>
            <a:off x="179512" y="2777138"/>
            <a:ext cx="361123" cy="548640"/>
          </a:xfrm>
          <a:prstGeom prst="roundRect">
            <a:avLst/>
          </a:prstGeom>
          <a:solidFill>
            <a:srgbClr val="969696"/>
          </a:solidFill>
          <a:ln w="9525" algn="ctr">
            <a:solidFill>
              <a:srgbClr val="DB0613"/>
            </a:solidFill>
            <a:miter lim="800000"/>
            <a:headEnd/>
            <a:tailEnd/>
          </a:ln>
          <a:effectLst/>
        </p:spPr>
        <p:txBody>
          <a:bodyPr anchor="ctr"/>
          <a:lstStyle/>
          <a:p>
            <a:pPr algn="ctr">
              <a:lnSpc>
                <a:spcPct val="80000"/>
              </a:lnSpc>
            </a:pPr>
            <a:r>
              <a:rPr lang="es-CL" sz="1000" b="1" dirty="0">
                <a:solidFill>
                  <a:schemeClr val="bg1"/>
                </a:solidFill>
                <a:latin typeface="+mj-lt"/>
                <a:cs typeface="Arial" pitchFamily="34" charset="0"/>
              </a:rPr>
              <a:t>2</a:t>
            </a:r>
          </a:p>
        </p:txBody>
      </p:sp>
      <p:sp>
        <p:nvSpPr>
          <p:cNvPr id="184" name="Rounded Rectangle 74"/>
          <p:cNvSpPr/>
          <p:nvPr/>
        </p:nvSpPr>
        <p:spPr>
          <a:xfrm>
            <a:off x="2404046" y="2777138"/>
            <a:ext cx="2876780" cy="548640"/>
          </a:xfrm>
          <a:prstGeom prst="roundRect">
            <a:avLst/>
          </a:prstGeom>
          <a:noFill/>
          <a:ln w="127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ES" sz="1000" dirty="0">
                <a:solidFill>
                  <a:schemeClr val="bg1">
                    <a:lumMod val="50000"/>
                  </a:schemeClr>
                </a:solidFill>
                <a:latin typeface="+mj-lt"/>
              </a:rPr>
              <a:t>Fraude por declaración falsa del estado del vehículo.</a:t>
            </a:r>
            <a:endParaRPr lang="es-CL" sz="1000" dirty="0">
              <a:solidFill>
                <a:schemeClr val="bg1">
                  <a:lumMod val="50000"/>
                </a:schemeClr>
              </a:solidFill>
              <a:latin typeface="+mj-lt"/>
            </a:endParaRPr>
          </a:p>
        </p:txBody>
      </p:sp>
      <p:sp>
        <p:nvSpPr>
          <p:cNvPr id="185" name="Rounded Rectangle 75"/>
          <p:cNvSpPr/>
          <p:nvPr/>
        </p:nvSpPr>
        <p:spPr>
          <a:xfrm>
            <a:off x="5395901" y="2777138"/>
            <a:ext cx="794472" cy="548640"/>
          </a:xfrm>
          <a:prstGeom prst="roundRect">
            <a:avLst/>
          </a:prstGeom>
          <a:solidFill>
            <a:srgbClr val="969696"/>
          </a:solidFill>
          <a:ln w="9525" algn="ctr">
            <a:solidFill>
              <a:schemeClr val="bg1">
                <a:lumMod val="85000"/>
              </a:schemeClr>
            </a:solidFill>
            <a:miter lim="800000"/>
            <a:headEnd/>
            <a:tailEnd/>
          </a:ln>
          <a:effectLst/>
        </p:spPr>
        <p:txBody>
          <a:bodyPr wrap="none" anchor="ctr"/>
          <a:lstStyle/>
          <a:p>
            <a:pPr algn="ctr"/>
            <a:r>
              <a:rPr lang="es-ES" sz="1200" b="1" dirty="0">
                <a:solidFill>
                  <a:schemeClr val="bg1"/>
                </a:solidFill>
              </a:rPr>
              <a:t>5,355</a:t>
            </a:r>
            <a:endParaRPr lang="es-CL" sz="1200" b="1" dirty="0">
              <a:solidFill>
                <a:schemeClr val="bg1"/>
              </a:solidFill>
            </a:endParaRPr>
          </a:p>
        </p:txBody>
      </p:sp>
      <p:sp>
        <p:nvSpPr>
          <p:cNvPr id="186" name="Rounded Rectangle 76"/>
          <p:cNvSpPr/>
          <p:nvPr/>
        </p:nvSpPr>
        <p:spPr>
          <a:xfrm>
            <a:off x="6300192" y="2777138"/>
            <a:ext cx="794472" cy="548640"/>
          </a:xfrm>
          <a:prstGeom prst="roundRect">
            <a:avLst/>
          </a:prstGeom>
          <a:solidFill>
            <a:srgbClr val="969696"/>
          </a:solidFill>
          <a:ln w="9525" algn="ctr">
            <a:solidFill>
              <a:schemeClr val="bg1">
                <a:lumMod val="85000"/>
              </a:schemeClr>
            </a:solidFill>
            <a:miter lim="800000"/>
            <a:headEnd/>
            <a:tailEnd/>
          </a:ln>
          <a:effectLst/>
        </p:spPr>
        <p:txBody>
          <a:bodyPr wrap="none" anchor="ctr"/>
          <a:lstStyle/>
          <a:p>
            <a:pPr algn="ctr"/>
            <a:r>
              <a:rPr lang="es-ES" sz="1200" b="1" dirty="0">
                <a:solidFill>
                  <a:schemeClr val="bg1"/>
                </a:solidFill>
              </a:rPr>
              <a:t>7,975</a:t>
            </a:r>
            <a:endParaRPr lang="es-CL" sz="1200" b="1" dirty="0">
              <a:solidFill>
                <a:schemeClr val="bg1"/>
              </a:solidFill>
            </a:endParaRPr>
          </a:p>
        </p:txBody>
      </p:sp>
      <p:sp>
        <p:nvSpPr>
          <p:cNvPr id="187" name="Rounded Rectangle 93"/>
          <p:cNvSpPr/>
          <p:nvPr/>
        </p:nvSpPr>
        <p:spPr>
          <a:xfrm>
            <a:off x="7191358" y="2179059"/>
            <a:ext cx="792000" cy="548640"/>
          </a:xfrm>
          <a:prstGeom prst="roundRect">
            <a:avLst/>
          </a:prstGeom>
          <a:noFill/>
          <a:ln w="127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400" b="1" dirty="0">
                <a:solidFill>
                  <a:schemeClr val="tx1"/>
                </a:solidFill>
                <a:latin typeface="+mj-lt"/>
              </a:rPr>
              <a:t>29.2%</a:t>
            </a:r>
            <a:endParaRPr lang="es-CL" sz="1400" b="1" dirty="0">
              <a:solidFill>
                <a:schemeClr val="tx1"/>
              </a:solidFill>
              <a:latin typeface="+mj-lt"/>
            </a:endParaRPr>
          </a:p>
        </p:txBody>
      </p:sp>
      <p:sp>
        <p:nvSpPr>
          <p:cNvPr id="188" name="Rounded Rectangle 94"/>
          <p:cNvSpPr/>
          <p:nvPr/>
        </p:nvSpPr>
        <p:spPr>
          <a:xfrm>
            <a:off x="7191358" y="2782419"/>
            <a:ext cx="792000" cy="548640"/>
          </a:xfrm>
          <a:prstGeom prst="roundRect">
            <a:avLst/>
          </a:prstGeom>
          <a:noFill/>
          <a:ln w="127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400" b="1" dirty="0">
                <a:solidFill>
                  <a:schemeClr val="tx1"/>
                </a:solidFill>
                <a:latin typeface="+mj-lt"/>
              </a:rPr>
              <a:t>49.1%</a:t>
            </a:r>
            <a:endParaRPr lang="es-CL" sz="1400" b="1" dirty="0">
              <a:solidFill>
                <a:schemeClr val="tx1"/>
              </a:solidFill>
              <a:latin typeface="+mj-lt"/>
            </a:endParaRPr>
          </a:p>
        </p:txBody>
      </p:sp>
      <p:sp>
        <p:nvSpPr>
          <p:cNvPr id="189" name="Rounded Rectangle 116"/>
          <p:cNvSpPr/>
          <p:nvPr/>
        </p:nvSpPr>
        <p:spPr>
          <a:xfrm>
            <a:off x="571836" y="1700808"/>
            <a:ext cx="866663" cy="432048"/>
          </a:xfrm>
          <a:prstGeom prst="roundRect">
            <a:avLst/>
          </a:prstGeom>
          <a:solidFill>
            <a:srgbClr val="DB061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80000"/>
              </a:lnSpc>
            </a:pPr>
            <a:r>
              <a:rPr lang="es-CL" sz="1100" b="1" dirty="0">
                <a:solidFill>
                  <a:schemeClr val="lt1"/>
                </a:solidFill>
              </a:rPr>
              <a:t>Proceso</a:t>
            </a:r>
          </a:p>
        </p:txBody>
      </p:sp>
      <p:sp>
        <p:nvSpPr>
          <p:cNvPr id="190" name="Rounded Rectangle 128"/>
          <p:cNvSpPr/>
          <p:nvPr/>
        </p:nvSpPr>
        <p:spPr>
          <a:xfrm>
            <a:off x="571965" y="3384077"/>
            <a:ext cx="866663" cy="548640"/>
          </a:xfrm>
          <a:prstGeom prst="roundRect">
            <a:avLst/>
          </a:prstGeom>
          <a:noFill/>
          <a:ln w="127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CL" sz="1000" dirty="0">
                <a:solidFill>
                  <a:schemeClr val="bg1">
                    <a:lumMod val="50000"/>
                  </a:schemeClr>
                </a:solidFill>
              </a:rPr>
              <a:t>Adm. de Fondos</a:t>
            </a:r>
          </a:p>
        </p:txBody>
      </p:sp>
      <p:sp>
        <p:nvSpPr>
          <p:cNvPr id="191" name="Rounded Rectangle 129"/>
          <p:cNvSpPr/>
          <p:nvPr/>
        </p:nvSpPr>
        <p:spPr>
          <a:xfrm>
            <a:off x="571965" y="3984900"/>
            <a:ext cx="866663" cy="548640"/>
          </a:xfrm>
          <a:prstGeom prst="roundRect">
            <a:avLst/>
          </a:prstGeom>
          <a:noFill/>
          <a:ln w="127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CL" sz="1000" dirty="0">
                <a:solidFill>
                  <a:schemeClr val="bg1">
                    <a:lumMod val="50000"/>
                  </a:schemeClr>
                </a:solidFill>
              </a:rPr>
              <a:t>Suscripción vehicular</a:t>
            </a:r>
          </a:p>
        </p:txBody>
      </p:sp>
      <p:sp>
        <p:nvSpPr>
          <p:cNvPr id="192" name="Rounded Rectangle 130"/>
          <p:cNvSpPr/>
          <p:nvPr/>
        </p:nvSpPr>
        <p:spPr>
          <a:xfrm>
            <a:off x="571965" y="4588260"/>
            <a:ext cx="866663" cy="548640"/>
          </a:xfrm>
          <a:prstGeom prst="roundRect">
            <a:avLst/>
          </a:prstGeom>
          <a:noFill/>
          <a:ln w="127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CL" sz="1000" dirty="0">
                <a:solidFill>
                  <a:schemeClr val="bg1">
                    <a:lumMod val="50000"/>
                  </a:schemeClr>
                </a:solidFill>
              </a:rPr>
              <a:t>Suscripción vehicular</a:t>
            </a:r>
          </a:p>
        </p:txBody>
      </p:sp>
      <p:sp>
        <p:nvSpPr>
          <p:cNvPr id="193" name="Rounded Rectangle 63"/>
          <p:cNvSpPr/>
          <p:nvPr/>
        </p:nvSpPr>
        <p:spPr>
          <a:xfrm>
            <a:off x="571965" y="2174820"/>
            <a:ext cx="866663" cy="548640"/>
          </a:xfrm>
          <a:prstGeom prst="roundRect">
            <a:avLst/>
          </a:prstGeom>
          <a:noFill/>
          <a:ln w="127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CL" sz="1000" dirty="0">
                <a:solidFill>
                  <a:schemeClr val="bg1">
                    <a:lumMod val="50000"/>
                  </a:schemeClr>
                </a:solidFill>
                <a:latin typeface="+mj-lt"/>
              </a:rPr>
              <a:t>Suscripción vehicular</a:t>
            </a:r>
          </a:p>
        </p:txBody>
      </p:sp>
      <p:sp>
        <p:nvSpPr>
          <p:cNvPr id="194" name="Rounded Rectangle 72"/>
          <p:cNvSpPr/>
          <p:nvPr/>
        </p:nvSpPr>
        <p:spPr>
          <a:xfrm>
            <a:off x="571965" y="2778180"/>
            <a:ext cx="866663" cy="548640"/>
          </a:xfrm>
          <a:prstGeom prst="roundRect">
            <a:avLst/>
          </a:prstGeom>
          <a:noFill/>
          <a:ln w="127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CL" sz="1000" dirty="0">
                <a:solidFill>
                  <a:schemeClr val="bg1">
                    <a:lumMod val="50000"/>
                  </a:schemeClr>
                </a:solidFill>
              </a:rPr>
              <a:t>Suscripción vehicular</a:t>
            </a:r>
          </a:p>
        </p:txBody>
      </p:sp>
      <p:sp>
        <p:nvSpPr>
          <p:cNvPr id="195" name="Rounded Rectangle 92"/>
          <p:cNvSpPr/>
          <p:nvPr/>
        </p:nvSpPr>
        <p:spPr>
          <a:xfrm>
            <a:off x="8100480" y="1705047"/>
            <a:ext cx="792000" cy="432048"/>
          </a:xfrm>
          <a:prstGeom prst="roundRect">
            <a:avLst/>
          </a:prstGeom>
          <a:solidFill>
            <a:srgbClr val="DB061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80000"/>
              </a:lnSpc>
            </a:pPr>
            <a:r>
              <a:rPr lang="es-CL" sz="1100" b="1" dirty="0"/>
              <a:t>% Var***</a:t>
            </a:r>
          </a:p>
        </p:txBody>
      </p:sp>
      <p:sp>
        <p:nvSpPr>
          <p:cNvPr id="196" name="Rounded Rectangle 95"/>
          <p:cNvSpPr/>
          <p:nvPr/>
        </p:nvSpPr>
        <p:spPr>
          <a:xfrm>
            <a:off x="8100480" y="3388316"/>
            <a:ext cx="792000" cy="548640"/>
          </a:xfrm>
          <a:prstGeom prst="roundRect">
            <a:avLst/>
          </a:prstGeom>
          <a:noFill/>
          <a:ln w="127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400" b="1" dirty="0">
                <a:solidFill>
                  <a:schemeClr val="tx1"/>
                </a:solidFill>
                <a:latin typeface="+mj-lt"/>
              </a:rPr>
              <a:t>13.1%</a:t>
            </a:r>
            <a:endParaRPr lang="es-CL" sz="1400" b="1" dirty="0">
              <a:solidFill>
                <a:schemeClr val="tx1"/>
              </a:solidFill>
              <a:latin typeface="+mj-lt"/>
            </a:endParaRPr>
          </a:p>
        </p:txBody>
      </p:sp>
      <p:sp>
        <p:nvSpPr>
          <p:cNvPr id="197" name="Rounded Rectangle 96"/>
          <p:cNvSpPr/>
          <p:nvPr/>
        </p:nvSpPr>
        <p:spPr>
          <a:xfrm>
            <a:off x="8100480" y="3989139"/>
            <a:ext cx="792000" cy="548640"/>
          </a:xfrm>
          <a:prstGeom prst="roundRect">
            <a:avLst/>
          </a:prstGeom>
          <a:noFill/>
          <a:ln w="127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400" b="1" dirty="0">
                <a:solidFill>
                  <a:schemeClr val="tx1"/>
                </a:solidFill>
                <a:latin typeface="+mj-lt"/>
              </a:rPr>
              <a:t>9.6%</a:t>
            </a:r>
            <a:endParaRPr lang="es-CL" sz="1400" b="1" dirty="0">
              <a:solidFill>
                <a:schemeClr val="tx1"/>
              </a:solidFill>
              <a:latin typeface="+mj-lt"/>
            </a:endParaRPr>
          </a:p>
        </p:txBody>
      </p:sp>
      <p:sp>
        <p:nvSpPr>
          <p:cNvPr id="198" name="Rounded Rectangle 97"/>
          <p:cNvSpPr/>
          <p:nvPr/>
        </p:nvSpPr>
        <p:spPr>
          <a:xfrm>
            <a:off x="8100480" y="4592499"/>
            <a:ext cx="792000" cy="548640"/>
          </a:xfrm>
          <a:prstGeom prst="roundRect">
            <a:avLst/>
          </a:prstGeom>
          <a:noFill/>
          <a:ln w="127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400" b="1" dirty="0">
                <a:solidFill>
                  <a:schemeClr val="tx1"/>
                </a:solidFill>
                <a:latin typeface="+mj-lt"/>
              </a:rPr>
              <a:t>1.9%</a:t>
            </a:r>
            <a:endParaRPr lang="es-CL" sz="1400" b="1" dirty="0">
              <a:solidFill>
                <a:schemeClr val="tx1"/>
              </a:solidFill>
              <a:latin typeface="+mj-lt"/>
            </a:endParaRPr>
          </a:p>
        </p:txBody>
      </p:sp>
      <p:sp>
        <p:nvSpPr>
          <p:cNvPr id="199" name="Rounded Rectangle 93"/>
          <p:cNvSpPr/>
          <p:nvPr/>
        </p:nvSpPr>
        <p:spPr>
          <a:xfrm>
            <a:off x="8100480" y="2179059"/>
            <a:ext cx="792000" cy="548640"/>
          </a:xfrm>
          <a:prstGeom prst="roundRect">
            <a:avLst/>
          </a:prstGeom>
          <a:noFill/>
          <a:ln w="127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400" b="1" dirty="0">
                <a:solidFill>
                  <a:schemeClr val="tx1"/>
                </a:solidFill>
                <a:latin typeface="+mj-lt"/>
              </a:rPr>
              <a:t>19.9%</a:t>
            </a:r>
            <a:endParaRPr lang="es-CL" sz="1400" b="1" dirty="0">
              <a:solidFill>
                <a:schemeClr val="tx1"/>
              </a:solidFill>
              <a:latin typeface="+mj-lt"/>
            </a:endParaRPr>
          </a:p>
        </p:txBody>
      </p:sp>
      <p:sp>
        <p:nvSpPr>
          <p:cNvPr id="200" name="Rounded Rectangle 94"/>
          <p:cNvSpPr/>
          <p:nvPr/>
        </p:nvSpPr>
        <p:spPr>
          <a:xfrm>
            <a:off x="8100480" y="2782419"/>
            <a:ext cx="792000" cy="548640"/>
          </a:xfrm>
          <a:prstGeom prst="roundRect">
            <a:avLst/>
          </a:prstGeom>
          <a:noFill/>
          <a:ln w="127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400" b="1" dirty="0">
                <a:solidFill>
                  <a:schemeClr val="tx1"/>
                </a:solidFill>
                <a:latin typeface="+mj-lt"/>
              </a:rPr>
              <a:t>14.9%</a:t>
            </a:r>
            <a:endParaRPr lang="es-CL" sz="1400" b="1" dirty="0">
              <a:solidFill>
                <a:schemeClr val="tx1"/>
              </a:solidFill>
              <a:latin typeface="+mj-lt"/>
            </a:endParaRPr>
          </a:p>
        </p:txBody>
      </p:sp>
      <p:grpSp>
        <p:nvGrpSpPr>
          <p:cNvPr id="201" name="200 Grupo"/>
          <p:cNvGrpSpPr/>
          <p:nvPr/>
        </p:nvGrpSpPr>
        <p:grpSpPr>
          <a:xfrm>
            <a:off x="5382404" y="5341837"/>
            <a:ext cx="864000" cy="679451"/>
            <a:chOff x="4090649" y="5329709"/>
            <a:chExt cx="1008000" cy="679451"/>
          </a:xfrm>
        </p:grpSpPr>
        <p:sp>
          <p:nvSpPr>
            <p:cNvPr id="202" name="Rectangle 219"/>
            <p:cNvSpPr>
              <a:spLocks noChangeArrowheads="1"/>
            </p:cNvSpPr>
            <p:nvPr/>
          </p:nvSpPr>
          <p:spPr bwMode="auto">
            <a:xfrm>
              <a:off x="4090649" y="5329709"/>
              <a:ext cx="1008000" cy="304800"/>
            </a:xfrm>
            <a:prstGeom prst="rect">
              <a:avLst/>
            </a:prstGeom>
            <a:solidFill>
              <a:srgbClr val="DB0613"/>
            </a:solidFill>
            <a:ln w="9525" algn="ctr">
              <a:noFill/>
              <a:miter lim="800000"/>
              <a:headEnd/>
              <a:tailEnd/>
            </a:ln>
            <a:effectLst/>
          </p:spPr>
          <p:txBody>
            <a:bodyPr anchor="ctr"/>
            <a:lstStyle/>
            <a:p>
              <a:pPr algn="ctr"/>
              <a:r>
                <a:rPr lang="es-PE" sz="800" b="1" dirty="0">
                  <a:solidFill>
                    <a:schemeClr val="bg1"/>
                  </a:solidFill>
                </a:rPr>
                <a:t>Top 5</a:t>
              </a:r>
            </a:p>
            <a:p>
              <a:pPr algn="ctr"/>
              <a:r>
                <a:rPr lang="es-PE" sz="800" b="1" dirty="0">
                  <a:solidFill>
                    <a:schemeClr val="bg1"/>
                  </a:solidFill>
                </a:rPr>
                <a:t>PEA acumulado</a:t>
              </a:r>
              <a:endParaRPr lang="en-US" sz="800" b="1" dirty="0">
                <a:solidFill>
                  <a:schemeClr val="bg1"/>
                </a:solidFill>
              </a:endParaRPr>
            </a:p>
          </p:txBody>
        </p:sp>
        <p:sp>
          <p:nvSpPr>
            <p:cNvPr id="203" name="Rectangle 224"/>
            <p:cNvSpPr>
              <a:spLocks noChangeArrowheads="1"/>
            </p:cNvSpPr>
            <p:nvPr/>
          </p:nvSpPr>
          <p:spPr bwMode="auto">
            <a:xfrm>
              <a:off x="4090649" y="5664672"/>
              <a:ext cx="1008000" cy="344488"/>
            </a:xfrm>
            <a:prstGeom prst="rect">
              <a:avLst/>
            </a:prstGeom>
            <a:solidFill>
              <a:schemeClr val="bg1"/>
            </a:solidFill>
            <a:ln w="9525" algn="ctr">
              <a:noFill/>
              <a:miter lim="800000"/>
              <a:headEnd/>
              <a:tailEnd/>
            </a:ln>
            <a:effectLst/>
          </p:spPr>
          <p:txBody>
            <a:bodyPr anchor="ctr"/>
            <a:lstStyle/>
            <a:p>
              <a:pPr algn="ctr"/>
              <a:r>
                <a:rPr lang="es-PE" sz="1400" b="1" dirty="0"/>
                <a:t>9,270</a:t>
              </a:r>
              <a:endParaRPr lang="en-US" sz="1400" b="1" dirty="0"/>
            </a:p>
          </p:txBody>
        </p:sp>
      </p:grpSp>
      <p:grpSp>
        <p:nvGrpSpPr>
          <p:cNvPr id="204" name="203 Grupo"/>
          <p:cNvGrpSpPr/>
          <p:nvPr/>
        </p:nvGrpSpPr>
        <p:grpSpPr>
          <a:xfrm>
            <a:off x="8105261" y="5341837"/>
            <a:ext cx="864000" cy="679451"/>
            <a:chOff x="4090649" y="5329709"/>
            <a:chExt cx="1008000" cy="679451"/>
          </a:xfrm>
        </p:grpSpPr>
        <p:sp>
          <p:nvSpPr>
            <p:cNvPr id="205" name="Rectangle 219"/>
            <p:cNvSpPr>
              <a:spLocks noChangeArrowheads="1"/>
            </p:cNvSpPr>
            <p:nvPr/>
          </p:nvSpPr>
          <p:spPr bwMode="auto">
            <a:xfrm>
              <a:off x="4090649" y="5329709"/>
              <a:ext cx="1008000" cy="304800"/>
            </a:xfrm>
            <a:prstGeom prst="rect">
              <a:avLst/>
            </a:prstGeom>
            <a:solidFill>
              <a:srgbClr val="DB0613"/>
            </a:solidFill>
            <a:ln w="9525" algn="ctr">
              <a:noFill/>
              <a:miter lim="800000"/>
              <a:headEnd/>
              <a:tailEnd/>
            </a:ln>
            <a:effectLst/>
          </p:spPr>
          <p:txBody>
            <a:bodyPr anchor="ctr"/>
            <a:lstStyle/>
            <a:p>
              <a:pPr algn="ctr"/>
              <a:r>
                <a:rPr lang="es-PE" sz="800" b="1" dirty="0">
                  <a:solidFill>
                    <a:schemeClr val="bg1"/>
                  </a:solidFill>
                </a:rPr>
                <a:t>%</a:t>
              </a:r>
              <a:r>
                <a:rPr lang="es-PE" sz="800" b="1" dirty="0" err="1">
                  <a:solidFill>
                    <a:schemeClr val="bg1"/>
                  </a:solidFill>
                </a:rPr>
                <a:t>VaR</a:t>
              </a:r>
              <a:endParaRPr lang="es-PE" sz="800" b="1" dirty="0">
                <a:solidFill>
                  <a:schemeClr val="bg1"/>
                </a:solidFill>
              </a:endParaRPr>
            </a:p>
            <a:p>
              <a:pPr algn="ctr"/>
              <a:r>
                <a:rPr lang="es-PE" sz="800" b="1" dirty="0">
                  <a:solidFill>
                    <a:schemeClr val="bg1"/>
                  </a:solidFill>
                </a:rPr>
                <a:t>Acumulado</a:t>
              </a:r>
            </a:p>
          </p:txBody>
        </p:sp>
        <p:sp>
          <p:nvSpPr>
            <p:cNvPr id="206" name="Rectangle 224"/>
            <p:cNvSpPr>
              <a:spLocks noChangeArrowheads="1"/>
            </p:cNvSpPr>
            <p:nvPr/>
          </p:nvSpPr>
          <p:spPr bwMode="auto">
            <a:xfrm>
              <a:off x="4090649" y="5664672"/>
              <a:ext cx="1008000" cy="344488"/>
            </a:xfrm>
            <a:prstGeom prst="rect">
              <a:avLst/>
            </a:prstGeom>
            <a:solidFill>
              <a:schemeClr val="bg1"/>
            </a:solidFill>
            <a:ln w="9525" algn="ctr">
              <a:noFill/>
              <a:miter lim="800000"/>
              <a:headEnd/>
              <a:tailEnd/>
            </a:ln>
            <a:effectLst/>
          </p:spPr>
          <p:txBody>
            <a:bodyPr anchor="ctr"/>
            <a:lstStyle/>
            <a:p>
              <a:pPr algn="ctr"/>
              <a:r>
                <a:rPr lang="es-PE" sz="1400" b="1" dirty="0"/>
                <a:t>59%</a:t>
              </a:r>
              <a:endParaRPr lang="en-US" sz="1400" b="1" dirty="0"/>
            </a:p>
          </p:txBody>
        </p:sp>
      </p:grpSp>
      <p:grpSp>
        <p:nvGrpSpPr>
          <p:cNvPr id="207" name="206 Grupo"/>
          <p:cNvGrpSpPr/>
          <p:nvPr/>
        </p:nvGrpSpPr>
        <p:grpSpPr>
          <a:xfrm>
            <a:off x="7202484" y="5341837"/>
            <a:ext cx="864000" cy="679451"/>
            <a:chOff x="4090649" y="5329709"/>
            <a:chExt cx="1008000" cy="679451"/>
          </a:xfrm>
        </p:grpSpPr>
        <p:sp>
          <p:nvSpPr>
            <p:cNvPr id="208" name="Rectangle 219"/>
            <p:cNvSpPr>
              <a:spLocks noChangeArrowheads="1"/>
            </p:cNvSpPr>
            <p:nvPr/>
          </p:nvSpPr>
          <p:spPr bwMode="auto">
            <a:xfrm>
              <a:off x="4090649" y="5329709"/>
              <a:ext cx="1008000" cy="304800"/>
            </a:xfrm>
            <a:prstGeom prst="rect">
              <a:avLst/>
            </a:prstGeom>
            <a:solidFill>
              <a:srgbClr val="DB0613"/>
            </a:solidFill>
            <a:ln w="9525" algn="ctr">
              <a:noFill/>
              <a:miter lim="800000"/>
              <a:headEnd/>
              <a:tailEnd/>
            </a:ln>
            <a:effectLst/>
          </p:spPr>
          <p:txBody>
            <a:bodyPr anchor="ctr"/>
            <a:lstStyle/>
            <a:p>
              <a:pPr algn="ctr"/>
              <a:r>
                <a:rPr lang="es-PE" sz="800" b="1" dirty="0">
                  <a:solidFill>
                    <a:schemeClr val="bg1"/>
                  </a:solidFill>
                </a:rPr>
                <a:t>%PEA</a:t>
              </a:r>
            </a:p>
            <a:p>
              <a:pPr algn="ctr"/>
              <a:r>
                <a:rPr lang="es-PE" sz="800" b="1" dirty="0">
                  <a:solidFill>
                    <a:schemeClr val="bg1"/>
                  </a:solidFill>
                </a:rPr>
                <a:t>Acumulado</a:t>
              </a:r>
            </a:p>
          </p:txBody>
        </p:sp>
        <p:sp>
          <p:nvSpPr>
            <p:cNvPr id="209" name="Rectangle 224"/>
            <p:cNvSpPr>
              <a:spLocks noChangeArrowheads="1"/>
            </p:cNvSpPr>
            <p:nvPr/>
          </p:nvSpPr>
          <p:spPr bwMode="auto">
            <a:xfrm>
              <a:off x="4090649" y="5664672"/>
              <a:ext cx="1008000" cy="344488"/>
            </a:xfrm>
            <a:prstGeom prst="rect">
              <a:avLst/>
            </a:prstGeom>
            <a:solidFill>
              <a:schemeClr val="bg1"/>
            </a:solidFill>
            <a:ln w="9525" algn="ctr">
              <a:noFill/>
              <a:miter lim="800000"/>
              <a:headEnd/>
              <a:tailEnd/>
            </a:ln>
            <a:effectLst/>
          </p:spPr>
          <p:txBody>
            <a:bodyPr anchor="ctr"/>
            <a:lstStyle/>
            <a:p>
              <a:pPr algn="ctr"/>
              <a:r>
                <a:rPr lang="es-PE" sz="1400" b="1" dirty="0"/>
                <a:t>85%</a:t>
              </a:r>
              <a:endParaRPr lang="en-US" sz="1400" b="1" dirty="0"/>
            </a:p>
          </p:txBody>
        </p:sp>
      </p:gr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72 Grupo"/>
          <p:cNvGrpSpPr/>
          <p:nvPr/>
        </p:nvGrpSpPr>
        <p:grpSpPr>
          <a:xfrm>
            <a:off x="1772704" y="1430192"/>
            <a:ext cx="2772000" cy="2772000"/>
            <a:chOff x="4211960" y="2132856"/>
            <a:chExt cx="2772000" cy="2772000"/>
          </a:xfrm>
        </p:grpSpPr>
        <p:sp>
          <p:nvSpPr>
            <p:cNvPr id="74" name="73 Rectángulo"/>
            <p:cNvSpPr/>
            <p:nvPr/>
          </p:nvSpPr>
          <p:spPr>
            <a:xfrm>
              <a:off x="4211960" y="2132856"/>
              <a:ext cx="2772000" cy="27720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p>
          </p:txBody>
        </p:sp>
        <p:sp>
          <p:nvSpPr>
            <p:cNvPr id="75" name="74 Rectángulo"/>
            <p:cNvSpPr/>
            <p:nvPr/>
          </p:nvSpPr>
          <p:spPr>
            <a:xfrm>
              <a:off x="4247960" y="3541212"/>
              <a:ext cx="2700000" cy="640800"/>
            </a:xfrm>
            <a:prstGeom prst="rect">
              <a:avLst/>
            </a:prstGeom>
            <a:solidFill>
              <a:srgbClr val="FFF9CD"/>
            </a:solidFill>
            <a:ln w="3175">
              <a:solidFill>
                <a:srgbClr val="FFE16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p>
          </p:txBody>
        </p:sp>
        <p:sp>
          <p:nvSpPr>
            <p:cNvPr id="76" name="75 Rectángulo"/>
            <p:cNvSpPr/>
            <p:nvPr/>
          </p:nvSpPr>
          <p:spPr>
            <a:xfrm>
              <a:off x="4247960" y="4221088"/>
              <a:ext cx="2700000" cy="648000"/>
            </a:xfrm>
            <a:prstGeom prst="rect">
              <a:avLst/>
            </a:prstGeom>
            <a:solidFill>
              <a:srgbClr val="DFF1CB"/>
            </a:solidFill>
            <a:ln w="3175">
              <a:solidFill>
                <a:schemeClr val="accent3">
                  <a:alpha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p>
          </p:txBody>
        </p:sp>
        <p:sp>
          <p:nvSpPr>
            <p:cNvPr id="77" name="76 Rectángulo"/>
            <p:cNvSpPr/>
            <p:nvPr/>
          </p:nvSpPr>
          <p:spPr>
            <a:xfrm>
              <a:off x="4247960" y="2156709"/>
              <a:ext cx="2700000" cy="1342800"/>
            </a:xfrm>
            <a:prstGeom prst="rect">
              <a:avLst/>
            </a:prstGeom>
            <a:solidFill>
              <a:srgbClr val="FAC8B8">
                <a:alpha val="65000"/>
              </a:srgbClr>
            </a:solidFill>
            <a:ln w="3175">
              <a:solidFill>
                <a:srgbClr val="FF0000">
                  <a:alpha val="35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p>
          </p:txBody>
        </p:sp>
        <p:cxnSp>
          <p:nvCxnSpPr>
            <p:cNvPr id="78" name="77 Conector recto"/>
            <p:cNvCxnSpPr/>
            <p:nvPr/>
          </p:nvCxnSpPr>
          <p:spPr>
            <a:xfrm>
              <a:off x="5597960" y="2156709"/>
              <a:ext cx="0" cy="2712379"/>
            </a:xfrm>
            <a:prstGeom prst="line">
              <a:avLst/>
            </a:prstGeom>
            <a:ln>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79" name="78 Conector recto"/>
            <p:cNvCxnSpPr/>
            <p:nvPr/>
          </p:nvCxnSpPr>
          <p:spPr>
            <a:xfrm>
              <a:off x="4924089" y="2148758"/>
              <a:ext cx="0" cy="2712379"/>
            </a:xfrm>
            <a:prstGeom prst="line">
              <a:avLst/>
            </a:prstGeom>
            <a:ln>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80" name="79 Conector recto"/>
            <p:cNvCxnSpPr/>
            <p:nvPr/>
          </p:nvCxnSpPr>
          <p:spPr>
            <a:xfrm>
              <a:off x="6228184" y="2156709"/>
              <a:ext cx="0" cy="2712379"/>
            </a:xfrm>
            <a:prstGeom prst="line">
              <a:avLst/>
            </a:prstGeom>
            <a:ln>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81" name="80 Conector recto"/>
            <p:cNvCxnSpPr/>
            <p:nvPr/>
          </p:nvCxnSpPr>
          <p:spPr>
            <a:xfrm flipH="1">
              <a:off x="4211960" y="3518856"/>
              <a:ext cx="2772000" cy="0"/>
            </a:xfrm>
            <a:prstGeom prst="line">
              <a:avLst/>
            </a:prstGeom>
            <a:ln>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82" name="81 Conector recto"/>
            <p:cNvCxnSpPr/>
            <p:nvPr/>
          </p:nvCxnSpPr>
          <p:spPr>
            <a:xfrm flipH="1">
              <a:off x="4211960" y="4205186"/>
              <a:ext cx="2772000" cy="0"/>
            </a:xfrm>
            <a:prstGeom prst="line">
              <a:avLst/>
            </a:prstGeom>
            <a:ln>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83" name="82 Conector recto"/>
            <p:cNvCxnSpPr/>
            <p:nvPr/>
          </p:nvCxnSpPr>
          <p:spPr>
            <a:xfrm flipH="1">
              <a:off x="4211960" y="2852936"/>
              <a:ext cx="2772000" cy="0"/>
            </a:xfrm>
            <a:prstGeom prst="line">
              <a:avLst/>
            </a:prstGeom>
            <a:ln>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grpSp>
      <p:sp>
        <p:nvSpPr>
          <p:cNvPr id="55" name="Rectangle 29"/>
          <p:cNvSpPr txBox="1">
            <a:spLocks noChangeArrowheads="1"/>
          </p:cNvSpPr>
          <p:nvPr/>
        </p:nvSpPr>
        <p:spPr bwMode="gray">
          <a:xfrm>
            <a:off x="251520" y="740954"/>
            <a:ext cx="8352928" cy="455798"/>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lang="es-ES_tradnl" b="1" noProof="0" dirty="0">
                <a:solidFill>
                  <a:srgbClr val="4D4D4D"/>
                </a:solidFill>
                <a:latin typeface="+mj-lt"/>
                <a:sym typeface="Wingdings" pitchFamily="2" charset="2"/>
              </a:rPr>
              <a:t>También es importante analizar los impactos </a:t>
            </a:r>
            <a:r>
              <a:rPr lang="es-ES_tradnl" b="1" noProof="0" dirty="0" err="1">
                <a:solidFill>
                  <a:srgbClr val="4D4D4D"/>
                </a:solidFill>
                <a:latin typeface="+mj-lt"/>
                <a:sym typeface="Wingdings" pitchFamily="2" charset="2"/>
              </a:rPr>
              <a:t>reputacionales</a:t>
            </a:r>
            <a:r>
              <a:rPr lang="es-ES_tradnl" b="1" noProof="0" dirty="0">
                <a:solidFill>
                  <a:srgbClr val="4D4D4D"/>
                </a:solidFill>
                <a:latin typeface="+mj-lt"/>
                <a:sym typeface="Wingdings" pitchFamily="2" charset="2"/>
              </a:rPr>
              <a:t>, ya que pueden estar o no acompañados de pérdidas patrimoniales directas…</a:t>
            </a:r>
            <a:endParaRPr kumimoji="0" lang="es-ES_tradnl" b="1" i="0" u="none" strike="noStrike" kern="0" cap="none" spc="0" normalizeH="0" baseline="0" noProof="0" dirty="0">
              <a:ln>
                <a:noFill/>
              </a:ln>
              <a:solidFill>
                <a:schemeClr val="hlink"/>
              </a:solidFill>
              <a:effectLst/>
              <a:uLnTx/>
              <a:uFillTx/>
              <a:latin typeface="+mj-lt"/>
              <a:ea typeface="+mj-ea"/>
              <a:cs typeface="+mj-cs"/>
            </a:endParaRPr>
          </a:p>
        </p:txBody>
      </p:sp>
      <p:sp>
        <p:nvSpPr>
          <p:cNvPr id="192" name="Text Box 35"/>
          <p:cNvSpPr txBox="1">
            <a:spLocks noChangeArrowheads="1"/>
          </p:cNvSpPr>
          <p:nvPr/>
        </p:nvSpPr>
        <p:spPr bwMode="auto">
          <a:xfrm>
            <a:off x="4282523" y="4221088"/>
            <a:ext cx="937549" cy="369332"/>
          </a:xfrm>
          <a:prstGeom prst="rect">
            <a:avLst/>
          </a:prstGeom>
          <a:noFill/>
          <a:ln w="9525" algn="ctr">
            <a:noFill/>
            <a:miter lim="800000"/>
            <a:headEnd/>
            <a:tailEnd/>
          </a:ln>
          <a:effectLst/>
        </p:spPr>
        <p:txBody>
          <a:bodyPr wrap="square">
            <a:spAutoFit/>
          </a:bodyPr>
          <a:lstStyle/>
          <a:p>
            <a:r>
              <a:rPr lang="es-ES" sz="900" b="1" i="1" dirty="0"/>
              <a:t>PEA</a:t>
            </a:r>
          </a:p>
          <a:p>
            <a:r>
              <a:rPr lang="es-ES" sz="900" b="1" i="1" dirty="0"/>
              <a:t>(Miles)</a:t>
            </a:r>
            <a:endParaRPr lang="en-US" sz="900" b="1" i="1" dirty="0"/>
          </a:p>
        </p:txBody>
      </p:sp>
      <p:sp>
        <p:nvSpPr>
          <p:cNvPr id="172" name="Text Box 111"/>
          <p:cNvSpPr txBox="1">
            <a:spLocks noChangeArrowheads="1"/>
          </p:cNvSpPr>
          <p:nvPr/>
        </p:nvSpPr>
        <p:spPr bwMode="auto">
          <a:xfrm>
            <a:off x="1504853" y="2711321"/>
            <a:ext cx="250390" cy="246221"/>
          </a:xfrm>
          <a:prstGeom prst="rect">
            <a:avLst/>
          </a:prstGeom>
          <a:noFill/>
          <a:ln w="9525" algn="ctr">
            <a:noFill/>
            <a:miter lim="800000"/>
            <a:headEnd/>
            <a:tailEnd/>
          </a:ln>
          <a:effectLst/>
        </p:spPr>
        <p:txBody>
          <a:bodyPr wrap="none">
            <a:spAutoFit/>
          </a:bodyPr>
          <a:lstStyle/>
          <a:p>
            <a:r>
              <a:rPr lang="es-ES" sz="1000" dirty="0"/>
              <a:t>3</a:t>
            </a:r>
            <a:endParaRPr lang="en-US" sz="1000" dirty="0"/>
          </a:p>
        </p:txBody>
      </p:sp>
      <p:sp>
        <p:nvSpPr>
          <p:cNvPr id="173" name="Text Box 112"/>
          <p:cNvSpPr txBox="1">
            <a:spLocks noChangeArrowheads="1"/>
          </p:cNvSpPr>
          <p:nvPr/>
        </p:nvSpPr>
        <p:spPr bwMode="auto">
          <a:xfrm>
            <a:off x="1504853" y="2016972"/>
            <a:ext cx="250390" cy="246221"/>
          </a:xfrm>
          <a:prstGeom prst="rect">
            <a:avLst/>
          </a:prstGeom>
          <a:noFill/>
          <a:ln w="9525" algn="ctr">
            <a:noFill/>
            <a:miter lim="800000"/>
            <a:headEnd/>
            <a:tailEnd/>
          </a:ln>
          <a:effectLst/>
        </p:spPr>
        <p:txBody>
          <a:bodyPr wrap="none">
            <a:spAutoFit/>
          </a:bodyPr>
          <a:lstStyle/>
          <a:p>
            <a:r>
              <a:rPr lang="es-ES" sz="1000" dirty="0"/>
              <a:t>4</a:t>
            </a:r>
            <a:endParaRPr lang="en-US" sz="1000" dirty="0"/>
          </a:p>
        </p:txBody>
      </p:sp>
      <p:sp>
        <p:nvSpPr>
          <p:cNvPr id="174" name="Text Box 113"/>
          <p:cNvSpPr txBox="1">
            <a:spLocks noChangeArrowheads="1"/>
          </p:cNvSpPr>
          <p:nvPr/>
        </p:nvSpPr>
        <p:spPr bwMode="auto">
          <a:xfrm>
            <a:off x="1504853" y="1356157"/>
            <a:ext cx="250390" cy="246221"/>
          </a:xfrm>
          <a:prstGeom prst="rect">
            <a:avLst/>
          </a:prstGeom>
          <a:noFill/>
          <a:ln w="9525" algn="ctr">
            <a:noFill/>
            <a:miter lim="800000"/>
            <a:headEnd/>
            <a:tailEnd/>
          </a:ln>
          <a:effectLst/>
        </p:spPr>
        <p:txBody>
          <a:bodyPr wrap="none">
            <a:spAutoFit/>
          </a:bodyPr>
          <a:lstStyle/>
          <a:p>
            <a:r>
              <a:rPr lang="es-ES" sz="1000" dirty="0"/>
              <a:t>5</a:t>
            </a:r>
            <a:endParaRPr lang="en-US" sz="1000" dirty="0"/>
          </a:p>
        </p:txBody>
      </p:sp>
      <p:sp>
        <p:nvSpPr>
          <p:cNvPr id="175" name="Text Box 114"/>
          <p:cNvSpPr txBox="1">
            <a:spLocks noChangeArrowheads="1"/>
          </p:cNvSpPr>
          <p:nvPr/>
        </p:nvSpPr>
        <p:spPr bwMode="auto">
          <a:xfrm>
            <a:off x="1433074" y="4056787"/>
            <a:ext cx="393948" cy="246221"/>
          </a:xfrm>
          <a:prstGeom prst="rect">
            <a:avLst/>
          </a:prstGeom>
          <a:noFill/>
          <a:ln w="9525" algn="ctr">
            <a:noFill/>
            <a:miter lim="800000"/>
            <a:headEnd/>
            <a:tailEnd/>
          </a:ln>
          <a:effectLst/>
        </p:spPr>
        <p:txBody>
          <a:bodyPr wrap="square">
            <a:spAutoFit/>
          </a:bodyPr>
          <a:lstStyle/>
          <a:p>
            <a:pPr algn="ctr"/>
            <a:r>
              <a:rPr lang="es-ES" sz="1000" dirty="0"/>
              <a:t>1</a:t>
            </a:r>
            <a:endParaRPr lang="en-US" sz="1000" dirty="0"/>
          </a:p>
        </p:txBody>
      </p:sp>
      <p:sp>
        <p:nvSpPr>
          <p:cNvPr id="176" name="AutoShape 16"/>
          <p:cNvSpPr>
            <a:spLocks noChangeArrowheads="1"/>
          </p:cNvSpPr>
          <p:nvPr/>
        </p:nvSpPr>
        <p:spPr bwMode="auto">
          <a:xfrm>
            <a:off x="316299" y="1439670"/>
            <a:ext cx="653838" cy="2783780"/>
          </a:xfrm>
          <a:prstGeom prst="homePlate">
            <a:avLst>
              <a:gd name="adj" fmla="val 32356"/>
            </a:avLst>
          </a:prstGeom>
          <a:solidFill>
            <a:schemeClr val="tx1">
              <a:lumMod val="10000"/>
              <a:lumOff val="90000"/>
            </a:schemeClr>
          </a:solidFill>
          <a:ln w="9525" algn="ctr">
            <a:noFill/>
            <a:miter lim="800000"/>
            <a:headEnd/>
            <a:tailEnd/>
          </a:ln>
          <a:effectLst>
            <a:prstShdw prst="shdw17" dist="17961" dir="2700000">
              <a:srgbClr val="ECECEC">
                <a:gamma/>
                <a:shade val="60000"/>
                <a:invGamma/>
              </a:srgbClr>
            </a:prstShdw>
          </a:effectLst>
        </p:spPr>
        <p:txBody>
          <a:bodyPr rot="10800000" vert="eaVert" anchor="ctr"/>
          <a:lstStyle/>
          <a:p>
            <a:pPr algn="ctr">
              <a:lnSpc>
                <a:spcPct val="90000"/>
              </a:lnSpc>
            </a:pPr>
            <a:r>
              <a:rPr lang="es-ES" sz="1100" b="1" dirty="0">
                <a:cs typeface="Arial" pitchFamily="34" charset="0"/>
              </a:rPr>
              <a:t>Matriz de Criticidad Impacto Reputacional y Pérdida Esperada </a:t>
            </a:r>
            <a:endParaRPr lang="en-US" sz="1100" b="1" dirty="0">
              <a:cs typeface="Arial" pitchFamily="34" charset="0"/>
            </a:endParaRPr>
          </a:p>
        </p:txBody>
      </p:sp>
      <p:sp>
        <p:nvSpPr>
          <p:cNvPr id="177" name="Oval 90"/>
          <p:cNvSpPr>
            <a:spLocks noChangeAspect="1" noChangeArrowheads="1"/>
          </p:cNvSpPr>
          <p:nvPr/>
        </p:nvSpPr>
        <p:spPr bwMode="auto">
          <a:xfrm>
            <a:off x="1912477" y="2726431"/>
            <a:ext cx="216000" cy="216000"/>
          </a:xfrm>
          <a:prstGeom prst="ellipse">
            <a:avLst/>
          </a:prstGeom>
          <a:gradFill rotWithShape="1">
            <a:gsLst>
              <a:gs pos="0">
                <a:schemeClr val="accent6">
                  <a:lumMod val="75000"/>
                </a:schemeClr>
              </a:gs>
              <a:gs pos="100000">
                <a:schemeClr val="folHlink">
                  <a:gamma/>
                  <a:shade val="46275"/>
                  <a:invGamma/>
                </a:schemeClr>
              </a:gs>
            </a:gsLst>
            <a:path path="shape">
              <a:fillToRect l="50000" t="50000" r="50000" b="50000"/>
            </a:path>
          </a:gradFill>
          <a:ln w="9525" algn="ctr">
            <a:noFill/>
            <a:round/>
            <a:headEnd/>
            <a:tailEnd/>
          </a:ln>
          <a:effectLst/>
        </p:spPr>
        <p:txBody>
          <a:bodyPr wrap="none" anchor="ctr"/>
          <a:lstStyle/>
          <a:p>
            <a:pPr algn="ctr"/>
            <a:r>
              <a:rPr lang="en-US" sz="1100" b="1" dirty="0">
                <a:solidFill>
                  <a:schemeClr val="bg1"/>
                </a:solidFill>
              </a:rPr>
              <a:t>2</a:t>
            </a:r>
          </a:p>
        </p:txBody>
      </p:sp>
      <p:sp>
        <p:nvSpPr>
          <p:cNvPr id="178" name="Oval 90"/>
          <p:cNvSpPr>
            <a:spLocks noChangeAspect="1" noChangeArrowheads="1"/>
          </p:cNvSpPr>
          <p:nvPr/>
        </p:nvSpPr>
        <p:spPr bwMode="auto">
          <a:xfrm>
            <a:off x="2041246" y="2726431"/>
            <a:ext cx="216000" cy="216000"/>
          </a:xfrm>
          <a:prstGeom prst="ellipse">
            <a:avLst/>
          </a:prstGeom>
          <a:gradFill rotWithShape="1">
            <a:gsLst>
              <a:gs pos="0">
                <a:schemeClr val="accent6">
                  <a:lumMod val="75000"/>
                </a:schemeClr>
              </a:gs>
              <a:gs pos="100000">
                <a:schemeClr val="folHlink">
                  <a:gamma/>
                  <a:shade val="46275"/>
                  <a:invGamma/>
                </a:schemeClr>
              </a:gs>
            </a:gsLst>
            <a:path path="shape">
              <a:fillToRect l="50000" t="50000" r="50000" b="50000"/>
            </a:path>
          </a:gradFill>
          <a:ln w="9525" algn="ctr">
            <a:noFill/>
            <a:round/>
            <a:headEnd/>
            <a:tailEnd/>
          </a:ln>
          <a:effectLst/>
        </p:spPr>
        <p:txBody>
          <a:bodyPr wrap="none" anchor="ctr"/>
          <a:lstStyle/>
          <a:p>
            <a:pPr algn="ctr"/>
            <a:r>
              <a:rPr lang="en-US" sz="1100" b="1" dirty="0">
                <a:solidFill>
                  <a:schemeClr val="bg1"/>
                </a:solidFill>
              </a:rPr>
              <a:t>1</a:t>
            </a:r>
          </a:p>
        </p:txBody>
      </p:sp>
      <p:sp>
        <p:nvSpPr>
          <p:cNvPr id="179" name="Text Box 13"/>
          <p:cNvSpPr txBox="1">
            <a:spLocks noChangeArrowheads="1"/>
          </p:cNvSpPr>
          <p:nvPr/>
        </p:nvSpPr>
        <p:spPr bwMode="auto">
          <a:xfrm>
            <a:off x="2137376" y="4262899"/>
            <a:ext cx="543739" cy="246221"/>
          </a:xfrm>
          <a:prstGeom prst="rect">
            <a:avLst/>
          </a:prstGeom>
          <a:noFill/>
          <a:ln w="9525" algn="ctr">
            <a:noFill/>
            <a:miter lim="800000"/>
            <a:headEnd/>
            <a:tailEnd/>
          </a:ln>
          <a:effectLst/>
        </p:spPr>
        <p:txBody>
          <a:bodyPr wrap="none">
            <a:spAutoFit/>
          </a:bodyPr>
          <a:lstStyle/>
          <a:p>
            <a:r>
              <a:rPr lang="es-ES" sz="1000" dirty="0"/>
              <a:t>&lt;1,000</a:t>
            </a:r>
            <a:endParaRPr lang="en-US" sz="1000" dirty="0"/>
          </a:p>
        </p:txBody>
      </p:sp>
      <p:sp>
        <p:nvSpPr>
          <p:cNvPr id="180" name="Oval 90"/>
          <p:cNvSpPr>
            <a:spLocks noChangeAspect="1" noChangeArrowheads="1"/>
          </p:cNvSpPr>
          <p:nvPr/>
        </p:nvSpPr>
        <p:spPr bwMode="auto">
          <a:xfrm>
            <a:off x="2203946" y="2726431"/>
            <a:ext cx="216000" cy="216000"/>
          </a:xfrm>
          <a:prstGeom prst="ellipse">
            <a:avLst/>
          </a:prstGeom>
          <a:gradFill rotWithShape="1">
            <a:gsLst>
              <a:gs pos="0">
                <a:schemeClr val="accent6">
                  <a:lumMod val="75000"/>
                </a:schemeClr>
              </a:gs>
              <a:gs pos="100000">
                <a:schemeClr val="folHlink">
                  <a:gamma/>
                  <a:shade val="46275"/>
                  <a:invGamma/>
                </a:schemeClr>
              </a:gs>
            </a:gsLst>
            <a:path path="shape">
              <a:fillToRect l="50000" t="50000" r="50000" b="50000"/>
            </a:path>
          </a:gradFill>
          <a:ln w="9525" algn="ctr">
            <a:noFill/>
            <a:round/>
            <a:headEnd/>
            <a:tailEnd/>
          </a:ln>
          <a:effectLst/>
        </p:spPr>
        <p:txBody>
          <a:bodyPr wrap="none" anchor="ctr"/>
          <a:lstStyle/>
          <a:p>
            <a:pPr algn="ctr"/>
            <a:r>
              <a:rPr lang="en-US" sz="1100" b="1" dirty="0">
                <a:solidFill>
                  <a:schemeClr val="bg1"/>
                </a:solidFill>
              </a:rPr>
              <a:t>3</a:t>
            </a:r>
          </a:p>
        </p:txBody>
      </p:sp>
      <p:sp>
        <p:nvSpPr>
          <p:cNvPr id="181" name="Oval 90"/>
          <p:cNvSpPr>
            <a:spLocks noChangeAspect="1" noChangeArrowheads="1"/>
          </p:cNvSpPr>
          <p:nvPr/>
        </p:nvSpPr>
        <p:spPr bwMode="auto">
          <a:xfrm>
            <a:off x="2886890" y="2726431"/>
            <a:ext cx="216000" cy="216000"/>
          </a:xfrm>
          <a:prstGeom prst="ellipse">
            <a:avLst/>
          </a:prstGeom>
          <a:gradFill rotWithShape="1">
            <a:gsLst>
              <a:gs pos="0">
                <a:schemeClr val="accent6">
                  <a:lumMod val="75000"/>
                </a:schemeClr>
              </a:gs>
              <a:gs pos="100000">
                <a:schemeClr val="folHlink">
                  <a:gamma/>
                  <a:shade val="46275"/>
                  <a:invGamma/>
                </a:schemeClr>
              </a:gs>
            </a:gsLst>
            <a:path path="shape">
              <a:fillToRect l="50000" t="50000" r="50000" b="50000"/>
            </a:path>
          </a:gradFill>
          <a:ln w="9525" algn="ctr">
            <a:noFill/>
            <a:round/>
            <a:headEnd/>
            <a:tailEnd/>
          </a:ln>
          <a:effectLst/>
        </p:spPr>
        <p:txBody>
          <a:bodyPr wrap="none" anchor="ctr"/>
          <a:lstStyle/>
          <a:p>
            <a:pPr algn="ctr"/>
            <a:r>
              <a:rPr lang="en-US" sz="1100" b="1" dirty="0">
                <a:solidFill>
                  <a:schemeClr val="bg1"/>
                </a:solidFill>
              </a:rPr>
              <a:t>4</a:t>
            </a:r>
          </a:p>
        </p:txBody>
      </p:sp>
      <p:sp>
        <p:nvSpPr>
          <p:cNvPr id="182" name="Oval 90"/>
          <p:cNvSpPr>
            <a:spLocks noChangeAspect="1" noChangeArrowheads="1"/>
          </p:cNvSpPr>
          <p:nvPr/>
        </p:nvSpPr>
        <p:spPr bwMode="auto">
          <a:xfrm>
            <a:off x="1764860" y="2726431"/>
            <a:ext cx="216000" cy="216000"/>
          </a:xfrm>
          <a:prstGeom prst="ellipse">
            <a:avLst/>
          </a:prstGeom>
          <a:gradFill rotWithShape="1">
            <a:gsLst>
              <a:gs pos="0">
                <a:schemeClr val="accent6">
                  <a:lumMod val="75000"/>
                </a:schemeClr>
              </a:gs>
              <a:gs pos="100000">
                <a:schemeClr val="folHlink">
                  <a:gamma/>
                  <a:shade val="46275"/>
                  <a:invGamma/>
                </a:schemeClr>
              </a:gs>
            </a:gsLst>
            <a:path path="shape">
              <a:fillToRect l="50000" t="50000" r="50000" b="50000"/>
            </a:path>
          </a:gradFill>
          <a:ln w="9525" algn="ctr">
            <a:noFill/>
            <a:round/>
            <a:headEnd/>
            <a:tailEnd/>
          </a:ln>
          <a:effectLst/>
        </p:spPr>
        <p:txBody>
          <a:bodyPr wrap="none" anchor="ctr"/>
          <a:lstStyle/>
          <a:p>
            <a:pPr algn="ctr"/>
            <a:r>
              <a:rPr lang="en-US" sz="1100" b="1" dirty="0">
                <a:solidFill>
                  <a:schemeClr val="bg1"/>
                </a:solidFill>
              </a:rPr>
              <a:t>5</a:t>
            </a:r>
          </a:p>
        </p:txBody>
      </p:sp>
      <p:sp>
        <p:nvSpPr>
          <p:cNvPr id="183" name="Oval 90"/>
          <p:cNvSpPr>
            <a:spLocks noChangeArrowheads="1"/>
          </p:cNvSpPr>
          <p:nvPr/>
        </p:nvSpPr>
        <p:spPr bwMode="auto">
          <a:xfrm>
            <a:off x="1734762" y="1985927"/>
            <a:ext cx="216000" cy="216000"/>
          </a:xfrm>
          <a:prstGeom prst="ellipse">
            <a:avLst/>
          </a:prstGeom>
          <a:gradFill rotWithShape="1">
            <a:gsLst>
              <a:gs pos="0">
                <a:schemeClr val="accent1">
                  <a:lumMod val="60000"/>
                  <a:lumOff val="40000"/>
                </a:schemeClr>
              </a:gs>
              <a:gs pos="100000">
                <a:schemeClr val="folHlink">
                  <a:gamma/>
                  <a:shade val="46275"/>
                  <a:invGamma/>
                </a:schemeClr>
              </a:gs>
            </a:gsLst>
            <a:path path="shape">
              <a:fillToRect l="50000" t="50000" r="50000" b="50000"/>
            </a:path>
          </a:gradFill>
          <a:ln w="9525" algn="ctr">
            <a:noFill/>
            <a:round/>
            <a:headEnd/>
            <a:tailEnd/>
          </a:ln>
          <a:effectLst/>
        </p:spPr>
        <p:txBody>
          <a:bodyPr wrap="none" anchor="ctr"/>
          <a:lstStyle/>
          <a:p>
            <a:pPr algn="ctr"/>
            <a:r>
              <a:rPr lang="en-US" sz="1100" b="1" dirty="0">
                <a:solidFill>
                  <a:schemeClr val="bg1"/>
                </a:solidFill>
              </a:rPr>
              <a:t>8</a:t>
            </a:r>
          </a:p>
        </p:txBody>
      </p:sp>
      <p:sp>
        <p:nvSpPr>
          <p:cNvPr id="184" name="Text Box 111"/>
          <p:cNvSpPr txBox="1">
            <a:spLocks noChangeArrowheads="1"/>
          </p:cNvSpPr>
          <p:nvPr/>
        </p:nvSpPr>
        <p:spPr bwMode="auto">
          <a:xfrm>
            <a:off x="1504853" y="3407860"/>
            <a:ext cx="250390" cy="246221"/>
          </a:xfrm>
          <a:prstGeom prst="rect">
            <a:avLst/>
          </a:prstGeom>
          <a:noFill/>
          <a:ln w="9525" algn="ctr">
            <a:noFill/>
            <a:miter lim="800000"/>
            <a:headEnd/>
            <a:tailEnd/>
          </a:ln>
          <a:effectLst/>
        </p:spPr>
        <p:txBody>
          <a:bodyPr wrap="none">
            <a:spAutoFit/>
          </a:bodyPr>
          <a:lstStyle/>
          <a:p>
            <a:r>
              <a:rPr lang="en-US" sz="1000" dirty="0"/>
              <a:t>2</a:t>
            </a:r>
          </a:p>
        </p:txBody>
      </p:sp>
      <p:sp>
        <p:nvSpPr>
          <p:cNvPr id="185" name="Oval 90"/>
          <p:cNvSpPr>
            <a:spLocks noChangeArrowheads="1"/>
          </p:cNvSpPr>
          <p:nvPr/>
        </p:nvSpPr>
        <p:spPr bwMode="auto">
          <a:xfrm>
            <a:off x="1899030" y="1992892"/>
            <a:ext cx="216000" cy="216000"/>
          </a:xfrm>
          <a:prstGeom prst="ellipse">
            <a:avLst/>
          </a:prstGeom>
          <a:gradFill rotWithShape="1">
            <a:gsLst>
              <a:gs pos="0">
                <a:schemeClr val="accent1">
                  <a:lumMod val="60000"/>
                  <a:lumOff val="40000"/>
                </a:schemeClr>
              </a:gs>
              <a:gs pos="100000">
                <a:schemeClr val="folHlink">
                  <a:gamma/>
                  <a:shade val="46275"/>
                  <a:invGamma/>
                </a:schemeClr>
              </a:gs>
            </a:gsLst>
            <a:path path="shape">
              <a:fillToRect l="50000" t="50000" r="50000" b="50000"/>
            </a:path>
          </a:gradFill>
          <a:ln w="9525" algn="ctr">
            <a:noFill/>
            <a:round/>
            <a:headEnd/>
            <a:tailEnd/>
          </a:ln>
          <a:effectLst/>
        </p:spPr>
        <p:txBody>
          <a:bodyPr wrap="none" anchor="ctr"/>
          <a:lstStyle/>
          <a:p>
            <a:pPr algn="ctr"/>
            <a:r>
              <a:rPr lang="en-US" sz="1100" b="1" dirty="0">
                <a:solidFill>
                  <a:schemeClr val="bg1"/>
                </a:solidFill>
              </a:rPr>
              <a:t>9</a:t>
            </a:r>
          </a:p>
        </p:txBody>
      </p:sp>
      <p:sp>
        <p:nvSpPr>
          <p:cNvPr id="186" name="Oval 90"/>
          <p:cNvSpPr>
            <a:spLocks noChangeArrowheads="1"/>
          </p:cNvSpPr>
          <p:nvPr/>
        </p:nvSpPr>
        <p:spPr bwMode="auto">
          <a:xfrm>
            <a:off x="1734762" y="2156345"/>
            <a:ext cx="216000" cy="216000"/>
          </a:xfrm>
          <a:prstGeom prst="ellipse">
            <a:avLst/>
          </a:prstGeom>
          <a:gradFill rotWithShape="1">
            <a:gsLst>
              <a:gs pos="0">
                <a:schemeClr val="accent1">
                  <a:lumMod val="60000"/>
                  <a:lumOff val="40000"/>
                </a:schemeClr>
              </a:gs>
              <a:gs pos="100000">
                <a:schemeClr val="folHlink">
                  <a:gamma/>
                  <a:shade val="46275"/>
                  <a:invGamma/>
                </a:schemeClr>
              </a:gs>
            </a:gsLst>
            <a:path path="shape">
              <a:fillToRect l="50000" t="50000" r="50000" b="50000"/>
            </a:path>
          </a:gradFill>
          <a:ln w="9525" algn="ctr">
            <a:noFill/>
            <a:round/>
            <a:headEnd/>
            <a:tailEnd/>
          </a:ln>
          <a:effectLst/>
        </p:spPr>
        <p:txBody>
          <a:bodyPr wrap="none" anchor="ctr"/>
          <a:lstStyle/>
          <a:p>
            <a:pPr algn="ctr"/>
            <a:r>
              <a:rPr lang="en-US" sz="1100" b="1" dirty="0">
                <a:solidFill>
                  <a:schemeClr val="bg1"/>
                </a:solidFill>
              </a:rPr>
              <a:t>10</a:t>
            </a:r>
          </a:p>
        </p:txBody>
      </p:sp>
      <p:sp>
        <p:nvSpPr>
          <p:cNvPr id="187" name="Text Box 13"/>
          <p:cNvSpPr txBox="1">
            <a:spLocks noChangeArrowheads="1"/>
          </p:cNvSpPr>
          <p:nvPr/>
        </p:nvSpPr>
        <p:spPr bwMode="auto">
          <a:xfrm>
            <a:off x="2809989" y="4262899"/>
            <a:ext cx="543739" cy="246221"/>
          </a:xfrm>
          <a:prstGeom prst="rect">
            <a:avLst/>
          </a:prstGeom>
          <a:noFill/>
          <a:ln w="9525" algn="ctr">
            <a:noFill/>
            <a:miter lim="800000"/>
            <a:headEnd/>
            <a:tailEnd/>
          </a:ln>
          <a:effectLst/>
        </p:spPr>
        <p:txBody>
          <a:bodyPr wrap="none">
            <a:spAutoFit/>
          </a:bodyPr>
          <a:lstStyle/>
          <a:p>
            <a:r>
              <a:rPr lang="es-ES" sz="1000" dirty="0"/>
              <a:t>&lt;2,500</a:t>
            </a:r>
            <a:endParaRPr lang="en-US" sz="1000" dirty="0"/>
          </a:p>
        </p:txBody>
      </p:sp>
      <p:sp>
        <p:nvSpPr>
          <p:cNvPr id="188" name="Text Box 13"/>
          <p:cNvSpPr txBox="1">
            <a:spLocks noChangeArrowheads="1"/>
          </p:cNvSpPr>
          <p:nvPr/>
        </p:nvSpPr>
        <p:spPr bwMode="auto">
          <a:xfrm>
            <a:off x="3505528" y="4262899"/>
            <a:ext cx="543739" cy="246221"/>
          </a:xfrm>
          <a:prstGeom prst="rect">
            <a:avLst/>
          </a:prstGeom>
          <a:noFill/>
          <a:ln w="9525" algn="ctr">
            <a:noFill/>
            <a:miter lim="800000"/>
            <a:headEnd/>
            <a:tailEnd/>
          </a:ln>
          <a:effectLst/>
        </p:spPr>
        <p:txBody>
          <a:bodyPr wrap="none">
            <a:spAutoFit/>
          </a:bodyPr>
          <a:lstStyle/>
          <a:p>
            <a:r>
              <a:rPr lang="es-ES" sz="1000" dirty="0"/>
              <a:t>&lt;5,000</a:t>
            </a:r>
            <a:endParaRPr lang="en-US" sz="1000" dirty="0"/>
          </a:p>
        </p:txBody>
      </p:sp>
      <p:sp>
        <p:nvSpPr>
          <p:cNvPr id="189" name="Oval 90"/>
          <p:cNvSpPr>
            <a:spLocks noChangeAspect="1" noChangeArrowheads="1"/>
          </p:cNvSpPr>
          <p:nvPr/>
        </p:nvSpPr>
        <p:spPr bwMode="auto">
          <a:xfrm>
            <a:off x="4376614" y="2726431"/>
            <a:ext cx="216000" cy="216000"/>
          </a:xfrm>
          <a:prstGeom prst="ellipse">
            <a:avLst/>
          </a:prstGeom>
          <a:gradFill rotWithShape="1">
            <a:gsLst>
              <a:gs pos="0">
                <a:schemeClr val="accent6">
                  <a:lumMod val="75000"/>
                </a:schemeClr>
              </a:gs>
              <a:gs pos="100000">
                <a:schemeClr val="folHlink">
                  <a:gamma/>
                  <a:shade val="46275"/>
                  <a:invGamma/>
                </a:schemeClr>
              </a:gs>
            </a:gsLst>
            <a:path path="shape">
              <a:fillToRect l="50000" t="50000" r="50000" b="50000"/>
            </a:path>
          </a:gradFill>
          <a:ln w="9525" algn="ctr">
            <a:noFill/>
            <a:round/>
            <a:headEnd/>
            <a:tailEnd/>
          </a:ln>
          <a:effectLst/>
        </p:spPr>
        <p:txBody>
          <a:bodyPr wrap="none" anchor="ctr"/>
          <a:lstStyle/>
          <a:p>
            <a:pPr algn="ctr"/>
            <a:r>
              <a:rPr lang="en-US" sz="1100" b="1" dirty="0">
                <a:solidFill>
                  <a:schemeClr val="bg1"/>
                </a:solidFill>
              </a:rPr>
              <a:t>7</a:t>
            </a:r>
          </a:p>
        </p:txBody>
      </p:sp>
      <p:sp>
        <p:nvSpPr>
          <p:cNvPr id="190" name="Oval 90"/>
          <p:cNvSpPr>
            <a:spLocks noChangeAspect="1" noChangeArrowheads="1"/>
          </p:cNvSpPr>
          <p:nvPr/>
        </p:nvSpPr>
        <p:spPr bwMode="auto">
          <a:xfrm>
            <a:off x="4072162" y="2726431"/>
            <a:ext cx="216000" cy="216000"/>
          </a:xfrm>
          <a:prstGeom prst="ellipse">
            <a:avLst/>
          </a:prstGeom>
          <a:gradFill rotWithShape="1">
            <a:gsLst>
              <a:gs pos="0">
                <a:schemeClr val="accent6">
                  <a:lumMod val="75000"/>
                </a:schemeClr>
              </a:gs>
              <a:gs pos="100000">
                <a:schemeClr val="folHlink">
                  <a:gamma/>
                  <a:shade val="46275"/>
                  <a:invGamma/>
                </a:schemeClr>
              </a:gs>
            </a:gsLst>
            <a:path path="shape">
              <a:fillToRect l="50000" t="50000" r="50000" b="50000"/>
            </a:path>
          </a:gradFill>
          <a:ln w="9525" algn="ctr">
            <a:noFill/>
            <a:round/>
            <a:headEnd/>
            <a:tailEnd/>
          </a:ln>
          <a:effectLst/>
        </p:spPr>
        <p:txBody>
          <a:bodyPr wrap="none" anchor="ctr"/>
          <a:lstStyle/>
          <a:p>
            <a:pPr algn="ctr"/>
            <a:r>
              <a:rPr lang="en-US" sz="1100" b="1" dirty="0">
                <a:solidFill>
                  <a:schemeClr val="bg1"/>
                </a:solidFill>
              </a:rPr>
              <a:t>6</a:t>
            </a:r>
          </a:p>
        </p:txBody>
      </p:sp>
      <p:sp>
        <p:nvSpPr>
          <p:cNvPr id="191" name="Text Box 34"/>
          <p:cNvSpPr txBox="1">
            <a:spLocks noChangeArrowheads="1"/>
          </p:cNvSpPr>
          <p:nvPr/>
        </p:nvSpPr>
        <p:spPr bwMode="auto">
          <a:xfrm>
            <a:off x="789291" y="1340768"/>
            <a:ext cx="823152" cy="369332"/>
          </a:xfrm>
          <a:prstGeom prst="rect">
            <a:avLst/>
          </a:prstGeom>
          <a:noFill/>
          <a:ln w="9525" algn="ctr">
            <a:noFill/>
            <a:miter lim="800000"/>
            <a:headEnd/>
            <a:tailEnd/>
          </a:ln>
          <a:effectLst/>
        </p:spPr>
        <p:txBody>
          <a:bodyPr wrap="square">
            <a:spAutoFit/>
          </a:bodyPr>
          <a:lstStyle/>
          <a:p>
            <a:r>
              <a:rPr lang="es-ES" sz="900" b="1" i="1" dirty="0"/>
              <a:t>Impacto Reputacional</a:t>
            </a:r>
            <a:endParaRPr lang="en-US" sz="900" b="1" i="1" dirty="0"/>
          </a:p>
        </p:txBody>
      </p:sp>
      <p:grpSp>
        <p:nvGrpSpPr>
          <p:cNvPr id="3" name="192 Grupo"/>
          <p:cNvGrpSpPr/>
          <p:nvPr/>
        </p:nvGrpSpPr>
        <p:grpSpPr>
          <a:xfrm>
            <a:off x="2808024" y="5097761"/>
            <a:ext cx="1980000" cy="821299"/>
            <a:chOff x="2231745" y="4941168"/>
            <a:chExt cx="1980000" cy="821299"/>
          </a:xfrm>
        </p:grpSpPr>
        <p:sp>
          <p:nvSpPr>
            <p:cNvPr id="194" name="AutoShape 47"/>
            <p:cNvSpPr>
              <a:spLocks noChangeArrowheads="1"/>
            </p:cNvSpPr>
            <p:nvPr/>
          </p:nvSpPr>
          <p:spPr bwMode="blackWhite">
            <a:xfrm rot="10800000">
              <a:off x="2231745" y="4941168"/>
              <a:ext cx="1980000" cy="821299"/>
            </a:xfrm>
            <a:prstGeom prst="rightArrow">
              <a:avLst>
                <a:gd name="adj1" fmla="val 100000"/>
                <a:gd name="adj2" fmla="val 11009"/>
              </a:avLst>
            </a:prstGeom>
            <a:solidFill>
              <a:schemeClr val="bg1">
                <a:lumMod val="75000"/>
              </a:schemeClr>
            </a:solidFill>
            <a:ln w="12700">
              <a:noFill/>
              <a:miter lim="800000"/>
              <a:headEnd/>
              <a:tailEnd/>
            </a:ln>
            <a:effectLst>
              <a:outerShdw dist="35921" dir="2700000" algn="ctr" rotWithShape="0">
                <a:schemeClr val="bg2"/>
              </a:outerShdw>
            </a:effectLst>
          </p:spPr>
          <p:txBody>
            <a:bodyPr anchor="ctr"/>
            <a:lstStyle/>
            <a:p>
              <a:pPr algn="ctr"/>
              <a:endParaRPr lang="es-ES" sz="1000" b="1" noProof="1">
                <a:solidFill>
                  <a:schemeClr val="bg1">
                    <a:lumMod val="95000"/>
                  </a:schemeClr>
                </a:solidFill>
                <a:cs typeface="Arial" charset="0"/>
              </a:endParaRPr>
            </a:p>
          </p:txBody>
        </p:sp>
        <p:sp>
          <p:nvSpPr>
            <p:cNvPr id="195" name="AutoShape 182"/>
            <p:cNvSpPr>
              <a:spLocks noChangeArrowheads="1"/>
            </p:cNvSpPr>
            <p:nvPr/>
          </p:nvSpPr>
          <p:spPr bwMode="auto">
            <a:xfrm>
              <a:off x="2386381" y="5233100"/>
              <a:ext cx="1188000" cy="216000"/>
            </a:xfrm>
            <a:prstGeom prst="roundRect">
              <a:avLst>
                <a:gd name="adj" fmla="val 7157"/>
              </a:avLst>
            </a:prstGeom>
            <a:solidFill>
              <a:schemeClr val="tx1">
                <a:lumMod val="50000"/>
                <a:lumOff val="50000"/>
              </a:schemeClr>
            </a:solidFill>
            <a:ln w="9525" algn="ctr">
              <a:noFill/>
              <a:round/>
              <a:headEnd/>
              <a:tailEnd/>
            </a:ln>
            <a:effectLst/>
          </p:spPr>
          <p:txBody>
            <a:bodyPr anchor="ctr"/>
            <a:lstStyle/>
            <a:p>
              <a:r>
                <a:rPr lang="es-ES" sz="1000" b="1" dirty="0">
                  <a:solidFill>
                    <a:schemeClr val="bg1"/>
                  </a:solidFill>
                </a:rPr>
                <a:t>N° Riesgos Críticos </a:t>
              </a:r>
              <a:endParaRPr lang="en-US" sz="1000" b="1" dirty="0">
                <a:solidFill>
                  <a:schemeClr val="bg1"/>
                </a:solidFill>
              </a:endParaRPr>
            </a:p>
          </p:txBody>
        </p:sp>
        <p:sp>
          <p:nvSpPr>
            <p:cNvPr id="196" name="AutoShape 183"/>
            <p:cNvSpPr>
              <a:spLocks noChangeArrowheads="1"/>
            </p:cNvSpPr>
            <p:nvPr/>
          </p:nvSpPr>
          <p:spPr bwMode="auto">
            <a:xfrm>
              <a:off x="3609002" y="5233100"/>
              <a:ext cx="540000" cy="216000"/>
            </a:xfrm>
            <a:prstGeom prst="roundRect">
              <a:avLst>
                <a:gd name="adj" fmla="val 7157"/>
              </a:avLst>
            </a:prstGeom>
            <a:solidFill>
              <a:schemeClr val="bg1"/>
            </a:solidFill>
            <a:ln w="9525" algn="ctr">
              <a:noFill/>
              <a:round/>
              <a:headEnd/>
              <a:tailEnd/>
            </a:ln>
            <a:effectLst/>
          </p:spPr>
          <p:txBody>
            <a:bodyPr anchor="ctr"/>
            <a:lstStyle/>
            <a:p>
              <a:pPr algn="ctr"/>
              <a:r>
                <a:rPr lang="es-AR" sz="1000" b="1" dirty="0">
                  <a:solidFill>
                    <a:srgbClr val="454545"/>
                  </a:solidFill>
                </a:rPr>
                <a:t>10</a:t>
              </a:r>
              <a:endParaRPr lang="en-US" sz="1000" b="1" dirty="0">
                <a:solidFill>
                  <a:srgbClr val="454545"/>
                </a:solidFill>
              </a:endParaRPr>
            </a:p>
          </p:txBody>
        </p:sp>
        <p:sp>
          <p:nvSpPr>
            <p:cNvPr id="197" name="AutoShape 185"/>
            <p:cNvSpPr>
              <a:spLocks noChangeArrowheads="1"/>
            </p:cNvSpPr>
            <p:nvPr/>
          </p:nvSpPr>
          <p:spPr bwMode="auto">
            <a:xfrm>
              <a:off x="2386381" y="5494478"/>
              <a:ext cx="1188000" cy="216000"/>
            </a:xfrm>
            <a:prstGeom prst="roundRect">
              <a:avLst>
                <a:gd name="adj" fmla="val 7157"/>
              </a:avLst>
            </a:prstGeom>
            <a:solidFill>
              <a:schemeClr val="tx1">
                <a:lumMod val="50000"/>
                <a:lumOff val="50000"/>
              </a:schemeClr>
            </a:solidFill>
            <a:ln w="9525" algn="ctr">
              <a:noFill/>
              <a:round/>
              <a:headEnd/>
              <a:tailEnd/>
            </a:ln>
            <a:effectLst/>
          </p:spPr>
          <p:txBody>
            <a:bodyPr anchor="ctr"/>
            <a:lstStyle/>
            <a:p>
              <a:r>
                <a:rPr lang="en-US" sz="1000" b="1" dirty="0">
                  <a:solidFill>
                    <a:schemeClr val="bg1"/>
                  </a:solidFill>
                </a:rPr>
                <a:t>PE menor S/.1MM</a:t>
              </a:r>
            </a:p>
          </p:txBody>
        </p:sp>
        <p:sp>
          <p:nvSpPr>
            <p:cNvPr id="198" name="AutoShape 186"/>
            <p:cNvSpPr>
              <a:spLocks noChangeArrowheads="1"/>
            </p:cNvSpPr>
            <p:nvPr/>
          </p:nvSpPr>
          <p:spPr bwMode="auto">
            <a:xfrm>
              <a:off x="3609002" y="5494478"/>
              <a:ext cx="540000" cy="216000"/>
            </a:xfrm>
            <a:prstGeom prst="roundRect">
              <a:avLst>
                <a:gd name="adj" fmla="val 7157"/>
              </a:avLst>
            </a:prstGeom>
            <a:solidFill>
              <a:schemeClr val="bg1"/>
            </a:solidFill>
            <a:ln w="9525" algn="ctr">
              <a:noFill/>
              <a:round/>
              <a:headEnd/>
              <a:tailEnd/>
            </a:ln>
            <a:effectLst/>
          </p:spPr>
          <p:txBody>
            <a:bodyPr anchor="ctr"/>
            <a:lstStyle/>
            <a:p>
              <a:pPr algn="ctr"/>
              <a:r>
                <a:rPr lang="en-US" sz="1000" b="1" dirty="0">
                  <a:solidFill>
                    <a:srgbClr val="454545"/>
                  </a:solidFill>
                </a:rPr>
                <a:t>70.0%</a:t>
              </a:r>
            </a:p>
          </p:txBody>
        </p:sp>
        <p:sp>
          <p:nvSpPr>
            <p:cNvPr id="199" name="AutoShape 182"/>
            <p:cNvSpPr>
              <a:spLocks noChangeArrowheads="1"/>
            </p:cNvSpPr>
            <p:nvPr/>
          </p:nvSpPr>
          <p:spPr bwMode="auto">
            <a:xfrm>
              <a:off x="2386381" y="4986305"/>
              <a:ext cx="1764000" cy="216000"/>
            </a:xfrm>
            <a:prstGeom prst="roundRect">
              <a:avLst>
                <a:gd name="adj" fmla="val 7157"/>
              </a:avLst>
            </a:prstGeom>
            <a:solidFill>
              <a:schemeClr val="tx1">
                <a:lumMod val="50000"/>
                <a:lumOff val="50000"/>
              </a:schemeClr>
            </a:solidFill>
            <a:ln w="9525" algn="ctr">
              <a:noFill/>
              <a:round/>
              <a:headEnd/>
              <a:tailEnd/>
            </a:ln>
            <a:effectLst/>
          </p:spPr>
          <p:txBody>
            <a:bodyPr anchor="ctr"/>
            <a:lstStyle/>
            <a:p>
              <a:pPr algn="ctr"/>
              <a:r>
                <a:rPr lang="es-ES" sz="1000" b="1" dirty="0">
                  <a:solidFill>
                    <a:schemeClr val="bg1"/>
                  </a:solidFill>
                </a:rPr>
                <a:t>Riesgos</a:t>
              </a:r>
              <a:endParaRPr lang="en-US" sz="1000" b="1" dirty="0">
                <a:solidFill>
                  <a:schemeClr val="bg1"/>
                </a:solidFill>
              </a:endParaRPr>
            </a:p>
          </p:txBody>
        </p:sp>
      </p:grpSp>
      <p:grpSp>
        <p:nvGrpSpPr>
          <p:cNvPr id="4" name="199 Grupo"/>
          <p:cNvGrpSpPr/>
          <p:nvPr/>
        </p:nvGrpSpPr>
        <p:grpSpPr>
          <a:xfrm>
            <a:off x="625007" y="4878410"/>
            <a:ext cx="2169114" cy="1260000"/>
            <a:chOff x="48943" y="4689280"/>
            <a:chExt cx="2169114" cy="1260000"/>
          </a:xfrm>
        </p:grpSpPr>
        <p:sp>
          <p:nvSpPr>
            <p:cNvPr id="201" name="AutoShape 182"/>
            <p:cNvSpPr>
              <a:spLocks noChangeArrowheads="1"/>
            </p:cNvSpPr>
            <p:nvPr/>
          </p:nvSpPr>
          <p:spPr bwMode="auto">
            <a:xfrm>
              <a:off x="48943" y="4689280"/>
              <a:ext cx="2124000" cy="1260000"/>
            </a:xfrm>
            <a:prstGeom prst="roundRect">
              <a:avLst>
                <a:gd name="adj" fmla="val 7157"/>
              </a:avLst>
            </a:prstGeom>
            <a:solidFill>
              <a:schemeClr val="bg1">
                <a:lumMod val="75000"/>
              </a:schemeClr>
            </a:solidFill>
            <a:ln w="12700">
              <a:noFill/>
              <a:miter lim="800000"/>
              <a:headEnd/>
              <a:tailEnd/>
            </a:ln>
            <a:effectLst>
              <a:outerShdw dist="35921" dir="2700000" algn="ctr" rotWithShape="0">
                <a:schemeClr val="bg2"/>
              </a:outerShdw>
            </a:effectLst>
          </p:spPr>
          <p:txBody>
            <a:bodyPr anchor="ctr"/>
            <a:lstStyle/>
            <a:p>
              <a:pPr algn="ctr"/>
              <a:endParaRPr lang="en-US" sz="1000" b="1" noProof="1">
                <a:solidFill>
                  <a:schemeClr val="bg1">
                    <a:lumMod val="95000"/>
                  </a:schemeClr>
                </a:solidFill>
                <a:cs typeface="Arial" charset="0"/>
              </a:endParaRPr>
            </a:p>
          </p:txBody>
        </p:sp>
        <p:sp>
          <p:nvSpPr>
            <p:cNvPr id="202" name="AutoShape 182"/>
            <p:cNvSpPr>
              <a:spLocks noChangeArrowheads="1"/>
            </p:cNvSpPr>
            <p:nvPr/>
          </p:nvSpPr>
          <p:spPr bwMode="auto">
            <a:xfrm>
              <a:off x="120943" y="4742290"/>
              <a:ext cx="1980000" cy="216000"/>
            </a:xfrm>
            <a:prstGeom prst="roundRect">
              <a:avLst>
                <a:gd name="adj" fmla="val 7157"/>
              </a:avLst>
            </a:prstGeom>
            <a:solidFill>
              <a:schemeClr val="tx1">
                <a:lumMod val="50000"/>
                <a:lumOff val="50000"/>
              </a:schemeClr>
            </a:solidFill>
            <a:ln w="9525" algn="ctr">
              <a:noFill/>
              <a:round/>
              <a:headEnd/>
              <a:tailEnd/>
            </a:ln>
            <a:effectLst/>
          </p:spPr>
          <p:txBody>
            <a:bodyPr anchor="ctr"/>
            <a:lstStyle/>
            <a:p>
              <a:pPr algn="ctr"/>
              <a:r>
                <a:rPr lang="es-PE" sz="1000" b="1" dirty="0">
                  <a:solidFill>
                    <a:schemeClr val="bg1"/>
                  </a:solidFill>
                </a:rPr>
                <a:t>Nivel de Exposición de la Imagen</a:t>
              </a:r>
              <a:endParaRPr lang="en-US" sz="1000" b="1" dirty="0">
                <a:solidFill>
                  <a:schemeClr val="bg1"/>
                </a:solidFill>
              </a:endParaRPr>
            </a:p>
          </p:txBody>
        </p:sp>
        <p:sp>
          <p:nvSpPr>
            <p:cNvPr id="203" name="AutoShape 182"/>
            <p:cNvSpPr>
              <a:spLocks noChangeArrowheads="1"/>
            </p:cNvSpPr>
            <p:nvPr/>
          </p:nvSpPr>
          <p:spPr bwMode="auto">
            <a:xfrm>
              <a:off x="94057" y="4954743"/>
              <a:ext cx="2124000" cy="216000"/>
            </a:xfrm>
            <a:prstGeom prst="roundRect">
              <a:avLst>
                <a:gd name="adj" fmla="val 7157"/>
              </a:avLst>
            </a:prstGeom>
            <a:solidFill>
              <a:schemeClr val="bg1">
                <a:lumMod val="75000"/>
                <a:alpha val="0"/>
              </a:schemeClr>
            </a:solidFill>
            <a:ln w="9525" algn="ctr">
              <a:noFill/>
              <a:round/>
              <a:headEnd/>
              <a:tailEnd/>
            </a:ln>
            <a:effectLst/>
          </p:spPr>
          <p:txBody>
            <a:bodyPr anchor="ctr"/>
            <a:lstStyle/>
            <a:p>
              <a:r>
                <a:rPr lang="es-PE" sz="1000" b="1" dirty="0">
                  <a:solidFill>
                    <a:schemeClr val="bg1"/>
                  </a:solidFill>
                </a:rPr>
                <a:t>1: Interna y limitada</a:t>
              </a:r>
              <a:endParaRPr lang="en-US" sz="1000" b="1" dirty="0">
                <a:solidFill>
                  <a:schemeClr val="bg1"/>
                </a:solidFill>
              </a:endParaRPr>
            </a:p>
          </p:txBody>
        </p:sp>
        <p:sp>
          <p:nvSpPr>
            <p:cNvPr id="204" name="AutoShape 182"/>
            <p:cNvSpPr>
              <a:spLocks noChangeArrowheads="1"/>
            </p:cNvSpPr>
            <p:nvPr/>
          </p:nvSpPr>
          <p:spPr bwMode="auto">
            <a:xfrm>
              <a:off x="94057" y="5125653"/>
              <a:ext cx="2124000" cy="216000"/>
            </a:xfrm>
            <a:prstGeom prst="roundRect">
              <a:avLst>
                <a:gd name="adj" fmla="val 7157"/>
              </a:avLst>
            </a:prstGeom>
            <a:solidFill>
              <a:schemeClr val="bg1">
                <a:lumMod val="75000"/>
                <a:alpha val="0"/>
              </a:schemeClr>
            </a:solidFill>
            <a:ln w="9525" algn="ctr">
              <a:noFill/>
              <a:round/>
              <a:headEnd/>
              <a:tailEnd/>
            </a:ln>
            <a:effectLst/>
          </p:spPr>
          <p:txBody>
            <a:bodyPr anchor="ctr"/>
            <a:lstStyle/>
            <a:p>
              <a:r>
                <a:rPr lang="es-PE" sz="1000" b="1" dirty="0">
                  <a:solidFill>
                    <a:schemeClr val="bg1"/>
                  </a:solidFill>
                </a:rPr>
                <a:t>2: Interna pero no limitada</a:t>
              </a:r>
              <a:endParaRPr lang="en-US" sz="1000" b="1" dirty="0">
                <a:solidFill>
                  <a:schemeClr val="bg1"/>
                </a:solidFill>
              </a:endParaRPr>
            </a:p>
          </p:txBody>
        </p:sp>
        <p:sp>
          <p:nvSpPr>
            <p:cNvPr id="205" name="AutoShape 182"/>
            <p:cNvSpPr>
              <a:spLocks noChangeArrowheads="1"/>
            </p:cNvSpPr>
            <p:nvPr/>
          </p:nvSpPr>
          <p:spPr bwMode="auto">
            <a:xfrm>
              <a:off x="94057" y="5314807"/>
              <a:ext cx="2124000" cy="216000"/>
            </a:xfrm>
            <a:prstGeom prst="roundRect">
              <a:avLst>
                <a:gd name="adj" fmla="val 7157"/>
              </a:avLst>
            </a:prstGeom>
            <a:solidFill>
              <a:schemeClr val="bg1">
                <a:lumMod val="75000"/>
                <a:alpha val="0"/>
              </a:schemeClr>
            </a:solidFill>
            <a:ln w="9525" algn="ctr">
              <a:noFill/>
              <a:round/>
              <a:headEnd/>
              <a:tailEnd/>
            </a:ln>
            <a:effectLst/>
          </p:spPr>
          <p:txBody>
            <a:bodyPr anchor="ctr"/>
            <a:lstStyle/>
            <a:p>
              <a:r>
                <a:rPr lang="es-PE" sz="1000" b="1" dirty="0">
                  <a:solidFill>
                    <a:schemeClr val="bg1"/>
                  </a:solidFill>
                </a:rPr>
                <a:t>3: Interna y externa, impacto medio</a:t>
              </a:r>
              <a:endParaRPr lang="en-US" sz="1000" b="1" dirty="0">
                <a:solidFill>
                  <a:schemeClr val="bg1"/>
                </a:solidFill>
              </a:endParaRPr>
            </a:p>
          </p:txBody>
        </p:sp>
        <p:sp>
          <p:nvSpPr>
            <p:cNvPr id="206" name="AutoShape 182"/>
            <p:cNvSpPr>
              <a:spLocks noChangeArrowheads="1"/>
            </p:cNvSpPr>
            <p:nvPr/>
          </p:nvSpPr>
          <p:spPr bwMode="auto">
            <a:xfrm>
              <a:off x="94057" y="5512587"/>
              <a:ext cx="2124000" cy="216000"/>
            </a:xfrm>
            <a:prstGeom prst="roundRect">
              <a:avLst>
                <a:gd name="adj" fmla="val 7157"/>
              </a:avLst>
            </a:prstGeom>
            <a:solidFill>
              <a:schemeClr val="bg1">
                <a:lumMod val="75000"/>
                <a:alpha val="0"/>
              </a:schemeClr>
            </a:solidFill>
            <a:ln w="9525" algn="ctr">
              <a:noFill/>
              <a:round/>
              <a:headEnd/>
              <a:tailEnd/>
            </a:ln>
            <a:effectLst/>
          </p:spPr>
          <p:txBody>
            <a:bodyPr anchor="ctr"/>
            <a:lstStyle/>
            <a:p>
              <a:r>
                <a:rPr lang="es-PE" sz="1000" b="1" dirty="0">
                  <a:solidFill>
                    <a:schemeClr val="bg1"/>
                  </a:solidFill>
                </a:rPr>
                <a:t>4: Interna y externa, impacto alto</a:t>
              </a:r>
              <a:endParaRPr lang="en-US" sz="1000" b="1" dirty="0">
                <a:solidFill>
                  <a:schemeClr val="bg1"/>
                </a:solidFill>
              </a:endParaRPr>
            </a:p>
          </p:txBody>
        </p:sp>
        <p:sp>
          <p:nvSpPr>
            <p:cNvPr id="207" name="AutoShape 182"/>
            <p:cNvSpPr>
              <a:spLocks noChangeArrowheads="1"/>
            </p:cNvSpPr>
            <p:nvPr/>
          </p:nvSpPr>
          <p:spPr bwMode="auto">
            <a:xfrm>
              <a:off x="94057" y="5688294"/>
              <a:ext cx="2124000" cy="216000"/>
            </a:xfrm>
            <a:prstGeom prst="roundRect">
              <a:avLst>
                <a:gd name="adj" fmla="val 7157"/>
              </a:avLst>
            </a:prstGeom>
            <a:solidFill>
              <a:schemeClr val="bg1">
                <a:lumMod val="75000"/>
                <a:alpha val="0"/>
              </a:schemeClr>
            </a:solidFill>
            <a:ln w="9525" algn="ctr">
              <a:noFill/>
              <a:round/>
              <a:headEnd/>
              <a:tailEnd/>
            </a:ln>
            <a:effectLst/>
          </p:spPr>
          <p:txBody>
            <a:bodyPr anchor="ctr"/>
            <a:lstStyle/>
            <a:p>
              <a:r>
                <a:rPr lang="es-PE" sz="1000" b="1" dirty="0">
                  <a:solidFill>
                    <a:schemeClr val="bg1"/>
                  </a:solidFill>
                </a:rPr>
                <a:t>5: Impacto negativo prolongado</a:t>
              </a:r>
              <a:endParaRPr lang="en-US" sz="1000" b="1" dirty="0">
                <a:solidFill>
                  <a:schemeClr val="bg1"/>
                </a:solidFill>
              </a:endParaRPr>
            </a:p>
          </p:txBody>
        </p:sp>
      </p:grpSp>
      <p:sp>
        <p:nvSpPr>
          <p:cNvPr id="208" name="Oval 90"/>
          <p:cNvSpPr>
            <a:spLocks noChangeAspect="1" noChangeArrowheads="1"/>
          </p:cNvSpPr>
          <p:nvPr/>
        </p:nvSpPr>
        <p:spPr bwMode="auto">
          <a:xfrm>
            <a:off x="1487730" y="4594908"/>
            <a:ext cx="216000" cy="216000"/>
          </a:xfrm>
          <a:prstGeom prst="ellipse">
            <a:avLst/>
          </a:prstGeom>
          <a:gradFill rotWithShape="1">
            <a:gsLst>
              <a:gs pos="0">
                <a:schemeClr val="accent1">
                  <a:lumMod val="60000"/>
                  <a:lumOff val="40000"/>
                </a:schemeClr>
              </a:gs>
              <a:gs pos="100000">
                <a:schemeClr val="folHlink">
                  <a:gamma/>
                  <a:shade val="46275"/>
                  <a:invGamma/>
                </a:schemeClr>
              </a:gs>
            </a:gsLst>
            <a:path path="shape">
              <a:fillToRect l="50000" t="50000" r="50000" b="50000"/>
            </a:path>
          </a:gradFill>
          <a:ln w="9525" algn="ctr">
            <a:noFill/>
            <a:round/>
            <a:headEnd/>
            <a:tailEnd/>
          </a:ln>
          <a:effectLst/>
        </p:spPr>
        <p:txBody>
          <a:bodyPr wrap="none" anchor="ctr"/>
          <a:lstStyle/>
          <a:p>
            <a:pPr algn="ctr"/>
            <a:endParaRPr lang="en-US" sz="1100" b="1" dirty="0">
              <a:solidFill>
                <a:schemeClr val="bg1"/>
              </a:solidFill>
            </a:endParaRPr>
          </a:p>
        </p:txBody>
      </p:sp>
      <p:sp>
        <p:nvSpPr>
          <p:cNvPr id="209" name="Oval 90"/>
          <p:cNvSpPr>
            <a:spLocks noChangeAspect="1" noChangeArrowheads="1"/>
          </p:cNvSpPr>
          <p:nvPr/>
        </p:nvSpPr>
        <p:spPr bwMode="auto">
          <a:xfrm>
            <a:off x="3248986" y="4594908"/>
            <a:ext cx="216000" cy="216000"/>
          </a:xfrm>
          <a:prstGeom prst="ellipse">
            <a:avLst/>
          </a:prstGeom>
          <a:gradFill rotWithShape="1">
            <a:gsLst>
              <a:gs pos="0">
                <a:schemeClr val="accent6">
                  <a:lumMod val="75000"/>
                </a:schemeClr>
              </a:gs>
              <a:gs pos="100000">
                <a:schemeClr val="folHlink">
                  <a:gamma/>
                  <a:shade val="46275"/>
                  <a:invGamma/>
                </a:schemeClr>
              </a:gs>
            </a:gsLst>
            <a:path path="shape">
              <a:fillToRect l="50000" t="50000" r="50000" b="50000"/>
            </a:path>
          </a:gradFill>
          <a:ln w="9525" algn="ctr">
            <a:noFill/>
            <a:round/>
            <a:headEnd/>
            <a:tailEnd/>
          </a:ln>
          <a:effectLst/>
        </p:spPr>
        <p:txBody>
          <a:bodyPr wrap="none" anchor="ctr"/>
          <a:lstStyle/>
          <a:p>
            <a:pPr algn="ctr"/>
            <a:endParaRPr lang="en-US" sz="1100" b="1" dirty="0">
              <a:solidFill>
                <a:schemeClr val="bg1"/>
              </a:solidFill>
            </a:endParaRPr>
          </a:p>
        </p:txBody>
      </p:sp>
      <p:sp>
        <p:nvSpPr>
          <p:cNvPr id="210" name="TextBox 53"/>
          <p:cNvSpPr txBox="1"/>
          <p:nvPr/>
        </p:nvSpPr>
        <p:spPr>
          <a:xfrm>
            <a:off x="1631746" y="4579798"/>
            <a:ext cx="1827595" cy="246221"/>
          </a:xfrm>
          <a:prstGeom prst="rect">
            <a:avLst/>
          </a:prstGeom>
          <a:noFill/>
        </p:spPr>
        <p:txBody>
          <a:bodyPr wrap="square" rtlCol="0">
            <a:spAutoFit/>
          </a:bodyPr>
          <a:lstStyle/>
          <a:p>
            <a:r>
              <a:rPr lang="es-ES" sz="1000" dirty="0"/>
              <a:t>Administración de Fondos</a:t>
            </a:r>
          </a:p>
        </p:txBody>
      </p:sp>
      <p:sp>
        <p:nvSpPr>
          <p:cNvPr id="211" name="TextBox 54"/>
          <p:cNvSpPr txBox="1"/>
          <p:nvPr/>
        </p:nvSpPr>
        <p:spPr>
          <a:xfrm>
            <a:off x="3402907" y="4579798"/>
            <a:ext cx="1647839" cy="246221"/>
          </a:xfrm>
          <a:prstGeom prst="rect">
            <a:avLst/>
          </a:prstGeom>
          <a:noFill/>
        </p:spPr>
        <p:txBody>
          <a:bodyPr wrap="square" rtlCol="0">
            <a:spAutoFit/>
          </a:bodyPr>
          <a:lstStyle/>
          <a:p>
            <a:r>
              <a:rPr lang="es-ES" sz="1000" dirty="0"/>
              <a:t>Suscripción Vehicular</a:t>
            </a:r>
          </a:p>
        </p:txBody>
      </p:sp>
      <p:grpSp>
        <p:nvGrpSpPr>
          <p:cNvPr id="5" name="224 Grupo"/>
          <p:cNvGrpSpPr/>
          <p:nvPr/>
        </p:nvGrpSpPr>
        <p:grpSpPr>
          <a:xfrm>
            <a:off x="5436205" y="2384952"/>
            <a:ext cx="2664000" cy="612000"/>
            <a:chOff x="5436205" y="2492896"/>
            <a:chExt cx="2664000" cy="612000"/>
          </a:xfrm>
        </p:grpSpPr>
        <p:sp>
          <p:nvSpPr>
            <p:cNvPr id="216" name="AutoShape 10"/>
            <p:cNvSpPr>
              <a:spLocks noChangeArrowheads="1"/>
            </p:cNvSpPr>
            <p:nvPr/>
          </p:nvSpPr>
          <p:spPr bwMode="auto">
            <a:xfrm rot="5400000">
              <a:off x="6462205" y="1466896"/>
              <a:ext cx="612000" cy="2664000"/>
            </a:xfrm>
            <a:prstGeom prst="homePlate">
              <a:avLst>
                <a:gd name="adj" fmla="val 28273"/>
              </a:avLst>
            </a:prstGeom>
            <a:solidFill>
              <a:srgbClr val="DB0613"/>
            </a:solidFill>
            <a:ln w="9525" algn="ctr">
              <a:solidFill>
                <a:schemeClr val="bg1"/>
              </a:solidFill>
              <a:miter lim="800000"/>
              <a:headEnd/>
              <a:tailEnd/>
            </a:ln>
            <a:effectLst>
              <a:prstShdw prst="shdw17" dist="17961" dir="2700000">
                <a:srgbClr val="DDDDDD">
                  <a:gamma/>
                  <a:shade val="60000"/>
                  <a:invGamma/>
                </a:srgbClr>
              </a:prstShdw>
            </a:effectLst>
          </p:spPr>
          <p:txBody>
            <a:bodyPr wrap="none" anchor="ctr"/>
            <a:lstStyle/>
            <a:p>
              <a:pPr algn="ctr"/>
              <a:endParaRPr lang="en-US" sz="1200" b="1" dirty="0">
                <a:solidFill>
                  <a:srgbClr val="525252"/>
                </a:solidFill>
              </a:endParaRPr>
            </a:p>
          </p:txBody>
        </p:sp>
        <p:sp>
          <p:nvSpPr>
            <p:cNvPr id="217" name="Rectangle 7"/>
            <p:cNvSpPr>
              <a:spLocks noChangeArrowheads="1"/>
            </p:cNvSpPr>
            <p:nvPr/>
          </p:nvSpPr>
          <p:spPr bwMode="auto">
            <a:xfrm>
              <a:off x="5760205" y="2578767"/>
              <a:ext cx="2016000" cy="252000"/>
            </a:xfrm>
            <a:prstGeom prst="rect">
              <a:avLst/>
            </a:prstGeom>
            <a:noFill/>
            <a:ln w="9525" algn="ctr">
              <a:noFill/>
              <a:miter lim="800000"/>
              <a:headEnd/>
              <a:tailEnd/>
            </a:ln>
            <a:effectLst>
              <a:prstShdw prst="shdw17" dist="17961" dir="2700000">
                <a:srgbClr val="DDDDDD">
                  <a:gamma/>
                  <a:shade val="60000"/>
                  <a:invGamma/>
                </a:srgbClr>
              </a:prstShdw>
            </a:effectLst>
          </p:spPr>
          <p:txBody>
            <a:bodyPr wrap="none" anchor="ctr"/>
            <a:lstStyle/>
            <a:p>
              <a:pPr algn="ctr"/>
              <a:r>
                <a:rPr lang="es-ES" sz="1200" b="1" dirty="0">
                  <a:solidFill>
                    <a:schemeClr val="bg1"/>
                  </a:solidFill>
                </a:rPr>
                <a:t>10 riesgos con impacto reputacional</a:t>
              </a:r>
            </a:p>
          </p:txBody>
        </p:sp>
      </p:grpSp>
      <p:grpSp>
        <p:nvGrpSpPr>
          <p:cNvPr id="6" name="223 Grupo"/>
          <p:cNvGrpSpPr/>
          <p:nvPr/>
        </p:nvGrpSpPr>
        <p:grpSpPr>
          <a:xfrm>
            <a:off x="5436205" y="1592856"/>
            <a:ext cx="2664000" cy="540000"/>
            <a:chOff x="5436205" y="1592856"/>
            <a:chExt cx="2664000" cy="540000"/>
          </a:xfrm>
        </p:grpSpPr>
        <p:sp>
          <p:nvSpPr>
            <p:cNvPr id="219" name="AutoShape 10"/>
            <p:cNvSpPr>
              <a:spLocks noChangeArrowheads="1"/>
            </p:cNvSpPr>
            <p:nvPr/>
          </p:nvSpPr>
          <p:spPr bwMode="auto">
            <a:xfrm rot="5400000">
              <a:off x="6498205" y="530856"/>
              <a:ext cx="540000" cy="2664000"/>
            </a:xfrm>
            <a:prstGeom prst="homePlate">
              <a:avLst>
                <a:gd name="adj" fmla="val 28273"/>
              </a:avLst>
            </a:prstGeom>
            <a:solidFill>
              <a:srgbClr val="DB0613"/>
            </a:solidFill>
            <a:ln w="9525" algn="ctr">
              <a:solidFill>
                <a:schemeClr val="bg1"/>
              </a:solidFill>
              <a:miter lim="800000"/>
              <a:headEnd/>
              <a:tailEnd/>
            </a:ln>
            <a:effectLst>
              <a:prstShdw prst="shdw17" dist="17961" dir="2700000">
                <a:srgbClr val="DDDDDD">
                  <a:gamma/>
                  <a:shade val="60000"/>
                  <a:invGamma/>
                </a:srgbClr>
              </a:prstShdw>
            </a:effectLst>
          </p:spPr>
          <p:txBody>
            <a:bodyPr wrap="none" anchor="ctr"/>
            <a:lstStyle/>
            <a:p>
              <a:pPr algn="ctr"/>
              <a:endParaRPr lang="en-US" sz="1200" b="1" dirty="0">
                <a:solidFill>
                  <a:srgbClr val="525252"/>
                </a:solidFill>
              </a:endParaRPr>
            </a:p>
          </p:txBody>
        </p:sp>
        <p:sp>
          <p:nvSpPr>
            <p:cNvPr id="220" name="Rectangle 7"/>
            <p:cNvSpPr>
              <a:spLocks noChangeArrowheads="1"/>
            </p:cNvSpPr>
            <p:nvPr/>
          </p:nvSpPr>
          <p:spPr bwMode="auto">
            <a:xfrm>
              <a:off x="5760205" y="1669621"/>
              <a:ext cx="2016000" cy="252000"/>
            </a:xfrm>
            <a:prstGeom prst="rect">
              <a:avLst/>
            </a:prstGeom>
            <a:noFill/>
            <a:ln w="9525" algn="ctr">
              <a:noFill/>
              <a:miter lim="800000"/>
              <a:headEnd/>
              <a:tailEnd/>
            </a:ln>
            <a:effectLst>
              <a:prstShdw prst="shdw17" dist="17961" dir="2700000">
                <a:srgbClr val="DDDDDD">
                  <a:gamma/>
                  <a:shade val="60000"/>
                  <a:invGamma/>
                </a:srgbClr>
              </a:prstShdw>
            </a:effectLst>
          </p:spPr>
          <p:txBody>
            <a:bodyPr wrap="none" anchor="ctr"/>
            <a:lstStyle/>
            <a:p>
              <a:pPr algn="ctr"/>
              <a:r>
                <a:rPr lang="es-ES" sz="1200" b="1" dirty="0">
                  <a:solidFill>
                    <a:schemeClr val="bg1"/>
                  </a:solidFill>
                </a:rPr>
                <a:t>49 riesgos en total</a:t>
              </a:r>
            </a:p>
          </p:txBody>
        </p:sp>
      </p:grpSp>
      <p:grpSp>
        <p:nvGrpSpPr>
          <p:cNvPr id="8" name="225 Grupo"/>
          <p:cNvGrpSpPr/>
          <p:nvPr/>
        </p:nvGrpSpPr>
        <p:grpSpPr>
          <a:xfrm>
            <a:off x="5436205" y="3212976"/>
            <a:ext cx="2664000" cy="612000"/>
            <a:chOff x="5436205" y="3501008"/>
            <a:chExt cx="2664000" cy="612000"/>
          </a:xfrm>
        </p:grpSpPr>
        <p:sp>
          <p:nvSpPr>
            <p:cNvPr id="213" name="AutoShape 10"/>
            <p:cNvSpPr>
              <a:spLocks noChangeArrowheads="1"/>
            </p:cNvSpPr>
            <p:nvPr/>
          </p:nvSpPr>
          <p:spPr bwMode="auto">
            <a:xfrm rot="5400000">
              <a:off x="6462205" y="2475008"/>
              <a:ext cx="612000" cy="2664000"/>
            </a:xfrm>
            <a:prstGeom prst="homePlate">
              <a:avLst>
                <a:gd name="adj" fmla="val 28273"/>
              </a:avLst>
            </a:prstGeom>
            <a:solidFill>
              <a:srgbClr val="DB0613"/>
            </a:solidFill>
            <a:ln w="9525" algn="ctr">
              <a:solidFill>
                <a:schemeClr val="bg1"/>
              </a:solidFill>
              <a:miter lim="800000"/>
              <a:headEnd/>
              <a:tailEnd/>
            </a:ln>
            <a:effectLst>
              <a:prstShdw prst="shdw17" dist="17961" dir="2700000">
                <a:srgbClr val="DDDDDD">
                  <a:gamma/>
                  <a:shade val="60000"/>
                  <a:invGamma/>
                </a:srgbClr>
              </a:prstShdw>
            </a:effectLst>
          </p:spPr>
          <p:txBody>
            <a:bodyPr wrap="none" anchor="ctr"/>
            <a:lstStyle/>
            <a:p>
              <a:pPr algn="ctr"/>
              <a:endParaRPr lang="en-US" sz="1200" b="1" dirty="0">
                <a:solidFill>
                  <a:srgbClr val="525252"/>
                </a:solidFill>
              </a:endParaRPr>
            </a:p>
          </p:txBody>
        </p:sp>
        <p:sp>
          <p:nvSpPr>
            <p:cNvPr id="214" name="Rectangle 7"/>
            <p:cNvSpPr>
              <a:spLocks noChangeArrowheads="1"/>
            </p:cNvSpPr>
            <p:nvPr/>
          </p:nvSpPr>
          <p:spPr bwMode="auto">
            <a:xfrm>
              <a:off x="5760205" y="3586879"/>
              <a:ext cx="2016000" cy="252000"/>
            </a:xfrm>
            <a:prstGeom prst="rect">
              <a:avLst/>
            </a:prstGeom>
            <a:noFill/>
            <a:ln w="9525" algn="ctr">
              <a:noFill/>
              <a:miter lim="800000"/>
              <a:headEnd/>
              <a:tailEnd/>
            </a:ln>
            <a:effectLst>
              <a:prstShdw prst="shdw17" dist="17961" dir="2700000">
                <a:srgbClr val="DDDDDD">
                  <a:gamma/>
                  <a:shade val="60000"/>
                  <a:invGamma/>
                </a:srgbClr>
              </a:prstShdw>
            </a:effectLst>
          </p:spPr>
          <p:txBody>
            <a:bodyPr wrap="none" anchor="ctr"/>
            <a:lstStyle/>
            <a:p>
              <a:pPr algn="ctr"/>
              <a:r>
                <a:rPr lang="es-ES" sz="1200" b="1" dirty="0">
                  <a:solidFill>
                    <a:schemeClr val="bg1"/>
                  </a:solidFill>
                </a:rPr>
                <a:t>3 riesgos con impacto reputacional alto</a:t>
              </a:r>
            </a:p>
          </p:txBody>
        </p:sp>
      </p:grpSp>
      <p:sp>
        <p:nvSpPr>
          <p:cNvPr id="73" name="1 Título"/>
          <p:cNvSpPr>
            <a:spLocks noGrp="1"/>
          </p:cNvSpPr>
          <p:nvPr>
            <p:ph type="title"/>
          </p:nvPr>
        </p:nvSpPr>
        <p:spPr>
          <a:xfrm>
            <a:off x="47624" y="32965"/>
            <a:ext cx="8627715" cy="587723"/>
          </a:xfrm>
        </p:spPr>
        <p:txBody>
          <a:bodyPr/>
          <a:lstStyle/>
          <a:p>
            <a:r>
              <a:rPr lang="es-PE" dirty="0"/>
              <a:t>          Información Detallada: Análisis de Impacto </a:t>
            </a:r>
            <a:r>
              <a:rPr lang="es-PE" dirty="0" err="1"/>
              <a:t>Reputacional</a:t>
            </a:r>
            <a:endParaRPr lang="es-PE" dirty="0"/>
          </a:p>
        </p:txBody>
      </p:sp>
      <p:sp>
        <p:nvSpPr>
          <p:cNvPr id="84" name="Rounded Rectangle 3">
            <a:hlinkClick r:id="rId2" action="ppaction://hlinksldjump"/>
          </p:cNvPr>
          <p:cNvSpPr/>
          <p:nvPr/>
        </p:nvSpPr>
        <p:spPr>
          <a:xfrm>
            <a:off x="217915" y="146806"/>
            <a:ext cx="470426" cy="360040"/>
          </a:xfrm>
          <a:prstGeom prst="roundRect">
            <a:avLst/>
          </a:prstGeom>
          <a:solidFill>
            <a:srgbClr val="DB0613"/>
          </a:solidFill>
          <a:ln>
            <a:solidFill>
              <a:srgbClr val="A9A9A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PE" sz="1400" b="1" dirty="0"/>
              <a:t>2.2</a:t>
            </a:r>
            <a:endParaRPr lang="es-ES" sz="1400" b="1" dirty="0"/>
          </a:p>
        </p:txBody>
      </p:sp>
      <p:sp>
        <p:nvSpPr>
          <p:cNvPr id="68" name="Text Box 43"/>
          <p:cNvSpPr txBox="1">
            <a:spLocks noChangeArrowheads="1"/>
          </p:cNvSpPr>
          <p:nvPr/>
        </p:nvSpPr>
        <p:spPr bwMode="auto">
          <a:xfrm>
            <a:off x="5580112" y="4437112"/>
            <a:ext cx="3311848" cy="1421928"/>
          </a:xfrm>
          <a:prstGeom prst="rect">
            <a:avLst/>
          </a:prstGeom>
          <a:noFill/>
          <a:ln w="9525" algn="ctr">
            <a:noFill/>
            <a:miter lim="800000"/>
            <a:headEnd/>
            <a:tailEnd/>
          </a:ln>
          <a:effectLst/>
        </p:spPr>
        <p:txBody>
          <a:bodyPr wrap="square">
            <a:spAutoFit/>
          </a:bodyPr>
          <a:lstStyle/>
          <a:p>
            <a:pPr marL="85725" lvl="1" indent="-85725" algn="just">
              <a:lnSpc>
                <a:spcPts val="900"/>
              </a:lnSpc>
              <a:spcAft>
                <a:spcPct val="60000"/>
              </a:spcAft>
              <a:buClr>
                <a:srgbClr val="454545"/>
              </a:buClr>
              <a:buFont typeface="Webdings" pitchFamily="18" charset="2"/>
              <a:buChar char="4"/>
            </a:pPr>
            <a:r>
              <a:rPr lang="es-ES" sz="1100" b="1" i="1" dirty="0"/>
              <a:t>Error en la introducción de datos en el sistema debido al ingreso manual de éstos.</a:t>
            </a:r>
          </a:p>
          <a:p>
            <a:pPr marL="85725" lvl="1" indent="-85725" algn="just">
              <a:lnSpc>
                <a:spcPts val="900"/>
              </a:lnSpc>
              <a:spcAft>
                <a:spcPct val="60000"/>
              </a:spcAft>
              <a:buClr>
                <a:srgbClr val="454545"/>
              </a:buClr>
            </a:pPr>
            <a:endParaRPr lang="es-ES" sz="1100" b="1" i="1" dirty="0"/>
          </a:p>
          <a:p>
            <a:pPr marL="85725" lvl="1" indent="-85725" algn="just">
              <a:lnSpc>
                <a:spcPts val="900"/>
              </a:lnSpc>
              <a:spcAft>
                <a:spcPct val="60000"/>
              </a:spcAft>
              <a:buClr>
                <a:srgbClr val="454545"/>
              </a:buClr>
              <a:buFont typeface="Webdings" pitchFamily="18" charset="2"/>
              <a:buChar char="4"/>
            </a:pPr>
            <a:r>
              <a:rPr lang="es-ES" sz="1100" b="1" i="1" dirty="0"/>
              <a:t>Falla en la revisión de los datos ingresados en el sistema</a:t>
            </a:r>
          </a:p>
          <a:p>
            <a:pPr marL="85725" lvl="1" indent="-85725" algn="just">
              <a:lnSpc>
                <a:spcPts val="900"/>
              </a:lnSpc>
              <a:spcAft>
                <a:spcPct val="60000"/>
              </a:spcAft>
              <a:buClr>
                <a:srgbClr val="454545"/>
              </a:buClr>
              <a:buFont typeface="Webdings" pitchFamily="18" charset="2"/>
              <a:buChar char="4"/>
            </a:pPr>
            <a:endParaRPr lang="es-ES" sz="1100" b="1" i="1" dirty="0"/>
          </a:p>
          <a:p>
            <a:pPr marL="85725" lvl="1" indent="-85725" algn="just">
              <a:lnSpc>
                <a:spcPts val="900"/>
              </a:lnSpc>
              <a:spcAft>
                <a:spcPct val="60000"/>
              </a:spcAft>
              <a:buClr>
                <a:srgbClr val="454545"/>
              </a:buClr>
              <a:buFont typeface="Webdings" pitchFamily="18" charset="2"/>
              <a:buChar char="4"/>
            </a:pPr>
            <a:r>
              <a:rPr lang="es-ES" sz="1100" b="1" i="1" dirty="0"/>
              <a:t>Riesgo de que no se haya dado la verificación que realiza Back Office</a:t>
            </a:r>
          </a:p>
        </p:txBody>
      </p:sp>
      <p:sp>
        <p:nvSpPr>
          <p:cNvPr id="69" name="Oval 90"/>
          <p:cNvSpPr>
            <a:spLocks noChangeArrowheads="1"/>
          </p:cNvSpPr>
          <p:nvPr/>
        </p:nvSpPr>
        <p:spPr bwMode="auto">
          <a:xfrm>
            <a:off x="5548469" y="4445786"/>
            <a:ext cx="216000" cy="216000"/>
          </a:xfrm>
          <a:prstGeom prst="ellipse">
            <a:avLst/>
          </a:prstGeom>
          <a:gradFill rotWithShape="1">
            <a:gsLst>
              <a:gs pos="0">
                <a:schemeClr val="accent1">
                  <a:lumMod val="60000"/>
                  <a:lumOff val="40000"/>
                </a:schemeClr>
              </a:gs>
              <a:gs pos="100000">
                <a:schemeClr val="folHlink">
                  <a:gamma/>
                  <a:shade val="46275"/>
                  <a:invGamma/>
                </a:schemeClr>
              </a:gs>
            </a:gsLst>
            <a:path path="shape">
              <a:fillToRect l="50000" t="50000" r="50000" b="50000"/>
            </a:path>
          </a:gradFill>
          <a:ln w="9525" algn="ctr">
            <a:noFill/>
            <a:round/>
            <a:headEnd/>
            <a:tailEnd/>
          </a:ln>
          <a:effectLst/>
        </p:spPr>
        <p:txBody>
          <a:bodyPr wrap="none" anchor="ctr"/>
          <a:lstStyle/>
          <a:p>
            <a:pPr algn="ctr"/>
            <a:r>
              <a:rPr lang="en-US" sz="1100" b="1" dirty="0">
                <a:solidFill>
                  <a:schemeClr val="bg1"/>
                </a:solidFill>
              </a:rPr>
              <a:t>8</a:t>
            </a:r>
          </a:p>
        </p:txBody>
      </p:sp>
      <p:sp>
        <p:nvSpPr>
          <p:cNvPr id="70" name="Oval 90"/>
          <p:cNvSpPr>
            <a:spLocks noChangeArrowheads="1"/>
          </p:cNvSpPr>
          <p:nvPr/>
        </p:nvSpPr>
        <p:spPr bwMode="auto">
          <a:xfrm>
            <a:off x="5548469" y="4972859"/>
            <a:ext cx="216000" cy="216000"/>
          </a:xfrm>
          <a:prstGeom prst="ellipse">
            <a:avLst/>
          </a:prstGeom>
          <a:gradFill rotWithShape="1">
            <a:gsLst>
              <a:gs pos="0">
                <a:schemeClr val="accent1">
                  <a:lumMod val="60000"/>
                  <a:lumOff val="40000"/>
                </a:schemeClr>
              </a:gs>
              <a:gs pos="100000">
                <a:schemeClr val="folHlink">
                  <a:gamma/>
                  <a:shade val="46275"/>
                  <a:invGamma/>
                </a:schemeClr>
              </a:gs>
            </a:gsLst>
            <a:path path="shape">
              <a:fillToRect l="50000" t="50000" r="50000" b="50000"/>
            </a:path>
          </a:gradFill>
          <a:ln w="9525" algn="ctr">
            <a:noFill/>
            <a:round/>
            <a:headEnd/>
            <a:tailEnd/>
          </a:ln>
          <a:effectLst/>
        </p:spPr>
        <p:txBody>
          <a:bodyPr wrap="none" anchor="ctr"/>
          <a:lstStyle/>
          <a:p>
            <a:pPr algn="ctr"/>
            <a:r>
              <a:rPr lang="en-US" sz="1100" b="1" dirty="0">
                <a:solidFill>
                  <a:schemeClr val="bg1"/>
                </a:solidFill>
              </a:rPr>
              <a:t>9</a:t>
            </a:r>
          </a:p>
        </p:txBody>
      </p:sp>
      <p:sp>
        <p:nvSpPr>
          <p:cNvPr id="71" name="Oval 90"/>
          <p:cNvSpPr>
            <a:spLocks noChangeArrowheads="1"/>
          </p:cNvSpPr>
          <p:nvPr/>
        </p:nvSpPr>
        <p:spPr bwMode="auto">
          <a:xfrm>
            <a:off x="5548469" y="5525930"/>
            <a:ext cx="216000" cy="216000"/>
          </a:xfrm>
          <a:prstGeom prst="ellipse">
            <a:avLst/>
          </a:prstGeom>
          <a:gradFill rotWithShape="1">
            <a:gsLst>
              <a:gs pos="0">
                <a:schemeClr val="accent1">
                  <a:lumMod val="60000"/>
                  <a:lumOff val="40000"/>
                </a:schemeClr>
              </a:gs>
              <a:gs pos="100000">
                <a:schemeClr val="folHlink">
                  <a:gamma/>
                  <a:shade val="46275"/>
                  <a:invGamma/>
                </a:schemeClr>
              </a:gs>
            </a:gsLst>
            <a:path path="shape">
              <a:fillToRect l="50000" t="50000" r="50000" b="50000"/>
            </a:path>
          </a:gradFill>
          <a:ln w="9525" algn="ctr">
            <a:noFill/>
            <a:round/>
            <a:headEnd/>
            <a:tailEnd/>
          </a:ln>
          <a:effectLst/>
        </p:spPr>
        <p:txBody>
          <a:bodyPr wrap="none" anchor="ctr"/>
          <a:lstStyle/>
          <a:p>
            <a:pPr algn="ctr"/>
            <a:r>
              <a:rPr lang="en-US" sz="1100" b="1" dirty="0">
                <a:solidFill>
                  <a:schemeClr val="bg1"/>
                </a:solidFill>
              </a:rPr>
              <a:t>10</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 name="Rectangle 29"/>
          <p:cNvSpPr txBox="1">
            <a:spLocks noChangeArrowheads="1"/>
          </p:cNvSpPr>
          <p:nvPr/>
        </p:nvSpPr>
        <p:spPr bwMode="gray">
          <a:xfrm>
            <a:off x="251520" y="740954"/>
            <a:ext cx="8352928" cy="455798"/>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marL="0" marR="0" lvl="0" indent="0" defTabSz="914400" rtl="0" eaLnBrk="1" fontAlgn="base" latinLnBrk="0" hangingPunct="1">
              <a:lnSpc>
                <a:spcPct val="100000"/>
              </a:lnSpc>
              <a:spcBef>
                <a:spcPct val="0"/>
              </a:spcBef>
              <a:spcAft>
                <a:spcPct val="0"/>
              </a:spcAft>
              <a:buClrTx/>
              <a:buSzTx/>
              <a:buFontTx/>
              <a:buNone/>
              <a:tabLst/>
              <a:defRPr/>
            </a:pPr>
            <a:r>
              <a:rPr lang="es-ES_tradnl" b="1" noProof="0" dirty="0">
                <a:solidFill>
                  <a:srgbClr val="DB0613"/>
                </a:solidFill>
                <a:latin typeface="+mj-lt"/>
                <a:sym typeface="Wingdings" pitchFamily="2" charset="2"/>
              </a:rPr>
              <a:t>¿Qué hay que hacer?</a:t>
            </a:r>
            <a:endParaRPr kumimoji="0" lang="es-ES_tradnl" b="1" i="0" u="none" strike="noStrike" kern="0" cap="none" spc="0" normalizeH="0" baseline="0" noProof="0" dirty="0">
              <a:ln>
                <a:noFill/>
              </a:ln>
              <a:solidFill>
                <a:srgbClr val="DB0613"/>
              </a:solidFill>
              <a:effectLst/>
              <a:uLnTx/>
              <a:uFillTx/>
              <a:latin typeface="+mj-lt"/>
              <a:ea typeface="+mj-ea"/>
              <a:cs typeface="+mj-cs"/>
            </a:endParaRPr>
          </a:p>
        </p:txBody>
      </p:sp>
      <p:sp>
        <p:nvSpPr>
          <p:cNvPr id="65" name="Rectangle 19"/>
          <p:cNvSpPr>
            <a:spLocks noChangeArrowheads="1"/>
          </p:cNvSpPr>
          <p:nvPr/>
        </p:nvSpPr>
        <p:spPr bwMode="auto">
          <a:xfrm>
            <a:off x="327347" y="1213123"/>
            <a:ext cx="8493125" cy="847540"/>
          </a:xfrm>
          <a:prstGeom prst="rect">
            <a:avLst/>
          </a:prstGeom>
          <a:noFill/>
          <a:ln w="9525" algn="ctr">
            <a:noFill/>
            <a:miter lim="800000"/>
            <a:headEnd/>
            <a:tailEnd/>
          </a:ln>
        </p:spPr>
        <p:txBody>
          <a:bodyPr lIns="0" tIns="0" rIns="0" bIns="0">
            <a:spAutoFit/>
          </a:bodyPr>
          <a:lstStyle/>
          <a:p>
            <a:pPr algn="ctr" defTabSz="895350">
              <a:lnSpc>
                <a:spcPct val="102000"/>
              </a:lnSpc>
              <a:spcBef>
                <a:spcPct val="50000"/>
              </a:spcBef>
            </a:pPr>
            <a:r>
              <a:rPr lang="es-ES_tradnl" sz="1800" b="1" i="1" dirty="0">
                <a:solidFill>
                  <a:schemeClr val="tx1"/>
                </a:solidFill>
              </a:rPr>
              <a:t>Acometer acciones puntuales de mitigación efectiva del riesgo, coordinado con un alto foco en la calidad del control a través de indicadores y en la medida de lo posible, en la automatización de los procesos dentro de la capacidad tecnológica de Rimac…</a:t>
            </a:r>
          </a:p>
        </p:txBody>
      </p:sp>
      <p:sp>
        <p:nvSpPr>
          <p:cNvPr id="66" name="Rectangle 19"/>
          <p:cNvSpPr>
            <a:spLocks noChangeArrowheads="1"/>
          </p:cNvSpPr>
          <p:nvPr/>
        </p:nvSpPr>
        <p:spPr bwMode="auto">
          <a:xfrm>
            <a:off x="327347" y="5301208"/>
            <a:ext cx="8493125" cy="847540"/>
          </a:xfrm>
          <a:prstGeom prst="rect">
            <a:avLst/>
          </a:prstGeom>
          <a:noFill/>
          <a:ln w="9525" algn="ctr">
            <a:noFill/>
            <a:miter lim="800000"/>
            <a:headEnd/>
            <a:tailEnd/>
          </a:ln>
        </p:spPr>
        <p:txBody>
          <a:bodyPr lIns="0" tIns="0" rIns="0" bIns="0">
            <a:spAutoFit/>
          </a:bodyPr>
          <a:lstStyle/>
          <a:p>
            <a:pPr algn="ctr" defTabSz="895350">
              <a:lnSpc>
                <a:spcPct val="102000"/>
              </a:lnSpc>
              <a:spcBef>
                <a:spcPct val="50000"/>
              </a:spcBef>
            </a:pPr>
            <a:r>
              <a:rPr lang="es-ES_tradnl" sz="1800" b="1" i="1" dirty="0">
                <a:solidFill>
                  <a:schemeClr val="tx1"/>
                </a:solidFill>
              </a:rPr>
              <a:t>…acompañado de una gestión de procesos que de consistencia y continuidad a la aplicación metodológica propuesta a fin de conseguir </a:t>
            </a:r>
            <a:r>
              <a:rPr lang="es-PE" sz="1800" b="1" i="1" dirty="0">
                <a:solidFill>
                  <a:schemeClr val="tx1"/>
                </a:solidFill>
              </a:rPr>
              <a:t>la mejora </a:t>
            </a:r>
            <a:r>
              <a:rPr lang="es-ES" b="1" i="1" dirty="0"/>
              <a:t>continua de los procesos operativos y de la estructura de controles existente.</a:t>
            </a:r>
            <a:endParaRPr lang="es-ES_tradnl" b="1" i="1" dirty="0"/>
          </a:p>
        </p:txBody>
      </p:sp>
      <p:grpSp>
        <p:nvGrpSpPr>
          <p:cNvPr id="2" name="33 Grupo"/>
          <p:cNvGrpSpPr/>
          <p:nvPr/>
        </p:nvGrpSpPr>
        <p:grpSpPr>
          <a:xfrm>
            <a:off x="1129063" y="2636912"/>
            <a:ext cx="2101679" cy="1584176"/>
            <a:chOff x="1129063" y="2636912"/>
            <a:chExt cx="2101679" cy="1584176"/>
          </a:xfrm>
        </p:grpSpPr>
        <p:grpSp>
          <p:nvGrpSpPr>
            <p:cNvPr id="3" name="36 Grupo"/>
            <p:cNvGrpSpPr/>
            <p:nvPr/>
          </p:nvGrpSpPr>
          <p:grpSpPr>
            <a:xfrm>
              <a:off x="1129063" y="2636912"/>
              <a:ext cx="2101679" cy="1584176"/>
              <a:chOff x="1129063" y="2636912"/>
              <a:chExt cx="2101679" cy="1584176"/>
            </a:xfrm>
          </p:grpSpPr>
          <p:sp>
            <p:nvSpPr>
              <p:cNvPr id="95" name="Rectangle 7"/>
              <p:cNvSpPr>
                <a:spLocks noChangeArrowheads="1"/>
              </p:cNvSpPr>
              <p:nvPr/>
            </p:nvSpPr>
            <p:spPr bwMode="auto">
              <a:xfrm>
                <a:off x="1250742" y="3068960"/>
                <a:ext cx="1980000" cy="1152128"/>
              </a:xfrm>
              <a:prstGeom prst="rect">
                <a:avLst/>
              </a:prstGeom>
              <a:solidFill>
                <a:schemeClr val="accent1">
                  <a:lumMod val="20000"/>
                  <a:lumOff val="80000"/>
                </a:schemeClr>
              </a:solidFill>
              <a:ln w="9525" algn="ctr">
                <a:noFill/>
                <a:miter lim="800000"/>
                <a:headEnd/>
                <a:tailEnd/>
              </a:ln>
              <a:effectLst>
                <a:prstShdw prst="shdw17" dist="17961" dir="2700000">
                  <a:srgbClr val="DDDDDD">
                    <a:gamma/>
                    <a:shade val="60000"/>
                    <a:invGamma/>
                  </a:srgbClr>
                </a:prstShdw>
              </a:effectLst>
            </p:spPr>
            <p:txBody>
              <a:bodyPr wrap="none" anchor="ctr"/>
              <a:lstStyle/>
              <a:p>
                <a:pPr algn="ctr"/>
                <a:endParaRPr lang="es-ES" sz="1300" b="1" dirty="0">
                  <a:solidFill>
                    <a:srgbClr val="525252"/>
                  </a:solidFill>
                </a:endParaRPr>
              </a:p>
            </p:txBody>
          </p:sp>
          <p:sp>
            <p:nvSpPr>
              <p:cNvPr id="85" name="AutoShape 10"/>
              <p:cNvSpPr>
                <a:spLocks noChangeArrowheads="1"/>
              </p:cNvSpPr>
              <p:nvPr/>
            </p:nvSpPr>
            <p:spPr bwMode="auto">
              <a:xfrm rot="5400000">
                <a:off x="1970742" y="2024952"/>
                <a:ext cx="540000" cy="1980000"/>
              </a:xfrm>
              <a:prstGeom prst="homePlate">
                <a:avLst>
                  <a:gd name="adj" fmla="val 28273"/>
                </a:avLst>
              </a:prstGeom>
              <a:solidFill>
                <a:srgbClr val="DB0613"/>
              </a:solidFill>
              <a:ln w="9525" algn="ctr">
                <a:solidFill>
                  <a:schemeClr val="bg1"/>
                </a:solidFill>
                <a:miter lim="800000"/>
                <a:headEnd/>
                <a:tailEnd/>
              </a:ln>
              <a:effectLst>
                <a:prstShdw prst="shdw17" dist="17961" dir="2700000">
                  <a:srgbClr val="DDDDDD">
                    <a:gamma/>
                    <a:shade val="60000"/>
                    <a:invGamma/>
                  </a:srgbClr>
                </a:prstShdw>
              </a:effectLst>
            </p:spPr>
            <p:txBody>
              <a:bodyPr wrap="none" anchor="ctr"/>
              <a:lstStyle/>
              <a:p>
                <a:pPr algn="ctr"/>
                <a:endParaRPr lang="en-US" sz="1200" b="1" dirty="0">
                  <a:solidFill>
                    <a:srgbClr val="525252"/>
                  </a:solidFill>
                </a:endParaRPr>
              </a:p>
            </p:txBody>
          </p:sp>
          <p:sp>
            <p:nvSpPr>
              <p:cNvPr id="86" name="Rectangle 7"/>
              <p:cNvSpPr>
                <a:spLocks noChangeArrowheads="1"/>
              </p:cNvSpPr>
              <p:nvPr/>
            </p:nvSpPr>
            <p:spPr bwMode="auto">
              <a:xfrm>
                <a:off x="1358742" y="2807790"/>
                <a:ext cx="1764000" cy="252000"/>
              </a:xfrm>
              <a:prstGeom prst="rect">
                <a:avLst/>
              </a:prstGeom>
              <a:noFill/>
              <a:ln w="9525" algn="ctr">
                <a:noFill/>
                <a:miter lim="800000"/>
                <a:headEnd/>
                <a:tailEnd/>
              </a:ln>
              <a:effectLst>
                <a:prstShdw prst="shdw17" dist="17961" dir="2700000">
                  <a:srgbClr val="DDDDDD">
                    <a:gamma/>
                    <a:shade val="60000"/>
                    <a:invGamma/>
                  </a:srgbClr>
                </a:prstShdw>
              </a:effectLst>
            </p:spPr>
            <p:txBody>
              <a:bodyPr wrap="none" anchor="ctr"/>
              <a:lstStyle/>
              <a:p>
                <a:pPr algn="ctr"/>
                <a:r>
                  <a:rPr lang="es-ES" sz="1400" b="1" dirty="0">
                    <a:solidFill>
                      <a:schemeClr val="bg1"/>
                    </a:solidFill>
                  </a:rPr>
                  <a:t>Planes de Acción</a:t>
                </a:r>
              </a:p>
            </p:txBody>
          </p:sp>
          <p:sp>
            <p:nvSpPr>
              <p:cNvPr id="70" name="Oval 13"/>
              <p:cNvSpPr>
                <a:spLocks noChangeArrowheads="1"/>
              </p:cNvSpPr>
              <p:nvPr/>
            </p:nvSpPr>
            <p:spPr bwMode="gray">
              <a:xfrm>
                <a:off x="1129063" y="2636912"/>
                <a:ext cx="288000" cy="288000"/>
              </a:xfrm>
              <a:prstGeom prst="ellipse">
                <a:avLst/>
              </a:prstGeom>
              <a:solidFill>
                <a:schemeClr val="tx1">
                  <a:lumMod val="50000"/>
                  <a:lumOff val="50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AR" sz="1400" b="1" dirty="0">
                    <a:solidFill>
                      <a:schemeClr val="bg1"/>
                    </a:solidFill>
                  </a:rPr>
                  <a:t>1</a:t>
                </a:r>
                <a:endParaRPr lang="en-US" sz="1400" b="1" dirty="0">
                  <a:solidFill>
                    <a:schemeClr val="bg1"/>
                  </a:solidFill>
                </a:endParaRPr>
              </a:p>
            </p:txBody>
          </p:sp>
          <p:sp>
            <p:nvSpPr>
              <p:cNvPr id="101" name="AutoShape 179"/>
              <p:cNvSpPr>
                <a:spLocks noChangeArrowheads="1"/>
              </p:cNvSpPr>
              <p:nvPr/>
            </p:nvSpPr>
            <p:spPr bwMode="auto">
              <a:xfrm>
                <a:off x="1250742" y="3393072"/>
                <a:ext cx="1980000" cy="684000"/>
              </a:xfrm>
              <a:prstGeom prst="roundRect">
                <a:avLst>
                  <a:gd name="adj" fmla="val 9481"/>
                </a:avLst>
              </a:prstGeom>
              <a:solidFill>
                <a:schemeClr val="accent1">
                  <a:lumMod val="20000"/>
                  <a:lumOff val="80000"/>
                  <a:alpha val="80000"/>
                </a:schemeClr>
              </a:solidFill>
              <a:ln w="9525" algn="ctr">
                <a:noFill/>
                <a:round/>
                <a:headEnd/>
                <a:tailEnd/>
              </a:ln>
              <a:effectLst/>
            </p:spPr>
            <p:txBody>
              <a:bodyPr wrap="square" lIns="91440" rIns="91440" anchor="ctr"/>
              <a:lstStyle/>
              <a:p>
                <a:pPr algn="ctr"/>
                <a:r>
                  <a:rPr lang="es-ES" sz="1100" dirty="0"/>
                  <a:t>Enfocados a mitigar aquellos riesgos de PEA y VaR significativo.</a:t>
                </a:r>
              </a:p>
            </p:txBody>
          </p:sp>
        </p:grpSp>
        <p:sp>
          <p:nvSpPr>
            <p:cNvPr id="114" name="Action Button: Forward or Next 72">
              <a:hlinkClick r:id="rId2" action="ppaction://hlinksldjump" highlightClick="1"/>
            </p:cNvPr>
            <p:cNvSpPr/>
            <p:nvPr/>
          </p:nvSpPr>
          <p:spPr>
            <a:xfrm>
              <a:off x="3028366" y="4018527"/>
              <a:ext cx="144000" cy="144000"/>
            </a:xfrm>
            <a:prstGeom prst="actionButtonForwardNext">
              <a:avLst/>
            </a:prstGeom>
            <a:solidFill>
              <a:schemeClr val="bg1">
                <a:lumMod val="7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p>
          </p:txBody>
        </p:sp>
      </p:grpSp>
      <p:grpSp>
        <p:nvGrpSpPr>
          <p:cNvPr id="4" name="34 Grupo"/>
          <p:cNvGrpSpPr/>
          <p:nvPr/>
        </p:nvGrpSpPr>
        <p:grpSpPr>
          <a:xfrm>
            <a:off x="3449055" y="2636912"/>
            <a:ext cx="2094833" cy="1584176"/>
            <a:chOff x="3449055" y="2636912"/>
            <a:chExt cx="2094833" cy="1584176"/>
          </a:xfrm>
        </p:grpSpPr>
        <p:grpSp>
          <p:nvGrpSpPr>
            <p:cNvPr id="5" name="32 Grupo"/>
            <p:cNvGrpSpPr/>
            <p:nvPr/>
          </p:nvGrpSpPr>
          <p:grpSpPr>
            <a:xfrm>
              <a:off x="3449055" y="2636912"/>
              <a:ext cx="2094833" cy="1584176"/>
              <a:chOff x="3449055" y="2636912"/>
              <a:chExt cx="2094833" cy="1584176"/>
            </a:xfrm>
          </p:grpSpPr>
          <p:sp>
            <p:nvSpPr>
              <p:cNvPr id="99" name="Rectangle 7"/>
              <p:cNvSpPr>
                <a:spLocks noChangeArrowheads="1"/>
              </p:cNvSpPr>
              <p:nvPr/>
            </p:nvSpPr>
            <p:spPr bwMode="auto">
              <a:xfrm>
                <a:off x="3559530" y="3068960"/>
                <a:ext cx="1980000" cy="1152128"/>
              </a:xfrm>
              <a:prstGeom prst="rect">
                <a:avLst/>
              </a:prstGeom>
              <a:solidFill>
                <a:schemeClr val="accent1">
                  <a:lumMod val="20000"/>
                  <a:lumOff val="80000"/>
                </a:schemeClr>
              </a:solidFill>
              <a:ln w="9525" algn="ctr">
                <a:noFill/>
                <a:miter lim="800000"/>
                <a:headEnd/>
                <a:tailEnd/>
              </a:ln>
              <a:effectLst>
                <a:prstShdw prst="shdw17" dist="17961" dir="2700000">
                  <a:srgbClr val="DDDDDD">
                    <a:gamma/>
                    <a:shade val="60000"/>
                    <a:invGamma/>
                  </a:srgbClr>
                </a:prstShdw>
              </a:effectLst>
            </p:spPr>
            <p:txBody>
              <a:bodyPr wrap="none" anchor="ctr"/>
              <a:lstStyle/>
              <a:p>
                <a:pPr algn="ctr"/>
                <a:endParaRPr lang="es-ES" sz="1300" b="1" dirty="0">
                  <a:solidFill>
                    <a:srgbClr val="525252"/>
                  </a:solidFill>
                </a:endParaRPr>
              </a:p>
            </p:txBody>
          </p:sp>
          <p:sp>
            <p:nvSpPr>
              <p:cNvPr id="89" name="AutoShape 10"/>
              <p:cNvSpPr>
                <a:spLocks noChangeArrowheads="1"/>
              </p:cNvSpPr>
              <p:nvPr/>
            </p:nvSpPr>
            <p:spPr bwMode="auto">
              <a:xfrm rot="5400000">
                <a:off x="4279530" y="2024952"/>
                <a:ext cx="540000" cy="1980000"/>
              </a:xfrm>
              <a:prstGeom prst="homePlate">
                <a:avLst>
                  <a:gd name="adj" fmla="val 28273"/>
                </a:avLst>
              </a:prstGeom>
              <a:solidFill>
                <a:srgbClr val="DB0613"/>
              </a:solidFill>
              <a:ln w="9525" algn="ctr">
                <a:solidFill>
                  <a:schemeClr val="bg1"/>
                </a:solidFill>
                <a:miter lim="800000"/>
                <a:headEnd/>
                <a:tailEnd/>
              </a:ln>
              <a:effectLst>
                <a:prstShdw prst="shdw17" dist="17961" dir="2700000">
                  <a:srgbClr val="DDDDDD">
                    <a:gamma/>
                    <a:shade val="60000"/>
                    <a:invGamma/>
                  </a:srgbClr>
                </a:prstShdw>
              </a:effectLst>
            </p:spPr>
            <p:txBody>
              <a:bodyPr wrap="none" anchor="ctr"/>
              <a:lstStyle/>
              <a:p>
                <a:pPr algn="ctr"/>
                <a:endParaRPr lang="en-US" sz="1200" b="1" dirty="0">
                  <a:solidFill>
                    <a:srgbClr val="525252"/>
                  </a:solidFill>
                </a:endParaRPr>
              </a:p>
            </p:txBody>
          </p:sp>
          <p:sp>
            <p:nvSpPr>
              <p:cNvPr id="90" name="Rectangle 7"/>
              <p:cNvSpPr>
                <a:spLocks noChangeArrowheads="1"/>
              </p:cNvSpPr>
              <p:nvPr/>
            </p:nvSpPr>
            <p:spPr bwMode="auto">
              <a:xfrm>
                <a:off x="3667530" y="2807790"/>
                <a:ext cx="1764000" cy="252000"/>
              </a:xfrm>
              <a:prstGeom prst="rect">
                <a:avLst/>
              </a:prstGeom>
              <a:noFill/>
              <a:ln w="9525" algn="ctr">
                <a:noFill/>
                <a:miter lim="800000"/>
                <a:headEnd/>
                <a:tailEnd/>
              </a:ln>
              <a:effectLst>
                <a:prstShdw prst="shdw17" dist="17961" dir="2700000">
                  <a:srgbClr val="DDDDDD">
                    <a:gamma/>
                    <a:shade val="60000"/>
                    <a:invGamma/>
                  </a:srgbClr>
                </a:prstShdw>
              </a:effectLst>
            </p:spPr>
            <p:txBody>
              <a:bodyPr wrap="none" anchor="ctr"/>
              <a:lstStyle/>
              <a:p>
                <a:pPr algn="ctr"/>
                <a:r>
                  <a:rPr lang="es-ES" sz="1400" b="1" dirty="0">
                    <a:solidFill>
                      <a:schemeClr val="bg1"/>
                    </a:solidFill>
                  </a:rPr>
                  <a:t>Planes de Mejora</a:t>
                </a:r>
              </a:p>
            </p:txBody>
          </p:sp>
          <p:sp>
            <p:nvSpPr>
              <p:cNvPr id="74" name="Oval 14"/>
              <p:cNvSpPr>
                <a:spLocks noChangeArrowheads="1"/>
              </p:cNvSpPr>
              <p:nvPr/>
            </p:nvSpPr>
            <p:spPr bwMode="gray">
              <a:xfrm>
                <a:off x="3449055" y="2636912"/>
                <a:ext cx="288000" cy="288000"/>
              </a:xfrm>
              <a:prstGeom prst="ellipse">
                <a:avLst/>
              </a:prstGeom>
              <a:solidFill>
                <a:schemeClr val="tx1">
                  <a:lumMod val="50000"/>
                  <a:lumOff val="50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AR" sz="1400" b="1" dirty="0">
                    <a:solidFill>
                      <a:schemeClr val="bg1"/>
                    </a:solidFill>
                  </a:rPr>
                  <a:t>2</a:t>
                </a:r>
                <a:endParaRPr lang="en-US" sz="1400" b="1" dirty="0">
                  <a:solidFill>
                    <a:schemeClr val="bg1"/>
                  </a:solidFill>
                </a:endParaRPr>
              </a:p>
            </p:txBody>
          </p:sp>
          <p:sp>
            <p:nvSpPr>
              <p:cNvPr id="104" name="AutoShape 179"/>
              <p:cNvSpPr>
                <a:spLocks noChangeArrowheads="1"/>
              </p:cNvSpPr>
              <p:nvPr/>
            </p:nvSpPr>
            <p:spPr bwMode="auto">
              <a:xfrm>
                <a:off x="3563888" y="3393072"/>
                <a:ext cx="1980000" cy="684000"/>
              </a:xfrm>
              <a:prstGeom prst="roundRect">
                <a:avLst>
                  <a:gd name="adj" fmla="val 9481"/>
                </a:avLst>
              </a:prstGeom>
              <a:solidFill>
                <a:schemeClr val="accent1">
                  <a:lumMod val="20000"/>
                  <a:lumOff val="80000"/>
                  <a:alpha val="80000"/>
                </a:schemeClr>
              </a:solidFill>
              <a:ln w="9525" algn="ctr">
                <a:noFill/>
                <a:round/>
                <a:headEnd/>
                <a:tailEnd/>
              </a:ln>
              <a:effectLst/>
            </p:spPr>
            <p:txBody>
              <a:bodyPr wrap="square" lIns="91440" rIns="91440" anchor="ctr"/>
              <a:lstStyle/>
              <a:p>
                <a:pPr algn="ctr"/>
                <a:r>
                  <a:rPr lang="es-ES" sz="1100" dirty="0"/>
                  <a:t>No vinculados necesariamente a un riesgo; proponen mejoras complementarias a procesos.</a:t>
                </a:r>
              </a:p>
            </p:txBody>
          </p:sp>
        </p:grpSp>
        <p:sp>
          <p:nvSpPr>
            <p:cNvPr id="115" name="Action Button: Forward or Next 72">
              <a:hlinkClick r:id="rId3" action="ppaction://hlinksldjump" highlightClick="1"/>
            </p:cNvPr>
            <p:cNvSpPr/>
            <p:nvPr/>
          </p:nvSpPr>
          <p:spPr>
            <a:xfrm>
              <a:off x="5337411" y="4018527"/>
              <a:ext cx="144000" cy="144000"/>
            </a:xfrm>
            <a:prstGeom prst="actionButtonForwardNext">
              <a:avLst/>
            </a:prstGeom>
            <a:solidFill>
              <a:schemeClr val="bg1">
                <a:lumMod val="7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p>
          </p:txBody>
        </p:sp>
      </p:grpSp>
      <p:grpSp>
        <p:nvGrpSpPr>
          <p:cNvPr id="6" name="35 Grupo"/>
          <p:cNvGrpSpPr/>
          <p:nvPr/>
        </p:nvGrpSpPr>
        <p:grpSpPr>
          <a:xfrm>
            <a:off x="5724128" y="2636912"/>
            <a:ext cx="2101888" cy="1584176"/>
            <a:chOff x="5724128" y="2636912"/>
            <a:chExt cx="2101888" cy="1584176"/>
          </a:xfrm>
        </p:grpSpPr>
        <p:grpSp>
          <p:nvGrpSpPr>
            <p:cNvPr id="7" name="38 Grupo"/>
            <p:cNvGrpSpPr/>
            <p:nvPr/>
          </p:nvGrpSpPr>
          <p:grpSpPr>
            <a:xfrm>
              <a:off x="5724128" y="2636912"/>
              <a:ext cx="2101888" cy="1584176"/>
              <a:chOff x="5724128" y="2636912"/>
              <a:chExt cx="2101888" cy="1584176"/>
            </a:xfrm>
          </p:grpSpPr>
          <p:sp>
            <p:nvSpPr>
              <p:cNvPr id="100" name="Rectangle 7"/>
              <p:cNvSpPr>
                <a:spLocks noChangeArrowheads="1"/>
              </p:cNvSpPr>
              <p:nvPr/>
            </p:nvSpPr>
            <p:spPr bwMode="auto">
              <a:xfrm>
                <a:off x="5846016" y="3068960"/>
                <a:ext cx="1980000" cy="1152128"/>
              </a:xfrm>
              <a:prstGeom prst="rect">
                <a:avLst/>
              </a:prstGeom>
              <a:solidFill>
                <a:schemeClr val="accent1">
                  <a:lumMod val="20000"/>
                  <a:lumOff val="80000"/>
                </a:schemeClr>
              </a:solidFill>
              <a:ln w="9525" algn="ctr">
                <a:noFill/>
                <a:miter lim="800000"/>
                <a:headEnd/>
                <a:tailEnd/>
              </a:ln>
              <a:effectLst>
                <a:prstShdw prst="shdw17" dist="17961" dir="2700000">
                  <a:srgbClr val="DDDDDD">
                    <a:gamma/>
                    <a:shade val="60000"/>
                    <a:invGamma/>
                  </a:srgbClr>
                </a:prstShdw>
              </a:effectLst>
            </p:spPr>
            <p:txBody>
              <a:bodyPr wrap="none" anchor="ctr"/>
              <a:lstStyle/>
              <a:p>
                <a:pPr algn="ctr"/>
                <a:endParaRPr lang="es-ES" sz="1300" b="1" dirty="0">
                  <a:solidFill>
                    <a:srgbClr val="525252"/>
                  </a:solidFill>
                </a:endParaRPr>
              </a:p>
            </p:txBody>
          </p:sp>
          <p:sp>
            <p:nvSpPr>
              <p:cNvPr id="92" name="AutoShape 10"/>
              <p:cNvSpPr>
                <a:spLocks noChangeArrowheads="1"/>
              </p:cNvSpPr>
              <p:nvPr/>
            </p:nvSpPr>
            <p:spPr bwMode="auto">
              <a:xfrm rot="5400000">
                <a:off x="6566016" y="2024952"/>
                <a:ext cx="540000" cy="1980000"/>
              </a:xfrm>
              <a:prstGeom prst="homePlate">
                <a:avLst>
                  <a:gd name="adj" fmla="val 28273"/>
                </a:avLst>
              </a:prstGeom>
              <a:solidFill>
                <a:srgbClr val="DB0613"/>
              </a:solidFill>
              <a:ln w="9525" algn="ctr">
                <a:solidFill>
                  <a:schemeClr val="bg1"/>
                </a:solidFill>
                <a:miter lim="800000"/>
                <a:headEnd/>
                <a:tailEnd/>
              </a:ln>
              <a:effectLst>
                <a:prstShdw prst="shdw17" dist="17961" dir="2700000">
                  <a:srgbClr val="DDDDDD">
                    <a:gamma/>
                    <a:shade val="60000"/>
                    <a:invGamma/>
                  </a:srgbClr>
                </a:prstShdw>
              </a:effectLst>
            </p:spPr>
            <p:txBody>
              <a:bodyPr wrap="none" anchor="ctr"/>
              <a:lstStyle/>
              <a:p>
                <a:pPr algn="ctr"/>
                <a:endParaRPr lang="en-US" sz="1200" b="1" dirty="0">
                  <a:solidFill>
                    <a:srgbClr val="525252"/>
                  </a:solidFill>
                </a:endParaRPr>
              </a:p>
            </p:txBody>
          </p:sp>
          <p:sp>
            <p:nvSpPr>
              <p:cNvPr id="93" name="Rectangle 7"/>
              <p:cNvSpPr>
                <a:spLocks noChangeArrowheads="1"/>
              </p:cNvSpPr>
              <p:nvPr/>
            </p:nvSpPr>
            <p:spPr bwMode="auto">
              <a:xfrm>
                <a:off x="5954016" y="2807790"/>
                <a:ext cx="1764000" cy="252000"/>
              </a:xfrm>
              <a:prstGeom prst="rect">
                <a:avLst/>
              </a:prstGeom>
              <a:noFill/>
              <a:ln w="9525" algn="ctr">
                <a:noFill/>
                <a:miter lim="800000"/>
                <a:headEnd/>
                <a:tailEnd/>
              </a:ln>
              <a:effectLst>
                <a:prstShdw prst="shdw17" dist="17961" dir="2700000">
                  <a:srgbClr val="DDDDDD">
                    <a:gamma/>
                    <a:shade val="60000"/>
                    <a:invGamma/>
                  </a:srgbClr>
                </a:prstShdw>
              </a:effectLst>
            </p:spPr>
            <p:txBody>
              <a:bodyPr wrap="none" anchor="ctr"/>
              <a:lstStyle/>
              <a:p>
                <a:pPr algn="ctr"/>
                <a:r>
                  <a:rPr lang="es-ES" sz="1400" b="1" dirty="0">
                    <a:solidFill>
                      <a:schemeClr val="bg1"/>
                    </a:solidFill>
                  </a:rPr>
                  <a:t>Planes de Continuidad</a:t>
                </a:r>
              </a:p>
            </p:txBody>
          </p:sp>
          <p:sp>
            <p:nvSpPr>
              <p:cNvPr id="78" name="Oval 15"/>
              <p:cNvSpPr>
                <a:spLocks noChangeArrowheads="1"/>
              </p:cNvSpPr>
              <p:nvPr/>
            </p:nvSpPr>
            <p:spPr bwMode="gray">
              <a:xfrm>
                <a:off x="5724128" y="2636912"/>
                <a:ext cx="288000" cy="288000"/>
              </a:xfrm>
              <a:prstGeom prst="ellipse">
                <a:avLst/>
              </a:prstGeom>
              <a:solidFill>
                <a:schemeClr val="tx1">
                  <a:lumMod val="50000"/>
                  <a:lumOff val="50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AR" sz="1400" b="1" dirty="0">
                    <a:solidFill>
                      <a:schemeClr val="bg1"/>
                    </a:solidFill>
                  </a:rPr>
                  <a:t>3</a:t>
                </a:r>
                <a:endParaRPr lang="en-US" sz="1400" b="1" dirty="0">
                  <a:solidFill>
                    <a:schemeClr val="bg1"/>
                  </a:solidFill>
                </a:endParaRPr>
              </a:p>
            </p:txBody>
          </p:sp>
          <p:sp>
            <p:nvSpPr>
              <p:cNvPr id="103" name="AutoShape 179"/>
              <p:cNvSpPr>
                <a:spLocks noChangeArrowheads="1"/>
              </p:cNvSpPr>
              <p:nvPr/>
            </p:nvSpPr>
            <p:spPr bwMode="auto">
              <a:xfrm>
                <a:off x="5832360" y="3393072"/>
                <a:ext cx="1980000" cy="684000"/>
              </a:xfrm>
              <a:prstGeom prst="roundRect">
                <a:avLst>
                  <a:gd name="adj" fmla="val 9481"/>
                </a:avLst>
              </a:prstGeom>
              <a:solidFill>
                <a:schemeClr val="accent1">
                  <a:lumMod val="20000"/>
                  <a:lumOff val="80000"/>
                  <a:alpha val="80000"/>
                </a:schemeClr>
              </a:solidFill>
              <a:ln w="9525" algn="ctr">
                <a:noFill/>
                <a:round/>
                <a:headEnd/>
                <a:tailEnd/>
              </a:ln>
              <a:effectLst/>
            </p:spPr>
            <p:txBody>
              <a:bodyPr wrap="square" lIns="91440" rIns="91440" anchor="ctr"/>
              <a:lstStyle/>
              <a:p>
                <a:pPr algn="ctr"/>
                <a:r>
                  <a:rPr lang="es-ES" sz="1100" dirty="0"/>
                  <a:t>Enfocados a prevenir o evitar los posibles escenarios que se originen por una situación de crisis</a:t>
                </a:r>
              </a:p>
            </p:txBody>
          </p:sp>
        </p:grpSp>
        <p:sp>
          <p:nvSpPr>
            <p:cNvPr id="116" name="Action Button: Forward or Next 72">
              <a:hlinkClick r:id="rId4" action="ppaction://hlinksldjump" highlightClick="1"/>
            </p:cNvPr>
            <p:cNvSpPr/>
            <p:nvPr/>
          </p:nvSpPr>
          <p:spPr>
            <a:xfrm>
              <a:off x="7628220" y="4018527"/>
              <a:ext cx="144000" cy="144000"/>
            </a:xfrm>
            <a:prstGeom prst="actionButtonForwardNext">
              <a:avLst/>
            </a:prstGeom>
            <a:solidFill>
              <a:schemeClr val="bg1">
                <a:lumMod val="7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p>
          </p:txBody>
        </p:sp>
      </p:grpSp>
      <p:sp>
        <p:nvSpPr>
          <p:cNvPr id="36" name="1 Título"/>
          <p:cNvSpPr>
            <a:spLocks noGrp="1"/>
          </p:cNvSpPr>
          <p:nvPr>
            <p:ph type="title"/>
          </p:nvPr>
        </p:nvSpPr>
        <p:spPr>
          <a:xfrm>
            <a:off x="47624" y="32965"/>
            <a:ext cx="8627715" cy="587723"/>
          </a:xfrm>
        </p:spPr>
        <p:txBody>
          <a:bodyPr/>
          <a:lstStyle/>
          <a:p>
            <a:r>
              <a:rPr lang="es-PE" dirty="0"/>
              <a:t>          Información Detallada: Planes de Mitigación</a:t>
            </a:r>
          </a:p>
        </p:txBody>
      </p:sp>
      <p:sp>
        <p:nvSpPr>
          <p:cNvPr id="37" name="Rounded Rectangle 3">
            <a:hlinkClick r:id="rId5" action="ppaction://hlinksldjump"/>
          </p:cNvPr>
          <p:cNvSpPr/>
          <p:nvPr/>
        </p:nvSpPr>
        <p:spPr>
          <a:xfrm>
            <a:off x="217915" y="146806"/>
            <a:ext cx="470426" cy="360040"/>
          </a:xfrm>
          <a:prstGeom prst="roundRect">
            <a:avLst/>
          </a:prstGeom>
          <a:solidFill>
            <a:srgbClr val="DB0613"/>
          </a:solidFill>
          <a:ln>
            <a:solidFill>
              <a:srgbClr val="A9A9A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PE" sz="1400" b="1" dirty="0"/>
              <a:t>2.2</a:t>
            </a:r>
            <a:endParaRPr lang="es-ES" sz="1400" b="1"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PE" dirty="0"/>
              <a:t>Agenda</a:t>
            </a:r>
          </a:p>
        </p:txBody>
      </p:sp>
      <p:sp>
        <p:nvSpPr>
          <p:cNvPr id="26" name="Rounded Rectangle 3">
            <a:hlinkClick r:id="rId2" action="ppaction://hlinksldjump"/>
          </p:cNvPr>
          <p:cNvSpPr/>
          <p:nvPr/>
        </p:nvSpPr>
        <p:spPr>
          <a:xfrm>
            <a:off x="899592" y="1198493"/>
            <a:ext cx="470426" cy="360040"/>
          </a:xfrm>
          <a:prstGeom prst="roundRect">
            <a:avLst/>
          </a:prstGeom>
          <a:solidFill>
            <a:srgbClr val="DB0613">
              <a:alpha val="40000"/>
            </a:srgbClr>
          </a:solidFill>
          <a:ln>
            <a:solidFill>
              <a:srgbClr val="A9A9A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400" b="1" dirty="0"/>
              <a:t>1</a:t>
            </a:r>
          </a:p>
        </p:txBody>
      </p:sp>
      <p:sp>
        <p:nvSpPr>
          <p:cNvPr id="27" name="Rounded Rectangle 4">
            <a:hlinkClick r:id="rId3" action="ppaction://hlinksldjump"/>
          </p:cNvPr>
          <p:cNvSpPr/>
          <p:nvPr/>
        </p:nvSpPr>
        <p:spPr>
          <a:xfrm>
            <a:off x="899592" y="1780135"/>
            <a:ext cx="470426" cy="360040"/>
          </a:xfrm>
          <a:prstGeom prst="roundRect">
            <a:avLst/>
          </a:prstGeom>
          <a:solidFill>
            <a:srgbClr val="DB0613">
              <a:alpha val="40000"/>
            </a:srgbClr>
          </a:solidFill>
          <a:ln>
            <a:solidFill>
              <a:srgbClr val="A9A9A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400" b="1" dirty="0"/>
              <a:t>2</a:t>
            </a:r>
          </a:p>
        </p:txBody>
      </p:sp>
      <p:sp>
        <p:nvSpPr>
          <p:cNvPr id="28" name="Rounded Rectangle 5">
            <a:hlinkClick r:id="rId4" action="ppaction://hlinksldjump"/>
          </p:cNvPr>
          <p:cNvSpPr>
            <a:spLocks noChangeAspect="1"/>
          </p:cNvSpPr>
          <p:nvPr/>
        </p:nvSpPr>
        <p:spPr>
          <a:xfrm>
            <a:off x="1603349" y="2284191"/>
            <a:ext cx="399819" cy="306000"/>
          </a:xfrm>
          <a:prstGeom prst="roundRect">
            <a:avLst/>
          </a:prstGeom>
          <a:solidFill>
            <a:srgbClr val="DB0613">
              <a:alpha val="40000"/>
            </a:srgbClr>
          </a:solidFill>
          <a:ln>
            <a:solidFill>
              <a:srgbClr val="A9A9A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PE" sz="1000" b="1" dirty="0">
                <a:solidFill>
                  <a:schemeClr val="bg1"/>
                </a:solidFill>
              </a:rPr>
              <a:t>2.1</a:t>
            </a:r>
            <a:endParaRPr lang="es-ES" sz="1000" b="1" dirty="0">
              <a:solidFill>
                <a:schemeClr val="bg1"/>
              </a:solidFill>
            </a:endParaRPr>
          </a:p>
        </p:txBody>
      </p:sp>
      <p:sp>
        <p:nvSpPr>
          <p:cNvPr id="29" name="Rounded Rectangle 7">
            <a:hlinkClick r:id="rId5" action="ppaction://hlinksldjump"/>
          </p:cNvPr>
          <p:cNvSpPr>
            <a:spLocks noChangeAspect="1"/>
          </p:cNvSpPr>
          <p:nvPr/>
        </p:nvSpPr>
        <p:spPr>
          <a:xfrm>
            <a:off x="1603349" y="2786506"/>
            <a:ext cx="399819" cy="306000"/>
          </a:xfrm>
          <a:prstGeom prst="roundRect">
            <a:avLst/>
          </a:prstGeom>
          <a:solidFill>
            <a:srgbClr val="DB0613">
              <a:alpha val="40000"/>
            </a:srgbClr>
          </a:solidFill>
          <a:ln>
            <a:solidFill>
              <a:srgbClr val="A9A9A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PE" sz="1000" b="1" dirty="0">
                <a:solidFill>
                  <a:schemeClr val="bg1"/>
                </a:solidFill>
              </a:rPr>
              <a:t>2.2</a:t>
            </a:r>
            <a:endParaRPr lang="es-ES" sz="1000" b="1" dirty="0">
              <a:solidFill>
                <a:schemeClr val="bg1"/>
              </a:solidFill>
            </a:endParaRPr>
          </a:p>
        </p:txBody>
      </p:sp>
      <p:sp>
        <p:nvSpPr>
          <p:cNvPr id="30" name="Rounded Rectangle 8">
            <a:hlinkClick r:id="rId6" action="ppaction://hlinksldjump"/>
          </p:cNvPr>
          <p:cNvSpPr/>
          <p:nvPr/>
        </p:nvSpPr>
        <p:spPr>
          <a:xfrm>
            <a:off x="899592" y="3362570"/>
            <a:ext cx="470426" cy="360040"/>
          </a:xfrm>
          <a:prstGeom prst="roundRect">
            <a:avLst/>
          </a:prstGeom>
          <a:solidFill>
            <a:srgbClr val="DB0613"/>
          </a:solidFill>
          <a:ln>
            <a:solidFill>
              <a:srgbClr val="A9A9A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PE" sz="1400" b="1" dirty="0"/>
              <a:t>3</a:t>
            </a:r>
            <a:endParaRPr lang="es-ES" sz="1400" b="1" dirty="0"/>
          </a:p>
        </p:txBody>
      </p:sp>
      <p:sp>
        <p:nvSpPr>
          <p:cNvPr id="31" name="Rounded Rectangle 9">
            <a:hlinkClick r:id="rId7" action="ppaction://hlinksldjump"/>
          </p:cNvPr>
          <p:cNvSpPr/>
          <p:nvPr/>
        </p:nvSpPr>
        <p:spPr>
          <a:xfrm>
            <a:off x="899592" y="3866626"/>
            <a:ext cx="470426" cy="360040"/>
          </a:xfrm>
          <a:prstGeom prst="roundRect">
            <a:avLst/>
          </a:prstGeom>
          <a:solidFill>
            <a:srgbClr val="DB0613">
              <a:alpha val="40000"/>
            </a:srgbClr>
          </a:solidFill>
          <a:ln>
            <a:solidFill>
              <a:srgbClr val="A9A9A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PE" sz="1400" b="1" dirty="0"/>
              <a:t>4</a:t>
            </a:r>
            <a:endParaRPr lang="es-ES" sz="1400" b="1" dirty="0"/>
          </a:p>
        </p:txBody>
      </p:sp>
      <p:sp>
        <p:nvSpPr>
          <p:cNvPr id="33" name="Rectangle 11"/>
          <p:cNvSpPr/>
          <p:nvPr/>
        </p:nvSpPr>
        <p:spPr>
          <a:xfrm>
            <a:off x="1303226" y="1056218"/>
            <a:ext cx="4720267" cy="646331"/>
          </a:xfrm>
          <a:prstGeom prst="rect">
            <a:avLst/>
          </a:prstGeom>
        </p:spPr>
        <p:txBody>
          <a:bodyPr wrap="none">
            <a:spAutoFit/>
          </a:bodyPr>
          <a:lstStyle/>
          <a:p>
            <a:pPr marL="468000" indent="-342900" algn="just">
              <a:lnSpc>
                <a:spcPct val="200000"/>
              </a:lnSpc>
            </a:pPr>
            <a:r>
              <a:rPr lang="es-PE" b="1" dirty="0">
                <a:solidFill>
                  <a:schemeClr val="bg1">
                    <a:lumMod val="75000"/>
                  </a:schemeClr>
                </a:solidFill>
                <a:cs typeface="Arial" pitchFamily="34" charset="0"/>
              </a:rPr>
              <a:t>Contexto Internacional del Riesgo Operacional</a:t>
            </a:r>
          </a:p>
        </p:txBody>
      </p:sp>
      <p:sp>
        <p:nvSpPr>
          <p:cNvPr id="34" name="Rectangle 12"/>
          <p:cNvSpPr/>
          <p:nvPr/>
        </p:nvSpPr>
        <p:spPr>
          <a:xfrm>
            <a:off x="1303226" y="1637860"/>
            <a:ext cx="3761735" cy="646331"/>
          </a:xfrm>
          <a:prstGeom prst="rect">
            <a:avLst/>
          </a:prstGeom>
        </p:spPr>
        <p:txBody>
          <a:bodyPr wrap="none">
            <a:spAutoFit/>
          </a:bodyPr>
          <a:lstStyle/>
          <a:p>
            <a:pPr marL="468000" indent="-342900" algn="just">
              <a:lnSpc>
                <a:spcPct val="200000"/>
              </a:lnSpc>
            </a:pPr>
            <a:r>
              <a:rPr lang="es-PE" b="1" dirty="0">
                <a:solidFill>
                  <a:schemeClr val="bg1">
                    <a:lumMod val="75000"/>
                  </a:schemeClr>
                </a:solidFill>
                <a:cs typeface="Arial" pitchFamily="34" charset="0"/>
              </a:rPr>
              <a:t>Resultados del Piloto ROCI en </a:t>
            </a:r>
            <a:r>
              <a:rPr lang="es-PE" b="1" dirty="0" err="1">
                <a:solidFill>
                  <a:schemeClr val="bg1">
                    <a:lumMod val="75000"/>
                  </a:schemeClr>
                </a:solidFill>
                <a:cs typeface="Arial" pitchFamily="34" charset="0"/>
              </a:rPr>
              <a:t>Rimac</a:t>
            </a:r>
            <a:endParaRPr lang="es-PE" b="1" dirty="0">
              <a:solidFill>
                <a:schemeClr val="bg1">
                  <a:lumMod val="75000"/>
                </a:schemeClr>
              </a:solidFill>
              <a:cs typeface="Arial" pitchFamily="34" charset="0"/>
            </a:endParaRPr>
          </a:p>
        </p:txBody>
      </p:sp>
      <p:sp>
        <p:nvSpPr>
          <p:cNvPr id="35" name="Rectangle 13"/>
          <p:cNvSpPr/>
          <p:nvPr/>
        </p:nvSpPr>
        <p:spPr>
          <a:xfrm>
            <a:off x="2006982" y="2140175"/>
            <a:ext cx="4797266" cy="646331"/>
          </a:xfrm>
          <a:prstGeom prst="rect">
            <a:avLst/>
          </a:prstGeom>
        </p:spPr>
        <p:txBody>
          <a:bodyPr wrap="square">
            <a:spAutoFit/>
          </a:bodyPr>
          <a:lstStyle/>
          <a:p>
            <a:pPr marL="468000" indent="-342900" algn="just">
              <a:lnSpc>
                <a:spcPct val="200000"/>
              </a:lnSpc>
            </a:pPr>
            <a:r>
              <a:rPr lang="es-PE" b="1" dirty="0">
                <a:solidFill>
                  <a:schemeClr val="bg1">
                    <a:lumMod val="75000"/>
                  </a:schemeClr>
                </a:solidFill>
                <a:cs typeface="Arial" pitchFamily="34" charset="0"/>
              </a:rPr>
              <a:t>Resumen Ejecutivo</a:t>
            </a:r>
          </a:p>
        </p:txBody>
      </p:sp>
      <p:sp>
        <p:nvSpPr>
          <p:cNvPr id="36" name="Rectangle 15"/>
          <p:cNvSpPr/>
          <p:nvPr/>
        </p:nvSpPr>
        <p:spPr>
          <a:xfrm>
            <a:off x="2006982" y="2605615"/>
            <a:ext cx="2437655" cy="646331"/>
          </a:xfrm>
          <a:prstGeom prst="rect">
            <a:avLst/>
          </a:prstGeom>
        </p:spPr>
        <p:txBody>
          <a:bodyPr wrap="none">
            <a:spAutoFit/>
          </a:bodyPr>
          <a:lstStyle/>
          <a:p>
            <a:pPr marL="468000" indent="-342900" algn="just">
              <a:lnSpc>
                <a:spcPct val="200000"/>
              </a:lnSpc>
            </a:pPr>
            <a:r>
              <a:rPr lang="es-PE" b="1" dirty="0">
                <a:solidFill>
                  <a:schemeClr val="bg1">
                    <a:lumMod val="75000"/>
                  </a:schemeClr>
                </a:solidFill>
                <a:cs typeface="Arial" pitchFamily="34" charset="0"/>
              </a:rPr>
              <a:t>Información Detallada</a:t>
            </a:r>
          </a:p>
        </p:txBody>
      </p:sp>
      <p:sp>
        <p:nvSpPr>
          <p:cNvPr id="37" name="Rectangle 16"/>
          <p:cNvSpPr/>
          <p:nvPr/>
        </p:nvSpPr>
        <p:spPr>
          <a:xfrm>
            <a:off x="1303226" y="3220295"/>
            <a:ext cx="4773486" cy="568745"/>
          </a:xfrm>
          <a:prstGeom prst="rect">
            <a:avLst/>
          </a:prstGeom>
        </p:spPr>
        <p:txBody>
          <a:bodyPr wrap="none">
            <a:spAutoFit/>
          </a:bodyPr>
          <a:lstStyle/>
          <a:p>
            <a:pPr marL="468000" indent="-342900" algn="just">
              <a:lnSpc>
                <a:spcPct val="200000"/>
              </a:lnSpc>
            </a:pPr>
            <a:r>
              <a:rPr lang="es-PE" b="1" dirty="0">
                <a:solidFill>
                  <a:schemeClr val="bg1">
                    <a:lumMod val="50000"/>
                  </a:schemeClr>
                </a:solidFill>
                <a:cs typeface="Arial" pitchFamily="34" charset="0"/>
              </a:rPr>
              <a:t>Demo Práctica: Gestión del Riesgo Operacional</a:t>
            </a:r>
          </a:p>
        </p:txBody>
      </p:sp>
      <p:sp>
        <p:nvSpPr>
          <p:cNvPr id="38" name="Rectangle 17"/>
          <p:cNvSpPr/>
          <p:nvPr/>
        </p:nvSpPr>
        <p:spPr>
          <a:xfrm>
            <a:off x="1303226" y="3724351"/>
            <a:ext cx="1788246" cy="646331"/>
          </a:xfrm>
          <a:prstGeom prst="rect">
            <a:avLst/>
          </a:prstGeom>
        </p:spPr>
        <p:txBody>
          <a:bodyPr wrap="none">
            <a:spAutoFit/>
          </a:bodyPr>
          <a:lstStyle/>
          <a:p>
            <a:pPr marL="468000" indent="-342900" algn="just">
              <a:lnSpc>
                <a:spcPct val="200000"/>
              </a:lnSpc>
            </a:pPr>
            <a:r>
              <a:rPr lang="es-PE" b="1" dirty="0">
                <a:solidFill>
                  <a:schemeClr val="bg1">
                    <a:lumMod val="75000"/>
                  </a:schemeClr>
                </a:solidFill>
                <a:cs typeface="Arial" pitchFamily="34" charset="0"/>
              </a:rPr>
              <a:t>Próximos Pasos</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PE" dirty="0"/>
              <a:t>Agenda</a:t>
            </a:r>
          </a:p>
        </p:txBody>
      </p:sp>
      <p:sp>
        <p:nvSpPr>
          <p:cNvPr id="26" name="Rounded Rectangle 3">
            <a:hlinkClick r:id="rId2" action="ppaction://hlinksldjump"/>
          </p:cNvPr>
          <p:cNvSpPr/>
          <p:nvPr/>
        </p:nvSpPr>
        <p:spPr>
          <a:xfrm>
            <a:off x="899592" y="1198493"/>
            <a:ext cx="470426" cy="360040"/>
          </a:xfrm>
          <a:prstGeom prst="roundRect">
            <a:avLst/>
          </a:prstGeom>
          <a:solidFill>
            <a:srgbClr val="DB0613">
              <a:alpha val="40000"/>
            </a:srgbClr>
          </a:solidFill>
          <a:ln>
            <a:solidFill>
              <a:srgbClr val="A9A9A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400" b="1" dirty="0"/>
              <a:t>1</a:t>
            </a:r>
          </a:p>
        </p:txBody>
      </p:sp>
      <p:sp>
        <p:nvSpPr>
          <p:cNvPr id="27" name="Rounded Rectangle 4">
            <a:hlinkClick r:id="rId3" action="ppaction://hlinksldjump"/>
          </p:cNvPr>
          <p:cNvSpPr/>
          <p:nvPr/>
        </p:nvSpPr>
        <p:spPr>
          <a:xfrm>
            <a:off x="899592" y="1780135"/>
            <a:ext cx="470426" cy="360040"/>
          </a:xfrm>
          <a:prstGeom prst="roundRect">
            <a:avLst/>
          </a:prstGeom>
          <a:solidFill>
            <a:srgbClr val="DB0613">
              <a:alpha val="40000"/>
            </a:srgbClr>
          </a:solidFill>
          <a:ln>
            <a:solidFill>
              <a:srgbClr val="A9A9A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400" b="1" dirty="0"/>
              <a:t>2</a:t>
            </a:r>
          </a:p>
        </p:txBody>
      </p:sp>
      <p:sp>
        <p:nvSpPr>
          <p:cNvPr id="28" name="Rounded Rectangle 5">
            <a:hlinkClick r:id="rId4" action="ppaction://hlinksldjump"/>
          </p:cNvPr>
          <p:cNvSpPr>
            <a:spLocks noChangeAspect="1"/>
          </p:cNvSpPr>
          <p:nvPr/>
        </p:nvSpPr>
        <p:spPr>
          <a:xfrm>
            <a:off x="1603349" y="2284191"/>
            <a:ext cx="399819" cy="306000"/>
          </a:xfrm>
          <a:prstGeom prst="roundRect">
            <a:avLst/>
          </a:prstGeom>
          <a:solidFill>
            <a:srgbClr val="DB0613">
              <a:alpha val="40000"/>
            </a:srgbClr>
          </a:solidFill>
          <a:ln>
            <a:solidFill>
              <a:srgbClr val="A9A9A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PE" sz="1000" b="1" dirty="0">
                <a:solidFill>
                  <a:schemeClr val="bg1"/>
                </a:solidFill>
              </a:rPr>
              <a:t>2.1</a:t>
            </a:r>
            <a:endParaRPr lang="es-ES" sz="1000" b="1" dirty="0">
              <a:solidFill>
                <a:schemeClr val="bg1"/>
              </a:solidFill>
            </a:endParaRPr>
          </a:p>
        </p:txBody>
      </p:sp>
      <p:sp>
        <p:nvSpPr>
          <p:cNvPr id="29" name="Rounded Rectangle 7">
            <a:hlinkClick r:id="rId5" action="ppaction://hlinksldjump"/>
          </p:cNvPr>
          <p:cNvSpPr>
            <a:spLocks noChangeAspect="1"/>
          </p:cNvSpPr>
          <p:nvPr/>
        </p:nvSpPr>
        <p:spPr>
          <a:xfrm>
            <a:off x="1603349" y="2786506"/>
            <a:ext cx="399819" cy="306000"/>
          </a:xfrm>
          <a:prstGeom prst="roundRect">
            <a:avLst/>
          </a:prstGeom>
          <a:solidFill>
            <a:srgbClr val="DB0613">
              <a:alpha val="40000"/>
            </a:srgbClr>
          </a:solidFill>
          <a:ln>
            <a:solidFill>
              <a:srgbClr val="A9A9A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PE" sz="1000" b="1" dirty="0">
                <a:solidFill>
                  <a:schemeClr val="bg1"/>
                </a:solidFill>
              </a:rPr>
              <a:t>2.2</a:t>
            </a:r>
            <a:endParaRPr lang="es-ES" sz="1000" b="1" dirty="0">
              <a:solidFill>
                <a:schemeClr val="bg1"/>
              </a:solidFill>
            </a:endParaRPr>
          </a:p>
        </p:txBody>
      </p:sp>
      <p:sp>
        <p:nvSpPr>
          <p:cNvPr id="30" name="Rounded Rectangle 8">
            <a:hlinkClick r:id="rId6" action="ppaction://hlinksldjump"/>
          </p:cNvPr>
          <p:cNvSpPr/>
          <p:nvPr/>
        </p:nvSpPr>
        <p:spPr>
          <a:xfrm>
            <a:off x="899592" y="3362570"/>
            <a:ext cx="470426" cy="360040"/>
          </a:xfrm>
          <a:prstGeom prst="roundRect">
            <a:avLst/>
          </a:prstGeom>
          <a:solidFill>
            <a:srgbClr val="DB0613">
              <a:alpha val="40000"/>
            </a:srgbClr>
          </a:solidFill>
          <a:ln>
            <a:solidFill>
              <a:srgbClr val="A9A9A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PE" sz="1400" b="1" dirty="0"/>
              <a:t>3</a:t>
            </a:r>
            <a:endParaRPr lang="es-ES" sz="1400" b="1" dirty="0"/>
          </a:p>
        </p:txBody>
      </p:sp>
      <p:sp>
        <p:nvSpPr>
          <p:cNvPr id="31" name="Rounded Rectangle 9">
            <a:hlinkClick r:id="rId7" action="ppaction://hlinksldjump"/>
          </p:cNvPr>
          <p:cNvSpPr/>
          <p:nvPr/>
        </p:nvSpPr>
        <p:spPr>
          <a:xfrm>
            <a:off x="899592" y="3866626"/>
            <a:ext cx="470426" cy="360040"/>
          </a:xfrm>
          <a:prstGeom prst="roundRect">
            <a:avLst/>
          </a:prstGeom>
          <a:solidFill>
            <a:srgbClr val="DB0613"/>
          </a:solidFill>
          <a:ln>
            <a:solidFill>
              <a:srgbClr val="A9A9A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PE" sz="1400" b="1" dirty="0"/>
              <a:t>4</a:t>
            </a:r>
            <a:endParaRPr lang="es-ES" sz="1400" b="1" dirty="0"/>
          </a:p>
        </p:txBody>
      </p:sp>
      <p:sp>
        <p:nvSpPr>
          <p:cNvPr id="33" name="Rectangle 11"/>
          <p:cNvSpPr/>
          <p:nvPr/>
        </p:nvSpPr>
        <p:spPr>
          <a:xfrm>
            <a:off x="1303226" y="1056218"/>
            <a:ext cx="4720267" cy="646331"/>
          </a:xfrm>
          <a:prstGeom prst="rect">
            <a:avLst/>
          </a:prstGeom>
        </p:spPr>
        <p:txBody>
          <a:bodyPr wrap="none">
            <a:spAutoFit/>
          </a:bodyPr>
          <a:lstStyle/>
          <a:p>
            <a:pPr marL="468000" indent="-342900" algn="just">
              <a:lnSpc>
                <a:spcPct val="200000"/>
              </a:lnSpc>
            </a:pPr>
            <a:r>
              <a:rPr lang="es-PE" b="1" dirty="0">
                <a:solidFill>
                  <a:schemeClr val="bg1">
                    <a:lumMod val="75000"/>
                  </a:schemeClr>
                </a:solidFill>
                <a:cs typeface="Arial" pitchFamily="34" charset="0"/>
              </a:rPr>
              <a:t>Contexto Internacional del Riesgo Operacional</a:t>
            </a:r>
          </a:p>
        </p:txBody>
      </p:sp>
      <p:sp>
        <p:nvSpPr>
          <p:cNvPr id="34" name="Rectangle 12"/>
          <p:cNvSpPr/>
          <p:nvPr/>
        </p:nvSpPr>
        <p:spPr>
          <a:xfrm>
            <a:off x="1303226" y="1637860"/>
            <a:ext cx="3761735" cy="646331"/>
          </a:xfrm>
          <a:prstGeom prst="rect">
            <a:avLst/>
          </a:prstGeom>
        </p:spPr>
        <p:txBody>
          <a:bodyPr wrap="none">
            <a:spAutoFit/>
          </a:bodyPr>
          <a:lstStyle/>
          <a:p>
            <a:pPr marL="468000" indent="-342900" algn="just">
              <a:lnSpc>
                <a:spcPct val="200000"/>
              </a:lnSpc>
            </a:pPr>
            <a:r>
              <a:rPr lang="es-PE" b="1" dirty="0">
                <a:solidFill>
                  <a:schemeClr val="bg1">
                    <a:lumMod val="75000"/>
                  </a:schemeClr>
                </a:solidFill>
                <a:cs typeface="Arial" pitchFamily="34" charset="0"/>
              </a:rPr>
              <a:t>Resultados del Piloto ROCI en </a:t>
            </a:r>
            <a:r>
              <a:rPr lang="es-PE" b="1" dirty="0" err="1">
                <a:solidFill>
                  <a:schemeClr val="bg1">
                    <a:lumMod val="75000"/>
                  </a:schemeClr>
                </a:solidFill>
                <a:cs typeface="Arial" pitchFamily="34" charset="0"/>
              </a:rPr>
              <a:t>Rimac</a:t>
            </a:r>
            <a:endParaRPr lang="es-PE" b="1" dirty="0">
              <a:solidFill>
                <a:schemeClr val="bg1">
                  <a:lumMod val="75000"/>
                </a:schemeClr>
              </a:solidFill>
              <a:cs typeface="Arial" pitchFamily="34" charset="0"/>
            </a:endParaRPr>
          </a:p>
        </p:txBody>
      </p:sp>
      <p:sp>
        <p:nvSpPr>
          <p:cNvPr id="35" name="Rectangle 13"/>
          <p:cNvSpPr/>
          <p:nvPr/>
        </p:nvSpPr>
        <p:spPr>
          <a:xfrm>
            <a:off x="2006982" y="2140175"/>
            <a:ext cx="4797266" cy="646331"/>
          </a:xfrm>
          <a:prstGeom prst="rect">
            <a:avLst/>
          </a:prstGeom>
        </p:spPr>
        <p:txBody>
          <a:bodyPr wrap="square">
            <a:spAutoFit/>
          </a:bodyPr>
          <a:lstStyle/>
          <a:p>
            <a:pPr marL="468000" indent="-342900" algn="just">
              <a:lnSpc>
                <a:spcPct val="200000"/>
              </a:lnSpc>
            </a:pPr>
            <a:r>
              <a:rPr lang="es-PE" b="1" dirty="0">
                <a:solidFill>
                  <a:schemeClr val="bg1">
                    <a:lumMod val="75000"/>
                  </a:schemeClr>
                </a:solidFill>
                <a:cs typeface="Arial" pitchFamily="34" charset="0"/>
              </a:rPr>
              <a:t>Resumen Ejecutivo</a:t>
            </a:r>
          </a:p>
        </p:txBody>
      </p:sp>
      <p:sp>
        <p:nvSpPr>
          <p:cNvPr id="36" name="Rectangle 15"/>
          <p:cNvSpPr/>
          <p:nvPr/>
        </p:nvSpPr>
        <p:spPr>
          <a:xfrm>
            <a:off x="2006982" y="2605615"/>
            <a:ext cx="2437655" cy="646331"/>
          </a:xfrm>
          <a:prstGeom prst="rect">
            <a:avLst/>
          </a:prstGeom>
        </p:spPr>
        <p:txBody>
          <a:bodyPr wrap="none">
            <a:spAutoFit/>
          </a:bodyPr>
          <a:lstStyle/>
          <a:p>
            <a:pPr marL="468000" indent="-342900" algn="just">
              <a:lnSpc>
                <a:spcPct val="200000"/>
              </a:lnSpc>
            </a:pPr>
            <a:r>
              <a:rPr lang="es-PE" b="1" dirty="0">
                <a:solidFill>
                  <a:schemeClr val="bg1">
                    <a:lumMod val="75000"/>
                  </a:schemeClr>
                </a:solidFill>
                <a:cs typeface="Arial" pitchFamily="34" charset="0"/>
              </a:rPr>
              <a:t>Información Detallada</a:t>
            </a:r>
          </a:p>
        </p:txBody>
      </p:sp>
      <p:sp>
        <p:nvSpPr>
          <p:cNvPr id="37" name="Rectangle 16"/>
          <p:cNvSpPr/>
          <p:nvPr/>
        </p:nvSpPr>
        <p:spPr>
          <a:xfrm>
            <a:off x="1303226" y="3220295"/>
            <a:ext cx="4773486" cy="568745"/>
          </a:xfrm>
          <a:prstGeom prst="rect">
            <a:avLst/>
          </a:prstGeom>
        </p:spPr>
        <p:txBody>
          <a:bodyPr wrap="none">
            <a:spAutoFit/>
          </a:bodyPr>
          <a:lstStyle/>
          <a:p>
            <a:pPr marL="468000" indent="-342900" algn="just">
              <a:lnSpc>
                <a:spcPct val="200000"/>
              </a:lnSpc>
            </a:pPr>
            <a:r>
              <a:rPr lang="es-PE" b="1" dirty="0">
                <a:solidFill>
                  <a:schemeClr val="bg1">
                    <a:lumMod val="75000"/>
                  </a:schemeClr>
                </a:solidFill>
                <a:cs typeface="Arial" pitchFamily="34" charset="0"/>
              </a:rPr>
              <a:t>Demo Práctica: Gestión del Riesgo Operacional</a:t>
            </a:r>
          </a:p>
        </p:txBody>
      </p:sp>
      <p:sp>
        <p:nvSpPr>
          <p:cNvPr id="38" name="Rectangle 17"/>
          <p:cNvSpPr/>
          <p:nvPr/>
        </p:nvSpPr>
        <p:spPr>
          <a:xfrm>
            <a:off x="1303226" y="3724351"/>
            <a:ext cx="1788246" cy="646331"/>
          </a:xfrm>
          <a:prstGeom prst="rect">
            <a:avLst/>
          </a:prstGeom>
        </p:spPr>
        <p:txBody>
          <a:bodyPr wrap="none">
            <a:spAutoFit/>
          </a:bodyPr>
          <a:lstStyle/>
          <a:p>
            <a:pPr marL="468000" indent="-342900" algn="just">
              <a:lnSpc>
                <a:spcPct val="200000"/>
              </a:lnSpc>
            </a:pPr>
            <a:r>
              <a:rPr lang="es-PE" b="1" dirty="0">
                <a:solidFill>
                  <a:schemeClr val="bg1">
                    <a:lumMod val="50000"/>
                  </a:schemeClr>
                </a:solidFill>
                <a:cs typeface="Arial" pitchFamily="34" charset="0"/>
              </a:rPr>
              <a:t>Próximos Pasos</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47625" y="32965"/>
            <a:ext cx="8217470" cy="587723"/>
          </a:xfrm>
        </p:spPr>
        <p:txBody>
          <a:bodyPr/>
          <a:lstStyle/>
          <a:p>
            <a:r>
              <a:rPr lang="es-PE" dirty="0"/>
              <a:t>          Próximos Pasos</a:t>
            </a:r>
          </a:p>
        </p:txBody>
      </p:sp>
      <p:sp>
        <p:nvSpPr>
          <p:cNvPr id="11" name="Rounded Rectangle 3">
            <a:hlinkClick r:id="rId2" action="ppaction://hlinksldjump"/>
          </p:cNvPr>
          <p:cNvSpPr/>
          <p:nvPr/>
        </p:nvSpPr>
        <p:spPr>
          <a:xfrm>
            <a:off x="217915" y="146806"/>
            <a:ext cx="470426" cy="360040"/>
          </a:xfrm>
          <a:prstGeom prst="roundRect">
            <a:avLst/>
          </a:prstGeom>
          <a:solidFill>
            <a:srgbClr val="DB0613"/>
          </a:solidFill>
          <a:ln>
            <a:solidFill>
              <a:srgbClr val="A9A9A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PE" sz="1400" b="1" dirty="0"/>
              <a:t>4</a:t>
            </a:r>
            <a:endParaRPr lang="es-ES" sz="1400" b="1" dirty="0"/>
          </a:p>
        </p:txBody>
      </p:sp>
      <p:sp>
        <p:nvSpPr>
          <p:cNvPr id="7" name="Text Box 100"/>
          <p:cNvSpPr txBox="1">
            <a:spLocks noChangeArrowheads="1"/>
          </p:cNvSpPr>
          <p:nvPr/>
        </p:nvSpPr>
        <p:spPr bwMode="blackWhite">
          <a:xfrm>
            <a:off x="827584" y="1916832"/>
            <a:ext cx="7776220" cy="584775"/>
          </a:xfrm>
          <a:prstGeom prst="rect">
            <a:avLst/>
          </a:prstGeom>
          <a:noFill/>
          <a:ln w="12700" algn="ctr">
            <a:noFill/>
            <a:miter lim="800000"/>
            <a:headEnd/>
            <a:tailEnd/>
          </a:ln>
        </p:spPr>
        <p:txBody>
          <a:bodyPr wrap="square">
            <a:spAutoFit/>
          </a:bodyPr>
          <a:lstStyle/>
          <a:p>
            <a:pPr marL="342900" indent="-342900" algn="just">
              <a:spcBef>
                <a:spcPct val="20000"/>
              </a:spcBef>
              <a:buClr>
                <a:schemeClr val="tx1"/>
              </a:buClr>
              <a:buFont typeface="+mj-lt"/>
              <a:buAutoNum type="arabicParenR"/>
            </a:pPr>
            <a:r>
              <a:rPr lang="es-CL" sz="1600" b="0" dirty="0"/>
              <a:t>Priorización de </a:t>
            </a:r>
            <a:r>
              <a:rPr lang="es-CL" sz="1600" b="1" dirty="0"/>
              <a:t>procesos para la etapa de completitud</a:t>
            </a:r>
            <a:r>
              <a:rPr lang="es-CL" sz="1600" b="0" dirty="0"/>
              <a:t> con foco en aquellos riesgos </a:t>
            </a:r>
            <a:r>
              <a:rPr lang="es-CL" sz="1600" b="1" dirty="0"/>
              <a:t>con alta pérdida esperada (PE) y </a:t>
            </a:r>
            <a:r>
              <a:rPr lang="es-CL" sz="1600" b="1" dirty="0" err="1"/>
              <a:t>VaR</a:t>
            </a:r>
            <a:r>
              <a:rPr lang="es-CL" sz="1600" dirty="0"/>
              <a:t>. </a:t>
            </a:r>
            <a:endParaRPr lang="es-CL" sz="1600" b="0" dirty="0">
              <a:solidFill>
                <a:srgbClr val="FF0000"/>
              </a:solidFill>
            </a:endParaRPr>
          </a:p>
        </p:txBody>
      </p:sp>
      <p:sp>
        <p:nvSpPr>
          <p:cNvPr id="8" name="Text Box 100"/>
          <p:cNvSpPr txBox="1">
            <a:spLocks noChangeArrowheads="1"/>
          </p:cNvSpPr>
          <p:nvPr/>
        </p:nvSpPr>
        <p:spPr bwMode="blackWhite">
          <a:xfrm>
            <a:off x="827584" y="3573016"/>
            <a:ext cx="7776220" cy="2603790"/>
          </a:xfrm>
          <a:prstGeom prst="rect">
            <a:avLst/>
          </a:prstGeom>
          <a:noFill/>
          <a:ln w="12700" algn="ctr">
            <a:noFill/>
            <a:miter lim="800000"/>
            <a:headEnd/>
            <a:tailEnd/>
          </a:ln>
        </p:spPr>
        <p:txBody>
          <a:bodyPr wrap="square">
            <a:spAutoFit/>
          </a:bodyPr>
          <a:lstStyle/>
          <a:p>
            <a:pPr marL="342900" indent="-342900" algn="just">
              <a:spcBef>
                <a:spcPct val="20000"/>
              </a:spcBef>
              <a:buClr>
                <a:schemeClr val="tx1"/>
              </a:buClr>
              <a:buFont typeface="+mj-lt"/>
              <a:buAutoNum type="arabicParenR" startAt="2"/>
            </a:pPr>
            <a:r>
              <a:rPr lang="es-CL" sz="1600" dirty="0"/>
              <a:t>Ejecución de los </a:t>
            </a:r>
            <a:r>
              <a:rPr lang="es-CL" sz="1600" b="1" dirty="0"/>
              <a:t>Planes definidos (acción, mejora y continuidad) </a:t>
            </a:r>
            <a:r>
              <a:rPr lang="es-CL" sz="1600" dirty="0"/>
              <a:t>previa validación, priorización y aprobación por parte del Comité de Riesgos</a:t>
            </a:r>
            <a:r>
              <a:rPr lang="es-CL" sz="1600" b="0" dirty="0"/>
              <a:t>.</a:t>
            </a:r>
          </a:p>
          <a:p>
            <a:pPr marL="342900" indent="-342900" algn="just">
              <a:spcBef>
                <a:spcPct val="20000"/>
              </a:spcBef>
              <a:buClr>
                <a:schemeClr val="tx1"/>
              </a:buClr>
            </a:pPr>
            <a:r>
              <a:rPr lang="es-CL" sz="1600" b="0" dirty="0"/>
              <a:t> </a:t>
            </a:r>
          </a:p>
          <a:p>
            <a:pPr marL="342900" indent="-342900" algn="just">
              <a:spcBef>
                <a:spcPct val="20000"/>
              </a:spcBef>
              <a:buClr>
                <a:schemeClr val="tx1"/>
              </a:buClr>
              <a:buFont typeface="+mj-lt"/>
              <a:buAutoNum type="arabicParenR" startAt="3"/>
            </a:pPr>
            <a:r>
              <a:rPr lang="es-CL" sz="1600" b="1" dirty="0"/>
              <a:t>Finalización y presentación del enfoque metodológico de la implementación de una BBDD de eventos de pérdida para </a:t>
            </a:r>
            <a:r>
              <a:rPr lang="es-CL" sz="1600" b="1" dirty="0" err="1"/>
              <a:t>Rimac</a:t>
            </a:r>
            <a:r>
              <a:rPr lang="es-CL" sz="1600" b="1" dirty="0"/>
              <a:t> (13 de febrero).</a:t>
            </a:r>
            <a:endParaRPr lang="es-CL" sz="1600" dirty="0"/>
          </a:p>
          <a:p>
            <a:pPr marL="342900" indent="-342900" algn="just">
              <a:spcBef>
                <a:spcPct val="20000"/>
              </a:spcBef>
              <a:buClr>
                <a:schemeClr val="tx1"/>
              </a:buClr>
            </a:pPr>
            <a:endParaRPr lang="es-CL" sz="1600" dirty="0"/>
          </a:p>
          <a:p>
            <a:pPr marL="342900" indent="-342900" algn="just">
              <a:spcBef>
                <a:spcPct val="20000"/>
              </a:spcBef>
              <a:buClr>
                <a:schemeClr val="tx1"/>
              </a:buClr>
              <a:buFont typeface="+mj-lt"/>
              <a:buAutoNum type="arabicParenR" startAt="4"/>
            </a:pPr>
            <a:r>
              <a:rPr lang="es-CL" sz="1600" b="1" dirty="0"/>
              <a:t>Revisión del Marco de Gestión</a:t>
            </a:r>
            <a:r>
              <a:rPr lang="es-CL" sz="1600" dirty="0"/>
              <a:t> de RO por el responsable de la </a:t>
            </a:r>
            <a:r>
              <a:rPr lang="es-CL" sz="1600" dirty="0" err="1"/>
              <a:t>core</a:t>
            </a:r>
            <a:r>
              <a:rPr lang="es-CL" sz="1600" dirty="0"/>
              <a:t> de MS.</a:t>
            </a:r>
          </a:p>
          <a:p>
            <a:pPr marL="342900" indent="-342900" algn="just">
              <a:spcBef>
                <a:spcPct val="20000"/>
              </a:spcBef>
              <a:buClr>
                <a:schemeClr val="tx1"/>
              </a:buClr>
            </a:pPr>
            <a:endParaRPr lang="es-CL" sz="1600" dirty="0"/>
          </a:p>
          <a:p>
            <a:pPr marL="342900" indent="-342900" algn="just">
              <a:spcBef>
                <a:spcPct val="20000"/>
              </a:spcBef>
              <a:buClr>
                <a:schemeClr val="tx1"/>
              </a:buClr>
              <a:buFont typeface="+mj-lt"/>
              <a:buAutoNum type="arabicParenR" startAt="5"/>
            </a:pPr>
            <a:r>
              <a:rPr lang="es-CL" sz="1600" dirty="0"/>
              <a:t>Revisión funcional y técnica de </a:t>
            </a:r>
            <a:r>
              <a:rPr lang="es-CL" sz="1600" b="1" dirty="0"/>
              <a:t>SIRO</a:t>
            </a:r>
            <a:r>
              <a:rPr lang="es-CL" sz="1600" dirty="0"/>
              <a:t> para su evaluación (T&amp;MC).</a:t>
            </a:r>
            <a:endParaRPr lang="es-CL" sz="1600" b="0" dirty="0">
              <a:solidFill>
                <a:srgbClr val="FF0000"/>
              </a:solidFill>
            </a:endParaRPr>
          </a:p>
        </p:txBody>
      </p:sp>
      <p:sp>
        <p:nvSpPr>
          <p:cNvPr id="12" name="Text Box 100"/>
          <p:cNvSpPr txBox="1">
            <a:spLocks noChangeArrowheads="1"/>
          </p:cNvSpPr>
          <p:nvPr/>
        </p:nvSpPr>
        <p:spPr bwMode="blackWhite">
          <a:xfrm>
            <a:off x="323528" y="980728"/>
            <a:ext cx="8496622" cy="1077218"/>
          </a:xfrm>
          <a:prstGeom prst="rect">
            <a:avLst/>
          </a:prstGeom>
          <a:noFill/>
          <a:ln w="12700" algn="ctr">
            <a:noFill/>
            <a:miter lim="800000"/>
            <a:headEnd/>
            <a:tailEnd/>
          </a:ln>
        </p:spPr>
        <p:txBody>
          <a:bodyPr wrap="square">
            <a:spAutoFit/>
          </a:bodyPr>
          <a:lstStyle/>
          <a:p>
            <a:pPr marL="6350" indent="-6350" algn="ctr">
              <a:spcBef>
                <a:spcPct val="20000"/>
              </a:spcBef>
              <a:buClr>
                <a:schemeClr val="tx1"/>
              </a:buClr>
            </a:pPr>
            <a:r>
              <a:rPr lang="es-ES_tradnl" sz="2000" b="1" dirty="0"/>
              <a:t>Como consecuencia del análisis previo, se desprende la necesidad de realizar los siguientes proyectos o tareas:</a:t>
            </a:r>
          </a:p>
          <a:p>
            <a:pPr marL="6350" indent="-6350" algn="just">
              <a:spcBef>
                <a:spcPct val="20000"/>
              </a:spcBef>
              <a:buClr>
                <a:schemeClr val="tx1"/>
              </a:buClr>
            </a:pPr>
            <a:endParaRPr lang="es-CL" sz="2000" b="1" dirty="0">
              <a:solidFill>
                <a:schemeClr val="tx1">
                  <a:lumMod val="50000"/>
                  <a:lumOff val="50000"/>
                </a:schemeClr>
              </a:solidFill>
            </a:endParaRPr>
          </a:p>
        </p:txBody>
      </p:sp>
      <p:sp>
        <p:nvSpPr>
          <p:cNvPr id="15" name="Text Box 100"/>
          <p:cNvSpPr txBox="1">
            <a:spLocks noChangeArrowheads="1"/>
          </p:cNvSpPr>
          <p:nvPr/>
        </p:nvSpPr>
        <p:spPr bwMode="blackWhite">
          <a:xfrm>
            <a:off x="2195734" y="2527465"/>
            <a:ext cx="5040562" cy="634020"/>
          </a:xfrm>
          <a:prstGeom prst="rect">
            <a:avLst/>
          </a:prstGeom>
          <a:noFill/>
          <a:ln w="12700" algn="ctr">
            <a:noFill/>
            <a:miter lim="800000"/>
            <a:headEnd/>
            <a:tailEnd/>
          </a:ln>
        </p:spPr>
        <p:txBody>
          <a:bodyPr wrap="square">
            <a:spAutoFit/>
          </a:bodyPr>
          <a:lstStyle/>
          <a:p>
            <a:pPr marL="261938" indent="-261938" algn="just">
              <a:spcBef>
                <a:spcPct val="20000"/>
              </a:spcBef>
              <a:buClr>
                <a:schemeClr val="tx1"/>
              </a:buClr>
              <a:buFont typeface="Webdings" pitchFamily="18" charset="2"/>
              <a:buChar char="4"/>
            </a:pPr>
            <a:r>
              <a:rPr lang="es-CL" sz="1600" b="0" dirty="0"/>
              <a:t>Generación de Negocio (</a:t>
            </a:r>
            <a:r>
              <a:rPr lang="es-CL" sz="1600" b="0" dirty="0" err="1"/>
              <a:t>Macroproceso</a:t>
            </a:r>
            <a:r>
              <a:rPr lang="es-CL" sz="1600" b="0" dirty="0"/>
              <a:t>).</a:t>
            </a:r>
          </a:p>
          <a:p>
            <a:pPr marL="261938" indent="-261938" algn="just">
              <a:spcBef>
                <a:spcPct val="20000"/>
              </a:spcBef>
              <a:buClr>
                <a:schemeClr val="tx1"/>
              </a:buClr>
              <a:buFont typeface="Webdings" pitchFamily="18" charset="2"/>
              <a:buChar char="4"/>
            </a:pPr>
            <a:r>
              <a:rPr lang="es-CL" sz="1600" dirty="0"/>
              <a:t>Gestión de Siniestros (todas las línea de negocio).</a:t>
            </a:r>
            <a:endParaRPr lang="es-CL" sz="1600" b="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ctrTitle"/>
          </p:nvPr>
        </p:nvSpPr>
        <p:spPr>
          <a:xfrm>
            <a:off x="-104530" y="2564905"/>
            <a:ext cx="9105686" cy="648071"/>
          </a:xfrm>
        </p:spPr>
        <p:txBody>
          <a:bodyPr>
            <a:noAutofit/>
          </a:bodyPr>
          <a:lstStyle/>
          <a:p>
            <a:r>
              <a:rPr lang="es-PE" sz="2400" dirty="0">
                <a:solidFill>
                  <a:schemeClr val="tx1"/>
                </a:solidFill>
              </a:rPr>
              <a:t>Informe de Resultados del Proyecto GIR</a:t>
            </a:r>
            <a:br>
              <a:rPr lang="es-PE" sz="2400" dirty="0">
                <a:solidFill>
                  <a:schemeClr val="tx1"/>
                </a:solidFill>
              </a:rPr>
            </a:br>
            <a:r>
              <a:rPr lang="es-PE" sz="2000" dirty="0">
                <a:solidFill>
                  <a:schemeClr val="tx1"/>
                </a:solidFill>
              </a:rPr>
              <a:t>Riesgo Operacional y Control Interno</a:t>
            </a:r>
          </a:p>
        </p:txBody>
      </p:sp>
      <p:sp>
        <p:nvSpPr>
          <p:cNvPr id="5" name="4 Subtítulo"/>
          <p:cNvSpPr>
            <a:spLocks noGrp="1"/>
          </p:cNvSpPr>
          <p:nvPr>
            <p:ph type="subTitle" idx="1"/>
          </p:nvPr>
        </p:nvSpPr>
        <p:spPr>
          <a:xfrm>
            <a:off x="1043608" y="3356993"/>
            <a:ext cx="7704856" cy="576063"/>
          </a:xfrm>
        </p:spPr>
        <p:txBody>
          <a:bodyPr>
            <a:noAutofit/>
          </a:bodyPr>
          <a:lstStyle/>
          <a:p>
            <a:r>
              <a:rPr lang="es-PE" sz="1600" dirty="0"/>
              <a:t>Proceso de Administración de Fondos</a:t>
            </a:r>
            <a:br>
              <a:rPr lang="es-PE" sz="1600" dirty="0"/>
            </a:br>
            <a:r>
              <a:rPr lang="es-PE" sz="1600" dirty="0"/>
              <a:t>Proceso de Suscripción Vehicular</a:t>
            </a:r>
            <a:endParaRPr lang="es-ES" sz="1600" dirty="0"/>
          </a:p>
        </p:txBody>
      </p:sp>
      <p:sp>
        <p:nvSpPr>
          <p:cNvPr id="4" name="4 Subtítulo"/>
          <p:cNvSpPr txBox="1">
            <a:spLocks/>
          </p:cNvSpPr>
          <p:nvPr/>
        </p:nvSpPr>
        <p:spPr>
          <a:xfrm>
            <a:off x="1043608" y="5589241"/>
            <a:ext cx="7704856" cy="576063"/>
          </a:xfrm>
          <a:prstGeom prst="rect">
            <a:avLst/>
          </a:prstGeom>
        </p:spPr>
        <p:txBody>
          <a:bodyPr vert="horz" lIns="91440" tIns="45720" rIns="91440" bIns="45720" rtlCol="0">
            <a:noAutofit/>
          </a:bodyPr>
          <a:lstStyle/>
          <a:p>
            <a:pPr marL="0" marR="0" lvl="0" indent="0" algn="r" defTabSz="914400" rtl="0" eaLnBrk="1" fontAlgn="auto" latinLnBrk="0" hangingPunct="1">
              <a:lnSpc>
                <a:spcPct val="100000"/>
              </a:lnSpc>
              <a:spcBef>
                <a:spcPct val="20000"/>
              </a:spcBef>
              <a:spcAft>
                <a:spcPts val="0"/>
              </a:spcAft>
              <a:buClrTx/>
              <a:buSzTx/>
              <a:buFont typeface="Arial" pitchFamily="34" charset="0"/>
              <a:buNone/>
              <a:tabLst/>
              <a:defRPr/>
            </a:pPr>
            <a:r>
              <a:rPr kumimoji="0" lang="es-PE" sz="1600" b="1" i="0" u="none" strike="noStrike" kern="1200" cap="none" spc="0" normalizeH="0" baseline="0" noProof="0" dirty="0">
                <a:ln>
                  <a:noFill/>
                </a:ln>
                <a:solidFill>
                  <a:schemeClr val="tx1"/>
                </a:solidFill>
                <a:effectLst/>
                <a:uLnTx/>
                <a:uFillTx/>
                <a:latin typeface="Arial" pitchFamily="34" charset="0"/>
                <a:ea typeface="+mn-ea"/>
                <a:cs typeface="Arial" pitchFamily="34" charset="0"/>
              </a:rPr>
              <a:t>Gracias por su atención</a:t>
            </a:r>
            <a:endParaRPr kumimoji="0" lang="es-ES" sz="1600" b="1" i="0" u="none" strike="noStrike" kern="1200" cap="none" spc="0" normalizeH="0" baseline="0" noProof="0" dirty="0">
              <a:ln>
                <a:noFill/>
              </a:ln>
              <a:solidFill>
                <a:schemeClr val="tx1"/>
              </a:solidFill>
              <a:effectLst/>
              <a:uLnTx/>
              <a:uFillTx/>
              <a:latin typeface="Arial" pitchFamily="34" charset="0"/>
              <a:ea typeface="+mn-ea"/>
              <a:cs typeface="Arial" pitchFamily="34" charset="0"/>
            </a:endParaRPr>
          </a:p>
        </p:txBody>
      </p:sp>
    </p:spTree>
    <p:extLst>
      <p:ext uri="{BB962C8B-B14F-4D97-AF65-F5344CB8AC3E}">
        <p14:creationId xmlns:p14="http://schemas.microsoft.com/office/powerpoint/2010/main" val="25606331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47625" y="32965"/>
            <a:ext cx="8217470" cy="587723"/>
          </a:xfrm>
        </p:spPr>
        <p:txBody>
          <a:bodyPr/>
          <a:lstStyle/>
          <a:p>
            <a:r>
              <a:rPr lang="es-PE" dirty="0"/>
              <a:t>          Anexos</a:t>
            </a:r>
          </a:p>
        </p:txBody>
      </p:sp>
      <p:sp>
        <p:nvSpPr>
          <p:cNvPr id="11" name="Rounded Rectangle 3">
            <a:hlinkClick r:id="rId2" action="ppaction://hlinksldjump"/>
          </p:cNvPr>
          <p:cNvSpPr/>
          <p:nvPr/>
        </p:nvSpPr>
        <p:spPr>
          <a:xfrm>
            <a:off x="217915" y="146806"/>
            <a:ext cx="470426" cy="360040"/>
          </a:xfrm>
          <a:prstGeom prst="roundRect">
            <a:avLst/>
          </a:prstGeom>
          <a:solidFill>
            <a:srgbClr val="DB0613"/>
          </a:solidFill>
          <a:ln>
            <a:solidFill>
              <a:srgbClr val="A9A9A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PE" sz="1400" b="1" dirty="0"/>
              <a:t>5</a:t>
            </a:r>
            <a:endParaRPr lang="es-ES" sz="1400" b="1"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7" name="Picture 3"/>
          <p:cNvPicPr>
            <a:picLocks noChangeAspect="1" noChangeArrowheads="1"/>
          </p:cNvPicPr>
          <p:nvPr/>
        </p:nvPicPr>
        <p:blipFill>
          <a:blip r:embed="rId2" cstate="print"/>
          <a:srcRect/>
          <a:stretch>
            <a:fillRect/>
          </a:stretch>
        </p:blipFill>
        <p:spPr bwMode="auto">
          <a:xfrm>
            <a:off x="152618" y="1021069"/>
            <a:ext cx="8856984" cy="5104567"/>
          </a:xfrm>
          <a:prstGeom prst="rect">
            <a:avLst/>
          </a:prstGeom>
          <a:noFill/>
          <a:ln w="9525">
            <a:solidFill>
              <a:schemeClr val="tx1">
                <a:lumMod val="50000"/>
                <a:lumOff val="50000"/>
              </a:schemeClr>
            </a:solidFill>
            <a:miter lim="800000"/>
            <a:headEnd/>
            <a:tailEnd/>
          </a:ln>
        </p:spPr>
      </p:pic>
      <p:sp>
        <p:nvSpPr>
          <p:cNvPr id="5" name="TextBox 4"/>
          <p:cNvSpPr txBox="1"/>
          <p:nvPr/>
        </p:nvSpPr>
        <p:spPr>
          <a:xfrm>
            <a:off x="191641" y="656510"/>
            <a:ext cx="8772847" cy="400110"/>
          </a:xfrm>
          <a:prstGeom prst="rect">
            <a:avLst/>
          </a:prstGeom>
          <a:noFill/>
        </p:spPr>
        <p:txBody>
          <a:bodyPr wrap="square" rtlCol="0">
            <a:spAutoFit/>
          </a:bodyPr>
          <a:lstStyle/>
          <a:p>
            <a:pPr algn="ctr"/>
            <a:r>
              <a:rPr lang="es-ES" sz="2000" b="1" dirty="0"/>
              <a:t>Existen 8 macroprocesos y 38 subprocesos</a:t>
            </a:r>
          </a:p>
        </p:txBody>
      </p:sp>
      <p:sp>
        <p:nvSpPr>
          <p:cNvPr id="9" name="Title 1"/>
          <p:cNvSpPr>
            <a:spLocks noGrp="1"/>
          </p:cNvSpPr>
          <p:nvPr>
            <p:ph type="title"/>
          </p:nvPr>
        </p:nvSpPr>
        <p:spPr>
          <a:xfrm>
            <a:off x="47625" y="32965"/>
            <a:ext cx="8217470" cy="587723"/>
          </a:xfrm>
        </p:spPr>
        <p:txBody>
          <a:bodyPr/>
          <a:lstStyle/>
          <a:p>
            <a:r>
              <a:rPr lang="es-ES" dirty="0"/>
              <a:t>Anexo: Mapa de Procesos</a:t>
            </a:r>
          </a:p>
        </p:txBody>
      </p:sp>
      <p:sp>
        <p:nvSpPr>
          <p:cNvPr id="12" name="Rounded Rectangle 31">
            <a:hlinkClick r:id="rId3" action="ppaction://hlinksldjump"/>
          </p:cNvPr>
          <p:cNvSpPr/>
          <p:nvPr/>
        </p:nvSpPr>
        <p:spPr>
          <a:xfrm>
            <a:off x="1638012" y="6322807"/>
            <a:ext cx="1080000" cy="360000"/>
          </a:xfrm>
          <a:prstGeom prst="roundRect">
            <a:avLst/>
          </a:prstGeom>
          <a:solidFill>
            <a:schemeClr val="bg1">
              <a:lumMod val="65000"/>
            </a:schemeClr>
          </a:solidFill>
          <a:ln w="25400" cap="sq" cmpd="sng">
            <a:solidFill>
              <a:schemeClr val="bg1">
                <a:lumMod val="75000"/>
              </a:schemeClr>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L" sz="800" b="1" i="1" dirty="0">
                <a:solidFill>
                  <a:schemeClr val="bg1"/>
                </a:solidFill>
                <a:cs typeface="Arial" pitchFamily="34" charset="0"/>
              </a:rPr>
              <a:t>Resumen Ejecutivo</a:t>
            </a:r>
          </a:p>
        </p:txBody>
      </p:sp>
      <p:grpSp>
        <p:nvGrpSpPr>
          <p:cNvPr id="2" name="18 Grupo"/>
          <p:cNvGrpSpPr/>
          <p:nvPr/>
        </p:nvGrpSpPr>
        <p:grpSpPr>
          <a:xfrm>
            <a:off x="152618" y="1021069"/>
            <a:ext cx="8856000" cy="5104800"/>
            <a:chOff x="152618" y="1021069"/>
            <a:chExt cx="8856000" cy="5104800"/>
          </a:xfrm>
        </p:grpSpPr>
        <p:sp>
          <p:nvSpPr>
            <p:cNvPr id="10" name="9 Elipse"/>
            <p:cNvSpPr/>
            <p:nvPr/>
          </p:nvSpPr>
          <p:spPr>
            <a:xfrm>
              <a:off x="683568" y="2420888"/>
              <a:ext cx="1224136" cy="864096"/>
            </a:xfrm>
            <a:prstGeom prst="ellipse">
              <a:avLst/>
            </a:prstGeom>
            <a:noFill/>
            <a:ln w="38100">
              <a:solidFill>
                <a:srgbClr val="DB061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1" name="10 Elipse"/>
            <p:cNvSpPr/>
            <p:nvPr/>
          </p:nvSpPr>
          <p:spPr>
            <a:xfrm>
              <a:off x="4860032" y="5229200"/>
              <a:ext cx="1224136" cy="864096"/>
            </a:xfrm>
            <a:prstGeom prst="ellipse">
              <a:avLst/>
            </a:prstGeom>
            <a:noFill/>
            <a:ln w="38100">
              <a:solidFill>
                <a:srgbClr val="DB061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8" name="7 Rectángulo"/>
            <p:cNvSpPr/>
            <p:nvPr/>
          </p:nvSpPr>
          <p:spPr>
            <a:xfrm>
              <a:off x="152618" y="1021069"/>
              <a:ext cx="8856000" cy="5104800"/>
            </a:xfrm>
            <a:prstGeom prst="rect">
              <a:avLst/>
            </a:prstGeom>
            <a:no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4" name="13 Rectángulo"/>
            <p:cNvSpPr/>
            <p:nvPr/>
          </p:nvSpPr>
          <p:spPr>
            <a:xfrm>
              <a:off x="179512" y="1066183"/>
              <a:ext cx="8784000" cy="1188000"/>
            </a:xfrm>
            <a:prstGeom prst="rect">
              <a:avLst/>
            </a:prstGeom>
            <a:solidFill>
              <a:schemeClr val="bg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5" name="14 Rectángulo"/>
            <p:cNvSpPr/>
            <p:nvPr/>
          </p:nvSpPr>
          <p:spPr>
            <a:xfrm>
              <a:off x="166065" y="5013324"/>
              <a:ext cx="4693967" cy="1111637"/>
            </a:xfrm>
            <a:prstGeom prst="rect">
              <a:avLst/>
            </a:prstGeom>
            <a:solidFill>
              <a:schemeClr val="bg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6" name="15 Rectángulo"/>
            <p:cNvSpPr/>
            <p:nvPr/>
          </p:nvSpPr>
          <p:spPr>
            <a:xfrm>
              <a:off x="165657" y="3489886"/>
              <a:ext cx="8820000" cy="1512168"/>
            </a:xfrm>
            <a:prstGeom prst="rect">
              <a:avLst/>
            </a:prstGeom>
            <a:solidFill>
              <a:schemeClr val="bg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7" name="16 Rectángulo"/>
            <p:cNvSpPr/>
            <p:nvPr/>
          </p:nvSpPr>
          <p:spPr>
            <a:xfrm>
              <a:off x="3635896" y="2254183"/>
              <a:ext cx="5327616" cy="1235703"/>
            </a:xfrm>
            <a:prstGeom prst="rect">
              <a:avLst/>
            </a:prstGeom>
            <a:solidFill>
              <a:schemeClr val="bg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9"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2000" fill="hold"/>
                                        <p:tgtEl>
                                          <p:spTgt spid="2"/>
                                        </p:tgtEl>
                                        <p:attrNameLst>
                                          <p:attrName>ppt_x</p:attrName>
                                        </p:attrNameLst>
                                      </p:cBhvr>
                                      <p:tavLst>
                                        <p:tav tm="0">
                                          <p:val>
                                            <p:strVal val="#ppt_x-.2"/>
                                          </p:val>
                                        </p:tav>
                                        <p:tav tm="100000">
                                          <p:val>
                                            <p:strVal val="#ppt_x"/>
                                          </p:val>
                                        </p:tav>
                                      </p:tavLst>
                                    </p:anim>
                                    <p:anim calcmode="lin" valueType="num">
                                      <p:cBhvr>
                                        <p:cTn id="8" dur="2000" fill="hold"/>
                                        <p:tgtEl>
                                          <p:spTgt spid="2"/>
                                        </p:tgtEl>
                                        <p:attrNameLst>
                                          <p:attrName>ppt_y</p:attrName>
                                        </p:attrNameLst>
                                      </p:cBhvr>
                                      <p:tavLst>
                                        <p:tav tm="0">
                                          <p:val>
                                            <p:strVal val="#ppt_y"/>
                                          </p:val>
                                        </p:tav>
                                        <p:tav tm="100000">
                                          <p:val>
                                            <p:strVal val="#ppt_y"/>
                                          </p:val>
                                        </p:tav>
                                      </p:tavLst>
                                    </p:anim>
                                    <p:animEffect transition="in" filter="wipe(right)" prLst="gradientSize: 0.1">
                                      <p:cBhvr>
                                        <p:cTn id="9" dur="2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dirty="0"/>
              <a:t>Anexo: Visión Global de Riesgos</a:t>
            </a:r>
          </a:p>
        </p:txBody>
      </p:sp>
      <p:sp>
        <p:nvSpPr>
          <p:cNvPr id="9" name="Rounded Rectangle 8"/>
          <p:cNvSpPr/>
          <p:nvPr/>
        </p:nvSpPr>
        <p:spPr>
          <a:xfrm>
            <a:off x="203446" y="1484784"/>
            <a:ext cx="8676000" cy="288032"/>
          </a:xfrm>
          <a:prstGeom prst="roundRect">
            <a:avLst/>
          </a:prstGeom>
          <a:solidFill>
            <a:srgbClr val="DB0613"/>
          </a:solidFill>
          <a:ln w="9525" algn="ctr">
            <a:noFill/>
            <a:miter lim="800000"/>
            <a:headEnd/>
            <a:tailEnd/>
          </a:ln>
          <a:effectLst/>
        </p:spPr>
        <p:txBody>
          <a:bodyPr anchor="ctr"/>
          <a:lstStyle/>
          <a:p>
            <a:pPr algn="ctr">
              <a:lnSpc>
                <a:spcPct val="80000"/>
              </a:lnSpc>
            </a:pPr>
            <a:r>
              <a:rPr lang="es-CL" sz="1600" b="1" dirty="0">
                <a:solidFill>
                  <a:schemeClr val="bg1"/>
                </a:solidFill>
                <a:latin typeface="+mj-lt"/>
                <a:cs typeface="Arial" pitchFamily="34" charset="0"/>
              </a:rPr>
              <a:t>Distribución de riesgos por Categoría Nivel II</a:t>
            </a:r>
            <a:endParaRPr lang="en-US" sz="1600" b="1" dirty="0">
              <a:solidFill>
                <a:schemeClr val="bg1"/>
              </a:solidFill>
              <a:latin typeface="+mj-lt"/>
              <a:cs typeface="Arial" pitchFamily="34" charset="0"/>
            </a:endParaRPr>
          </a:p>
        </p:txBody>
      </p:sp>
      <p:sp>
        <p:nvSpPr>
          <p:cNvPr id="6" name="AutoShape 179"/>
          <p:cNvSpPr>
            <a:spLocks noChangeArrowheads="1"/>
          </p:cNvSpPr>
          <p:nvPr/>
        </p:nvSpPr>
        <p:spPr bwMode="auto">
          <a:xfrm>
            <a:off x="202172" y="2179415"/>
            <a:ext cx="4114800" cy="2150121"/>
          </a:xfrm>
          <a:prstGeom prst="roundRect">
            <a:avLst>
              <a:gd name="adj" fmla="val 9481"/>
            </a:avLst>
          </a:prstGeom>
          <a:noFill/>
          <a:ln w="12700">
            <a:solidFill>
              <a:schemeClr val="bg1">
                <a:lumMod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s-CL" sz="1200" dirty="0">
              <a:solidFill>
                <a:schemeClr val="bg1">
                  <a:lumMod val="50000"/>
                </a:schemeClr>
              </a:solidFill>
              <a:latin typeface="+mj-lt"/>
            </a:endParaRPr>
          </a:p>
        </p:txBody>
      </p:sp>
      <p:sp>
        <p:nvSpPr>
          <p:cNvPr id="17" name="Rounded Rectangle 31">
            <a:hlinkClick r:id="rId2" action="ppaction://hlinksldjump"/>
          </p:cNvPr>
          <p:cNvSpPr/>
          <p:nvPr/>
        </p:nvSpPr>
        <p:spPr>
          <a:xfrm>
            <a:off x="1638012" y="6322807"/>
            <a:ext cx="1080000" cy="360000"/>
          </a:xfrm>
          <a:prstGeom prst="roundRect">
            <a:avLst/>
          </a:prstGeom>
          <a:solidFill>
            <a:schemeClr val="bg1">
              <a:lumMod val="65000"/>
            </a:schemeClr>
          </a:solidFill>
          <a:ln w="25400" cap="sq" cmpd="sng">
            <a:solidFill>
              <a:schemeClr val="bg1">
                <a:lumMod val="75000"/>
              </a:schemeClr>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L" sz="800" b="1" i="1" dirty="0">
                <a:solidFill>
                  <a:schemeClr val="bg1"/>
                </a:solidFill>
                <a:cs typeface="Arial" pitchFamily="34" charset="0"/>
              </a:rPr>
              <a:t>Resumen Ejecutivo</a:t>
            </a:r>
          </a:p>
        </p:txBody>
      </p:sp>
      <p:sp>
        <p:nvSpPr>
          <p:cNvPr id="18" name="AutoShape 179"/>
          <p:cNvSpPr>
            <a:spLocks noChangeArrowheads="1"/>
          </p:cNvSpPr>
          <p:nvPr/>
        </p:nvSpPr>
        <p:spPr bwMode="auto">
          <a:xfrm>
            <a:off x="4747080" y="2179415"/>
            <a:ext cx="4114800" cy="2150121"/>
          </a:xfrm>
          <a:prstGeom prst="roundRect">
            <a:avLst>
              <a:gd name="adj" fmla="val 9481"/>
            </a:avLst>
          </a:prstGeom>
          <a:noFill/>
          <a:ln w="12700">
            <a:solidFill>
              <a:schemeClr val="bg1">
                <a:lumMod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s-CL" sz="1200" dirty="0">
              <a:solidFill>
                <a:schemeClr val="bg1">
                  <a:lumMod val="50000"/>
                </a:schemeClr>
              </a:solidFill>
              <a:latin typeface="+mj-lt"/>
            </a:endParaRPr>
          </a:p>
        </p:txBody>
      </p:sp>
      <p:sp>
        <p:nvSpPr>
          <p:cNvPr id="12" name="Rectangle 29"/>
          <p:cNvSpPr txBox="1">
            <a:spLocks noChangeArrowheads="1"/>
          </p:cNvSpPr>
          <p:nvPr/>
        </p:nvSpPr>
        <p:spPr bwMode="gray">
          <a:xfrm>
            <a:off x="251520" y="740954"/>
            <a:ext cx="8352928" cy="671822"/>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lang="es-ES_tradnl" b="1" dirty="0">
                <a:solidFill>
                  <a:srgbClr val="4D4D4D"/>
                </a:solidFill>
                <a:latin typeface="+mj-lt"/>
                <a:sym typeface="Wingdings" pitchFamily="2" charset="2"/>
              </a:rPr>
              <a:t>La distribución del riesgo para los procesos analizados, en función a su clasificación por categoría de evento es:</a:t>
            </a:r>
            <a:endParaRPr kumimoji="0" lang="es-ES_tradnl" b="1" i="0" u="none" strike="noStrike" kern="0" cap="none" spc="0" normalizeH="0" baseline="0" noProof="0" dirty="0">
              <a:ln>
                <a:noFill/>
              </a:ln>
              <a:solidFill>
                <a:schemeClr val="hlink"/>
              </a:solidFill>
              <a:effectLst/>
              <a:uLnTx/>
              <a:uFillTx/>
              <a:latin typeface="+mj-lt"/>
              <a:ea typeface="+mj-ea"/>
              <a:cs typeface="+mj-cs"/>
            </a:endParaRPr>
          </a:p>
        </p:txBody>
      </p:sp>
      <p:sp>
        <p:nvSpPr>
          <p:cNvPr id="21" name="Rounded Rectangle 69"/>
          <p:cNvSpPr/>
          <p:nvPr/>
        </p:nvSpPr>
        <p:spPr>
          <a:xfrm>
            <a:off x="549572" y="1804867"/>
            <a:ext cx="3420000" cy="324000"/>
          </a:xfrm>
          <a:prstGeom prst="roundRect">
            <a:avLst/>
          </a:prstGeom>
          <a:solidFill>
            <a:srgbClr val="969696"/>
          </a:solidFill>
          <a:ln w="127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_tradnl" sz="1400" b="1" dirty="0">
                <a:solidFill>
                  <a:schemeClr val="bg1"/>
                </a:solidFill>
                <a:sym typeface="Wingdings" pitchFamily="2" charset="2"/>
              </a:rPr>
              <a:t>Administración de Fondos</a:t>
            </a:r>
            <a:endParaRPr lang="es-CL" sz="1400" b="1" dirty="0">
              <a:solidFill>
                <a:schemeClr val="bg1"/>
              </a:solidFill>
            </a:endParaRPr>
          </a:p>
        </p:txBody>
      </p:sp>
      <p:sp>
        <p:nvSpPr>
          <p:cNvPr id="23" name="Rounded Rectangle 69"/>
          <p:cNvSpPr/>
          <p:nvPr/>
        </p:nvSpPr>
        <p:spPr>
          <a:xfrm>
            <a:off x="5094480" y="1804867"/>
            <a:ext cx="3420000" cy="324000"/>
          </a:xfrm>
          <a:prstGeom prst="roundRect">
            <a:avLst/>
          </a:prstGeom>
          <a:solidFill>
            <a:srgbClr val="969696"/>
          </a:solidFill>
          <a:ln w="127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fontAlgn="base">
              <a:spcBef>
                <a:spcPct val="0"/>
              </a:spcBef>
              <a:spcAft>
                <a:spcPct val="0"/>
              </a:spcAft>
              <a:defRPr/>
            </a:pPr>
            <a:r>
              <a:rPr lang="es-ES_tradnl" sz="1400" b="1" dirty="0">
                <a:solidFill>
                  <a:schemeClr val="bg1"/>
                </a:solidFill>
                <a:sym typeface="Wingdings" pitchFamily="2" charset="2"/>
              </a:rPr>
              <a:t>Suscripción Vehicular</a:t>
            </a:r>
          </a:p>
        </p:txBody>
      </p:sp>
      <p:sp>
        <p:nvSpPr>
          <p:cNvPr id="19" name="Rounded Rectangle 8"/>
          <p:cNvSpPr/>
          <p:nvPr/>
        </p:nvSpPr>
        <p:spPr>
          <a:xfrm>
            <a:off x="203446" y="4437112"/>
            <a:ext cx="8676000" cy="288032"/>
          </a:xfrm>
          <a:prstGeom prst="roundRect">
            <a:avLst/>
          </a:prstGeom>
          <a:solidFill>
            <a:srgbClr val="DB0613"/>
          </a:solidFill>
          <a:ln w="9525" algn="ctr">
            <a:noFill/>
            <a:miter lim="800000"/>
            <a:headEnd/>
            <a:tailEnd/>
          </a:ln>
          <a:effectLst/>
        </p:spPr>
        <p:txBody>
          <a:bodyPr anchor="ctr"/>
          <a:lstStyle/>
          <a:p>
            <a:pPr algn="ctr">
              <a:lnSpc>
                <a:spcPct val="80000"/>
              </a:lnSpc>
            </a:pPr>
            <a:r>
              <a:rPr lang="es-CL" sz="1600" b="1" dirty="0">
                <a:solidFill>
                  <a:schemeClr val="bg1"/>
                </a:solidFill>
                <a:latin typeface="+mj-lt"/>
                <a:cs typeface="Arial" pitchFamily="34" charset="0"/>
              </a:rPr>
              <a:t>Conclusiones</a:t>
            </a:r>
            <a:endParaRPr lang="en-US" sz="1600" b="1" dirty="0">
              <a:solidFill>
                <a:schemeClr val="bg1"/>
              </a:solidFill>
              <a:latin typeface="+mj-lt"/>
              <a:cs typeface="Arial" pitchFamily="34" charset="0"/>
            </a:endParaRPr>
          </a:p>
        </p:txBody>
      </p:sp>
      <p:sp>
        <p:nvSpPr>
          <p:cNvPr id="25" name="Text Box 100"/>
          <p:cNvSpPr txBox="1">
            <a:spLocks noChangeArrowheads="1"/>
          </p:cNvSpPr>
          <p:nvPr/>
        </p:nvSpPr>
        <p:spPr bwMode="blackWhite">
          <a:xfrm>
            <a:off x="302376" y="4725144"/>
            <a:ext cx="8374080" cy="1471172"/>
          </a:xfrm>
          <a:prstGeom prst="rect">
            <a:avLst/>
          </a:prstGeom>
          <a:noFill/>
          <a:ln w="12700" algn="ctr">
            <a:noFill/>
            <a:miter lim="800000"/>
            <a:headEnd/>
            <a:tailEnd/>
          </a:ln>
        </p:spPr>
        <p:txBody>
          <a:bodyPr wrap="square">
            <a:spAutoFit/>
          </a:bodyPr>
          <a:lstStyle/>
          <a:p>
            <a:pPr marL="261938" indent="-261938" algn="just">
              <a:spcBef>
                <a:spcPct val="20000"/>
              </a:spcBef>
              <a:buClr>
                <a:schemeClr val="tx1"/>
              </a:buClr>
              <a:buFont typeface="Webdings" pitchFamily="18" charset="2"/>
              <a:buChar char="4"/>
            </a:pPr>
            <a:r>
              <a:rPr lang="es-CL" sz="1400" b="0" dirty="0"/>
              <a:t>En el proceso de </a:t>
            </a:r>
            <a:r>
              <a:rPr lang="es-CL" sz="1400" b="1" dirty="0"/>
              <a:t>Suscripción Vehicular</a:t>
            </a:r>
            <a:r>
              <a:rPr lang="es-CL" sz="1400" b="0" dirty="0"/>
              <a:t>, el mayor riesgo se concentra en la categoría </a:t>
            </a:r>
            <a:r>
              <a:rPr lang="es-CL" sz="1400" b="1" dirty="0"/>
              <a:t>Distribuidores y Proveedores. 33.3%</a:t>
            </a:r>
          </a:p>
          <a:p>
            <a:pPr marL="261938" indent="-261938" algn="just">
              <a:spcBef>
                <a:spcPct val="20000"/>
              </a:spcBef>
              <a:buClr>
                <a:schemeClr val="tx1"/>
              </a:buClr>
              <a:buFont typeface="Webdings" pitchFamily="18" charset="2"/>
              <a:buChar char="4"/>
            </a:pPr>
            <a:r>
              <a:rPr lang="es-CL" sz="1400" dirty="0"/>
              <a:t>La categoría de </a:t>
            </a:r>
            <a:r>
              <a:rPr lang="es-CL" sz="1400" b="1" dirty="0"/>
              <a:t>Recepción, Ejecución  y Mantenimiento de Operaciones</a:t>
            </a:r>
            <a:r>
              <a:rPr lang="es-CL" sz="1400" dirty="0"/>
              <a:t> concentra un </a:t>
            </a:r>
            <a:r>
              <a:rPr lang="es-CL" sz="1400" b="1" dirty="0"/>
              <a:t>alto porcentaje del riesgo en ambos procesos</a:t>
            </a:r>
            <a:r>
              <a:rPr lang="es-CL" sz="1400" dirty="0"/>
              <a:t>.  54.8% para Administración de Fondos y 27.8% para Suscripción Vehicular.</a:t>
            </a:r>
          </a:p>
          <a:p>
            <a:pPr marL="261938" indent="-261938" algn="just">
              <a:spcBef>
                <a:spcPct val="20000"/>
              </a:spcBef>
              <a:buClr>
                <a:schemeClr val="tx1"/>
              </a:buClr>
              <a:buFont typeface="Webdings" pitchFamily="18" charset="2"/>
              <a:buChar char="4"/>
            </a:pPr>
            <a:r>
              <a:rPr lang="es-CL" sz="1400" dirty="0"/>
              <a:t>Otra categoría a tener en cuenta son las </a:t>
            </a:r>
            <a:r>
              <a:rPr lang="es-CL" sz="1400" b="1" dirty="0"/>
              <a:t>Fallas en Sistemas</a:t>
            </a:r>
            <a:r>
              <a:rPr lang="es-CL" sz="1400" dirty="0"/>
              <a:t>, 19.4% para Administración de Fondos y 16.7% en Suscripción Vehicular.</a:t>
            </a:r>
            <a:endParaRPr lang="es-CL" sz="1400" b="0" dirty="0"/>
          </a:p>
        </p:txBody>
      </p:sp>
      <p:graphicFrame>
        <p:nvGraphicFramePr>
          <p:cNvPr id="29" name="1 Gráfico"/>
          <p:cNvGraphicFramePr/>
          <p:nvPr/>
        </p:nvGraphicFramePr>
        <p:xfrm>
          <a:off x="468000" y="2336281"/>
          <a:ext cx="3657600" cy="183240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30" name="8 Gráfico"/>
          <p:cNvGraphicFramePr/>
          <p:nvPr/>
        </p:nvGraphicFramePr>
        <p:xfrm>
          <a:off x="4932040" y="2348880"/>
          <a:ext cx="3657600" cy="1832400"/>
        </p:xfrm>
        <a:graphic>
          <a:graphicData uri="http://schemas.openxmlformats.org/drawingml/2006/chart">
            <c:chart xmlns:c="http://schemas.openxmlformats.org/drawingml/2006/chart" xmlns:r="http://schemas.openxmlformats.org/officeDocument/2006/relationships" r:id="rId4"/>
          </a:graphicData>
        </a:graphic>
      </p:graphicFrame>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dirty="0"/>
              <a:t>Anexo: Metodología de Evaluación Cualitativa</a:t>
            </a:r>
          </a:p>
        </p:txBody>
      </p:sp>
      <p:sp>
        <p:nvSpPr>
          <p:cNvPr id="4" name="Rectangle 29"/>
          <p:cNvSpPr txBox="1">
            <a:spLocks noChangeArrowheads="1"/>
          </p:cNvSpPr>
          <p:nvPr/>
        </p:nvSpPr>
        <p:spPr bwMode="gray">
          <a:xfrm>
            <a:off x="329862" y="710963"/>
            <a:ext cx="8607330" cy="873125"/>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lang="es-ES_tradnl" sz="1600" b="1" dirty="0">
                <a:solidFill>
                  <a:srgbClr val="4D4D4D"/>
                </a:solidFill>
                <a:latin typeface="+mj-lt"/>
                <a:sym typeface="Wingdings" pitchFamily="2" charset="2"/>
              </a:rPr>
              <a:t>Visión global y características </a:t>
            </a:r>
            <a:r>
              <a:rPr lang="es-ES_tradnl" sz="1600" dirty="0">
                <a:solidFill>
                  <a:srgbClr val="4D4D4D"/>
                </a:solidFill>
                <a:latin typeface="+mj-lt"/>
                <a:sym typeface="Wingdings" pitchFamily="2" charset="2"/>
              </a:rPr>
              <a:t>principales de la </a:t>
            </a:r>
            <a:r>
              <a:rPr lang="es-ES_tradnl" sz="1600" b="1" dirty="0">
                <a:solidFill>
                  <a:srgbClr val="4D4D4D"/>
                </a:solidFill>
                <a:latin typeface="+mj-lt"/>
                <a:sym typeface="Wingdings" pitchFamily="2" charset="2"/>
              </a:rPr>
              <a:t>Metodología de Evaluación </a:t>
            </a:r>
            <a:r>
              <a:rPr lang="es-ES_tradnl" sz="1600" dirty="0">
                <a:solidFill>
                  <a:srgbClr val="4D4D4D"/>
                </a:solidFill>
                <a:latin typeface="+mj-lt"/>
                <a:sym typeface="Wingdings" pitchFamily="2" charset="2"/>
              </a:rPr>
              <a:t>de Riesgos Operacionales  a emplear en Rimac.</a:t>
            </a:r>
            <a:br>
              <a:rPr kumimoji="0" lang="es-ES_tradnl" sz="2200" b="1" i="0" u="none" strike="noStrike" kern="0" cap="none" spc="0" normalizeH="0" baseline="0" noProof="0" dirty="0">
                <a:ln>
                  <a:noFill/>
                </a:ln>
                <a:solidFill>
                  <a:srgbClr val="4B4B4B"/>
                </a:solidFill>
                <a:effectLst/>
                <a:uLnTx/>
                <a:uFillTx/>
                <a:latin typeface="+mj-lt"/>
                <a:ea typeface="+mj-ea"/>
                <a:cs typeface="+mj-cs"/>
              </a:rPr>
            </a:br>
            <a:r>
              <a:rPr kumimoji="0" lang="es-ES_tradnl" sz="1800" b="1" i="0" u="none" strike="noStrike" kern="0" cap="none" spc="0" normalizeH="0" baseline="0" noProof="0" dirty="0">
                <a:ln>
                  <a:noFill/>
                </a:ln>
                <a:solidFill>
                  <a:schemeClr val="hlink"/>
                </a:solidFill>
                <a:effectLst/>
                <a:uLnTx/>
                <a:uFillTx/>
                <a:latin typeface="+mj-lt"/>
                <a:ea typeface="+mj-ea"/>
                <a:cs typeface="+mj-cs"/>
              </a:rPr>
              <a:t> </a:t>
            </a:r>
          </a:p>
        </p:txBody>
      </p:sp>
      <p:sp>
        <p:nvSpPr>
          <p:cNvPr id="5" name="Rectangle 12"/>
          <p:cNvSpPr>
            <a:spLocks noChangeArrowheads="1"/>
          </p:cNvSpPr>
          <p:nvPr/>
        </p:nvSpPr>
        <p:spPr bwMode="auto">
          <a:xfrm>
            <a:off x="1304617" y="1651472"/>
            <a:ext cx="6553200" cy="4052887"/>
          </a:xfrm>
          <a:prstGeom prst="rect">
            <a:avLst/>
          </a:prstGeom>
          <a:noFill/>
          <a:ln w="9525" algn="ctr">
            <a:solidFill>
              <a:srgbClr val="99A8C3"/>
            </a:solidFill>
            <a:miter lim="800000"/>
            <a:headEnd/>
            <a:tailEnd/>
          </a:ln>
          <a:effectLst/>
        </p:spPr>
        <p:txBody>
          <a:bodyPr wrap="none" lIns="90000" tIns="46800" rIns="90000" bIns="4680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6" name="Rectangle 13"/>
          <p:cNvSpPr>
            <a:spLocks noChangeArrowheads="1"/>
          </p:cNvSpPr>
          <p:nvPr/>
        </p:nvSpPr>
        <p:spPr bwMode="auto">
          <a:xfrm>
            <a:off x="1655454" y="2008659"/>
            <a:ext cx="5913438" cy="3530600"/>
          </a:xfrm>
          <a:prstGeom prst="rect">
            <a:avLst/>
          </a:prstGeom>
          <a:solidFill>
            <a:srgbClr val="969696"/>
          </a:solidFill>
          <a:ln w="25400">
            <a:solidFill>
              <a:srgbClr val="002060"/>
            </a:solidFill>
            <a:miter lim="800000"/>
            <a:headEnd/>
            <a:tailEnd/>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effectLst/>
              <a:uLnTx/>
              <a:uFillTx/>
            </a:endParaRPr>
          </a:p>
        </p:txBody>
      </p:sp>
      <p:sp>
        <p:nvSpPr>
          <p:cNvPr id="7" name="Rectangle 14"/>
          <p:cNvSpPr>
            <a:spLocks noChangeArrowheads="1"/>
          </p:cNvSpPr>
          <p:nvPr/>
        </p:nvSpPr>
        <p:spPr bwMode="auto">
          <a:xfrm>
            <a:off x="1658629" y="2010247"/>
            <a:ext cx="2814638" cy="646112"/>
          </a:xfrm>
          <a:prstGeom prst="rect">
            <a:avLst/>
          </a:prstGeom>
          <a:noFill/>
          <a:ln w="9525">
            <a:noFill/>
            <a:miter lim="800000"/>
            <a:headEnd/>
            <a:tailEnd/>
          </a:ln>
          <a:effectLst/>
        </p:spPr>
        <p:txBody>
          <a:bodyPr lIns="0" rIns="0"/>
          <a:lstStyle/>
          <a:p>
            <a:pPr marL="0" marR="0" lvl="0" indent="0" algn="ctr" defTabSz="914400" eaLnBrk="1" fontAlgn="auto" latinLnBrk="0" hangingPunct="1">
              <a:lnSpc>
                <a:spcPct val="110000"/>
              </a:lnSpc>
              <a:spcBef>
                <a:spcPct val="30000"/>
              </a:spcBef>
              <a:spcAft>
                <a:spcPts val="0"/>
              </a:spcAft>
              <a:buClrTx/>
              <a:buSzTx/>
              <a:buFontTx/>
              <a:buNone/>
              <a:tabLst/>
              <a:defRPr/>
            </a:pPr>
            <a:r>
              <a:rPr kumimoji="0" lang="es-ES" sz="1600" b="1" i="0" u="none" strike="noStrike" kern="0" cap="none" spc="0" normalizeH="0" baseline="0" noProof="0" dirty="0">
                <a:ln>
                  <a:noFill/>
                </a:ln>
                <a:effectLst/>
                <a:uLnTx/>
                <a:uFillTx/>
              </a:rPr>
              <a:t>¿Qué se evalúa?</a:t>
            </a:r>
          </a:p>
          <a:p>
            <a:pPr marL="355600" marR="0" lvl="1" indent="-161925" defTabSz="914400" eaLnBrk="1" fontAlgn="auto" latinLnBrk="0" hangingPunct="1">
              <a:lnSpc>
                <a:spcPct val="110000"/>
              </a:lnSpc>
              <a:spcBef>
                <a:spcPct val="30000"/>
              </a:spcBef>
              <a:spcAft>
                <a:spcPts val="0"/>
              </a:spcAft>
              <a:buClrTx/>
              <a:buSzTx/>
              <a:buFontTx/>
              <a:buChar char="•"/>
              <a:tabLst/>
              <a:defRPr/>
            </a:pPr>
            <a:r>
              <a:rPr kumimoji="0" lang="es-ES" sz="1400" b="1" i="0" u="sng" strike="noStrike" kern="0" cap="none" spc="0" normalizeH="0" baseline="0" noProof="0" dirty="0">
                <a:ln>
                  <a:noFill/>
                </a:ln>
                <a:effectLst/>
                <a:uLnTx/>
                <a:uFillTx/>
              </a:rPr>
              <a:t>Evaluar riesgos</a:t>
            </a:r>
            <a:r>
              <a:rPr kumimoji="0" lang="es-ES" sz="1400" b="1" i="0" u="none" strike="noStrike" kern="0" cap="none" spc="0" normalizeH="0" baseline="0" noProof="0" dirty="0">
                <a:ln>
                  <a:noFill/>
                </a:ln>
                <a:effectLst/>
                <a:uLnTx/>
                <a:uFillTx/>
              </a:rPr>
              <a:t> </a:t>
            </a:r>
            <a:r>
              <a:rPr kumimoji="0" lang="es-ES" sz="1400" b="0" i="0" u="none" strike="noStrike" kern="0" cap="none" spc="0" normalizeH="0" baseline="0" noProof="0" dirty="0">
                <a:ln>
                  <a:noFill/>
                </a:ln>
                <a:effectLst/>
                <a:uLnTx/>
                <a:uFillTx/>
              </a:rPr>
              <a:t>(y complementariamente los controles)</a:t>
            </a:r>
            <a:endParaRPr kumimoji="0" lang="es-ES" sz="1400" b="0" i="0" u="sng" strike="noStrike" kern="0" cap="none" spc="0" normalizeH="0" baseline="0" noProof="0" dirty="0">
              <a:ln>
                <a:noFill/>
              </a:ln>
              <a:effectLst/>
              <a:uLnTx/>
              <a:uFillTx/>
            </a:endParaRPr>
          </a:p>
          <a:p>
            <a:pPr marL="355600" marR="0" lvl="1" indent="-161925" defTabSz="914400" eaLnBrk="1" fontAlgn="auto" latinLnBrk="0" hangingPunct="1">
              <a:lnSpc>
                <a:spcPct val="110000"/>
              </a:lnSpc>
              <a:spcBef>
                <a:spcPct val="30000"/>
              </a:spcBef>
              <a:spcAft>
                <a:spcPts val="0"/>
              </a:spcAft>
              <a:buClrTx/>
              <a:buSzTx/>
              <a:buFontTx/>
              <a:buChar char="•"/>
              <a:tabLst/>
              <a:defRPr/>
            </a:pPr>
            <a:r>
              <a:rPr kumimoji="0" lang="es-ES" sz="1400" b="0" i="0" u="none" strike="noStrike" kern="0" cap="none" spc="0" normalizeH="0" baseline="0" noProof="0" dirty="0">
                <a:ln>
                  <a:noFill/>
                </a:ln>
                <a:effectLst/>
                <a:uLnTx/>
                <a:uFillTx/>
              </a:rPr>
              <a:t>Evaluar la eficacia del entorno de control</a:t>
            </a:r>
          </a:p>
        </p:txBody>
      </p:sp>
      <p:sp>
        <p:nvSpPr>
          <p:cNvPr id="8" name="Line 15"/>
          <p:cNvSpPr>
            <a:spLocks noChangeShapeType="1"/>
          </p:cNvSpPr>
          <p:nvPr/>
        </p:nvSpPr>
        <p:spPr bwMode="auto">
          <a:xfrm>
            <a:off x="4544704" y="2008659"/>
            <a:ext cx="0" cy="3530600"/>
          </a:xfrm>
          <a:prstGeom prst="line">
            <a:avLst/>
          </a:prstGeom>
          <a:noFill/>
          <a:ln w="9525" algn="ctr">
            <a:solidFill>
              <a:srgbClr val="99A8C3"/>
            </a:solidFill>
            <a:miter lim="800000"/>
            <a:headEnd/>
            <a:tailEnd/>
          </a:ln>
          <a:effectLst/>
        </p:spPr>
        <p:txBody>
          <a:bodyPr wrap="none" lIns="90000" tIns="46800" rIns="90000" bIns="46800" anchor="ctr"/>
          <a:lstStyle/>
          <a:p>
            <a:pPr marR="0" lvl="0" indent="0" fontAlgn="auto">
              <a:lnSpc>
                <a:spcPct val="100000"/>
              </a:lnSpc>
              <a:spcBef>
                <a:spcPts val="0"/>
              </a:spcBef>
              <a:spcAft>
                <a:spcPts val="0"/>
              </a:spcAft>
              <a:buClrTx/>
              <a:buSzTx/>
              <a:buFontTx/>
              <a:buNone/>
              <a:tabLst/>
              <a:defRPr/>
            </a:pPr>
            <a:endParaRPr lang="en-US" kern="0" dirty="0"/>
          </a:p>
        </p:txBody>
      </p:sp>
      <p:sp>
        <p:nvSpPr>
          <p:cNvPr id="9" name="Line 16"/>
          <p:cNvSpPr>
            <a:spLocks noChangeShapeType="1"/>
          </p:cNvSpPr>
          <p:nvPr/>
        </p:nvSpPr>
        <p:spPr bwMode="auto">
          <a:xfrm>
            <a:off x="1376054" y="3773959"/>
            <a:ext cx="6418263" cy="0"/>
          </a:xfrm>
          <a:prstGeom prst="line">
            <a:avLst/>
          </a:prstGeom>
          <a:noFill/>
          <a:ln w="9525" algn="ctr">
            <a:solidFill>
              <a:srgbClr val="99A8C3"/>
            </a:solidFill>
            <a:miter lim="800000"/>
            <a:headEnd/>
            <a:tailEnd/>
          </a:ln>
          <a:effectLst/>
        </p:spPr>
        <p:txBody>
          <a:bodyPr wrap="none" lIns="90000" tIns="46800" rIns="90000" bIns="46800" anchor="ctr"/>
          <a:lstStyle/>
          <a:p>
            <a:pPr>
              <a:defRPr/>
            </a:pPr>
            <a:endParaRPr lang="en-US" kern="0" dirty="0">
              <a:solidFill>
                <a:sysClr val="windowText" lastClr="000000"/>
              </a:solidFill>
            </a:endParaRPr>
          </a:p>
        </p:txBody>
      </p:sp>
      <p:sp>
        <p:nvSpPr>
          <p:cNvPr id="10" name="Rectangle 17"/>
          <p:cNvSpPr>
            <a:spLocks noChangeArrowheads="1"/>
          </p:cNvSpPr>
          <p:nvPr/>
        </p:nvSpPr>
        <p:spPr bwMode="auto">
          <a:xfrm>
            <a:off x="4473267" y="2010247"/>
            <a:ext cx="2930525" cy="646112"/>
          </a:xfrm>
          <a:prstGeom prst="rect">
            <a:avLst/>
          </a:prstGeom>
          <a:noFill/>
          <a:ln w="9525">
            <a:noFill/>
            <a:miter lim="800000"/>
            <a:headEnd/>
            <a:tailEnd/>
          </a:ln>
          <a:effectLst/>
        </p:spPr>
        <p:txBody>
          <a:bodyPr lIns="0" rIns="0"/>
          <a:lstStyle/>
          <a:p>
            <a:pPr marL="0" marR="0" lvl="0" indent="0" algn="ctr" defTabSz="914400" eaLnBrk="1" fontAlgn="auto" latinLnBrk="0" hangingPunct="1">
              <a:lnSpc>
                <a:spcPct val="110000"/>
              </a:lnSpc>
              <a:spcBef>
                <a:spcPct val="30000"/>
              </a:spcBef>
              <a:spcAft>
                <a:spcPts val="0"/>
              </a:spcAft>
              <a:buClrTx/>
              <a:buSzTx/>
              <a:buFontTx/>
              <a:buNone/>
              <a:tabLst/>
              <a:defRPr/>
            </a:pPr>
            <a:r>
              <a:rPr kumimoji="0" lang="es-ES" sz="1600" b="1" i="0" u="none" strike="noStrike" kern="0" cap="none" spc="0" normalizeH="0" baseline="0" noProof="0" dirty="0">
                <a:ln>
                  <a:noFill/>
                </a:ln>
                <a:effectLst/>
                <a:uLnTx/>
                <a:uFillTx/>
              </a:rPr>
              <a:t>¿Cómo se evalúa el riesgo?</a:t>
            </a:r>
          </a:p>
          <a:p>
            <a:pPr marL="355600" marR="0" lvl="1" indent="-161925" defTabSz="914400" eaLnBrk="1" fontAlgn="auto" latinLnBrk="0" hangingPunct="1">
              <a:lnSpc>
                <a:spcPct val="110000"/>
              </a:lnSpc>
              <a:spcBef>
                <a:spcPct val="30000"/>
              </a:spcBef>
              <a:spcAft>
                <a:spcPts val="0"/>
              </a:spcAft>
              <a:buClrTx/>
              <a:buSzTx/>
              <a:buFontTx/>
              <a:buChar char="•"/>
              <a:tabLst/>
              <a:defRPr/>
            </a:pPr>
            <a:r>
              <a:rPr kumimoji="0" lang="es-ES" sz="1400" b="0" i="0" u="none" strike="noStrike" kern="0" cap="none" spc="0" normalizeH="0" baseline="0" noProof="0" dirty="0">
                <a:ln>
                  <a:noFill/>
                </a:ln>
                <a:effectLst/>
                <a:uLnTx/>
                <a:uFillTx/>
              </a:rPr>
              <a:t>Directa </a:t>
            </a:r>
            <a:r>
              <a:rPr kumimoji="0" lang="es-ES" sz="1400" b="0" i="0" u="none" strike="noStrike" kern="0" cap="none" spc="0" normalizeH="0" baseline="0" noProof="0" dirty="0">
                <a:ln>
                  <a:noFill/>
                </a:ln>
                <a:effectLst/>
                <a:uLnTx/>
                <a:uFillTx/>
                <a:sym typeface="Wingdings" pitchFamily="2" charset="2"/>
              </a:rPr>
              <a:t></a:t>
            </a:r>
            <a:r>
              <a:rPr kumimoji="0" lang="es-ES" sz="1400" b="0" i="0" u="none" strike="noStrike" kern="0" cap="none" spc="0" normalizeH="0" baseline="0" noProof="0" dirty="0">
                <a:ln>
                  <a:noFill/>
                </a:ln>
                <a:effectLst/>
                <a:uLnTx/>
                <a:uFillTx/>
              </a:rPr>
              <a:t> </a:t>
            </a:r>
            <a:r>
              <a:rPr kumimoji="0" lang="es-ES" sz="1400" b="1" i="0" u="sng" strike="noStrike" kern="0" cap="none" spc="0" normalizeH="0" baseline="0" noProof="0" dirty="0">
                <a:ln>
                  <a:noFill/>
                </a:ln>
                <a:effectLst/>
                <a:uLnTx/>
                <a:uFillTx/>
              </a:rPr>
              <a:t>Riesgo real existente</a:t>
            </a:r>
            <a:r>
              <a:rPr kumimoji="0" lang="es-ES" sz="1400" b="0" i="0" u="none" strike="noStrike" kern="0" cap="none" spc="0" normalizeH="0" baseline="0" noProof="0" dirty="0">
                <a:ln>
                  <a:noFill/>
                </a:ln>
                <a:effectLst/>
                <a:uLnTx/>
                <a:uFillTx/>
              </a:rPr>
              <a:t>, considerando controles</a:t>
            </a:r>
          </a:p>
          <a:p>
            <a:pPr marL="355600" marR="0" lvl="1" indent="-161925" defTabSz="914400" eaLnBrk="1" fontAlgn="auto" latinLnBrk="0" hangingPunct="1">
              <a:lnSpc>
                <a:spcPct val="110000"/>
              </a:lnSpc>
              <a:spcBef>
                <a:spcPct val="30000"/>
              </a:spcBef>
              <a:spcAft>
                <a:spcPts val="0"/>
              </a:spcAft>
              <a:buClrTx/>
              <a:buSzTx/>
              <a:buFontTx/>
              <a:buChar char="•"/>
              <a:tabLst/>
              <a:defRPr/>
            </a:pPr>
            <a:r>
              <a:rPr kumimoji="0" lang="es-ES" sz="1400" b="0" i="0" u="none" strike="noStrike" kern="0" cap="none" spc="0" normalizeH="0" baseline="0" noProof="0" dirty="0">
                <a:ln>
                  <a:noFill/>
                </a:ln>
                <a:effectLst/>
                <a:uLnTx/>
                <a:uFillTx/>
              </a:rPr>
              <a:t>Riesgo inherente y mitigación por la efectividad del control</a:t>
            </a:r>
          </a:p>
        </p:txBody>
      </p:sp>
      <p:sp>
        <p:nvSpPr>
          <p:cNvPr id="11" name="Rectangle 18"/>
          <p:cNvSpPr>
            <a:spLocks noChangeArrowheads="1"/>
          </p:cNvSpPr>
          <p:nvPr/>
        </p:nvSpPr>
        <p:spPr bwMode="auto">
          <a:xfrm>
            <a:off x="1547504" y="3812059"/>
            <a:ext cx="2997200" cy="646113"/>
          </a:xfrm>
          <a:prstGeom prst="rect">
            <a:avLst/>
          </a:prstGeom>
          <a:noFill/>
          <a:ln w="9525">
            <a:noFill/>
            <a:miter lim="800000"/>
            <a:headEnd/>
            <a:tailEnd/>
          </a:ln>
          <a:effectLst/>
        </p:spPr>
        <p:txBody>
          <a:bodyPr lIns="0" rIns="0"/>
          <a:lstStyle/>
          <a:p>
            <a:pPr marL="0" marR="0" lvl="0" indent="0" algn="ctr" defTabSz="914400" eaLnBrk="1" fontAlgn="auto" latinLnBrk="0" hangingPunct="1">
              <a:lnSpc>
                <a:spcPct val="110000"/>
              </a:lnSpc>
              <a:spcBef>
                <a:spcPct val="30000"/>
              </a:spcBef>
              <a:spcAft>
                <a:spcPts val="0"/>
              </a:spcAft>
              <a:buClrTx/>
              <a:buSzTx/>
              <a:buFontTx/>
              <a:buNone/>
              <a:tabLst/>
              <a:defRPr/>
            </a:pPr>
            <a:r>
              <a:rPr kumimoji="0" lang="es-ES" sz="1600" b="1" i="0" u="none" strike="noStrike" kern="0" cap="none" spc="0" normalizeH="0" baseline="0" noProof="0" dirty="0">
                <a:ln>
                  <a:noFill/>
                </a:ln>
                <a:effectLst/>
                <a:uLnTx/>
                <a:uFillTx/>
              </a:rPr>
              <a:t>¿Cómo cuantifico?</a:t>
            </a:r>
          </a:p>
          <a:p>
            <a:pPr marL="355600" marR="0" lvl="1" indent="-161925" defTabSz="914400" eaLnBrk="1" fontAlgn="auto" latinLnBrk="0" hangingPunct="1">
              <a:lnSpc>
                <a:spcPct val="110000"/>
              </a:lnSpc>
              <a:spcBef>
                <a:spcPct val="30000"/>
              </a:spcBef>
              <a:spcAft>
                <a:spcPts val="0"/>
              </a:spcAft>
              <a:buClrTx/>
              <a:buSzTx/>
              <a:buFontTx/>
              <a:buChar char="•"/>
              <a:tabLst/>
              <a:defRPr/>
            </a:pPr>
            <a:r>
              <a:rPr kumimoji="0" lang="es-ES" sz="1400" b="1" i="0" u="sng" strike="noStrike" kern="0" cap="none" spc="0" normalizeH="0" baseline="0" noProof="0" dirty="0">
                <a:ln>
                  <a:noFill/>
                </a:ln>
                <a:effectLst/>
                <a:uLnTx/>
                <a:uFillTx/>
              </a:rPr>
              <a:t>Evaluación económica</a:t>
            </a:r>
            <a:r>
              <a:rPr kumimoji="0" lang="es-ES" sz="1400" b="1" i="0" u="none" strike="noStrike" kern="0" cap="none" spc="0" normalizeH="0" baseline="0" noProof="0" dirty="0">
                <a:ln>
                  <a:noFill/>
                </a:ln>
                <a:effectLst/>
                <a:uLnTx/>
                <a:uFillTx/>
              </a:rPr>
              <a:t> </a:t>
            </a:r>
            <a:r>
              <a:rPr kumimoji="0" lang="es-ES" sz="1400" b="0" i="0" u="none" strike="noStrike" kern="0" cap="none" spc="0" normalizeH="0" baseline="0" noProof="0" dirty="0">
                <a:ln>
                  <a:noFill/>
                </a:ln>
                <a:effectLst/>
                <a:uLnTx/>
                <a:uFillTx/>
              </a:rPr>
              <a:t>de los impactos patrimoniales</a:t>
            </a:r>
          </a:p>
          <a:p>
            <a:pPr marL="355600" marR="0" lvl="1" indent="-161925" defTabSz="914400" eaLnBrk="1" fontAlgn="auto" latinLnBrk="0" hangingPunct="1">
              <a:lnSpc>
                <a:spcPct val="110000"/>
              </a:lnSpc>
              <a:spcBef>
                <a:spcPct val="30000"/>
              </a:spcBef>
              <a:spcAft>
                <a:spcPts val="0"/>
              </a:spcAft>
              <a:buClrTx/>
              <a:buSzTx/>
              <a:buFontTx/>
              <a:buChar char="•"/>
              <a:tabLst/>
              <a:defRPr/>
            </a:pPr>
            <a:r>
              <a:rPr kumimoji="0" lang="es-ES" sz="1400" b="0" i="0" u="none" strike="noStrike" kern="0" cap="none" spc="0" normalizeH="0" baseline="0" noProof="0" dirty="0">
                <a:ln>
                  <a:noFill/>
                </a:ln>
                <a:effectLst/>
                <a:uLnTx/>
                <a:uFillTx/>
              </a:rPr>
              <a:t>Evaluación cualitativa (escala por letras o números)</a:t>
            </a:r>
          </a:p>
        </p:txBody>
      </p:sp>
      <p:sp>
        <p:nvSpPr>
          <p:cNvPr id="12" name="Rectangle 19"/>
          <p:cNvSpPr>
            <a:spLocks noChangeArrowheads="1"/>
          </p:cNvSpPr>
          <p:nvPr/>
        </p:nvSpPr>
        <p:spPr bwMode="auto">
          <a:xfrm>
            <a:off x="4473267" y="3813647"/>
            <a:ext cx="2930525" cy="646112"/>
          </a:xfrm>
          <a:prstGeom prst="rect">
            <a:avLst/>
          </a:prstGeom>
          <a:noFill/>
          <a:ln w="9525">
            <a:noFill/>
            <a:miter lim="800000"/>
            <a:headEnd/>
            <a:tailEnd/>
          </a:ln>
          <a:effectLst/>
        </p:spPr>
        <p:txBody>
          <a:bodyPr lIns="0" rIns="0"/>
          <a:lstStyle/>
          <a:p>
            <a:pPr marL="0" marR="0" lvl="0" indent="0" algn="ctr" defTabSz="914400" eaLnBrk="1" fontAlgn="auto" latinLnBrk="0" hangingPunct="1">
              <a:lnSpc>
                <a:spcPct val="110000"/>
              </a:lnSpc>
              <a:spcBef>
                <a:spcPct val="30000"/>
              </a:spcBef>
              <a:spcAft>
                <a:spcPts val="0"/>
              </a:spcAft>
              <a:buClrTx/>
              <a:buSzTx/>
              <a:buFontTx/>
              <a:buNone/>
              <a:tabLst/>
              <a:defRPr/>
            </a:pPr>
            <a:r>
              <a:rPr kumimoji="0" lang="es-ES" sz="1600" b="1" i="0" u="none" strike="noStrike" kern="0" cap="none" spc="0" normalizeH="0" baseline="0" noProof="0" dirty="0">
                <a:ln>
                  <a:noFill/>
                </a:ln>
                <a:effectLst/>
                <a:uLnTx/>
                <a:uFillTx/>
              </a:rPr>
              <a:t>¿Qué variables evalúo?</a:t>
            </a:r>
          </a:p>
          <a:p>
            <a:pPr marL="355600" marR="0" lvl="1" indent="-161925" defTabSz="914400" eaLnBrk="1" fontAlgn="auto" latinLnBrk="0" hangingPunct="1">
              <a:lnSpc>
                <a:spcPct val="110000"/>
              </a:lnSpc>
              <a:spcBef>
                <a:spcPct val="30000"/>
              </a:spcBef>
              <a:spcAft>
                <a:spcPts val="0"/>
              </a:spcAft>
              <a:buClrTx/>
              <a:buSzTx/>
              <a:buFontTx/>
              <a:buChar char="•"/>
              <a:tabLst/>
              <a:defRPr/>
            </a:pPr>
            <a:r>
              <a:rPr kumimoji="0" lang="es-ES" sz="1400" b="0" i="0" u="none" strike="noStrike" kern="0" cap="none" spc="0" normalizeH="0" baseline="0" noProof="0" dirty="0">
                <a:ln>
                  <a:noFill/>
                </a:ln>
                <a:effectLst/>
                <a:uLnTx/>
                <a:uFillTx/>
              </a:rPr>
              <a:t>Un parámetro de frecuencia y un parámetro de severidad</a:t>
            </a:r>
          </a:p>
          <a:p>
            <a:pPr marL="355600" marR="0" lvl="1" indent="-161925" defTabSz="914400" eaLnBrk="1" fontAlgn="auto" latinLnBrk="0" hangingPunct="1">
              <a:lnSpc>
                <a:spcPct val="110000"/>
              </a:lnSpc>
              <a:spcBef>
                <a:spcPct val="30000"/>
              </a:spcBef>
              <a:spcAft>
                <a:spcPts val="0"/>
              </a:spcAft>
              <a:buClrTx/>
              <a:buSzTx/>
              <a:buFontTx/>
              <a:buChar char="•"/>
              <a:tabLst/>
              <a:defRPr/>
            </a:pPr>
            <a:r>
              <a:rPr kumimoji="0" lang="es-ES" sz="1400" b="1" i="0" u="sng" strike="noStrike" kern="0" cap="none" spc="0" normalizeH="0" baseline="0" noProof="0" dirty="0">
                <a:ln>
                  <a:noFill/>
                </a:ln>
                <a:effectLst/>
                <a:uLnTx/>
                <a:uFillTx/>
              </a:rPr>
              <a:t>Un parámetro de frecuencia y </a:t>
            </a:r>
            <a:br>
              <a:rPr kumimoji="0" lang="es-ES" sz="1400" b="1" i="0" u="sng" strike="noStrike" kern="0" cap="none" spc="0" normalizeH="0" baseline="0" noProof="0" dirty="0">
                <a:ln>
                  <a:noFill/>
                </a:ln>
                <a:effectLst/>
                <a:uLnTx/>
                <a:uFillTx/>
              </a:rPr>
            </a:br>
            <a:r>
              <a:rPr kumimoji="0" lang="es-ES" sz="1400" b="1" i="0" u="sng" strike="noStrike" kern="0" cap="none" spc="0" normalizeH="0" baseline="0" noProof="0" dirty="0">
                <a:ln>
                  <a:noFill/>
                </a:ln>
                <a:effectLst/>
                <a:uLnTx/>
                <a:uFillTx/>
              </a:rPr>
              <a:t>2 parámetros de severidad</a:t>
            </a:r>
          </a:p>
        </p:txBody>
      </p:sp>
      <p:sp>
        <p:nvSpPr>
          <p:cNvPr id="13" name="Text Box 20"/>
          <p:cNvSpPr txBox="1">
            <a:spLocks noChangeArrowheads="1"/>
          </p:cNvSpPr>
          <p:nvPr/>
        </p:nvSpPr>
        <p:spPr bwMode="auto">
          <a:xfrm>
            <a:off x="1520517" y="1484784"/>
            <a:ext cx="6192837" cy="365760"/>
          </a:xfrm>
          <a:prstGeom prst="rect">
            <a:avLst/>
          </a:prstGeom>
          <a:solidFill>
            <a:srgbClr val="DB0613"/>
          </a:solidFill>
          <a:ln w="9525" algn="ctr">
            <a:noFill/>
            <a:miter lim="800000"/>
            <a:headEnd/>
            <a:tailEnd/>
          </a:ln>
          <a:effectLst/>
        </p:spPr>
        <p:txBody>
          <a:bodyPr anchor="ctr"/>
          <a:lstStyle/>
          <a:p>
            <a:pPr marL="0" marR="0" lvl="0" indent="0" algn="ctr" defTabSz="914400" eaLnBrk="0" fontAlgn="auto" latinLnBrk="0" hangingPunct="0">
              <a:lnSpc>
                <a:spcPct val="100000"/>
              </a:lnSpc>
              <a:spcBef>
                <a:spcPct val="50000"/>
              </a:spcBef>
              <a:spcAft>
                <a:spcPts val="0"/>
              </a:spcAft>
              <a:buClrTx/>
              <a:buSzTx/>
              <a:buFontTx/>
              <a:buNone/>
              <a:tabLst/>
              <a:defRPr/>
            </a:pPr>
            <a:r>
              <a:rPr kumimoji="0" lang="es-ES" sz="1200" b="1" i="0" u="none" strike="noStrike" kern="0" cap="none" spc="0" normalizeH="0" baseline="0" noProof="0" dirty="0">
                <a:ln>
                  <a:noFill/>
                </a:ln>
                <a:solidFill>
                  <a:schemeClr val="bg1"/>
                </a:solidFill>
                <a:effectLst/>
                <a:uLnTx/>
                <a:uFillTx/>
                <a:cs typeface="Arial" charset="0"/>
              </a:rPr>
              <a:t>ALTERNATIVAS QUE EXISTEN EN EL MERCADO</a:t>
            </a:r>
            <a:br>
              <a:rPr kumimoji="0" lang="es-ES" sz="1200" b="1" i="0" u="none" strike="noStrike" kern="0" cap="none" spc="0" normalizeH="0" baseline="0" noProof="0" dirty="0">
                <a:ln>
                  <a:noFill/>
                </a:ln>
                <a:solidFill>
                  <a:schemeClr val="bg1"/>
                </a:solidFill>
                <a:effectLst/>
                <a:uLnTx/>
                <a:uFillTx/>
                <a:cs typeface="Arial" charset="0"/>
              </a:rPr>
            </a:br>
            <a:r>
              <a:rPr kumimoji="0" lang="es-ES" sz="1200" b="1" i="0" u="none" strike="noStrike" kern="0" cap="none" spc="0" normalizeH="0" baseline="0" noProof="0" dirty="0">
                <a:ln>
                  <a:noFill/>
                </a:ln>
                <a:solidFill>
                  <a:schemeClr val="bg1"/>
                </a:solidFill>
                <a:effectLst/>
                <a:uLnTx/>
                <a:uFillTx/>
                <a:cs typeface="Arial" charset="0"/>
              </a:rPr>
              <a:t> EN LA APLICACIÓN DE METODOLOGÍAS CUALITATIVAS</a:t>
            </a:r>
            <a:endParaRPr kumimoji="0" lang="es-ES_tradnl" sz="1200" b="1" i="0" u="none" strike="noStrike" kern="0" cap="none" spc="0" normalizeH="0" baseline="0" noProof="0" dirty="0">
              <a:ln>
                <a:noFill/>
              </a:ln>
              <a:solidFill>
                <a:schemeClr val="bg1"/>
              </a:solidFill>
              <a:effectLst/>
              <a:uLnTx/>
              <a:uFillTx/>
              <a:cs typeface="Arial" charset="0"/>
            </a:endParaRPr>
          </a:p>
        </p:txBody>
      </p:sp>
      <p:sp>
        <p:nvSpPr>
          <p:cNvPr id="14" name="AutoShape 22"/>
          <p:cNvSpPr>
            <a:spLocks noChangeArrowheads="1"/>
          </p:cNvSpPr>
          <p:nvPr/>
        </p:nvSpPr>
        <p:spPr bwMode="auto">
          <a:xfrm>
            <a:off x="44142" y="2030884"/>
            <a:ext cx="1692275" cy="1081088"/>
          </a:xfrm>
          <a:prstGeom prst="rightArrowCallout">
            <a:avLst>
              <a:gd name="adj1" fmla="val 25083"/>
              <a:gd name="adj2" fmla="val 25000"/>
              <a:gd name="adj3" fmla="val 17081"/>
              <a:gd name="adj4" fmla="val 77440"/>
            </a:avLst>
          </a:prstGeom>
          <a:solidFill>
            <a:srgbClr val="DB0613"/>
          </a:solidFill>
          <a:ln w="9525" algn="ctr">
            <a:noFill/>
            <a:miter lim="800000"/>
            <a:headEnd/>
            <a:tailEnd/>
          </a:ln>
          <a:effectLst/>
        </p:spPr>
        <p:txBody>
          <a:bodyPr tIns="82800"/>
          <a:lstStyle/>
          <a:p>
            <a:pPr marL="0" marR="0" lvl="0" indent="0" algn="ctr" defTabSz="914400" eaLnBrk="1" fontAlgn="auto" latinLnBrk="0" hangingPunct="1">
              <a:lnSpc>
                <a:spcPct val="80000"/>
              </a:lnSpc>
              <a:spcBef>
                <a:spcPts val="0"/>
              </a:spcBef>
              <a:spcAft>
                <a:spcPts val="0"/>
              </a:spcAft>
              <a:buClrTx/>
              <a:buSzTx/>
              <a:buFontTx/>
              <a:buNone/>
              <a:tabLst/>
              <a:defRPr/>
            </a:pPr>
            <a:r>
              <a:rPr kumimoji="0" lang="es-ES" sz="1200" b="0" i="0" u="sng" strike="noStrike" kern="0" cap="none" spc="0" normalizeH="0" baseline="0" noProof="0" dirty="0">
                <a:ln>
                  <a:noFill/>
                </a:ln>
                <a:solidFill>
                  <a:srgbClr val="FFFFFF"/>
                </a:solidFill>
                <a:effectLst/>
                <a:uLnTx/>
                <a:uFillTx/>
              </a:rPr>
              <a:t>Metodología </a:t>
            </a:r>
            <a:r>
              <a:rPr lang="es-ES" sz="1200" u="sng" kern="0" dirty="0">
                <a:solidFill>
                  <a:srgbClr val="FFFFFF"/>
                </a:solidFill>
              </a:rPr>
              <a:t>Rimac</a:t>
            </a:r>
            <a:endParaRPr kumimoji="0" lang="es-ES" sz="1200" b="0" i="0" u="sng" strike="noStrike" kern="0" cap="none" spc="0" normalizeH="0" baseline="0" noProof="0" dirty="0">
              <a:ln>
                <a:noFill/>
              </a:ln>
              <a:solidFill>
                <a:srgbClr val="FFFFFF"/>
              </a:solidFill>
              <a:effectLst/>
              <a:uLnTx/>
              <a:uFillTx/>
            </a:endParaRPr>
          </a:p>
          <a:p>
            <a:pPr marL="0" marR="0" lvl="0" indent="0" algn="ctr" defTabSz="914400" eaLnBrk="1" fontAlgn="auto" latinLnBrk="0" hangingPunct="1">
              <a:lnSpc>
                <a:spcPct val="80000"/>
              </a:lnSpc>
              <a:spcBef>
                <a:spcPts val="0"/>
              </a:spcBef>
              <a:spcAft>
                <a:spcPts val="0"/>
              </a:spcAft>
              <a:buClrTx/>
              <a:buSzTx/>
              <a:buFontTx/>
              <a:buNone/>
              <a:tabLst/>
              <a:defRPr/>
            </a:pPr>
            <a:endParaRPr kumimoji="0" lang="es-ES" sz="1200" b="0" i="0" u="sng" strike="noStrike" kern="0" cap="none" spc="0" normalizeH="0" baseline="0" noProof="0" dirty="0">
              <a:ln>
                <a:noFill/>
              </a:ln>
              <a:solidFill>
                <a:srgbClr val="FFFFFF"/>
              </a:solidFill>
              <a:effectLst/>
              <a:uLnTx/>
              <a:uFillTx/>
            </a:endParaRPr>
          </a:p>
          <a:p>
            <a:pPr marL="0" marR="0" lvl="0" indent="0" algn="ctr" defTabSz="914400" eaLnBrk="1" fontAlgn="auto" latinLnBrk="0" hangingPunct="1">
              <a:lnSpc>
                <a:spcPct val="80000"/>
              </a:lnSpc>
              <a:spcBef>
                <a:spcPts val="0"/>
              </a:spcBef>
              <a:spcAft>
                <a:spcPts val="0"/>
              </a:spcAft>
              <a:buClrTx/>
              <a:buSzTx/>
              <a:buFontTx/>
              <a:buNone/>
              <a:tabLst/>
              <a:defRPr/>
            </a:pPr>
            <a:r>
              <a:rPr kumimoji="0" lang="es-ES_tradnl" sz="1200" b="0" i="0" u="none" strike="noStrike" kern="0" cap="none" spc="0" normalizeH="0" baseline="0" noProof="0" dirty="0">
                <a:ln>
                  <a:noFill/>
                </a:ln>
                <a:solidFill>
                  <a:srgbClr val="FFFFFF"/>
                </a:solidFill>
                <a:effectLst/>
                <a:uLnTx/>
                <a:uFillTx/>
              </a:rPr>
              <a:t>Se pretende medir el </a:t>
            </a:r>
            <a:r>
              <a:rPr kumimoji="0" lang="es-ES_tradnl" sz="1200" b="1" i="0" u="none" strike="noStrike" kern="0" cap="none" spc="0" normalizeH="0" baseline="0" noProof="0" dirty="0">
                <a:ln>
                  <a:noFill/>
                </a:ln>
                <a:solidFill>
                  <a:srgbClr val="FFFFFF"/>
                </a:solidFill>
                <a:effectLst/>
                <a:uLnTx/>
                <a:uFillTx/>
              </a:rPr>
              <a:t>riesgo</a:t>
            </a:r>
            <a:r>
              <a:rPr kumimoji="0" lang="es-ES_tradnl" sz="1200" b="0" i="0" u="none" strike="noStrike" kern="0" cap="none" spc="0" normalizeH="0" baseline="0" noProof="0" dirty="0">
                <a:ln>
                  <a:noFill/>
                </a:ln>
                <a:solidFill>
                  <a:srgbClr val="FFFFFF"/>
                </a:solidFill>
                <a:effectLst/>
                <a:uLnTx/>
                <a:uFillTx/>
              </a:rPr>
              <a:t> como tal</a:t>
            </a:r>
          </a:p>
        </p:txBody>
      </p:sp>
      <p:sp>
        <p:nvSpPr>
          <p:cNvPr id="15" name="AutoShape 23"/>
          <p:cNvSpPr>
            <a:spLocks noChangeArrowheads="1"/>
          </p:cNvSpPr>
          <p:nvPr/>
        </p:nvSpPr>
        <p:spPr bwMode="auto">
          <a:xfrm>
            <a:off x="44142" y="3708872"/>
            <a:ext cx="1692275" cy="1371600"/>
          </a:xfrm>
          <a:prstGeom prst="rightArrowCallout">
            <a:avLst>
              <a:gd name="adj1" fmla="val 25083"/>
              <a:gd name="adj2" fmla="val 25000"/>
              <a:gd name="adj3" fmla="val 14486"/>
              <a:gd name="adj4" fmla="val 77440"/>
            </a:avLst>
          </a:prstGeom>
          <a:solidFill>
            <a:srgbClr val="DB0613"/>
          </a:solidFill>
          <a:ln w="9525" algn="ctr">
            <a:noFill/>
            <a:miter lim="800000"/>
            <a:headEnd/>
            <a:tailEnd/>
          </a:ln>
          <a:effectLst/>
        </p:spPr>
        <p:txBody>
          <a:bodyPr tIns="82800"/>
          <a:lstStyle/>
          <a:p>
            <a:pPr algn="ctr">
              <a:lnSpc>
                <a:spcPct val="80000"/>
              </a:lnSpc>
            </a:pPr>
            <a:r>
              <a:rPr lang="es-ES" sz="1200" u="sng" kern="0" dirty="0">
                <a:solidFill>
                  <a:srgbClr val="FFFFFF"/>
                </a:solidFill>
              </a:rPr>
              <a:t>Metodología Rimac</a:t>
            </a:r>
          </a:p>
          <a:p>
            <a:pPr algn="ctr">
              <a:lnSpc>
                <a:spcPct val="80000"/>
              </a:lnSpc>
            </a:pPr>
            <a:endParaRPr lang="es-ES" sz="1200" u="sng" kern="0" dirty="0">
              <a:solidFill>
                <a:srgbClr val="FFFFFF"/>
              </a:solidFill>
            </a:endParaRPr>
          </a:p>
          <a:p>
            <a:pPr algn="ctr">
              <a:lnSpc>
                <a:spcPct val="80000"/>
              </a:lnSpc>
            </a:pPr>
            <a:r>
              <a:rPr lang="es-ES_tradnl" sz="1200" kern="0" dirty="0">
                <a:solidFill>
                  <a:srgbClr val="FFFFFF"/>
                </a:solidFill>
              </a:rPr>
              <a:t>La medición del riesgo se cuantifica en términos económicos</a:t>
            </a:r>
          </a:p>
        </p:txBody>
      </p:sp>
      <p:sp>
        <p:nvSpPr>
          <p:cNvPr id="16" name="AutoShape 24"/>
          <p:cNvSpPr>
            <a:spLocks noChangeArrowheads="1"/>
          </p:cNvSpPr>
          <p:nvPr/>
        </p:nvSpPr>
        <p:spPr bwMode="auto">
          <a:xfrm flipH="1">
            <a:off x="7365692" y="2102322"/>
            <a:ext cx="1692275" cy="1081087"/>
          </a:xfrm>
          <a:prstGeom prst="rightArrowCallout">
            <a:avLst>
              <a:gd name="adj1" fmla="val 25083"/>
              <a:gd name="adj2" fmla="val 25000"/>
              <a:gd name="adj3" fmla="val 17081"/>
              <a:gd name="adj4" fmla="val 77440"/>
            </a:avLst>
          </a:prstGeom>
          <a:solidFill>
            <a:srgbClr val="DB0613"/>
          </a:solidFill>
          <a:ln w="9525" algn="ctr">
            <a:noFill/>
            <a:miter lim="800000"/>
            <a:headEnd/>
            <a:tailEnd/>
          </a:ln>
          <a:effectLst/>
        </p:spPr>
        <p:txBody>
          <a:bodyPr tIns="82800"/>
          <a:lstStyle/>
          <a:p>
            <a:pPr marL="0" marR="0" lvl="0" indent="0" algn="ctr" defTabSz="914400" eaLnBrk="1" fontAlgn="auto" latinLnBrk="0" hangingPunct="1">
              <a:lnSpc>
                <a:spcPct val="80000"/>
              </a:lnSpc>
              <a:spcBef>
                <a:spcPts val="0"/>
              </a:spcBef>
              <a:spcAft>
                <a:spcPts val="0"/>
              </a:spcAft>
              <a:buClrTx/>
              <a:buSzTx/>
              <a:buFontTx/>
              <a:buNone/>
              <a:tabLst/>
              <a:defRPr/>
            </a:pPr>
            <a:r>
              <a:rPr kumimoji="0" lang="es-ES" sz="1200" b="0" i="0" u="sng" strike="noStrike" kern="0" cap="none" spc="0" normalizeH="0" baseline="0" noProof="0" dirty="0">
                <a:ln>
                  <a:noFill/>
                </a:ln>
                <a:solidFill>
                  <a:srgbClr val="FFFFFF"/>
                </a:solidFill>
                <a:effectLst/>
                <a:uLnTx/>
                <a:uFillTx/>
              </a:rPr>
              <a:t>Metodología </a:t>
            </a:r>
            <a:r>
              <a:rPr lang="es-ES" sz="1200" u="sng" kern="0" noProof="0" dirty="0">
                <a:solidFill>
                  <a:srgbClr val="FFFFFF"/>
                </a:solidFill>
              </a:rPr>
              <a:t>Rimac</a:t>
            </a:r>
            <a:endParaRPr kumimoji="0" lang="es-ES" sz="1200" b="0" i="0" u="sng" strike="noStrike" kern="0" cap="none" spc="0" normalizeH="0" baseline="0" noProof="0" dirty="0">
              <a:ln>
                <a:noFill/>
              </a:ln>
              <a:solidFill>
                <a:srgbClr val="FFFFFF"/>
              </a:solidFill>
              <a:effectLst/>
              <a:uLnTx/>
              <a:uFillTx/>
            </a:endParaRPr>
          </a:p>
          <a:p>
            <a:pPr marL="0" marR="0" lvl="0" indent="0" algn="ctr" defTabSz="914400" eaLnBrk="1" fontAlgn="auto" latinLnBrk="0" hangingPunct="1">
              <a:lnSpc>
                <a:spcPct val="80000"/>
              </a:lnSpc>
              <a:spcBef>
                <a:spcPts val="0"/>
              </a:spcBef>
              <a:spcAft>
                <a:spcPts val="0"/>
              </a:spcAft>
              <a:buClrTx/>
              <a:buSzTx/>
              <a:buFontTx/>
              <a:buNone/>
              <a:tabLst/>
              <a:defRPr/>
            </a:pPr>
            <a:endParaRPr kumimoji="0" lang="es-ES" sz="1200" b="0" i="0" u="sng" strike="noStrike" kern="0" cap="none" spc="0" normalizeH="0" baseline="0" noProof="0" dirty="0">
              <a:ln>
                <a:noFill/>
              </a:ln>
              <a:solidFill>
                <a:srgbClr val="FFFFFF"/>
              </a:solidFill>
              <a:effectLst/>
              <a:uLnTx/>
              <a:uFillTx/>
            </a:endParaRPr>
          </a:p>
          <a:p>
            <a:pPr marL="0" marR="0" lvl="0" indent="0" algn="ctr" defTabSz="914400" eaLnBrk="1" fontAlgn="auto" latinLnBrk="0" hangingPunct="1">
              <a:lnSpc>
                <a:spcPct val="80000"/>
              </a:lnSpc>
              <a:spcBef>
                <a:spcPts val="0"/>
              </a:spcBef>
              <a:spcAft>
                <a:spcPts val="0"/>
              </a:spcAft>
              <a:buClrTx/>
              <a:buSzTx/>
              <a:buFontTx/>
              <a:buNone/>
              <a:tabLst/>
              <a:defRPr/>
            </a:pPr>
            <a:r>
              <a:rPr kumimoji="0" lang="es-ES_tradnl" sz="1200" b="0" i="0" u="none" strike="noStrike" kern="0" cap="none" spc="0" normalizeH="0" baseline="0" noProof="0" dirty="0">
                <a:ln>
                  <a:noFill/>
                </a:ln>
                <a:solidFill>
                  <a:srgbClr val="FFFFFF"/>
                </a:solidFill>
                <a:effectLst/>
                <a:uLnTx/>
                <a:uFillTx/>
              </a:rPr>
              <a:t>Evaluación directa del riesgo “residual”</a:t>
            </a:r>
          </a:p>
        </p:txBody>
      </p:sp>
      <p:sp>
        <p:nvSpPr>
          <p:cNvPr id="17" name="AutoShape 25"/>
          <p:cNvSpPr>
            <a:spLocks noChangeArrowheads="1"/>
          </p:cNvSpPr>
          <p:nvPr/>
        </p:nvSpPr>
        <p:spPr bwMode="auto">
          <a:xfrm flipH="1">
            <a:off x="7365692" y="4262908"/>
            <a:ext cx="1692275" cy="1463040"/>
          </a:xfrm>
          <a:prstGeom prst="rightArrowCallout">
            <a:avLst>
              <a:gd name="adj1" fmla="val 25083"/>
              <a:gd name="adj2" fmla="val 25000"/>
              <a:gd name="adj3" fmla="val 13494"/>
              <a:gd name="adj4" fmla="val 77440"/>
            </a:avLst>
          </a:prstGeom>
          <a:solidFill>
            <a:srgbClr val="DB0613"/>
          </a:solidFill>
          <a:ln w="9525" algn="ctr">
            <a:noFill/>
            <a:miter lim="800000"/>
            <a:headEnd/>
            <a:tailEnd/>
          </a:ln>
          <a:effectLst/>
        </p:spPr>
        <p:txBody>
          <a:bodyPr tIns="82800"/>
          <a:lstStyle/>
          <a:p>
            <a:pPr marL="0" marR="0" lvl="0" indent="0" algn="ctr" defTabSz="914400" eaLnBrk="1" fontAlgn="auto" latinLnBrk="0" hangingPunct="1">
              <a:lnSpc>
                <a:spcPct val="80000"/>
              </a:lnSpc>
              <a:spcBef>
                <a:spcPts val="0"/>
              </a:spcBef>
              <a:spcAft>
                <a:spcPts val="0"/>
              </a:spcAft>
              <a:buClrTx/>
              <a:buSzTx/>
              <a:buFontTx/>
              <a:buNone/>
              <a:tabLst/>
              <a:defRPr/>
            </a:pPr>
            <a:r>
              <a:rPr kumimoji="0" lang="es-ES" sz="1200" b="0" i="0" u="sng" strike="noStrike" kern="0" cap="none" spc="0" normalizeH="0" baseline="0" noProof="0" dirty="0">
                <a:ln>
                  <a:noFill/>
                </a:ln>
                <a:solidFill>
                  <a:srgbClr val="FFFFFF"/>
                </a:solidFill>
                <a:effectLst/>
                <a:uLnTx/>
                <a:uFillTx/>
              </a:rPr>
              <a:t>Metodología </a:t>
            </a:r>
            <a:r>
              <a:rPr lang="es-ES" sz="1200" u="sng" kern="0" dirty="0">
                <a:solidFill>
                  <a:srgbClr val="FFFFFF"/>
                </a:solidFill>
              </a:rPr>
              <a:t>Rimac</a:t>
            </a:r>
            <a:endParaRPr kumimoji="0" lang="es-ES" sz="1200" b="0" i="0" u="sng" strike="noStrike" kern="0" cap="none" spc="0" normalizeH="0" baseline="0" noProof="0" dirty="0">
              <a:ln>
                <a:noFill/>
              </a:ln>
              <a:solidFill>
                <a:srgbClr val="FFFFFF"/>
              </a:solidFill>
              <a:effectLst/>
              <a:uLnTx/>
              <a:uFillTx/>
            </a:endParaRPr>
          </a:p>
          <a:p>
            <a:pPr marL="0" marR="0" lvl="0" indent="0" algn="ctr" defTabSz="914400" eaLnBrk="1" fontAlgn="auto" latinLnBrk="0" hangingPunct="1">
              <a:lnSpc>
                <a:spcPct val="80000"/>
              </a:lnSpc>
              <a:spcBef>
                <a:spcPts val="0"/>
              </a:spcBef>
              <a:spcAft>
                <a:spcPts val="0"/>
              </a:spcAft>
              <a:buClrTx/>
              <a:buSzTx/>
              <a:buFontTx/>
              <a:buNone/>
              <a:tabLst/>
              <a:defRPr/>
            </a:pPr>
            <a:endParaRPr kumimoji="0" lang="es-ES" sz="1200" b="0" i="0" u="sng" strike="noStrike" kern="0" cap="none" spc="0" normalizeH="0" baseline="0" noProof="0" dirty="0">
              <a:ln>
                <a:noFill/>
              </a:ln>
              <a:solidFill>
                <a:srgbClr val="FFFFFF"/>
              </a:solidFill>
              <a:effectLst/>
              <a:uLnTx/>
              <a:uFillTx/>
            </a:endParaRPr>
          </a:p>
          <a:p>
            <a:pPr marL="0" marR="0" lvl="0" indent="0" algn="ctr" defTabSz="914400" eaLnBrk="1" fontAlgn="auto" latinLnBrk="0" hangingPunct="1">
              <a:lnSpc>
                <a:spcPct val="80000"/>
              </a:lnSpc>
              <a:spcBef>
                <a:spcPts val="0"/>
              </a:spcBef>
              <a:spcAft>
                <a:spcPts val="0"/>
              </a:spcAft>
              <a:buClrTx/>
              <a:buSzTx/>
              <a:buFontTx/>
              <a:buNone/>
              <a:tabLst/>
              <a:defRPr/>
            </a:pPr>
            <a:r>
              <a:rPr kumimoji="0" lang="es-ES" sz="1200" b="0" i="0" u="none" strike="noStrike" kern="0" cap="none" spc="0" normalizeH="0" baseline="0" noProof="0" dirty="0">
                <a:ln>
                  <a:noFill/>
                </a:ln>
                <a:solidFill>
                  <a:srgbClr val="FFFFFF"/>
                </a:solidFill>
                <a:effectLst/>
                <a:uLnTx/>
                <a:uFillTx/>
              </a:rPr>
              <a:t>Considerando escenarios “normales” pero también “peores escenarios” de ocurrencia</a:t>
            </a:r>
            <a:endParaRPr kumimoji="0" lang="es-ES_tradnl" sz="1200" b="0" i="0" u="none" strike="noStrike" kern="0" cap="none" spc="0" normalizeH="0" baseline="0" noProof="0" dirty="0">
              <a:ln>
                <a:noFill/>
              </a:ln>
              <a:solidFill>
                <a:srgbClr val="FFFFFF"/>
              </a:solidFill>
              <a:effectLst/>
              <a:uLnTx/>
              <a:uFillTx/>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dirty="0"/>
              <a:t>Anexo: Metodología de Evaluación Cualitativa</a:t>
            </a:r>
          </a:p>
        </p:txBody>
      </p:sp>
      <p:sp>
        <p:nvSpPr>
          <p:cNvPr id="3" name="TextBox 2"/>
          <p:cNvSpPr txBox="1"/>
          <p:nvPr/>
        </p:nvSpPr>
        <p:spPr>
          <a:xfrm>
            <a:off x="755575" y="764704"/>
            <a:ext cx="7509519" cy="1815882"/>
          </a:xfrm>
          <a:prstGeom prst="rect">
            <a:avLst/>
          </a:prstGeom>
          <a:noFill/>
        </p:spPr>
        <p:txBody>
          <a:bodyPr wrap="square" rtlCol="0">
            <a:spAutoFit/>
          </a:bodyPr>
          <a:lstStyle/>
          <a:p>
            <a:r>
              <a:rPr lang="es-ES" sz="1600" dirty="0"/>
              <a:t>Rimac utilizará Metodologías Cualitativas basadas en:</a:t>
            </a:r>
          </a:p>
          <a:p>
            <a:endParaRPr lang="es-ES" sz="1600" dirty="0"/>
          </a:p>
          <a:p>
            <a:pPr marL="342900" indent="-342900" algn="just">
              <a:buClr>
                <a:srgbClr val="DB0613"/>
              </a:buClr>
              <a:buFont typeface="Wingdings" pitchFamily="2" charset="2"/>
              <a:buChar char="ü"/>
            </a:pPr>
            <a:r>
              <a:rPr lang="es-ES" sz="1600" dirty="0"/>
              <a:t>Mapa de riesgos operacionales (MRO), consistente en la identificación y evaluación de riesgos operacionales y controles existentes en los procesos. </a:t>
            </a:r>
          </a:p>
          <a:p>
            <a:pPr marL="342900" indent="-342900" algn="just">
              <a:buClr>
                <a:srgbClr val="DB0613"/>
              </a:buClr>
              <a:buFont typeface="Wingdings" pitchFamily="2" charset="2"/>
              <a:buChar char="ü"/>
            </a:pPr>
            <a:endParaRPr lang="es-ES" sz="1600" dirty="0"/>
          </a:p>
          <a:p>
            <a:pPr marL="342900" indent="-342900" algn="just">
              <a:buClr>
                <a:srgbClr val="DB0613"/>
              </a:buClr>
              <a:buFont typeface="Wingdings" pitchFamily="2" charset="2"/>
              <a:buChar char="ü"/>
            </a:pPr>
            <a:r>
              <a:rPr lang="es-ES" sz="1600" dirty="0"/>
              <a:t>Recopilación y análisis de Indicadores de Riesgo Operacional. </a:t>
            </a:r>
          </a:p>
          <a:p>
            <a:endParaRPr lang="es-ES" sz="1600" dirty="0"/>
          </a:p>
        </p:txBody>
      </p:sp>
      <p:sp>
        <p:nvSpPr>
          <p:cNvPr id="4" name="TextBox 3"/>
          <p:cNvSpPr txBox="1"/>
          <p:nvPr/>
        </p:nvSpPr>
        <p:spPr>
          <a:xfrm>
            <a:off x="755576" y="2420888"/>
            <a:ext cx="7509519" cy="4031873"/>
          </a:xfrm>
          <a:prstGeom prst="rect">
            <a:avLst/>
          </a:prstGeom>
          <a:noFill/>
        </p:spPr>
        <p:txBody>
          <a:bodyPr wrap="square" rtlCol="0">
            <a:spAutoFit/>
          </a:bodyPr>
          <a:lstStyle/>
          <a:p>
            <a:r>
              <a:rPr lang="es-ES" sz="1600" dirty="0"/>
              <a:t>Los criterios cualitativos que una compañía debería cumplir como mínimo para la implantación de esta metodología son: </a:t>
            </a:r>
          </a:p>
          <a:p>
            <a:endParaRPr lang="es-ES" sz="1600" dirty="0"/>
          </a:p>
          <a:p>
            <a:pPr marL="342900" indent="-342900">
              <a:buClr>
                <a:srgbClr val="DB0613"/>
              </a:buClr>
              <a:buFont typeface="Wingdings" pitchFamily="2" charset="2"/>
              <a:buChar char="ü"/>
            </a:pPr>
            <a:r>
              <a:rPr lang="es-ES" sz="1600" dirty="0"/>
              <a:t>Unidad independiente de gestión del riesgo operacional responsable del desarrollo e implantación de la metodología.</a:t>
            </a:r>
          </a:p>
          <a:p>
            <a:pPr marL="342900" indent="-342900">
              <a:buClr>
                <a:srgbClr val="DB0613"/>
              </a:buClr>
              <a:buFont typeface="Wingdings" pitchFamily="2" charset="2"/>
              <a:buChar char="ü"/>
            </a:pPr>
            <a:r>
              <a:rPr lang="es-ES" sz="1600" dirty="0"/>
              <a:t>Sistema de medición interno integrado en los procesos de medición de riesgos de la compañía. </a:t>
            </a:r>
          </a:p>
          <a:p>
            <a:pPr marL="342900" indent="-342900">
              <a:buClr>
                <a:srgbClr val="DB0613"/>
              </a:buClr>
              <a:buFont typeface="Wingdings" pitchFamily="2" charset="2"/>
              <a:buChar char="ü"/>
            </a:pPr>
            <a:r>
              <a:rPr lang="es-ES" sz="1600" dirty="0"/>
              <a:t>La implicación de la Alta Dirección de la entidad en todos los aspectos de importancia en relación a la gestión de riesgos y la planificación de capital.</a:t>
            </a:r>
          </a:p>
          <a:p>
            <a:pPr marL="342900" indent="-342900">
              <a:buClr>
                <a:srgbClr val="DB0613"/>
              </a:buClr>
              <a:buFont typeface="Wingdings" pitchFamily="2" charset="2"/>
              <a:buChar char="ü"/>
            </a:pPr>
            <a:r>
              <a:rPr lang="es-ES" sz="1600" dirty="0"/>
              <a:t>Sistema periódico de “reporting” o información a la Alta Dirección y Consejo de Administración. </a:t>
            </a:r>
          </a:p>
          <a:p>
            <a:pPr marL="342900" indent="-342900">
              <a:buClr>
                <a:srgbClr val="DB0613"/>
              </a:buClr>
              <a:buFont typeface="Wingdings" pitchFamily="2" charset="2"/>
              <a:buChar char="ü"/>
            </a:pPr>
            <a:r>
              <a:rPr lang="es-ES" sz="1600" dirty="0"/>
              <a:t>Sistema suficientemente documentado. </a:t>
            </a:r>
          </a:p>
          <a:p>
            <a:pPr marL="342900" indent="-342900">
              <a:buClr>
                <a:srgbClr val="DB0613"/>
              </a:buClr>
              <a:buFont typeface="Wingdings" pitchFamily="2" charset="2"/>
              <a:buChar char="ü"/>
            </a:pPr>
            <a:r>
              <a:rPr lang="es-ES" sz="1600" dirty="0"/>
              <a:t>Combinar cuatro fuentes de información: Datos internos, Datos externos, Análisis de escenarios y Factores de control y entorno de negocio.</a:t>
            </a:r>
          </a:p>
          <a:p>
            <a:pPr marL="342900" indent="-342900">
              <a:buClr>
                <a:srgbClr val="DB0613"/>
              </a:buClr>
              <a:buFont typeface="Wingdings" pitchFamily="2" charset="2"/>
              <a:buChar char="ü"/>
            </a:pPr>
            <a:endParaRPr lang="es-ES" sz="1600" dirty="0"/>
          </a:p>
          <a:p>
            <a:pPr marL="342900" indent="-342900">
              <a:buClr>
                <a:srgbClr val="DB0613"/>
              </a:buClr>
              <a:buFont typeface="Wingdings" pitchFamily="2" charset="2"/>
              <a:buChar char="ü"/>
            </a:pPr>
            <a:endParaRPr lang="es-ES" sz="16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dirty="0"/>
              <a:t>Anexo: Metodología de Evaluación Cualitativa</a:t>
            </a:r>
          </a:p>
        </p:txBody>
      </p:sp>
      <p:graphicFrame>
        <p:nvGraphicFramePr>
          <p:cNvPr id="5" name="Diagram 4"/>
          <p:cNvGraphicFramePr/>
          <p:nvPr/>
        </p:nvGraphicFramePr>
        <p:xfrm>
          <a:off x="251520" y="836712"/>
          <a:ext cx="8712968" cy="525658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dirty="0"/>
              <a:t>Anexo: Metodología de Evaluación Cualitativa</a:t>
            </a:r>
          </a:p>
        </p:txBody>
      </p:sp>
      <p:sp>
        <p:nvSpPr>
          <p:cNvPr id="4" name="Line 26"/>
          <p:cNvSpPr>
            <a:spLocks noChangeShapeType="1"/>
          </p:cNvSpPr>
          <p:nvPr/>
        </p:nvSpPr>
        <p:spPr bwMode="auto">
          <a:xfrm>
            <a:off x="8901752" y="5818291"/>
            <a:ext cx="0" cy="771525"/>
          </a:xfrm>
          <a:prstGeom prst="line">
            <a:avLst/>
          </a:prstGeom>
          <a:noFill/>
          <a:ln w="28575" cap="sq">
            <a:noFill/>
            <a:round/>
            <a:headEnd/>
            <a:tailEnd/>
          </a:ln>
        </p:spPr>
        <p:txBody>
          <a:bodyPr lIns="95782" tIns="47891" rIns="95782" bIns="47891"/>
          <a:lstStyle/>
          <a:p>
            <a:endParaRPr lang="es-ES" dirty="0"/>
          </a:p>
        </p:txBody>
      </p:sp>
      <p:sp>
        <p:nvSpPr>
          <p:cNvPr id="5" name="Line 29"/>
          <p:cNvSpPr>
            <a:spLocks noChangeShapeType="1"/>
          </p:cNvSpPr>
          <p:nvPr/>
        </p:nvSpPr>
        <p:spPr bwMode="auto">
          <a:xfrm>
            <a:off x="4939352" y="6589816"/>
            <a:ext cx="3962400" cy="0"/>
          </a:xfrm>
          <a:prstGeom prst="line">
            <a:avLst/>
          </a:prstGeom>
          <a:noFill/>
          <a:ln w="28575" cap="sq">
            <a:noFill/>
            <a:round/>
            <a:headEnd/>
            <a:tailEnd/>
          </a:ln>
        </p:spPr>
        <p:txBody>
          <a:bodyPr lIns="95782" tIns="47891" rIns="95782" bIns="47891"/>
          <a:lstStyle/>
          <a:p>
            <a:endParaRPr lang="es-ES" dirty="0"/>
          </a:p>
        </p:txBody>
      </p:sp>
      <p:sp>
        <p:nvSpPr>
          <p:cNvPr id="6" name="Rectangle 4"/>
          <p:cNvSpPr>
            <a:spLocks noChangeArrowheads="1"/>
          </p:cNvSpPr>
          <p:nvPr/>
        </p:nvSpPr>
        <p:spPr bwMode="auto">
          <a:xfrm>
            <a:off x="394368" y="624456"/>
            <a:ext cx="8235950" cy="5276344"/>
          </a:xfrm>
          <a:prstGeom prst="rect">
            <a:avLst/>
          </a:prstGeom>
          <a:noFill/>
          <a:ln w="9525">
            <a:noFill/>
            <a:miter lim="800000"/>
            <a:headEnd/>
            <a:tailEnd/>
          </a:ln>
        </p:spPr>
        <p:txBody>
          <a:bodyPr/>
          <a:lstStyle/>
          <a:p>
            <a:pPr algn="just" eaLnBrk="1" hangingPunct="1">
              <a:spcBef>
                <a:spcPts val="600"/>
              </a:spcBef>
              <a:spcAft>
                <a:spcPts val="0"/>
              </a:spcAft>
              <a:buClr>
                <a:schemeClr val="accent6">
                  <a:lumMod val="75000"/>
                </a:schemeClr>
              </a:buClr>
            </a:pPr>
            <a:r>
              <a:rPr lang="es-ES" sz="1600" b="1" dirty="0">
                <a:solidFill>
                  <a:srgbClr val="4D4D4D"/>
                </a:solidFill>
                <a:latin typeface="+mj-lt"/>
                <a:sym typeface="Wingdings" pitchFamily="2" charset="2"/>
              </a:rPr>
              <a:t>Elementos a evaluar - Riesgos</a:t>
            </a:r>
          </a:p>
        </p:txBody>
      </p:sp>
      <p:sp>
        <p:nvSpPr>
          <p:cNvPr id="7" name="Rectangle 16"/>
          <p:cNvSpPr>
            <a:spLocks noChangeArrowheads="1"/>
          </p:cNvSpPr>
          <p:nvPr/>
        </p:nvSpPr>
        <p:spPr bwMode="auto">
          <a:xfrm>
            <a:off x="371439" y="1411596"/>
            <a:ext cx="1406525" cy="941052"/>
          </a:xfrm>
          <a:prstGeom prst="rect">
            <a:avLst/>
          </a:prstGeom>
          <a:solidFill>
            <a:srgbClr val="DB0613"/>
          </a:solidFill>
          <a:ln w="9525" algn="ctr">
            <a:solidFill>
              <a:srgbClr val="00339A"/>
            </a:solidFill>
            <a:miter lim="800000"/>
            <a:headEnd/>
            <a:tailEnd/>
          </a:ln>
          <a:effectLst/>
        </p:spPr>
        <p:txBody>
          <a:bodyPr anchor="ctr"/>
          <a:lstStyle/>
          <a:p>
            <a:pPr algn="ctr">
              <a:lnSpc>
                <a:spcPct val="80000"/>
              </a:lnSpc>
            </a:pPr>
            <a:r>
              <a:rPr lang="es-ES" sz="1200" b="1" dirty="0">
                <a:solidFill>
                  <a:schemeClr val="bg1"/>
                </a:solidFill>
                <a:latin typeface="+mj-lt"/>
                <a:cs typeface="Arial" pitchFamily="34" charset="0"/>
              </a:rPr>
              <a:t>Frecuencia</a:t>
            </a:r>
          </a:p>
          <a:p>
            <a:pPr algn="ctr">
              <a:lnSpc>
                <a:spcPct val="80000"/>
              </a:lnSpc>
            </a:pPr>
            <a:r>
              <a:rPr lang="es-ES" sz="1200" b="1" dirty="0">
                <a:solidFill>
                  <a:schemeClr val="bg1"/>
                </a:solidFill>
                <a:latin typeface="+mj-lt"/>
                <a:cs typeface="Arial" pitchFamily="34" charset="0"/>
              </a:rPr>
              <a:t>(del evento)</a:t>
            </a:r>
            <a:endParaRPr lang="en-US" sz="1200" b="1" dirty="0">
              <a:solidFill>
                <a:schemeClr val="bg1"/>
              </a:solidFill>
              <a:latin typeface="+mj-lt"/>
              <a:cs typeface="Arial" pitchFamily="34" charset="0"/>
            </a:endParaRPr>
          </a:p>
        </p:txBody>
      </p:sp>
      <p:sp>
        <p:nvSpPr>
          <p:cNvPr id="8" name="AutoShape 17"/>
          <p:cNvSpPr>
            <a:spLocks noChangeArrowheads="1"/>
          </p:cNvSpPr>
          <p:nvPr/>
        </p:nvSpPr>
        <p:spPr bwMode="auto">
          <a:xfrm>
            <a:off x="1854164" y="1398359"/>
            <a:ext cx="1589088" cy="373062"/>
          </a:xfrm>
          <a:prstGeom prst="roundRect">
            <a:avLst>
              <a:gd name="adj" fmla="val 16667"/>
            </a:avLst>
          </a:prstGeom>
          <a:solidFill>
            <a:srgbClr val="969696"/>
          </a:solidFill>
          <a:ln w="9525" algn="ctr">
            <a:noFill/>
            <a:round/>
            <a:headEnd/>
            <a:tailEnd/>
          </a:ln>
        </p:spPr>
        <p:txBody>
          <a:bodyPr wrap="none" anchor="ctr"/>
          <a:lstStyle/>
          <a:p>
            <a:pPr algn="ctr"/>
            <a:r>
              <a:rPr lang="es-ES" sz="1100" b="1" dirty="0"/>
              <a:t>Frecuencia Total</a:t>
            </a:r>
            <a:endParaRPr lang="en-US" sz="1100" b="1" dirty="0"/>
          </a:p>
        </p:txBody>
      </p:sp>
      <p:sp>
        <p:nvSpPr>
          <p:cNvPr id="9" name="AutoShape 20"/>
          <p:cNvSpPr>
            <a:spLocks noChangeArrowheads="1"/>
          </p:cNvSpPr>
          <p:nvPr/>
        </p:nvSpPr>
        <p:spPr bwMode="auto">
          <a:xfrm>
            <a:off x="1854164" y="1979585"/>
            <a:ext cx="1589088" cy="373063"/>
          </a:xfrm>
          <a:prstGeom prst="roundRect">
            <a:avLst>
              <a:gd name="adj" fmla="val 16667"/>
            </a:avLst>
          </a:prstGeom>
          <a:solidFill>
            <a:srgbClr val="969696"/>
          </a:solidFill>
          <a:ln w="9525" algn="ctr">
            <a:noFill/>
            <a:round/>
            <a:headEnd/>
            <a:tailEnd/>
          </a:ln>
        </p:spPr>
        <p:txBody>
          <a:bodyPr wrap="none" anchor="ctr"/>
          <a:lstStyle/>
          <a:p>
            <a:pPr algn="ctr"/>
            <a:r>
              <a:rPr lang="es-ES" sz="1100" b="1" dirty="0"/>
              <a:t>Periodicidad </a:t>
            </a:r>
          </a:p>
          <a:p>
            <a:pPr algn="ctr"/>
            <a:r>
              <a:rPr lang="es-ES" sz="1100" b="1" dirty="0"/>
              <a:t>Frecuencia Total</a:t>
            </a:r>
            <a:endParaRPr lang="en-US" sz="1100" b="1" dirty="0"/>
          </a:p>
        </p:txBody>
      </p:sp>
      <p:sp>
        <p:nvSpPr>
          <p:cNvPr id="10" name="AutoShape 21"/>
          <p:cNvSpPr>
            <a:spLocks noChangeArrowheads="1"/>
          </p:cNvSpPr>
          <p:nvPr/>
        </p:nvSpPr>
        <p:spPr bwMode="auto">
          <a:xfrm>
            <a:off x="1854164" y="2545808"/>
            <a:ext cx="1589088" cy="373062"/>
          </a:xfrm>
          <a:prstGeom prst="roundRect">
            <a:avLst>
              <a:gd name="adj" fmla="val 16667"/>
            </a:avLst>
          </a:prstGeom>
          <a:solidFill>
            <a:srgbClr val="969696"/>
          </a:solidFill>
          <a:ln w="9525" algn="ctr">
            <a:noFill/>
            <a:round/>
            <a:headEnd/>
            <a:tailEnd/>
          </a:ln>
        </p:spPr>
        <p:txBody>
          <a:bodyPr wrap="none" anchor="ctr"/>
          <a:lstStyle/>
          <a:p>
            <a:pPr algn="ctr"/>
            <a:r>
              <a:rPr lang="es-ES" sz="1100" b="1" dirty="0"/>
              <a:t>Frecuencia</a:t>
            </a:r>
          </a:p>
          <a:p>
            <a:pPr algn="ctr"/>
            <a:r>
              <a:rPr lang="es-ES" sz="1100" b="1" dirty="0"/>
              <a:t>Evento Pérdida</a:t>
            </a:r>
            <a:endParaRPr lang="en-US" sz="1100" b="1" dirty="0"/>
          </a:p>
        </p:txBody>
      </p:sp>
      <p:sp>
        <p:nvSpPr>
          <p:cNvPr id="11" name="AutoShape 22"/>
          <p:cNvSpPr>
            <a:spLocks noChangeArrowheads="1"/>
          </p:cNvSpPr>
          <p:nvPr/>
        </p:nvSpPr>
        <p:spPr bwMode="auto">
          <a:xfrm>
            <a:off x="1854164" y="3115345"/>
            <a:ext cx="1589088" cy="373063"/>
          </a:xfrm>
          <a:prstGeom prst="roundRect">
            <a:avLst>
              <a:gd name="adj" fmla="val 16667"/>
            </a:avLst>
          </a:prstGeom>
          <a:solidFill>
            <a:srgbClr val="969696"/>
          </a:solidFill>
          <a:ln w="9525" algn="ctr">
            <a:noFill/>
            <a:round/>
            <a:headEnd/>
            <a:tailEnd/>
          </a:ln>
        </p:spPr>
        <p:txBody>
          <a:bodyPr wrap="none" anchor="ctr"/>
          <a:lstStyle/>
          <a:p>
            <a:pPr algn="ctr"/>
            <a:r>
              <a:rPr lang="es-ES" sz="1100" b="1" dirty="0"/>
              <a:t>Periodicidad Frecuencia </a:t>
            </a:r>
          </a:p>
          <a:p>
            <a:pPr algn="ctr"/>
            <a:r>
              <a:rPr lang="es-ES" sz="1100" b="1" dirty="0"/>
              <a:t>Evento Pérdida </a:t>
            </a:r>
            <a:endParaRPr lang="en-US" sz="1100" b="1" dirty="0"/>
          </a:p>
        </p:txBody>
      </p:sp>
      <p:sp>
        <p:nvSpPr>
          <p:cNvPr id="12" name="AutoShape 23"/>
          <p:cNvSpPr>
            <a:spLocks noChangeArrowheads="1"/>
          </p:cNvSpPr>
          <p:nvPr/>
        </p:nvSpPr>
        <p:spPr bwMode="auto">
          <a:xfrm>
            <a:off x="1854164" y="3787167"/>
            <a:ext cx="1589088" cy="373062"/>
          </a:xfrm>
          <a:prstGeom prst="roundRect">
            <a:avLst>
              <a:gd name="adj" fmla="val 16667"/>
            </a:avLst>
          </a:prstGeom>
          <a:solidFill>
            <a:srgbClr val="969696"/>
          </a:solidFill>
          <a:ln w="9525" algn="ctr">
            <a:noFill/>
            <a:round/>
            <a:headEnd/>
            <a:tailEnd/>
          </a:ln>
        </p:spPr>
        <p:txBody>
          <a:bodyPr wrap="none" anchor="ctr"/>
          <a:lstStyle/>
          <a:p>
            <a:pPr algn="ctr"/>
            <a:r>
              <a:rPr lang="es-ES" sz="1100" b="1" dirty="0"/>
              <a:t>Impacto Medio </a:t>
            </a:r>
          </a:p>
        </p:txBody>
      </p:sp>
      <p:sp>
        <p:nvSpPr>
          <p:cNvPr id="13" name="AutoShape 24"/>
          <p:cNvSpPr>
            <a:spLocks noChangeArrowheads="1"/>
          </p:cNvSpPr>
          <p:nvPr/>
        </p:nvSpPr>
        <p:spPr bwMode="auto">
          <a:xfrm>
            <a:off x="1854164" y="4564285"/>
            <a:ext cx="1589088" cy="373063"/>
          </a:xfrm>
          <a:prstGeom prst="roundRect">
            <a:avLst>
              <a:gd name="adj" fmla="val 16667"/>
            </a:avLst>
          </a:prstGeom>
          <a:solidFill>
            <a:srgbClr val="969696"/>
          </a:solidFill>
          <a:ln w="9525" algn="ctr">
            <a:noFill/>
            <a:round/>
            <a:headEnd/>
            <a:tailEnd/>
          </a:ln>
        </p:spPr>
        <p:txBody>
          <a:bodyPr wrap="none" anchor="ctr"/>
          <a:lstStyle/>
          <a:p>
            <a:pPr algn="ctr"/>
            <a:r>
              <a:rPr lang="es-ES" sz="1100" b="1" dirty="0"/>
              <a:t>Peor Escenario </a:t>
            </a:r>
          </a:p>
        </p:txBody>
      </p:sp>
      <p:sp>
        <p:nvSpPr>
          <p:cNvPr id="14" name="AutoShape 28"/>
          <p:cNvSpPr>
            <a:spLocks noChangeArrowheads="1"/>
          </p:cNvSpPr>
          <p:nvPr/>
        </p:nvSpPr>
        <p:spPr bwMode="auto">
          <a:xfrm>
            <a:off x="1858927" y="5286461"/>
            <a:ext cx="1589087" cy="548640"/>
          </a:xfrm>
          <a:prstGeom prst="roundRect">
            <a:avLst>
              <a:gd name="adj" fmla="val 16667"/>
            </a:avLst>
          </a:prstGeom>
          <a:solidFill>
            <a:srgbClr val="969696"/>
          </a:solidFill>
          <a:ln w="9525" algn="ctr">
            <a:noFill/>
            <a:round/>
            <a:headEnd/>
            <a:tailEnd/>
          </a:ln>
        </p:spPr>
        <p:txBody>
          <a:bodyPr wrap="none" anchor="ctr"/>
          <a:lstStyle/>
          <a:p>
            <a:pPr algn="ctr"/>
            <a:r>
              <a:rPr lang="es-ES" sz="1100" b="1" dirty="0"/>
              <a:t>Riesgo Reputacional</a:t>
            </a:r>
            <a:endParaRPr lang="en-US" sz="1100" b="1" dirty="0"/>
          </a:p>
        </p:txBody>
      </p:sp>
      <p:sp>
        <p:nvSpPr>
          <p:cNvPr id="15" name="Rectangle 29"/>
          <p:cNvSpPr>
            <a:spLocks noChangeArrowheads="1"/>
          </p:cNvSpPr>
          <p:nvPr/>
        </p:nvSpPr>
        <p:spPr bwMode="auto">
          <a:xfrm>
            <a:off x="371439" y="2564976"/>
            <a:ext cx="1406525" cy="914400"/>
          </a:xfrm>
          <a:prstGeom prst="rect">
            <a:avLst/>
          </a:prstGeom>
          <a:solidFill>
            <a:srgbClr val="DB0613"/>
          </a:solidFill>
          <a:ln w="9525" algn="ctr">
            <a:solidFill>
              <a:srgbClr val="00339A"/>
            </a:solidFill>
            <a:miter lim="800000"/>
            <a:headEnd/>
            <a:tailEnd/>
          </a:ln>
          <a:effectLst/>
        </p:spPr>
        <p:txBody>
          <a:bodyPr anchor="ctr"/>
          <a:lstStyle/>
          <a:p>
            <a:pPr algn="ctr">
              <a:lnSpc>
                <a:spcPct val="80000"/>
              </a:lnSpc>
            </a:pPr>
            <a:r>
              <a:rPr lang="es-ES" sz="1200" b="1" dirty="0">
                <a:solidFill>
                  <a:schemeClr val="bg1"/>
                </a:solidFill>
                <a:latin typeface="+mj-lt"/>
                <a:cs typeface="Arial" pitchFamily="34" charset="0"/>
              </a:rPr>
              <a:t>Frecuencia</a:t>
            </a:r>
          </a:p>
          <a:p>
            <a:pPr algn="ctr">
              <a:lnSpc>
                <a:spcPct val="80000"/>
              </a:lnSpc>
            </a:pPr>
            <a:r>
              <a:rPr lang="es-ES" sz="1200" b="1" dirty="0">
                <a:solidFill>
                  <a:schemeClr val="bg1"/>
                </a:solidFill>
                <a:latin typeface="+mj-lt"/>
                <a:cs typeface="Arial" pitchFamily="34" charset="0"/>
              </a:rPr>
              <a:t>(del evento </a:t>
            </a:r>
          </a:p>
          <a:p>
            <a:pPr algn="ctr">
              <a:lnSpc>
                <a:spcPct val="80000"/>
              </a:lnSpc>
            </a:pPr>
            <a:r>
              <a:rPr lang="es-ES" sz="1200" b="1" dirty="0">
                <a:solidFill>
                  <a:schemeClr val="bg1"/>
                </a:solidFill>
                <a:latin typeface="+mj-lt"/>
                <a:cs typeface="Arial" pitchFamily="34" charset="0"/>
              </a:rPr>
              <a:t>de pérdida)</a:t>
            </a:r>
            <a:endParaRPr lang="en-US" sz="1200" b="1" dirty="0">
              <a:solidFill>
                <a:schemeClr val="bg1"/>
              </a:solidFill>
              <a:latin typeface="+mj-lt"/>
              <a:cs typeface="Arial" pitchFamily="34" charset="0"/>
            </a:endParaRPr>
          </a:p>
        </p:txBody>
      </p:sp>
      <p:sp>
        <p:nvSpPr>
          <p:cNvPr id="16" name="Rectangle 30"/>
          <p:cNvSpPr>
            <a:spLocks noChangeArrowheads="1"/>
          </p:cNvSpPr>
          <p:nvPr/>
        </p:nvSpPr>
        <p:spPr bwMode="auto">
          <a:xfrm>
            <a:off x="371439" y="3768091"/>
            <a:ext cx="1406525" cy="1188720"/>
          </a:xfrm>
          <a:prstGeom prst="rect">
            <a:avLst/>
          </a:prstGeom>
          <a:solidFill>
            <a:srgbClr val="DB0613"/>
          </a:solidFill>
          <a:ln w="9525" algn="ctr">
            <a:noFill/>
            <a:miter lim="800000"/>
            <a:headEnd/>
            <a:tailEnd/>
          </a:ln>
        </p:spPr>
        <p:txBody>
          <a:bodyPr wrap="none" anchor="ctr"/>
          <a:lstStyle/>
          <a:p>
            <a:pPr algn="ctr"/>
            <a:r>
              <a:rPr lang="es-ES" sz="1200" b="1" dirty="0">
                <a:solidFill>
                  <a:schemeClr val="bg1"/>
                </a:solidFill>
              </a:rPr>
              <a:t>Impacto</a:t>
            </a:r>
          </a:p>
          <a:p>
            <a:pPr algn="ctr"/>
            <a:r>
              <a:rPr lang="es-ES" sz="1200" b="1" dirty="0">
                <a:solidFill>
                  <a:schemeClr val="bg1"/>
                </a:solidFill>
              </a:rPr>
              <a:t>Financiero</a:t>
            </a:r>
            <a:r>
              <a:rPr lang="es-ES" sz="1200" b="1" baseline="30000" dirty="0">
                <a:solidFill>
                  <a:schemeClr val="bg1"/>
                </a:solidFill>
              </a:rPr>
              <a:t>(2)</a:t>
            </a:r>
            <a:endParaRPr lang="en-US" sz="1200" b="1" baseline="30000" dirty="0">
              <a:solidFill>
                <a:schemeClr val="bg1"/>
              </a:solidFill>
            </a:endParaRPr>
          </a:p>
        </p:txBody>
      </p:sp>
      <p:sp>
        <p:nvSpPr>
          <p:cNvPr id="17" name="Rectangle 32"/>
          <p:cNvSpPr>
            <a:spLocks noChangeArrowheads="1"/>
          </p:cNvSpPr>
          <p:nvPr/>
        </p:nvSpPr>
        <p:spPr bwMode="auto">
          <a:xfrm>
            <a:off x="371439" y="5286461"/>
            <a:ext cx="1406525" cy="548640"/>
          </a:xfrm>
          <a:prstGeom prst="rect">
            <a:avLst/>
          </a:prstGeom>
          <a:solidFill>
            <a:srgbClr val="DB0613"/>
          </a:solidFill>
          <a:ln w="9525" algn="ctr">
            <a:noFill/>
            <a:miter lim="800000"/>
            <a:headEnd/>
            <a:tailEnd/>
          </a:ln>
        </p:spPr>
        <p:txBody>
          <a:bodyPr wrap="none" anchor="ctr"/>
          <a:lstStyle/>
          <a:p>
            <a:pPr algn="ctr"/>
            <a:r>
              <a:rPr lang="es-ES" sz="1200" b="1" dirty="0">
                <a:solidFill>
                  <a:schemeClr val="bg1"/>
                </a:solidFill>
              </a:rPr>
              <a:t>Impactos</a:t>
            </a:r>
          </a:p>
          <a:p>
            <a:pPr algn="ctr"/>
            <a:r>
              <a:rPr lang="es-ES" sz="1200" b="1" dirty="0">
                <a:solidFill>
                  <a:schemeClr val="bg1"/>
                </a:solidFill>
              </a:rPr>
              <a:t> No Financieros</a:t>
            </a:r>
            <a:endParaRPr lang="en-US" sz="1200" b="1" dirty="0">
              <a:solidFill>
                <a:schemeClr val="bg1"/>
              </a:solidFill>
            </a:endParaRPr>
          </a:p>
        </p:txBody>
      </p:sp>
      <p:sp>
        <p:nvSpPr>
          <p:cNvPr id="18" name="Text Box 35"/>
          <p:cNvSpPr txBox="1">
            <a:spLocks noChangeArrowheads="1"/>
          </p:cNvSpPr>
          <p:nvPr/>
        </p:nvSpPr>
        <p:spPr bwMode="auto">
          <a:xfrm>
            <a:off x="1599586" y="6165304"/>
            <a:ext cx="5780726" cy="646331"/>
          </a:xfrm>
          <a:prstGeom prst="rect">
            <a:avLst/>
          </a:prstGeom>
          <a:noFill/>
          <a:ln w="9525" algn="ctr">
            <a:noFill/>
            <a:miter lim="800000"/>
            <a:headEnd/>
            <a:tailEnd/>
          </a:ln>
        </p:spPr>
        <p:txBody>
          <a:bodyPr wrap="square">
            <a:spAutoFit/>
          </a:bodyPr>
          <a:lstStyle/>
          <a:p>
            <a:pPr algn="l"/>
            <a:r>
              <a:rPr lang="es-ES" sz="900" b="0" baseline="30000" dirty="0"/>
              <a:t>(2)</a:t>
            </a:r>
            <a:r>
              <a:rPr lang="es-ES" sz="900" b="0" dirty="0"/>
              <a:t> Se ofrecen dos posibilidades a la hora de valorar el impacto. Por un lado se permite bien la introducción de un importe exacto -en el caso de conocerlo con cierta exactitud o resultar más fácil estimarlo en una cifra concreta- o, en su defecto, se facilitan unos intervalos para aproximarse al impacto. En cualquier caso es preferible facilitar el importe exacto ya que es más preciso.</a:t>
            </a:r>
            <a:endParaRPr lang="en-US" sz="900" b="0" dirty="0"/>
          </a:p>
        </p:txBody>
      </p:sp>
      <p:sp>
        <p:nvSpPr>
          <p:cNvPr id="19" name="Text Box 36"/>
          <p:cNvSpPr txBox="1">
            <a:spLocks noChangeArrowheads="1"/>
          </p:cNvSpPr>
          <p:nvPr/>
        </p:nvSpPr>
        <p:spPr bwMode="auto">
          <a:xfrm>
            <a:off x="5821327" y="1002289"/>
            <a:ext cx="1053494" cy="307777"/>
          </a:xfrm>
          <a:prstGeom prst="rect">
            <a:avLst/>
          </a:prstGeom>
          <a:noFill/>
          <a:ln w="9525" algn="ctr">
            <a:noFill/>
            <a:miter lim="800000"/>
            <a:headEnd/>
            <a:tailEnd/>
          </a:ln>
        </p:spPr>
        <p:txBody>
          <a:bodyPr wrap="none">
            <a:spAutoFit/>
          </a:bodyPr>
          <a:lstStyle/>
          <a:p>
            <a:r>
              <a:rPr lang="es-ES" sz="1400" b="1" dirty="0">
                <a:solidFill>
                  <a:srgbClr val="969696"/>
                </a:solidFill>
              </a:rPr>
              <a:t>Descripción</a:t>
            </a:r>
            <a:endParaRPr lang="en-US" sz="1400" b="1" dirty="0">
              <a:solidFill>
                <a:srgbClr val="969696"/>
              </a:solidFill>
            </a:endParaRPr>
          </a:p>
        </p:txBody>
      </p:sp>
      <p:sp>
        <p:nvSpPr>
          <p:cNvPr id="20" name="Text Box 38"/>
          <p:cNvSpPr txBox="1">
            <a:spLocks noChangeArrowheads="1"/>
          </p:cNvSpPr>
          <p:nvPr/>
        </p:nvSpPr>
        <p:spPr bwMode="auto">
          <a:xfrm rot="16200000">
            <a:off x="-371476" y="2084795"/>
            <a:ext cx="984180" cy="307777"/>
          </a:xfrm>
          <a:prstGeom prst="rect">
            <a:avLst/>
          </a:prstGeom>
          <a:noFill/>
          <a:ln w="9525" algn="ctr">
            <a:noFill/>
            <a:miter lim="800000"/>
            <a:headEnd/>
            <a:tailEnd/>
          </a:ln>
        </p:spPr>
        <p:txBody>
          <a:bodyPr wrap="none">
            <a:spAutoFit/>
          </a:bodyPr>
          <a:lstStyle/>
          <a:p>
            <a:r>
              <a:rPr lang="es-ES" sz="1400" b="1" dirty="0">
                <a:solidFill>
                  <a:schemeClr val="bg2"/>
                </a:solidFill>
              </a:rPr>
              <a:t>Frecuencia</a:t>
            </a:r>
            <a:endParaRPr lang="en-US" sz="1400" b="1" dirty="0">
              <a:solidFill>
                <a:schemeClr val="bg2"/>
              </a:solidFill>
            </a:endParaRPr>
          </a:p>
        </p:txBody>
      </p:sp>
      <p:sp>
        <p:nvSpPr>
          <p:cNvPr id="21" name="Text Box 39"/>
          <p:cNvSpPr txBox="1">
            <a:spLocks noChangeArrowheads="1"/>
          </p:cNvSpPr>
          <p:nvPr/>
        </p:nvSpPr>
        <p:spPr bwMode="auto">
          <a:xfrm rot="16200000">
            <a:off x="-277055" y="4529284"/>
            <a:ext cx="814387" cy="304800"/>
          </a:xfrm>
          <a:prstGeom prst="rect">
            <a:avLst/>
          </a:prstGeom>
          <a:noFill/>
          <a:ln w="9525" algn="ctr">
            <a:noFill/>
            <a:miter lim="800000"/>
            <a:headEnd/>
            <a:tailEnd/>
          </a:ln>
        </p:spPr>
        <p:txBody>
          <a:bodyPr wrap="none">
            <a:spAutoFit/>
          </a:bodyPr>
          <a:lstStyle/>
          <a:p>
            <a:r>
              <a:rPr lang="es-ES" sz="1400" b="1" dirty="0">
                <a:solidFill>
                  <a:schemeClr val="bg2"/>
                </a:solidFill>
              </a:rPr>
              <a:t>Impacto</a:t>
            </a:r>
            <a:endParaRPr lang="en-US" sz="1400" b="1" dirty="0">
              <a:solidFill>
                <a:schemeClr val="bg2"/>
              </a:solidFill>
            </a:endParaRPr>
          </a:p>
        </p:txBody>
      </p:sp>
      <p:sp>
        <p:nvSpPr>
          <p:cNvPr id="22" name="AutoShape 41"/>
          <p:cNvSpPr>
            <a:spLocks/>
          </p:cNvSpPr>
          <p:nvPr/>
        </p:nvSpPr>
        <p:spPr bwMode="auto">
          <a:xfrm>
            <a:off x="255552" y="1411596"/>
            <a:ext cx="73025" cy="2103120"/>
          </a:xfrm>
          <a:prstGeom prst="leftBracket">
            <a:avLst>
              <a:gd name="adj" fmla="val 58679"/>
            </a:avLst>
          </a:prstGeom>
          <a:noFill/>
          <a:ln w="9525">
            <a:solidFill>
              <a:schemeClr val="bg2"/>
            </a:solidFill>
            <a:round/>
            <a:headEnd/>
            <a:tailEnd/>
          </a:ln>
        </p:spPr>
        <p:txBody>
          <a:bodyPr wrap="none" anchor="ctr"/>
          <a:lstStyle/>
          <a:p>
            <a:pPr algn="ctr"/>
            <a:endParaRPr lang="en-US" dirty="0"/>
          </a:p>
        </p:txBody>
      </p:sp>
      <p:sp>
        <p:nvSpPr>
          <p:cNvPr id="23" name="AutoShape 42"/>
          <p:cNvSpPr>
            <a:spLocks/>
          </p:cNvSpPr>
          <p:nvPr/>
        </p:nvSpPr>
        <p:spPr bwMode="auto">
          <a:xfrm>
            <a:off x="266664" y="3754170"/>
            <a:ext cx="71438" cy="2103120"/>
          </a:xfrm>
          <a:prstGeom prst="leftBracket">
            <a:avLst>
              <a:gd name="adj" fmla="val 89198"/>
            </a:avLst>
          </a:prstGeom>
          <a:noFill/>
          <a:ln w="9525">
            <a:solidFill>
              <a:schemeClr val="bg2"/>
            </a:solidFill>
            <a:round/>
            <a:headEnd/>
            <a:tailEnd/>
          </a:ln>
        </p:spPr>
        <p:txBody>
          <a:bodyPr wrap="none" anchor="ctr"/>
          <a:lstStyle/>
          <a:p>
            <a:pPr algn="ctr"/>
            <a:endParaRPr lang="en-US" dirty="0"/>
          </a:p>
        </p:txBody>
      </p:sp>
      <p:sp>
        <p:nvSpPr>
          <p:cNvPr id="24" name="Text Box 44"/>
          <p:cNvSpPr txBox="1">
            <a:spLocks noChangeArrowheads="1"/>
          </p:cNvSpPr>
          <p:nvPr/>
        </p:nvSpPr>
        <p:spPr bwMode="auto">
          <a:xfrm>
            <a:off x="3483166" y="1303359"/>
            <a:ext cx="5661700" cy="646331"/>
          </a:xfrm>
          <a:prstGeom prst="rect">
            <a:avLst/>
          </a:prstGeom>
          <a:noFill/>
          <a:ln w="9525" algn="ctr">
            <a:noFill/>
            <a:miter lim="800000"/>
            <a:headEnd/>
            <a:tailEnd/>
          </a:ln>
        </p:spPr>
        <p:txBody>
          <a:bodyPr wrap="square">
            <a:spAutoFit/>
          </a:bodyPr>
          <a:lstStyle/>
          <a:p>
            <a:r>
              <a:rPr lang="es-ES" sz="1200" b="1" dirty="0">
                <a:latin typeface="+mj-lt"/>
              </a:rPr>
              <a:t>Número de veces con que se estima (a futuro) que se produce el evento asociado al riesgo</a:t>
            </a:r>
            <a:r>
              <a:rPr lang="es-ES" sz="1200" b="0" dirty="0">
                <a:latin typeface="+mj-lt"/>
              </a:rPr>
              <a:t>, independientemente de que conlleve pérdidas para la entidad. Frecuencia neta (con efecto controles).</a:t>
            </a:r>
            <a:endParaRPr lang="en-US" sz="1200" b="0" dirty="0">
              <a:latin typeface="+mj-lt"/>
            </a:endParaRPr>
          </a:p>
        </p:txBody>
      </p:sp>
      <p:sp>
        <p:nvSpPr>
          <p:cNvPr id="25" name="Text Box 45"/>
          <p:cNvSpPr txBox="1">
            <a:spLocks noChangeArrowheads="1"/>
          </p:cNvSpPr>
          <p:nvPr/>
        </p:nvSpPr>
        <p:spPr bwMode="auto">
          <a:xfrm>
            <a:off x="3483166" y="2486433"/>
            <a:ext cx="5655232" cy="646331"/>
          </a:xfrm>
          <a:prstGeom prst="rect">
            <a:avLst/>
          </a:prstGeom>
          <a:noFill/>
          <a:ln w="9525" algn="ctr">
            <a:noFill/>
            <a:miter lim="800000"/>
            <a:headEnd/>
            <a:tailEnd/>
          </a:ln>
        </p:spPr>
        <p:txBody>
          <a:bodyPr wrap="square">
            <a:spAutoFit/>
          </a:bodyPr>
          <a:lstStyle/>
          <a:p>
            <a:pPr algn="l"/>
            <a:r>
              <a:rPr lang="es-ES" sz="1200" b="1" dirty="0">
                <a:latin typeface="+mj-lt"/>
              </a:rPr>
              <a:t>Número de ocasiones (a futuro) en que la ocurrencia del evento produciría pérdidas patrimoniales directas</a:t>
            </a:r>
            <a:r>
              <a:rPr lang="es-ES" sz="1200" b="0" dirty="0">
                <a:latin typeface="+mj-lt"/>
              </a:rPr>
              <a:t> para la entidad. Frecuencia neta (con efecto controles).</a:t>
            </a:r>
            <a:endParaRPr lang="en-US" sz="1200" b="0" dirty="0">
              <a:latin typeface="+mj-lt"/>
            </a:endParaRPr>
          </a:p>
          <a:p>
            <a:pPr algn="l"/>
            <a:endParaRPr lang="en-US" sz="1200" b="0" dirty="0">
              <a:latin typeface="+mj-lt"/>
            </a:endParaRPr>
          </a:p>
        </p:txBody>
      </p:sp>
      <p:sp>
        <p:nvSpPr>
          <p:cNvPr id="26" name="Text Box 46"/>
          <p:cNvSpPr txBox="1">
            <a:spLocks noChangeArrowheads="1"/>
          </p:cNvSpPr>
          <p:nvPr/>
        </p:nvSpPr>
        <p:spPr bwMode="auto">
          <a:xfrm>
            <a:off x="3483166" y="1877639"/>
            <a:ext cx="5661700" cy="646331"/>
          </a:xfrm>
          <a:prstGeom prst="rect">
            <a:avLst/>
          </a:prstGeom>
          <a:noFill/>
          <a:ln w="9525" algn="ctr">
            <a:noFill/>
            <a:miter lim="800000"/>
            <a:headEnd/>
            <a:tailEnd/>
          </a:ln>
        </p:spPr>
        <p:txBody>
          <a:bodyPr wrap="square">
            <a:spAutoFit/>
          </a:bodyPr>
          <a:lstStyle/>
          <a:p>
            <a:pPr algn="l"/>
            <a:r>
              <a:rPr lang="es-ES" sz="1200" b="1" dirty="0">
                <a:latin typeface="+mj-lt"/>
              </a:rPr>
              <a:t>Periodicidad</a:t>
            </a:r>
            <a:r>
              <a:rPr lang="es-ES" sz="1200" dirty="0">
                <a:latin typeface="+mj-lt"/>
              </a:rPr>
              <a:t> (semanal, mensual, anual, etc.) </a:t>
            </a:r>
            <a:r>
              <a:rPr lang="es-ES" sz="1200" b="1" dirty="0">
                <a:latin typeface="+mj-lt"/>
              </a:rPr>
              <a:t>con la que ocurre el evento asociado al riesgo</a:t>
            </a:r>
            <a:r>
              <a:rPr lang="es-ES" sz="1200" b="0" dirty="0">
                <a:latin typeface="+mj-lt"/>
              </a:rPr>
              <a:t>, independientemente de que conlleve pérdidas para la entidad. Periodicidad neta (con efecto controles).</a:t>
            </a:r>
            <a:endParaRPr lang="en-US" sz="1200" b="0" dirty="0">
              <a:latin typeface="+mj-lt"/>
            </a:endParaRPr>
          </a:p>
        </p:txBody>
      </p:sp>
      <p:sp>
        <p:nvSpPr>
          <p:cNvPr id="27" name="Text Box 47"/>
          <p:cNvSpPr txBox="1">
            <a:spLocks noChangeArrowheads="1"/>
          </p:cNvSpPr>
          <p:nvPr/>
        </p:nvSpPr>
        <p:spPr bwMode="auto">
          <a:xfrm>
            <a:off x="3483166" y="3026211"/>
            <a:ext cx="5482188" cy="646331"/>
          </a:xfrm>
          <a:prstGeom prst="rect">
            <a:avLst/>
          </a:prstGeom>
          <a:noFill/>
          <a:ln w="9525" algn="ctr">
            <a:noFill/>
            <a:miter lim="800000"/>
            <a:headEnd/>
            <a:tailEnd/>
          </a:ln>
        </p:spPr>
        <p:txBody>
          <a:bodyPr wrap="square">
            <a:spAutoFit/>
          </a:bodyPr>
          <a:lstStyle/>
          <a:p>
            <a:pPr algn="l"/>
            <a:r>
              <a:rPr lang="es-ES" sz="1200" b="1" dirty="0">
                <a:latin typeface="+mj-lt"/>
              </a:rPr>
              <a:t>Periodicidad</a:t>
            </a:r>
            <a:r>
              <a:rPr lang="es-ES" sz="1200" dirty="0">
                <a:latin typeface="+mj-lt"/>
              </a:rPr>
              <a:t> (semanal, mensual, anual, etc.) con la que ocurre </a:t>
            </a:r>
            <a:r>
              <a:rPr lang="es-ES" sz="1200" b="1" dirty="0">
                <a:latin typeface="+mj-lt"/>
              </a:rPr>
              <a:t>el evento que produciría pérdidas patrimoniales directas </a:t>
            </a:r>
            <a:r>
              <a:rPr lang="es-ES" sz="1200" b="0" dirty="0">
                <a:latin typeface="+mj-lt"/>
              </a:rPr>
              <a:t>para la entidad. Periodicidad neta (con efecto controles).</a:t>
            </a:r>
            <a:endParaRPr lang="en-US" sz="1200" b="0" dirty="0">
              <a:latin typeface="+mj-lt"/>
            </a:endParaRPr>
          </a:p>
        </p:txBody>
      </p:sp>
      <p:sp>
        <p:nvSpPr>
          <p:cNvPr id="28" name="Text Box 48"/>
          <p:cNvSpPr txBox="1">
            <a:spLocks noChangeArrowheads="1"/>
          </p:cNvSpPr>
          <p:nvPr/>
        </p:nvSpPr>
        <p:spPr bwMode="auto">
          <a:xfrm>
            <a:off x="3483166" y="3722541"/>
            <a:ext cx="5482188" cy="646331"/>
          </a:xfrm>
          <a:prstGeom prst="rect">
            <a:avLst/>
          </a:prstGeom>
          <a:noFill/>
          <a:ln w="9525" algn="ctr">
            <a:noFill/>
            <a:miter lim="800000"/>
            <a:headEnd/>
            <a:tailEnd/>
          </a:ln>
        </p:spPr>
        <p:txBody>
          <a:bodyPr wrap="square">
            <a:spAutoFit/>
          </a:bodyPr>
          <a:lstStyle/>
          <a:p>
            <a:pPr algn="l"/>
            <a:r>
              <a:rPr lang="es-ES" sz="1200" b="1" dirty="0">
                <a:latin typeface="+mj-lt"/>
              </a:rPr>
              <a:t>Se estima en base a la experiencia histórica</a:t>
            </a:r>
            <a:r>
              <a:rPr lang="es-ES" sz="1200" b="0" dirty="0">
                <a:latin typeface="+mj-lt"/>
              </a:rPr>
              <a:t>, para aquellas </a:t>
            </a:r>
            <a:r>
              <a:rPr lang="es-ES" sz="1200" b="1" dirty="0">
                <a:latin typeface="+mj-lt"/>
              </a:rPr>
              <a:t>pérdidas que ya se hayan producido alguna vez </a:t>
            </a:r>
            <a:r>
              <a:rPr lang="es-ES" sz="1200" b="0" dirty="0">
                <a:latin typeface="+mj-lt"/>
              </a:rPr>
              <a:t>en la Entidad, y se utiliza un </a:t>
            </a:r>
            <a:r>
              <a:rPr lang="es-ES" sz="1200" b="1" dirty="0">
                <a:latin typeface="+mj-lt"/>
              </a:rPr>
              <a:t>criterio razonable para aquéllas que nunca hayan acontecido.</a:t>
            </a:r>
            <a:endParaRPr lang="en-US" sz="1200" b="1" dirty="0">
              <a:latin typeface="+mj-lt"/>
            </a:endParaRPr>
          </a:p>
        </p:txBody>
      </p:sp>
      <p:sp>
        <p:nvSpPr>
          <p:cNvPr id="29" name="Text Box 49"/>
          <p:cNvSpPr txBox="1">
            <a:spLocks noChangeArrowheads="1"/>
          </p:cNvSpPr>
          <p:nvPr/>
        </p:nvSpPr>
        <p:spPr bwMode="auto">
          <a:xfrm>
            <a:off x="3483166" y="4519984"/>
            <a:ext cx="5482188" cy="461665"/>
          </a:xfrm>
          <a:prstGeom prst="rect">
            <a:avLst/>
          </a:prstGeom>
          <a:noFill/>
          <a:ln w="9525" algn="ctr">
            <a:noFill/>
            <a:miter lim="800000"/>
            <a:headEnd/>
            <a:tailEnd/>
          </a:ln>
        </p:spPr>
        <p:txBody>
          <a:bodyPr wrap="square">
            <a:spAutoFit/>
          </a:bodyPr>
          <a:lstStyle/>
          <a:p>
            <a:pPr algn="l"/>
            <a:r>
              <a:rPr lang="es-ES" sz="1200" b="1" dirty="0">
                <a:latin typeface="+mj-lt"/>
              </a:rPr>
              <a:t>Escenario más pesimista </a:t>
            </a:r>
            <a:r>
              <a:rPr lang="es-ES" sz="1200" b="0" dirty="0">
                <a:latin typeface="+mj-lt"/>
              </a:rPr>
              <a:t>que pueda producirse dentro de una </a:t>
            </a:r>
            <a:r>
              <a:rPr lang="es-ES" sz="1200" b="1" dirty="0">
                <a:latin typeface="+mj-lt"/>
              </a:rPr>
              <a:t>situación “razonable”, </a:t>
            </a:r>
            <a:r>
              <a:rPr lang="es-ES" sz="1200" b="0" dirty="0">
                <a:latin typeface="+mj-lt"/>
              </a:rPr>
              <a:t>esto es, </a:t>
            </a:r>
            <a:r>
              <a:rPr lang="es-ES" sz="1200" dirty="0">
                <a:latin typeface="+mj-lt"/>
              </a:rPr>
              <a:t>sin llegar a considerar sucesos catastróficos </a:t>
            </a:r>
            <a:r>
              <a:rPr lang="es-ES" sz="1200" b="0" dirty="0">
                <a:latin typeface="+mj-lt"/>
              </a:rPr>
              <a:t>(terremotos, etc.)</a:t>
            </a:r>
            <a:endParaRPr lang="en-US" sz="1200" b="0" dirty="0">
              <a:latin typeface="+mj-lt"/>
            </a:endParaRPr>
          </a:p>
        </p:txBody>
      </p:sp>
      <p:sp>
        <p:nvSpPr>
          <p:cNvPr id="30" name="Text Box 52"/>
          <p:cNvSpPr txBox="1">
            <a:spLocks noChangeArrowheads="1"/>
          </p:cNvSpPr>
          <p:nvPr/>
        </p:nvSpPr>
        <p:spPr bwMode="auto">
          <a:xfrm>
            <a:off x="3483166" y="5329949"/>
            <a:ext cx="5482188" cy="461665"/>
          </a:xfrm>
          <a:prstGeom prst="rect">
            <a:avLst/>
          </a:prstGeom>
          <a:noFill/>
          <a:ln w="9525" algn="ctr">
            <a:noFill/>
            <a:miter lim="800000"/>
            <a:headEnd/>
            <a:tailEnd/>
          </a:ln>
        </p:spPr>
        <p:txBody>
          <a:bodyPr wrap="square">
            <a:spAutoFit/>
          </a:bodyPr>
          <a:lstStyle/>
          <a:p>
            <a:pPr algn="l"/>
            <a:r>
              <a:rPr lang="es-ES" sz="1200" b="0" dirty="0">
                <a:latin typeface="+mj-lt"/>
              </a:rPr>
              <a:t>La valoración de este riesgo se realiza a través de una </a:t>
            </a:r>
            <a:r>
              <a:rPr lang="es-ES" sz="1200" b="1" dirty="0">
                <a:latin typeface="+mj-lt"/>
              </a:rPr>
              <a:t>escala cualitativa</a:t>
            </a:r>
            <a:r>
              <a:rPr lang="es-ES" sz="1200" b="0" dirty="0">
                <a:latin typeface="+mj-lt"/>
              </a:rPr>
              <a:t>, valorando la </a:t>
            </a:r>
            <a:r>
              <a:rPr lang="es-ES" sz="1200" b="1" dirty="0">
                <a:latin typeface="+mj-lt"/>
              </a:rPr>
              <a:t>afectación en clientes </a:t>
            </a:r>
            <a:r>
              <a:rPr lang="es-ES" sz="1200" b="0" dirty="0">
                <a:latin typeface="+mj-lt"/>
              </a:rPr>
              <a:t>y la </a:t>
            </a:r>
            <a:r>
              <a:rPr lang="es-ES" sz="1200" b="1" dirty="0">
                <a:latin typeface="+mj-lt"/>
              </a:rPr>
              <a:t>cobertura en los medios de comunicación</a:t>
            </a:r>
            <a:r>
              <a:rPr lang="es-ES" sz="1200" dirty="0">
                <a:latin typeface="+mj-lt"/>
              </a:rPr>
              <a:t>.</a:t>
            </a:r>
            <a:endParaRPr lang="en-US" sz="1200" dirty="0">
              <a:latin typeface="+mj-lt"/>
            </a:endParaRPr>
          </a:p>
        </p:txBody>
      </p:sp>
      <p:sp>
        <p:nvSpPr>
          <p:cNvPr id="31" name="Line 30"/>
          <p:cNvSpPr>
            <a:spLocks noChangeShapeType="1"/>
          </p:cNvSpPr>
          <p:nvPr/>
        </p:nvSpPr>
        <p:spPr bwMode="auto">
          <a:xfrm flipV="1">
            <a:off x="3459846" y="1286176"/>
            <a:ext cx="5268858" cy="3175"/>
          </a:xfrm>
          <a:prstGeom prst="line">
            <a:avLst/>
          </a:prstGeom>
          <a:noFill/>
          <a:ln w="9525">
            <a:solidFill>
              <a:srgbClr val="C0C0C0"/>
            </a:solidFill>
            <a:round/>
            <a:headEnd/>
            <a:tailEnd/>
          </a:ln>
        </p:spPr>
        <p:txBody>
          <a:bodyPr wrap="none" anchor="ctr"/>
          <a:lstStyle/>
          <a:p>
            <a:endParaRPr lang="en-US"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dirty="0"/>
              <a:t>Anexo: Metodología de Evaluación Cualitativa</a:t>
            </a:r>
          </a:p>
        </p:txBody>
      </p:sp>
      <p:sp>
        <p:nvSpPr>
          <p:cNvPr id="4" name="Rectangle 4"/>
          <p:cNvSpPr>
            <a:spLocks noChangeArrowheads="1"/>
          </p:cNvSpPr>
          <p:nvPr/>
        </p:nvSpPr>
        <p:spPr bwMode="auto">
          <a:xfrm>
            <a:off x="408016" y="692696"/>
            <a:ext cx="8235950" cy="5276344"/>
          </a:xfrm>
          <a:prstGeom prst="rect">
            <a:avLst/>
          </a:prstGeom>
          <a:noFill/>
          <a:ln w="9525">
            <a:noFill/>
            <a:miter lim="800000"/>
            <a:headEnd/>
            <a:tailEnd/>
          </a:ln>
        </p:spPr>
        <p:txBody>
          <a:bodyPr/>
          <a:lstStyle/>
          <a:p>
            <a:pPr algn="just" eaLnBrk="1" hangingPunct="1">
              <a:spcBef>
                <a:spcPts val="600"/>
              </a:spcBef>
              <a:spcAft>
                <a:spcPts val="0"/>
              </a:spcAft>
              <a:buClr>
                <a:schemeClr val="accent6">
                  <a:lumMod val="75000"/>
                </a:schemeClr>
              </a:buClr>
            </a:pPr>
            <a:r>
              <a:rPr lang="es-ES" sz="1600" b="1" dirty="0">
                <a:solidFill>
                  <a:srgbClr val="4D4D4D"/>
                </a:solidFill>
                <a:latin typeface="+mj-lt"/>
                <a:sym typeface="Wingdings" pitchFamily="2" charset="2"/>
              </a:rPr>
              <a:t>Elementos a evaluar - Riesgos</a:t>
            </a:r>
          </a:p>
        </p:txBody>
      </p:sp>
      <p:sp>
        <p:nvSpPr>
          <p:cNvPr id="5" name="AutoShape 40">
            <a:hlinkClick r:id="" action="ppaction://noaction"/>
          </p:cNvPr>
          <p:cNvSpPr>
            <a:spLocks noChangeArrowheads="1"/>
          </p:cNvSpPr>
          <p:nvPr/>
        </p:nvSpPr>
        <p:spPr bwMode="auto">
          <a:xfrm>
            <a:off x="69854" y="1052736"/>
            <a:ext cx="9030604" cy="288925"/>
          </a:xfrm>
          <a:prstGeom prst="roundRect">
            <a:avLst>
              <a:gd name="adj" fmla="val 16667"/>
            </a:avLst>
          </a:prstGeom>
          <a:solidFill>
            <a:srgbClr val="DB0613"/>
          </a:solidFill>
          <a:ln w="9525" algn="ctr">
            <a:solidFill>
              <a:srgbClr val="FFFFFF"/>
            </a:solidFill>
            <a:round/>
            <a:headEnd/>
            <a:tailEnd/>
          </a:ln>
        </p:spPr>
        <p:txBody>
          <a:bodyPr anchor="ctr"/>
          <a:lstStyle/>
          <a:p>
            <a:pPr eaLnBrk="1" hangingPunct="1"/>
            <a:r>
              <a:rPr lang="es-ES" sz="1400" b="1" i="1" dirty="0">
                <a:solidFill>
                  <a:schemeClr val="bg1"/>
                </a:solidFill>
              </a:rPr>
              <a:t>Frecuencia – Principales Consideraciones</a:t>
            </a:r>
            <a:endParaRPr lang="en-US" sz="1400" b="1" i="1" dirty="0">
              <a:solidFill>
                <a:schemeClr val="bg1"/>
              </a:solidFill>
            </a:endParaRPr>
          </a:p>
        </p:txBody>
      </p:sp>
      <p:sp>
        <p:nvSpPr>
          <p:cNvPr id="6" name="AutoShape 41"/>
          <p:cNvSpPr>
            <a:spLocks noChangeArrowheads="1"/>
          </p:cNvSpPr>
          <p:nvPr/>
        </p:nvSpPr>
        <p:spPr bwMode="auto">
          <a:xfrm>
            <a:off x="96882" y="1413842"/>
            <a:ext cx="1920240" cy="1296987"/>
          </a:xfrm>
          <a:prstGeom prst="roundRect">
            <a:avLst>
              <a:gd name="adj" fmla="val 16667"/>
            </a:avLst>
          </a:prstGeom>
          <a:solidFill>
            <a:srgbClr val="969696"/>
          </a:solidFill>
          <a:ln w="9525" algn="ctr">
            <a:noFill/>
            <a:round/>
            <a:headEnd/>
            <a:tailEnd/>
          </a:ln>
        </p:spPr>
        <p:txBody>
          <a:bodyPr wrap="none" anchor="ctr"/>
          <a:lstStyle/>
          <a:p>
            <a:pPr algn="ctr"/>
            <a:r>
              <a:rPr lang="es-ES" sz="1300" b="1" dirty="0"/>
              <a:t>Frecuencia </a:t>
            </a:r>
            <a:r>
              <a:rPr lang="es-ES" sz="1300" b="1" i="1" dirty="0"/>
              <a:t>Neta</a:t>
            </a:r>
            <a:endParaRPr lang="en-US" sz="1300" b="1" i="1" dirty="0"/>
          </a:p>
        </p:txBody>
      </p:sp>
      <p:sp>
        <p:nvSpPr>
          <p:cNvPr id="7" name="Text Box 42"/>
          <p:cNvSpPr txBox="1">
            <a:spLocks noChangeArrowheads="1"/>
          </p:cNvSpPr>
          <p:nvPr/>
        </p:nvSpPr>
        <p:spPr bwMode="auto">
          <a:xfrm>
            <a:off x="2135603" y="1369838"/>
            <a:ext cx="6855729" cy="1384995"/>
          </a:xfrm>
          <a:prstGeom prst="rect">
            <a:avLst/>
          </a:prstGeom>
          <a:noFill/>
          <a:ln w="9525" algn="ctr">
            <a:noFill/>
            <a:miter lim="800000"/>
            <a:headEnd/>
            <a:tailEnd/>
          </a:ln>
        </p:spPr>
        <p:txBody>
          <a:bodyPr wrap="square">
            <a:spAutoFit/>
          </a:bodyPr>
          <a:lstStyle/>
          <a:p>
            <a:pPr algn="l"/>
            <a:r>
              <a:rPr lang="es-ES" sz="1200" b="0" dirty="0"/>
              <a:t>La frecuencia debe </a:t>
            </a:r>
            <a:r>
              <a:rPr lang="es-ES" sz="1200" b="1" dirty="0"/>
              <a:t>ser estimada “neta” del efecto de los controles y otros factores de reducción del número de eventos de pérdida</a:t>
            </a:r>
            <a:r>
              <a:rPr lang="es-ES" sz="1200" b="0" dirty="0"/>
              <a:t>. Esto es, se estima la frecuencia considerando la existencia de unos determinados controles.</a:t>
            </a:r>
          </a:p>
          <a:p>
            <a:pPr algn="l"/>
            <a:endParaRPr lang="es-ES" sz="1200" b="0" dirty="0"/>
          </a:p>
          <a:p>
            <a:pPr algn="l"/>
            <a:r>
              <a:rPr lang="es-ES" sz="1200" b="0" dirty="0"/>
              <a:t>Ejemplo: el número de eventos que pueden producirse por un error en la introducción de datos podrá ser reducido por la existencia de chequeos que sean realizados de forma recurrente a posteriori. La frecuencia en este caso deberá considerar la existencia de estos controles.</a:t>
            </a:r>
          </a:p>
        </p:txBody>
      </p:sp>
      <p:sp>
        <p:nvSpPr>
          <p:cNvPr id="8" name="AutoShape 51"/>
          <p:cNvSpPr>
            <a:spLocks noChangeArrowheads="1"/>
          </p:cNvSpPr>
          <p:nvPr/>
        </p:nvSpPr>
        <p:spPr bwMode="auto">
          <a:xfrm>
            <a:off x="96882" y="2971668"/>
            <a:ext cx="1920240" cy="1296988"/>
          </a:xfrm>
          <a:prstGeom prst="roundRect">
            <a:avLst>
              <a:gd name="adj" fmla="val 16667"/>
            </a:avLst>
          </a:prstGeom>
          <a:solidFill>
            <a:srgbClr val="969696"/>
          </a:solidFill>
          <a:ln w="9525" algn="ctr">
            <a:noFill/>
            <a:round/>
            <a:headEnd/>
            <a:tailEnd/>
          </a:ln>
        </p:spPr>
        <p:txBody>
          <a:bodyPr wrap="none" anchor="ctr"/>
          <a:lstStyle/>
          <a:p>
            <a:pPr algn="ctr"/>
            <a:r>
              <a:rPr lang="es-ES" sz="1300" b="1" dirty="0"/>
              <a:t>Frecuencia a Futuro</a:t>
            </a:r>
            <a:endParaRPr lang="en-US" sz="1300" b="1" dirty="0"/>
          </a:p>
        </p:txBody>
      </p:sp>
      <p:sp>
        <p:nvSpPr>
          <p:cNvPr id="9" name="Text Box 52"/>
          <p:cNvSpPr txBox="1">
            <a:spLocks noChangeArrowheads="1"/>
          </p:cNvSpPr>
          <p:nvPr/>
        </p:nvSpPr>
        <p:spPr bwMode="auto">
          <a:xfrm>
            <a:off x="2123728" y="3019998"/>
            <a:ext cx="6855729" cy="1200329"/>
          </a:xfrm>
          <a:prstGeom prst="rect">
            <a:avLst/>
          </a:prstGeom>
          <a:noFill/>
          <a:ln w="9525" algn="ctr">
            <a:noFill/>
            <a:miter lim="800000"/>
            <a:headEnd/>
            <a:tailEnd/>
          </a:ln>
        </p:spPr>
        <p:txBody>
          <a:bodyPr wrap="square">
            <a:spAutoFit/>
          </a:bodyPr>
          <a:lstStyle/>
          <a:p>
            <a:pPr algn="l"/>
            <a:r>
              <a:rPr lang="es-ES" sz="1200" b="0" dirty="0"/>
              <a:t>Se estima la </a:t>
            </a:r>
            <a:r>
              <a:rPr lang="es-ES" sz="1200" b="1" dirty="0"/>
              <a:t>frecuencia de ocurrencia del evento a futuro (no las ocurrencias en el pasado). </a:t>
            </a:r>
          </a:p>
          <a:p>
            <a:pPr algn="l"/>
            <a:r>
              <a:rPr lang="es-ES" sz="1200" b="0" dirty="0"/>
              <a:t>Por tanto, la estimación, además de basarse en la experiencia histórica de la Entidad, </a:t>
            </a:r>
            <a:r>
              <a:rPr lang="es-ES" sz="1200" dirty="0"/>
              <a:t>i</a:t>
            </a:r>
            <a:r>
              <a:rPr lang="es-ES" sz="1200" b="1" dirty="0"/>
              <a:t>ncorpora la visión del responsable sobre la probabilidad de ocurrencia futura </a:t>
            </a:r>
            <a:r>
              <a:rPr lang="es-ES" sz="1200" b="0" dirty="0"/>
              <a:t>considerando todos los factores que estime necesarios .</a:t>
            </a:r>
          </a:p>
          <a:p>
            <a:pPr algn="l"/>
            <a:endParaRPr lang="es-ES" sz="1200" b="0" dirty="0"/>
          </a:p>
          <a:p>
            <a:pPr algn="l"/>
            <a:r>
              <a:rPr lang="es-ES" sz="1200" b="0" dirty="0"/>
              <a:t>Ejemplo: cambios efectuados en nuevos procesos, mejoras en sistemas, mejoras en controles, etc.)</a:t>
            </a:r>
          </a:p>
        </p:txBody>
      </p:sp>
      <p:sp>
        <p:nvSpPr>
          <p:cNvPr id="10" name="AutoShape 55"/>
          <p:cNvSpPr>
            <a:spLocks noChangeArrowheads="1"/>
          </p:cNvSpPr>
          <p:nvPr/>
        </p:nvSpPr>
        <p:spPr bwMode="auto">
          <a:xfrm>
            <a:off x="96882" y="4551650"/>
            <a:ext cx="1920240" cy="1296987"/>
          </a:xfrm>
          <a:prstGeom prst="roundRect">
            <a:avLst>
              <a:gd name="adj" fmla="val 16667"/>
            </a:avLst>
          </a:prstGeom>
          <a:solidFill>
            <a:srgbClr val="969696"/>
          </a:solidFill>
          <a:ln w="9525" algn="ctr">
            <a:noFill/>
            <a:round/>
            <a:headEnd/>
            <a:tailEnd/>
          </a:ln>
        </p:spPr>
        <p:txBody>
          <a:bodyPr anchor="ctr"/>
          <a:lstStyle/>
          <a:p>
            <a:pPr algn="ctr"/>
            <a:r>
              <a:rPr lang="es-ES" sz="1300" b="1" dirty="0"/>
              <a:t>Concurrencia de varios factores</a:t>
            </a:r>
            <a:endParaRPr lang="en-US" sz="1300" b="1" dirty="0"/>
          </a:p>
        </p:txBody>
      </p:sp>
      <p:sp>
        <p:nvSpPr>
          <p:cNvPr id="11" name="Text Box 56"/>
          <p:cNvSpPr txBox="1">
            <a:spLocks noChangeArrowheads="1"/>
          </p:cNvSpPr>
          <p:nvPr/>
        </p:nvSpPr>
        <p:spPr bwMode="auto">
          <a:xfrm>
            <a:off x="2123728" y="4415313"/>
            <a:ext cx="6855729" cy="1569660"/>
          </a:xfrm>
          <a:prstGeom prst="rect">
            <a:avLst/>
          </a:prstGeom>
          <a:noFill/>
          <a:ln w="9525" algn="ctr">
            <a:noFill/>
            <a:miter lim="800000"/>
            <a:headEnd/>
            <a:tailEnd/>
          </a:ln>
        </p:spPr>
        <p:txBody>
          <a:bodyPr wrap="square">
            <a:spAutoFit/>
          </a:bodyPr>
          <a:lstStyle/>
          <a:p>
            <a:pPr algn="l"/>
            <a:r>
              <a:rPr lang="es-ES" sz="1200" b="0" dirty="0"/>
              <a:t>En algunos casos en que un evento </a:t>
            </a:r>
            <a:r>
              <a:rPr lang="es-ES" sz="1200" dirty="0"/>
              <a:t>sea la suma de ocurrencia de un conjunto de factores</a:t>
            </a:r>
            <a:r>
              <a:rPr lang="es-ES" sz="1200" b="0" dirty="0"/>
              <a:t>, la </a:t>
            </a:r>
            <a:r>
              <a:rPr lang="es-ES" sz="1200" dirty="0"/>
              <a:t>estimación de la </a:t>
            </a:r>
            <a:r>
              <a:rPr lang="es-ES" sz="1200" b="1" dirty="0"/>
              <a:t>frecuencia podrá verse facilitada a partir de la descomposición de los mismos </a:t>
            </a:r>
            <a:r>
              <a:rPr lang="es-ES" sz="1200" b="0" dirty="0"/>
              <a:t>y la valoración de </a:t>
            </a:r>
            <a:r>
              <a:rPr lang="es-ES" sz="1200" b="1" dirty="0"/>
              <a:t>probabilidad de ocurrencia total. </a:t>
            </a:r>
          </a:p>
          <a:p>
            <a:pPr algn="l"/>
            <a:endParaRPr lang="es-ES" sz="1200" b="0" dirty="0"/>
          </a:p>
          <a:p>
            <a:pPr algn="l"/>
            <a:r>
              <a:rPr lang="es-ES" sz="1200" b="0" dirty="0"/>
              <a:t>Ejemplo: en el caso de caídas de sistemas o fallos en las aplicaciones que generan la aplicación de comisiones por debajo de lo originalmente establecido, se debería considerar la coincidencia de dos factores: el que suceda una caída de sistemas, y que ello produzca una aplicación de comisiones por debajo de lo establecido.</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dirty="0"/>
              <a:t>Anexo: Metodología de Evaluación Cualitativa</a:t>
            </a:r>
          </a:p>
        </p:txBody>
      </p:sp>
      <p:sp>
        <p:nvSpPr>
          <p:cNvPr id="4" name="Line 26"/>
          <p:cNvSpPr>
            <a:spLocks noChangeShapeType="1"/>
          </p:cNvSpPr>
          <p:nvPr/>
        </p:nvSpPr>
        <p:spPr bwMode="auto">
          <a:xfrm>
            <a:off x="8915400" y="5002761"/>
            <a:ext cx="0" cy="771525"/>
          </a:xfrm>
          <a:prstGeom prst="line">
            <a:avLst/>
          </a:prstGeom>
          <a:noFill/>
          <a:ln w="28575" cap="sq">
            <a:noFill/>
            <a:round/>
            <a:headEnd/>
            <a:tailEnd/>
          </a:ln>
        </p:spPr>
        <p:txBody>
          <a:bodyPr lIns="95782" tIns="47891" rIns="95782" bIns="47891"/>
          <a:lstStyle/>
          <a:p>
            <a:endParaRPr lang="es-ES" dirty="0"/>
          </a:p>
        </p:txBody>
      </p:sp>
      <p:sp>
        <p:nvSpPr>
          <p:cNvPr id="5" name="Line 29"/>
          <p:cNvSpPr>
            <a:spLocks noChangeShapeType="1"/>
          </p:cNvSpPr>
          <p:nvPr/>
        </p:nvSpPr>
        <p:spPr bwMode="auto">
          <a:xfrm>
            <a:off x="4953000" y="5388523"/>
            <a:ext cx="3962400" cy="0"/>
          </a:xfrm>
          <a:prstGeom prst="line">
            <a:avLst/>
          </a:prstGeom>
          <a:noFill/>
          <a:ln w="28575" cap="sq">
            <a:noFill/>
            <a:round/>
            <a:headEnd/>
            <a:tailEnd/>
          </a:ln>
        </p:spPr>
        <p:txBody>
          <a:bodyPr lIns="95782" tIns="47891" rIns="95782" bIns="47891"/>
          <a:lstStyle/>
          <a:p>
            <a:endParaRPr lang="es-ES" dirty="0"/>
          </a:p>
        </p:txBody>
      </p:sp>
      <p:sp>
        <p:nvSpPr>
          <p:cNvPr id="6" name="Rectangle 4"/>
          <p:cNvSpPr>
            <a:spLocks noChangeArrowheads="1"/>
          </p:cNvSpPr>
          <p:nvPr/>
        </p:nvSpPr>
        <p:spPr bwMode="auto">
          <a:xfrm>
            <a:off x="408016" y="692696"/>
            <a:ext cx="8235950" cy="5276344"/>
          </a:xfrm>
          <a:prstGeom prst="rect">
            <a:avLst/>
          </a:prstGeom>
          <a:noFill/>
          <a:ln w="9525">
            <a:noFill/>
            <a:miter lim="800000"/>
            <a:headEnd/>
            <a:tailEnd/>
          </a:ln>
        </p:spPr>
        <p:txBody>
          <a:bodyPr/>
          <a:lstStyle/>
          <a:p>
            <a:pPr algn="just" eaLnBrk="1" hangingPunct="1">
              <a:spcBef>
                <a:spcPts val="600"/>
              </a:spcBef>
              <a:spcAft>
                <a:spcPts val="0"/>
              </a:spcAft>
              <a:buClr>
                <a:schemeClr val="accent6">
                  <a:lumMod val="75000"/>
                </a:schemeClr>
              </a:buClr>
            </a:pPr>
            <a:r>
              <a:rPr lang="es-ES" sz="1600" b="1" dirty="0">
                <a:solidFill>
                  <a:srgbClr val="4D4D4D"/>
                </a:solidFill>
                <a:latin typeface="+mj-lt"/>
                <a:sym typeface="Wingdings" pitchFamily="2" charset="2"/>
              </a:rPr>
              <a:t>Elementos a evaluar - Riesgos</a:t>
            </a:r>
          </a:p>
        </p:txBody>
      </p:sp>
      <p:sp>
        <p:nvSpPr>
          <p:cNvPr id="7" name="AutoShape 40">
            <a:hlinkClick r:id="" action="ppaction://noaction"/>
          </p:cNvPr>
          <p:cNvSpPr>
            <a:spLocks noChangeArrowheads="1"/>
          </p:cNvSpPr>
          <p:nvPr/>
        </p:nvSpPr>
        <p:spPr bwMode="auto">
          <a:xfrm>
            <a:off x="69854" y="1052736"/>
            <a:ext cx="9030604" cy="288925"/>
          </a:xfrm>
          <a:prstGeom prst="roundRect">
            <a:avLst>
              <a:gd name="adj" fmla="val 16667"/>
            </a:avLst>
          </a:prstGeom>
          <a:solidFill>
            <a:srgbClr val="DB0613"/>
          </a:solidFill>
          <a:ln w="9525" algn="ctr">
            <a:solidFill>
              <a:srgbClr val="FFFFFF"/>
            </a:solidFill>
            <a:round/>
            <a:headEnd/>
            <a:tailEnd/>
          </a:ln>
        </p:spPr>
        <p:txBody>
          <a:bodyPr anchor="ctr"/>
          <a:lstStyle/>
          <a:p>
            <a:pPr eaLnBrk="1" hangingPunct="1"/>
            <a:r>
              <a:rPr lang="es-ES" sz="1400" b="1" i="1" dirty="0">
                <a:solidFill>
                  <a:schemeClr val="bg1"/>
                </a:solidFill>
              </a:rPr>
              <a:t>Impacto – Principales Consideraciones</a:t>
            </a:r>
            <a:endParaRPr lang="en-US" sz="1400" b="1" i="1" dirty="0">
              <a:solidFill>
                <a:schemeClr val="bg1"/>
              </a:solidFill>
            </a:endParaRPr>
          </a:p>
        </p:txBody>
      </p:sp>
      <p:sp>
        <p:nvSpPr>
          <p:cNvPr id="8" name="AutoShape 7"/>
          <p:cNvSpPr>
            <a:spLocks noChangeArrowheads="1"/>
          </p:cNvSpPr>
          <p:nvPr/>
        </p:nvSpPr>
        <p:spPr bwMode="auto">
          <a:xfrm>
            <a:off x="118161" y="1592173"/>
            <a:ext cx="1920240" cy="1296987"/>
          </a:xfrm>
          <a:prstGeom prst="roundRect">
            <a:avLst>
              <a:gd name="adj" fmla="val 16667"/>
            </a:avLst>
          </a:prstGeom>
          <a:solidFill>
            <a:srgbClr val="969696"/>
          </a:solidFill>
          <a:ln w="9525" algn="ctr">
            <a:noFill/>
            <a:round/>
            <a:headEnd/>
            <a:tailEnd/>
          </a:ln>
        </p:spPr>
        <p:txBody>
          <a:bodyPr wrap="none" anchor="ctr"/>
          <a:lstStyle/>
          <a:p>
            <a:pPr algn="ctr"/>
            <a:r>
              <a:rPr lang="es-ES" sz="1300" b="1" dirty="0"/>
              <a:t>Impacto Medio</a:t>
            </a:r>
            <a:endParaRPr lang="en-US" sz="1300" b="1" dirty="0"/>
          </a:p>
        </p:txBody>
      </p:sp>
      <p:sp>
        <p:nvSpPr>
          <p:cNvPr id="9" name="Text Box 8"/>
          <p:cNvSpPr txBox="1">
            <a:spLocks noChangeArrowheads="1"/>
          </p:cNvSpPr>
          <p:nvPr/>
        </p:nvSpPr>
        <p:spPr bwMode="auto">
          <a:xfrm>
            <a:off x="2065781" y="1363503"/>
            <a:ext cx="6898707" cy="1754326"/>
          </a:xfrm>
          <a:prstGeom prst="rect">
            <a:avLst/>
          </a:prstGeom>
          <a:noFill/>
          <a:ln w="9525" algn="ctr">
            <a:noFill/>
            <a:miter lim="800000"/>
            <a:headEnd/>
            <a:tailEnd/>
          </a:ln>
        </p:spPr>
        <p:txBody>
          <a:bodyPr wrap="square">
            <a:spAutoFit/>
          </a:bodyPr>
          <a:lstStyle/>
          <a:p>
            <a:pPr algn="l"/>
            <a:r>
              <a:rPr lang="es-ES" sz="1200" b="0" dirty="0"/>
              <a:t>Se estima </a:t>
            </a:r>
            <a:r>
              <a:rPr lang="es-ES" sz="1200" b="1" dirty="0"/>
              <a:t>el impacto medio que la ocurrencia de dicho evento de pérdida puede originar en un futuro próximo</a:t>
            </a:r>
            <a:r>
              <a:rPr lang="es-ES" sz="1200" b="0" dirty="0"/>
              <a:t>, en base a la </a:t>
            </a:r>
            <a:r>
              <a:rPr lang="es-ES" sz="1200" b="1" dirty="0"/>
              <a:t>experiencia histórica</a:t>
            </a:r>
            <a:r>
              <a:rPr lang="es-ES" sz="1200" b="0" dirty="0"/>
              <a:t>, para aquellas pérdidas que ya se hayan producido alguna vez en la Entidad, y se utiliza un </a:t>
            </a:r>
            <a:r>
              <a:rPr lang="es-ES" sz="1200" b="1" dirty="0"/>
              <a:t>criterio razonable </a:t>
            </a:r>
            <a:r>
              <a:rPr lang="es-ES" sz="1200" b="0" dirty="0"/>
              <a:t>para aquéllas que nunca hayan acontecido.</a:t>
            </a:r>
          </a:p>
          <a:p>
            <a:pPr algn="l"/>
            <a:endParaRPr lang="es-ES" sz="1200" b="0" dirty="0"/>
          </a:p>
          <a:p>
            <a:pPr algn="l"/>
            <a:r>
              <a:rPr lang="es-ES" sz="1200" b="0" dirty="0"/>
              <a:t>Estimar un valor “medio” implica que </a:t>
            </a:r>
            <a:r>
              <a:rPr lang="es-ES" sz="1200" dirty="0"/>
              <a:t>si para un determinado riesgo </a:t>
            </a:r>
            <a:r>
              <a:rPr lang="es-ES" sz="1200" b="0" dirty="0"/>
              <a:t>(p.e. extravío de los documentos) </a:t>
            </a:r>
            <a:r>
              <a:rPr lang="es-ES" sz="1200" dirty="0"/>
              <a:t>existe un evento de pérdida </a:t>
            </a:r>
            <a:r>
              <a:rPr lang="es-ES" sz="1200" b="0" dirty="0"/>
              <a:t>(p.e. comisiones de intercambio por devolución) </a:t>
            </a:r>
            <a:r>
              <a:rPr lang="es-ES" sz="1200" dirty="0"/>
              <a:t>con una frecuencia y un impacto y otro evento de pérdida </a:t>
            </a:r>
            <a:r>
              <a:rPr lang="es-ES" sz="1200" b="0" dirty="0"/>
              <a:t>(p.e. quebranto derivado de imposibilidad de recuperar el importe del documento) con </a:t>
            </a:r>
            <a:r>
              <a:rPr lang="es-ES" sz="1200" dirty="0"/>
              <a:t>frecuencia e impacto diferentes</a:t>
            </a:r>
            <a:r>
              <a:rPr lang="es-ES" sz="1200" b="0" dirty="0"/>
              <a:t>, el importe a introducir en el cuestionario </a:t>
            </a:r>
            <a:r>
              <a:rPr lang="es-ES" sz="1200" dirty="0"/>
              <a:t>son la frecuencia y el impacto medios.</a:t>
            </a:r>
          </a:p>
        </p:txBody>
      </p:sp>
      <p:sp>
        <p:nvSpPr>
          <p:cNvPr id="10" name="AutoShape 9"/>
          <p:cNvSpPr>
            <a:spLocks noChangeArrowheads="1"/>
          </p:cNvSpPr>
          <p:nvPr/>
        </p:nvSpPr>
        <p:spPr bwMode="auto">
          <a:xfrm>
            <a:off x="118161" y="3246462"/>
            <a:ext cx="1920240" cy="1296988"/>
          </a:xfrm>
          <a:prstGeom prst="roundRect">
            <a:avLst>
              <a:gd name="adj" fmla="val 16667"/>
            </a:avLst>
          </a:prstGeom>
          <a:solidFill>
            <a:srgbClr val="969696"/>
          </a:solidFill>
          <a:ln w="9525" algn="ctr">
            <a:noFill/>
            <a:round/>
            <a:headEnd/>
            <a:tailEnd/>
          </a:ln>
        </p:spPr>
        <p:txBody>
          <a:bodyPr wrap="none" anchor="ctr"/>
          <a:lstStyle/>
          <a:p>
            <a:pPr algn="ctr"/>
            <a:r>
              <a:rPr lang="es-ES" sz="1300" b="1" dirty="0"/>
              <a:t>Costes Extras</a:t>
            </a:r>
            <a:endParaRPr lang="en-US" sz="1300" b="1" dirty="0"/>
          </a:p>
        </p:txBody>
      </p:sp>
      <p:sp>
        <p:nvSpPr>
          <p:cNvPr id="11" name="Text Box 10"/>
          <p:cNvSpPr txBox="1">
            <a:spLocks noChangeArrowheads="1"/>
          </p:cNvSpPr>
          <p:nvPr/>
        </p:nvSpPr>
        <p:spPr bwMode="auto">
          <a:xfrm>
            <a:off x="2065781" y="3110126"/>
            <a:ext cx="6826699" cy="1569660"/>
          </a:xfrm>
          <a:prstGeom prst="rect">
            <a:avLst/>
          </a:prstGeom>
          <a:noFill/>
          <a:ln w="9525" algn="ctr">
            <a:noFill/>
            <a:miter lim="800000"/>
            <a:headEnd/>
            <a:tailEnd/>
          </a:ln>
        </p:spPr>
        <p:txBody>
          <a:bodyPr wrap="square">
            <a:spAutoFit/>
          </a:bodyPr>
          <a:lstStyle/>
          <a:p>
            <a:pPr algn="l"/>
            <a:r>
              <a:rPr lang="es-ES" sz="1200" b="0" dirty="0"/>
              <a:t>La </a:t>
            </a:r>
            <a:r>
              <a:rPr lang="es-ES" sz="1200" dirty="0"/>
              <a:t>cuantificación del impacto debe recoger </a:t>
            </a:r>
            <a:r>
              <a:rPr lang="es-ES" sz="1200" b="1" dirty="0"/>
              <a:t>todos los costos extras derivados del evento operacional de pérdida en que no se hubiera incurrido de no haberse producido</a:t>
            </a:r>
            <a:r>
              <a:rPr lang="es-ES" sz="1200" b="0" dirty="0"/>
              <a:t>: (1) </a:t>
            </a:r>
            <a:r>
              <a:rPr lang="es-ES" sz="1200" b="1" dirty="0"/>
              <a:t>indemnizaciones</a:t>
            </a:r>
            <a:r>
              <a:rPr lang="es-ES" sz="1200" b="0" dirty="0"/>
              <a:t> (ej. Intereses por retrasos en liquidaciones, etc.); (2</a:t>
            </a:r>
            <a:r>
              <a:rPr lang="es-ES" sz="1200" dirty="0"/>
              <a:t>)</a:t>
            </a:r>
            <a:r>
              <a:rPr lang="es-ES" sz="1200" b="1" dirty="0"/>
              <a:t> pérdida de recursos  </a:t>
            </a:r>
            <a:r>
              <a:rPr lang="es-ES" sz="1200" b="0" dirty="0"/>
              <a:t>(ej. Pagos realizados a una contrapartida incorrecta no devueltos, errores en la documentación legal que impiden la reclamación a terceros, etc.); (3) </a:t>
            </a:r>
            <a:r>
              <a:rPr lang="es-ES" sz="1200" b="1" dirty="0"/>
              <a:t>castigos</a:t>
            </a:r>
            <a:r>
              <a:rPr lang="es-ES" sz="1200" dirty="0"/>
              <a:t> </a:t>
            </a:r>
            <a:r>
              <a:rPr lang="es-ES" sz="1200" b="0" dirty="0"/>
              <a:t>(ej. Fraudes, pérdidas por contrataciones no autorizadas, pérdidas derivadas de contrataciones con contrapartes con líneas excedidas, etc.); (4) </a:t>
            </a:r>
            <a:r>
              <a:rPr lang="es-ES" sz="1200" b="1" dirty="0"/>
              <a:t>acciones regulatorias </a:t>
            </a:r>
            <a:r>
              <a:rPr lang="es-ES" sz="1200" b="0" dirty="0"/>
              <a:t>(ej: multas, etc.); (5) </a:t>
            </a:r>
            <a:r>
              <a:rPr lang="es-ES" sz="1200" b="1" dirty="0"/>
              <a:t>pérdidas o daños en los activos</a:t>
            </a:r>
            <a:r>
              <a:rPr lang="es-ES" sz="1200" b="0" dirty="0"/>
              <a:t>: (ej: negligencias, accidentes, fuegos, etc.); (6) </a:t>
            </a:r>
            <a:r>
              <a:rPr lang="es-ES" sz="1200" b="1" dirty="0"/>
              <a:t>contingencias legales </a:t>
            </a:r>
            <a:r>
              <a:rPr lang="es-ES" sz="1200" b="0" dirty="0"/>
              <a:t>(ej. gastos de abogados, etc.)</a:t>
            </a:r>
          </a:p>
        </p:txBody>
      </p:sp>
      <p:sp>
        <p:nvSpPr>
          <p:cNvPr id="12" name="AutoShape 11"/>
          <p:cNvSpPr>
            <a:spLocks noChangeArrowheads="1"/>
          </p:cNvSpPr>
          <p:nvPr/>
        </p:nvSpPr>
        <p:spPr bwMode="auto">
          <a:xfrm>
            <a:off x="118161" y="4740030"/>
            <a:ext cx="1920240" cy="1296987"/>
          </a:xfrm>
          <a:prstGeom prst="roundRect">
            <a:avLst>
              <a:gd name="adj" fmla="val 16667"/>
            </a:avLst>
          </a:prstGeom>
          <a:solidFill>
            <a:srgbClr val="969696"/>
          </a:solidFill>
          <a:ln w="9525" algn="ctr">
            <a:noFill/>
            <a:round/>
            <a:headEnd/>
            <a:tailEnd/>
          </a:ln>
        </p:spPr>
        <p:txBody>
          <a:bodyPr wrap="none" anchor="ctr"/>
          <a:lstStyle/>
          <a:p>
            <a:pPr algn="ctr"/>
            <a:r>
              <a:rPr lang="es-ES" sz="1300" b="1" dirty="0"/>
              <a:t>Impactos Netos</a:t>
            </a:r>
            <a:endParaRPr lang="en-US" sz="1300" b="1" dirty="0"/>
          </a:p>
        </p:txBody>
      </p:sp>
      <p:sp>
        <p:nvSpPr>
          <p:cNvPr id="13" name="Text Box 12"/>
          <p:cNvSpPr txBox="1">
            <a:spLocks noChangeArrowheads="1"/>
          </p:cNvSpPr>
          <p:nvPr/>
        </p:nvSpPr>
        <p:spPr bwMode="auto">
          <a:xfrm>
            <a:off x="2065781" y="4880692"/>
            <a:ext cx="7034677" cy="1015663"/>
          </a:xfrm>
          <a:prstGeom prst="rect">
            <a:avLst/>
          </a:prstGeom>
          <a:noFill/>
          <a:ln w="9525" algn="ctr">
            <a:noFill/>
            <a:miter lim="800000"/>
            <a:headEnd/>
            <a:tailEnd/>
          </a:ln>
        </p:spPr>
        <p:txBody>
          <a:bodyPr wrap="square">
            <a:spAutoFit/>
          </a:bodyPr>
          <a:lstStyle/>
          <a:p>
            <a:pPr algn="l"/>
            <a:r>
              <a:rPr lang="es-ES" sz="1200" b="0" dirty="0"/>
              <a:t>Los impactos </a:t>
            </a:r>
            <a:r>
              <a:rPr lang="es-ES" sz="1200" b="1" dirty="0"/>
              <a:t>deberán ser estimados “netos” del efecto de los controles</a:t>
            </a:r>
            <a:r>
              <a:rPr lang="es-ES" sz="1200" dirty="0"/>
              <a:t> y </a:t>
            </a:r>
            <a:r>
              <a:rPr lang="es-ES" sz="1200" b="1" dirty="0"/>
              <a:t>otros factores de reducción de pérdidas . </a:t>
            </a:r>
          </a:p>
          <a:p>
            <a:pPr algn="l"/>
            <a:endParaRPr lang="es-ES" sz="1200" b="0" dirty="0"/>
          </a:p>
          <a:p>
            <a:pPr algn="l"/>
            <a:r>
              <a:rPr lang="es-ES" sz="1200" b="0" dirty="0"/>
              <a:t>Ejemplo: en el caso de que existan controles a partir de un determinado importe, niveles de autorización, etc. el impacto medio del evento deberá considerar la existencia de este control.</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dirty="0"/>
              <a:t>Anexo: Metodología de Evaluación Cualitativa</a:t>
            </a:r>
          </a:p>
        </p:txBody>
      </p:sp>
      <p:sp>
        <p:nvSpPr>
          <p:cNvPr id="3" name="Rectangle 4"/>
          <p:cNvSpPr>
            <a:spLocks noChangeArrowheads="1"/>
          </p:cNvSpPr>
          <p:nvPr/>
        </p:nvSpPr>
        <p:spPr bwMode="auto">
          <a:xfrm>
            <a:off x="408016" y="888960"/>
            <a:ext cx="8235950" cy="5276344"/>
          </a:xfrm>
          <a:prstGeom prst="rect">
            <a:avLst/>
          </a:prstGeom>
          <a:noFill/>
          <a:ln w="9525">
            <a:noFill/>
            <a:miter lim="800000"/>
            <a:headEnd/>
            <a:tailEnd/>
          </a:ln>
        </p:spPr>
        <p:txBody>
          <a:bodyPr/>
          <a:lstStyle/>
          <a:p>
            <a:pPr algn="just" eaLnBrk="1" hangingPunct="1">
              <a:spcBef>
                <a:spcPts val="600"/>
              </a:spcBef>
              <a:spcAft>
                <a:spcPts val="0"/>
              </a:spcAft>
              <a:buClr>
                <a:schemeClr val="accent6">
                  <a:lumMod val="75000"/>
                </a:schemeClr>
              </a:buClr>
            </a:pPr>
            <a:r>
              <a:rPr lang="es-ES" sz="1600" b="1" dirty="0">
                <a:solidFill>
                  <a:srgbClr val="4D4D4D"/>
                </a:solidFill>
                <a:latin typeface="+mj-lt"/>
                <a:sym typeface="Wingdings" pitchFamily="2" charset="2"/>
              </a:rPr>
              <a:t>Elementos a evaluar - Controles</a:t>
            </a:r>
          </a:p>
        </p:txBody>
      </p:sp>
      <p:sp>
        <p:nvSpPr>
          <p:cNvPr id="4" name="Line 30"/>
          <p:cNvSpPr>
            <a:spLocks noChangeShapeType="1"/>
          </p:cNvSpPr>
          <p:nvPr/>
        </p:nvSpPr>
        <p:spPr bwMode="auto">
          <a:xfrm flipV="1">
            <a:off x="3473494" y="2017552"/>
            <a:ext cx="5268858" cy="3175"/>
          </a:xfrm>
          <a:prstGeom prst="line">
            <a:avLst/>
          </a:prstGeom>
          <a:noFill/>
          <a:ln w="9525">
            <a:solidFill>
              <a:srgbClr val="C0C0C0"/>
            </a:solidFill>
            <a:round/>
            <a:headEnd/>
            <a:tailEnd/>
          </a:ln>
        </p:spPr>
        <p:txBody>
          <a:bodyPr wrap="none" anchor="ctr"/>
          <a:lstStyle/>
          <a:p>
            <a:endParaRPr lang="en-US" dirty="0"/>
          </a:p>
        </p:txBody>
      </p:sp>
      <p:sp>
        <p:nvSpPr>
          <p:cNvPr id="5" name="AutoShape 36"/>
          <p:cNvSpPr>
            <a:spLocks noChangeArrowheads="1"/>
          </p:cNvSpPr>
          <p:nvPr/>
        </p:nvSpPr>
        <p:spPr bwMode="auto">
          <a:xfrm>
            <a:off x="1859006" y="2338919"/>
            <a:ext cx="1589088" cy="1160462"/>
          </a:xfrm>
          <a:prstGeom prst="roundRect">
            <a:avLst>
              <a:gd name="adj" fmla="val 16667"/>
            </a:avLst>
          </a:prstGeom>
          <a:solidFill>
            <a:srgbClr val="DDDDDD"/>
          </a:solidFill>
          <a:ln w="9525" algn="ctr">
            <a:noFill/>
            <a:round/>
            <a:headEnd/>
            <a:tailEnd/>
          </a:ln>
        </p:spPr>
        <p:txBody>
          <a:bodyPr wrap="none" anchor="ctr"/>
          <a:lstStyle/>
          <a:p>
            <a:pPr algn="ctr"/>
            <a:r>
              <a:rPr lang="es-ES" sz="1200" b="1" dirty="0"/>
              <a:t>Cobertura</a:t>
            </a:r>
            <a:endParaRPr lang="en-US" sz="1200" b="1" dirty="0"/>
          </a:p>
        </p:txBody>
      </p:sp>
      <p:sp>
        <p:nvSpPr>
          <p:cNvPr id="6" name="AutoShape 38"/>
          <p:cNvSpPr>
            <a:spLocks noChangeArrowheads="1"/>
          </p:cNvSpPr>
          <p:nvPr/>
        </p:nvSpPr>
        <p:spPr bwMode="auto">
          <a:xfrm>
            <a:off x="1859006" y="3615962"/>
            <a:ext cx="1589088" cy="1158875"/>
          </a:xfrm>
          <a:prstGeom prst="roundRect">
            <a:avLst>
              <a:gd name="adj" fmla="val 16667"/>
            </a:avLst>
          </a:prstGeom>
          <a:solidFill>
            <a:srgbClr val="DDDDDD"/>
          </a:solidFill>
          <a:ln w="9525" algn="ctr">
            <a:noFill/>
            <a:round/>
            <a:headEnd/>
            <a:tailEnd/>
          </a:ln>
        </p:spPr>
        <p:txBody>
          <a:bodyPr wrap="none" anchor="ctr"/>
          <a:lstStyle/>
          <a:p>
            <a:pPr algn="ctr"/>
            <a:r>
              <a:rPr lang="es-ES" sz="1200" b="1" dirty="0"/>
              <a:t>Efectividad</a:t>
            </a:r>
            <a:endParaRPr lang="en-US" sz="1200" b="1" dirty="0"/>
          </a:p>
        </p:txBody>
      </p:sp>
      <p:sp>
        <p:nvSpPr>
          <p:cNvPr id="7" name="Rectangle 42"/>
          <p:cNvSpPr>
            <a:spLocks noChangeArrowheads="1"/>
          </p:cNvSpPr>
          <p:nvPr/>
        </p:nvSpPr>
        <p:spPr bwMode="auto">
          <a:xfrm>
            <a:off x="376281" y="2325324"/>
            <a:ext cx="1406525" cy="2449513"/>
          </a:xfrm>
          <a:prstGeom prst="flowChartAlternateProcess">
            <a:avLst/>
          </a:prstGeom>
          <a:solidFill>
            <a:srgbClr val="DB0613"/>
          </a:solidFill>
          <a:ln w="9525" algn="ctr">
            <a:noFill/>
            <a:miter lim="800000"/>
            <a:headEnd/>
            <a:tailEnd/>
          </a:ln>
        </p:spPr>
        <p:txBody>
          <a:bodyPr wrap="none" anchor="ctr"/>
          <a:lstStyle/>
          <a:p>
            <a:pPr algn="ctr"/>
            <a:r>
              <a:rPr lang="es-ES" sz="1200" b="1" dirty="0">
                <a:solidFill>
                  <a:schemeClr val="bg1"/>
                </a:solidFill>
              </a:rPr>
              <a:t>Control/</a:t>
            </a:r>
          </a:p>
          <a:p>
            <a:pPr algn="ctr"/>
            <a:r>
              <a:rPr lang="es-ES" sz="1200" b="1" dirty="0">
                <a:solidFill>
                  <a:schemeClr val="bg1"/>
                </a:solidFill>
              </a:rPr>
              <a:t>Factor Mitigante</a:t>
            </a:r>
            <a:endParaRPr lang="en-US" sz="1200" b="1" baseline="30000" dirty="0">
              <a:solidFill>
                <a:schemeClr val="bg1"/>
              </a:solidFill>
            </a:endParaRPr>
          </a:p>
        </p:txBody>
      </p:sp>
      <p:sp>
        <p:nvSpPr>
          <p:cNvPr id="8" name="Text Box 54"/>
          <p:cNvSpPr txBox="1">
            <a:spLocks noChangeArrowheads="1"/>
          </p:cNvSpPr>
          <p:nvPr/>
        </p:nvSpPr>
        <p:spPr bwMode="auto">
          <a:xfrm>
            <a:off x="3473494" y="2318986"/>
            <a:ext cx="5268858" cy="1015663"/>
          </a:xfrm>
          <a:prstGeom prst="rect">
            <a:avLst/>
          </a:prstGeom>
          <a:noFill/>
          <a:ln w="9525" algn="ctr">
            <a:noFill/>
            <a:miter lim="800000"/>
            <a:headEnd/>
            <a:tailEnd/>
          </a:ln>
        </p:spPr>
        <p:txBody>
          <a:bodyPr wrap="square">
            <a:spAutoFit/>
          </a:bodyPr>
          <a:lstStyle/>
          <a:p>
            <a:pPr algn="just">
              <a:spcAft>
                <a:spcPct val="100000"/>
              </a:spcAft>
            </a:pPr>
            <a:r>
              <a:rPr lang="es-ES" sz="1200" b="0" dirty="0"/>
              <a:t>Se valora la cobertura, entendida como el </a:t>
            </a:r>
            <a:r>
              <a:rPr lang="es-ES" sz="1200" b="1" dirty="0"/>
              <a:t>grado de implantación </a:t>
            </a:r>
            <a:r>
              <a:rPr lang="es-ES" sz="1200" b="0" dirty="0"/>
              <a:t>de dicho control en el seno de la Entidad </a:t>
            </a:r>
            <a:r>
              <a:rPr lang="es-ES" sz="1200" dirty="0"/>
              <a:t>para el c</a:t>
            </a:r>
            <a:r>
              <a:rPr lang="es-ES" sz="1200" b="1" dirty="0"/>
              <a:t>onjunto de las operaciones a las que puede afectar ese riesgo</a:t>
            </a:r>
            <a:r>
              <a:rPr lang="es-ES" sz="1200" b="0" dirty="0"/>
              <a:t>. De esta forma, se permite identificar aquellos controles que siendo relevantes no están implantados en </a:t>
            </a:r>
            <a:r>
              <a:rPr lang="es-ES" sz="1200" b="0" dirty="0" err="1"/>
              <a:t>Rimac</a:t>
            </a:r>
            <a:r>
              <a:rPr lang="es-ES" sz="1200" b="0" dirty="0"/>
              <a:t>, identificándose de este modo posibles acciones de mejora (Planes de Acción).</a:t>
            </a:r>
            <a:endParaRPr lang="en-US" sz="1200" b="0" dirty="0"/>
          </a:p>
        </p:txBody>
      </p:sp>
      <p:sp>
        <p:nvSpPr>
          <p:cNvPr id="9" name="Text Box 56"/>
          <p:cNvSpPr txBox="1">
            <a:spLocks noChangeArrowheads="1"/>
          </p:cNvSpPr>
          <p:nvPr/>
        </p:nvSpPr>
        <p:spPr bwMode="auto">
          <a:xfrm>
            <a:off x="3473494" y="3779901"/>
            <a:ext cx="5268858" cy="830997"/>
          </a:xfrm>
          <a:prstGeom prst="rect">
            <a:avLst/>
          </a:prstGeom>
          <a:noFill/>
          <a:ln w="9525" algn="ctr">
            <a:noFill/>
            <a:miter lim="800000"/>
            <a:headEnd/>
            <a:tailEnd/>
          </a:ln>
        </p:spPr>
        <p:txBody>
          <a:bodyPr wrap="square">
            <a:spAutoFit/>
          </a:bodyPr>
          <a:lstStyle/>
          <a:p>
            <a:pPr algn="just">
              <a:spcAft>
                <a:spcPct val="100000"/>
              </a:spcAft>
            </a:pPr>
            <a:r>
              <a:rPr lang="es-ES" sz="1200" b="0" dirty="0"/>
              <a:t>Se evalúa la efectividad del control, entendida como </a:t>
            </a:r>
            <a:r>
              <a:rPr lang="es-ES" sz="1200" b="1" dirty="0"/>
              <a:t>el “poder mitigante” de dicho control</a:t>
            </a:r>
            <a:r>
              <a:rPr lang="es-ES" sz="1200" b="0" dirty="0"/>
              <a:t>, ya sea para </a:t>
            </a:r>
            <a:r>
              <a:rPr lang="es-ES" sz="1200" b="1" dirty="0"/>
              <a:t>evitar la ocurrencia del riesgo</a:t>
            </a:r>
            <a:r>
              <a:rPr lang="es-ES" sz="1200" b="0" dirty="0"/>
              <a:t>, ya sea, para su </a:t>
            </a:r>
            <a:r>
              <a:rPr lang="es-ES" sz="1200" dirty="0"/>
              <a:t>rápida detección </a:t>
            </a:r>
            <a:r>
              <a:rPr lang="es-ES" sz="1200" b="1" dirty="0"/>
              <a:t>o por su efecto limitante del impacto </a:t>
            </a:r>
            <a:r>
              <a:rPr lang="es-ES" sz="1200" b="0" dirty="0"/>
              <a:t>por el mismo (preventivo, detectivo, reactivo).</a:t>
            </a:r>
            <a:endParaRPr lang="en-US" sz="1200" b="0" dirty="0"/>
          </a:p>
        </p:txBody>
      </p:sp>
      <p:sp>
        <p:nvSpPr>
          <p:cNvPr id="10" name="Text Box 36"/>
          <p:cNvSpPr txBox="1">
            <a:spLocks noChangeArrowheads="1"/>
          </p:cNvSpPr>
          <p:nvPr/>
        </p:nvSpPr>
        <p:spPr bwMode="auto">
          <a:xfrm>
            <a:off x="5390714" y="1717446"/>
            <a:ext cx="1053494" cy="307777"/>
          </a:xfrm>
          <a:prstGeom prst="rect">
            <a:avLst/>
          </a:prstGeom>
          <a:noFill/>
          <a:ln w="9525" algn="ctr">
            <a:noFill/>
            <a:miter lim="800000"/>
            <a:headEnd/>
            <a:tailEnd/>
          </a:ln>
        </p:spPr>
        <p:txBody>
          <a:bodyPr wrap="none">
            <a:spAutoFit/>
          </a:bodyPr>
          <a:lstStyle/>
          <a:p>
            <a:r>
              <a:rPr lang="es-ES" sz="1400" b="1" dirty="0">
                <a:solidFill>
                  <a:srgbClr val="969696"/>
                </a:solidFill>
              </a:rPr>
              <a:t>Descripción</a:t>
            </a:r>
            <a:endParaRPr lang="en-US" sz="1400" b="1" dirty="0">
              <a:solidFill>
                <a:srgbClr val="969696"/>
              </a:solidFill>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dirty="0"/>
              <a:t>Anexo: Metodología de Evaluación Cualitativa</a:t>
            </a:r>
          </a:p>
        </p:txBody>
      </p:sp>
      <p:sp>
        <p:nvSpPr>
          <p:cNvPr id="3" name="Rectangle 4"/>
          <p:cNvSpPr>
            <a:spLocks noChangeArrowheads="1"/>
          </p:cNvSpPr>
          <p:nvPr/>
        </p:nvSpPr>
        <p:spPr bwMode="auto">
          <a:xfrm>
            <a:off x="408016" y="888960"/>
            <a:ext cx="8235950" cy="5276344"/>
          </a:xfrm>
          <a:prstGeom prst="rect">
            <a:avLst/>
          </a:prstGeom>
          <a:noFill/>
          <a:ln w="9525">
            <a:noFill/>
            <a:miter lim="800000"/>
            <a:headEnd/>
            <a:tailEnd/>
          </a:ln>
        </p:spPr>
        <p:txBody>
          <a:bodyPr/>
          <a:lstStyle/>
          <a:p>
            <a:pPr algn="just" eaLnBrk="1" hangingPunct="1">
              <a:spcBef>
                <a:spcPts val="600"/>
              </a:spcBef>
              <a:spcAft>
                <a:spcPts val="0"/>
              </a:spcAft>
              <a:buClr>
                <a:schemeClr val="accent6">
                  <a:lumMod val="75000"/>
                </a:schemeClr>
              </a:buClr>
            </a:pPr>
            <a:r>
              <a:rPr lang="es-ES" sz="1600" b="1" dirty="0">
                <a:solidFill>
                  <a:srgbClr val="4D4D4D"/>
                </a:solidFill>
                <a:latin typeface="+mj-lt"/>
                <a:sym typeface="Wingdings" pitchFamily="2" charset="2"/>
              </a:rPr>
              <a:t>Elementos a evaluar - Controles</a:t>
            </a:r>
          </a:p>
        </p:txBody>
      </p:sp>
      <p:sp>
        <p:nvSpPr>
          <p:cNvPr id="4" name="Content Placeholder 2"/>
          <p:cNvSpPr txBox="1">
            <a:spLocks/>
          </p:cNvSpPr>
          <p:nvPr/>
        </p:nvSpPr>
        <p:spPr>
          <a:xfrm>
            <a:off x="289061" y="1474904"/>
            <a:ext cx="8579892" cy="4114800"/>
          </a:xfrm>
          <a:prstGeom prst="rect">
            <a:avLst/>
          </a:prstGeom>
        </p:spPr>
        <p:txBody>
          <a:bodyPr/>
          <a:lstStyle/>
          <a:p>
            <a:pPr marL="342900" marR="0" lvl="0" indent="-1588" algn="just" defTabSz="914400" rtl="0" eaLnBrk="1" fontAlgn="auto" latinLnBrk="0" hangingPunct="1">
              <a:lnSpc>
                <a:spcPct val="100000"/>
              </a:lnSpc>
              <a:spcBef>
                <a:spcPct val="20000"/>
              </a:spcBef>
              <a:spcAft>
                <a:spcPts val="0"/>
              </a:spcAft>
              <a:buClrTx/>
              <a:buSzTx/>
              <a:buFont typeface="Arial" pitchFamily="34" charset="0"/>
              <a:buNone/>
              <a:tabLst/>
              <a:defRPr/>
            </a:pPr>
            <a:r>
              <a:rPr kumimoji="0" lang="es-ES_tradnl" sz="1400" b="0" i="0" u="none" strike="noStrike" kern="1200" cap="none" spc="0" normalizeH="0" baseline="0" noProof="0" dirty="0">
                <a:ln>
                  <a:noFill/>
                </a:ln>
                <a:solidFill>
                  <a:schemeClr val="tx1"/>
                </a:solidFill>
                <a:effectLst/>
                <a:uLnTx/>
                <a:uFillTx/>
                <a:latin typeface="+mn-lt"/>
                <a:ea typeface="+mn-ea"/>
                <a:cs typeface="+mn-cs"/>
              </a:rPr>
              <a:t>Otras consideraciones al momento de realizar la evaluación de controles, las podemos resumir en los siguientes puntos:</a:t>
            </a:r>
          </a:p>
          <a:p>
            <a:pPr marL="342900" marR="0" lvl="0" indent="-1588" algn="just"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s-ES_tradnl" sz="1200" b="0" i="0" u="none" strike="noStrike" kern="1200" cap="none" spc="0" normalizeH="0" baseline="0" noProof="0" dirty="0">
              <a:ln>
                <a:noFill/>
              </a:ln>
              <a:solidFill>
                <a:schemeClr val="tx1"/>
              </a:solidFill>
              <a:effectLst/>
              <a:uLnTx/>
              <a:uFillTx/>
              <a:latin typeface="+mn-lt"/>
              <a:ea typeface="+mn-ea"/>
              <a:cs typeface="+mn-cs"/>
            </a:endParaRPr>
          </a:p>
          <a:p>
            <a:pPr marL="342900" marR="0" lvl="0" indent="-342900" algn="just"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s-ES_tradnl" sz="1400" b="0" i="0" u="none" strike="noStrike" kern="1200" cap="none" spc="0" normalizeH="0" baseline="0" noProof="0" dirty="0">
                <a:ln>
                  <a:noFill/>
                </a:ln>
                <a:solidFill>
                  <a:schemeClr val="tx1"/>
                </a:solidFill>
                <a:effectLst/>
                <a:uLnTx/>
                <a:uFillTx/>
                <a:latin typeface="+mn-lt"/>
                <a:ea typeface="+mn-ea"/>
                <a:cs typeface="+mn-cs"/>
              </a:rPr>
              <a:t>En lo que respecta a </a:t>
            </a:r>
            <a:r>
              <a:rPr kumimoji="0" lang="es-ES_tradnl" sz="1400" b="1" i="0" u="none" strike="noStrike" kern="1200" cap="none" spc="0" normalizeH="0" baseline="0" noProof="0" dirty="0">
                <a:ln>
                  <a:noFill/>
                </a:ln>
                <a:solidFill>
                  <a:schemeClr val="tx1"/>
                </a:solidFill>
                <a:effectLst/>
                <a:uLnTx/>
                <a:uFillTx/>
                <a:latin typeface="+mn-lt"/>
                <a:ea typeface="+mn-ea"/>
                <a:cs typeface="+mn-cs"/>
              </a:rPr>
              <a:t>controles ex – post</a:t>
            </a:r>
            <a:r>
              <a:rPr kumimoji="0" lang="es-ES_tradnl" sz="1400" b="0" i="0" u="none" strike="noStrike" kern="1200" cap="none" spc="0" normalizeH="0" baseline="0" noProof="0" dirty="0">
                <a:ln>
                  <a:noFill/>
                </a:ln>
                <a:solidFill>
                  <a:schemeClr val="tx1"/>
                </a:solidFill>
                <a:effectLst/>
                <a:uLnTx/>
                <a:uFillTx/>
                <a:latin typeface="+mn-lt"/>
                <a:ea typeface="+mn-ea"/>
                <a:cs typeface="+mn-cs"/>
              </a:rPr>
              <a:t>, esto es, aquellos que se realizan a posteriori de suceder el riesgo y </a:t>
            </a:r>
            <a:r>
              <a:rPr kumimoji="0" lang="es-ES_tradnl" sz="1400" b="1" i="0" u="none" strike="noStrike" kern="1200" cap="none" spc="0" normalizeH="0" baseline="0" noProof="0" dirty="0">
                <a:ln>
                  <a:noFill/>
                </a:ln>
                <a:solidFill>
                  <a:schemeClr val="tx1"/>
                </a:solidFill>
                <a:effectLst/>
                <a:uLnTx/>
                <a:uFillTx/>
                <a:latin typeface="+mn-lt"/>
                <a:ea typeface="+mn-ea"/>
                <a:cs typeface="+mn-cs"/>
              </a:rPr>
              <a:t>que permiten detectarlo pero la pérdida es posible que ya se esté produciendo</a:t>
            </a:r>
            <a:r>
              <a:rPr kumimoji="0" lang="es-ES_tradnl" sz="1400" b="0" i="0" u="none" strike="noStrike" kern="1200" cap="none" spc="0" normalizeH="0" baseline="0" noProof="0" dirty="0">
                <a:ln>
                  <a:noFill/>
                </a:ln>
                <a:solidFill>
                  <a:schemeClr val="tx1"/>
                </a:solidFill>
                <a:effectLst/>
                <a:uLnTx/>
                <a:uFillTx/>
                <a:latin typeface="+mn-lt"/>
                <a:ea typeface="+mn-ea"/>
                <a:cs typeface="+mn-cs"/>
              </a:rPr>
              <a:t>, habría que considerar en la </a:t>
            </a:r>
            <a:r>
              <a:rPr kumimoji="0" lang="es-ES_tradnl" sz="1400" b="1" i="0" u="none" strike="noStrike" kern="1200" cap="none" spc="0" normalizeH="0" baseline="0" noProof="0" dirty="0">
                <a:ln>
                  <a:noFill/>
                </a:ln>
                <a:solidFill>
                  <a:schemeClr val="tx1"/>
                </a:solidFill>
                <a:effectLst/>
                <a:uLnTx/>
                <a:uFillTx/>
                <a:latin typeface="+mn-lt"/>
                <a:ea typeface="+mn-ea"/>
                <a:cs typeface="+mn-cs"/>
              </a:rPr>
              <a:t>valoración el efecto temporal.</a:t>
            </a:r>
            <a:endParaRPr kumimoji="0" lang="en-US" sz="1400" b="1" i="0" u="none" strike="noStrike" kern="1200" cap="none" spc="0" normalizeH="0" baseline="0" noProof="0" dirty="0">
              <a:ln>
                <a:noFill/>
              </a:ln>
              <a:solidFill>
                <a:schemeClr val="tx1"/>
              </a:solidFill>
              <a:effectLst/>
              <a:uLnTx/>
              <a:uFillTx/>
              <a:latin typeface="+mn-lt"/>
              <a:ea typeface="+mn-ea"/>
              <a:cs typeface="+mn-cs"/>
            </a:endParaRPr>
          </a:p>
          <a:p>
            <a:pPr marL="342900" marR="0" lvl="0" indent="-1588" algn="just" defTabSz="914400" rtl="0" eaLnBrk="1" fontAlgn="auto" latinLnBrk="0" hangingPunct="1">
              <a:lnSpc>
                <a:spcPct val="100000"/>
              </a:lnSpc>
              <a:spcBef>
                <a:spcPct val="20000"/>
              </a:spcBef>
              <a:spcAft>
                <a:spcPts val="0"/>
              </a:spcAft>
              <a:buClrTx/>
              <a:buSzTx/>
              <a:buFont typeface="Arial" pitchFamily="34" charset="0"/>
              <a:buNone/>
              <a:tabLst/>
              <a:defRPr/>
            </a:pPr>
            <a:r>
              <a:rPr kumimoji="0" lang="es-ES_tradnl" sz="1400" b="0" i="0" u="none" strike="noStrike" kern="1200" cap="none" spc="0" normalizeH="0" baseline="0" noProof="0" dirty="0">
                <a:ln>
                  <a:noFill/>
                </a:ln>
                <a:solidFill>
                  <a:schemeClr val="tx1"/>
                </a:solidFill>
                <a:effectLst/>
                <a:uLnTx/>
                <a:uFillTx/>
                <a:latin typeface="+mn-lt"/>
                <a:ea typeface="+mn-ea"/>
                <a:cs typeface="+mn-cs"/>
              </a:rPr>
              <a:t>Esto es, un </a:t>
            </a:r>
            <a:r>
              <a:rPr kumimoji="0" lang="es-ES_tradnl" sz="1400" b="1" i="0" u="none" strike="noStrike" kern="1200" cap="none" spc="0" normalizeH="0" baseline="0" noProof="0" dirty="0">
                <a:ln>
                  <a:noFill/>
                </a:ln>
                <a:solidFill>
                  <a:schemeClr val="tx1"/>
                </a:solidFill>
                <a:effectLst/>
                <a:uLnTx/>
                <a:uFillTx/>
                <a:latin typeface="+mn-lt"/>
                <a:ea typeface="+mn-ea"/>
                <a:cs typeface="+mn-cs"/>
              </a:rPr>
              <a:t>control ‘on-line</a:t>
            </a:r>
            <a:r>
              <a:rPr kumimoji="0" lang="es-ES_tradnl" sz="1400" b="0" i="0" u="none" strike="noStrike" kern="1200" cap="none" spc="0" normalizeH="0" baseline="0" noProof="0" dirty="0">
                <a:ln>
                  <a:noFill/>
                </a:ln>
                <a:solidFill>
                  <a:schemeClr val="tx1"/>
                </a:solidFill>
                <a:effectLst/>
                <a:uLnTx/>
                <a:uFillTx/>
                <a:latin typeface="+mn-lt"/>
                <a:ea typeface="+mn-ea"/>
                <a:cs typeface="+mn-cs"/>
              </a:rPr>
              <a:t>’ </a:t>
            </a:r>
            <a:r>
              <a:rPr kumimoji="0" lang="es-ES_tradnl" sz="1400" b="1" i="0" u="none" strike="noStrike" kern="1200" cap="none" spc="0" normalizeH="0" baseline="0" noProof="0" dirty="0">
                <a:ln>
                  <a:noFill/>
                </a:ln>
                <a:solidFill>
                  <a:schemeClr val="tx1"/>
                </a:solidFill>
                <a:effectLst/>
                <a:uLnTx/>
                <a:uFillTx/>
                <a:latin typeface="+mn-lt"/>
                <a:ea typeface="+mn-ea"/>
                <a:cs typeface="+mn-cs"/>
              </a:rPr>
              <a:t>que detecta el 100% de la operativa errónea </a:t>
            </a:r>
            <a:r>
              <a:rPr kumimoji="0" lang="es-ES_tradnl" sz="1400" b="0" i="0" u="none" strike="noStrike" kern="1200" cap="none" spc="0" normalizeH="0" baseline="0" noProof="0" dirty="0">
                <a:ln>
                  <a:noFill/>
                </a:ln>
                <a:solidFill>
                  <a:schemeClr val="tx1"/>
                </a:solidFill>
                <a:effectLst/>
                <a:uLnTx/>
                <a:uFillTx/>
                <a:latin typeface="+mn-lt"/>
                <a:ea typeface="+mn-ea"/>
                <a:cs typeface="+mn-cs"/>
              </a:rPr>
              <a:t>en el momento que sucede </a:t>
            </a:r>
            <a:r>
              <a:rPr kumimoji="0" lang="es-ES_tradnl" sz="1400" b="1" i="0" u="none" strike="noStrike" kern="1200" cap="none" spc="0" normalizeH="0" baseline="0" noProof="0" dirty="0">
                <a:ln>
                  <a:noFill/>
                </a:ln>
                <a:solidFill>
                  <a:schemeClr val="tx1"/>
                </a:solidFill>
                <a:effectLst/>
                <a:uLnTx/>
                <a:uFillTx/>
                <a:latin typeface="+mn-lt"/>
                <a:ea typeface="+mn-ea"/>
                <a:cs typeface="+mn-cs"/>
              </a:rPr>
              <a:t>e impida que suceda </a:t>
            </a:r>
            <a:r>
              <a:rPr kumimoji="0" lang="es-ES_tradnl" sz="1400" b="0" i="0" u="none" strike="noStrike" kern="1200" cap="none" spc="0" normalizeH="0" baseline="0" noProof="0" dirty="0">
                <a:ln>
                  <a:noFill/>
                </a:ln>
                <a:solidFill>
                  <a:schemeClr val="tx1"/>
                </a:solidFill>
                <a:effectLst/>
                <a:uLnTx/>
                <a:uFillTx/>
                <a:latin typeface="+mn-lt"/>
                <a:ea typeface="+mn-ea"/>
                <a:cs typeface="+mn-cs"/>
              </a:rPr>
              <a:t>puede recibir la evaluación de </a:t>
            </a:r>
            <a:r>
              <a:rPr kumimoji="0" lang="es-ES_tradnl" sz="1400" b="1" i="0" u="none" strike="noStrike" kern="1200" cap="none" spc="0" normalizeH="0" baseline="0" noProof="0" dirty="0">
                <a:ln>
                  <a:noFill/>
                </a:ln>
                <a:solidFill>
                  <a:schemeClr val="tx1"/>
                </a:solidFill>
                <a:effectLst/>
                <a:uLnTx/>
                <a:uFillTx/>
                <a:latin typeface="+mn-lt"/>
                <a:ea typeface="+mn-ea"/>
                <a:cs typeface="+mn-cs"/>
              </a:rPr>
              <a:t>"Muy Alta".</a:t>
            </a:r>
            <a:endParaRPr kumimoji="0" lang="en-US" sz="1400" b="1" i="0" u="none" strike="noStrike" kern="1200" cap="none" spc="0" normalizeH="0" baseline="0" noProof="0" dirty="0">
              <a:ln>
                <a:noFill/>
              </a:ln>
              <a:solidFill>
                <a:schemeClr val="tx1"/>
              </a:solidFill>
              <a:effectLst/>
              <a:uLnTx/>
              <a:uFillTx/>
              <a:latin typeface="+mn-lt"/>
              <a:ea typeface="+mn-ea"/>
              <a:cs typeface="+mn-cs"/>
            </a:endParaRPr>
          </a:p>
          <a:p>
            <a:pPr marL="342900" marR="0" lvl="0" indent="-342900" algn="just"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US" sz="1400" b="0" i="0" u="none" strike="noStrike" kern="1200" cap="none" spc="0" normalizeH="0" baseline="0" noProof="0" dirty="0">
              <a:ln>
                <a:noFill/>
              </a:ln>
              <a:solidFill>
                <a:schemeClr val="tx1"/>
              </a:solidFill>
              <a:effectLst/>
              <a:uLnTx/>
              <a:uFillTx/>
              <a:latin typeface="+mn-lt"/>
              <a:ea typeface="+mn-ea"/>
              <a:cs typeface="+mn-cs"/>
            </a:endParaRPr>
          </a:p>
          <a:p>
            <a:pPr marL="342900" marR="0" lvl="0" indent="-342900" algn="just"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s-ES_tradnl" sz="1400" b="0" i="0" u="none" strike="noStrike" kern="1200" cap="none" spc="0" normalizeH="0" baseline="0" noProof="0" dirty="0">
                <a:ln>
                  <a:noFill/>
                </a:ln>
                <a:solidFill>
                  <a:schemeClr val="tx1"/>
                </a:solidFill>
                <a:effectLst/>
                <a:uLnTx/>
                <a:uFillTx/>
                <a:latin typeface="+mn-lt"/>
                <a:ea typeface="+mn-ea"/>
                <a:cs typeface="+mn-cs"/>
              </a:rPr>
              <a:t>Un </a:t>
            </a:r>
            <a:r>
              <a:rPr kumimoji="0" lang="es-ES_tradnl" sz="1400" b="1" i="0" u="none" strike="noStrike" kern="1200" cap="none" spc="0" normalizeH="0" baseline="0" noProof="0" dirty="0">
                <a:ln>
                  <a:noFill/>
                </a:ln>
                <a:solidFill>
                  <a:schemeClr val="tx1"/>
                </a:solidFill>
                <a:effectLst/>
                <a:uLnTx/>
                <a:uFillTx/>
                <a:latin typeface="+mn-lt"/>
                <a:ea typeface="+mn-ea"/>
                <a:cs typeface="+mn-cs"/>
              </a:rPr>
              <a:t>control ex - post</a:t>
            </a:r>
            <a:r>
              <a:rPr kumimoji="0" lang="es-ES_tradnl" sz="1400" b="0" i="0" u="none" strike="noStrike" kern="1200" cap="none" spc="0" normalizeH="0" baseline="0" noProof="0" dirty="0">
                <a:ln>
                  <a:noFill/>
                </a:ln>
                <a:solidFill>
                  <a:schemeClr val="tx1"/>
                </a:solidFill>
                <a:effectLst/>
                <a:uLnTx/>
                <a:uFillTx/>
                <a:latin typeface="+mn-lt"/>
                <a:ea typeface="+mn-ea"/>
                <a:cs typeface="+mn-cs"/>
              </a:rPr>
              <a:t> que </a:t>
            </a:r>
            <a:r>
              <a:rPr kumimoji="0" lang="es-ES_tradnl" sz="1400" b="1" i="0" u="none" strike="noStrike" kern="1200" cap="none" spc="0" normalizeH="0" baseline="0" noProof="0" dirty="0">
                <a:ln>
                  <a:noFill/>
                </a:ln>
                <a:solidFill>
                  <a:schemeClr val="tx1"/>
                </a:solidFill>
                <a:effectLst/>
                <a:uLnTx/>
                <a:uFillTx/>
                <a:latin typeface="+mn-lt"/>
                <a:ea typeface="+mn-ea"/>
                <a:cs typeface="+mn-cs"/>
              </a:rPr>
              <a:t>detecta también el 100% de la operativa pero que se aplica en "d+1" </a:t>
            </a:r>
            <a:r>
              <a:rPr kumimoji="0" lang="es-ES_tradnl" sz="1400" b="0" i="0" u="none" strike="noStrike" kern="1200" cap="none" spc="0" normalizeH="0" baseline="0" noProof="0" dirty="0">
                <a:ln>
                  <a:noFill/>
                </a:ln>
                <a:solidFill>
                  <a:schemeClr val="tx1"/>
                </a:solidFill>
                <a:effectLst/>
                <a:uLnTx/>
                <a:uFillTx/>
                <a:latin typeface="+mn-lt"/>
                <a:ea typeface="+mn-ea"/>
                <a:cs typeface="+mn-cs"/>
              </a:rPr>
              <a:t>(y lo que hace es limitar la pérdida a 1 día) debe recibir una </a:t>
            </a:r>
            <a:r>
              <a:rPr kumimoji="0" lang="es-ES_tradnl" sz="1400" b="1" i="0" u="none" strike="noStrike" kern="1200" cap="none" spc="0" normalizeH="0" baseline="0" noProof="0" dirty="0">
                <a:ln>
                  <a:noFill/>
                </a:ln>
                <a:solidFill>
                  <a:schemeClr val="tx1"/>
                </a:solidFill>
                <a:effectLst/>
                <a:uLnTx/>
                <a:uFillTx/>
                <a:latin typeface="+mn-lt"/>
                <a:ea typeface="+mn-ea"/>
                <a:cs typeface="+mn-cs"/>
              </a:rPr>
              <a:t>valoración como máximo de "Alta", </a:t>
            </a:r>
            <a:r>
              <a:rPr kumimoji="0" lang="es-ES_tradnl" sz="1400" b="0" i="0" u="none" strike="noStrike" kern="1200" cap="none" spc="0" normalizeH="0" baseline="0" noProof="0" dirty="0">
                <a:ln>
                  <a:noFill/>
                </a:ln>
                <a:solidFill>
                  <a:schemeClr val="tx1"/>
                </a:solidFill>
                <a:effectLst/>
                <a:uLnTx/>
                <a:uFillTx/>
                <a:latin typeface="+mn-lt"/>
                <a:ea typeface="+mn-ea"/>
                <a:cs typeface="+mn-cs"/>
              </a:rPr>
              <a:t>si el control es en "d+7" (semanal) o en "d+30" (mensual) </a:t>
            </a:r>
            <a:r>
              <a:rPr kumimoji="0" lang="es-ES_tradnl" sz="1400" b="1" i="0" u="none" strike="noStrike" kern="1200" cap="none" spc="0" normalizeH="0" baseline="0" noProof="0" dirty="0">
                <a:ln>
                  <a:noFill/>
                </a:ln>
                <a:solidFill>
                  <a:schemeClr val="tx1"/>
                </a:solidFill>
                <a:effectLst/>
                <a:uLnTx/>
                <a:uFillTx/>
                <a:latin typeface="+mn-lt"/>
                <a:ea typeface="+mn-ea"/>
                <a:cs typeface="+mn-cs"/>
              </a:rPr>
              <a:t>el control debe recibir evaluaciones de Media o incluso de Baja</a:t>
            </a:r>
            <a:r>
              <a:rPr kumimoji="0" lang="es-ES_tradnl" sz="1400" b="0" i="0" u="none" strike="noStrike" kern="1200" cap="none" spc="0" normalizeH="0" baseline="0" noProof="0" dirty="0">
                <a:ln>
                  <a:noFill/>
                </a:ln>
                <a:solidFill>
                  <a:schemeClr val="tx1"/>
                </a:solidFill>
                <a:effectLst/>
                <a:uLnTx/>
                <a:uFillTx/>
                <a:latin typeface="+mn-lt"/>
                <a:ea typeface="+mn-ea"/>
                <a:cs typeface="+mn-cs"/>
              </a:rPr>
              <a:t> (dependiendo de la naturaleza del riesgo).</a:t>
            </a:r>
            <a:endParaRPr kumimoji="0" lang="en-US" sz="1400" b="0" i="0" u="none" strike="noStrike" kern="1200" cap="none" spc="0" normalizeH="0" baseline="0" noProof="0" dirty="0">
              <a:ln>
                <a:noFill/>
              </a:ln>
              <a:solidFill>
                <a:schemeClr val="tx1"/>
              </a:solidFill>
              <a:effectLst/>
              <a:uLnTx/>
              <a:uFillTx/>
              <a:latin typeface="+mn-lt"/>
              <a:ea typeface="+mn-ea"/>
              <a:cs typeface="+mn-cs"/>
            </a:endParaRPr>
          </a:p>
          <a:p>
            <a:pPr marL="225425" marR="0" lvl="0" indent="-106363" algn="just"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US" sz="1400" b="0" i="0" u="none" strike="noStrike" kern="1200" cap="none" spc="0" normalizeH="0" baseline="0" noProof="0" dirty="0">
              <a:ln>
                <a:noFill/>
              </a:ln>
              <a:solidFill>
                <a:schemeClr val="tx1"/>
              </a:solidFill>
              <a:effectLst/>
              <a:uLnTx/>
              <a:uFillTx/>
              <a:latin typeface="+mn-lt"/>
              <a:ea typeface="+mn-ea"/>
              <a:cs typeface="+mn-cs"/>
            </a:endParaRPr>
          </a:p>
          <a:p>
            <a:pPr marL="342900" marR="0" lvl="0" indent="-342900" algn="just"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s-ES_tradnl" sz="1400" b="0" i="0" u="none" strike="noStrike" kern="1200" cap="none" spc="0" normalizeH="0" baseline="0" noProof="0" dirty="0">
                <a:ln>
                  <a:noFill/>
                </a:ln>
                <a:solidFill>
                  <a:schemeClr val="tx1"/>
                </a:solidFill>
                <a:effectLst/>
                <a:uLnTx/>
                <a:uFillTx/>
                <a:latin typeface="+mn-lt"/>
                <a:ea typeface="+mn-ea"/>
                <a:cs typeface="+mn-cs"/>
              </a:rPr>
              <a:t>Al momento de valorar la </a:t>
            </a:r>
            <a:r>
              <a:rPr kumimoji="0" lang="es-ES_tradnl" sz="1400" b="1" i="0" u="none" strike="noStrike" kern="1200" cap="none" spc="0" normalizeH="0" baseline="0" noProof="0" dirty="0">
                <a:ln>
                  <a:noFill/>
                </a:ln>
                <a:solidFill>
                  <a:schemeClr val="tx1"/>
                </a:solidFill>
                <a:effectLst/>
                <a:uLnTx/>
                <a:uFillTx/>
                <a:latin typeface="+mn-lt"/>
                <a:ea typeface="+mn-ea"/>
                <a:cs typeface="+mn-cs"/>
              </a:rPr>
              <a:t>“cobertura” </a:t>
            </a:r>
            <a:r>
              <a:rPr kumimoji="0" lang="es-ES_tradnl" sz="1400" b="0" i="0" u="none" strike="noStrike" kern="1200" cap="none" spc="0" normalizeH="0" baseline="0" noProof="0" dirty="0">
                <a:ln>
                  <a:noFill/>
                </a:ln>
                <a:solidFill>
                  <a:schemeClr val="tx1"/>
                </a:solidFill>
                <a:effectLst/>
                <a:uLnTx/>
                <a:uFillTx/>
                <a:latin typeface="+mn-lt"/>
                <a:ea typeface="+mn-ea"/>
                <a:cs typeface="+mn-cs"/>
              </a:rPr>
              <a:t>del control </a:t>
            </a:r>
            <a:r>
              <a:rPr kumimoji="0" lang="es-ES_tradnl" sz="1400" b="1" i="0" u="none" strike="noStrike" kern="1200" cap="none" spc="0" normalizeH="0" baseline="0" noProof="0" dirty="0">
                <a:ln>
                  <a:noFill/>
                </a:ln>
                <a:solidFill>
                  <a:schemeClr val="tx1"/>
                </a:solidFill>
                <a:effectLst/>
                <a:uLnTx/>
                <a:uFillTx/>
                <a:latin typeface="+mn-lt"/>
                <a:ea typeface="+mn-ea"/>
                <a:cs typeface="+mn-cs"/>
              </a:rPr>
              <a:t>se deberá tener en consideración la “base de operaciones” sobre el cual es aplicado</a:t>
            </a:r>
            <a:r>
              <a:rPr kumimoji="0" lang="es-ES_tradnl" sz="1400" b="0" i="0" u="none" strike="noStrike" kern="1200" cap="none" spc="0" normalizeH="0" baseline="0" noProof="0" dirty="0">
                <a:ln>
                  <a:noFill/>
                </a:ln>
                <a:solidFill>
                  <a:schemeClr val="tx1"/>
                </a:solidFill>
                <a:effectLst/>
                <a:uLnTx/>
                <a:uFillTx/>
                <a:latin typeface="+mn-lt"/>
                <a:ea typeface="+mn-ea"/>
                <a:cs typeface="+mn-cs"/>
              </a:rPr>
              <a:t>. Por ejemplo, si el </a:t>
            </a:r>
            <a:r>
              <a:rPr kumimoji="0" lang="es-ES_tradnl" sz="1400" b="1" i="0" u="none" strike="noStrike" kern="1200" cap="none" spc="0" normalizeH="0" baseline="0" noProof="0" dirty="0">
                <a:ln>
                  <a:noFill/>
                </a:ln>
                <a:solidFill>
                  <a:schemeClr val="tx1"/>
                </a:solidFill>
                <a:effectLst/>
                <a:uLnTx/>
                <a:uFillTx/>
                <a:latin typeface="+mn-lt"/>
                <a:ea typeface="+mn-ea"/>
                <a:cs typeface="+mn-cs"/>
              </a:rPr>
              <a:t>control es aplicado frecuentemente</a:t>
            </a:r>
            <a:r>
              <a:rPr kumimoji="0" lang="es-ES_tradnl" sz="1400" b="0" i="0" u="none" strike="noStrike" kern="1200" cap="none" spc="0" normalizeH="0" baseline="0" noProof="0" dirty="0">
                <a:ln>
                  <a:noFill/>
                </a:ln>
                <a:solidFill>
                  <a:schemeClr val="tx1"/>
                </a:solidFill>
                <a:effectLst/>
                <a:uLnTx/>
                <a:uFillTx/>
                <a:latin typeface="+mn-lt"/>
                <a:ea typeface="+mn-ea"/>
                <a:cs typeface="+mn-cs"/>
              </a:rPr>
              <a:t>, pero </a:t>
            </a:r>
            <a:r>
              <a:rPr kumimoji="0" lang="es-ES_tradnl" sz="1400" b="1" i="0" u="none" strike="noStrike" kern="1200" cap="none" spc="0" normalizeH="0" baseline="0" noProof="0" dirty="0">
                <a:ln>
                  <a:noFill/>
                </a:ln>
                <a:solidFill>
                  <a:schemeClr val="tx1"/>
                </a:solidFill>
                <a:effectLst/>
                <a:uLnTx/>
                <a:uFillTx/>
                <a:latin typeface="+mn-lt"/>
                <a:ea typeface="+mn-ea"/>
                <a:cs typeface="+mn-cs"/>
              </a:rPr>
              <a:t>no da cobertura a todas las operaciones </a:t>
            </a:r>
            <a:r>
              <a:rPr kumimoji="0" lang="es-ES_tradnl" sz="1400" b="0" i="0" u="none" strike="noStrike" kern="1200" cap="none" spc="0" normalizeH="0" baseline="0" noProof="0" dirty="0">
                <a:ln>
                  <a:noFill/>
                </a:ln>
                <a:solidFill>
                  <a:schemeClr val="tx1"/>
                </a:solidFill>
                <a:effectLst/>
                <a:uLnTx/>
                <a:uFillTx/>
                <a:latin typeface="+mn-lt"/>
                <a:ea typeface="+mn-ea"/>
                <a:cs typeface="+mn-cs"/>
              </a:rPr>
              <a:t>deberá valorarse como </a:t>
            </a:r>
            <a:r>
              <a:rPr kumimoji="0" lang="es-ES_tradnl" sz="1400" b="1" i="0" u="none" strike="noStrike" kern="1200" cap="none" spc="0" normalizeH="0" baseline="0" noProof="0" dirty="0">
                <a:ln>
                  <a:noFill/>
                </a:ln>
                <a:solidFill>
                  <a:schemeClr val="tx1"/>
                </a:solidFill>
                <a:effectLst/>
                <a:uLnTx/>
                <a:uFillTx/>
                <a:latin typeface="+mn-lt"/>
                <a:ea typeface="+mn-ea"/>
                <a:cs typeface="+mn-cs"/>
              </a:rPr>
              <a:t>“Se aplica con frecuencia”.  </a:t>
            </a:r>
            <a:endParaRPr kumimoji="0" lang="en-US" sz="1400" b="1" i="0" u="none" strike="noStrike" kern="1200" cap="none" spc="0" normalizeH="0" baseline="0" noProof="0" dirty="0">
              <a:ln>
                <a:noFill/>
              </a:ln>
              <a:solidFill>
                <a:schemeClr val="tx1"/>
              </a:solidFill>
              <a:effectLst/>
              <a:uLnTx/>
              <a:uFillTx/>
              <a:latin typeface="+mn-lt"/>
              <a:ea typeface="+mn-ea"/>
              <a:cs typeface="+mn-cs"/>
            </a:endParaRPr>
          </a:p>
          <a:p>
            <a:pPr marL="342900" marR="0" lvl="0" indent="-1588" algn="just"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US" sz="3200" b="0" i="0" u="none" strike="noStrike" kern="1200" cap="none" spc="0" normalizeH="0" baseline="0" noProof="0" dirty="0">
              <a:ln>
                <a:noFill/>
              </a:ln>
              <a:solidFill>
                <a:schemeClr val="tx1"/>
              </a:solidFill>
              <a:effectLst/>
              <a:uLnTx/>
              <a:uFillTx/>
              <a:latin typeface="+mn-lt"/>
              <a:ea typeface="+mn-ea"/>
              <a:cs typeface="+mn-cs"/>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dirty="0"/>
              <a:t>Anexo: Metodología de Evaluación Cualitativa</a:t>
            </a:r>
          </a:p>
        </p:txBody>
      </p:sp>
      <p:sp>
        <p:nvSpPr>
          <p:cNvPr id="3" name="TextBox 2"/>
          <p:cNvSpPr txBox="1"/>
          <p:nvPr/>
        </p:nvSpPr>
        <p:spPr>
          <a:xfrm>
            <a:off x="539552" y="1108968"/>
            <a:ext cx="8064895" cy="1569660"/>
          </a:xfrm>
          <a:prstGeom prst="rect">
            <a:avLst/>
          </a:prstGeom>
          <a:noFill/>
        </p:spPr>
        <p:txBody>
          <a:bodyPr wrap="square" rtlCol="0">
            <a:spAutoFit/>
          </a:bodyPr>
          <a:lstStyle/>
          <a:p>
            <a:r>
              <a:rPr lang="es-ES" sz="1600" b="1" dirty="0"/>
              <a:t>Recopilación y análisis de Indicadores de Riesgo Operacional</a:t>
            </a:r>
          </a:p>
          <a:p>
            <a:endParaRPr lang="es-ES" sz="1600" dirty="0"/>
          </a:p>
          <a:p>
            <a:pPr algn="just"/>
            <a:r>
              <a:rPr lang="es-ES" sz="1600" dirty="0"/>
              <a:t>Los indicadores de riesgo (Key Risk Indicators o KRIs) son estadísticas o parámetros que pueden revelar qué riesgos asume la Entidad. La evolución de dichos indicadores debe ser revisada periódicamente para alertar a la Entidad sobre cambios que puedan ser reveladores de problemas con el riesgo. </a:t>
            </a:r>
          </a:p>
        </p:txBody>
      </p:sp>
      <p:sp>
        <p:nvSpPr>
          <p:cNvPr id="7" name="6 Forma libre"/>
          <p:cNvSpPr/>
          <p:nvPr/>
        </p:nvSpPr>
        <p:spPr>
          <a:xfrm>
            <a:off x="438265" y="3308589"/>
            <a:ext cx="1656000" cy="720000"/>
          </a:xfrm>
          <a:custGeom>
            <a:avLst/>
            <a:gdLst>
              <a:gd name="connsiteX0" fmla="*/ 0 w 1462709"/>
              <a:gd name="connsiteY0" fmla="*/ 0 h 585083"/>
              <a:gd name="connsiteX1" fmla="*/ 1170168 w 1462709"/>
              <a:gd name="connsiteY1" fmla="*/ 0 h 585083"/>
              <a:gd name="connsiteX2" fmla="*/ 1462709 w 1462709"/>
              <a:gd name="connsiteY2" fmla="*/ 292542 h 585083"/>
              <a:gd name="connsiteX3" fmla="*/ 1170168 w 1462709"/>
              <a:gd name="connsiteY3" fmla="*/ 585083 h 585083"/>
              <a:gd name="connsiteX4" fmla="*/ 0 w 1462709"/>
              <a:gd name="connsiteY4" fmla="*/ 585083 h 585083"/>
              <a:gd name="connsiteX5" fmla="*/ 292542 w 1462709"/>
              <a:gd name="connsiteY5" fmla="*/ 292542 h 585083"/>
              <a:gd name="connsiteX6" fmla="*/ 0 w 1462709"/>
              <a:gd name="connsiteY6" fmla="*/ 0 h 5850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62709" h="585083">
                <a:moveTo>
                  <a:pt x="0" y="0"/>
                </a:moveTo>
                <a:lnTo>
                  <a:pt x="1170168" y="0"/>
                </a:lnTo>
                <a:lnTo>
                  <a:pt x="1462709" y="292542"/>
                </a:lnTo>
                <a:lnTo>
                  <a:pt x="1170168" y="585083"/>
                </a:lnTo>
                <a:lnTo>
                  <a:pt x="0" y="585083"/>
                </a:lnTo>
                <a:lnTo>
                  <a:pt x="292542" y="292542"/>
                </a:lnTo>
                <a:lnTo>
                  <a:pt x="0" y="0"/>
                </a:lnTo>
                <a:close/>
              </a:path>
            </a:pathLst>
          </a:custGeom>
          <a:solidFill>
            <a:srgbClr val="C00000"/>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340548" tIns="16002" rIns="308543" bIns="16002" numCol="1" spcCol="1270" anchor="ctr" anchorCtr="0">
            <a:noAutofit/>
          </a:bodyPr>
          <a:lstStyle/>
          <a:p>
            <a:pPr lvl="0" algn="ctr" defTabSz="533400">
              <a:lnSpc>
                <a:spcPct val="90000"/>
              </a:lnSpc>
              <a:spcBef>
                <a:spcPct val="0"/>
              </a:spcBef>
              <a:spcAft>
                <a:spcPct val="35000"/>
              </a:spcAft>
            </a:pPr>
            <a:r>
              <a:rPr lang="es-ES" sz="1200" kern="1200" dirty="0"/>
              <a:t>Selección de Indicadores</a:t>
            </a:r>
          </a:p>
        </p:txBody>
      </p:sp>
      <p:sp>
        <p:nvSpPr>
          <p:cNvPr id="8" name="7 Forma libre"/>
          <p:cNvSpPr/>
          <p:nvPr/>
        </p:nvSpPr>
        <p:spPr>
          <a:xfrm>
            <a:off x="1754703" y="3308589"/>
            <a:ext cx="1656000" cy="720000"/>
          </a:xfrm>
          <a:custGeom>
            <a:avLst/>
            <a:gdLst>
              <a:gd name="connsiteX0" fmla="*/ 0 w 1462709"/>
              <a:gd name="connsiteY0" fmla="*/ 0 h 585083"/>
              <a:gd name="connsiteX1" fmla="*/ 1170168 w 1462709"/>
              <a:gd name="connsiteY1" fmla="*/ 0 h 585083"/>
              <a:gd name="connsiteX2" fmla="*/ 1462709 w 1462709"/>
              <a:gd name="connsiteY2" fmla="*/ 292542 h 585083"/>
              <a:gd name="connsiteX3" fmla="*/ 1170168 w 1462709"/>
              <a:gd name="connsiteY3" fmla="*/ 585083 h 585083"/>
              <a:gd name="connsiteX4" fmla="*/ 0 w 1462709"/>
              <a:gd name="connsiteY4" fmla="*/ 585083 h 585083"/>
              <a:gd name="connsiteX5" fmla="*/ 292542 w 1462709"/>
              <a:gd name="connsiteY5" fmla="*/ 292542 h 585083"/>
              <a:gd name="connsiteX6" fmla="*/ 0 w 1462709"/>
              <a:gd name="connsiteY6" fmla="*/ 0 h 5850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62709" h="585083">
                <a:moveTo>
                  <a:pt x="0" y="0"/>
                </a:moveTo>
                <a:lnTo>
                  <a:pt x="1170168" y="0"/>
                </a:lnTo>
                <a:lnTo>
                  <a:pt x="1462709" y="292542"/>
                </a:lnTo>
                <a:lnTo>
                  <a:pt x="1170168" y="585083"/>
                </a:lnTo>
                <a:lnTo>
                  <a:pt x="0" y="585083"/>
                </a:lnTo>
                <a:lnTo>
                  <a:pt x="292542" y="292542"/>
                </a:lnTo>
                <a:lnTo>
                  <a:pt x="0" y="0"/>
                </a:lnTo>
                <a:close/>
              </a:path>
            </a:pathLst>
          </a:custGeom>
          <a:solidFill>
            <a:srgbClr val="C00000"/>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340548" tIns="16002" rIns="308543" bIns="16002" numCol="1" spcCol="1270" anchor="ctr" anchorCtr="0">
            <a:noAutofit/>
          </a:bodyPr>
          <a:lstStyle/>
          <a:p>
            <a:pPr lvl="0" algn="ctr" defTabSz="533400">
              <a:lnSpc>
                <a:spcPct val="90000"/>
              </a:lnSpc>
              <a:spcBef>
                <a:spcPct val="0"/>
              </a:spcBef>
              <a:spcAft>
                <a:spcPct val="35000"/>
              </a:spcAft>
            </a:pPr>
            <a:r>
              <a:rPr lang="es-ES" sz="1200" kern="1200" dirty="0"/>
              <a:t>Mapeo de Indicadores</a:t>
            </a:r>
          </a:p>
        </p:txBody>
      </p:sp>
      <p:sp>
        <p:nvSpPr>
          <p:cNvPr id="9" name="8 Forma libre"/>
          <p:cNvSpPr/>
          <p:nvPr/>
        </p:nvSpPr>
        <p:spPr>
          <a:xfrm>
            <a:off x="3071141" y="3308589"/>
            <a:ext cx="1656000" cy="720000"/>
          </a:xfrm>
          <a:custGeom>
            <a:avLst/>
            <a:gdLst>
              <a:gd name="connsiteX0" fmla="*/ 0 w 1462709"/>
              <a:gd name="connsiteY0" fmla="*/ 0 h 585083"/>
              <a:gd name="connsiteX1" fmla="*/ 1170168 w 1462709"/>
              <a:gd name="connsiteY1" fmla="*/ 0 h 585083"/>
              <a:gd name="connsiteX2" fmla="*/ 1462709 w 1462709"/>
              <a:gd name="connsiteY2" fmla="*/ 292542 h 585083"/>
              <a:gd name="connsiteX3" fmla="*/ 1170168 w 1462709"/>
              <a:gd name="connsiteY3" fmla="*/ 585083 h 585083"/>
              <a:gd name="connsiteX4" fmla="*/ 0 w 1462709"/>
              <a:gd name="connsiteY4" fmla="*/ 585083 h 585083"/>
              <a:gd name="connsiteX5" fmla="*/ 292542 w 1462709"/>
              <a:gd name="connsiteY5" fmla="*/ 292542 h 585083"/>
              <a:gd name="connsiteX6" fmla="*/ 0 w 1462709"/>
              <a:gd name="connsiteY6" fmla="*/ 0 h 5850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62709" h="585083">
                <a:moveTo>
                  <a:pt x="0" y="0"/>
                </a:moveTo>
                <a:lnTo>
                  <a:pt x="1170168" y="0"/>
                </a:lnTo>
                <a:lnTo>
                  <a:pt x="1462709" y="292542"/>
                </a:lnTo>
                <a:lnTo>
                  <a:pt x="1170168" y="585083"/>
                </a:lnTo>
                <a:lnTo>
                  <a:pt x="0" y="585083"/>
                </a:lnTo>
                <a:lnTo>
                  <a:pt x="292542" y="292542"/>
                </a:lnTo>
                <a:lnTo>
                  <a:pt x="0" y="0"/>
                </a:lnTo>
                <a:close/>
              </a:path>
            </a:pathLst>
          </a:custGeom>
          <a:solidFill>
            <a:srgbClr val="C00000"/>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340548" tIns="16002" rIns="308543" bIns="16002" numCol="1" spcCol="1270" anchor="ctr" anchorCtr="0">
            <a:noAutofit/>
          </a:bodyPr>
          <a:lstStyle/>
          <a:p>
            <a:pPr lvl="0" algn="ctr" defTabSz="533400">
              <a:lnSpc>
                <a:spcPct val="90000"/>
              </a:lnSpc>
              <a:spcBef>
                <a:spcPct val="0"/>
              </a:spcBef>
              <a:spcAft>
                <a:spcPct val="35000"/>
              </a:spcAft>
            </a:pPr>
            <a:r>
              <a:rPr lang="es-ES" sz="1200" kern="1200" dirty="0"/>
              <a:t>Alimentación de los indicadores</a:t>
            </a:r>
          </a:p>
        </p:txBody>
      </p:sp>
      <p:sp>
        <p:nvSpPr>
          <p:cNvPr id="10" name="9 Forma libre"/>
          <p:cNvSpPr/>
          <p:nvPr/>
        </p:nvSpPr>
        <p:spPr>
          <a:xfrm>
            <a:off x="4387580" y="3308589"/>
            <a:ext cx="1656000" cy="720000"/>
          </a:xfrm>
          <a:custGeom>
            <a:avLst/>
            <a:gdLst>
              <a:gd name="connsiteX0" fmla="*/ 0 w 1462709"/>
              <a:gd name="connsiteY0" fmla="*/ 0 h 585083"/>
              <a:gd name="connsiteX1" fmla="*/ 1170168 w 1462709"/>
              <a:gd name="connsiteY1" fmla="*/ 0 h 585083"/>
              <a:gd name="connsiteX2" fmla="*/ 1462709 w 1462709"/>
              <a:gd name="connsiteY2" fmla="*/ 292542 h 585083"/>
              <a:gd name="connsiteX3" fmla="*/ 1170168 w 1462709"/>
              <a:gd name="connsiteY3" fmla="*/ 585083 h 585083"/>
              <a:gd name="connsiteX4" fmla="*/ 0 w 1462709"/>
              <a:gd name="connsiteY4" fmla="*/ 585083 h 585083"/>
              <a:gd name="connsiteX5" fmla="*/ 292542 w 1462709"/>
              <a:gd name="connsiteY5" fmla="*/ 292542 h 585083"/>
              <a:gd name="connsiteX6" fmla="*/ 0 w 1462709"/>
              <a:gd name="connsiteY6" fmla="*/ 0 h 5850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62709" h="585083">
                <a:moveTo>
                  <a:pt x="0" y="0"/>
                </a:moveTo>
                <a:lnTo>
                  <a:pt x="1170168" y="0"/>
                </a:lnTo>
                <a:lnTo>
                  <a:pt x="1462709" y="292542"/>
                </a:lnTo>
                <a:lnTo>
                  <a:pt x="1170168" y="585083"/>
                </a:lnTo>
                <a:lnTo>
                  <a:pt x="0" y="585083"/>
                </a:lnTo>
                <a:lnTo>
                  <a:pt x="292542" y="292542"/>
                </a:lnTo>
                <a:lnTo>
                  <a:pt x="0" y="0"/>
                </a:lnTo>
                <a:close/>
              </a:path>
            </a:pathLst>
          </a:custGeom>
          <a:solidFill>
            <a:srgbClr val="C00000"/>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340548" tIns="16002" rIns="308543" bIns="16002" numCol="1" spcCol="1270" anchor="ctr" anchorCtr="0">
            <a:noAutofit/>
          </a:bodyPr>
          <a:lstStyle/>
          <a:p>
            <a:pPr lvl="0" algn="ctr" defTabSz="533400">
              <a:lnSpc>
                <a:spcPct val="90000"/>
              </a:lnSpc>
              <a:spcBef>
                <a:spcPct val="0"/>
              </a:spcBef>
              <a:spcAft>
                <a:spcPct val="35000"/>
              </a:spcAft>
            </a:pPr>
            <a:r>
              <a:rPr lang="es-ES" sz="1200" kern="1200" dirty="0"/>
              <a:t>Periodicidad de los Indicadores</a:t>
            </a:r>
          </a:p>
        </p:txBody>
      </p:sp>
      <p:sp>
        <p:nvSpPr>
          <p:cNvPr id="11" name="10 Forma libre"/>
          <p:cNvSpPr/>
          <p:nvPr/>
        </p:nvSpPr>
        <p:spPr>
          <a:xfrm>
            <a:off x="5704018" y="3308589"/>
            <a:ext cx="1656000" cy="720000"/>
          </a:xfrm>
          <a:custGeom>
            <a:avLst/>
            <a:gdLst>
              <a:gd name="connsiteX0" fmla="*/ 0 w 1462709"/>
              <a:gd name="connsiteY0" fmla="*/ 0 h 585083"/>
              <a:gd name="connsiteX1" fmla="*/ 1170168 w 1462709"/>
              <a:gd name="connsiteY1" fmla="*/ 0 h 585083"/>
              <a:gd name="connsiteX2" fmla="*/ 1462709 w 1462709"/>
              <a:gd name="connsiteY2" fmla="*/ 292542 h 585083"/>
              <a:gd name="connsiteX3" fmla="*/ 1170168 w 1462709"/>
              <a:gd name="connsiteY3" fmla="*/ 585083 h 585083"/>
              <a:gd name="connsiteX4" fmla="*/ 0 w 1462709"/>
              <a:gd name="connsiteY4" fmla="*/ 585083 h 585083"/>
              <a:gd name="connsiteX5" fmla="*/ 292542 w 1462709"/>
              <a:gd name="connsiteY5" fmla="*/ 292542 h 585083"/>
              <a:gd name="connsiteX6" fmla="*/ 0 w 1462709"/>
              <a:gd name="connsiteY6" fmla="*/ 0 h 5850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62709" h="585083">
                <a:moveTo>
                  <a:pt x="0" y="0"/>
                </a:moveTo>
                <a:lnTo>
                  <a:pt x="1170168" y="0"/>
                </a:lnTo>
                <a:lnTo>
                  <a:pt x="1462709" y="292542"/>
                </a:lnTo>
                <a:lnTo>
                  <a:pt x="1170168" y="585083"/>
                </a:lnTo>
                <a:lnTo>
                  <a:pt x="0" y="585083"/>
                </a:lnTo>
                <a:lnTo>
                  <a:pt x="292542" y="292542"/>
                </a:lnTo>
                <a:lnTo>
                  <a:pt x="0" y="0"/>
                </a:lnTo>
                <a:close/>
              </a:path>
            </a:pathLst>
          </a:custGeom>
          <a:solidFill>
            <a:srgbClr val="C00000"/>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340548" tIns="16002" rIns="308543" bIns="16002" numCol="1" spcCol="1270" anchor="ctr" anchorCtr="0">
            <a:noAutofit/>
          </a:bodyPr>
          <a:lstStyle/>
          <a:p>
            <a:pPr lvl="0" algn="ctr" defTabSz="533400">
              <a:lnSpc>
                <a:spcPct val="90000"/>
              </a:lnSpc>
              <a:spcBef>
                <a:spcPct val="0"/>
              </a:spcBef>
              <a:spcAft>
                <a:spcPct val="35000"/>
              </a:spcAft>
            </a:pPr>
            <a:r>
              <a:rPr lang="es-ES" sz="1200" kern="1200" dirty="0"/>
              <a:t>Establecimiento de Alertas</a:t>
            </a:r>
          </a:p>
        </p:txBody>
      </p:sp>
      <p:sp>
        <p:nvSpPr>
          <p:cNvPr id="12" name="11 Forma libre"/>
          <p:cNvSpPr/>
          <p:nvPr/>
        </p:nvSpPr>
        <p:spPr>
          <a:xfrm>
            <a:off x="7020456" y="3308589"/>
            <a:ext cx="1656000" cy="720000"/>
          </a:xfrm>
          <a:custGeom>
            <a:avLst/>
            <a:gdLst>
              <a:gd name="connsiteX0" fmla="*/ 0 w 1462709"/>
              <a:gd name="connsiteY0" fmla="*/ 0 h 585083"/>
              <a:gd name="connsiteX1" fmla="*/ 1170168 w 1462709"/>
              <a:gd name="connsiteY1" fmla="*/ 0 h 585083"/>
              <a:gd name="connsiteX2" fmla="*/ 1462709 w 1462709"/>
              <a:gd name="connsiteY2" fmla="*/ 292542 h 585083"/>
              <a:gd name="connsiteX3" fmla="*/ 1170168 w 1462709"/>
              <a:gd name="connsiteY3" fmla="*/ 585083 h 585083"/>
              <a:gd name="connsiteX4" fmla="*/ 0 w 1462709"/>
              <a:gd name="connsiteY4" fmla="*/ 585083 h 585083"/>
              <a:gd name="connsiteX5" fmla="*/ 292542 w 1462709"/>
              <a:gd name="connsiteY5" fmla="*/ 292542 h 585083"/>
              <a:gd name="connsiteX6" fmla="*/ 0 w 1462709"/>
              <a:gd name="connsiteY6" fmla="*/ 0 h 5850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62709" h="585083">
                <a:moveTo>
                  <a:pt x="0" y="0"/>
                </a:moveTo>
                <a:lnTo>
                  <a:pt x="1170168" y="0"/>
                </a:lnTo>
                <a:lnTo>
                  <a:pt x="1462709" y="292542"/>
                </a:lnTo>
                <a:lnTo>
                  <a:pt x="1170168" y="585083"/>
                </a:lnTo>
                <a:lnTo>
                  <a:pt x="0" y="585083"/>
                </a:lnTo>
                <a:lnTo>
                  <a:pt x="292542" y="292542"/>
                </a:lnTo>
                <a:lnTo>
                  <a:pt x="0" y="0"/>
                </a:lnTo>
                <a:close/>
              </a:path>
            </a:pathLst>
          </a:custGeom>
          <a:solidFill>
            <a:srgbClr val="C00000"/>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340548" tIns="16002" rIns="308543" bIns="16002" numCol="1" spcCol="1270" anchor="ctr" anchorCtr="0">
            <a:noAutofit/>
          </a:bodyPr>
          <a:lstStyle/>
          <a:p>
            <a:pPr lvl="0" algn="ctr" defTabSz="533400">
              <a:lnSpc>
                <a:spcPct val="90000"/>
              </a:lnSpc>
              <a:spcBef>
                <a:spcPct val="0"/>
              </a:spcBef>
              <a:spcAft>
                <a:spcPct val="35000"/>
              </a:spcAft>
            </a:pPr>
            <a:r>
              <a:rPr lang="es-ES" sz="1200" kern="1200" dirty="0"/>
              <a:t>Gestión de Indicadores</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dirty="0"/>
              <a:t>Anexo: Metodología de Evaluación Cualitativa</a:t>
            </a:r>
          </a:p>
        </p:txBody>
      </p:sp>
      <p:sp>
        <p:nvSpPr>
          <p:cNvPr id="3" name="TextBox 2"/>
          <p:cNvSpPr txBox="1"/>
          <p:nvPr/>
        </p:nvSpPr>
        <p:spPr>
          <a:xfrm>
            <a:off x="467544" y="692696"/>
            <a:ext cx="8064896" cy="1323439"/>
          </a:xfrm>
          <a:prstGeom prst="rect">
            <a:avLst/>
          </a:prstGeom>
          <a:noFill/>
        </p:spPr>
        <p:txBody>
          <a:bodyPr wrap="square" rtlCol="0">
            <a:spAutoFit/>
          </a:bodyPr>
          <a:lstStyle/>
          <a:p>
            <a:r>
              <a:rPr lang="es-ES" sz="1600" b="1" dirty="0"/>
              <a:t>Planes de Acción</a:t>
            </a:r>
          </a:p>
          <a:p>
            <a:endParaRPr lang="es-ES" sz="1600" dirty="0"/>
          </a:p>
          <a:p>
            <a:pPr algn="just"/>
            <a:r>
              <a:rPr lang="es-ES" sz="1600" dirty="0"/>
              <a:t>Se refiere al establecimiento por parte de las unidades de Rimac de procedimientos de mejora continua de los procesos operativos y de la estructura de controles existente. La identificación de planes de acción para la mitigación del Riesgo Operacional procederá de diversas fuentes.</a:t>
            </a:r>
          </a:p>
        </p:txBody>
      </p:sp>
      <p:sp>
        <p:nvSpPr>
          <p:cNvPr id="6" name="Rounded Rectangle 5"/>
          <p:cNvSpPr/>
          <p:nvPr/>
        </p:nvSpPr>
        <p:spPr>
          <a:xfrm>
            <a:off x="875928" y="2174069"/>
            <a:ext cx="3984104" cy="288032"/>
          </a:xfrm>
          <a:prstGeom prst="roundRect">
            <a:avLst/>
          </a:prstGeom>
          <a:solidFill>
            <a:srgbClr val="A9A9A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s-ES" sz="1400" dirty="0"/>
          </a:p>
          <a:p>
            <a:r>
              <a:rPr lang="es-ES" sz="1400" dirty="0"/>
              <a:t>Acciones emprendidas por las propias Unidades </a:t>
            </a:r>
          </a:p>
          <a:p>
            <a:pPr algn="ctr"/>
            <a:endParaRPr lang="es-ES" sz="1400" dirty="0"/>
          </a:p>
        </p:txBody>
      </p:sp>
      <p:cxnSp>
        <p:nvCxnSpPr>
          <p:cNvPr id="8" name="Straight Connector 7"/>
          <p:cNvCxnSpPr/>
          <p:nvPr/>
        </p:nvCxnSpPr>
        <p:spPr>
          <a:xfrm>
            <a:off x="4932040" y="2174069"/>
            <a:ext cx="1584176" cy="1296144"/>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
        <p:nvSpPr>
          <p:cNvPr id="9" name="Rounded Rectangle 8"/>
          <p:cNvSpPr/>
          <p:nvPr/>
        </p:nvSpPr>
        <p:spPr>
          <a:xfrm>
            <a:off x="875928" y="2606117"/>
            <a:ext cx="3984104" cy="288032"/>
          </a:xfrm>
          <a:prstGeom prst="roundRect">
            <a:avLst/>
          </a:prstGeom>
          <a:solidFill>
            <a:srgbClr val="A9A9A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ES" sz="1400" dirty="0"/>
              <a:t>Comité de Auditoria o del Comité de Riesgos </a:t>
            </a:r>
          </a:p>
        </p:txBody>
      </p:sp>
      <p:sp>
        <p:nvSpPr>
          <p:cNvPr id="10" name="Rounded Rectangle 9"/>
          <p:cNvSpPr/>
          <p:nvPr/>
        </p:nvSpPr>
        <p:spPr>
          <a:xfrm>
            <a:off x="875928" y="3038165"/>
            <a:ext cx="3984104" cy="288032"/>
          </a:xfrm>
          <a:prstGeom prst="roundRect">
            <a:avLst/>
          </a:prstGeom>
          <a:solidFill>
            <a:srgbClr val="A9A9A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ES" sz="1400" dirty="0"/>
              <a:t>Comisiones especializadas </a:t>
            </a:r>
          </a:p>
        </p:txBody>
      </p:sp>
      <p:sp>
        <p:nvSpPr>
          <p:cNvPr id="11" name="Rounded Rectangle 10"/>
          <p:cNvSpPr/>
          <p:nvPr/>
        </p:nvSpPr>
        <p:spPr>
          <a:xfrm>
            <a:off x="875928" y="3470213"/>
            <a:ext cx="3984104" cy="288032"/>
          </a:xfrm>
          <a:prstGeom prst="roundRect">
            <a:avLst/>
          </a:prstGeom>
          <a:solidFill>
            <a:srgbClr val="A9A9A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ES" sz="1400" dirty="0"/>
              <a:t>Mapa de Riesgos Operacionales </a:t>
            </a:r>
          </a:p>
        </p:txBody>
      </p:sp>
      <p:sp>
        <p:nvSpPr>
          <p:cNvPr id="12" name="Rounded Rectangle 11"/>
          <p:cNvSpPr/>
          <p:nvPr/>
        </p:nvSpPr>
        <p:spPr>
          <a:xfrm>
            <a:off x="875928" y="3902261"/>
            <a:ext cx="3984104" cy="288032"/>
          </a:xfrm>
          <a:prstGeom prst="roundRect">
            <a:avLst/>
          </a:prstGeom>
          <a:solidFill>
            <a:srgbClr val="A9A9A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ES" sz="1400" dirty="0"/>
              <a:t>Indicadores de Riesgo Operacional (KRIs) </a:t>
            </a:r>
          </a:p>
        </p:txBody>
      </p:sp>
      <p:sp>
        <p:nvSpPr>
          <p:cNvPr id="13" name="Rounded Rectangle 12"/>
          <p:cNvSpPr/>
          <p:nvPr/>
        </p:nvSpPr>
        <p:spPr>
          <a:xfrm>
            <a:off x="899592" y="4334309"/>
            <a:ext cx="3984104" cy="288032"/>
          </a:xfrm>
          <a:prstGeom prst="roundRect">
            <a:avLst/>
          </a:prstGeom>
          <a:solidFill>
            <a:srgbClr val="A9A9A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ES" sz="1400" dirty="0"/>
              <a:t>Recomendaciones del Área de Riesgo Operacional </a:t>
            </a:r>
          </a:p>
        </p:txBody>
      </p:sp>
      <p:cxnSp>
        <p:nvCxnSpPr>
          <p:cNvPr id="14" name="Straight Connector 13"/>
          <p:cNvCxnSpPr/>
          <p:nvPr/>
        </p:nvCxnSpPr>
        <p:spPr>
          <a:xfrm flipV="1">
            <a:off x="4932040" y="3470213"/>
            <a:ext cx="1584176" cy="1152128"/>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
        <p:nvSpPr>
          <p:cNvPr id="21" name="TextBox 20"/>
          <p:cNvSpPr txBox="1"/>
          <p:nvPr/>
        </p:nvSpPr>
        <p:spPr>
          <a:xfrm rot="16200000">
            <a:off x="147495" y="3172309"/>
            <a:ext cx="864097" cy="307777"/>
          </a:xfrm>
          <a:prstGeom prst="rect">
            <a:avLst/>
          </a:prstGeom>
          <a:noFill/>
        </p:spPr>
        <p:txBody>
          <a:bodyPr wrap="square" rtlCol="0">
            <a:spAutoFit/>
          </a:bodyPr>
          <a:lstStyle/>
          <a:p>
            <a:r>
              <a:rPr lang="es-ES" sz="1400" dirty="0"/>
              <a:t>Fuentes</a:t>
            </a:r>
          </a:p>
        </p:txBody>
      </p:sp>
      <p:sp>
        <p:nvSpPr>
          <p:cNvPr id="22" name="Rounded Rectangle 21"/>
          <p:cNvSpPr/>
          <p:nvPr/>
        </p:nvSpPr>
        <p:spPr>
          <a:xfrm>
            <a:off x="6588224" y="3040078"/>
            <a:ext cx="1824854" cy="862183"/>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a:t>Planes de Acción</a:t>
            </a:r>
          </a:p>
        </p:txBody>
      </p:sp>
      <p:sp>
        <p:nvSpPr>
          <p:cNvPr id="24" name="Right Brace 23"/>
          <p:cNvSpPr/>
          <p:nvPr/>
        </p:nvSpPr>
        <p:spPr>
          <a:xfrm rot="5400000">
            <a:off x="4463179" y="1201153"/>
            <a:ext cx="361655" cy="7488832"/>
          </a:xfrm>
          <a:prstGeom prst="rightBrace">
            <a:avLst/>
          </a:prstGeom>
          <a:ln w="158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s-ES" dirty="0"/>
          </a:p>
        </p:txBody>
      </p:sp>
      <p:sp>
        <p:nvSpPr>
          <p:cNvPr id="25" name="Rounded Rectangle 24"/>
          <p:cNvSpPr/>
          <p:nvPr/>
        </p:nvSpPr>
        <p:spPr>
          <a:xfrm>
            <a:off x="1502821" y="5270413"/>
            <a:ext cx="1701027" cy="539153"/>
          </a:xfrm>
          <a:prstGeom prst="roundRect">
            <a:avLst/>
          </a:prstGeom>
          <a:solidFill>
            <a:srgbClr val="84848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600" dirty="0"/>
              <a:t>Unidades de negocio</a:t>
            </a:r>
          </a:p>
        </p:txBody>
      </p:sp>
      <p:sp>
        <p:nvSpPr>
          <p:cNvPr id="26" name="Rounded Rectangle 25"/>
          <p:cNvSpPr/>
          <p:nvPr/>
        </p:nvSpPr>
        <p:spPr>
          <a:xfrm>
            <a:off x="3807077" y="5270413"/>
            <a:ext cx="1701027" cy="539153"/>
          </a:xfrm>
          <a:prstGeom prst="roundRect">
            <a:avLst/>
          </a:prstGeom>
          <a:solidFill>
            <a:srgbClr val="84848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600" dirty="0"/>
              <a:t>Área de Riesgo Operacional</a:t>
            </a:r>
          </a:p>
        </p:txBody>
      </p:sp>
      <p:sp>
        <p:nvSpPr>
          <p:cNvPr id="27" name="Rounded Rectangle 26"/>
          <p:cNvSpPr/>
          <p:nvPr/>
        </p:nvSpPr>
        <p:spPr>
          <a:xfrm>
            <a:off x="6156176" y="5270413"/>
            <a:ext cx="1701027" cy="539153"/>
          </a:xfrm>
          <a:prstGeom prst="roundRect">
            <a:avLst/>
          </a:prstGeom>
          <a:solidFill>
            <a:srgbClr val="84848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600" dirty="0"/>
              <a:t>Comité de Riesgos</a:t>
            </a:r>
          </a:p>
        </p:txBody>
      </p:sp>
      <p:sp>
        <p:nvSpPr>
          <p:cNvPr id="28" name="TextBox 27"/>
          <p:cNvSpPr txBox="1"/>
          <p:nvPr/>
        </p:nvSpPr>
        <p:spPr>
          <a:xfrm rot="16200000">
            <a:off x="25623" y="5188532"/>
            <a:ext cx="1152129" cy="307777"/>
          </a:xfrm>
          <a:prstGeom prst="rect">
            <a:avLst/>
          </a:prstGeom>
          <a:noFill/>
        </p:spPr>
        <p:txBody>
          <a:bodyPr wrap="square" rtlCol="0">
            <a:spAutoFit/>
          </a:bodyPr>
          <a:lstStyle/>
          <a:p>
            <a:r>
              <a:rPr lang="es-ES" sz="1400" dirty="0"/>
              <a:t>Seguimiento</a:t>
            </a:r>
          </a:p>
        </p:txBody>
      </p:sp>
      <p:sp>
        <p:nvSpPr>
          <p:cNvPr id="29" name="Right Arrow 28"/>
          <p:cNvSpPr/>
          <p:nvPr/>
        </p:nvSpPr>
        <p:spPr>
          <a:xfrm>
            <a:off x="3420689" y="5414429"/>
            <a:ext cx="215207" cy="232367"/>
          </a:xfrm>
          <a:prstGeom prst="rightArrow">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p>
        </p:txBody>
      </p:sp>
      <p:sp>
        <p:nvSpPr>
          <p:cNvPr id="30" name="Right Arrow 29"/>
          <p:cNvSpPr/>
          <p:nvPr/>
        </p:nvSpPr>
        <p:spPr>
          <a:xfrm>
            <a:off x="5724128" y="5414429"/>
            <a:ext cx="215207" cy="232367"/>
          </a:xfrm>
          <a:prstGeom prst="rightArrow">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p>
        </p:txBody>
      </p:sp>
      <p:sp>
        <p:nvSpPr>
          <p:cNvPr id="31" name="Rounded Rectangle 31">
            <a:hlinkClick r:id="rId2" action="ppaction://hlinksldjump"/>
          </p:cNvPr>
          <p:cNvSpPr/>
          <p:nvPr/>
        </p:nvSpPr>
        <p:spPr>
          <a:xfrm>
            <a:off x="1638012" y="6322807"/>
            <a:ext cx="1080000" cy="360000"/>
          </a:xfrm>
          <a:prstGeom prst="roundRect">
            <a:avLst/>
          </a:prstGeom>
          <a:solidFill>
            <a:schemeClr val="bg1">
              <a:lumMod val="65000"/>
            </a:schemeClr>
          </a:solidFill>
          <a:ln w="25400" cap="sq" cmpd="sng">
            <a:solidFill>
              <a:schemeClr val="bg1">
                <a:lumMod val="75000"/>
              </a:schemeClr>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L" sz="800" b="1" i="1" dirty="0">
                <a:solidFill>
                  <a:schemeClr val="bg1"/>
                </a:solidFill>
                <a:cs typeface="Arial" pitchFamily="34" charset="0"/>
              </a:rPr>
              <a:t>Metodología</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itle 1"/>
          <p:cNvSpPr>
            <a:spLocks noGrp="1"/>
          </p:cNvSpPr>
          <p:nvPr>
            <p:ph type="title"/>
          </p:nvPr>
        </p:nvSpPr>
        <p:spPr>
          <a:xfrm>
            <a:off x="47625" y="32965"/>
            <a:ext cx="8217470" cy="587723"/>
          </a:xfrm>
        </p:spPr>
        <p:txBody>
          <a:bodyPr/>
          <a:lstStyle/>
          <a:p>
            <a:r>
              <a:rPr lang="es-ES" dirty="0"/>
              <a:t>Anexo: Árbol de Procesos</a:t>
            </a:r>
          </a:p>
        </p:txBody>
      </p:sp>
      <p:sp>
        <p:nvSpPr>
          <p:cNvPr id="17" name="Rounded Rectangle 31">
            <a:hlinkClick r:id="rId2" action="ppaction://hlinksldjump"/>
          </p:cNvPr>
          <p:cNvSpPr/>
          <p:nvPr/>
        </p:nvSpPr>
        <p:spPr>
          <a:xfrm>
            <a:off x="1638012" y="6322807"/>
            <a:ext cx="1080000" cy="360000"/>
          </a:xfrm>
          <a:prstGeom prst="roundRect">
            <a:avLst/>
          </a:prstGeom>
          <a:solidFill>
            <a:schemeClr val="bg1">
              <a:lumMod val="65000"/>
            </a:schemeClr>
          </a:solidFill>
          <a:ln w="25400" cap="sq" cmpd="sng">
            <a:solidFill>
              <a:schemeClr val="bg1">
                <a:lumMod val="75000"/>
              </a:schemeClr>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L" sz="800" b="1" i="1" dirty="0">
                <a:solidFill>
                  <a:schemeClr val="bg1"/>
                </a:solidFill>
                <a:cs typeface="Arial" pitchFamily="34" charset="0"/>
              </a:rPr>
              <a:t>Exposición al RO y Entorno de Control</a:t>
            </a:r>
          </a:p>
        </p:txBody>
      </p:sp>
      <p:sp>
        <p:nvSpPr>
          <p:cNvPr id="18" name="AutoShape 10"/>
          <p:cNvSpPr>
            <a:spLocks noChangeArrowheads="1"/>
          </p:cNvSpPr>
          <p:nvPr/>
        </p:nvSpPr>
        <p:spPr bwMode="auto">
          <a:xfrm rot="10800000">
            <a:off x="1187624" y="1196767"/>
            <a:ext cx="2304256" cy="4320464"/>
          </a:xfrm>
          <a:prstGeom prst="homePlate">
            <a:avLst>
              <a:gd name="adj" fmla="val 28726"/>
            </a:avLst>
          </a:prstGeom>
          <a:solidFill>
            <a:schemeClr val="accent1">
              <a:lumMod val="20000"/>
              <a:lumOff val="80000"/>
            </a:schemeClr>
          </a:solidFill>
          <a:ln w="12700">
            <a:solidFill>
              <a:srgbClr val="A9A9A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dirty="0">
              <a:solidFill>
                <a:schemeClr val="lt1"/>
              </a:solidFill>
            </a:endParaRPr>
          </a:p>
        </p:txBody>
      </p:sp>
      <p:sp>
        <p:nvSpPr>
          <p:cNvPr id="19" name="Rounded Rectangle 21"/>
          <p:cNvSpPr/>
          <p:nvPr/>
        </p:nvSpPr>
        <p:spPr>
          <a:xfrm>
            <a:off x="107504" y="2977409"/>
            <a:ext cx="1512000" cy="648000"/>
          </a:xfrm>
          <a:prstGeom prst="roundRect">
            <a:avLst/>
          </a:prstGeom>
          <a:solidFill>
            <a:srgbClr val="DB0613"/>
          </a:solidFill>
          <a:ln w="9525" algn="ctr">
            <a:noFill/>
            <a:miter lim="800000"/>
            <a:headEnd/>
            <a:tailEnd/>
          </a:ln>
          <a:effectLst>
            <a:prstShdw prst="shdw17" dist="17961" dir="2700000">
              <a:srgbClr val="DDDDDD">
                <a:gamma/>
                <a:shade val="60000"/>
                <a:invGamma/>
              </a:srgbClr>
            </a:prstShdw>
          </a:effectLst>
        </p:spPr>
        <p:txBody>
          <a:bodyPr wrap="none" anchor="ctr"/>
          <a:lstStyle/>
          <a:p>
            <a:pPr algn="ctr"/>
            <a:r>
              <a:rPr lang="es-ES" sz="1600" b="1" dirty="0">
                <a:solidFill>
                  <a:schemeClr val="bg1"/>
                </a:solidFill>
              </a:rPr>
              <a:t>Administración</a:t>
            </a:r>
          </a:p>
          <a:p>
            <a:pPr algn="ctr"/>
            <a:r>
              <a:rPr lang="es-ES" sz="1600" b="1" dirty="0">
                <a:solidFill>
                  <a:schemeClr val="bg1"/>
                </a:solidFill>
              </a:rPr>
              <a:t>de Fondos</a:t>
            </a:r>
          </a:p>
        </p:txBody>
      </p:sp>
      <p:sp>
        <p:nvSpPr>
          <p:cNvPr id="20" name="Rounded Rectangle 21"/>
          <p:cNvSpPr/>
          <p:nvPr/>
        </p:nvSpPr>
        <p:spPr>
          <a:xfrm>
            <a:off x="1843040" y="1340767"/>
            <a:ext cx="1548000" cy="648000"/>
          </a:xfrm>
          <a:prstGeom prst="roundRect">
            <a:avLst/>
          </a:prstGeom>
          <a:solidFill>
            <a:srgbClr val="DB0613"/>
          </a:solidFill>
          <a:ln w="9525" algn="ctr">
            <a:noFill/>
            <a:miter lim="800000"/>
            <a:headEnd/>
            <a:tailEnd/>
          </a:ln>
          <a:effectLst>
            <a:prstShdw prst="shdw17" dist="17961" dir="2700000">
              <a:srgbClr val="DDDDDD">
                <a:gamma/>
                <a:shade val="60000"/>
                <a:invGamma/>
              </a:srgbClr>
            </a:prstShdw>
          </a:effectLst>
        </p:spPr>
        <p:txBody>
          <a:bodyPr wrap="none" anchor="ctr"/>
          <a:lstStyle/>
          <a:p>
            <a:pPr algn="ctr"/>
            <a:r>
              <a:rPr lang="es-ES" sz="1400" b="1" dirty="0">
                <a:solidFill>
                  <a:schemeClr val="bg1"/>
                </a:solidFill>
              </a:rPr>
              <a:t>Identificación de</a:t>
            </a:r>
          </a:p>
          <a:p>
            <a:pPr algn="ctr"/>
            <a:r>
              <a:rPr lang="es-ES" sz="1400" b="1" dirty="0">
                <a:solidFill>
                  <a:schemeClr val="bg1"/>
                </a:solidFill>
              </a:rPr>
              <a:t>Oportunidades</a:t>
            </a:r>
          </a:p>
          <a:p>
            <a:pPr algn="ctr"/>
            <a:r>
              <a:rPr lang="es-ES" sz="1400" b="1" dirty="0">
                <a:solidFill>
                  <a:schemeClr val="bg1"/>
                </a:solidFill>
              </a:rPr>
              <a:t>de Inversión</a:t>
            </a:r>
          </a:p>
        </p:txBody>
      </p:sp>
      <p:sp>
        <p:nvSpPr>
          <p:cNvPr id="21" name="Rounded Rectangle 21"/>
          <p:cNvSpPr/>
          <p:nvPr/>
        </p:nvSpPr>
        <p:spPr>
          <a:xfrm>
            <a:off x="1843040" y="2177009"/>
            <a:ext cx="1548000" cy="648000"/>
          </a:xfrm>
          <a:prstGeom prst="roundRect">
            <a:avLst/>
          </a:prstGeom>
          <a:solidFill>
            <a:srgbClr val="DB0613"/>
          </a:solidFill>
          <a:ln w="9525" algn="ctr">
            <a:noFill/>
            <a:miter lim="800000"/>
            <a:headEnd/>
            <a:tailEnd/>
          </a:ln>
          <a:effectLst>
            <a:prstShdw prst="shdw17" dist="17961" dir="2700000">
              <a:srgbClr val="DDDDDD">
                <a:gamma/>
                <a:shade val="60000"/>
                <a:invGamma/>
              </a:srgbClr>
            </a:prstShdw>
          </a:effectLst>
        </p:spPr>
        <p:txBody>
          <a:bodyPr wrap="none" anchor="ctr"/>
          <a:lstStyle/>
          <a:p>
            <a:pPr algn="ctr"/>
            <a:r>
              <a:rPr lang="es-ES" sz="1400" b="1" dirty="0">
                <a:solidFill>
                  <a:schemeClr val="bg1"/>
                </a:solidFill>
              </a:rPr>
              <a:t>Evaluación de</a:t>
            </a:r>
          </a:p>
          <a:p>
            <a:pPr algn="ctr"/>
            <a:r>
              <a:rPr lang="es-ES" sz="1400" b="1" dirty="0">
                <a:solidFill>
                  <a:schemeClr val="bg1"/>
                </a:solidFill>
              </a:rPr>
              <a:t>Oportunidades</a:t>
            </a:r>
          </a:p>
          <a:p>
            <a:pPr algn="ctr"/>
            <a:r>
              <a:rPr lang="es-ES" sz="1400" b="1" dirty="0">
                <a:solidFill>
                  <a:schemeClr val="bg1"/>
                </a:solidFill>
              </a:rPr>
              <a:t>de Inversión</a:t>
            </a:r>
          </a:p>
        </p:txBody>
      </p:sp>
      <p:sp>
        <p:nvSpPr>
          <p:cNvPr id="22" name="Rounded Rectangle 21"/>
          <p:cNvSpPr/>
          <p:nvPr/>
        </p:nvSpPr>
        <p:spPr>
          <a:xfrm>
            <a:off x="1843040" y="2977409"/>
            <a:ext cx="1548000" cy="648000"/>
          </a:xfrm>
          <a:prstGeom prst="roundRect">
            <a:avLst/>
          </a:prstGeom>
          <a:solidFill>
            <a:srgbClr val="DB0613"/>
          </a:solidFill>
          <a:ln w="9525" algn="ctr">
            <a:noFill/>
            <a:miter lim="800000"/>
            <a:headEnd/>
            <a:tailEnd/>
          </a:ln>
          <a:effectLst>
            <a:prstShdw prst="shdw17" dist="17961" dir="2700000">
              <a:srgbClr val="DDDDDD">
                <a:gamma/>
                <a:shade val="60000"/>
                <a:invGamma/>
              </a:srgbClr>
            </a:prstShdw>
          </a:effectLst>
        </p:spPr>
        <p:txBody>
          <a:bodyPr wrap="none" anchor="ctr"/>
          <a:lstStyle/>
          <a:p>
            <a:pPr algn="ctr"/>
            <a:r>
              <a:rPr lang="es-ES" sz="1400" b="1" dirty="0">
                <a:solidFill>
                  <a:schemeClr val="bg1"/>
                </a:solidFill>
              </a:rPr>
              <a:t>Ejecución de</a:t>
            </a:r>
          </a:p>
          <a:p>
            <a:pPr algn="ctr"/>
            <a:r>
              <a:rPr lang="es-ES" sz="1400" b="1" dirty="0">
                <a:solidFill>
                  <a:schemeClr val="bg1"/>
                </a:solidFill>
              </a:rPr>
              <a:t>Propuesta</a:t>
            </a:r>
          </a:p>
          <a:p>
            <a:pPr algn="ctr"/>
            <a:r>
              <a:rPr lang="es-ES" sz="1400" b="1" dirty="0">
                <a:solidFill>
                  <a:schemeClr val="bg1"/>
                </a:solidFill>
              </a:rPr>
              <a:t>de Inversión</a:t>
            </a:r>
          </a:p>
        </p:txBody>
      </p:sp>
      <p:sp>
        <p:nvSpPr>
          <p:cNvPr id="23" name="Rounded Rectangle 21"/>
          <p:cNvSpPr/>
          <p:nvPr/>
        </p:nvSpPr>
        <p:spPr>
          <a:xfrm>
            <a:off x="1843040" y="3861047"/>
            <a:ext cx="1548000" cy="648000"/>
          </a:xfrm>
          <a:prstGeom prst="roundRect">
            <a:avLst/>
          </a:prstGeom>
          <a:solidFill>
            <a:srgbClr val="DB0613"/>
          </a:solidFill>
          <a:ln w="9525" algn="ctr">
            <a:noFill/>
            <a:miter lim="800000"/>
            <a:headEnd/>
            <a:tailEnd/>
          </a:ln>
          <a:effectLst>
            <a:prstShdw prst="shdw17" dist="17961" dir="2700000">
              <a:srgbClr val="DDDDDD">
                <a:gamma/>
                <a:shade val="60000"/>
                <a:invGamma/>
              </a:srgbClr>
            </a:prstShdw>
          </a:effectLst>
        </p:spPr>
        <p:txBody>
          <a:bodyPr wrap="none" anchor="ctr"/>
          <a:lstStyle/>
          <a:p>
            <a:pPr algn="ctr"/>
            <a:r>
              <a:rPr lang="es-ES" sz="1400" b="1" dirty="0">
                <a:solidFill>
                  <a:schemeClr val="bg1"/>
                </a:solidFill>
              </a:rPr>
              <a:t>Ingreso y Registro</a:t>
            </a:r>
          </a:p>
          <a:p>
            <a:pPr algn="ctr"/>
            <a:r>
              <a:rPr lang="es-ES" sz="1400" b="1" dirty="0">
                <a:solidFill>
                  <a:schemeClr val="bg1"/>
                </a:solidFill>
              </a:rPr>
              <a:t>de Operaciones </a:t>
            </a:r>
          </a:p>
          <a:p>
            <a:pPr algn="ctr"/>
            <a:r>
              <a:rPr lang="es-ES" sz="1400" b="1" dirty="0">
                <a:solidFill>
                  <a:schemeClr val="bg1"/>
                </a:solidFill>
              </a:rPr>
              <a:t>de Inversión</a:t>
            </a:r>
          </a:p>
        </p:txBody>
      </p:sp>
      <p:grpSp>
        <p:nvGrpSpPr>
          <p:cNvPr id="24" name="52 Grupo"/>
          <p:cNvGrpSpPr/>
          <p:nvPr/>
        </p:nvGrpSpPr>
        <p:grpSpPr>
          <a:xfrm>
            <a:off x="3347865" y="1340767"/>
            <a:ext cx="1440000" cy="648000"/>
            <a:chOff x="3491881" y="1281851"/>
            <a:chExt cx="1620000" cy="648000"/>
          </a:xfrm>
        </p:grpSpPr>
        <p:sp>
          <p:nvSpPr>
            <p:cNvPr id="25" name="AutoShape 10"/>
            <p:cNvSpPr>
              <a:spLocks noChangeArrowheads="1"/>
            </p:cNvSpPr>
            <p:nvPr/>
          </p:nvSpPr>
          <p:spPr bwMode="auto">
            <a:xfrm rot="10800000">
              <a:off x="3491881" y="1281851"/>
              <a:ext cx="1620000" cy="648000"/>
            </a:xfrm>
            <a:prstGeom prst="homePlate">
              <a:avLst>
                <a:gd name="adj" fmla="val 28726"/>
              </a:avLst>
            </a:prstGeom>
            <a:solidFill>
              <a:schemeClr val="bg1"/>
            </a:solidFill>
            <a:ln w="9525" algn="ctr">
              <a:noFill/>
              <a:miter lim="800000"/>
              <a:headEnd/>
              <a:tailEnd/>
            </a:ln>
            <a:effectLst>
              <a:prstShdw prst="shdw17" dist="17961" dir="2700000">
                <a:srgbClr val="DDDDDD">
                  <a:gamma/>
                  <a:shade val="60000"/>
                  <a:invGamma/>
                </a:srgbClr>
              </a:prstShdw>
            </a:effectLst>
          </p:spPr>
          <p:txBody>
            <a:bodyPr wrap="none" anchor="ctr"/>
            <a:lstStyle/>
            <a:p>
              <a:pPr algn="ctr"/>
              <a:endParaRPr lang="en-US" sz="1300" b="1" dirty="0">
                <a:solidFill>
                  <a:schemeClr val="bg1"/>
                </a:solidFill>
              </a:endParaRPr>
            </a:p>
          </p:txBody>
        </p:sp>
        <p:sp>
          <p:nvSpPr>
            <p:cNvPr id="26" name="Rectangle 7"/>
            <p:cNvSpPr>
              <a:spLocks noChangeArrowheads="1"/>
            </p:cNvSpPr>
            <p:nvPr/>
          </p:nvSpPr>
          <p:spPr bwMode="auto">
            <a:xfrm>
              <a:off x="3838625" y="1281851"/>
              <a:ext cx="1224000" cy="648000"/>
            </a:xfrm>
            <a:prstGeom prst="rect">
              <a:avLst/>
            </a:prstGeom>
            <a:noFill/>
            <a:ln w="9525" algn="ctr">
              <a:noFill/>
              <a:miter lim="800000"/>
              <a:headEnd/>
              <a:tailEnd/>
            </a:ln>
            <a:effectLst>
              <a:prstShdw prst="shdw17" dist="17961" dir="2700000">
                <a:srgbClr val="DDDDDD">
                  <a:gamma/>
                  <a:shade val="60000"/>
                  <a:invGamma/>
                </a:srgbClr>
              </a:prstShdw>
            </a:effectLst>
          </p:spPr>
          <p:txBody>
            <a:bodyPr wrap="none" anchor="ctr"/>
            <a:lstStyle/>
            <a:p>
              <a:r>
                <a:rPr lang="es-PE" sz="1400" b="1" dirty="0"/>
                <a:t>Riesgos : 1</a:t>
              </a:r>
            </a:p>
            <a:p>
              <a:r>
                <a:rPr lang="es-PE" sz="1400" b="1" dirty="0"/>
                <a:t>Controles: 1</a:t>
              </a:r>
              <a:endParaRPr lang="es-ES" sz="1400" b="1" dirty="0"/>
            </a:p>
          </p:txBody>
        </p:sp>
        <p:sp>
          <p:nvSpPr>
            <p:cNvPr id="27" name="AutoShape 92"/>
            <p:cNvSpPr>
              <a:spLocks noChangeArrowheads="1"/>
            </p:cNvSpPr>
            <p:nvPr/>
          </p:nvSpPr>
          <p:spPr bwMode="auto">
            <a:xfrm>
              <a:off x="3712253" y="1628800"/>
              <a:ext cx="180000" cy="180000"/>
            </a:xfrm>
            <a:prstGeom prst="diamond">
              <a:avLst/>
            </a:prstGeom>
            <a:solidFill>
              <a:srgbClr val="009644"/>
            </a:solidFill>
            <a:ln w="9525" algn="ctr">
              <a:noFill/>
              <a:miter lim="800000"/>
              <a:headEnd/>
              <a:tailEnd/>
            </a:ln>
            <a:effectLst/>
          </p:spPr>
          <p:txBody>
            <a:bodyPr wrap="none" anchor="ctr"/>
            <a:lstStyle/>
            <a:p>
              <a:pPr algn="ctr"/>
              <a:endParaRPr lang="en-US" sz="1000" b="1" dirty="0">
                <a:solidFill>
                  <a:schemeClr val="bg1"/>
                </a:solidFill>
              </a:endParaRPr>
            </a:p>
          </p:txBody>
        </p:sp>
        <p:sp>
          <p:nvSpPr>
            <p:cNvPr id="28" name="Rounded Rectangle 139"/>
            <p:cNvSpPr/>
            <p:nvPr/>
          </p:nvSpPr>
          <p:spPr>
            <a:xfrm>
              <a:off x="3712253" y="1381102"/>
              <a:ext cx="180000" cy="180000"/>
            </a:xfrm>
            <a:prstGeom prst="roundRect">
              <a:avLst/>
            </a:prstGeom>
            <a:solidFill>
              <a:srgbClr val="F26D00"/>
            </a:solidFill>
            <a:ln w="9525" algn="ctr">
              <a:noFill/>
              <a:round/>
              <a:headEnd/>
              <a:tailEnd/>
            </a:ln>
            <a:effectLst/>
          </p:spPr>
          <p:txBody>
            <a:bodyPr wrap="none" anchor="ctr"/>
            <a:lstStyle/>
            <a:p>
              <a:pPr algn="ctr"/>
              <a:endParaRPr lang="es-ES" sz="1000" b="1" dirty="0">
                <a:solidFill>
                  <a:schemeClr val="bg1"/>
                </a:solidFill>
              </a:endParaRPr>
            </a:p>
          </p:txBody>
        </p:sp>
      </p:grpSp>
      <p:sp>
        <p:nvSpPr>
          <p:cNvPr id="29" name="Rounded Rectangle 21"/>
          <p:cNvSpPr/>
          <p:nvPr/>
        </p:nvSpPr>
        <p:spPr>
          <a:xfrm>
            <a:off x="1843040" y="4725143"/>
            <a:ext cx="1548000" cy="648000"/>
          </a:xfrm>
          <a:prstGeom prst="roundRect">
            <a:avLst/>
          </a:prstGeom>
          <a:solidFill>
            <a:srgbClr val="DB0613"/>
          </a:solidFill>
          <a:ln w="9525" algn="ctr">
            <a:noFill/>
            <a:miter lim="800000"/>
            <a:headEnd/>
            <a:tailEnd/>
          </a:ln>
          <a:effectLst>
            <a:prstShdw prst="shdw17" dist="17961" dir="2700000">
              <a:srgbClr val="DDDDDD">
                <a:gamma/>
                <a:shade val="60000"/>
                <a:invGamma/>
              </a:srgbClr>
            </a:prstShdw>
          </a:effectLst>
        </p:spPr>
        <p:txBody>
          <a:bodyPr wrap="none" anchor="ctr"/>
          <a:lstStyle/>
          <a:p>
            <a:pPr algn="ctr"/>
            <a:r>
              <a:rPr lang="es-ES" sz="1400" b="1" dirty="0">
                <a:solidFill>
                  <a:schemeClr val="bg1"/>
                </a:solidFill>
              </a:rPr>
              <a:t>Operaciones de</a:t>
            </a:r>
          </a:p>
          <a:p>
            <a:pPr algn="ctr"/>
            <a:r>
              <a:rPr lang="es-ES" sz="1400" b="1" dirty="0">
                <a:solidFill>
                  <a:schemeClr val="bg1"/>
                </a:solidFill>
              </a:rPr>
              <a:t>Money </a:t>
            </a:r>
            <a:r>
              <a:rPr lang="es-ES" sz="1400" b="1" dirty="0" err="1">
                <a:solidFill>
                  <a:schemeClr val="bg1"/>
                </a:solidFill>
              </a:rPr>
              <a:t>Market</a:t>
            </a:r>
            <a:endParaRPr lang="es-ES" sz="1400" b="1" dirty="0">
              <a:solidFill>
                <a:schemeClr val="bg1"/>
              </a:solidFill>
            </a:endParaRPr>
          </a:p>
        </p:txBody>
      </p:sp>
      <p:sp>
        <p:nvSpPr>
          <p:cNvPr id="30" name="Rectangle 7"/>
          <p:cNvSpPr>
            <a:spLocks noChangeArrowheads="1"/>
          </p:cNvSpPr>
          <p:nvPr/>
        </p:nvSpPr>
        <p:spPr bwMode="auto">
          <a:xfrm>
            <a:off x="4918801" y="980727"/>
            <a:ext cx="4104000" cy="5040561"/>
          </a:xfrm>
          <a:prstGeom prst="rect">
            <a:avLst/>
          </a:prstGeom>
          <a:solidFill>
            <a:schemeClr val="accent1">
              <a:lumMod val="20000"/>
              <a:lumOff val="80000"/>
            </a:schemeClr>
          </a:solidFill>
          <a:ln w="9525" algn="ctr">
            <a:noFill/>
            <a:miter lim="800000"/>
            <a:headEnd/>
            <a:tailEnd/>
          </a:ln>
          <a:effectLst>
            <a:prstShdw prst="shdw17" dist="17961" dir="2700000">
              <a:srgbClr val="DDDDDD">
                <a:gamma/>
                <a:shade val="60000"/>
                <a:invGamma/>
              </a:srgbClr>
            </a:prstShdw>
          </a:effectLst>
        </p:spPr>
        <p:txBody>
          <a:bodyPr wrap="none" anchor="ctr"/>
          <a:lstStyle/>
          <a:p>
            <a:pPr algn="ctr"/>
            <a:endParaRPr lang="es-ES" sz="1300" b="1" dirty="0">
              <a:solidFill>
                <a:srgbClr val="525252"/>
              </a:solidFill>
            </a:endParaRPr>
          </a:p>
        </p:txBody>
      </p:sp>
      <p:sp>
        <p:nvSpPr>
          <p:cNvPr id="31" name="AutoShape 10"/>
          <p:cNvSpPr>
            <a:spLocks noChangeArrowheads="1"/>
          </p:cNvSpPr>
          <p:nvPr/>
        </p:nvSpPr>
        <p:spPr bwMode="auto">
          <a:xfrm rot="10800000">
            <a:off x="4716016" y="1340767"/>
            <a:ext cx="1260000" cy="647999"/>
          </a:xfrm>
          <a:prstGeom prst="homePlate">
            <a:avLst>
              <a:gd name="adj" fmla="val 28726"/>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dirty="0">
              <a:solidFill>
                <a:schemeClr val="lt1"/>
              </a:solidFill>
            </a:endParaRPr>
          </a:p>
        </p:txBody>
      </p:sp>
      <p:sp>
        <p:nvSpPr>
          <p:cNvPr id="32" name="Rectangle 7"/>
          <p:cNvSpPr>
            <a:spLocks noChangeArrowheads="1"/>
          </p:cNvSpPr>
          <p:nvPr/>
        </p:nvSpPr>
        <p:spPr bwMode="auto">
          <a:xfrm>
            <a:off x="7114697" y="1030207"/>
            <a:ext cx="900000" cy="252000"/>
          </a:xfrm>
          <a:prstGeom prst="rect">
            <a:avLst/>
          </a:prstGeom>
          <a:solidFill>
            <a:schemeClr val="tx1">
              <a:lumMod val="50000"/>
              <a:lumOff val="50000"/>
            </a:schemeClr>
          </a:solidFill>
          <a:ln w="9525" algn="ctr">
            <a:noFill/>
            <a:miter lim="800000"/>
            <a:headEnd/>
            <a:tailEnd/>
          </a:ln>
          <a:effectLst>
            <a:prstShdw prst="shdw17" dist="17961" dir="2700000">
              <a:srgbClr val="DDDDDD">
                <a:gamma/>
                <a:shade val="60000"/>
                <a:invGamma/>
              </a:srgbClr>
            </a:prstShdw>
          </a:effectLst>
        </p:spPr>
        <p:txBody>
          <a:bodyPr wrap="none" anchor="ctr"/>
          <a:lstStyle/>
          <a:p>
            <a:pPr algn="ctr"/>
            <a:r>
              <a:rPr lang="es-PE" sz="1300" b="1" dirty="0">
                <a:solidFill>
                  <a:schemeClr val="bg1"/>
                </a:solidFill>
              </a:rPr>
              <a:t>PEA</a:t>
            </a:r>
            <a:endParaRPr lang="es-ES" sz="1300" b="1" dirty="0">
              <a:solidFill>
                <a:schemeClr val="bg1"/>
              </a:solidFill>
            </a:endParaRPr>
          </a:p>
        </p:txBody>
      </p:sp>
      <p:sp>
        <p:nvSpPr>
          <p:cNvPr id="33" name="Rectangle 7"/>
          <p:cNvSpPr>
            <a:spLocks noChangeArrowheads="1"/>
          </p:cNvSpPr>
          <p:nvPr/>
        </p:nvSpPr>
        <p:spPr bwMode="auto">
          <a:xfrm>
            <a:off x="4986931" y="1340766"/>
            <a:ext cx="2016000" cy="456000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marL="228600" indent="-228600" algn="just">
              <a:buFont typeface="+mj-lt"/>
              <a:buAutoNum type="arabicParenR"/>
            </a:pPr>
            <a:r>
              <a:rPr lang="es-ES" sz="1100" dirty="0">
                <a:solidFill>
                  <a:schemeClr val="tx1"/>
                </a:solidFill>
              </a:rPr>
              <a:t>Gerente General Adjunto de Inversiones no se encuentra disponible para dar V°B° a tesis de inversión.</a:t>
            </a:r>
          </a:p>
        </p:txBody>
      </p:sp>
      <p:sp>
        <p:nvSpPr>
          <p:cNvPr id="34" name="Rectangle 7"/>
          <p:cNvSpPr>
            <a:spLocks noChangeArrowheads="1"/>
          </p:cNvSpPr>
          <p:nvPr/>
        </p:nvSpPr>
        <p:spPr bwMode="auto">
          <a:xfrm>
            <a:off x="4986931" y="1030207"/>
            <a:ext cx="2016000" cy="252000"/>
          </a:xfrm>
          <a:prstGeom prst="rect">
            <a:avLst/>
          </a:prstGeom>
          <a:solidFill>
            <a:schemeClr val="tx1">
              <a:lumMod val="50000"/>
              <a:lumOff val="50000"/>
            </a:schemeClr>
          </a:solidFill>
          <a:ln w="9525" algn="ctr">
            <a:noFill/>
            <a:miter lim="800000"/>
            <a:headEnd/>
            <a:tailEnd/>
          </a:ln>
          <a:effectLst>
            <a:prstShdw prst="shdw17" dist="17961" dir="2700000">
              <a:srgbClr val="DDDDDD">
                <a:gamma/>
                <a:shade val="60000"/>
                <a:invGamma/>
              </a:srgbClr>
            </a:prstShdw>
          </a:effectLst>
        </p:spPr>
        <p:txBody>
          <a:bodyPr wrap="none" anchor="ctr"/>
          <a:lstStyle/>
          <a:p>
            <a:pPr algn="ctr"/>
            <a:r>
              <a:rPr lang="es-ES" sz="1300" b="1" dirty="0">
                <a:solidFill>
                  <a:schemeClr val="bg1"/>
                </a:solidFill>
              </a:rPr>
              <a:t>Riesgos</a:t>
            </a:r>
          </a:p>
        </p:txBody>
      </p:sp>
      <p:sp>
        <p:nvSpPr>
          <p:cNvPr id="35" name="Rectangle 7"/>
          <p:cNvSpPr>
            <a:spLocks noChangeArrowheads="1"/>
          </p:cNvSpPr>
          <p:nvPr/>
        </p:nvSpPr>
        <p:spPr bwMode="auto">
          <a:xfrm>
            <a:off x="7114697" y="1340766"/>
            <a:ext cx="900000" cy="456000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marL="228600" indent="-228600" algn="just"/>
            <a:endParaRPr lang="es-ES" sz="1100" dirty="0">
              <a:solidFill>
                <a:schemeClr val="tx1"/>
              </a:solidFill>
            </a:endParaRPr>
          </a:p>
        </p:txBody>
      </p:sp>
      <p:sp>
        <p:nvSpPr>
          <p:cNvPr id="36" name="Rectangle 7"/>
          <p:cNvSpPr>
            <a:spLocks noChangeArrowheads="1"/>
          </p:cNvSpPr>
          <p:nvPr/>
        </p:nvSpPr>
        <p:spPr bwMode="auto">
          <a:xfrm>
            <a:off x="8064488" y="1030207"/>
            <a:ext cx="900000" cy="252000"/>
          </a:xfrm>
          <a:prstGeom prst="rect">
            <a:avLst/>
          </a:prstGeom>
          <a:solidFill>
            <a:schemeClr val="tx1">
              <a:lumMod val="50000"/>
              <a:lumOff val="50000"/>
            </a:schemeClr>
          </a:solidFill>
          <a:ln w="9525" algn="ctr">
            <a:noFill/>
            <a:miter lim="800000"/>
            <a:headEnd/>
            <a:tailEnd/>
          </a:ln>
          <a:effectLst>
            <a:prstShdw prst="shdw17" dist="17961" dir="2700000">
              <a:srgbClr val="DDDDDD">
                <a:gamma/>
                <a:shade val="60000"/>
                <a:invGamma/>
              </a:srgbClr>
            </a:prstShdw>
          </a:effectLst>
        </p:spPr>
        <p:txBody>
          <a:bodyPr wrap="none" anchor="ctr"/>
          <a:lstStyle/>
          <a:p>
            <a:pPr algn="ctr"/>
            <a:r>
              <a:rPr lang="es-PE" sz="1300" b="1" dirty="0" err="1">
                <a:solidFill>
                  <a:schemeClr val="bg1"/>
                </a:solidFill>
              </a:rPr>
              <a:t>VaR</a:t>
            </a:r>
            <a:endParaRPr lang="es-ES" sz="1300" b="1" dirty="0">
              <a:solidFill>
                <a:schemeClr val="bg1"/>
              </a:solidFill>
            </a:endParaRPr>
          </a:p>
        </p:txBody>
      </p:sp>
      <p:sp>
        <p:nvSpPr>
          <p:cNvPr id="37" name="Rectangle 7"/>
          <p:cNvSpPr>
            <a:spLocks noChangeArrowheads="1"/>
          </p:cNvSpPr>
          <p:nvPr/>
        </p:nvSpPr>
        <p:spPr bwMode="auto">
          <a:xfrm>
            <a:off x="8064488" y="1340766"/>
            <a:ext cx="900000" cy="456000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marL="228600" indent="-228600" algn="just"/>
            <a:endParaRPr lang="es-ES" sz="1100" dirty="0">
              <a:solidFill>
                <a:schemeClr val="tx1"/>
              </a:solidFill>
            </a:endParaRPr>
          </a:p>
        </p:txBody>
      </p:sp>
      <p:sp>
        <p:nvSpPr>
          <p:cNvPr id="38" name="Rounded Rectangle 93"/>
          <p:cNvSpPr/>
          <p:nvPr/>
        </p:nvSpPr>
        <p:spPr>
          <a:xfrm>
            <a:off x="7164288" y="1412776"/>
            <a:ext cx="792000" cy="548640"/>
          </a:xfrm>
          <a:prstGeom prst="roundRect">
            <a:avLst/>
          </a:prstGeom>
          <a:noFill/>
          <a:ln w="127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400" b="1" dirty="0">
                <a:solidFill>
                  <a:schemeClr val="tx1"/>
                </a:solidFill>
                <a:latin typeface="+mj-lt"/>
              </a:rPr>
              <a:t>102</a:t>
            </a:r>
            <a:endParaRPr lang="es-CL" sz="1400" b="1" dirty="0">
              <a:solidFill>
                <a:schemeClr val="tx1"/>
              </a:solidFill>
              <a:latin typeface="+mj-lt"/>
            </a:endParaRPr>
          </a:p>
        </p:txBody>
      </p:sp>
      <p:sp>
        <p:nvSpPr>
          <p:cNvPr id="39" name="Rounded Rectangle 93"/>
          <p:cNvSpPr/>
          <p:nvPr/>
        </p:nvSpPr>
        <p:spPr>
          <a:xfrm>
            <a:off x="8100480" y="1412776"/>
            <a:ext cx="792000" cy="548640"/>
          </a:xfrm>
          <a:prstGeom prst="roundRect">
            <a:avLst/>
          </a:prstGeom>
          <a:noFill/>
          <a:ln w="127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PE" sz="1400" b="1" dirty="0">
                <a:solidFill>
                  <a:schemeClr val="tx1"/>
                </a:solidFill>
                <a:latin typeface="+mj-lt"/>
              </a:rPr>
              <a:t>2,204</a:t>
            </a:r>
            <a:endParaRPr lang="es-CL" sz="1400" b="1" dirty="0">
              <a:solidFill>
                <a:schemeClr val="tx1"/>
              </a:solidFill>
              <a:latin typeface="+mj-lt"/>
            </a:endParaRPr>
          </a:p>
        </p:txBody>
      </p:sp>
      <p:sp>
        <p:nvSpPr>
          <p:cNvPr id="40" name="Text Box 44"/>
          <p:cNvSpPr txBox="1">
            <a:spLocks noChangeArrowheads="1"/>
          </p:cNvSpPr>
          <p:nvPr/>
        </p:nvSpPr>
        <p:spPr bwMode="auto">
          <a:xfrm>
            <a:off x="7610039" y="764704"/>
            <a:ext cx="1354449" cy="230832"/>
          </a:xfrm>
          <a:prstGeom prst="rect">
            <a:avLst/>
          </a:prstGeom>
          <a:noFill/>
          <a:ln w="9525" algn="ctr">
            <a:noFill/>
            <a:miter lim="800000"/>
            <a:headEnd/>
            <a:tailEnd/>
          </a:ln>
          <a:effectLst/>
        </p:spPr>
        <p:txBody>
          <a:bodyPr wrap="square">
            <a:spAutoFit/>
          </a:bodyPr>
          <a:lstStyle/>
          <a:p>
            <a:r>
              <a:rPr lang="es-ES" sz="900" b="1" i="1" dirty="0">
                <a:solidFill>
                  <a:srgbClr val="525252"/>
                </a:solidFill>
              </a:rPr>
              <a:t>Miles de Nuevos Soles</a:t>
            </a:r>
            <a:endParaRPr lang="en-US" sz="900" b="1" i="1" dirty="0">
              <a:solidFill>
                <a:srgbClr val="525252"/>
              </a:solidFill>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 name="Rectangle 7"/>
          <p:cNvSpPr>
            <a:spLocks noChangeArrowheads="1"/>
          </p:cNvSpPr>
          <p:nvPr/>
        </p:nvSpPr>
        <p:spPr bwMode="auto">
          <a:xfrm>
            <a:off x="4918801" y="980727"/>
            <a:ext cx="4104000" cy="5040561"/>
          </a:xfrm>
          <a:prstGeom prst="rect">
            <a:avLst/>
          </a:prstGeom>
          <a:solidFill>
            <a:schemeClr val="accent1">
              <a:lumMod val="20000"/>
              <a:lumOff val="80000"/>
            </a:schemeClr>
          </a:solidFill>
          <a:ln w="9525" algn="ctr">
            <a:noFill/>
            <a:miter lim="800000"/>
            <a:headEnd/>
            <a:tailEnd/>
          </a:ln>
          <a:effectLst>
            <a:prstShdw prst="shdw17" dist="17961" dir="2700000">
              <a:srgbClr val="DDDDDD">
                <a:gamma/>
                <a:shade val="60000"/>
                <a:invGamma/>
              </a:srgbClr>
            </a:prstShdw>
          </a:effectLst>
        </p:spPr>
        <p:txBody>
          <a:bodyPr wrap="none" anchor="ctr"/>
          <a:lstStyle/>
          <a:p>
            <a:pPr algn="ctr"/>
            <a:endParaRPr lang="es-ES" sz="1300" b="1" dirty="0">
              <a:solidFill>
                <a:srgbClr val="525252"/>
              </a:solidFill>
            </a:endParaRPr>
          </a:p>
        </p:txBody>
      </p:sp>
      <p:sp>
        <p:nvSpPr>
          <p:cNvPr id="16" name="Title 1"/>
          <p:cNvSpPr>
            <a:spLocks noGrp="1"/>
          </p:cNvSpPr>
          <p:nvPr>
            <p:ph type="title"/>
          </p:nvPr>
        </p:nvSpPr>
        <p:spPr>
          <a:xfrm>
            <a:off x="47625" y="32965"/>
            <a:ext cx="8217470" cy="587723"/>
          </a:xfrm>
        </p:spPr>
        <p:txBody>
          <a:bodyPr/>
          <a:lstStyle/>
          <a:p>
            <a:r>
              <a:rPr lang="es-ES" dirty="0"/>
              <a:t>Anexo: Árbol de Procesos</a:t>
            </a:r>
          </a:p>
        </p:txBody>
      </p:sp>
      <p:sp>
        <p:nvSpPr>
          <p:cNvPr id="17" name="Rounded Rectangle 31">
            <a:hlinkClick r:id="rId2" action="ppaction://hlinksldjump"/>
          </p:cNvPr>
          <p:cNvSpPr/>
          <p:nvPr/>
        </p:nvSpPr>
        <p:spPr>
          <a:xfrm>
            <a:off x="1638012" y="6322807"/>
            <a:ext cx="1080000" cy="360000"/>
          </a:xfrm>
          <a:prstGeom prst="roundRect">
            <a:avLst/>
          </a:prstGeom>
          <a:solidFill>
            <a:schemeClr val="bg1">
              <a:lumMod val="65000"/>
            </a:schemeClr>
          </a:solidFill>
          <a:ln w="25400" cap="sq" cmpd="sng">
            <a:solidFill>
              <a:schemeClr val="bg1">
                <a:lumMod val="75000"/>
              </a:schemeClr>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L" sz="800" b="1" i="1" dirty="0">
                <a:solidFill>
                  <a:schemeClr val="bg1"/>
                </a:solidFill>
                <a:cs typeface="Arial" pitchFamily="34" charset="0"/>
              </a:rPr>
              <a:t>Exposición al RO y Entorno de Control</a:t>
            </a:r>
          </a:p>
        </p:txBody>
      </p:sp>
      <p:sp>
        <p:nvSpPr>
          <p:cNvPr id="18" name="AutoShape 10"/>
          <p:cNvSpPr>
            <a:spLocks noChangeArrowheads="1"/>
          </p:cNvSpPr>
          <p:nvPr/>
        </p:nvSpPr>
        <p:spPr bwMode="auto">
          <a:xfrm rot="10800000">
            <a:off x="1187624" y="1196767"/>
            <a:ext cx="2304256" cy="4320464"/>
          </a:xfrm>
          <a:prstGeom prst="homePlate">
            <a:avLst>
              <a:gd name="adj" fmla="val 28726"/>
            </a:avLst>
          </a:prstGeom>
          <a:solidFill>
            <a:schemeClr val="accent1">
              <a:lumMod val="20000"/>
              <a:lumOff val="80000"/>
            </a:schemeClr>
          </a:solidFill>
          <a:ln w="12700">
            <a:solidFill>
              <a:srgbClr val="A9A9A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dirty="0">
              <a:solidFill>
                <a:schemeClr val="lt1"/>
              </a:solidFill>
            </a:endParaRPr>
          </a:p>
        </p:txBody>
      </p:sp>
      <p:sp>
        <p:nvSpPr>
          <p:cNvPr id="19" name="Rounded Rectangle 21"/>
          <p:cNvSpPr/>
          <p:nvPr/>
        </p:nvSpPr>
        <p:spPr>
          <a:xfrm>
            <a:off x="107504" y="2977409"/>
            <a:ext cx="1512000" cy="648000"/>
          </a:xfrm>
          <a:prstGeom prst="roundRect">
            <a:avLst/>
          </a:prstGeom>
          <a:solidFill>
            <a:srgbClr val="DB0613"/>
          </a:solidFill>
          <a:ln w="9525" algn="ctr">
            <a:noFill/>
            <a:miter lim="800000"/>
            <a:headEnd/>
            <a:tailEnd/>
          </a:ln>
          <a:effectLst>
            <a:prstShdw prst="shdw17" dist="17961" dir="2700000">
              <a:srgbClr val="DDDDDD">
                <a:gamma/>
                <a:shade val="60000"/>
                <a:invGamma/>
              </a:srgbClr>
            </a:prstShdw>
          </a:effectLst>
        </p:spPr>
        <p:txBody>
          <a:bodyPr wrap="none" anchor="ctr"/>
          <a:lstStyle/>
          <a:p>
            <a:pPr algn="ctr"/>
            <a:r>
              <a:rPr lang="es-ES" sz="1600" b="1" dirty="0">
                <a:solidFill>
                  <a:schemeClr val="bg1"/>
                </a:solidFill>
              </a:rPr>
              <a:t>Administración</a:t>
            </a:r>
          </a:p>
          <a:p>
            <a:pPr algn="ctr"/>
            <a:r>
              <a:rPr lang="es-ES" sz="1600" b="1" dirty="0">
                <a:solidFill>
                  <a:schemeClr val="bg1"/>
                </a:solidFill>
              </a:rPr>
              <a:t>de Fondos</a:t>
            </a:r>
          </a:p>
        </p:txBody>
      </p:sp>
      <p:sp>
        <p:nvSpPr>
          <p:cNvPr id="20" name="Rounded Rectangle 21"/>
          <p:cNvSpPr/>
          <p:nvPr/>
        </p:nvSpPr>
        <p:spPr>
          <a:xfrm>
            <a:off x="1843040" y="1340767"/>
            <a:ext cx="1548000" cy="648000"/>
          </a:xfrm>
          <a:prstGeom prst="roundRect">
            <a:avLst/>
          </a:prstGeom>
          <a:solidFill>
            <a:srgbClr val="DB0613"/>
          </a:solidFill>
          <a:ln w="9525" algn="ctr">
            <a:noFill/>
            <a:miter lim="800000"/>
            <a:headEnd/>
            <a:tailEnd/>
          </a:ln>
          <a:effectLst>
            <a:prstShdw prst="shdw17" dist="17961" dir="2700000">
              <a:srgbClr val="DDDDDD">
                <a:gamma/>
                <a:shade val="60000"/>
                <a:invGamma/>
              </a:srgbClr>
            </a:prstShdw>
          </a:effectLst>
        </p:spPr>
        <p:txBody>
          <a:bodyPr wrap="none" anchor="ctr"/>
          <a:lstStyle/>
          <a:p>
            <a:pPr algn="ctr"/>
            <a:r>
              <a:rPr lang="es-ES" sz="1400" b="1" dirty="0">
                <a:solidFill>
                  <a:schemeClr val="bg1"/>
                </a:solidFill>
              </a:rPr>
              <a:t>Identificación de</a:t>
            </a:r>
          </a:p>
          <a:p>
            <a:pPr algn="ctr"/>
            <a:r>
              <a:rPr lang="es-ES" sz="1400" b="1" dirty="0">
                <a:solidFill>
                  <a:schemeClr val="bg1"/>
                </a:solidFill>
              </a:rPr>
              <a:t>Oportunidades</a:t>
            </a:r>
          </a:p>
          <a:p>
            <a:pPr algn="ctr"/>
            <a:r>
              <a:rPr lang="es-ES" sz="1400" b="1" dirty="0">
                <a:solidFill>
                  <a:schemeClr val="bg1"/>
                </a:solidFill>
              </a:rPr>
              <a:t>de Inversión</a:t>
            </a:r>
          </a:p>
        </p:txBody>
      </p:sp>
      <p:sp>
        <p:nvSpPr>
          <p:cNvPr id="21" name="Rounded Rectangle 21"/>
          <p:cNvSpPr/>
          <p:nvPr/>
        </p:nvSpPr>
        <p:spPr>
          <a:xfrm>
            <a:off x="1843040" y="2177009"/>
            <a:ext cx="1548000" cy="648000"/>
          </a:xfrm>
          <a:prstGeom prst="roundRect">
            <a:avLst/>
          </a:prstGeom>
          <a:solidFill>
            <a:srgbClr val="DB0613"/>
          </a:solidFill>
          <a:ln w="9525" algn="ctr">
            <a:noFill/>
            <a:miter lim="800000"/>
            <a:headEnd/>
            <a:tailEnd/>
          </a:ln>
          <a:effectLst>
            <a:prstShdw prst="shdw17" dist="17961" dir="2700000">
              <a:srgbClr val="DDDDDD">
                <a:gamma/>
                <a:shade val="60000"/>
                <a:invGamma/>
              </a:srgbClr>
            </a:prstShdw>
          </a:effectLst>
        </p:spPr>
        <p:txBody>
          <a:bodyPr wrap="none" anchor="ctr"/>
          <a:lstStyle/>
          <a:p>
            <a:pPr algn="ctr"/>
            <a:r>
              <a:rPr lang="es-ES" sz="1400" b="1" dirty="0">
                <a:solidFill>
                  <a:schemeClr val="bg1"/>
                </a:solidFill>
              </a:rPr>
              <a:t>Evaluación de</a:t>
            </a:r>
          </a:p>
          <a:p>
            <a:pPr algn="ctr"/>
            <a:r>
              <a:rPr lang="es-ES" sz="1400" b="1" dirty="0">
                <a:solidFill>
                  <a:schemeClr val="bg1"/>
                </a:solidFill>
              </a:rPr>
              <a:t>Oportunidades</a:t>
            </a:r>
          </a:p>
          <a:p>
            <a:pPr algn="ctr"/>
            <a:r>
              <a:rPr lang="es-ES" sz="1400" b="1" dirty="0">
                <a:solidFill>
                  <a:schemeClr val="bg1"/>
                </a:solidFill>
              </a:rPr>
              <a:t>de Inversión</a:t>
            </a:r>
          </a:p>
        </p:txBody>
      </p:sp>
      <p:sp>
        <p:nvSpPr>
          <p:cNvPr id="22" name="Rounded Rectangle 21"/>
          <p:cNvSpPr/>
          <p:nvPr/>
        </p:nvSpPr>
        <p:spPr>
          <a:xfrm>
            <a:off x="1843040" y="2977409"/>
            <a:ext cx="1548000" cy="648000"/>
          </a:xfrm>
          <a:prstGeom prst="roundRect">
            <a:avLst/>
          </a:prstGeom>
          <a:solidFill>
            <a:srgbClr val="DB0613"/>
          </a:solidFill>
          <a:ln w="9525" algn="ctr">
            <a:noFill/>
            <a:miter lim="800000"/>
            <a:headEnd/>
            <a:tailEnd/>
          </a:ln>
          <a:effectLst>
            <a:prstShdw prst="shdw17" dist="17961" dir="2700000">
              <a:srgbClr val="DDDDDD">
                <a:gamma/>
                <a:shade val="60000"/>
                <a:invGamma/>
              </a:srgbClr>
            </a:prstShdw>
          </a:effectLst>
        </p:spPr>
        <p:txBody>
          <a:bodyPr wrap="none" anchor="ctr"/>
          <a:lstStyle/>
          <a:p>
            <a:pPr algn="ctr"/>
            <a:r>
              <a:rPr lang="es-ES" sz="1400" b="1" dirty="0">
                <a:solidFill>
                  <a:schemeClr val="bg1"/>
                </a:solidFill>
              </a:rPr>
              <a:t>Ejecución de</a:t>
            </a:r>
          </a:p>
          <a:p>
            <a:pPr algn="ctr"/>
            <a:r>
              <a:rPr lang="es-ES" sz="1400" b="1" dirty="0">
                <a:solidFill>
                  <a:schemeClr val="bg1"/>
                </a:solidFill>
              </a:rPr>
              <a:t>Propuesta</a:t>
            </a:r>
          </a:p>
          <a:p>
            <a:pPr algn="ctr"/>
            <a:r>
              <a:rPr lang="es-ES" sz="1400" b="1" dirty="0">
                <a:solidFill>
                  <a:schemeClr val="bg1"/>
                </a:solidFill>
              </a:rPr>
              <a:t>de Inversión</a:t>
            </a:r>
          </a:p>
        </p:txBody>
      </p:sp>
      <p:sp>
        <p:nvSpPr>
          <p:cNvPr id="23" name="Rounded Rectangle 21"/>
          <p:cNvSpPr/>
          <p:nvPr/>
        </p:nvSpPr>
        <p:spPr>
          <a:xfrm>
            <a:off x="1843040" y="3861047"/>
            <a:ext cx="1548000" cy="648000"/>
          </a:xfrm>
          <a:prstGeom prst="roundRect">
            <a:avLst/>
          </a:prstGeom>
          <a:solidFill>
            <a:srgbClr val="DB0613"/>
          </a:solidFill>
          <a:ln w="9525" algn="ctr">
            <a:noFill/>
            <a:miter lim="800000"/>
            <a:headEnd/>
            <a:tailEnd/>
          </a:ln>
          <a:effectLst>
            <a:prstShdw prst="shdw17" dist="17961" dir="2700000">
              <a:srgbClr val="DDDDDD">
                <a:gamma/>
                <a:shade val="60000"/>
                <a:invGamma/>
              </a:srgbClr>
            </a:prstShdw>
          </a:effectLst>
        </p:spPr>
        <p:txBody>
          <a:bodyPr wrap="none" anchor="ctr"/>
          <a:lstStyle/>
          <a:p>
            <a:pPr algn="ctr"/>
            <a:r>
              <a:rPr lang="es-ES" sz="1400" b="1" dirty="0">
                <a:solidFill>
                  <a:schemeClr val="bg1"/>
                </a:solidFill>
              </a:rPr>
              <a:t>Ingreso y Registro</a:t>
            </a:r>
          </a:p>
          <a:p>
            <a:pPr algn="ctr"/>
            <a:r>
              <a:rPr lang="es-ES" sz="1400" b="1" dirty="0">
                <a:solidFill>
                  <a:schemeClr val="bg1"/>
                </a:solidFill>
              </a:rPr>
              <a:t>de Operaciones </a:t>
            </a:r>
          </a:p>
          <a:p>
            <a:pPr algn="ctr"/>
            <a:r>
              <a:rPr lang="es-ES" sz="1400" b="1" dirty="0">
                <a:solidFill>
                  <a:schemeClr val="bg1"/>
                </a:solidFill>
              </a:rPr>
              <a:t>de Inversión</a:t>
            </a:r>
          </a:p>
        </p:txBody>
      </p:sp>
      <p:sp>
        <p:nvSpPr>
          <p:cNvPr id="24" name="Rounded Rectangle 21"/>
          <p:cNvSpPr/>
          <p:nvPr/>
        </p:nvSpPr>
        <p:spPr>
          <a:xfrm>
            <a:off x="1843040" y="4725143"/>
            <a:ext cx="1548000" cy="648000"/>
          </a:xfrm>
          <a:prstGeom prst="roundRect">
            <a:avLst/>
          </a:prstGeom>
          <a:solidFill>
            <a:srgbClr val="DB0613"/>
          </a:solidFill>
          <a:ln w="9525" algn="ctr">
            <a:noFill/>
            <a:miter lim="800000"/>
            <a:headEnd/>
            <a:tailEnd/>
          </a:ln>
          <a:effectLst>
            <a:prstShdw prst="shdw17" dist="17961" dir="2700000">
              <a:srgbClr val="DDDDDD">
                <a:gamma/>
                <a:shade val="60000"/>
                <a:invGamma/>
              </a:srgbClr>
            </a:prstShdw>
          </a:effectLst>
        </p:spPr>
        <p:txBody>
          <a:bodyPr wrap="none" anchor="ctr"/>
          <a:lstStyle/>
          <a:p>
            <a:pPr algn="ctr"/>
            <a:r>
              <a:rPr lang="es-ES" sz="1400" b="1" dirty="0">
                <a:solidFill>
                  <a:schemeClr val="bg1"/>
                </a:solidFill>
              </a:rPr>
              <a:t>Operaciones de</a:t>
            </a:r>
          </a:p>
          <a:p>
            <a:pPr algn="ctr"/>
            <a:r>
              <a:rPr lang="es-ES" sz="1400" b="1" dirty="0">
                <a:solidFill>
                  <a:schemeClr val="bg1"/>
                </a:solidFill>
              </a:rPr>
              <a:t>Money </a:t>
            </a:r>
            <a:r>
              <a:rPr lang="es-ES" sz="1400" b="1" dirty="0" err="1">
                <a:solidFill>
                  <a:schemeClr val="bg1"/>
                </a:solidFill>
              </a:rPr>
              <a:t>Market</a:t>
            </a:r>
            <a:endParaRPr lang="es-ES" sz="1400" b="1" dirty="0">
              <a:solidFill>
                <a:schemeClr val="bg1"/>
              </a:solidFill>
            </a:endParaRPr>
          </a:p>
        </p:txBody>
      </p:sp>
      <p:grpSp>
        <p:nvGrpSpPr>
          <p:cNvPr id="25" name="53 Grupo"/>
          <p:cNvGrpSpPr/>
          <p:nvPr/>
        </p:nvGrpSpPr>
        <p:grpSpPr>
          <a:xfrm>
            <a:off x="3347865" y="2177009"/>
            <a:ext cx="1440000" cy="648000"/>
            <a:chOff x="3491881" y="1281851"/>
            <a:chExt cx="1620000" cy="648000"/>
          </a:xfrm>
        </p:grpSpPr>
        <p:sp>
          <p:nvSpPr>
            <p:cNvPr id="26" name="AutoShape 10"/>
            <p:cNvSpPr>
              <a:spLocks noChangeArrowheads="1"/>
            </p:cNvSpPr>
            <p:nvPr/>
          </p:nvSpPr>
          <p:spPr bwMode="auto">
            <a:xfrm rot="10800000">
              <a:off x="3491881" y="1281851"/>
              <a:ext cx="1620000" cy="648000"/>
            </a:xfrm>
            <a:prstGeom prst="homePlate">
              <a:avLst>
                <a:gd name="adj" fmla="val 28726"/>
              </a:avLst>
            </a:prstGeom>
            <a:solidFill>
              <a:schemeClr val="bg1"/>
            </a:solidFill>
            <a:ln w="9525" algn="ctr">
              <a:noFill/>
              <a:miter lim="800000"/>
              <a:headEnd/>
              <a:tailEnd/>
            </a:ln>
            <a:effectLst>
              <a:prstShdw prst="shdw17" dist="17961" dir="2700000">
                <a:srgbClr val="DDDDDD">
                  <a:gamma/>
                  <a:shade val="60000"/>
                  <a:invGamma/>
                </a:srgbClr>
              </a:prstShdw>
            </a:effectLst>
          </p:spPr>
          <p:txBody>
            <a:bodyPr wrap="none" anchor="ctr"/>
            <a:lstStyle/>
            <a:p>
              <a:pPr algn="ctr"/>
              <a:endParaRPr lang="en-US" sz="1300" b="1" dirty="0">
                <a:solidFill>
                  <a:schemeClr val="bg1"/>
                </a:solidFill>
              </a:endParaRPr>
            </a:p>
          </p:txBody>
        </p:sp>
        <p:sp>
          <p:nvSpPr>
            <p:cNvPr id="27" name="Rectangle 7"/>
            <p:cNvSpPr>
              <a:spLocks noChangeArrowheads="1"/>
            </p:cNvSpPr>
            <p:nvPr/>
          </p:nvSpPr>
          <p:spPr bwMode="auto">
            <a:xfrm>
              <a:off x="3838625" y="1281851"/>
              <a:ext cx="1224000" cy="648000"/>
            </a:xfrm>
            <a:prstGeom prst="rect">
              <a:avLst/>
            </a:prstGeom>
            <a:noFill/>
            <a:ln w="9525" algn="ctr">
              <a:noFill/>
              <a:miter lim="800000"/>
              <a:headEnd/>
              <a:tailEnd/>
            </a:ln>
            <a:effectLst>
              <a:prstShdw prst="shdw17" dist="17961" dir="2700000">
                <a:srgbClr val="DDDDDD">
                  <a:gamma/>
                  <a:shade val="60000"/>
                  <a:invGamma/>
                </a:srgbClr>
              </a:prstShdw>
            </a:effectLst>
          </p:spPr>
          <p:txBody>
            <a:bodyPr wrap="none" anchor="ctr"/>
            <a:lstStyle/>
            <a:p>
              <a:r>
                <a:rPr lang="es-PE" sz="1400" b="1" dirty="0"/>
                <a:t>Riesgos : 4</a:t>
              </a:r>
            </a:p>
            <a:p>
              <a:r>
                <a:rPr lang="es-PE" sz="1400" b="1" dirty="0"/>
                <a:t>Controles: 4</a:t>
              </a:r>
              <a:endParaRPr lang="es-ES" sz="1400" b="1" dirty="0"/>
            </a:p>
          </p:txBody>
        </p:sp>
        <p:sp>
          <p:nvSpPr>
            <p:cNvPr id="28" name="AutoShape 92"/>
            <p:cNvSpPr>
              <a:spLocks noChangeArrowheads="1"/>
            </p:cNvSpPr>
            <p:nvPr/>
          </p:nvSpPr>
          <p:spPr bwMode="auto">
            <a:xfrm>
              <a:off x="3712253" y="1628800"/>
              <a:ext cx="180000" cy="180000"/>
            </a:xfrm>
            <a:prstGeom prst="diamond">
              <a:avLst/>
            </a:prstGeom>
            <a:solidFill>
              <a:srgbClr val="009644"/>
            </a:solidFill>
            <a:ln w="9525" algn="ctr">
              <a:noFill/>
              <a:miter lim="800000"/>
              <a:headEnd/>
              <a:tailEnd/>
            </a:ln>
            <a:effectLst/>
          </p:spPr>
          <p:txBody>
            <a:bodyPr wrap="none" anchor="ctr"/>
            <a:lstStyle/>
            <a:p>
              <a:pPr algn="ctr"/>
              <a:endParaRPr lang="en-US" sz="1000" b="1" dirty="0">
                <a:solidFill>
                  <a:schemeClr val="bg1"/>
                </a:solidFill>
              </a:endParaRPr>
            </a:p>
          </p:txBody>
        </p:sp>
        <p:sp>
          <p:nvSpPr>
            <p:cNvPr id="29" name="Rounded Rectangle 139"/>
            <p:cNvSpPr/>
            <p:nvPr/>
          </p:nvSpPr>
          <p:spPr>
            <a:xfrm>
              <a:off x="3712253" y="1381102"/>
              <a:ext cx="180000" cy="180000"/>
            </a:xfrm>
            <a:prstGeom prst="roundRect">
              <a:avLst/>
            </a:prstGeom>
            <a:solidFill>
              <a:srgbClr val="F26D00"/>
            </a:solidFill>
            <a:ln w="9525" algn="ctr">
              <a:noFill/>
              <a:round/>
              <a:headEnd/>
              <a:tailEnd/>
            </a:ln>
            <a:effectLst/>
          </p:spPr>
          <p:txBody>
            <a:bodyPr wrap="none" anchor="ctr"/>
            <a:lstStyle/>
            <a:p>
              <a:pPr algn="ctr"/>
              <a:endParaRPr lang="es-ES" sz="1000" b="1" dirty="0">
                <a:solidFill>
                  <a:schemeClr val="bg1"/>
                </a:solidFill>
              </a:endParaRPr>
            </a:p>
          </p:txBody>
        </p:sp>
      </p:grpSp>
      <p:sp>
        <p:nvSpPr>
          <p:cNvPr id="31" name="AutoShape 10"/>
          <p:cNvSpPr>
            <a:spLocks noChangeArrowheads="1"/>
          </p:cNvSpPr>
          <p:nvPr/>
        </p:nvSpPr>
        <p:spPr bwMode="auto">
          <a:xfrm rot="10800000">
            <a:off x="4716016" y="2177010"/>
            <a:ext cx="1260000" cy="647999"/>
          </a:xfrm>
          <a:prstGeom prst="homePlate">
            <a:avLst>
              <a:gd name="adj" fmla="val 28726"/>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dirty="0">
              <a:solidFill>
                <a:schemeClr val="lt1"/>
              </a:solidFill>
            </a:endParaRPr>
          </a:p>
        </p:txBody>
      </p:sp>
      <p:sp>
        <p:nvSpPr>
          <p:cNvPr id="33" name="Rectangle 7"/>
          <p:cNvSpPr>
            <a:spLocks noChangeArrowheads="1"/>
          </p:cNvSpPr>
          <p:nvPr/>
        </p:nvSpPr>
        <p:spPr bwMode="auto">
          <a:xfrm>
            <a:off x="4986931" y="1340766"/>
            <a:ext cx="2016000" cy="456000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marL="228600" indent="-228600" algn="just">
              <a:buFont typeface="+mj-lt"/>
              <a:buAutoNum type="arabicParenR"/>
            </a:pPr>
            <a:r>
              <a:rPr lang="es-ES" sz="1100" dirty="0">
                <a:solidFill>
                  <a:schemeClr val="tx1"/>
                </a:solidFill>
              </a:rPr>
              <a:t>Fuga de información referida a los acuerdos tomados en los comités  de Selección de Inversiones.</a:t>
            </a:r>
          </a:p>
          <a:p>
            <a:pPr marL="228600" indent="-228600" algn="just">
              <a:buFont typeface="+mj-lt"/>
              <a:buAutoNum type="arabicParenR"/>
            </a:pPr>
            <a:r>
              <a:rPr lang="es-ES" sz="1100" dirty="0">
                <a:solidFill>
                  <a:schemeClr val="tx1"/>
                </a:solidFill>
              </a:rPr>
              <a:t>Gerente de Selección de Activos y/o los Analistas de Inversión se ven imposibilitados de realizar sus tareas diarias por inadecuadas vías de telecomunicación.</a:t>
            </a:r>
          </a:p>
          <a:p>
            <a:pPr marL="228600" indent="-228600" algn="just">
              <a:buFont typeface="+mj-lt"/>
              <a:buAutoNum type="arabicParenR"/>
            </a:pPr>
            <a:r>
              <a:rPr lang="es-ES" sz="1100" dirty="0">
                <a:solidFill>
                  <a:schemeClr val="tx1"/>
                </a:solidFill>
              </a:rPr>
              <a:t>Riesgo de mala comunicación entre las áreas de Inversiones y Marketing en el lanzamiento de un producto.</a:t>
            </a:r>
            <a:endParaRPr lang="es-CL" sz="1100" dirty="0">
              <a:solidFill>
                <a:schemeClr val="tx1"/>
              </a:solidFill>
            </a:endParaRPr>
          </a:p>
          <a:p>
            <a:pPr marL="228600" indent="-228600" algn="just">
              <a:buFont typeface="+mj-lt"/>
              <a:buAutoNum type="arabicParenR"/>
            </a:pPr>
            <a:r>
              <a:rPr lang="es-ES" sz="1100" dirty="0">
                <a:solidFill>
                  <a:schemeClr val="tx1"/>
                </a:solidFill>
              </a:rPr>
              <a:t>Incorrecta interpretación de la información remitida por el Área de ALM</a:t>
            </a:r>
            <a:r>
              <a:rPr lang="es-CL" sz="1100" dirty="0">
                <a:solidFill>
                  <a:schemeClr val="tx1"/>
                </a:solidFill>
              </a:rPr>
              <a:t>.</a:t>
            </a:r>
            <a:endParaRPr lang="es-ES" sz="1100" dirty="0">
              <a:solidFill>
                <a:schemeClr val="tx1"/>
              </a:solidFill>
            </a:endParaRPr>
          </a:p>
        </p:txBody>
      </p:sp>
      <p:sp>
        <p:nvSpPr>
          <p:cNvPr id="34" name="Rectangle 7"/>
          <p:cNvSpPr>
            <a:spLocks noChangeArrowheads="1"/>
          </p:cNvSpPr>
          <p:nvPr/>
        </p:nvSpPr>
        <p:spPr bwMode="auto">
          <a:xfrm>
            <a:off x="4986931" y="1030207"/>
            <a:ext cx="2016000" cy="252000"/>
          </a:xfrm>
          <a:prstGeom prst="rect">
            <a:avLst/>
          </a:prstGeom>
          <a:solidFill>
            <a:schemeClr val="tx1">
              <a:lumMod val="50000"/>
              <a:lumOff val="50000"/>
            </a:schemeClr>
          </a:solidFill>
          <a:ln w="9525" algn="ctr">
            <a:noFill/>
            <a:miter lim="800000"/>
            <a:headEnd/>
            <a:tailEnd/>
          </a:ln>
          <a:effectLst>
            <a:prstShdw prst="shdw17" dist="17961" dir="2700000">
              <a:srgbClr val="DDDDDD">
                <a:gamma/>
                <a:shade val="60000"/>
                <a:invGamma/>
              </a:srgbClr>
            </a:prstShdw>
          </a:effectLst>
        </p:spPr>
        <p:txBody>
          <a:bodyPr wrap="none" anchor="ctr"/>
          <a:lstStyle/>
          <a:p>
            <a:pPr algn="ctr"/>
            <a:r>
              <a:rPr lang="es-ES" sz="1300" b="1" dirty="0">
                <a:solidFill>
                  <a:schemeClr val="bg1"/>
                </a:solidFill>
              </a:rPr>
              <a:t>Riesgos</a:t>
            </a:r>
          </a:p>
        </p:txBody>
      </p:sp>
      <p:sp>
        <p:nvSpPr>
          <p:cNvPr id="37" name="Rectangle 7"/>
          <p:cNvSpPr>
            <a:spLocks noChangeArrowheads="1"/>
          </p:cNvSpPr>
          <p:nvPr/>
        </p:nvSpPr>
        <p:spPr bwMode="auto">
          <a:xfrm>
            <a:off x="7114697" y="1030207"/>
            <a:ext cx="900000" cy="252000"/>
          </a:xfrm>
          <a:prstGeom prst="rect">
            <a:avLst/>
          </a:prstGeom>
          <a:solidFill>
            <a:schemeClr val="tx1">
              <a:lumMod val="50000"/>
              <a:lumOff val="50000"/>
            </a:schemeClr>
          </a:solidFill>
          <a:ln w="9525" algn="ctr">
            <a:noFill/>
            <a:miter lim="800000"/>
            <a:headEnd/>
            <a:tailEnd/>
          </a:ln>
          <a:effectLst>
            <a:prstShdw prst="shdw17" dist="17961" dir="2700000">
              <a:srgbClr val="DDDDDD">
                <a:gamma/>
                <a:shade val="60000"/>
                <a:invGamma/>
              </a:srgbClr>
            </a:prstShdw>
          </a:effectLst>
        </p:spPr>
        <p:txBody>
          <a:bodyPr wrap="none" anchor="ctr"/>
          <a:lstStyle/>
          <a:p>
            <a:pPr algn="ctr"/>
            <a:r>
              <a:rPr lang="es-PE" sz="1300" b="1" dirty="0">
                <a:solidFill>
                  <a:schemeClr val="bg1"/>
                </a:solidFill>
              </a:rPr>
              <a:t>PEA</a:t>
            </a:r>
            <a:endParaRPr lang="es-ES" sz="1300" b="1" dirty="0">
              <a:solidFill>
                <a:schemeClr val="bg1"/>
              </a:solidFill>
            </a:endParaRPr>
          </a:p>
        </p:txBody>
      </p:sp>
      <p:sp>
        <p:nvSpPr>
          <p:cNvPr id="38" name="Rectangle 7"/>
          <p:cNvSpPr>
            <a:spLocks noChangeArrowheads="1"/>
          </p:cNvSpPr>
          <p:nvPr/>
        </p:nvSpPr>
        <p:spPr bwMode="auto">
          <a:xfrm>
            <a:off x="7114697" y="1340766"/>
            <a:ext cx="900000" cy="456000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marL="228600" indent="-228600" algn="just"/>
            <a:endParaRPr lang="es-ES" sz="1100" dirty="0">
              <a:solidFill>
                <a:schemeClr val="tx1"/>
              </a:solidFill>
            </a:endParaRPr>
          </a:p>
        </p:txBody>
      </p:sp>
      <p:sp>
        <p:nvSpPr>
          <p:cNvPr id="39" name="Rectangle 7"/>
          <p:cNvSpPr>
            <a:spLocks noChangeArrowheads="1"/>
          </p:cNvSpPr>
          <p:nvPr/>
        </p:nvSpPr>
        <p:spPr bwMode="auto">
          <a:xfrm>
            <a:off x="8064488" y="1030207"/>
            <a:ext cx="900000" cy="252000"/>
          </a:xfrm>
          <a:prstGeom prst="rect">
            <a:avLst/>
          </a:prstGeom>
          <a:solidFill>
            <a:schemeClr val="tx1">
              <a:lumMod val="50000"/>
              <a:lumOff val="50000"/>
            </a:schemeClr>
          </a:solidFill>
          <a:ln w="9525" algn="ctr">
            <a:noFill/>
            <a:miter lim="800000"/>
            <a:headEnd/>
            <a:tailEnd/>
          </a:ln>
          <a:effectLst>
            <a:prstShdw prst="shdw17" dist="17961" dir="2700000">
              <a:srgbClr val="DDDDDD">
                <a:gamma/>
                <a:shade val="60000"/>
                <a:invGamma/>
              </a:srgbClr>
            </a:prstShdw>
          </a:effectLst>
        </p:spPr>
        <p:txBody>
          <a:bodyPr wrap="none" anchor="ctr"/>
          <a:lstStyle/>
          <a:p>
            <a:pPr algn="ctr"/>
            <a:r>
              <a:rPr lang="es-PE" sz="1300" b="1" dirty="0" err="1">
                <a:solidFill>
                  <a:schemeClr val="bg1"/>
                </a:solidFill>
              </a:rPr>
              <a:t>VaR</a:t>
            </a:r>
            <a:endParaRPr lang="es-ES" sz="1300" b="1" dirty="0">
              <a:solidFill>
                <a:schemeClr val="bg1"/>
              </a:solidFill>
            </a:endParaRPr>
          </a:p>
        </p:txBody>
      </p:sp>
      <p:sp>
        <p:nvSpPr>
          <p:cNvPr id="40" name="Rectangle 7"/>
          <p:cNvSpPr>
            <a:spLocks noChangeArrowheads="1"/>
          </p:cNvSpPr>
          <p:nvPr/>
        </p:nvSpPr>
        <p:spPr bwMode="auto">
          <a:xfrm>
            <a:off x="8064488" y="1340766"/>
            <a:ext cx="900000" cy="456000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marL="228600" indent="-228600" algn="just"/>
            <a:endParaRPr lang="es-ES" sz="1100" dirty="0">
              <a:solidFill>
                <a:schemeClr val="tx1"/>
              </a:solidFill>
            </a:endParaRPr>
          </a:p>
        </p:txBody>
      </p:sp>
      <p:sp>
        <p:nvSpPr>
          <p:cNvPr id="30" name="Rounded Rectangle 93"/>
          <p:cNvSpPr/>
          <p:nvPr/>
        </p:nvSpPr>
        <p:spPr>
          <a:xfrm>
            <a:off x="7164288" y="1412776"/>
            <a:ext cx="792000" cy="548640"/>
          </a:xfrm>
          <a:prstGeom prst="roundRect">
            <a:avLst/>
          </a:prstGeom>
          <a:noFill/>
          <a:ln w="127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400" b="1" dirty="0">
                <a:solidFill>
                  <a:schemeClr val="tx1"/>
                </a:solidFill>
                <a:latin typeface="+mj-lt"/>
              </a:rPr>
              <a:t>0</a:t>
            </a:r>
            <a:endParaRPr lang="es-CL" sz="1400" b="1" dirty="0">
              <a:solidFill>
                <a:schemeClr val="tx1"/>
              </a:solidFill>
              <a:latin typeface="+mj-lt"/>
            </a:endParaRPr>
          </a:p>
        </p:txBody>
      </p:sp>
      <p:sp>
        <p:nvSpPr>
          <p:cNvPr id="32" name="Rounded Rectangle 93"/>
          <p:cNvSpPr/>
          <p:nvPr/>
        </p:nvSpPr>
        <p:spPr>
          <a:xfrm>
            <a:off x="8100480" y="1412776"/>
            <a:ext cx="792000" cy="548640"/>
          </a:xfrm>
          <a:prstGeom prst="roundRect">
            <a:avLst/>
          </a:prstGeom>
          <a:noFill/>
          <a:ln w="127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400" b="1" dirty="0">
                <a:solidFill>
                  <a:schemeClr val="tx1"/>
                </a:solidFill>
                <a:latin typeface="+mj-lt"/>
              </a:rPr>
              <a:t>0</a:t>
            </a:r>
            <a:endParaRPr lang="es-CL" sz="1400" b="1" dirty="0">
              <a:solidFill>
                <a:schemeClr val="tx1"/>
              </a:solidFill>
              <a:latin typeface="+mj-lt"/>
            </a:endParaRPr>
          </a:p>
        </p:txBody>
      </p:sp>
      <p:sp>
        <p:nvSpPr>
          <p:cNvPr id="35" name="Rounded Rectangle 93"/>
          <p:cNvSpPr/>
          <p:nvPr/>
        </p:nvSpPr>
        <p:spPr>
          <a:xfrm>
            <a:off x="7164288" y="2348880"/>
            <a:ext cx="792000" cy="548640"/>
          </a:xfrm>
          <a:prstGeom prst="roundRect">
            <a:avLst/>
          </a:prstGeom>
          <a:noFill/>
          <a:ln w="127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400" b="1" dirty="0">
                <a:solidFill>
                  <a:schemeClr val="tx1"/>
                </a:solidFill>
                <a:latin typeface="+mj-lt"/>
              </a:rPr>
              <a:t>0</a:t>
            </a:r>
            <a:endParaRPr lang="es-CL" sz="1400" b="1" dirty="0">
              <a:solidFill>
                <a:schemeClr val="tx1"/>
              </a:solidFill>
              <a:latin typeface="+mj-lt"/>
            </a:endParaRPr>
          </a:p>
        </p:txBody>
      </p:sp>
      <p:sp>
        <p:nvSpPr>
          <p:cNvPr id="41" name="Rounded Rectangle 93"/>
          <p:cNvSpPr/>
          <p:nvPr/>
        </p:nvSpPr>
        <p:spPr>
          <a:xfrm>
            <a:off x="8100480" y="2348880"/>
            <a:ext cx="792000" cy="548640"/>
          </a:xfrm>
          <a:prstGeom prst="roundRect">
            <a:avLst/>
          </a:prstGeom>
          <a:noFill/>
          <a:ln w="127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400" b="1" dirty="0">
                <a:solidFill>
                  <a:schemeClr val="tx1"/>
                </a:solidFill>
                <a:latin typeface="+mj-lt"/>
              </a:rPr>
              <a:t>0</a:t>
            </a:r>
            <a:endParaRPr lang="es-CL" sz="1400" b="1" dirty="0">
              <a:solidFill>
                <a:schemeClr val="tx1"/>
              </a:solidFill>
              <a:latin typeface="+mj-lt"/>
            </a:endParaRPr>
          </a:p>
        </p:txBody>
      </p:sp>
      <p:sp>
        <p:nvSpPr>
          <p:cNvPr id="42" name="Rounded Rectangle 93"/>
          <p:cNvSpPr/>
          <p:nvPr/>
        </p:nvSpPr>
        <p:spPr>
          <a:xfrm>
            <a:off x="7164288" y="3312408"/>
            <a:ext cx="792000" cy="548640"/>
          </a:xfrm>
          <a:prstGeom prst="roundRect">
            <a:avLst/>
          </a:prstGeom>
          <a:noFill/>
          <a:ln w="127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400" b="1" dirty="0">
                <a:solidFill>
                  <a:schemeClr val="tx1"/>
                </a:solidFill>
                <a:latin typeface="+mj-lt"/>
              </a:rPr>
              <a:t>0</a:t>
            </a:r>
            <a:endParaRPr lang="es-CL" sz="1400" b="1" dirty="0">
              <a:solidFill>
                <a:schemeClr val="tx1"/>
              </a:solidFill>
              <a:latin typeface="+mj-lt"/>
            </a:endParaRPr>
          </a:p>
        </p:txBody>
      </p:sp>
      <p:sp>
        <p:nvSpPr>
          <p:cNvPr id="43" name="Rounded Rectangle 93"/>
          <p:cNvSpPr/>
          <p:nvPr/>
        </p:nvSpPr>
        <p:spPr>
          <a:xfrm>
            <a:off x="8100480" y="3312408"/>
            <a:ext cx="792000" cy="548640"/>
          </a:xfrm>
          <a:prstGeom prst="roundRect">
            <a:avLst/>
          </a:prstGeom>
          <a:noFill/>
          <a:ln w="127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400" b="1" dirty="0">
                <a:solidFill>
                  <a:schemeClr val="tx1"/>
                </a:solidFill>
                <a:latin typeface="+mj-lt"/>
              </a:rPr>
              <a:t>0</a:t>
            </a:r>
            <a:endParaRPr lang="es-CL" sz="1400" b="1" dirty="0">
              <a:solidFill>
                <a:schemeClr val="tx1"/>
              </a:solidFill>
              <a:latin typeface="+mj-lt"/>
            </a:endParaRPr>
          </a:p>
        </p:txBody>
      </p:sp>
      <p:sp>
        <p:nvSpPr>
          <p:cNvPr id="44" name="Rounded Rectangle 93"/>
          <p:cNvSpPr/>
          <p:nvPr/>
        </p:nvSpPr>
        <p:spPr>
          <a:xfrm>
            <a:off x="7164288" y="4104496"/>
            <a:ext cx="792000" cy="548640"/>
          </a:xfrm>
          <a:prstGeom prst="roundRect">
            <a:avLst/>
          </a:prstGeom>
          <a:noFill/>
          <a:ln w="127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400" b="1" dirty="0">
                <a:solidFill>
                  <a:schemeClr val="tx1"/>
                </a:solidFill>
                <a:latin typeface="+mj-lt"/>
              </a:rPr>
              <a:t>0</a:t>
            </a:r>
            <a:endParaRPr lang="es-CL" sz="1400" b="1" dirty="0">
              <a:solidFill>
                <a:schemeClr val="tx1"/>
              </a:solidFill>
              <a:latin typeface="+mj-lt"/>
            </a:endParaRPr>
          </a:p>
        </p:txBody>
      </p:sp>
      <p:sp>
        <p:nvSpPr>
          <p:cNvPr id="45" name="Rounded Rectangle 93"/>
          <p:cNvSpPr/>
          <p:nvPr/>
        </p:nvSpPr>
        <p:spPr>
          <a:xfrm>
            <a:off x="8100480" y="4104496"/>
            <a:ext cx="792000" cy="548640"/>
          </a:xfrm>
          <a:prstGeom prst="roundRect">
            <a:avLst/>
          </a:prstGeom>
          <a:noFill/>
          <a:ln w="127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400" b="1" dirty="0">
                <a:solidFill>
                  <a:schemeClr val="tx1"/>
                </a:solidFill>
                <a:latin typeface="+mj-lt"/>
              </a:rPr>
              <a:t>0</a:t>
            </a:r>
            <a:endParaRPr lang="es-CL" sz="1400" b="1" dirty="0">
              <a:solidFill>
                <a:schemeClr val="tx1"/>
              </a:solidFill>
              <a:latin typeface="+mj-lt"/>
            </a:endParaRPr>
          </a:p>
        </p:txBody>
      </p:sp>
      <p:sp>
        <p:nvSpPr>
          <p:cNvPr id="46" name="Text Box 44"/>
          <p:cNvSpPr txBox="1">
            <a:spLocks noChangeArrowheads="1"/>
          </p:cNvSpPr>
          <p:nvPr/>
        </p:nvSpPr>
        <p:spPr bwMode="auto">
          <a:xfrm>
            <a:off x="7610039" y="764704"/>
            <a:ext cx="1354449" cy="230832"/>
          </a:xfrm>
          <a:prstGeom prst="rect">
            <a:avLst/>
          </a:prstGeom>
          <a:noFill/>
          <a:ln w="9525" algn="ctr">
            <a:noFill/>
            <a:miter lim="800000"/>
            <a:headEnd/>
            <a:tailEnd/>
          </a:ln>
          <a:effectLst/>
        </p:spPr>
        <p:txBody>
          <a:bodyPr wrap="square">
            <a:spAutoFit/>
          </a:bodyPr>
          <a:lstStyle/>
          <a:p>
            <a:r>
              <a:rPr lang="es-ES" sz="900" b="1" i="1" dirty="0">
                <a:solidFill>
                  <a:srgbClr val="525252"/>
                </a:solidFill>
              </a:rPr>
              <a:t>Miles de Nuevos Soles</a:t>
            </a:r>
            <a:endParaRPr lang="en-US" sz="900" b="1" i="1" dirty="0">
              <a:solidFill>
                <a:srgbClr val="525252"/>
              </a:solidFill>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 name="Rectangle 7"/>
          <p:cNvSpPr>
            <a:spLocks noChangeArrowheads="1"/>
          </p:cNvSpPr>
          <p:nvPr/>
        </p:nvSpPr>
        <p:spPr bwMode="auto">
          <a:xfrm>
            <a:off x="4918801" y="980727"/>
            <a:ext cx="4104000" cy="5040561"/>
          </a:xfrm>
          <a:prstGeom prst="rect">
            <a:avLst/>
          </a:prstGeom>
          <a:solidFill>
            <a:schemeClr val="accent1">
              <a:lumMod val="20000"/>
              <a:lumOff val="80000"/>
            </a:schemeClr>
          </a:solidFill>
          <a:ln w="9525" algn="ctr">
            <a:noFill/>
            <a:miter lim="800000"/>
            <a:headEnd/>
            <a:tailEnd/>
          </a:ln>
          <a:effectLst>
            <a:prstShdw prst="shdw17" dist="17961" dir="2700000">
              <a:srgbClr val="DDDDDD">
                <a:gamma/>
                <a:shade val="60000"/>
                <a:invGamma/>
              </a:srgbClr>
            </a:prstShdw>
          </a:effectLst>
        </p:spPr>
        <p:txBody>
          <a:bodyPr wrap="none" anchor="ctr"/>
          <a:lstStyle/>
          <a:p>
            <a:pPr algn="ctr"/>
            <a:endParaRPr lang="es-ES" sz="1300" b="1" dirty="0">
              <a:solidFill>
                <a:srgbClr val="525252"/>
              </a:solidFill>
            </a:endParaRPr>
          </a:p>
        </p:txBody>
      </p:sp>
      <p:sp>
        <p:nvSpPr>
          <p:cNvPr id="16" name="Title 1"/>
          <p:cNvSpPr>
            <a:spLocks noGrp="1"/>
          </p:cNvSpPr>
          <p:nvPr>
            <p:ph type="title"/>
          </p:nvPr>
        </p:nvSpPr>
        <p:spPr>
          <a:xfrm>
            <a:off x="47625" y="32965"/>
            <a:ext cx="8217470" cy="587723"/>
          </a:xfrm>
        </p:spPr>
        <p:txBody>
          <a:bodyPr/>
          <a:lstStyle/>
          <a:p>
            <a:r>
              <a:rPr lang="es-ES" dirty="0"/>
              <a:t>Anexo: Árbol de Procesos</a:t>
            </a:r>
          </a:p>
        </p:txBody>
      </p:sp>
      <p:sp>
        <p:nvSpPr>
          <p:cNvPr id="18" name="AutoShape 10"/>
          <p:cNvSpPr>
            <a:spLocks noChangeArrowheads="1"/>
          </p:cNvSpPr>
          <p:nvPr/>
        </p:nvSpPr>
        <p:spPr bwMode="auto">
          <a:xfrm rot="10800000">
            <a:off x="1187624" y="1196767"/>
            <a:ext cx="2304256" cy="4320464"/>
          </a:xfrm>
          <a:prstGeom prst="homePlate">
            <a:avLst>
              <a:gd name="adj" fmla="val 28726"/>
            </a:avLst>
          </a:prstGeom>
          <a:solidFill>
            <a:schemeClr val="accent1">
              <a:lumMod val="20000"/>
              <a:lumOff val="80000"/>
            </a:schemeClr>
          </a:solidFill>
          <a:ln w="12700">
            <a:solidFill>
              <a:srgbClr val="A9A9A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dirty="0">
              <a:solidFill>
                <a:schemeClr val="lt1"/>
              </a:solidFill>
            </a:endParaRPr>
          </a:p>
        </p:txBody>
      </p:sp>
      <p:sp>
        <p:nvSpPr>
          <p:cNvPr id="19" name="Rounded Rectangle 21"/>
          <p:cNvSpPr/>
          <p:nvPr/>
        </p:nvSpPr>
        <p:spPr>
          <a:xfrm>
            <a:off x="107504" y="2977409"/>
            <a:ext cx="1512000" cy="648000"/>
          </a:xfrm>
          <a:prstGeom prst="roundRect">
            <a:avLst/>
          </a:prstGeom>
          <a:solidFill>
            <a:srgbClr val="DB0613"/>
          </a:solidFill>
          <a:ln w="9525" algn="ctr">
            <a:noFill/>
            <a:miter lim="800000"/>
            <a:headEnd/>
            <a:tailEnd/>
          </a:ln>
          <a:effectLst>
            <a:prstShdw prst="shdw17" dist="17961" dir="2700000">
              <a:srgbClr val="DDDDDD">
                <a:gamma/>
                <a:shade val="60000"/>
                <a:invGamma/>
              </a:srgbClr>
            </a:prstShdw>
          </a:effectLst>
        </p:spPr>
        <p:txBody>
          <a:bodyPr wrap="none" anchor="ctr"/>
          <a:lstStyle/>
          <a:p>
            <a:pPr algn="ctr"/>
            <a:r>
              <a:rPr lang="es-ES" sz="1600" b="1" dirty="0">
                <a:solidFill>
                  <a:schemeClr val="bg1"/>
                </a:solidFill>
              </a:rPr>
              <a:t>Administración</a:t>
            </a:r>
          </a:p>
          <a:p>
            <a:pPr algn="ctr"/>
            <a:r>
              <a:rPr lang="es-ES" sz="1600" b="1" dirty="0">
                <a:solidFill>
                  <a:schemeClr val="bg1"/>
                </a:solidFill>
              </a:rPr>
              <a:t>de Fondos</a:t>
            </a:r>
          </a:p>
        </p:txBody>
      </p:sp>
      <p:sp>
        <p:nvSpPr>
          <p:cNvPr id="20" name="Rounded Rectangle 21"/>
          <p:cNvSpPr/>
          <p:nvPr/>
        </p:nvSpPr>
        <p:spPr>
          <a:xfrm>
            <a:off x="1843040" y="1340767"/>
            <a:ext cx="1548000" cy="648000"/>
          </a:xfrm>
          <a:prstGeom prst="roundRect">
            <a:avLst/>
          </a:prstGeom>
          <a:solidFill>
            <a:srgbClr val="DB0613"/>
          </a:solidFill>
          <a:ln w="9525" algn="ctr">
            <a:noFill/>
            <a:miter lim="800000"/>
            <a:headEnd/>
            <a:tailEnd/>
          </a:ln>
          <a:effectLst>
            <a:prstShdw prst="shdw17" dist="17961" dir="2700000">
              <a:srgbClr val="DDDDDD">
                <a:gamma/>
                <a:shade val="60000"/>
                <a:invGamma/>
              </a:srgbClr>
            </a:prstShdw>
          </a:effectLst>
        </p:spPr>
        <p:txBody>
          <a:bodyPr wrap="none" anchor="ctr"/>
          <a:lstStyle/>
          <a:p>
            <a:pPr algn="ctr"/>
            <a:r>
              <a:rPr lang="es-ES" sz="1400" b="1" dirty="0">
                <a:solidFill>
                  <a:schemeClr val="bg1"/>
                </a:solidFill>
              </a:rPr>
              <a:t>Identificación de</a:t>
            </a:r>
          </a:p>
          <a:p>
            <a:pPr algn="ctr"/>
            <a:r>
              <a:rPr lang="es-ES" sz="1400" b="1" dirty="0">
                <a:solidFill>
                  <a:schemeClr val="bg1"/>
                </a:solidFill>
              </a:rPr>
              <a:t>Oportunidades</a:t>
            </a:r>
          </a:p>
          <a:p>
            <a:pPr algn="ctr"/>
            <a:r>
              <a:rPr lang="es-ES" sz="1400" b="1" dirty="0">
                <a:solidFill>
                  <a:schemeClr val="bg1"/>
                </a:solidFill>
              </a:rPr>
              <a:t>de Inversión</a:t>
            </a:r>
          </a:p>
        </p:txBody>
      </p:sp>
      <p:sp>
        <p:nvSpPr>
          <p:cNvPr id="21" name="Rounded Rectangle 21"/>
          <p:cNvSpPr/>
          <p:nvPr/>
        </p:nvSpPr>
        <p:spPr>
          <a:xfrm>
            <a:off x="1843040" y="2177009"/>
            <a:ext cx="1548000" cy="648000"/>
          </a:xfrm>
          <a:prstGeom prst="roundRect">
            <a:avLst/>
          </a:prstGeom>
          <a:solidFill>
            <a:srgbClr val="DB0613"/>
          </a:solidFill>
          <a:ln w="9525" algn="ctr">
            <a:noFill/>
            <a:miter lim="800000"/>
            <a:headEnd/>
            <a:tailEnd/>
          </a:ln>
          <a:effectLst>
            <a:prstShdw prst="shdw17" dist="17961" dir="2700000">
              <a:srgbClr val="DDDDDD">
                <a:gamma/>
                <a:shade val="60000"/>
                <a:invGamma/>
              </a:srgbClr>
            </a:prstShdw>
          </a:effectLst>
        </p:spPr>
        <p:txBody>
          <a:bodyPr wrap="none" anchor="ctr"/>
          <a:lstStyle/>
          <a:p>
            <a:pPr algn="ctr"/>
            <a:r>
              <a:rPr lang="es-ES" sz="1400" b="1" dirty="0">
                <a:solidFill>
                  <a:schemeClr val="bg1"/>
                </a:solidFill>
              </a:rPr>
              <a:t>Evaluación de</a:t>
            </a:r>
          </a:p>
          <a:p>
            <a:pPr algn="ctr"/>
            <a:r>
              <a:rPr lang="es-ES" sz="1400" b="1" dirty="0">
                <a:solidFill>
                  <a:schemeClr val="bg1"/>
                </a:solidFill>
              </a:rPr>
              <a:t>Oportunidades</a:t>
            </a:r>
          </a:p>
          <a:p>
            <a:pPr algn="ctr"/>
            <a:r>
              <a:rPr lang="es-ES" sz="1400" b="1" dirty="0">
                <a:solidFill>
                  <a:schemeClr val="bg1"/>
                </a:solidFill>
              </a:rPr>
              <a:t>de Inversión</a:t>
            </a:r>
          </a:p>
        </p:txBody>
      </p:sp>
      <p:sp>
        <p:nvSpPr>
          <p:cNvPr id="22" name="Rounded Rectangle 21"/>
          <p:cNvSpPr/>
          <p:nvPr/>
        </p:nvSpPr>
        <p:spPr>
          <a:xfrm>
            <a:off x="1843040" y="2977409"/>
            <a:ext cx="1548000" cy="648000"/>
          </a:xfrm>
          <a:prstGeom prst="roundRect">
            <a:avLst/>
          </a:prstGeom>
          <a:solidFill>
            <a:srgbClr val="DB0613"/>
          </a:solidFill>
          <a:ln w="9525" algn="ctr">
            <a:noFill/>
            <a:miter lim="800000"/>
            <a:headEnd/>
            <a:tailEnd/>
          </a:ln>
          <a:effectLst>
            <a:prstShdw prst="shdw17" dist="17961" dir="2700000">
              <a:srgbClr val="DDDDDD">
                <a:gamma/>
                <a:shade val="60000"/>
                <a:invGamma/>
              </a:srgbClr>
            </a:prstShdw>
          </a:effectLst>
        </p:spPr>
        <p:txBody>
          <a:bodyPr wrap="none" anchor="ctr"/>
          <a:lstStyle/>
          <a:p>
            <a:pPr algn="ctr"/>
            <a:r>
              <a:rPr lang="es-ES" sz="1400" b="1" dirty="0">
                <a:solidFill>
                  <a:schemeClr val="bg1"/>
                </a:solidFill>
              </a:rPr>
              <a:t>Ejecución de</a:t>
            </a:r>
          </a:p>
          <a:p>
            <a:pPr algn="ctr"/>
            <a:r>
              <a:rPr lang="es-ES" sz="1400" b="1" dirty="0">
                <a:solidFill>
                  <a:schemeClr val="bg1"/>
                </a:solidFill>
              </a:rPr>
              <a:t>Propuesta</a:t>
            </a:r>
          </a:p>
          <a:p>
            <a:pPr algn="ctr"/>
            <a:r>
              <a:rPr lang="es-ES" sz="1400" b="1" dirty="0">
                <a:solidFill>
                  <a:schemeClr val="bg1"/>
                </a:solidFill>
              </a:rPr>
              <a:t>de Inversión</a:t>
            </a:r>
          </a:p>
        </p:txBody>
      </p:sp>
      <p:sp>
        <p:nvSpPr>
          <p:cNvPr id="23" name="Rounded Rectangle 21"/>
          <p:cNvSpPr/>
          <p:nvPr/>
        </p:nvSpPr>
        <p:spPr>
          <a:xfrm>
            <a:off x="1843040" y="3861047"/>
            <a:ext cx="1548000" cy="648000"/>
          </a:xfrm>
          <a:prstGeom prst="roundRect">
            <a:avLst/>
          </a:prstGeom>
          <a:solidFill>
            <a:srgbClr val="DB0613"/>
          </a:solidFill>
          <a:ln w="9525" algn="ctr">
            <a:noFill/>
            <a:miter lim="800000"/>
            <a:headEnd/>
            <a:tailEnd/>
          </a:ln>
          <a:effectLst>
            <a:prstShdw prst="shdw17" dist="17961" dir="2700000">
              <a:srgbClr val="DDDDDD">
                <a:gamma/>
                <a:shade val="60000"/>
                <a:invGamma/>
              </a:srgbClr>
            </a:prstShdw>
          </a:effectLst>
        </p:spPr>
        <p:txBody>
          <a:bodyPr wrap="none" anchor="ctr"/>
          <a:lstStyle/>
          <a:p>
            <a:pPr algn="ctr"/>
            <a:r>
              <a:rPr lang="es-ES" sz="1400" b="1" dirty="0">
                <a:solidFill>
                  <a:schemeClr val="bg1"/>
                </a:solidFill>
              </a:rPr>
              <a:t>Ingreso y Registro</a:t>
            </a:r>
          </a:p>
          <a:p>
            <a:pPr algn="ctr"/>
            <a:r>
              <a:rPr lang="es-ES" sz="1400" b="1" dirty="0">
                <a:solidFill>
                  <a:schemeClr val="bg1"/>
                </a:solidFill>
              </a:rPr>
              <a:t>de Operaciones </a:t>
            </a:r>
          </a:p>
          <a:p>
            <a:pPr algn="ctr"/>
            <a:r>
              <a:rPr lang="es-ES" sz="1400" b="1" dirty="0">
                <a:solidFill>
                  <a:schemeClr val="bg1"/>
                </a:solidFill>
              </a:rPr>
              <a:t>de Inversión</a:t>
            </a:r>
          </a:p>
        </p:txBody>
      </p:sp>
      <p:sp>
        <p:nvSpPr>
          <p:cNvPr id="24" name="Rounded Rectangle 21"/>
          <p:cNvSpPr/>
          <p:nvPr/>
        </p:nvSpPr>
        <p:spPr>
          <a:xfrm>
            <a:off x="1843040" y="4725143"/>
            <a:ext cx="1548000" cy="648000"/>
          </a:xfrm>
          <a:prstGeom prst="roundRect">
            <a:avLst/>
          </a:prstGeom>
          <a:solidFill>
            <a:srgbClr val="DB0613"/>
          </a:solidFill>
          <a:ln w="9525" algn="ctr">
            <a:noFill/>
            <a:miter lim="800000"/>
            <a:headEnd/>
            <a:tailEnd/>
          </a:ln>
          <a:effectLst>
            <a:prstShdw prst="shdw17" dist="17961" dir="2700000">
              <a:srgbClr val="DDDDDD">
                <a:gamma/>
                <a:shade val="60000"/>
                <a:invGamma/>
              </a:srgbClr>
            </a:prstShdw>
          </a:effectLst>
        </p:spPr>
        <p:txBody>
          <a:bodyPr wrap="none" anchor="ctr"/>
          <a:lstStyle/>
          <a:p>
            <a:pPr algn="ctr"/>
            <a:r>
              <a:rPr lang="es-ES" sz="1400" b="1" dirty="0">
                <a:solidFill>
                  <a:schemeClr val="bg1"/>
                </a:solidFill>
              </a:rPr>
              <a:t>Operaciones de</a:t>
            </a:r>
          </a:p>
          <a:p>
            <a:pPr algn="ctr"/>
            <a:r>
              <a:rPr lang="es-ES" sz="1400" b="1" dirty="0">
                <a:solidFill>
                  <a:schemeClr val="bg1"/>
                </a:solidFill>
              </a:rPr>
              <a:t>Money </a:t>
            </a:r>
            <a:r>
              <a:rPr lang="es-ES" sz="1400" b="1" dirty="0" err="1">
                <a:solidFill>
                  <a:schemeClr val="bg1"/>
                </a:solidFill>
              </a:rPr>
              <a:t>Market</a:t>
            </a:r>
            <a:endParaRPr lang="es-ES" sz="1400" b="1" dirty="0">
              <a:solidFill>
                <a:schemeClr val="bg1"/>
              </a:solidFill>
            </a:endParaRPr>
          </a:p>
        </p:txBody>
      </p:sp>
      <p:grpSp>
        <p:nvGrpSpPr>
          <p:cNvPr id="25" name="58 Grupo"/>
          <p:cNvGrpSpPr/>
          <p:nvPr/>
        </p:nvGrpSpPr>
        <p:grpSpPr>
          <a:xfrm>
            <a:off x="3347865" y="2977409"/>
            <a:ext cx="1440000" cy="648000"/>
            <a:chOff x="3491881" y="1281851"/>
            <a:chExt cx="1620000" cy="648000"/>
          </a:xfrm>
        </p:grpSpPr>
        <p:sp>
          <p:nvSpPr>
            <p:cNvPr id="26" name="AutoShape 10"/>
            <p:cNvSpPr>
              <a:spLocks noChangeArrowheads="1"/>
            </p:cNvSpPr>
            <p:nvPr/>
          </p:nvSpPr>
          <p:spPr bwMode="auto">
            <a:xfrm rot="10800000">
              <a:off x="3491881" y="1281851"/>
              <a:ext cx="1620000" cy="648000"/>
            </a:xfrm>
            <a:prstGeom prst="homePlate">
              <a:avLst>
                <a:gd name="adj" fmla="val 28726"/>
              </a:avLst>
            </a:prstGeom>
            <a:solidFill>
              <a:schemeClr val="bg1"/>
            </a:solidFill>
            <a:ln w="9525" algn="ctr">
              <a:noFill/>
              <a:miter lim="800000"/>
              <a:headEnd/>
              <a:tailEnd/>
            </a:ln>
            <a:effectLst>
              <a:prstShdw prst="shdw17" dist="17961" dir="2700000">
                <a:srgbClr val="DDDDDD">
                  <a:gamma/>
                  <a:shade val="60000"/>
                  <a:invGamma/>
                </a:srgbClr>
              </a:prstShdw>
            </a:effectLst>
          </p:spPr>
          <p:txBody>
            <a:bodyPr wrap="none" anchor="ctr"/>
            <a:lstStyle/>
            <a:p>
              <a:pPr algn="ctr"/>
              <a:endParaRPr lang="en-US" sz="1300" b="1" dirty="0">
                <a:solidFill>
                  <a:schemeClr val="bg1"/>
                </a:solidFill>
              </a:endParaRPr>
            </a:p>
          </p:txBody>
        </p:sp>
        <p:sp>
          <p:nvSpPr>
            <p:cNvPr id="27" name="Rectangle 7"/>
            <p:cNvSpPr>
              <a:spLocks noChangeArrowheads="1"/>
            </p:cNvSpPr>
            <p:nvPr/>
          </p:nvSpPr>
          <p:spPr bwMode="auto">
            <a:xfrm>
              <a:off x="3838625" y="1281851"/>
              <a:ext cx="1224000" cy="648000"/>
            </a:xfrm>
            <a:prstGeom prst="rect">
              <a:avLst/>
            </a:prstGeom>
            <a:noFill/>
            <a:ln w="9525" algn="ctr">
              <a:noFill/>
              <a:miter lim="800000"/>
              <a:headEnd/>
              <a:tailEnd/>
            </a:ln>
            <a:effectLst>
              <a:prstShdw prst="shdw17" dist="17961" dir="2700000">
                <a:srgbClr val="DDDDDD">
                  <a:gamma/>
                  <a:shade val="60000"/>
                  <a:invGamma/>
                </a:srgbClr>
              </a:prstShdw>
            </a:effectLst>
          </p:spPr>
          <p:txBody>
            <a:bodyPr wrap="none" anchor="ctr"/>
            <a:lstStyle/>
            <a:p>
              <a:r>
                <a:rPr lang="es-PE" sz="1400" b="1" dirty="0"/>
                <a:t>Riesgos : 9</a:t>
              </a:r>
            </a:p>
            <a:p>
              <a:r>
                <a:rPr lang="es-PE" sz="1400" b="1" dirty="0"/>
                <a:t>Controles: 8</a:t>
              </a:r>
              <a:endParaRPr lang="es-ES" sz="1400" b="1" dirty="0"/>
            </a:p>
          </p:txBody>
        </p:sp>
        <p:sp>
          <p:nvSpPr>
            <p:cNvPr id="28" name="AutoShape 92"/>
            <p:cNvSpPr>
              <a:spLocks noChangeArrowheads="1"/>
            </p:cNvSpPr>
            <p:nvPr/>
          </p:nvSpPr>
          <p:spPr bwMode="auto">
            <a:xfrm>
              <a:off x="3712253" y="1628800"/>
              <a:ext cx="180000" cy="180000"/>
            </a:xfrm>
            <a:prstGeom prst="diamond">
              <a:avLst/>
            </a:prstGeom>
            <a:solidFill>
              <a:srgbClr val="009644"/>
            </a:solidFill>
            <a:ln w="9525" algn="ctr">
              <a:noFill/>
              <a:miter lim="800000"/>
              <a:headEnd/>
              <a:tailEnd/>
            </a:ln>
            <a:effectLst/>
          </p:spPr>
          <p:txBody>
            <a:bodyPr wrap="none" anchor="ctr"/>
            <a:lstStyle/>
            <a:p>
              <a:pPr algn="ctr"/>
              <a:endParaRPr lang="en-US" sz="1000" b="1" dirty="0">
                <a:solidFill>
                  <a:schemeClr val="bg1"/>
                </a:solidFill>
              </a:endParaRPr>
            </a:p>
          </p:txBody>
        </p:sp>
        <p:sp>
          <p:nvSpPr>
            <p:cNvPr id="29" name="Rounded Rectangle 139"/>
            <p:cNvSpPr/>
            <p:nvPr/>
          </p:nvSpPr>
          <p:spPr>
            <a:xfrm>
              <a:off x="3712253" y="1381102"/>
              <a:ext cx="180000" cy="180000"/>
            </a:xfrm>
            <a:prstGeom prst="roundRect">
              <a:avLst/>
            </a:prstGeom>
            <a:solidFill>
              <a:srgbClr val="F26D00"/>
            </a:solidFill>
            <a:ln w="9525" algn="ctr">
              <a:noFill/>
              <a:round/>
              <a:headEnd/>
              <a:tailEnd/>
            </a:ln>
            <a:effectLst/>
          </p:spPr>
          <p:txBody>
            <a:bodyPr wrap="none" anchor="ctr"/>
            <a:lstStyle/>
            <a:p>
              <a:pPr algn="ctr"/>
              <a:endParaRPr lang="es-ES" sz="1000" b="1" dirty="0">
                <a:solidFill>
                  <a:schemeClr val="bg1"/>
                </a:solidFill>
              </a:endParaRPr>
            </a:p>
          </p:txBody>
        </p:sp>
      </p:grpSp>
      <p:sp>
        <p:nvSpPr>
          <p:cNvPr id="31" name="AutoShape 10"/>
          <p:cNvSpPr>
            <a:spLocks noChangeArrowheads="1"/>
          </p:cNvSpPr>
          <p:nvPr/>
        </p:nvSpPr>
        <p:spPr bwMode="auto">
          <a:xfrm rot="10800000">
            <a:off x="4716016" y="2977410"/>
            <a:ext cx="1260000" cy="647999"/>
          </a:xfrm>
          <a:prstGeom prst="homePlate">
            <a:avLst>
              <a:gd name="adj" fmla="val 28726"/>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dirty="0">
              <a:solidFill>
                <a:schemeClr val="lt1"/>
              </a:solidFill>
            </a:endParaRPr>
          </a:p>
        </p:txBody>
      </p:sp>
      <p:sp>
        <p:nvSpPr>
          <p:cNvPr id="33" name="Rectangle 7"/>
          <p:cNvSpPr>
            <a:spLocks noChangeArrowheads="1"/>
          </p:cNvSpPr>
          <p:nvPr/>
        </p:nvSpPr>
        <p:spPr bwMode="auto">
          <a:xfrm>
            <a:off x="4986931" y="1340766"/>
            <a:ext cx="2016000" cy="4572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marL="228600" indent="-228600" algn="just">
              <a:lnSpc>
                <a:spcPct val="80000"/>
              </a:lnSpc>
              <a:buFont typeface="+mj-lt"/>
              <a:buAutoNum type="arabicParenR"/>
            </a:pPr>
            <a:r>
              <a:rPr lang="es-PE" sz="1100" dirty="0">
                <a:solidFill>
                  <a:schemeClr val="tx1"/>
                </a:solidFill>
              </a:rPr>
              <a:t>Falla en las telecomunicaciones que impiden contratación de operaciones por </a:t>
            </a:r>
            <a:r>
              <a:rPr lang="es-PE" sz="1100" dirty="0" err="1">
                <a:solidFill>
                  <a:schemeClr val="tx1"/>
                </a:solidFill>
              </a:rPr>
              <a:t>Bloomberg</a:t>
            </a:r>
            <a:r>
              <a:rPr lang="es-PE" sz="1100" dirty="0">
                <a:solidFill>
                  <a:schemeClr val="tx1"/>
                </a:solidFill>
              </a:rPr>
              <a:t> y </a:t>
            </a:r>
            <a:r>
              <a:rPr lang="es-PE" sz="1100" dirty="0" err="1">
                <a:solidFill>
                  <a:schemeClr val="tx1"/>
                </a:solidFill>
              </a:rPr>
              <a:t>Datatec</a:t>
            </a:r>
            <a:endParaRPr lang="es-CL" sz="1100" dirty="0">
              <a:solidFill>
                <a:schemeClr val="tx1"/>
              </a:solidFill>
            </a:endParaRPr>
          </a:p>
          <a:p>
            <a:pPr marL="228600" indent="-228600" algn="just">
              <a:buFont typeface="+mj-lt"/>
              <a:buAutoNum type="arabicParenR"/>
            </a:pPr>
            <a:r>
              <a:rPr lang="es-ES" sz="1100" dirty="0">
                <a:solidFill>
                  <a:schemeClr val="tx1"/>
                </a:solidFill>
              </a:rPr>
              <a:t>Ejecución, por error, de operaciones que no se ajustan a la política interna de inversiones (no deseadas) y finalizan en quebranto para la Entidad.</a:t>
            </a:r>
          </a:p>
          <a:p>
            <a:pPr marL="228600" indent="-228600" algn="just">
              <a:buFont typeface="+mj-lt"/>
              <a:buAutoNum type="arabicParenR"/>
            </a:pPr>
            <a:r>
              <a:rPr lang="es-ES" sz="1100" dirty="0">
                <a:solidFill>
                  <a:schemeClr val="tx1"/>
                </a:solidFill>
              </a:rPr>
              <a:t>Ejecución de operaciones que no están alineadas, ni consensuadas por los Comités, con el objetivo de obtener un beneficio a nivel personal.</a:t>
            </a:r>
          </a:p>
          <a:p>
            <a:pPr marL="228600" indent="-228600" algn="just">
              <a:buFont typeface="+mj-lt"/>
              <a:buAutoNum type="arabicParenR"/>
            </a:pPr>
            <a:r>
              <a:rPr lang="es-CL" sz="1100" dirty="0">
                <a:solidFill>
                  <a:schemeClr val="tx1"/>
                </a:solidFill>
              </a:rPr>
              <a:t>Falla en las </a:t>
            </a:r>
            <a:r>
              <a:rPr lang="es-PE" sz="1100" dirty="0">
                <a:solidFill>
                  <a:schemeClr val="tx1"/>
                </a:solidFill>
              </a:rPr>
              <a:t>telecomunicaciones que impiden contratación de operaciones sin posibilidad de conexión telefónica.</a:t>
            </a:r>
            <a:endParaRPr lang="es-ES" sz="1100" dirty="0">
              <a:solidFill>
                <a:schemeClr val="tx1"/>
              </a:solidFill>
            </a:endParaRPr>
          </a:p>
          <a:p>
            <a:pPr marL="228600" indent="-228600" algn="just">
              <a:buFont typeface="+mj-lt"/>
              <a:buAutoNum type="arabicParenR"/>
            </a:pPr>
            <a:endParaRPr lang="es-ES" sz="1100" dirty="0">
              <a:solidFill>
                <a:schemeClr val="tx1"/>
              </a:solidFill>
            </a:endParaRPr>
          </a:p>
        </p:txBody>
      </p:sp>
      <p:sp>
        <p:nvSpPr>
          <p:cNvPr id="34" name="Rectangle 7"/>
          <p:cNvSpPr>
            <a:spLocks noChangeArrowheads="1"/>
          </p:cNvSpPr>
          <p:nvPr/>
        </p:nvSpPr>
        <p:spPr bwMode="auto">
          <a:xfrm>
            <a:off x="4986931" y="1030207"/>
            <a:ext cx="2016000" cy="252000"/>
          </a:xfrm>
          <a:prstGeom prst="rect">
            <a:avLst/>
          </a:prstGeom>
          <a:solidFill>
            <a:schemeClr val="tx1">
              <a:lumMod val="50000"/>
              <a:lumOff val="50000"/>
            </a:schemeClr>
          </a:solidFill>
          <a:ln w="9525" algn="ctr">
            <a:noFill/>
            <a:miter lim="800000"/>
            <a:headEnd/>
            <a:tailEnd/>
          </a:ln>
          <a:effectLst>
            <a:prstShdw prst="shdw17" dist="17961" dir="2700000">
              <a:srgbClr val="DDDDDD">
                <a:gamma/>
                <a:shade val="60000"/>
                <a:invGamma/>
              </a:srgbClr>
            </a:prstShdw>
          </a:effectLst>
        </p:spPr>
        <p:txBody>
          <a:bodyPr wrap="none" anchor="ctr"/>
          <a:lstStyle/>
          <a:p>
            <a:pPr algn="ctr"/>
            <a:r>
              <a:rPr lang="es-ES" sz="1300" b="1" dirty="0">
                <a:solidFill>
                  <a:schemeClr val="bg1"/>
                </a:solidFill>
              </a:rPr>
              <a:t>Riesgos</a:t>
            </a:r>
          </a:p>
        </p:txBody>
      </p:sp>
      <p:sp>
        <p:nvSpPr>
          <p:cNvPr id="37" name="Rectangle 7"/>
          <p:cNvSpPr>
            <a:spLocks noChangeArrowheads="1"/>
          </p:cNvSpPr>
          <p:nvPr/>
        </p:nvSpPr>
        <p:spPr bwMode="auto">
          <a:xfrm>
            <a:off x="7114697" y="1030207"/>
            <a:ext cx="900000" cy="252000"/>
          </a:xfrm>
          <a:prstGeom prst="rect">
            <a:avLst/>
          </a:prstGeom>
          <a:solidFill>
            <a:schemeClr val="tx1">
              <a:lumMod val="50000"/>
              <a:lumOff val="50000"/>
            </a:schemeClr>
          </a:solidFill>
          <a:ln w="9525" algn="ctr">
            <a:noFill/>
            <a:miter lim="800000"/>
            <a:headEnd/>
            <a:tailEnd/>
          </a:ln>
          <a:effectLst>
            <a:prstShdw prst="shdw17" dist="17961" dir="2700000">
              <a:srgbClr val="DDDDDD">
                <a:gamma/>
                <a:shade val="60000"/>
                <a:invGamma/>
              </a:srgbClr>
            </a:prstShdw>
          </a:effectLst>
        </p:spPr>
        <p:txBody>
          <a:bodyPr wrap="none" anchor="ctr"/>
          <a:lstStyle/>
          <a:p>
            <a:pPr algn="ctr"/>
            <a:r>
              <a:rPr lang="es-PE" sz="1300" b="1" dirty="0">
                <a:solidFill>
                  <a:schemeClr val="bg1"/>
                </a:solidFill>
              </a:rPr>
              <a:t>PEA</a:t>
            </a:r>
            <a:endParaRPr lang="es-ES" sz="1300" b="1" dirty="0">
              <a:solidFill>
                <a:schemeClr val="bg1"/>
              </a:solidFill>
            </a:endParaRPr>
          </a:p>
        </p:txBody>
      </p:sp>
      <p:sp>
        <p:nvSpPr>
          <p:cNvPr id="38" name="Rectangle 7"/>
          <p:cNvSpPr>
            <a:spLocks noChangeArrowheads="1"/>
          </p:cNvSpPr>
          <p:nvPr/>
        </p:nvSpPr>
        <p:spPr bwMode="auto">
          <a:xfrm>
            <a:off x="7114697" y="1340766"/>
            <a:ext cx="900000" cy="456000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marL="228600" indent="-228600" algn="just"/>
            <a:endParaRPr lang="es-ES" sz="1100" dirty="0">
              <a:solidFill>
                <a:schemeClr val="tx1"/>
              </a:solidFill>
            </a:endParaRPr>
          </a:p>
        </p:txBody>
      </p:sp>
      <p:sp>
        <p:nvSpPr>
          <p:cNvPr id="39" name="Rectangle 7"/>
          <p:cNvSpPr>
            <a:spLocks noChangeArrowheads="1"/>
          </p:cNvSpPr>
          <p:nvPr/>
        </p:nvSpPr>
        <p:spPr bwMode="auto">
          <a:xfrm>
            <a:off x="8064488" y="1030207"/>
            <a:ext cx="900000" cy="252000"/>
          </a:xfrm>
          <a:prstGeom prst="rect">
            <a:avLst/>
          </a:prstGeom>
          <a:solidFill>
            <a:schemeClr val="tx1">
              <a:lumMod val="50000"/>
              <a:lumOff val="50000"/>
            </a:schemeClr>
          </a:solidFill>
          <a:ln w="9525" algn="ctr">
            <a:noFill/>
            <a:miter lim="800000"/>
            <a:headEnd/>
            <a:tailEnd/>
          </a:ln>
          <a:effectLst>
            <a:prstShdw prst="shdw17" dist="17961" dir="2700000">
              <a:srgbClr val="DDDDDD">
                <a:gamma/>
                <a:shade val="60000"/>
                <a:invGamma/>
              </a:srgbClr>
            </a:prstShdw>
          </a:effectLst>
        </p:spPr>
        <p:txBody>
          <a:bodyPr wrap="none" anchor="ctr"/>
          <a:lstStyle/>
          <a:p>
            <a:pPr algn="ctr"/>
            <a:r>
              <a:rPr lang="es-PE" sz="1300" b="1" dirty="0" err="1">
                <a:solidFill>
                  <a:schemeClr val="bg1"/>
                </a:solidFill>
              </a:rPr>
              <a:t>VaR</a:t>
            </a:r>
            <a:endParaRPr lang="es-ES" sz="1300" b="1" dirty="0">
              <a:solidFill>
                <a:schemeClr val="bg1"/>
              </a:solidFill>
            </a:endParaRPr>
          </a:p>
        </p:txBody>
      </p:sp>
      <p:sp>
        <p:nvSpPr>
          <p:cNvPr id="40" name="Rectangle 7"/>
          <p:cNvSpPr>
            <a:spLocks noChangeArrowheads="1"/>
          </p:cNvSpPr>
          <p:nvPr/>
        </p:nvSpPr>
        <p:spPr bwMode="auto">
          <a:xfrm>
            <a:off x="8064488" y="1340766"/>
            <a:ext cx="900000" cy="456000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marL="228600" indent="-228600" algn="just"/>
            <a:endParaRPr lang="es-ES" sz="1100" dirty="0">
              <a:solidFill>
                <a:schemeClr val="tx1"/>
              </a:solidFill>
            </a:endParaRPr>
          </a:p>
        </p:txBody>
      </p:sp>
      <p:sp>
        <p:nvSpPr>
          <p:cNvPr id="30" name="Rounded Rectangle 93"/>
          <p:cNvSpPr/>
          <p:nvPr/>
        </p:nvSpPr>
        <p:spPr>
          <a:xfrm>
            <a:off x="7164288" y="1412776"/>
            <a:ext cx="792000" cy="548640"/>
          </a:xfrm>
          <a:prstGeom prst="roundRect">
            <a:avLst/>
          </a:prstGeom>
          <a:noFill/>
          <a:ln w="127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400" b="1" dirty="0">
                <a:solidFill>
                  <a:schemeClr val="tx1"/>
                </a:solidFill>
                <a:latin typeface="+mj-lt"/>
              </a:rPr>
              <a:t>3,187</a:t>
            </a:r>
            <a:endParaRPr lang="es-CL" sz="1400" b="1" dirty="0">
              <a:solidFill>
                <a:schemeClr val="tx1"/>
              </a:solidFill>
              <a:latin typeface="+mj-lt"/>
            </a:endParaRPr>
          </a:p>
        </p:txBody>
      </p:sp>
      <p:sp>
        <p:nvSpPr>
          <p:cNvPr id="32" name="Rounded Rectangle 93"/>
          <p:cNvSpPr/>
          <p:nvPr/>
        </p:nvSpPr>
        <p:spPr>
          <a:xfrm>
            <a:off x="8100480" y="1412776"/>
            <a:ext cx="792000" cy="548640"/>
          </a:xfrm>
          <a:prstGeom prst="roundRect">
            <a:avLst/>
          </a:prstGeom>
          <a:noFill/>
          <a:ln w="127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400" b="1" dirty="0">
                <a:solidFill>
                  <a:schemeClr val="tx1"/>
                </a:solidFill>
                <a:latin typeface="+mj-lt"/>
              </a:rPr>
              <a:t>10,646</a:t>
            </a:r>
            <a:endParaRPr lang="es-CL" sz="1400" b="1" dirty="0">
              <a:solidFill>
                <a:schemeClr val="tx1"/>
              </a:solidFill>
              <a:latin typeface="+mj-lt"/>
            </a:endParaRPr>
          </a:p>
        </p:txBody>
      </p:sp>
      <p:sp>
        <p:nvSpPr>
          <p:cNvPr id="35" name="Rounded Rectangle 93"/>
          <p:cNvSpPr/>
          <p:nvPr/>
        </p:nvSpPr>
        <p:spPr>
          <a:xfrm>
            <a:off x="7164288" y="2276872"/>
            <a:ext cx="792000" cy="548640"/>
          </a:xfrm>
          <a:prstGeom prst="roundRect">
            <a:avLst/>
          </a:prstGeom>
          <a:noFill/>
          <a:ln w="127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400" b="1" dirty="0">
                <a:solidFill>
                  <a:schemeClr val="tx1"/>
                </a:solidFill>
                <a:latin typeface="+mj-lt"/>
              </a:rPr>
              <a:t>22</a:t>
            </a:r>
            <a:endParaRPr lang="es-CL" sz="1400" b="1" dirty="0">
              <a:solidFill>
                <a:schemeClr val="tx1"/>
              </a:solidFill>
              <a:latin typeface="+mj-lt"/>
            </a:endParaRPr>
          </a:p>
        </p:txBody>
      </p:sp>
      <p:sp>
        <p:nvSpPr>
          <p:cNvPr id="41" name="Rounded Rectangle 93"/>
          <p:cNvSpPr/>
          <p:nvPr/>
        </p:nvSpPr>
        <p:spPr>
          <a:xfrm>
            <a:off x="8100480" y="2276872"/>
            <a:ext cx="792000" cy="548640"/>
          </a:xfrm>
          <a:prstGeom prst="roundRect">
            <a:avLst/>
          </a:prstGeom>
          <a:noFill/>
          <a:ln w="127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400" b="1" dirty="0">
                <a:solidFill>
                  <a:schemeClr val="tx1"/>
                </a:solidFill>
                <a:latin typeface="+mj-lt"/>
              </a:rPr>
              <a:t>514</a:t>
            </a:r>
            <a:endParaRPr lang="es-CL" sz="1400" b="1" dirty="0">
              <a:solidFill>
                <a:schemeClr val="tx1"/>
              </a:solidFill>
              <a:latin typeface="+mj-lt"/>
            </a:endParaRPr>
          </a:p>
        </p:txBody>
      </p:sp>
      <p:sp>
        <p:nvSpPr>
          <p:cNvPr id="42" name="Rounded Rectangle 93"/>
          <p:cNvSpPr/>
          <p:nvPr/>
        </p:nvSpPr>
        <p:spPr>
          <a:xfrm>
            <a:off x="7164288" y="3284984"/>
            <a:ext cx="792000" cy="548640"/>
          </a:xfrm>
          <a:prstGeom prst="roundRect">
            <a:avLst/>
          </a:prstGeom>
          <a:noFill/>
          <a:ln w="127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400" b="1" dirty="0">
                <a:solidFill>
                  <a:schemeClr val="tx1"/>
                </a:solidFill>
                <a:latin typeface="+mj-lt"/>
              </a:rPr>
              <a:t>31</a:t>
            </a:r>
            <a:endParaRPr lang="es-CL" sz="1400" b="1" dirty="0">
              <a:solidFill>
                <a:schemeClr val="tx1"/>
              </a:solidFill>
              <a:latin typeface="+mj-lt"/>
            </a:endParaRPr>
          </a:p>
        </p:txBody>
      </p:sp>
      <p:sp>
        <p:nvSpPr>
          <p:cNvPr id="43" name="Rounded Rectangle 93"/>
          <p:cNvSpPr/>
          <p:nvPr/>
        </p:nvSpPr>
        <p:spPr>
          <a:xfrm>
            <a:off x="8100480" y="3284984"/>
            <a:ext cx="792000" cy="548640"/>
          </a:xfrm>
          <a:prstGeom prst="roundRect">
            <a:avLst/>
          </a:prstGeom>
          <a:noFill/>
          <a:ln w="127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400" b="1" dirty="0">
                <a:solidFill>
                  <a:schemeClr val="tx1"/>
                </a:solidFill>
                <a:latin typeface="+mj-lt"/>
              </a:rPr>
              <a:t>2,017</a:t>
            </a:r>
            <a:endParaRPr lang="es-CL" sz="1400" b="1" dirty="0">
              <a:solidFill>
                <a:schemeClr val="tx1"/>
              </a:solidFill>
              <a:latin typeface="+mj-lt"/>
            </a:endParaRPr>
          </a:p>
        </p:txBody>
      </p:sp>
      <p:sp>
        <p:nvSpPr>
          <p:cNvPr id="44" name="Rounded Rectangle 93"/>
          <p:cNvSpPr/>
          <p:nvPr/>
        </p:nvSpPr>
        <p:spPr>
          <a:xfrm>
            <a:off x="7164288" y="4293096"/>
            <a:ext cx="792000" cy="548640"/>
          </a:xfrm>
          <a:prstGeom prst="roundRect">
            <a:avLst/>
          </a:prstGeom>
          <a:noFill/>
          <a:ln w="127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400" b="1" dirty="0">
                <a:solidFill>
                  <a:schemeClr val="tx1"/>
                </a:solidFill>
                <a:latin typeface="+mj-lt"/>
              </a:rPr>
              <a:t>637</a:t>
            </a:r>
            <a:endParaRPr lang="es-CL" sz="1400" b="1" dirty="0">
              <a:solidFill>
                <a:schemeClr val="tx1"/>
              </a:solidFill>
              <a:latin typeface="+mj-lt"/>
            </a:endParaRPr>
          </a:p>
        </p:txBody>
      </p:sp>
      <p:sp>
        <p:nvSpPr>
          <p:cNvPr id="45" name="Rounded Rectangle 93"/>
          <p:cNvSpPr/>
          <p:nvPr/>
        </p:nvSpPr>
        <p:spPr>
          <a:xfrm>
            <a:off x="8100480" y="4293096"/>
            <a:ext cx="792000" cy="548640"/>
          </a:xfrm>
          <a:prstGeom prst="roundRect">
            <a:avLst/>
          </a:prstGeom>
          <a:noFill/>
          <a:ln w="127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400" b="1" dirty="0">
                <a:solidFill>
                  <a:schemeClr val="tx1"/>
                </a:solidFill>
                <a:latin typeface="+mj-lt"/>
              </a:rPr>
              <a:t>5,146</a:t>
            </a:r>
            <a:endParaRPr lang="es-CL" sz="1400" b="1" dirty="0">
              <a:solidFill>
                <a:schemeClr val="tx1"/>
              </a:solidFill>
              <a:latin typeface="+mj-lt"/>
            </a:endParaRPr>
          </a:p>
        </p:txBody>
      </p:sp>
      <p:sp>
        <p:nvSpPr>
          <p:cNvPr id="46" name="Text Box 44"/>
          <p:cNvSpPr txBox="1">
            <a:spLocks noChangeArrowheads="1"/>
          </p:cNvSpPr>
          <p:nvPr/>
        </p:nvSpPr>
        <p:spPr bwMode="auto">
          <a:xfrm>
            <a:off x="7610039" y="764704"/>
            <a:ext cx="1354449" cy="230832"/>
          </a:xfrm>
          <a:prstGeom prst="rect">
            <a:avLst/>
          </a:prstGeom>
          <a:noFill/>
          <a:ln w="9525" algn="ctr">
            <a:noFill/>
            <a:miter lim="800000"/>
            <a:headEnd/>
            <a:tailEnd/>
          </a:ln>
          <a:effectLst/>
        </p:spPr>
        <p:txBody>
          <a:bodyPr wrap="square">
            <a:spAutoFit/>
          </a:bodyPr>
          <a:lstStyle/>
          <a:p>
            <a:r>
              <a:rPr lang="es-ES" sz="900" b="1" i="1" dirty="0">
                <a:solidFill>
                  <a:srgbClr val="525252"/>
                </a:solidFill>
              </a:rPr>
              <a:t>Miles de Nuevos Soles</a:t>
            </a:r>
            <a:endParaRPr lang="en-US" sz="900" b="1" i="1" dirty="0">
              <a:solidFill>
                <a:srgbClr val="525252"/>
              </a:solidFill>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 name="Rectangle 7"/>
          <p:cNvSpPr>
            <a:spLocks noChangeArrowheads="1"/>
          </p:cNvSpPr>
          <p:nvPr/>
        </p:nvSpPr>
        <p:spPr bwMode="auto">
          <a:xfrm>
            <a:off x="4918801" y="980727"/>
            <a:ext cx="4104000" cy="5040561"/>
          </a:xfrm>
          <a:prstGeom prst="rect">
            <a:avLst/>
          </a:prstGeom>
          <a:solidFill>
            <a:schemeClr val="accent1">
              <a:lumMod val="20000"/>
              <a:lumOff val="80000"/>
            </a:schemeClr>
          </a:solidFill>
          <a:ln w="9525" algn="ctr">
            <a:noFill/>
            <a:miter lim="800000"/>
            <a:headEnd/>
            <a:tailEnd/>
          </a:ln>
          <a:effectLst>
            <a:prstShdw prst="shdw17" dist="17961" dir="2700000">
              <a:srgbClr val="DDDDDD">
                <a:gamma/>
                <a:shade val="60000"/>
                <a:invGamma/>
              </a:srgbClr>
            </a:prstShdw>
          </a:effectLst>
        </p:spPr>
        <p:txBody>
          <a:bodyPr wrap="none" anchor="ctr"/>
          <a:lstStyle/>
          <a:p>
            <a:pPr algn="ctr"/>
            <a:endParaRPr lang="es-ES" sz="1300" b="1" dirty="0">
              <a:solidFill>
                <a:srgbClr val="525252"/>
              </a:solidFill>
            </a:endParaRPr>
          </a:p>
        </p:txBody>
      </p:sp>
      <p:sp>
        <p:nvSpPr>
          <p:cNvPr id="16" name="Title 1"/>
          <p:cNvSpPr>
            <a:spLocks noGrp="1"/>
          </p:cNvSpPr>
          <p:nvPr>
            <p:ph type="title"/>
          </p:nvPr>
        </p:nvSpPr>
        <p:spPr>
          <a:xfrm>
            <a:off x="47625" y="32965"/>
            <a:ext cx="8217470" cy="587723"/>
          </a:xfrm>
        </p:spPr>
        <p:txBody>
          <a:bodyPr/>
          <a:lstStyle/>
          <a:p>
            <a:r>
              <a:rPr lang="es-ES" dirty="0"/>
              <a:t>Anexo: Árbol de Procesos</a:t>
            </a:r>
          </a:p>
        </p:txBody>
      </p:sp>
      <p:sp>
        <p:nvSpPr>
          <p:cNvPr id="17" name="Rounded Rectangle 31">
            <a:hlinkClick r:id="rId2" action="ppaction://hlinksldjump"/>
          </p:cNvPr>
          <p:cNvSpPr/>
          <p:nvPr/>
        </p:nvSpPr>
        <p:spPr>
          <a:xfrm>
            <a:off x="1638012" y="6322807"/>
            <a:ext cx="1080000" cy="360000"/>
          </a:xfrm>
          <a:prstGeom prst="roundRect">
            <a:avLst/>
          </a:prstGeom>
          <a:solidFill>
            <a:schemeClr val="bg1">
              <a:lumMod val="65000"/>
            </a:schemeClr>
          </a:solidFill>
          <a:ln w="25400" cap="sq" cmpd="sng">
            <a:solidFill>
              <a:schemeClr val="bg1">
                <a:lumMod val="75000"/>
              </a:schemeClr>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L" sz="800" b="1" i="1" dirty="0">
                <a:solidFill>
                  <a:schemeClr val="bg1"/>
                </a:solidFill>
                <a:cs typeface="Arial" pitchFamily="34" charset="0"/>
              </a:rPr>
              <a:t>Exposición al RO y Entorno de Control</a:t>
            </a:r>
          </a:p>
        </p:txBody>
      </p:sp>
      <p:sp>
        <p:nvSpPr>
          <p:cNvPr id="18" name="AutoShape 10"/>
          <p:cNvSpPr>
            <a:spLocks noChangeArrowheads="1"/>
          </p:cNvSpPr>
          <p:nvPr/>
        </p:nvSpPr>
        <p:spPr bwMode="auto">
          <a:xfrm rot="10800000">
            <a:off x="1187624" y="1196767"/>
            <a:ext cx="2304256" cy="4320464"/>
          </a:xfrm>
          <a:prstGeom prst="homePlate">
            <a:avLst>
              <a:gd name="adj" fmla="val 28726"/>
            </a:avLst>
          </a:prstGeom>
          <a:solidFill>
            <a:schemeClr val="accent1">
              <a:lumMod val="20000"/>
              <a:lumOff val="80000"/>
            </a:schemeClr>
          </a:solidFill>
          <a:ln w="12700">
            <a:solidFill>
              <a:srgbClr val="A9A9A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dirty="0">
              <a:solidFill>
                <a:schemeClr val="lt1"/>
              </a:solidFill>
            </a:endParaRPr>
          </a:p>
        </p:txBody>
      </p:sp>
      <p:sp>
        <p:nvSpPr>
          <p:cNvPr id="19" name="Rounded Rectangle 21"/>
          <p:cNvSpPr/>
          <p:nvPr/>
        </p:nvSpPr>
        <p:spPr>
          <a:xfrm>
            <a:off x="107504" y="2977409"/>
            <a:ext cx="1512000" cy="648000"/>
          </a:xfrm>
          <a:prstGeom prst="roundRect">
            <a:avLst/>
          </a:prstGeom>
          <a:solidFill>
            <a:srgbClr val="DB0613"/>
          </a:solidFill>
          <a:ln w="9525" algn="ctr">
            <a:noFill/>
            <a:miter lim="800000"/>
            <a:headEnd/>
            <a:tailEnd/>
          </a:ln>
          <a:effectLst>
            <a:prstShdw prst="shdw17" dist="17961" dir="2700000">
              <a:srgbClr val="DDDDDD">
                <a:gamma/>
                <a:shade val="60000"/>
                <a:invGamma/>
              </a:srgbClr>
            </a:prstShdw>
          </a:effectLst>
        </p:spPr>
        <p:txBody>
          <a:bodyPr wrap="none" anchor="ctr"/>
          <a:lstStyle/>
          <a:p>
            <a:pPr algn="ctr"/>
            <a:r>
              <a:rPr lang="es-ES" sz="1600" b="1" dirty="0">
                <a:solidFill>
                  <a:schemeClr val="bg1"/>
                </a:solidFill>
              </a:rPr>
              <a:t>Administración</a:t>
            </a:r>
          </a:p>
          <a:p>
            <a:pPr algn="ctr"/>
            <a:r>
              <a:rPr lang="es-ES" sz="1600" b="1" dirty="0">
                <a:solidFill>
                  <a:schemeClr val="bg1"/>
                </a:solidFill>
              </a:rPr>
              <a:t>de Fondos</a:t>
            </a:r>
          </a:p>
        </p:txBody>
      </p:sp>
      <p:sp>
        <p:nvSpPr>
          <p:cNvPr id="20" name="Rounded Rectangle 21"/>
          <p:cNvSpPr/>
          <p:nvPr/>
        </p:nvSpPr>
        <p:spPr>
          <a:xfrm>
            <a:off x="1843040" y="1340767"/>
            <a:ext cx="1548000" cy="648000"/>
          </a:xfrm>
          <a:prstGeom prst="roundRect">
            <a:avLst/>
          </a:prstGeom>
          <a:solidFill>
            <a:srgbClr val="DB0613"/>
          </a:solidFill>
          <a:ln w="9525" algn="ctr">
            <a:noFill/>
            <a:miter lim="800000"/>
            <a:headEnd/>
            <a:tailEnd/>
          </a:ln>
          <a:effectLst>
            <a:prstShdw prst="shdw17" dist="17961" dir="2700000">
              <a:srgbClr val="DDDDDD">
                <a:gamma/>
                <a:shade val="60000"/>
                <a:invGamma/>
              </a:srgbClr>
            </a:prstShdw>
          </a:effectLst>
        </p:spPr>
        <p:txBody>
          <a:bodyPr wrap="none" anchor="ctr"/>
          <a:lstStyle/>
          <a:p>
            <a:pPr algn="ctr"/>
            <a:r>
              <a:rPr lang="es-ES" sz="1400" b="1" dirty="0">
                <a:solidFill>
                  <a:schemeClr val="bg1"/>
                </a:solidFill>
              </a:rPr>
              <a:t>Identificación de</a:t>
            </a:r>
          </a:p>
          <a:p>
            <a:pPr algn="ctr"/>
            <a:r>
              <a:rPr lang="es-ES" sz="1400" b="1" dirty="0">
                <a:solidFill>
                  <a:schemeClr val="bg1"/>
                </a:solidFill>
              </a:rPr>
              <a:t>Oportunidades</a:t>
            </a:r>
          </a:p>
          <a:p>
            <a:pPr algn="ctr"/>
            <a:r>
              <a:rPr lang="es-ES" sz="1400" b="1" dirty="0">
                <a:solidFill>
                  <a:schemeClr val="bg1"/>
                </a:solidFill>
              </a:rPr>
              <a:t>de Inversión</a:t>
            </a:r>
          </a:p>
        </p:txBody>
      </p:sp>
      <p:sp>
        <p:nvSpPr>
          <p:cNvPr id="21" name="Rounded Rectangle 21"/>
          <p:cNvSpPr/>
          <p:nvPr/>
        </p:nvSpPr>
        <p:spPr>
          <a:xfrm>
            <a:off x="1843040" y="2177009"/>
            <a:ext cx="1548000" cy="648000"/>
          </a:xfrm>
          <a:prstGeom prst="roundRect">
            <a:avLst/>
          </a:prstGeom>
          <a:solidFill>
            <a:srgbClr val="DB0613"/>
          </a:solidFill>
          <a:ln w="9525" algn="ctr">
            <a:noFill/>
            <a:miter lim="800000"/>
            <a:headEnd/>
            <a:tailEnd/>
          </a:ln>
          <a:effectLst>
            <a:prstShdw prst="shdw17" dist="17961" dir="2700000">
              <a:srgbClr val="DDDDDD">
                <a:gamma/>
                <a:shade val="60000"/>
                <a:invGamma/>
              </a:srgbClr>
            </a:prstShdw>
          </a:effectLst>
        </p:spPr>
        <p:txBody>
          <a:bodyPr wrap="none" anchor="ctr"/>
          <a:lstStyle/>
          <a:p>
            <a:pPr algn="ctr"/>
            <a:r>
              <a:rPr lang="es-ES" sz="1400" b="1" dirty="0">
                <a:solidFill>
                  <a:schemeClr val="bg1"/>
                </a:solidFill>
              </a:rPr>
              <a:t>Evaluación de</a:t>
            </a:r>
          </a:p>
          <a:p>
            <a:pPr algn="ctr"/>
            <a:r>
              <a:rPr lang="es-ES" sz="1400" b="1" dirty="0">
                <a:solidFill>
                  <a:schemeClr val="bg1"/>
                </a:solidFill>
              </a:rPr>
              <a:t>Oportunidades</a:t>
            </a:r>
          </a:p>
          <a:p>
            <a:pPr algn="ctr"/>
            <a:r>
              <a:rPr lang="es-ES" sz="1400" b="1" dirty="0">
                <a:solidFill>
                  <a:schemeClr val="bg1"/>
                </a:solidFill>
              </a:rPr>
              <a:t>de Inversión</a:t>
            </a:r>
          </a:p>
        </p:txBody>
      </p:sp>
      <p:sp>
        <p:nvSpPr>
          <p:cNvPr id="22" name="Rounded Rectangle 21"/>
          <p:cNvSpPr/>
          <p:nvPr/>
        </p:nvSpPr>
        <p:spPr>
          <a:xfrm>
            <a:off x="1843040" y="2977409"/>
            <a:ext cx="1548000" cy="648000"/>
          </a:xfrm>
          <a:prstGeom prst="roundRect">
            <a:avLst/>
          </a:prstGeom>
          <a:solidFill>
            <a:srgbClr val="DB0613"/>
          </a:solidFill>
          <a:ln w="9525" algn="ctr">
            <a:noFill/>
            <a:miter lim="800000"/>
            <a:headEnd/>
            <a:tailEnd/>
          </a:ln>
          <a:effectLst>
            <a:prstShdw prst="shdw17" dist="17961" dir="2700000">
              <a:srgbClr val="DDDDDD">
                <a:gamma/>
                <a:shade val="60000"/>
                <a:invGamma/>
              </a:srgbClr>
            </a:prstShdw>
          </a:effectLst>
        </p:spPr>
        <p:txBody>
          <a:bodyPr wrap="none" anchor="ctr"/>
          <a:lstStyle/>
          <a:p>
            <a:pPr algn="ctr"/>
            <a:r>
              <a:rPr lang="es-ES" sz="1400" b="1" dirty="0">
                <a:solidFill>
                  <a:schemeClr val="bg1"/>
                </a:solidFill>
              </a:rPr>
              <a:t>Ejecución de</a:t>
            </a:r>
          </a:p>
          <a:p>
            <a:pPr algn="ctr"/>
            <a:r>
              <a:rPr lang="es-ES" sz="1400" b="1" dirty="0">
                <a:solidFill>
                  <a:schemeClr val="bg1"/>
                </a:solidFill>
              </a:rPr>
              <a:t>Propuesta</a:t>
            </a:r>
          </a:p>
          <a:p>
            <a:pPr algn="ctr"/>
            <a:r>
              <a:rPr lang="es-ES" sz="1400" b="1" dirty="0">
                <a:solidFill>
                  <a:schemeClr val="bg1"/>
                </a:solidFill>
              </a:rPr>
              <a:t>de Inversión</a:t>
            </a:r>
          </a:p>
        </p:txBody>
      </p:sp>
      <p:sp>
        <p:nvSpPr>
          <p:cNvPr id="23" name="Rounded Rectangle 21"/>
          <p:cNvSpPr/>
          <p:nvPr/>
        </p:nvSpPr>
        <p:spPr>
          <a:xfrm>
            <a:off x="1843040" y="3861047"/>
            <a:ext cx="1548000" cy="648000"/>
          </a:xfrm>
          <a:prstGeom prst="roundRect">
            <a:avLst/>
          </a:prstGeom>
          <a:solidFill>
            <a:srgbClr val="DB0613"/>
          </a:solidFill>
          <a:ln w="9525" algn="ctr">
            <a:noFill/>
            <a:miter lim="800000"/>
            <a:headEnd/>
            <a:tailEnd/>
          </a:ln>
          <a:effectLst>
            <a:prstShdw prst="shdw17" dist="17961" dir="2700000">
              <a:srgbClr val="DDDDDD">
                <a:gamma/>
                <a:shade val="60000"/>
                <a:invGamma/>
              </a:srgbClr>
            </a:prstShdw>
          </a:effectLst>
        </p:spPr>
        <p:txBody>
          <a:bodyPr wrap="none" anchor="ctr"/>
          <a:lstStyle/>
          <a:p>
            <a:pPr algn="ctr"/>
            <a:r>
              <a:rPr lang="es-ES" sz="1400" b="1" dirty="0">
                <a:solidFill>
                  <a:schemeClr val="bg1"/>
                </a:solidFill>
              </a:rPr>
              <a:t>Ingreso y Registro</a:t>
            </a:r>
          </a:p>
          <a:p>
            <a:pPr algn="ctr"/>
            <a:r>
              <a:rPr lang="es-ES" sz="1400" b="1" dirty="0">
                <a:solidFill>
                  <a:schemeClr val="bg1"/>
                </a:solidFill>
              </a:rPr>
              <a:t>de Operaciones </a:t>
            </a:r>
          </a:p>
          <a:p>
            <a:pPr algn="ctr"/>
            <a:r>
              <a:rPr lang="es-ES" sz="1400" b="1" dirty="0">
                <a:solidFill>
                  <a:schemeClr val="bg1"/>
                </a:solidFill>
              </a:rPr>
              <a:t>de Inversión</a:t>
            </a:r>
          </a:p>
        </p:txBody>
      </p:sp>
      <p:sp>
        <p:nvSpPr>
          <p:cNvPr id="24" name="Rounded Rectangle 21"/>
          <p:cNvSpPr/>
          <p:nvPr/>
        </p:nvSpPr>
        <p:spPr>
          <a:xfrm>
            <a:off x="1843040" y="4725143"/>
            <a:ext cx="1548000" cy="648000"/>
          </a:xfrm>
          <a:prstGeom prst="roundRect">
            <a:avLst/>
          </a:prstGeom>
          <a:solidFill>
            <a:srgbClr val="DB0613"/>
          </a:solidFill>
          <a:ln w="9525" algn="ctr">
            <a:noFill/>
            <a:miter lim="800000"/>
            <a:headEnd/>
            <a:tailEnd/>
          </a:ln>
          <a:effectLst>
            <a:prstShdw prst="shdw17" dist="17961" dir="2700000">
              <a:srgbClr val="DDDDDD">
                <a:gamma/>
                <a:shade val="60000"/>
                <a:invGamma/>
              </a:srgbClr>
            </a:prstShdw>
          </a:effectLst>
        </p:spPr>
        <p:txBody>
          <a:bodyPr wrap="none" anchor="ctr"/>
          <a:lstStyle/>
          <a:p>
            <a:pPr algn="ctr"/>
            <a:r>
              <a:rPr lang="es-ES" sz="1400" b="1" dirty="0">
                <a:solidFill>
                  <a:schemeClr val="bg1"/>
                </a:solidFill>
              </a:rPr>
              <a:t>Operaciones de</a:t>
            </a:r>
          </a:p>
          <a:p>
            <a:pPr algn="ctr"/>
            <a:r>
              <a:rPr lang="es-ES" sz="1400" b="1" dirty="0">
                <a:solidFill>
                  <a:schemeClr val="bg1"/>
                </a:solidFill>
              </a:rPr>
              <a:t>Money </a:t>
            </a:r>
            <a:r>
              <a:rPr lang="es-ES" sz="1400" b="1" dirty="0" err="1">
                <a:solidFill>
                  <a:schemeClr val="bg1"/>
                </a:solidFill>
              </a:rPr>
              <a:t>Market</a:t>
            </a:r>
            <a:endParaRPr lang="es-ES" sz="1400" b="1" dirty="0">
              <a:solidFill>
                <a:schemeClr val="bg1"/>
              </a:solidFill>
            </a:endParaRPr>
          </a:p>
        </p:txBody>
      </p:sp>
      <p:grpSp>
        <p:nvGrpSpPr>
          <p:cNvPr id="25" name="58 Grupo"/>
          <p:cNvGrpSpPr/>
          <p:nvPr/>
        </p:nvGrpSpPr>
        <p:grpSpPr>
          <a:xfrm>
            <a:off x="3347865" y="2977409"/>
            <a:ext cx="1440000" cy="648000"/>
            <a:chOff x="3491881" y="1281851"/>
            <a:chExt cx="1620000" cy="648000"/>
          </a:xfrm>
        </p:grpSpPr>
        <p:sp>
          <p:nvSpPr>
            <p:cNvPr id="26" name="AutoShape 10"/>
            <p:cNvSpPr>
              <a:spLocks noChangeArrowheads="1"/>
            </p:cNvSpPr>
            <p:nvPr/>
          </p:nvSpPr>
          <p:spPr bwMode="auto">
            <a:xfrm rot="10800000">
              <a:off x="3491881" y="1281851"/>
              <a:ext cx="1620000" cy="648000"/>
            </a:xfrm>
            <a:prstGeom prst="homePlate">
              <a:avLst>
                <a:gd name="adj" fmla="val 28726"/>
              </a:avLst>
            </a:prstGeom>
            <a:solidFill>
              <a:schemeClr val="bg1"/>
            </a:solidFill>
            <a:ln w="9525" algn="ctr">
              <a:noFill/>
              <a:miter lim="800000"/>
              <a:headEnd/>
              <a:tailEnd/>
            </a:ln>
            <a:effectLst>
              <a:prstShdw prst="shdw17" dist="17961" dir="2700000">
                <a:srgbClr val="DDDDDD">
                  <a:gamma/>
                  <a:shade val="60000"/>
                  <a:invGamma/>
                </a:srgbClr>
              </a:prstShdw>
            </a:effectLst>
          </p:spPr>
          <p:txBody>
            <a:bodyPr wrap="none" anchor="ctr"/>
            <a:lstStyle/>
            <a:p>
              <a:pPr algn="ctr"/>
              <a:endParaRPr lang="en-US" sz="1300" b="1" dirty="0">
                <a:solidFill>
                  <a:schemeClr val="bg1"/>
                </a:solidFill>
              </a:endParaRPr>
            </a:p>
          </p:txBody>
        </p:sp>
        <p:sp>
          <p:nvSpPr>
            <p:cNvPr id="27" name="Rectangle 7"/>
            <p:cNvSpPr>
              <a:spLocks noChangeArrowheads="1"/>
            </p:cNvSpPr>
            <p:nvPr/>
          </p:nvSpPr>
          <p:spPr bwMode="auto">
            <a:xfrm>
              <a:off x="3838625" y="1281851"/>
              <a:ext cx="1224000" cy="648000"/>
            </a:xfrm>
            <a:prstGeom prst="rect">
              <a:avLst/>
            </a:prstGeom>
            <a:noFill/>
            <a:ln w="9525" algn="ctr">
              <a:noFill/>
              <a:miter lim="800000"/>
              <a:headEnd/>
              <a:tailEnd/>
            </a:ln>
            <a:effectLst>
              <a:prstShdw prst="shdw17" dist="17961" dir="2700000">
                <a:srgbClr val="DDDDDD">
                  <a:gamma/>
                  <a:shade val="60000"/>
                  <a:invGamma/>
                </a:srgbClr>
              </a:prstShdw>
            </a:effectLst>
          </p:spPr>
          <p:txBody>
            <a:bodyPr wrap="none" anchor="ctr"/>
            <a:lstStyle/>
            <a:p>
              <a:r>
                <a:rPr lang="es-PE" sz="1400" b="1" dirty="0"/>
                <a:t>Riesgos : 9</a:t>
              </a:r>
            </a:p>
            <a:p>
              <a:r>
                <a:rPr lang="es-PE" sz="1400" b="1" dirty="0"/>
                <a:t>Controles: 8</a:t>
              </a:r>
              <a:endParaRPr lang="es-ES" sz="1400" b="1" dirty="0"/>
            </a:p>
          </p:txBody>
        </p:sp>
        <p:sp>
          <p:nvSpPr>
            <p:cNvPr id="28" name="AutoShape 92"/>
            <p:cNvSpPr>
              <a:spLocks noChangeArrowheads="1"/>
            </p:cNvSpPr>
            <p:nvPr/>
          </p:nvSpPr>
          <p:spPr bwMode="auto">
            <a:xfrm>
              <a:off x="3712253" y="1628800"/>
              <a:ext cx="180000" cy="180000"/>
            </a:xfrm>
            <a:prstGeom prst="diamond">
              <a:avLst/>
            </a:prstGeom>
            <a:solidFill>
              <a:srgbClr val="009644"/>
            </a:solidFill>
            <a:ln w="9525" algn="ctr">
              <a:noFill/>
              <a:miter lim="800000"/>
              <a:headEnd/>
              <a:tailEnd/>
            </a:ln>
            <a:effectLst/>
          </p:spPr>
          <p:txBody>
            <a:bodyPr wrap="none" anchor="ctr"/>
            <a:lstStyle/>
            <a:p>
              <a:pPr algn="ctr"/>
              <a:endParaRPr lang="en-US" sz="1000" b="1" dirty="0">
                <a:solidFill>
                  <a:schemeClr val="bg1"/>
                </a:solidFill>
              </a:endParaRPr>
            </a:p>
          </p:txBody>
        </p:sp>
        <p:sp>
          <p:nvSpPr>
            <p:cNvPr id="29" name="Rounded Rectangle 139"/>
            <p:cNvSpPr/>
            <p:nvPr/>
          </p:nvSpPr>
          <p:spPr>
            <a:xfrm>
              <a:off x="3712253" y="1381102"/>
              <a:ext cx="180000" cy="180000"/>
            </a:xfrm>
            <a:prstGeom prst="roundRect">
              <a:avLst/>
            </a:prstGeom>
            <a:solidFill>
              <a:srgbClr val="F26D00"/>
            </a:solidFill>
            <a:ln w="9525" algn="ctr">
              <a:noFill/>
              <a:round/>
              <a:headEnd/>
              <a:tailEnd/>
            </a:ln>
            <a:effectLst/>
          </p:spPr>
          <p:txBody>
            <a:bodyPr wrap="none" anchor="ctr"/>
            <a:lstStyle/>
            <a:p>
              <a:pPr algn="ctr"/>
              <a:endParaRPr lang="es-ES" sz="1000" b="1" dirty="0">
                <a:solidFill>
                  <a:schemeClr val="bg1"/>
                </a:solidFill>
              </a:endParaRPr>
            </a:p>
          </p:txBody>
        </p:sp>
      </p:grpSp>
      <p:sp>
        <p:nvSpPr>
          <p:cNvPr id="31" name="AutoShape 10"/>
          <p:cNvSpPr>
            <a:spLocks noChangeArrowheads="1"/>
          </p:cNvSpPr>
          <p:nvPr/>
        </p:nvSpPr>
        <p:spPr bwMode="auto">
          <a:xfrm rot="10800000">
            <a:off x="4716016" y="2977410"/>
            <a:ext cx="1260000" cy="647999"/>
          </a:xfrm>
          <a:prstGeom prst="homePlate">
            <a:avLst>
              <a:gd name="adj" fmla="val 28726"/>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dirty="0">
              <a:solidFill>
                <a:schemeClr val="lt1"/>
              </a:solidFill>
            </a:endParaRPr>
          </a:p>
        </p:txBody>
      </p:sp>
      <p:sp>
        <p:nvSpPr>
          <p:cNvPr id="33" name="Rectangle 7"/>
          <p:cNvSpPr>
            <a:spLocks noChangeArrowheads="1"/>
          </p:cNvSpPr>
          <p:nvPr/>
        </p:nvSpPr>
        <p:spPr bwMode="auto">
          <a:xfrm>
            <a:off x="4986931" y="1340766"/>
            <a:ext cx="2016000" cy="456000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marL="228600" indent="-228600" algn="just">
              <a:buFont typeface="+mj-lt"/>
              <a:buAutoNum type="arabicParenR" startAt="5"/>
            </a:pPr>
            <a:r>
              <a:rPr lang="es-ES" sz="1100" dirty="0">
                <a:solidFill>
                  <a:schemeClr val="tx1"/>
                </a:solidFill>
              </a:rPr>
              <a:t>Riesgo de que exista contradicciones con la contraparte al confirmar la operación que pueda llevar a quebranto a la compañía.</a:t>
            </a:r>
          </a:p>
          <a:p>
            <a:pPr marL="228600" indent="-228600" algn="just">
              <a:buFont typeface="+mj-lt"/>
              <a:buAutoNum type="arabicParenR" startAt="5"/>
            </a:pPr>
            <a:r>
              <a:rPr lang="es-ES" sz="1100" dirty="0">
                <a:solidFill>
                  <a:schemeClr val="tx1"/>
                </a:solidFill>
              </a:rPr>
              <a:t>Error en el registro de las operaciones en el sistema PMS, así como la confección de boletas de las operaciones realizadas.</a:t>
            </a:r>
          </a:p>
          <a:p>
            <a:pPr marL="228600" indent="-228600" algn="just">
              <a:buFont typeface="+mj-lt"/>
              <a:buAutoNum type="arabicParenR" startAt="5"/>
            </a:pPr>
            <a:r>
              <a:rPr lang="es-ES" sz="1100" dirty="0">
                <a:solidFill>
                  <a:schemeClr val="tx1"/>
                </a:solidFill>
              </a:rPr>
              <a:t>Falla en la elaboración de cartas para traspaso de fondos e ingreso de datos en PMS.</a:t>
            </a:r>
          </a:p>
          <a:p>
            <a:pPr marL="228600" indent="-228600" algn="just">
              <a:buFont typeface="+mj-lt"/>
              <a:buAutoNum type="arabicParenR" startAt="5"/>
            </a:pPr>
            <a:r>
              <a:rPr lang="es-ES" sz="1100" dirty="0">
                <a:solidFill>
                  <a:schemeClr val="tx1"/>
                </a:solidFill>
              </a:rPr>
              <a:t>Falla (error humano) en la elaboración de las cartas de operaciones locales.</a:t>
            </a:r>
          </a:p>
          <a:p>
            <a:pPr marL="228600" indent="-228600" algn="just">
              <a:buFont typeface="+mj-lt"/>
              <a:buAutoNum type="arabicParenR" startAt="5"/>
            </a:pPr>
            <a:r>
              <a:rPr lang="es-PE" sz="1100" dirty="0">
                <a:solidFill>
                  <a:schemeClr val="tx1"/>
                </a:solidFill>
              </a:rPr>
              <a:t>Incumplimiento de los límites de inversión que marca el regulador</a:t>
            </a:r>
            <a:endParaRPr lang="es-ES" sz="1100" dirty="0">
              <a:solidFill>
                <a:schemeClr val="tx1"/>
              </a:solidFill>
            </a:endParaRPr>
          </a:p>
          <a:p>
            <a:pPr marL="228600" indent="-228600" algn="just"/>
            <a:endParaRPr lang="es-ES" sz="1100" dirty="0">
              <a:solidFill>
                <a:schemeClr val="tx1"/>
              </a:solidFill>
            </a:endParaRPr>
          </a:p>
        </p:txBody>
      </p:sp>
      <p:sp>
        <p:nvSpPr>
          <p:cNvPr id="34" name="Rectangle 7"/>
          <p:cNvSpPr>
            <a:spLocks noChangeArrowheads="1"/>
          </p:cNvSpPr>
          <p:nvPr/>
        </p:nvSpPr>
        <p:spPr bwMode="auto">
          <a:xfrm>
            <a:off x="4986931" y="1030207"/>
            <a:ext cx="2016000" cy="252000"/>
          </a:xfrm>
          <a:prstGeom prst="rect">
            <a:avLst/>
          </a:prstGeom>
          <a:solidFill>
            <a:schemeClr val="tx1">
              <a:lumMod val="50000"/>
              <a:lumOff val="50000"/>
            </a:schemeClr>
          </a:solidFill>
          <a:ln w="9525" algn="ctr">
            <a:noFill/>
            <a:miter lim="800000"/>
            <a:headEnd/>
            <a:tailEnd/>
          </a:ln>
          <a:effectLst>
            <a:prstShdw prst="shdw17" dist="17961" dir="2700000">
              <a:srgbClr val="DDDDDD">
                <a:gamma/>
                <a:shade val="60000"/>
                <a:invGamma/>
              </a:srgbClr>
            </a:prstShdw>
          </a:effectLst>
        </p:spPr>
        <p:txBody>
          <a:bodyPr wrap="none" anchor="ctr"/>
          <a:lstStyle/>
          <a:p>
            <a:pPr algn="ctr"/>
            <a:r>
              <a:rPr lang="es-ES" sz="1300" b="1" dirty="0">
                <a:solidFill>
                  <a:schemeClr val="bg1"/>
                </a:solidFill>
              </a:rPr>
              <a:t>Riesgos</a:t>
            </a:r>
          </a:p>
        </p:txBody>
      </p:sp>
      <p:sp>
        <p:nvSpPr>
          <p:cNvPr id="37" name="Rectangle 7"/>
          <p:cNvSpPr>
            <a:spLocks noChangeArrowheads="1"/>
          </p:cNvSpPr>
          <p:nvPr/>
        </p:nvSpPr>
        <p:spPr bwMode="auto">
          <a:xfrm>
            <a:off x="7114697" y="1030207"/>
            <a:ext cx="900000" cy="252000"/>
          </a:xfrm>
          <a:prstGeom prst="rect">
            <a:avLst/>
          </a:prstGeom>
          <a:solidFill>
            <a:schemeClr val="tx1">
              <a:lumMod val="50000"/>
              <a:lumOff val="50000"/>
            </a:schemeClr>
          </a:solidFill>
          <a:ln w="9525" algn="ctr">
            <a:noFill/>
            <a:miter lim="800000"/>
            <a:headEnd/>
            <a:tailEnd/>
          </a:ln>
          <a:effectLst>
            <a:prstShdw prst="shdw17" dist="17961" dir="2700000">
              <a:srgbClr val="DDDDDD">
                <a:gamma/>
                <a:shade val="60000"/>
                <a:invGamma/>
              </a:srgbClr>
            </a:prstShdw>
          </a:effectLst>
        </p:spPr>
        <p:txBody>
          <a:bodyPr wrap="none" anchor="ctr"/>
          <a:lstStyle/>
          <a:p>
            <a:pPr algn="ctr"/>
            <a:r>
              <a:rPr lang="es-PE" sz="1300" b="1" dirty="0">
                <a:solidFill>
                  <a:schemeClr val="bg1"/>
                </a:solidFill>
              </a:rPr>
              <a:t>PEA</a:t>
            </a:r>
            <a:endParaRPr lang="es-ES" sz="1300" b="1" dirty="0">
              <a:solidFill>
                <a:schemeClr val="bg1"/>
              </a:solidFill>
            </a:endParaRPr>
          </a:p>
        </p:txBody>
      </p:sp>
      <p:sp>
        <p:nvSpPr>
          <p:cNvPr id="38" name="Rectangle 7"/>
          <p:cNvSpPr>
            <a:spLocks noChangeArrowheads="1"/>
          </p:cNvSpPr>
          <p:nvPr/>
        </p:nvSpPr>
        <p:spPr bwMode="auto">
          <a:xfrm>
            <a:off x="7114697" y="1340766"/>
            <a:ext cx="900000" cy="456000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marL="228600" indent="-228600" algn="just"/>
            <a:endParaRPr lang="es-ES" sz="1100" dirty="0">
              <a:solidFill>
                <a:schemeClr val="tx1"/>
              </a:solidFill>
            </a:endParaRPr>
          </a:p>
        </p:txBody>
      </p:sp>
      <p:sp>
        <p:nvSpPr>
          <p:cNvPr id="39" name="Rectangle 7"/>
          <p:cNvSpPr>
            <a:spLocks noChangeArrowheads="1"/>
          </p:cNvSpPr>
          <p:nvPr/>
        </p:nvSpPr>
        <p:spPr bwMode="auto">
          <a:xfrm>
            <a:off x="8064488" y="1030207"/>
            <a:ext cx="900000" cy="252000"/>
          </a:xfrm>
          <a:prstGeom prst="rect">
            <a:avLst/>
          </a:prstGeom>
          <a:solidFill>
            <a:schemeClr val="tx1">
              <a:lumMod val="50000"/>
              <a:lumOff val="50000"/>
            </a:schemeClr>
          </a:solidFill>
          <a:ln w="9525" algn="ctr">
            <a:noFill/>
            <a:miter lim="800000"/>
            <a:headEnd/>
            <a:tailEnd/>
          </a:ln>
          <a:effectLst>
            <a:prstShdw prst="shdw17" dist="17961" dir="2700000">
              <a:srgbClr val="DDDDDD">
                <a:gamma/>
                <a:shade val="60000"/>
                <a:invGamma/>
              </a:srgbClr>
            </a:prstShdw>
          </a:effectLst>
        </p:spPr>
        <p:txBody>
          <a:bodyPr wrap="none" anchor="ctr"/>
          <a:lstStyle/>
          <a:p>
            <a:pPr algn="ctr"/>
            <a:r>
              <a:rPr lang="es-PE" sz="1300" b="1" dirty="0" err="1">
                <a:solidFill>
                  <a:schemeClr val="bg1"/>
                </a:solidFill>
              </a:rPr>
              <a:t>VaR</a:t>
            </a:r>
            <a:endParaRPr lang="es-ES" sz="1300" b="1" dirty="0">
              <a:solidFill>
                <a:schemeClr val="bg1"/>
              </a:solidFill>
            </a:endParaRPr>
          </a:p>
        </p:txBody>
      </p:sp>
      <p:sp>
        <p:nvSpPr>
          <p:cNvPr id="40" name="Rectangle 7"/>
          <p:cNvSpPr>
            <a:spLocks noChangeArrowheads="1"/>
          </p:cNvSpPr>
          <p:nvPr/>
        </p:nvSpPr>
        <p:spPr bwMode="auto">
          <a:xfrm>
            <a:off x="8064488" y="1340766"/>
            <a:ext cx="900000" cy="456000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marL="228600" indent="-228600" algn="just"/>
            <a:endParaRPr lang="es-ES" sz="1100" dirty="0">
              <a:solidFill>
                <a:schemeClr val="tx1"/>
              </a:solidFill>
            </a:endParaRPr>
          </a:p>
        </p:txBody>
      </p:sp>
      <p:sp>
        <p:nvSpPr>
          <p:cNvPr id="30" name="Rounded Rectangle 93"/>
          <p:cNvSpPr/>
          <p:nvPr/>
        </p:nvSpPr>
        <p:spPr>
          <a:xfrm>
            <a:off x="7164288" y="1412776"/>
            <a:ext cx="792000" cy="548640"/>
          </a:xfrm>
          <a:prstGeom prst="roundRect">
            <a:avLst/>
          </a:prstGeom>
          <a:noFill/>
          <a:ln w="127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400" b="1" dirty="0">
                <a:solidFill>
                  <a:schemeClr val="tx1"/>
                </a:solidFill>
                <a:latin typeface="+mj-lt"/>
              </a:rPr>
              <a:t>0</a:t>
            </a:r>
            <a:endParaRPr lang="es-CL" sz="1400" b="1" dirty="0">
              <a:solidFill>
                <a:schemeClr val="tx1"/>
              </a:solidFill>
              <a:latin typeface="+mj-lt"/>
            </a:endParaRPr>
          </a:p>
        </p:txBody>
      </p:sp>
      <p:sp>
        <p:nvSpPr>
          <p:cNvPr id="32" name="Rounded Rectangle 93"/>
          <p:cNvSpPr/>
          <p:nvPr/>
        </p:nvSpPr>
        <p:spPr>
          <a:xfrm>
            <a:off x="8100480" y="1412776"/>
            <a:ext cx="792000" cy="548640"/>
          </a:xfrm>
          <a:prstGeom prst="roundRect">
            <a:avLst/>
          </a:prstGeom>
          <a:noFill/>
          <a:ln w="127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400" b="1" dirty="0">
                <a:solidFill>
                  <a:schemeClr val="tx1"/>
                </a:solidFill>
                <a:latin typeface="+mj-lt"/>
              </a:rPr>
              <a:t>0</a:t>
            </a:r>
            <a:endParaRPr lang="es-CL" sz="1400" b="1" dirty="0">
              <a:solidFill>
                <a:schemeClr val="tx1"/>
              </a:solidFill>
              <a:latin typeface="+mj-lt"/>
            </a:endParaRPr>
          </a:p>
        </p:txBody>
      </p:sp>
      <p:sp>
        <p:nvSpPr>
          <p:cNvPr id="35" name="Rounded Rectangle 93"/>
          <p:cNvSpPr/>
          <p:nvPr/>
        </p:nvSpPr>
        <p:spPr>
          <a:xfrm>
            <a:off x="7164288" y="2204864"/>
            <a:ext cx="792000" cy="548640"/>
          </a:xfrm>
          <a:prstGeom prst="roundRect">
            <a:avLst/>
          </a:prstGeom>
          <a:noFill/>
          <a:ln w="127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400" b="1" dirty="0">
                <a:solidFill>
                  <a:schemeClr val="tx1"/>
                </a:solidFill>
                <a:latin typeface="+mj-lt"/>
              </a:rPr>
              <a:t>0</a:t>
            </a:r>
            <a:endParaRPr lang="es-CL" sz="1400" b="1" dirty="0">
              <a:solidFill>
                <a:schemeClr val="tx1"/>
              </a:solidFill>
              <a:latin typeface="+mj-lt"/>
            </a:endParaRPr>
          </a:p>
        </p:txBody>
      </p:sp>
      <p:sp>
        <p:nvSpPr>
          <p:cNvPr id="41" name="Rounded Rectangle 93"/>
          <p:cNvSpPr/>
          <p:nvPr/>
        </p:nvSpPr>
        <p:spPr>
          <a:xfrm>
            <a:off x="8100480" y="2204864"/>
            <a:ext cx="792000" cy="548640"/>
          </a:xfrm>
          <a:prstGeom prst="roundRect">
            <a:avLst/>
          </a:prstGeom>
          <a:noFill/>
          <a:ln w="127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400" b="1" dirty="0">
                <a:solidFill>
                  <a:schemeClr val="tx1"/>
                </a:solidFill>
                <a:latin typeface="+mj-lt"/>
              </a:rPr>
              <a:t>0</a:t>
            </a:r>
            <a:endParaRPr lang="es-CL" sz="1400" b="1" dirty="0">
              <a:solidFill>
                <a:schemeClr val="tx1"/>
              </a:solidFill>
              <a:latin typeface="+mj-lt"/>
            </a:endParaRPr>
          </a:p>
        </p:txBody>
      </p:sp>
      <p:sp>
        <p:nvSpPr>
          <p:cNvPr id="42" name="Rounded Rectangle 93"/>
          <p:cNvSpPr/>
          <p:nvPr/>
        </p:nvSpPr>
        <p:spPr>
          <a:xfrm>
            <a:off x="7164288" y="3024376"/>
            <a:ext cx="792000" cy="548640"/>
          </a:xfrm>
          <a:prstGeom prst="roundRect">
            <a:avLst/>
          </a:prstGeom>
          <a:noFill/>
          <a:ln w="127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400" b="1" dirty="0">
                <a:solidFill>
                  <a:schemeClr val="tx1"/>
                </a:solidFill>
                <a:latin typeface="+mj-lt"/>
              </a:rPr>
              <a:t>0</a:t>
            </a:r>
            <a:endParaRPr lang="es-CL" sz="1400" b="1" dirty="0">
              <a:solidFill>
                <a:schemeClr val="tx1"/>
              </a:solidFill>
              <a:latin typeface="+mj-lt"/>
            </a:endParaRPr>
          </a:p>
        </p:txBody>
      </p:sp>
      <p:sp>
        <p:nvSpPr>
          <p:cNvPr id="43" name="Rounded Rectangle 93"/>
          <p:cNvSpPr/>
          <p:nvPr/>
        </p:nvSpPr>
        <p:spPr>
          <a:xfrm>
            <a:off x="8100480" y="3024376"/>
            <a:ext cx="792000" cy="548640"/>
          </a:xfrm>
          <a:prstGeom prst="roundRect">
            <a:avLst/>
          </a:prstGeom>
          <a:noFill/>
          <a:ln w="127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400" b="1" dirty="0">
                <a:solidFill>
                  <a:schemeClr val="tx1"/>
                </a:solidFill>
                <a:latin typeface="+mj-lt"/>
              </a:rPr>
              <a:t>0</a:t>
            </a:r>
            <a:endParaRPr lang="es-CL" sz="1400" b="1" dirty="0">
              <a:solidFill>
                <a:schemeClr val="tx1"/>
              </a:solidFill>
              <a:latin typeface="+mj-lt"/>
            </a:endParaRPr>
          </a:p>
        </p:txBody>
      </p:sp>
      <p:sp>
        <p:nvSpPr>
          <p:cNvPr id="44" name="Rounded Rectangle 93"/>
          <p:cNvSpPr/>
          <p:nvPr/>
        </p:nvSpPr>
        <p:spPr>
          <a:xfrm>
            <a:off x="7164288" y="3672448"/>
            <a:ext cx="792000" cy="548640"/>
          </a:xfrm>
          <a:prstGeom prst="roundRect">
            <a:avLst/>
          </a:prstGeom>
          <a:noFill/>
          <a:ln w="127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400" b="1" dirty="0">
                <a:solidFill>
                  <a:schemeClr val="tx1"/>
                </a:solidFill>
                <a:latin typeface="+mj-lt"/>
              </a:rPr>
              <a:t>0</a:t>
            </a:r>
            <a:endParaRPr lang="es-CL" sz="1400" b="1" dirty="0">
              <a:solidFill>
                <a:schemeClr val="tx1"/>
              </a:solidFill>
              <a:latin typeface="+mj-lt"/>
            </a:endParaRPr>
          </a:p>
        </p:txBody>
      </p:sp>
      <p:sp>
        <p:nvSpPr>
          <p:cNvPr id="45" name="Rounded Rectangle 93"/>
          <p:cNvSpPr/>
          <p:nvPr/>
        </p:nvSpPr>
        <p:spPr>
          <a:xfrm>
            <a:off x="8100480" y="3672448"/>
            <a:ext cx="792000" cy="548640"/>
          </a:xfrm>
          <a:prstGeom prst="roundRect">
            <a:avLst/>
          </a:prstGeom>
          <a:noFill/>
          <a:ln w="127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400" b="1" dirty="0">
                <a:solidFill>
                  <a:schemeClr val="tx1"/>
                </a:solidFill>
                <a:latin typeface="+mj-lt"/>
              </a:rPr>
              <a:t>0</a:t>
            </a:r>
            <a:endParaRPr lang="es-CL" sz="1400" b="1" dirty="0">
              <a:solidFill>
                <a:schemeClr val="tx1"/>
              </a:solidFill>
              <a:latin typeface="+mj-lt"/>
            </a:endParaRPr>
          </a:p>
        </p:txBody>
      </p:sp>
      <p:sp>
        <p:nvSpPr>
          <p:cNvPr id="46" name="Text Box 44"/>
          <p:cNvSpPr txBox="1">
            <a:spLocks noChangeArrowheads="1"/>
          </p:cNvSpPr>
          <p:nvPr/>
        </p:nvSpPr>
        <p:spPr bwMode="auto">
          <a:xfrm>
            <a:off x="7610039" y="764704"/>
            <a:ext cx="1354449" cy="230832"/>
          </a:xfrm>
          <a:prstGeom prst="rect">
            <a:avLst/>
          </a:prstGeom>
          <a:noFill/>
          <a:ln w="9525" algn="ctr">
            <a:noFill/>
            <a:miter lim="800000"/>
            <a:headEnd/>
            <a:tailEnd/>
          </a:ln>
          <a:effectLst/>
        </p:spPr>
        <p:txBody>
          <a:bodyPr wrap="square">
            <a:spAutoFit/>
          </a:bodyPr>
          <a:lstStyle/>
          <a:p>
            <a:r>
              <a:rPr lang="es-ES" sz="900" b="1" i="1" dirty="0">
                <a:solidFill>
                  <a:srgbClr val="525252"/>
                </a:solidFill>
              </a:rPr>
              <a:t>Miles de Nuevos Soles</a:t>
            </a:r>
            <a:endParaRPr lang="en-US" sz="900" b="1" i="1" dirty="0">
              <a:solidFill>
                <a:srgbClr val="525252"/>
              </a:solidFill>
            </a:endParaRPr>
          </a:p>
        </p:txBody>
      </p:sp>
      <p:sp>
        <p:nvSpPr>
          <p:cNvPr id="47" name="Rounded Rectangle 93"/>
          <p:cNvSpPr/>
          <p:nvPr/>
        </p:nvSpPr>
        <p:spPr>
          <a:xfrm>
            <a:off x="7164288" y="4320520"/>
            <a:ext cx="792000" cy="548640"/>
          </a:xfrm>
          <a:prstGeom prst="roundRect">
            <a:avLst/>
          </a:prstGeom>
          <a:noFill/>
          <a:ln w="127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400" b="1" dirty="0">
                <a:solidFill>
                  <a:schemeClr val="tx1"/>
                </a:solidFill>
                <a:latin typeface="+mj-lt"/>
              </a:rPr>
              <a:t>0</a:t>
            </a:r>
            <a:endParaRPr lang="es-CL" sz="1400" b="1" dirty="0">
              <a:solidFill>
                <a:schemeClr val="tx1"/>
              </a:solidFill>
              <a:latin typeface="+mj-lt"/>
            </a:endParaRPr>
          </a:p>
        </p:txBody>
      </p:sp>
      <p:sp>
        <p:nvSpPr>
          <p:cNvPr id="48" name="Rounded Rectangle 93"/>
          <p:cNvSpPr/>
          <p:nvPr/>
        </p:nvSpPr>
        <p:spPr>
          <a:xfrm>
            <a:off x="8100480" y="4320520"/>
            <a:ext cx="792000" cy="548640"/>
          </a:xfrm>
          <a:prstGeom prst="roundRect">
            <a:avLst/>
          </a:prstGeom>
          <a:noFill/>
          <a:ln w="127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400" b="1" dirty="0">
                <a:solidFill>
                  <a:schemeClr val="tx1"/>
                </a:solidFill>
                <a:latin typeface="+mj-lt"/>
              </a:rPr>
              <a:t>0</a:t>
            </a:r>
            <a:endParaRPr lang="es-CL" sz="1400" b="1" dirty="0">
              <a:solidFill>
                <a:schemeClr val="tx1"/>
              </a:solidFill>
              <a:latin typeface="+mj-lt"/>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 name="Rectangle 7"/>
          <p:cNvSpPr>
            <a:spLocks noChangeArrowheads="1"/>
          </p:cNvSpPr>
          <p:nvPr/>
        </p:nvSpPr>
        <p:spPr bwMode="auto">
          <a:xfrm>
            <a:off x="4918801" y="980727"/>
            <a:ext cx="4104000" cy="5040561"/>
          </a:xfrm>
          <a:prstGeom prst="rect">
            <a:avLst/>
          </a:prstGeom>
          <a:solidFill>
            <a:schemeClr val="accent1">
              <a:lumMod val="20000"/>
              <a:lumOff val="80000"/>
            </a:schemeClr>
          </a:solidFill>
          <a:ln w="9525" algn="ctr">
            <a:noFill/>
            <a:miter lim="800000"/>
            <a:headEnd/>
            <a:tailEnd/>
          </a:ln>
          <a:effectLst>
            <a:prstShdw prst="shdw17" dist="17961" dir="2700000">
              <a:srgbClr val="DDDDDD">
                <a:gamma/>
                <a:shade val="60000"/>
                <a:invGamma/>
              </a:srgbClr>
            </a:prstShdw>
          </a:effectLst>
        </p:spPr>
        <p:txBody>
          <a:bodyPr wrap="none" anchor="ctr"/>
          <a:lstStyle/>
          <a:p>
            <a:pPr algn="ctr"/>
            <a:endParaRPr lang="es-ES" sz="1300" b="1" dirty="0">
              <a:solidFill>
                <a:srgbClr val="525252"/>
              </a:solidFill>
            </a:endParaRPr>
          </a:p>
        </p:txBody>
      </p:sp>
      <p:sp>
        <p:nvSpPr>
          <p:cNvPr id="16" name="Title 1"/>
          <p:cNvSpPr>
            <a:spLocks noGrp="1"/>
          </p:cNvSpPr>
          <p:nvPr>
            <p:ph type="title"/>
          </p:nvPr>
        </p:nvSpPr>
        <p:spPr>
          <a:xfrm>
            <a:off x="47625" y="32965"/>
            <a:ext cx="8217470" cy="587723"/>
          </a:xfrm>
        </p:spPr>
        <p:txBody>
          <a:bodyPr/>
          <a:lstStyle/>
          <a:p>
            <a:r>
              <a:rPr lang="es-ES" dirty="0"/>
              <a:t>Anexo: Árbol de Procesos</a:t>
            </a:r>
          </a:p>
        </p:txBody>
      </p:sp>
      <p:sp>
        <p:nvSpPr>
          <p:cNvPr id="18" name="AutoShape 10"/>
          <p:cNvSpPr>
            <a:spLocks noChangeArrowheads="1"/>
          </p:cNvSpPr>
          <p:nvPr/>
        </p:nvSpPr>
        <p:spPr bwMode="auto">
          <a:xfrm rot="10800000">
            <a:off x="1187624" y="1196767"/>
            <a:ext cx="2304256" cy="4320464"/>
          </a:xfrm>
          <a:prstGeom prst="homePlate">
            <a:avLst>
              <a:gd name="adj" fmla="val 28726"/>
            </a:avLst>
          </a:prstGeom>
          <a:solidFill>
            <a:schemeClr val="accent1">
              <a:lumMod val="20000"/>
              <a:lumOff val="80000"/>
            </a:schemeClr>
          </a:solidFill>
          <a:ln w="12700">
            <a:solidFill>
              <a:srgbClr val="A9A9A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dirty="0">
              <a:solidFill>
                <a:schemeClr val="lt1"/>
              </a:solidFill>
            </a:endParaRPr>
          </a:p>
        </p:txBody>
      </p:sp>
      <p:sp>
        <p:nvSpPr>
          <p:cNvPr id="19" name="Rounded Rectangle 21"/>
          <p:cNvSpPr/>
          <p:nvPr/>
        </p:nvSpPr>
        <p:spPr>
          <a:xfrm>
            <a:off x="107504" y="2977409"/>
            <a:ext cx="1512000" cy="648000"/>
          </a:xfrm>
          <a:prstGeom prst="roundRect">
            <a:avLst/>
          </a:prstGeom>
          <a:solidFill>
            <a:srgbClr val="DB0613"/>
          </a:solidFill>
          <a:ln w="9525" algn="ctr">
            <a:noFill/>
            <a:miter lim="800000"/>
            <a:headEnd/>
            <a:tailEnd/>
          </a:ln>
          <a:effectLst>
            <a:prstShdw prst="shdw17" dist="17961" dir="2700000">
              <a:srgbClr val="DDDDDD">
                <a:gamma/>
                <a:shade val="60000"/>
                <a:invGamma/>
              </a:srgbClr>
            </a:prstShdw>
          </a:effectLst>
        </p:spPr>
        <p:txBody>
          <a:bodyPr wrap="none" anchor="ctr"/>
          <a:lstStyle/>
          <a:p>
            <a:pPr algn="ctr"/>
            <a:r>
              <a:rPr lang="es-ES" sz="1600" b="1" dirty="0">
                <a:solidFill>
                  <a:schemeClr val="bg1"/>
                </a:solidFill>
              </a:rPr>
              <a:t>Administración</a:t>
            </a:r>
          </a:p>
          <a:p>
            <a:pPr algn="ctr"/>
            <a:r>
              <a:rPr lang="es-ES" sz="1600" b="1" dirty="0">
                <a:solidFill>
                  <a:schemeClr val="bg1"/>
                </a:solidFill>
              </a:rPr>
              <a:t>de Fondos</a:t>
            </a:r>
          </a:p>
        </p:txBody>
      </p:sp>
      <p:sp>
        <p:nvSpPr>
          <p:cNvPr id="20" name="Rounded Rectangle 21"/>
          <p:cNvSpPr/>
          <p:nvPr/>
        </p:nvSpPr>
        <p:spPr>
          <a:xfrm>
            <a:off x="1843040" y="1340767"/>
            <a:ext cx="1548000" cy="648000"/>
          </a:xfrm>
          <a:prstGeom prst="roundRect">
            <a:avLst/>
          </a:prstGeom>
          <a:solidFill>
            <a:srgbClr val="DB0613"/>
          </a:solidFill>
          <a:ln w="9525" algn="ctr">
            <a:noFill/>
            <a:miter lim="800000"/>
            <a:headEnd/>
            <a:tailEnd/>
          </a:ln>
          <a:effectLst>
            <a:prstShdw prst="shdw17" dist="17961" dir="2700000">
              <a:srgbClr val="DDDDDD">
                <a:gamma/>
                <a:shade val="60000"/>
                <a:invGamma/>
              </a:srgbClr>
            </a:prstShdw>
          </a:effectLst>
        </p:spPr>
        <p:txBody>
          <a:bodyPr wrap="none" anchor="ctr"/>
          <a:lstStyle/>
          <a:p>
            <a:pPr algn="ctr"/>
            <a:r>
              <a:rPr lang="es-ES" sz="1400" b="1" dirty="0">
                <a:solidFill>
                  <a:schemeClr val="bg1"/>
                </a:solidFill>
              </a:rPr>
              <a:t>Identificación de</a:t>
            </a:r>
          </a:p>
          <a:p>
            <a:pPr algn="ctr"/>
            <a:r>
              <a:rPr lang="es-ES" sz="1400" b="1" dirty="0">
                <a:solidFill>
                  <a:schemeClr val="bg1"/>
                </a:solidFill>
              </a:rPr>
              <a:t>Oportunidades</a:t>
            </a:r>
          </a:p>
          <a:p>
            <a:pPr algn="ctr"/>
            <a:r>
              <a:rPr lang="es-ES" sz="1400" b="1" dirty="0">
                <a:solidFill>
                  <a:schemeClr val="bg1"/>
                </a:solidFill>
              </a:rPr>
              <a:t>de Inversión</a:t>
            </a:r>
          </a:p>
        </p:txBody>
      </p:sp>
      <p:sp>
        <p:nvSpPr>
          <p:cNvPr id="21" name="Rounded Rectangle 21"/>
          <p:cNvSpPr/>
          <p:nvPr/>
        </p:nvSpPr>
        <p:spPr>
          <a:xfrm>
            <a:off x="1843040" y="2177009"/>
            <a:ext cx="1548000" cy="648000"/>
          </a:xfrm>
          <a:prstGeom prst="roundRect">
            <a:avLst/>
          </a:prstGeom>
          <a:solidFill>
            <a:srgbClr val="DB0613"/>
          </a:solidFill>
          <a:ln w="9525" algn="ctr">
            <a:noFill/>
            <a:miter lim="800000"/>
            <a:headEnd/>
            <a:tailEnd/>
          </a:ln>
          <a:effectLst>
            <a:prstShdw prst="shdw17" dist="17961" dir="2700000">
              <a:srgbClr val="DDDDDD">
                <a:gamma/>
                <a:shade val="60000"/>
                <a:invGamma/>
              </a:srgbClr>
            </a:prstShdw>
          </a:effectLst>
        </p:spPr>
        <p:txBody>
          <a:bodyPr wrap="none" anchor="ctr"/>
          <a:lstStyle/>
          <a:p>
            <a:pPr algn="ctr"/>
            <a:r>
              <a:rPr lang="es-ES" sz="1400" b="1" dirty="0">
                <a:solidFill>
                  <a:schemeClr val="bg1"/>
                </a:solidFill>
              </a:rPr>
              <a:t>Evaluación de</a:t>
            </a:r>
          </a:p>
          <a:p>
            <a:pPr algn="ctr"/>
            <a:r>
              <a:rPr lang="es-ES" sz="1400" b="1" dirty="0">
                <a:solidFill>
                  <a:schemeClr val="bg1"/>
                </a:solidFill>
              </a:rPr>
              <a:t>Oportunidades</a:t>
            </a:r>
          </a:p>
          <a:p>
            <a:pPr algn="ctr"/>
            <a:r>
              <a:rPr lang="es-ES" sz="1400" b="1" dirty="0">
                <a:solidFill>
                  <a:schemeClr val="bg1"/>
                </a:solidFill>
              </a:rPr>
              <a:t>de Inversión</a:t>
            </a:r>
          </a:p>
        </p:txBody>
      </p:sp>
      <p:sp>
        <p:nvSpPr>
          <p:cNvPr id="22" name="Rounded Rectangle 21"/>
          <p:cNvSpPr/>
          <p:nvPr/>
        </p:nvSpPr>
        <p:spPr>
          <a:xfrm>
            <a:off x="1843040" y="2977409"/>
            <a:ext cx="1548000" cy="648000"/>
          </a:xfrm>
          <a:prstGeom prst="roundRect">
            <a:avLst/>
          </a:prstGeom>
          <a:solidFill>
            <a:srgbClr val="DB0613"/>
          </a:solidFill>
          <a:ln w="9525" algn="ctr">
            <a:noFill/>
            <a:miter lim="800000"/>
            <a:headEnd/>
            <a:tailEnd/>
          </a:ln>
          <a:effectLst>
            <a:prstShdw prst="shdw17" dist="17961" dir="2700000">
              <a:srgbClr val="DDDDDD">
                <a:gamma/>
                <a:shade val="60000"/>
                <a:invGamma/>
              </a:srgbClr>
            </a:prstShdw>
          </a:effectLst>
        </p:spPr>
        <p:txBody>
          <a:bodyPr wrap="none" anchor="ctr"/>
          <a:lstStyle/>
          <a:p>
            <a:pPr algn="ctr"/>
            <a:r>
              <a:rPr lang="es-ES" sz="1400" b="1" dirty="0">
                <a:solidFill>
                  <a:schemeClr val="bg1"/>
                </a:solidFill>
              </a:rPr>
              <a:t>Ejecución de</a:t>
            </a:r>
          </a:p>
          <a:p>
            <a:pPr algn="ctr"/>
            <a:r>
              <a:rPr lang="es-ES" sz="1400" b="1" dirty="0">
                <a:solidFill>
                  <a:schemeClr val="bg1"/>
                </a:solidFill>
              </a:rPr>
              <a:t>Propuesta</a:t>
            </a:r>
          </a:p>
          <a:p>
            <a:pPr algn="ctr"/>
            <a:r>
              <a:rPr lang="es-ES" sz="1400" b="1" dirty="0">
                <a:solidFill>
                  <a:schemeClr val="bg1"/>
                </a:solidFill>
              </a:rPr>
              <a:t>de Inversión</a:t>
            </a:r>
          </a:p>
        </p:txBody>
      </p:sp>
      <p:sp>
        <p:nvSpPr>
          <p:cNvPr id="23" name="Rounded Rectangle 21"/>
          <p:cNvSpPr/>
          <p:nvPr/>
        </p:nvSpPr>
        <p:spPr>
          <a:xfrm>
            <a:off x="1843040" y="3861047"/>
            <a:ext cx="1548000" cy="648000"/>
          </a:xfrm>
          <a:prstGeom prst="roundRect">
            <a:avLst/>
          </a:prstGeom>
          <a:solidFill>
            <a:srgbClr val="DB0613"/>
          </a:solidFill>
          <a:ln w="9525" algn="ctr">
            <a:noFill/>
            <a:miter lim="800000"/>
            <a:headEnd/>
            <a:tailEnd/>
          </a:ln>
          <a:effectLst>
            <a:prstShdw prst="shdw17" dist="17961" dir="2700000">
              <a:srgbClr val="DDDDDD">
                <a:gamma/>
                <a:shade val="60000"/>
                <a:invGamma/>
              </a:srgbClr>
            </a:prstShdw>
          </a:effectLst>
        </p:spPr>
        <p:txBody>
          <a:bodyPr wrap="none" anchor="ctr"/>
          <a:lstStyle/>
          <a:p>
            <a:pPr algn="ctr"/>
            <a:r>
              <a:rPr lang="es-ES" sz="1400" b="1" dirty="0">
                <a:solidFill>
                  <a:schemeClr val="bg1"/>
                </a:solidFill>
              </a:rPr>
              <a:t>Ingreso y Registro</a:t>
            </a:r>
          </a:p>
          <a:p>
            <a:pPr algn="ctr"/>
            <a:r>
              <a:rPr lang="es-ES" sz="1400" b="1" dirty="0">
                <a:solidFill>
                  <a:schemeClr val="bg1"/>
                </a:solidFill>
              </a:rPr>
              <a:t>de Operaciones </a:t>
            </a:r>
          </a:p>
          <a:p>
            <a:pPr algn="ctr"/>
            <a:r>
              <a:rPr lang="es-ES" sz="1400" b="1" dirty="0">
                <a:solidFill>
                  <a:schemeClr val="bg1"/>
                </a:solidFill>
              </a:rPr>
              <a:t>de Inversión</a:t>
            </a:r>
          </a:p>
        </p:txBody>
      </p:sp>
      <p:sp>
        <p:nvSpPr>
          <p:cNvPr id="24" name="Rounded Rectangle 21"/>
          <p:cNvSpPr/>
          <p:nvPr/>
        </p:nvSpPr>
        <p:spPr>
          <a:xfrm>
            <a:off x="1843040" y="4725143"/>
            <a:ext cx="1548000" cy="648000"/>
          </a:xfrm>
          <a:prstGeom prst="roundRect">
            <a:avLst/>
          </a:prstGeom>
          <a:solidFill>
            <a:srgbClr val="DB0613"/>
          </a:solidFill>
          <a:ln w="9525" algn="ctr">
            <a:noFill/>
            <a:miter lim="800000"/>
            <a:headEnd/>
            <a:tailEnd/>
          </a:ln>
          <a:effectLst>
            <a:prstShdw prst="shdw17" dist="17961" dir="2700000">
              <a:srgbClr val="DDDDDD">
                <a:gamma/>
                <a:shade val="60000"/>
                <a:invGamma/>
              </a:srgbClr>
            </a:prstShdw>
          </a:effectLst>
        </p:spPr>
        <p:txBody>
          <a:bodyPr wrap="none" anchor="ctr"/>
          <a:lstStyle/>
          <a:p>
            <a:pPr algn="ctr"/>
            <a:r>
              <a:rPr lang="es-ES" sz="1400" b="1" dirty="0">
                <a:solidFill>
                  <a:schemeClr val="bg1"/>
                </a:solidFill>
              </a:rPr>
              <a:t>Operaciones de</a:t>
            </a:r>
          </a:p>
          <a:p>
            <a:pPr algn="ctr"/>
            <a:r>
              <a:rPr lang="es-ES" sz="1400" b="1" dirty="0">
                <a:solidFill>
                  <a:schemeClr val="bg1"/>
                </a:solidFill>
              </a:rPr>
              <a:t>Money </a:t>
            </a:r>
            <a:r>
              <a:rPr lang="es-ES" sz="1400" b="1" dirty="0" err="1">
                <a:solidFill>
                  <a:schemeClr val="bg1"/>
                </a:solidFill>
              </a:rPr>
              <a:t>Market</a:t>
            </a:r>
            <a:endParaRPr lang="es-ES" sz="1400" b="1" dirty="0">
              <a:solidFill>
                <a:schemeClr val="bg1"/>
              </a:solidFill>
            </a:endParaRPr>
          </a:p>
        </p:txBody>
      </p:sp>
      <p:grpSp>
        <p:nvGrpSpPr>
          <p:cNvPr id="25" name="63 Grupo"/>
          <p:cNvGrpSpPr/>
          <p:nvPr/>
        </p:nvGrpSpPr>
        <p:grpSpPr>
          <a:xfrm>
            <a:off x="3347865" y="3861047"/>
            <a:ext cx="1440000" cy="648000"/>
            <a:chOff x="3491881" y="1281851"/>
            <a:chExt cx="1620000" cy="648000"/>
          </a:xfrm>
        </p:grpSpPr>
        <p:sp>
          <p:nvSpPr>
            <p:cNvPr id="26" name="AutoShape 10"/>
            <p:cNvSpPr>
              <a:spLocks noChangeArrowheads="1"/>
            </p:cNvSpPr>
            <p:nvPr/>
          </p:nvSpPr>
          <p:spPr bwMode="auto">
            <a:xfrm rot="10800000">
              <a:off x="3491881" y="1281851"/>
              <a:ext cx="1620000" cy="648000"/>
            </a:xfrm>
            <a:prstGeom prst="homePlate">
              <a:avLst>
                <a:gd name="adj" fmla="val 28726"/>
              </a:avLst>
            </a:prstGeom>
            <a:solidFill>
              <a:schemeClr val="bg1"/>
            </a:solidFill>
            <a:ln w="9525" algn="ctr">
              <a:noFill/>
              <a:miter lim="800000"/>
              <a:headEnd/>
              <a:tailEnd/>
            </a:ln>
            <a:effectLst>
              <a:prstShdw prst="shdw17" dist="17961" dir="2700000">
                <a:srgbClr val="DDDDDD">
                  <a:gamma/>
                  <a:shade val="60000"/>
                  <a:invGamma/>
                </a:srgbClr>
              </a:prstShdw>
            </a:effectLst>
          </p:spPr>
          <p:txBody>
            <a:bodyPr wrap="none" anchor="ctr"/>
            <a:lstStyle/>
            <a:p>
              <a:pPr algn="ctr"/>
              <a:endParaRPr lang="en-US" sz="1300" b="1" dirty="0">
                <a:solidFill>
                  <a:schemeClr val="bg1"/>
                </a:solidFill>
              </a:endParaRPr>
            </a:p>
          </p:txBody>
        </p:sp>
        <p:sp>
          <p:nvSpPr>
            <p:cNvPr id="27" name="Rectangle 7"/>
            <p:cNvSpPr>
              <a:spLocks noChangeArrowheads="1"/>
            </p:cNvSpPr>
            <p:nvPr/>
          </p:nvSpPr>
          <p:spPr bwMode="auto">
            <a:xfrm>
              <a:off x="3838625" y="1281851"/>
              <a:ext cx="1224000" cy="648000"/>
            </a:xfrm>
            <a:prstGeom prst="rect">
              <a:avLst/>
            </a:prstGeom>
            <a:noFill/>
            <a:ln w="9525" algn="ctr">
              <a:noFill/>
              <a:miter lim="800000"/>
              <a:headEnd/>
              <a:tailEnd/>
            </a:ln>
            <a:effectLst>
              <a:prstShdw prst="shdw17" dist="17961" dir="2700000">
                <a:srgbClr val="DDDDDD">
                  <a:gamma/>
                  <a:shade val="60000"/>
                  <a:invGamma/>
                </a:srgbClr>
              </a:prstShdw>
            </a:effectLst>
          </p:spPr>
          <p:txBody>
            <a:bodyPr wrap="none" anchor="ctr"/>
            <a:lstStyle/>
            <a:p>
              <a:r>
                <a:rPr lang="es-PE" sz="1400" b="1" dirty="0"/>
                <a:t>Riesgos : 8</a:t>
              </a:r>
            </a:p>
            <a:p>
              <a:r>
                <a:rPr lang="es-PE" sz="1400" b="1" dirty="0"/>
                <a:t>Controles: 8</a:t>
              </a:r>
              <a:endParaRPr lang="es-ES" sz="1400" b="1" dirty="0"/>
            </a:p>
          </p:txBody>
        </p:sp>
        <p:sp>
          <p:nvSpPr>
            <p:cNvPr id="28" name="AutoShape 92"/>
            <p:cNvSpPr>
              <a:spLocks noChangeArrowheads="1"/>
            </p:cNvSpPr>
            <p:nvPr/>
          </p:nvSpPr>
          <p:spPr bwMode="auto">
            <a:xfrm>
              <a:off x="3712253" y="1628800"/>
              <a:ext cx="180000" cy="180000"/>
            </a:xfrm>
            <a:prstGeom prst="diamond">
              <a:avLst/>
            </a:prstGeom>
            <a:solidFill>
              <a:srgbClr val="009644"/>
            </a:solidFill>
            <a:ln w="9525" algn="ctr">
              <a:noFill/>
              <a:miter lim="800000"/>
              <a:headEnd/>
              <a:tailEnd/>
            </a:ln>
            <a:effectLst/>
          </p:spPr>
          <p:txBody>
            <a:bodyPr wrap="none" anchor="ctr"/>
            <a:lstStyle/>
            <a:p>
              <a:pPr algn="ctr"/>
              <a:endParaRPr lang="en-US" sz="1000" b="1" dirty="0">
                <a:solidFill>
                  <a:schemeClr val="bg1"/>
                </a:solidFill>
              </a:endParaRPr>
            </a:p>
          </p:txBody>
        </p:sp>
        <p:sp>
          <p:nvSpPr>
            <p:cNvPr id="29" name="Rounded Rectangle 139"/>
            <p:cNvSpPr/>
            <p:nvPr/>
          </p:nvSpPr>
          <p:spPr>
            <a:xfrm>
              <a:off x="3712253" y="1381102"/>
              <a:ext cx="180000" cy="180000"/>
            </a:xfrm>
            <a:prstGeom prst="roundRect">
              <a:avLst/>
            </a:prstGeom>
            <a:solidFill>
              <a:srgbClr val="F26D00"/>
            </a:solidFill>
            <a:ln w="9525" algn="ctr">
              <a:noFill/>
              <a:round/>
              <a:headEnd/>
              <a:tailEnd/>
            </a:ln>
            <a:effectLst/>
          </p:spPr>
          <p:txBody>
            <a:bodyPr wrap="none" anchor="ctr"/>
            <a:lstStyle/>
            <a:p>
              <a:pPr algn="ctr"/>
              <a:endParaRPr lang="es-ES" sz="1000" b="1" dirty="0">
                <a:solidFill>
                  <a:schemeClr val="bg1"/>
                </a:solidFill>
              </a:endParaRPr>
            </a:p>
          </p:txBody>
        </p:sp>
      </p:grpSp>
      <p:sp>
        <p:nvSpPr>
          <p:cNvPr id="31" name="AutoShape 10"/>
          <p:cNvSpPr>
            <a:spLocks noChangeArrowheads="1"/>
          </p:cNvSpPr>
          <p:nvPr/>
        </p:nvSpPr>
        <p:spPr bwMode="auto">
          <a:xfrm rot="10800000">
            <a:off x="4716016" y="3861048"/>
            <a:ext cx="1260000" cy="647999"/>
          </a:xfrm>
          <a:prstGeom prst="homePlate">
            <a:avLst>
              <a:gd name="adj" fmla="val 28726"/>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dirty="0">
              <a:solidFill>
                <a:schemeClr val="lt1"/>
              </a:solidFill>
            </a:endParaRPr>
          </a:p>
        </p:txBody>
      </p:sp>
      <p:sp>
        <p:nvSpPr>
          <p:cNvPr id="33" name="Rectangle 7"/>
          <p:cNvSpPr>
            <a:spLocks noChangeArrowheads="1"/>
          </p:cNvSpPr>
          <p:nvPr/>
        </p:nvSpPr>
        <p:spPr bwMode="auto">
          <a:xfrm>
            <a:off x="4986931" y="1340766"/>
            <a:ext cx="2016000" cy="456000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marL="228600" indent="-228600" algn="just">
              <a:buFont typeface="+mj-lt"/>
              <a:buAutoNum type="arabicParenR"/>
            </a:pPr>
            <a:r>
              <a:rPr lang="es-ES" sz="1100" dirty="0">
                <a:solidFill>
                  <a:schemeClr val="tx1"/>
                </a:solidFill>
              </a:rPr>
              <a:t>Subgerente de Operaciones de Inversión tiene impedimentos para ingresar datos en PMS.</a:t>
            </a:r>
          </a:p>
          <a:p>
            <a:pPr marL="228600" indent="-228600" algn="just">
              <a:buFont typeface="+mj-lt"/>
              <a:buAutoNum type="arabicParenR"/>
            </a:pPr>
            <a:r>
              <a:rPr lang="es-ES" sz="1100" dirty="0">
                <a:solidFill>
                  <a:schemeClr val="tx1"/>
                </a:solidFill>
              </a:rPr>
              <a:t>Falla (error humano) en la introducción de datos en el sistema PMS debido a ingreso manual de éstos.</a:t>
            </a:r>
          </a:p>
          <a:p>
            <a:pPr marL="228600" indent="-228600" algn="just">
              <a:buFont typeface="+mj-lt"/>
              <a:buAutoNum type="arabicParenR"/>
            </a:pPr>
            <a:r>
              <a:rPr lang="es-ES" sz="1100" dirty="0">
                <a:solidFill>
                  <a:schemeClr val="tx1"/>
                </a:solidFill>
              </a:rPr>
              <a:t>Riesgo de que una persona ajena a Inversiones tenga acceso a la estrategia de inversión de la compañía. En esta parte del proceso hace referencia a ingresos de personas no autorizadas a la plataforma PMS.</a:t>
            </a:r>
          </a:p>
          <a:p>
            <a:pPr marL="228600" indent="-228600" algn="just">
              <a:buFont typeface="+mj-lt"/>
              <a:buAutoNum type="arabicParenR"/>
            </a:pPr>
            <a:r>
              <a:rPr lang="es-ES" sz="1100" dirty="0">
                <a:solidFill>
                  <a:schemeClr val="tx1"/>
                </a:solidFill>
              </a:rPr>
              <a:t>Falla en el proceso de revisión de los datos ingresados en el sistema (primer día de la operación). Error humano. </a:t>
            </a:r>
          </a:p>
        </p:txBody>
      </p:sp>
      <p:sp>
        <p:nvSpPr>
          <p:cNvPr id="34" name="Rectangle 7"/>
          <p:cNvSpPr>
            <a:spLocks noChangeArrowheads="1"/>
          </p:cNvSpPr>
          <p:nvPr/>
        </p:nvSpPr>
        <p:spPr bwMode="auto">
          <a:xfrm>
            <a:off x="4986931" y="1030207"/>
            <a:ext cx="2016000" cy="252000"/>
          </a:xfrm>
          <a:prstGeom prst="rect">
            <a:avLst/>
          </a:prstGeom>
          <a:solidFill>
            <a:schemeClr val="tx1">
              <a:lumMod val="50000"/>
              <a:lumOff val="50000"/>
            </a:schemeClr>
          </a:solidFill>
          <a:ln w="9525" algn="ctr">
            <a:noFill/>
            <a:miter lim="800000"/>
            <a:headEnd/>
            <a:tailEnd/>
          </a:ln>
          <a:effectLst>
            <a:prstShdw prst="shdw17" dist="17961" dir="2700000">
              <a:srgbClr val="DDDDDD">
                <a:gamma/>
                <a:shade val="60000"/>
                <a:invGamma/>
              </a:srgbClr>
            </a:prstShdw>
          </a:effectLst>
        </p:spPr>
        <p:txBody>
          <a:bodyPr wrap="none" anchor="ctr"/>
          <a:lstStyle/>
          <a:p>
            <a:pPr algn="ctr"/>
            <a:r>
              <a:rPr lang="es-ES" sz="1300" b="1" dirty="0">
                <a:solidFill>
                  <a:schemeClr val="bg1"/>
                </a:solidFill>
              </a:rPr>
              <a:t>Riesgos</a:t>
            </a:r>
          </a:p>
        </p:txBody>
      </p:sp>
      <p:sp>
        <p:nvSpPr>
          <p:cNvPr id="37" name="Rectangle 7"/>
          <p:cNvSpPr>
            <a:spLocks noChangeArrowheads="1"/>
          </p:cNvSpPr>
          <p:nvPr/>
        </p:nvSpPr>
        <p:spPr bwMode="auto">
          <a:xfrm>
            <a:off x="7114697" y="1030207"/>
            <a:ext cx="900000" cy="252000"/>
          </a:xfrm>
          <a:prstGeom prst="rect">
            <a:avLst/>
          </a:prstGeom>
          <a:solidFill>
            <a:schemeClr val="tx1">
              <a:lumMod val="50000"/>
              <a:lumOff val="50000"/>
            </a:schemeClr>
          </a:solidFill>
          <a:ln w="9525" algn="ctr">
            <a:noFill/>
            <a:miter lim="800000"/>
            <a:headEnd/>
            <a:tailEnd/>
          </a:ln>
          <a:effectLst>
            <a:prstShdw prst="shdw17" dist="17961" dir="2700000">
              <a:srgbClr val="DDDDDD">
                <a:gamma/>
                <a:shade val="60000"/>
                <a:invGamma/>
              </a:srgbClr>
            </a:prstShdw>
          </a:effectLst>
        </p:spPr>
        <p:txBody>
          <a:bodyPr wrap="none" anchor="ctr"/>
          <a:lstStyle/>
          <a:p>
            <a:pPr algn="ctr"/>
            <a:r>
              <a:rPr lang="es-PE" sz="1300" b="1" dirty="0">
                <a:solidFill>
                  <a:schemeClr val="bg1"/>
                </a:solidFill>
              </a:rPr>
              <a:t>PEA</a:t>
            </a:r>
            <a:endParaRPr lang="es-ES" sz="1300" b="1" dirty="0">
              <a:solidFill>
                <a:schemeClr val="bg1"/>
              </a:solidFill>
            </a:endParaRPr>
          </a:p>
        </p:txBody>
      </p:sp>
      <p:sp>
        <p:nvSpPr>
          <p:cNvPr id="38" name="Rectangle 7"/>
          <p:cNvSpPr>
            <a:spLocks noChangeArrowheads="1"/>
          </p:cNvSpPr>
          <p:nvPr/>
        </p:nvSpPr>
        <p:spPr bwMode="auto">
          <a:xfrm>
            <a:off x="7114697" y="1340766"/>
            <a:ext cx="900000" cy="456000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marL="228600" indent="-228600" algn="just"/>
            <a:endParaRPr lang="es-ES" sz="1100" dirty="0">
              <a:solidFill>
                <a:schemeClr val="tx1"/>
              </a:solidFill>
            </a:endParaRPr>
          </a:p>
        </p:txBody>
      </p:sp>
      <p:sp>
        <p:nvSpPr>
          <p:cNvPr id="39" name="Rectangle 7"/>
          <p:cNvSpPr>
            <a:spLocks noChangeArrowheads="1"/>
          </p:cNvSpPr>
          <p:nvPr/>
        </p:nvSpPr>
        <p:spPr bwMode="auto">
          <a:xfrm>
            <a:off x="8064488" y="1030207"/>
            <a:ext cx="900000" cy="252000"/>
          </a:xfrm>
          <a:prstGeom prst="rect">
            <a:avLst/>
          </a:prstGeom>
          <a:solidFill>
            <a:schemeClr val="tx1">
              <a:lumMod val="50000"/>
              <a:lumOff val="50000"/>
            </a:schemeClr>
          </a:solidFill>
          <a:ln w="9525" algn="ctr">
            <a:noFill/>
            <a:miter lim="800000"/>
            <a:headEnd/>
            <a:tailEnd/>
          </a:ln>
          <a:effectLst>
            <a:prstShdw prst="shdw17" dist="17961" dir="2700000">
              <a:srgbClr val="DDDDDD">
                <a:gamma/>
                <a:shade val="60000"/>
                <a:invGamma/>
              </a:srgbClr>
            </a:prstShdw>
          </a:effectLst>
        </p:spPr>
        <p:txBody>
          <a:bodyPr wrap="none" anchor="ctr"/>
          <a:lstStyle/>
          <a:p>
            <a:pPr algn="ctr"/>
            <a:r>
              <a:rPr lang="es-PE" sz="1300" b="1" dirty="0" err="1">
                <a:solidFill>
                  <a:schemeClr val="bg1"/>
                </a:solidFill>
              </a:rPr>
              <a:t>VaR</a:t>
            </a:r>
            <a:endParaRPr lang="es-ES" sz="1300" b="1" dirty="0">
              <a:solidFill>
                <a:schemeClr val="bg1"/>
              </a:solidFill>
            </a:endParaRPr>
          </a:p>
        </p:txBody>
      </p:sp>
      <p:sp>
        <p:nvSpPr>
          <p:cNvPr id="40" name="Rectangle 7"/>
          <p:cNvSpPr>
            <a:spLocks noChangeArrowheads="1"/>
          </p:cNvSpPr>
          <p:nvPr/>
        </p:nvSpPr>
        <p:spPr bwMode="auto">
          <a:xfrm>
            <a:off x="8064488" y="1340766"/>
            <a:ext cx="900000" cy="456000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marL="228600" indent="-228600" algn="just"/>
            <a:endParaRPr lang="es-ES" sz="1100" dirty="0">
              <a:solidFill>
                <a:schemeClr val="tx1"/>
              </a:solidFill>
            </a:endParaRPr>
          </a:p>
        </p:txBody>
      </p:sp>
      <p:sp>
        <p:nvSpPr>
          <p:cNvPr id="30" name="Rounded Rectangle 93"/>
          <p:cNvSpPr/>
          <p:nvPr/>
        </p:nvSpPr>
        <p:spPr>
          <a:xfrm>
            <a:off x="7164288" y="1412776"/>
            <a:ext cx="792000" cy="548640"/>
          </a:xfrm>
          <a:prstGeom prst="roundRect">
            <a:avLst/>
          </a:prstGeom>
          <a:noFill/>
          <a:ln w="127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400" b="1" dirty="0">
                <a:solidFill>
                  <a:schemeClr val="tx1"/>
                </a:solidFill>
                <a:latin typeface="+mj-lt"/>
              </a:rPr>
              <a:t>43</a:t>
            </a:r>
            <a:endParaRPr lang="es-CL" sz="1400" b="1" dirty="0">
              <a:solidFill>
                <a:schemeClr val="tx1"/>
              </a:solidFill>
              <a:latin typeface="+mj-lt"/>
            </a:endParaRPr>
          </a:p>
        </p:txBody>
      </p:sp>
      <p:sp>
        <p:nvSpPr>
          <p:cNvPr id="32" name="Rounded Rectangle 93"/>
          <p:cNvSpPr/>
          <p:nvPr/>
        </p:nvSpPr>
        <p:spPr>
          <a:xfrm>
            <a:off x="8100480" y="1412776"/>
            <a:ext cx="792000" cy="548640"/>
          </a:xfrm>
          <a:prstGeom prst="roundRect">
            <a:avLst/>
          </a:prstGeom>
          <a:noFill/>
          <a:ln w="127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400" b="1" dirty="0">
                <a:solidFill>
                  <a:schemeClr val="tx1"/>
                </a:solidFill>
                <a:latin typeface="+mj-lt"/>
              </a:rPr>
              <a:t>4,743</a:t>
            </a:r>
            <a:endParaRPr lang="es-CL" sz="1400" b="1" dirty="0">
              <a:solidFill>
                <a:schemeClr val="tx1"/>
              </a:solidFill>
              <a:latin typeface="+mj-lt"/>
            </a:endParaRPr>
          </a:p>
        </p:txBody>
      </p:sp>
      <p:sp>
        <p:nvSpPr>
          <p:cNvPr id="35" name="Rounded Rectangle 93"/>
          <p:cNvSpPr/>
          <p:nvPr/>
        </p:nvSpPr>
        <p:spPr>
          <a:xfrm>
            <a:off x="7164288" y="2132856"/>
            <a:ext cx="792000" cy="548640"/>
          </a:xfrm>
          <a:prstGeom prst="roundRect">
            <a:avLst/>
          </a:prstGeom>
          <a:noFill/>
          <a:ln w="127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400" b="1" dirty="0">
                <a:solidFill>
                  <a:schemeClr val="tx1"/>
                </a:solidFill>
                <a:latin typeface="+mj-lt"/>
              </a:rPr>
              <a:t>0</a:t>
            </a:r>
            <a:endParaRPr lang="es-CL" sz="1400" b="1" dirty="0">
              <a:solidFill>
                <a:schemeClr val="tx1"/>
              </a:solidFill>
              <a:latin typeface="+mj-lt"/>
            </a:endParaRPr>
          </a:p>
        </p:txBody>
      </p:sp>
      <p:sp>
        <p:nvSpPr>
          <p:cNvPr id="41" name="Rounded Rectangle 93"/>
          <p:cNvSpPr/>
          <p:nvPr/>
        </p:nvSpPr>
        <p:spPr>
          <a:xfrm>
            <a:off x="8100480" y="2132856"/>
            <a:ext cx="792000" cy="548640"/>
          </a:xfrm>
          <a:prstGeom prst="roundRect">
            <a:avLst/>
          </a:prstGeom>
          <a:noFill/>
          <a:ln w="127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400" b="1" dirty="0">
                <a:solidFill>
                  <a:schemeClr val="tx1"/>
                </a:solidFill>
                <a:latin typeface="+mj-lt"/>
              </a:rPr>
              <a:t>0</a:t>
            </a:r>
            <a:endParaRPr lang="es-CL" sz="1400" b="1" dirty="0">
              <a:solidFill>
                <a:schemeClr val="tx1"/>
              </a:solidFill>
              <a:latin typeface="+mj-lt"/>
            </a:endParaRPr>
          </a:p>
        </p:txBody>
      </p:sp>
      <p:sp>
        <p:nvSpPr>
          <p:cNvPr id="42" name="Rounded Rectangle 93"/>
          <p:cNvSpPr/>
          <p:nvPr/>
        </p:nvSpPr>
        <p:spPr>
          <a:xfrm>
            <a:off x="7164288" y="2952368"/>
            <a:ext cx="792000" cy="548640"/>
          </a:xfrm>
          <a:prstGeom prst="roundRect">
            <a:avLst/>
          </a:prstGeom>
          <a:noFill/>
          <a:ln w="127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400" b="1" dirty="0">
                <a:solidFill>
                  <a:schemeClr val="tx1"/>
                </a:solidFill>
                <a:latin typeface="+mj-lt"/>
              </a:rPr>
              <a:t>0</a:t>
            </a:r>
            <a:endParaRPr lang="es-CL" sz="1400" b="1" dirty="0">
              <a:solidFill>
                <a:schemeClr val="tx1"/>
              </a:solidFill>
              <a:latin typeface="+mj-lt"/>
            </a:endParaRPr>
          </a:p>
        </p:txBody>
      </p:sp>
      <p:sp>
        <p:nvSpPr>
          <p:cNvPr id="43" name="Rounded Rectangle 93"/>
          <p:cNvSpPr/>
          <p:nvPr/>
        </p:nvSpPr>
        <p:spPr>
          <a:xfrm>
            <a:off x="8100480" y="2952368"/>
            <a:ext cx="792000" cy="548640"/>
          </a:xfrm>
          <a:prstGeom prst="roundRect">
            <a:avLst/>
          </a:prstGeom>
          <a:noFill/>
          <a:ln w="127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400" b="1" dirty="0">
                <a:solidFill>
                  <a:schemeClr val="tx1"/>
                </a:solidFill>
                <a:latin typeface="+mj-lt"/>
              </a:rPr>
              <a:t>0</a:t>
            </a:r>
            <a:endParaRPr lang="es-CL" sz="1400" b="1" dirty="0">
              <a:solidFill>
                <a:schemeClr val="tx1"/>
              </a:solidFill>
              <a:latin typeface="+mj-lt"/>
            </a:endParaRPr>
          </a:p>
        </p:txBody>
      </p:sp>
      <p:sp>
        <p:nvSpPr>
          <p:cNvPr id="44" name="Rounded Rectangle 93"/>
          <p:cNvSpPr/>
          <p:nvPr/>
        </p:nvSpPr>
        <p:spPr>
          <a:xfrm>
            <a:off x="7164288" y="4104496"/>
            <a:ext cx="792000" cy="548640"/>
          </a:xfrm>
          <a:prstGeom prst="roundRect">
            <a:avLst/>
          </a:prstGeom>
          <a:noFill/>
          <a:ln w="127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400" b="1" dirty="0">
                <a:solidFill>
                  <a:schemeClr val="tx1"/>
                </a:solidFill>
                <a:latin typeface="+mj-lt"/>
              </a:rPr>
              <a:t>0</a:t>
            </a:r>
            <a:endParaRPr lang="es-CL" sz="1400" b="1" dirty="0">
              <a:solidFill>
                <a:schemeClr val="tx1"/>
              </a:solidFill>
              <a:latin typeface="+mj-lt"/>
            </a:endParaRPr>
          </a:p>
        </p:txBody>
      </p:sp>
      <p:sp>
        <p:nvSpPr>
          <p:cNvPr id="45" name="Rounded Rectangle 93"/>
          <p:cNvSpPr/>
          <p:nvPr/>
        </p:nvSpPr>
        <p:spPr>
          <a:xfrm>
            <a:off x="8100480" y="4104496"/>
            <a:ext cx="792000" cy="548640"/>
          </a:xfrm>
          <a:prstGeom prst="roundRect">
            <a:avLst/>
          </a:prstGeom>
          <a:noFill/>
          <a:ln w="127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400" b="1" dirty="0">
                <a:solidFill>
                  <a:schemeClr val="tx1"/>
                </a:solidFill>
                <a:latin typeface="+mj-lt"/>
              </a:rPr>
              <a:t>0</a:t>
            </a:r>
            <a:endParaRPr lang="es-CL" sz="1400" b="1" dirty="0">
              <a:solidFill>
                <a:schemeClr val="tx1"/>
              </a:solidFill>
              <a:latin typeface="+mj-lt"/>
            </a:endParaRPr>
          </a:p>
        </p:txBody>
      </p:sp>
      <p:sp>
        <p:nvSpPr>
          <p:cNvPr id="46" name="Text Box 44"/>
          <p:cNvSpPr txBox="1">
            <a:spLocks noChangeArrowheads="1"/>
          </p:cNvSpPr>
          <p:nvPr/>
        </p:nvSpPr>
        <p:spPr bwMode="auto">
          <a:xfrm>
            <a:off x="7610039" y="764704"/>
            <a:ext cx="1354449" cy="230832"/>
          </a:xfrm>
          <a:prstGeom prst="rect">
            <a:avLst/>
          </a:prstGeom>
          <a:noFill/>
          <a:ln w="9525" algn="ctr">
            <a:noFill/>
            <a:miter lim="800000"/>
            <a:headEnd/>
            <a:tailEnd/>
          </a:ln>
          <a:effectLst/>
        </p:spPr>
        <p:txBody>
          <a:bodyPr wrap="square">
            <a:spAutoFit/>
          </a:bodyPr>
          <a:lstStyle/>
          <a:p>
            <a:r>
              <a:rPr lang="es-ES" sz="900" b="1" i="1" dirty="0">
                <a:solidFill>
                  <a:srgbClr val="525252"/>
                </a:solidFill>
              </a:rPr>
              <a:t>Miles de Nuevos Soles</a:t>
            </a:r>
            <a:endParaRPr lang="en-US" sz="900" b="1" i="1" dirty="0">
              <a:solidFill>
                <a:srgbClr val="525252"/>
              </a:solidFill>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Rectangle 7"/>
          <p:cNvSpPr>
            <a:spLocks noChangeArrowheads="1"/>
          </p:cNvSpPr>
          <p:nvPr/>
        </p:nvSpPr>
        <p:spPr bwMode="auto">
          <a:xfrm>
            <a:off x="4918801" y="980727"/>
            <a:ext cx="4104000" cy="5040561"/>
          </a:xfrm>
          <a:prstGeom prst="rect">
            <a:avLst/>
          </a:prstGeom>
          <a:solidFill>
            <a:schemeClr val="accent1">
              <a:lumMod val="20000"/>
              <a:lumOff val="80000"/>
            </a:schemeClr>
          </a:solidFill>
          <a:ln w="9525" algn="ctr">
            <a:noFill/>
            <a:miter lim="800000"/>
            <a:headEnd/>
            <a:tailEnd/>
          </a:ln>
          <a:effectLst>
            <a:prstShdw prst="shdw17" dist="17961" dir="2700000">
              <a:srgbClr val="DDDDDD">
                <a:gamma/>
                <a:shade val="60000"/>
                <a:invGamma/>
              </a:srgbClr>
            </a:prstShdw>
          </a:effectLst>
        </p:spPr>
        <p:txBody>
          <a:bodyPr wrap="none" anchor="ctr"/>
          <a:lstStyle/>
          <a:p>
            <a:pPr algn="ctr"/>
            <a:endParaRPr lang="es-ES" sz="1300" b="1" dirty="0">
              <a:solidFill>
                <a:srgbClr val="525252"/>
              </a:solidFill>
            </a:endParaRPr>
          </a:p>
        </p:txBody>
      </p:sp>
      <p:sp>
        <p:nvSpPr>
          <p:cNvPr id="16" name="Title 1"/>
          <p:cNvSpPr>
            <a:spLocks noGrp="1"/>
          </p:cNvSpPr>
          <p:nvPr>
            <p:ph type="title"/>
          </p:nvPr>
        </p:nvSpPr>
        <p:spPr>
          <a:xfrm>
            <a:off x="47625" y="32965"/>
            <a:ext cx="8217470" cy="587723"/>
          </a:xfrm>
        </p:spPr>
        <p:txBody>
          <a:bodyPr/>
          <a:lstStyle/>
          <a:p>
            <a:r>
              <a:rPr lang="es-ES" dirty="0"/>
              <a:t>Anexo: Árbol de Procesos</a:t>
            </a:r>
          </a:p>
        </p:txBody>
      </p:sp>
      <p:sp>
        <p:nvSpPr>
          <p:cNvPr id="17" name="Rounded Rectangle 31">
            <a:hlinkClick r:id="rId2" action="ppaction://hlinksldjump"/>
          </p:cNvPr>
          <p:cNvSpPr/>
          <p:nvPr/>
        </p:nvSpPr>
        <p:spPr>
          <a:xfrm>
            <a:off x="1638012" y="6322807"/>
            <a:ext cx="1080000" cy="360000"/>
          </a:xfrm>
          <a:prstGeom prst="roundRect">
            <a:avLst/>
          </a:prstGeom>
          <a:solidFill>
            <a:schemeClr val="bg1">
              <a:lumMod val="65000"/>
            </a:schemeClr>
          </a:solidFill>
          <a:ln w="25400" cap="sq" cmpd="sng">
            <a:solidFill>
              <a:schemeClr val="bg1">
                <a:lumMod val="75000"/>
              </a:schemeClr>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L" sz="800" b="1" i="1" dirty="0">
                <a:solidFill>
                  <a:schemeClr val="bg1"/>
                </a:solidFill>
                <a:cs typeface="Arial" pitchFamily="34" charset="0"/>
              </a:rPr>
              <a:t>Exposición al RO y Entorno de Control</a:t>
            </a:r>
          </a:p>
        </p:txBody>
      </p:sp>
      <p:sp>
        <p:nvSpPr>
          <p:cNvPr id="25" name="AutoShape 10"/>
          <p:cNvSpPr>
            <a:spLocks noChangeArrowheads="1"/>
          </p:cNvSpPr>
          <p:nvPr/>
        </p:nvSpPr>
        <p:spPr bwMode="auto">
          <a:xfrm rot="10800000">
            <a:off x="1187624" y="1196767"/>
            <a:ext cx="2304256" cy="4320464"/>
          </a:xfrm>
          <a:prstGeom prst="homePlate">
            <a:avLst>
              <a:gd name="adj" fmla="val 28726"/>
            </a:avLst>
          </a:prstGeom>
          <a:solidFill>
            <a:schemeClr val="accent1">
              <a:lumMod val="20000"/>
              <a:lumOff val="80000"/>
            </a:schemeClr>
          </a:solidFill>
          <a:ln w="12700">
            <a:solidFill>
              <a:srgbClr val="A9A9A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dirty="0">
              <a:solidFill>
                <a:schemeClr val="lt1"/>
              </a:solidFill>
            </a:endParaRPr>
          </a:p>
        </p:txBody>
      </p:sp>
      <p:sp>
        <p:nvSpPr>
          <p:cNvPr id="36" name="Rounded Rectangle 21"/>
          <p:cNvSpPr/>
          <p:nvPr/>
        </p:nvSpPr>
        <p:spPr>
          <a:xfrm>
            <a:off x="107504" y="2977409"/>
            <a:ext cx="1512000" cy="648000"/>
          </a:xfrm>
          <a:prstGeom prst="roundRect">
            <a:avLst/>
          </a:prstGeom>
          <a:solidFill>
            <a:srgbClr val="DB0613"/>
          </a:solidFill>
          <a:ln w="9525" algn="ctr">
            <a:noFill/>
            <a:miter lim="800000"/>
            <a:headEnd/>
            <a:tailEnd/>
          </a:ln>
          <a:effectLst>
            <a:prstShdw prst="shdw17" dist="17961" dir="2700000">
              <a:srgbClr val="DDDDDD">
                <a:gamma/>
                <a:shade val="60000"/>
                <a:invGamma/>
              </a:srgbClr>
            </a:prstShdw>
          </a:effectLst>
        </p:spPr>
        <p:txBody>
          <a:bodyPr wrap="none" anchor="ctr"/>
          <a:lstStyle/>
          <a:p>
            <a:pPr algn="ctr"/>
            <a:r>
              <a:rPr lang="es-ES" sz="1600" b="1" dirty="0">
                <a:solidFill>
                  <a:schemeClr val="bg1"/>
                </a:solidFill>
              </a:rPr>
              <a:t>Administración</a:t>
            </a:r>
          </a:p>
          <a:p>
            <a:pPr algn="ctr"/>
            <a:r>
              <a:rPr lang="es-ES" sz="1600" b="1" dirty="0">
                <a:solidFill>
                  <a:schemeClr val="bg1"/>
                </a:solidFill>
              </a:rPr>
              <a:t>de Fondos</a:t>
            </a:r>
          </a:p>
        </p:txBody>
      </p:sp>
      <p:sp>
        <p:nvSpPr>
          <p:cNvPr id="37" name="Rounded Rectangle 21"/>
          <p:cNvSpPr/>
          <p:nvPr/>
        </p:nvSpPr>
        <p:spPr>
          <a:xfrm>
            <a:off x="1843040" y="1340767"/>
            <a:ext cx="1548000" cy="648000"/>
          </a:xfrm>
          <a:prstGeom prst="roundRect">
            <a:avLst/>
          </a:prstGeom>
          <a:solidFill>
            <a:srgbClr val="DB0613"/>
          </a:solidFill>
          <a:ln w="9525" algn="ctr">
            <a:noFill/>
            <a:miter lim="800000"/>
            <a:headEnd/>
            <a:tailEnd/>
          </a:ln>
          <a:effectLst>
            <a:prstShdw prst="shdw17" dist="17961" dir="2700000">
              <a:srgbClr val="DDDDDD">
                <a:gamma/>
                <a:shade val="60000"/>
                <a:invGamma/>
              </a:srgbClr>
            </a:prstShdw>
          </a:effectLst>
        </p:spPr>
        <p:txBody>
          <a:bodyPr wrap="none" anchor="ctr"/>
          <a:lstStyle/>
          <a:p>
            <a:pPr algn="ctr"/>
            <a:r>
              <a:rPr lang="es-ES" sz="1400" b="1" dirty="0">
                <a:solidFill>
                  <a:schemeClr val="bg1"/>
                </a:solidFill>
              </a:rPr>
              <a:t>Identificación de</a:t>
            </a:r>
          </a:p>
          <a:p>
            <a:pPr algn="ctr"/>
            <a:r>
              <a:rPr lang="es-ES" sz="1400" b="1" dirty="0">
                <a:solidFill>
                  <a:schemeClr val="bg1"/>
                </a:solidFill>
              </a:rPr>
              <a:t>Oportunidades</a:t>
            </a:r>
          </a:p>
          <a:p>
            <a:pPr algn="ctr"/>
            <a:r>
              <a:rPr lang="es-ES" sz="1400" b="1" dirty="0">
                <a:solidFill>
                  <a:schemeClr val="bg1"/>
                </a:solidFill>
              </a:rPr>
              <a:t>de Inversión</a:t>
            </a:r>
          </a:p>
        </p:txBody>
      </p:sp>
      <p:sp>
        <p:nvSpPr>
          <p:cNvPr id="38" name="Rounded Rectangle 21"/>
          <p:cNvSpPr/>
          <p:nvPr/>
        </p:nvSpPr>
        <p:spPr>
          <a:xfrm>
            <a:off x="1843040" y="2177009"/>
            <a:ext cx="1548000" cy="648000"/>
          </a:xfrm>
          <a:prstGeom prst="roundRect">
            <a:avLst/>
          </a:prstGeom>
          <a:solidFill>
            <a:srgbClr val="DB0613"/>
          </a:solidFill>
          <a:ln w="9525" algn="ctr">
            <a:noFill/>
            <a:miter lim="800000"/>
            <a:headEnd/>
            <a:tailEnd/>
          </a:ln>
          <a:effectLst>
            <a:prstShdw prst="shdw17" dist="17961" dir="2700000">
              <a:srgbClr val="DDDDDD">
                <a:gamma/>
                <a:shade val="60000"/>
                <a:invGamma/>
              </a:srgbClr>
            </a:prstShdw>
          </a:effectLst>
        </p:spPr>
        <p:txBody>
          <a:bodyPr wrap="none" anchor="ctr"/>
          <a:lstStyle/>
          <a:p>
            <a:pPr algn="ctr"/>
            <a:r>
              <a:rPr lang="es-ES" sz="1400" b="1" dirty="0">
                <a:solidFill>
                  <a:schemeClr val="bg1"/>
                </a:solidFill>
              </a:rPr>
              <a:t>Evaluación de</a:t>
            </a:r>
          </a:p>
          <a:p>
            <a:pPr algn="ctr"/>
            <a:r>
              <a:rPr lang="es-ES" sz="1400" b="1" dirty="0">
                <a:solidFill>
                  <a:schemeClr val="bg1"/>
                </a:solidFill>
              </a:rPr>
              <a:t>Oportunidades</a:t>
            </a:r>
          </a:p>
          <a:p>
            <a:pPr algn="ctr"/>
            <a:r>
              <a:rPr lang="es-ES" sz="1400" b="1" dirty="0">
                <a:solidFill>
                  <a:schemeClr val="bg1"/>
                </a:solidFill>
              </a:rPr>
              <a:t>de Inversión</a:t>
            </a:r>
          </a:p>
        </p:txBody>
      </p:sp>
      <p:sp>
        <p:nvSpPr>
          <p:cNvPr id="39" name="Rounded Rectangle 21"/>
          <p:cNvSpPr/>
          <p:nvPr/>
        </p:nvSpPr>
        <p:spPr>
          <a:xfrm>
            <a:off x="1843040" y="2977409"/>
            <a:ext cx="1548000" cy="648000"/>
          </a:xfrm>
          <a:prstGeom prst="roundRect">
            <a:avLst/>
          </a:prstGeom>
          <a:solidFill>
            <a:srgbClr val="DB0613"/>
          </a:solidFill>
          <a:ln w="9525" algn="ctr">
            <a:noFill/>
            <a:miter lim="800000"/>
            <a:headEnd/>
            <a:tailEnd/>
          </a:ln>
          <a:effectLst>
            <a:prstShdw prst="shdw17" dist="17961" dir="2700000">
              <a:srgbClr val="DDDDDD">
                <a:gamma/>
                <a:shade val="60000"/>
                <a:invGamma/>
              </a:srgbClr>
            </a:prstShdw>
          </a:effectLst>
        </p:spPr>
        <p:txBody>
          <a:bodyPr wrap="none" anchor="ctr"/>
          <a:lstStyle/>
          <a:p>
            <a:pPr algn="ctr"/>
            <a:r>
              <a:rPr lang="es-ES" sz="1400" b="1" dirty="0">
                <a:solidFill>
                  <a:schemeClr val="bg1"/>
                </a:solidFill>
              </a:rPr>
              <a:t>Ejecución de</a:t>
            </a:r>
          </a:p>
          <a:p>
            <a:pPr algn="ctr"/>
            <a:r>
              <a:rPr lang="es-ES" sz="1400" b="1" dirty="0">
                <a:solidFill>
                  <a:schemeClr val="bg1"/>
                </a:solidFill>
              </a:rPr>
              <a:t>Propuesta</a:t>
            </a:r>
          </a:p>
          <a:p>
            <a:pPr algn="ctr"/>
            <a:r>
              <a:rPr lang="es-ES" sz="1400" b="1" dirty="0">
                <a:solidFill>
                  <a:schemeClr val="bg1"/>
                </a:solidFill>
              </a:rPr>
              <a:t>de Inversión</a:t>
            </a:r>
          </a:p>
        </p:txBody>
      </p:sp>
      <p:sp>
        <p:nvSpPr>
          <p:cNvPr id="40" name="Rounded Rectangle 21"/>
          <p:cNvSpPr/>
          <p:nvPr/>
        </p:nvSpPr>
        <p:spPr>
          <a:xfrm>
            <a:off x="1843040" y="3861047"/>
            <a:ext cx="1548000" cy="648000"/>
          </a:xfrm>
          <a:prstGeom prst="roundRect">
            <a:avLst/>
          </a:prstGeom>
          <a:solidFill>
            <a:srgbClr val="DB0613"/>
          </a:solidFill>
          <a:ln w="9525" algn="ctr">
            <a:noFill/>
            <a:miter lim="800000"/>
            <a:headEnd/>
            <a:tailEnd/>
          </a:ln>
          <a:effectLst>
            <a:prstShdw prst="shdw17" dist="17961" dir="2700000">
              <a:srgbClr val="DDDDDD">
                <a:gamma/>
                <a:shade val="60000"/>
                <a:invGamma/>
              </a:srgbClr>
            </a:prstShdw>
          </a:effectLst>
        </p:spPr>
        <p:txBody>
          <a:bodyPr wrap="none" anchor="ctr"/>
          <a:lstStyle/>
          <a:p>
            <a:pPr algn="ctr"/>
            <a:r>
              <a:rPr lang="es-ES" sz="1400" b="1" dirty="0">
                <a:solidFill>
                  <a:schemeClr val="bg1"/>
                </a:solidFill>
              </a:rPr>
              <a:t>Ingreso y Registro</a:t>
            </a:r>
          </a:p>
          <a:p>
            <a:pPr algn="ctr"/>
            <a:r>
              <a:rPr lang="es-ES" sz="1400" b="1" dirty="0">
                <a:solidFill>
                  <a:schemeClr val="bg1"/>
                </a:solidFill>
              </a:rPr>
              <a:t>de Operaciones </a:t>
            </a:r>
          </a:p>
          <a:p>
            <a:pPr algn="ctr"/>
            <a:r>
              <a:rPr lang="es-ES" sz="1400" b="1" dirty="0">
                <a:solidFill>
                  <a:schemeClr val="bg1"/>
                </a:solidFill>
              </a:rPr>
              <a:t>de Inversión</a:t>
            </a:r>
          </a:p>
        </p:txBody>
      </p:sp>
      <p:sp>
        <p:nvSpPr>
          <p:cNvPr id="41" name="Rounded Rectangle 21"/>
          <p:cNvSpPr/>
          <p:nvPr/>
        </p:nvSpPr>
        <p:spPr>
          <a:xfrm>
            <a:off x="1843040" y="4725143"/>
            <a:ext cx="1548000" cy="648000"/>
          </a:xfrm>
          <a:prstGeom prst="roundRect">
            <a:avLst/>
          </a:prstGeom>
          <a:solidFill>
            <a:srgbClr val="DB0613"/>
          </a:solidFill>
          <a:ln w="9525" algn="ctr">
            <a:noFill/>
            <a:miter lim="800000"/>
            <a:headEnd/>
            <a:tailEnd/>
          </a:ln>
          <a:effectLst>
            <a:prstShdw prst="shdw17" dist="17961" dir="2700000">
              <a:srgbClr val="DDDDDD">
                <a:gamma/>
                <a:shade val="60000"/>
                <a:invGamma/>
              </a:srgbClr>
            </a:prstShdw>
          </a:effectLst>
        </p:spPr>
        <p:txBody>
          <a:bodyPr wrap="none" anchor="ctr"/>
          <a:lstStyle/>
          <a:p>
            <a:pPr algn="ctr"/>
            <a:r>
              <a:rPr lang="es-ES" sz="1400" b="1" dirty="0">
                <a:solidFill>
                  <a:schemeClr val="bg1"/>
                </a:solidFill>
              </a:rPr>
              <a:t>Operaciones de</a:t>
            </a:r>
          </a:p>
          <a:p>
            <a:pPr algn="ctr"/>
            <a:r>
              <a:rPr lang="es-ES" sz="1400" b="1" dirty="0">
                <a:solidFill>
                  <a:schemeClr val="bg1"/>
                </a:solidFill>
              </a:rPr>
              <a:t>Money </a:t>
            </a:r>
            <a:r>
              <a:rPr lang="es-ES" sz="1400" b="1" dirty="0" err="1">
                <a:solidFill>
                  <a:schemeClr val="bg1"/>
                </a:solidFill>
              </a:rPr>
              <a:t>Market</a:t>
            </a:r>
            <a:endParaRPr lang="es-ES" sz="1400" b="1" dirty="0">
              <a:solidFill>
                <a:schemeClr val="bg1"/>
              </a:solidFill>
            </a:endParaRPr>
          </a:p>
        </p:txBody>
      </p:sp>
      <p:grpSp>
        <p:nvGrpSpPr>
          <p:cNvPr id="42" name="63 Grupo"/>
          <p:cNvGrpSpPr/>
          <p:nvPr/>
        </p:nvGrpSpPr>
        <p:grpSpPr>
          <a:xfrm>
            <a:off x="3347865" y="3861047"/>
            <a:ext cx="1440000" cy="648000"/>
            <a:chOff x="3491881" y="1281851"/>
            <a:chExt cx="1620000" cy="648000"/>
          </a:xfrm>
        </p:grpSpPr>
        <p:sp>
          <p:nvSpPr>
            <p:cNvPr id="43" name="AutoShape 10"/>
            <p:cNvSpPr>
              <a:spLocks noChangeArrowheads="1"/>
            </p:cNvSpPr>
            <p:nvPr/>
          </p:nvSpPr>
          <p:spPr bwMode="auto">
            <a:xfrm rot="10800000">
              <a:off x="3491881" y="1281851"/>
              <a:ext cx="1620000" cy="648000"/>
            </a:xfrm>
            <a:prstGeom prst="homePlate">
              <a:avLst>
                <a:gd name="adj" fmla="val 28726"/>
              </a:avLst>
            </a:prstGeom>
            <a:solidFill>
              <a:schemeClr val="bg1"/>
            </a:solidFill>
            <a:ln w="9525" algn="ctr">
              <a:noFill/>
              <a:miter lim="800000"/>
              <a:headEnd/>
              <a:tailEnd/>
            </a:ln>
            <a:effectLst>
              <a:prstShdw prst="shdw17" dist="17961" dir="2700000">
                <a:srgbClr val="DDDDDD">
                  <a:gamma/>
                  <a:shade val="60000"/>
                  <a:invGamma/>
                </a:srgbClr>
              </a:prstShdw>
            </a:effectLst>
          </p:spPr>
          <p:txBody>
            <a:bodyPr wrap="none" anchor="ctr"/>
            <a:lstStyle/>
            <a:p>
              <a:pPr algn="ctr"/>
              <a:endParaRPr lang="en-US" sz="1300" b="1" dirty="0">
                <a:solidFill>
                  <a:schemeClr val="bg1"/>
                </a:solidFill>
              </a:endParaRPr>
            </a:p>
          </p:txBody>
        </p:sp>
        <p:sp>
          <p:nvSpPr>
            <p:cNvPr id="44" name="Rectangle 7"/>
            <p:cNvSpPr>
              <a:spLocks noChangeArrowheads="1"/>
            </p:cNvSpPr>
            <p:nvPr/>
          </p:nvSpPr>
          <p:spPr bwMode="auto">
            <a:xfrm>
              <a:off x="3838625" y="1281851"/>
              <a:ext cx="1224000" cy="648000"/>
            </a:xfrm>
            <a:prstGeom prst="rect">
              <a:avLst/>
            </a:prstGeom>
            <a:noFill/>
            <a:ln w="9525" algn="ctr">
              <a:noFill/>
              <a:miter lim="800000"/>
              <a:headEnd/>
              <a:tailEnd/>
            </a:ln>
            <a:effectLst>
              <a:prstShdw prst="shdw17" dist="17961" dir="2700000">
                <a:srgbClr val="DDDDDD">
                  <a:gamma/>
                  <a:shade val="60000"/>
                  <a:invGamma/>
                </a:srgbClr>
              </a:prstShdw>
            </a:effectLst>
          </p:spPr>
          <p:txBody>
            <a:bodyPr wrap="none" anchor="ctr"/>
            <a:lstStyle/>
            <a:p>
              <a:r>
                <a:rPr lang="es-PE" sz="1400" b="1" dirty="0"/>
                <a:t>Riesgos : 8</a:t>
              </a:r>
            </a:p>
            <a:p>
              <a:r>
                <a:rPr lang="es-PE" sz="1400" b="1" dirty="0"/>
                <a:t>Controles: 8</a:t>
              </a:r>
              <a:endParaRPr lang="es-ES" sz="1400" b="1" dirty="0"/>
            </a:p>
          </p:txBody>
        </p:sp>
        <p:sp>
          <p:nvSpPr>
            <p:cNvPr id="45" name="AutoShape 92"/>
            <p:cNvSpPr>
              <a:spLocks noChangeArrowheads="1"/>
            </p:cNvSpPr>
            <p:nvPr/>
          </p:nvSpPr>
          <p:spPr bwMode="auto">
            <a:xfrm>
              <a:off x="3712253" y="1628800"/>
              <a:ext cx="180000" cy="180000"/>
            </a:xfrm>
            <a:prstGeom prst="diamond">
              <a:avLst/>
            </a:prstGeom>
            <a:solidFill>
              <a:srgbClr val="009644"/>
            </a:solidFill>
            <a:ln w="9525" algn="ctr">
              <a:noFill/>
              <a:miter lim="800000"/>
              <a:headEnd/>
              <a:tailEnd/>
            </a:ln>
            <a:effectLst/>
          </p:spPr>
          <p:txBody>
            <a:bodyPr wrap="none" anchor="ctr"/>
            <a:lstStyle/>
            <a:p>
              <a:pPr algn="ctr"/>
              <a:endParaRPr lang="en-US" sz="1000" b="1" dirty="0">
                <a:solidFill>
                  <a:schemeClr val="bg1"/>
                </a:solidFill>
              </a:endParaRPr>
            </a:p>
          </p:txBody>
        </p:sp>
        <p:sp>
          <p:nvSpPr>
            <p:cNvPr id="46" name="Rounded Rectangle 139"/>
            <p:cNvSpPr/>
            <p:nvPr/>
          </p:nvSpPr>
          <p:spPr>
            <a:xfrm>
              <a:off x="3712253" y="1381102"/>
              <a:ext cx="180000" cy="180000"/>
            </a:xfrm>
            <a:prstGeom prst="roundRect">
              <a:avLst/>
            </a:prstGeom>
            <a:solidFill>
              <a:srgbClr val="F26D00"/>
            </a:solidFill>
            <a:ln w="9525" algn="ctr">
              <a:noFill/>
              <a:round/>
              <a:headEnd/>
              <a:tailEnd/>
            </a:ln>
            <a:effectLst/>
          </p:spPr>
          <p:txBody>
            <a:bodyPr wrap="none" anchor="ctr"/>
            <a:lstStyle/>
            <a:p>
              <a:pPr algn="ctr"/>
              <a:endParaRPr lang="es-ES" sz="1000" b="1" dirty="0">
                <a:solidFill>
                  <a:schemeClr val="bg1"/>
                </a:solidFill>
              </a:endParaRPr>
            </a:p>
          </p:txBody>
        </p:sp>
      </p:grpSp>
      <p:sp>
        <p:nvSpPr>
          <p:cNvPr id="48" name="AutoShape 10"/>
          <p:cNvSpPr>
            <a:spLocks noChangeArrowheads="1"/>
          </p:cNvSpPr>
          <p:nvPr/>
        </p:nvSpPr>
        <p:spPr bwMode="auto">
          <a:xfrm rot="10800000">
            <a:off x="4716016" y="3861048"/>
            <a:ext cx="1260000" cy="647999"/>
          </a:xfrm>
          <a:prstGeom prst="homePlate">
            <a:avLst>
              <a:gd name="adj" fmla="val 28726"/>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dirty="0">
              <a:solidFill>
                <a:schemeClr val="lt1"/>
              </a:solidFill>
            </a:endParaRPr>
          </a:p>
        </p:txBody>
      </p:sp>
      <p:sp>
        <p:nvSpPr>
          <p:cNvPr id="50" name="Rectangle 7"/>
          <p:cNvSpPr>
            <a:spLocks noChangeArrowheads="1"/>
          </p:cNvSpPr>
          <p:nvPr/>
        </p:nvSpPr>
        <p:spPr bwMode="auto">
          <a:xfrm>
            <a:off x="4986931" y="1340766"/>
            <a:ext cx="2016000" cy="456000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marL="228600" indent="-228600" algn="just">
              <a:buFont typeface="+mj-lt"/>
              <a:buAutoNum type="arabicParenR" startAt="5"/>
            </a:pPr>
            <a:r>
              <a:rPr lang="es-ES" sz="1100" dirty="0">
                <a:solidFill>
                  <a:schemeClr val="tx1"/>
                </a:solidFill>
              </a:rPr>
              <a:t>Falta de firma (mínimo 2 firmas) o falla en la firma en los documentos que se envían al banco.</a:t>
            </a:r>
          </a:p>
          <a:p>
            <a:pPr marL="228600" indent="-228600" algn="just">
              <a:buFont typeface="+mj-lt"/>
              <a:buAutoNum type="arabicParenR" startAt="5"/>
            </a:pPr>
            <a:r>
              <a:rPr lang="es-ES" sz="1100" dirty="0">
                <a:solidFill>
                  <a:schemeClr val="tx1"/>
                </a:solidFill>
              </a:rPr>
              <a:t>Riesgo de que no se haya dado la verificación. Proceso de la operación continúa sin que Back office haya realizado la verificación de datos. </a:t>
            </a:r>
          </a:p>
          <a:p>
            <a:pPr marL="228600" indent="-228600" algn="just">
              <a:buFont typeface="+mj-lt"/>
              <a:buAutoNum type="arabicParenR" startAt="5"/>
            </a:pPr>
            <a:r>
              <a:rPr lang="es-ES" sz="1100" dirty="0">
                <a:solidFill>
                  <a:schemeClr val="tx1"/>
                </a:solidFill>
              </a:rPr>
              <a:t>Pago de facturas “infladas” a proveedores. </a:t>
            </a:r>
          </a:p>
          <a:p>
            <a:pPr marL="228600" indent="-228600" algn="just">
              <a:buFont typeface="+mj-lt"/>
              <a:buAutoNum type="arabicParenR" startAt="5"/>
            </a:pPr>
            <a:r>
              <a:rPr lang="es-ES" sz="1100" dirty="0">
                <a:solidFill>
                  <a:schemeClr val="tx1"/>
                </a:solidFill>
              </a:rPr>
              <a:t>Gerente General Adjunto de Inversiones no se encuentra disponible para autorizar el pago de facturas de Inversiones Inmuebles (&lt; s/.500,000.00 o $.500,000.00) lo que puede provocar un retraso.</a:t>
            </a:r>
          </a:p>
        </p:txBody>
      </p:sp>
      <p:sp>
        <p:nvSpPr>
          <p:cNvPr id="51" name="Rectangle 7"/>
          <p:cNvSpPr>
            <a:spLocks noChangeArrowheads="1"/>
          </p:cNvSpPr>
          <p:nvPr/>
        </p:nvSpPr>
        <p:spPr bwMode="auto">
          <a:xfrm>
            <a:off x="4986931" y="1030207"/>
            <a:ext cx="2016000" cy="252000"/>
          </a:xfrm>
          <a:prstGeom prst="rect">
            <a:avLst/>
          </a:prstGeom>
          <a:solidFill>
            <a:schemeClr val="tx1">
              <a:lumMod val="50000"/>
              <a:lumOff val="50000"/>
            </a:schemeClr>
          </a:solidFill>
          <a:ln w="9525" algn="ctr">
            <a:noFill/>
            <a:miter lim="800000"/>
            <a:headEnd/>
            <a:tailEnd/>
          </a:ln>
          <a:effectLst>
            <a:prstShdw prst="shdw17" dist="17961" dir="2700000">
              <a:srgbClr val="DDDDDD">
                <a:gamma/>
                <a:shade val="60000"/>
                <a:invGamma/>
              </a:srgbClr>
            </a:prstShdw>
          </a:effectLst>
        </p:spPr>
        <p:txBody>
          <a:bodyPr wrap="none" anchor="ctr"/>
          <a:lstStyle/>
          <a:p>
            <a:pPr algn="ctr"/>
            <a:r>
              <a:rPr lang="es-ES" sz="1300" b="1" dirty="0">
                <a:solidFill>
                  <a:schemeClr val="bg1"/>
                </a:solidFill>
              </a:rPr>
              <a:t>Riesgos</a:t>
            </a:r>
          </a:p>
        </p:txBody>
      </p:sp>
      <p:sp>
        <p:nvSpPr>
          <p:cNvPr id="23" name="Rectangle 7"/>
          <p:cNvSpPr>
            <a:spLocks noChangeArrowheads="1"/>
          </p:cNvSpPr>
          <p:nvPr/>
        </p:nvSpPr>
        <p:spPr bwMode="auto">
          <a:xfrm>
            <a:off x="7114697" y="1030207"/>
            <a:ext cx="900000" cy="252000"/>
          </a:xfrm>
          <a:prstGeom prst="rect">
            <a:avLst/>
          </a:prstGeom>
          <a:solidFill>
            <a:schemeClr val="tx1">
              <a:lumMod val="50000"/>
              <a:lumOff val="50000"/>
            </a:schemeClr>
          </a:solidFill>
          <a:ln w="9525" algn="ctr">
            <a:noFill/>
            <a:miter lim="800000"/>
            <a:headEnd/>
            <a:tailEnd/>
          </a:ln>
          <a:effectLst>
            <a:prstShdw prst="shdw17" dist="17961" dir="2700000">
              <a:srgbClr val="DDDDDD">
                <a:gamma/>
                <a:shade val="60000"/>
                <a:invGamma/>
              </a:srgbClr>
            </a:prstShdw>
          </a:effectLst>
        </p:spPr>
        <p:txBody>
          <a:bodyPr wrap="none" anchor="ctr"/>
          <a:lstStyle/>
          <a:p>
            <a:pPr algn="ctr"/>
            <a:r>
              <a:rPr lang="es-PE" sz="1300" b="1" dirty="0">
                <a:solidFill>
                  <a:schemeClr val="bg1"/>
                </a:solidFill>
              </a:rPr>
              <a:t>PEA</a:t>
            </a:r>
            <a:endParaRPr lang="es-ES" sz="1300" b="1" dirty="0">
              <a:solidFill>
                <a:schemeClr val="bg1"/>
              </a:solidFill>
            </a:endParaRPr>
          </a:p>
        </p:txBody>
      </p:sp>
      <p:sp>
        <p:nvSpPr>
          <p:cNvPr id="24" name="Rectangle 7"/>
          <p:cNvSpPr>
            <a:spLocks noChangeArrowheads="1"/>
          </p:cNvSpPr>
          <p:nvPr/>
        </p:nvSpPr>
        <p:spPr bwMode="auto">
          <a:xfrm>
            <a:off x="7114697" y="1340766"/>
            <a:ext cx="900000" cy="456000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marL="228600" indent="-228600" algn="just"/>
            <a:endParaRPr lang="es-ES" sz="1100" dirty="0">
              <a:solidFill>
                <a:schemeClr val="tx1"/>
              </a:solidFill>
            </a:endParaRPr>
          </a:p>
        </p:txBody>
      </p:sp>
      <p:sp>
        <p:nvSpPr>
          <p:cNvPr id="26" name="Rectangle 7"/>
          <p:cNvSpPr>
            <a:spLocks noChangeArrowheads="1"/>
          </p:cNvSpPr>
          <p:nvPr/>
        </p:nvSpPr>
        <p:spPr bwMode="auto">
          <a:xfrm>
            <a:off x="8064488" y="1030207"/>
            <a:ext cx="900000" cy="252000"/>
          </a:xfrm>
          <a:prstGeom prst="rect">
            <a:avLst/>
          </a:prstGeom>
          <a:solidFill>
            <a:schemeClr val="tx1">
              <a:lumMod val="50000"/>
              <a:lumOff val="50000"/>
            </a:schemeClr>
          </a:solidFill>
          <a:ln w="9525" algn="ctr">
            <a:noFill/>
            <a:miter lim="800000"/>
            <a:headEnd/>
            <a:tailEnd/>
          </a:ln>
          <a:effectLst>
            <a:prstShdw prst="shdw17" dist="17961" dir="2700000">
              <a:srgbClr val="DDDDDD">
                <a:gamma/>
                <a:shade val="60000"/>
                <a:invGamma/>
              </a:srgbClr>
            </a:prstShdw>
          </a:effectLst>
        </p:spPr>
        <p:txBody>
          <a:bodyPr wrap="none" anchor="ctr"/>
          <a:lstStyle/>
          <a:p>
            <a:pPr algn="ctr"/>
            <a:r>
              <a:rPr lang="es-PE" sz="1300" b="1" dirty="0" err="1">
                <a:solidFill>
                  <a:schemeClr val="bg1"/>
                </a:solidFill>
              </a:rPr>
              <a:t>VaR</a:t>
            </a:r>
            <a:endParaRPr lang="es-ES" sz="1300" b="1" dirty="0">
              <a:solidFill>
                <a:schemeClr val="bg1"/>
              </a:solidFill>
            </a:endParaRPr>
          </a:p>
        </p:txBody>
      </p:sp>
      <p:sp>
        <p:nvSpPr>
          <p:cNvPr id="27" name="Rectangle 7"/>
          <p:cNvSpPr>
            <a:spLocks noChangeArrowheads="1"/>
          </p:cNvSpPr>
          <p:nvPr/>
        </p:nvSpPr>
        <p:spPr bwMode="auto">
          <a:xfrm>
            <a:off x="8064488" y="1340766"/>
            <a:ext cx="900000" cy="456000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marL="228600" indent="-228600" algn="just"/>
            <a:endParaRPr lang="es-ES" sz="1100" dirty="0">
              <a:solidFill>
                <a:schemeClr val="tx1"/>
              </a:solidFill>
            </a:endParaRPr>
          </a:p>
        </p:txBody>
      </p:sp>
      <p:sp>
        <p:nvSpPr>
          <p:cNvPr id="28" name="Rounded Rectangle 93"/>
          <p:cNvSpPr/>
          <p:nvPr/>
        </p:nvSpPr>
        <p:spPr>
          <a:xfrm>
            <a:off x="7164288" y="1412776"/>
            <a:ext cx="792000" cy="548640"/>
          </a:xfrm>
          <a:prstGeom prst="roundRect">
            <a:avLst/>
          </a:prstGeom>
          <a:noFill/>
          <a:ln w="127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400" b="1" dirty="0">
                <a:solidFill>
                  <a:schemeClr val="tx1"/>
                </a:solidFill>
                <a:latin typeface="+mj-lt"/>
              </a:rPr>
              <a:t>0</a:t>
            </a:r>
            <a:endParaRPr lang="es-CL" sz="1400" b="1" dirty="0">
              <a:solidFill>
                <a:schemeClr val="tx1"/>
              </a:solidFill>
              <a:latin typeface="+mj-lt"/>
            </a:endParaRPr>
          </a:p>
        </p:txBody>
      </p:sp>
      <p:sp>
        <p:nvSpPr>
          <p:cNvPr id="29" name="Rounded Rectangle 93"/>
          <p:cNvSpPr/>
          <p:nvPr/>
        </p:nvSpPr>
        <p:spPr>
          <a:xfrm>
            <a:off x="8100480" y="1412776"/>
            <a:ext cx="792000" cy="548640"/>
          </a:xfrm>
          <a:prstGeom prst="roundRect">
            <a:avLst/>
          </a:prstGeom>
          <a:noFill/>
          <a:ln w="127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400" b="1" dirty="0">
                <a:solidFill>
                  <a:schemeClr val="tx1"/>
                </a:solidFill>
                <a:latin typeface="+mj-lt"/>
              </a:rPr>
              <a:t>0</a:t>
            </a:r>
            <a:endParaRPr lang="es-CL" sz="1400" b="1" dirty="0">
              <a:solidFill>
                <a:schemeClr val="tx1"/>
              </a:solidFill>
              <a:latin typeface="+mj-lt"/>
            </a:endParaRPr>
          </a:p>
        </p:txBody>
      </p:sp>
      <p:sp>
        <p:nvSpPr>
          <p:cNvPr id="30" name="Rounded Rectangle 93"/>
          <p:cNvSpPr/>
          <p:nvPr/>
        </p:nvSpPr>
        <p:spPr>
          <a:xfrm>
            <a:off x="7164288" y="2232288"/>
            <a:ext cx="792000" cy="548640"/>
          </a:xfrm>
          <a:prstGeom prst="roundRect">
            <a:avLst/>
          </a:prstGeom>
          <a:noFill/>
          <a:ln w="127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400" b="1" dirty="0">
                <a:solidFill>
                  <a:schemeClr val="tx1"/>
                </a:solidFill>
                <a:latin typeface="+mj-lt"/>
              </a:rPr>
              <a:t>0</a:t>
            </a:r>
            <a:endParaRPr lang="es-CL" sz="1400" b="1" dirty="0">
              <a:solidFill>
                <a:schemeClr val="tx1"/>
              </a:solidFill>
              <a:latin typeface="+mj-lt"/>
            </a:endParaRPr>
          </a:p>
        </p:txBody>
      </p:sp>
      <p:sp>
        <p:nvSpPr>
          <p:cNvPr id="31" name="Rounded Rectangle 93"/>
          <p:cNvSpPr/>
          <p:nvPr/>
        </p:nvSpPr>
        <p:spPr>
          <a:xfrm>
            <a:off x="8100480" y="2232288"/>
            <a:ext cx="792000" cy="548640"/>
          </a:xfrm>
          <a:prstGeom prst="roundRect">
            <a:avLst/>
          </a:prstGeom>
          <a:noFill/>
          <a:ln w="127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400" b="1" dirty="0">
                <a:solidFill>
                  <a:schemeClr val="tx1"/>
                </a:solidFill>
                <a:latin typeface="+mj-lt"/>
              </a:rPr>
              <a:t>0</a:t>
            </a:r>
            <a:endParaRPr lang="es-CL" sz="1400" b="1" dirty="0">
              <a:solidFill>
                <a:schemeClr val="tx1"/>
              </a:solidFill>
              <a:latin typeface="+mj-lt"/>
            </a:endParaRPr>
          </a:p>
        </p:txBody>
      </p:sp>
      <p:sp>
        <p:nvSpPr>
          <p:cNvPr id="32" name="Rounded Rectangle 93"/>
          <p:cNvSpPr/>
          <p:nvPr/>
        </p:nvSpPr>
        <p:spPr>
          <a:xfrm>
            <a:off x="7164288" y="2996952"/>
            <a:ext cx="792000" cy="548640"/>
          </a:xfrm>
          <a:prstGeom prst="roundRect">
            <a:avLst/>
          </a:prstGeom>
          <a:noFill/>
          <a:ln w="127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400" b="1" dirty="0">
                <a:solidFill>
                  <a:schemeClr val="tx1"/>
                </a:solidFill>
                <a:latin typeface="+mj-lt"/>
              </a:rPr>
              <a:t>0</a:t>
            </a:r>
            <a:endParaRPr lang="es-CL" sz="1400" b="1" dirty="0">
              <a:solidFill>
                <a:schemeClr val="tx1"/>
              </a:solidFill>
              <a:latin typeface="+mj-lt"/>
            </a:endParaRPr>
          </a:p>
        </p:txBody>
      </p:sp>
      <p:sp>
        <p:nvSpPr>
          <p:cNvPr id="33" name="Rounded Rectangle 93"/>
          <p:cNvSpPr/>
          <p:nvPr/>
        </p:nvSpPr>
        <p:spPr>
          <a:xfrm>
            <a:off x="8100480" y="2996952"/>
            <a:ext cx="792000" cy="548640"/>
          </a:xfrm>
          <a:prstGeom prst="roundRect">
            <a:avLst/>
          </a:prstGeom>
          <a:noFill/>
          <a:ln w="127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400" b="1" dirty="0">
                <a:solidFill>
                  <a:schemeClr val="tx1"/>
                </a:solidFill>
                <a:latin typeface="+mj-lt"/>
              </a:rPr>
              <a:t>0</a:t>
            </a:r>
            <a:endParaRPr lang="es-CL" sz="1400" b="1" dirty="0">
              <a:solidFill>
                <a:schemeClr val="tx1"/>
              </a:solidFill>
              <a:latin typeface="+mj-lt"/>
            </a:endParaRPr>
          </a:p>
        </p:txBody>
      </p:sp>
      <p:sp>
        <p:nvSpPr>
          <p:cNvPr id="34" name="Rounded Rectangle 93"/>
          <p:cNvSpPr/>
          <p:nvPr/>
        </p:nvSpPr>
        <p:spPr>
          <a:xfrm>
            <a:off x="7164288" y="3861048"/>
            <a:ext cx="792000" cy="548640"/>
          </a:xfrm>
          <a:prstGeom prst="roundRect">
            <a:avLst/>
          </a:prstGeom>
          <a:noFill/>
          <a:ln w="127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400" b="1" dirty="0">
                <a:solidFill>
                  <a:schemeClr val="tx1"/>
                </a:solidFill>
                <a:latin typeface="+mj-lt"/>
              </a:rPr>
              <a:t>102</a:t>
            </a:r>
            <a:endParaRPr lang="es-CL" sz="1400" b="1" dirty="0">
              <a:solidFill>
                <a:schemeClr val="tx1"/>
              </a:solidFill>
              <a:latin typeface="+mj-lt"/>
            </a:endParaRPr>
          </a:p>
        </p:txBody>
      </p:sp>
      <p:sp>
        <p:nvSpPr>
          <p:cNvPr id="35" name="Rounded Rectangle 93"/>
          <p:cNvSpPr/>
          <p:nvPr/>
        </p:nvSpPr>
        <p:spPr>
          <a:xfrm>
            <a:off x="8100480" y="3861048"/>
            <a:ext cx="792000" cy="548640"/>
          </a:xfrm>
          <a:prstGeom prst="roundRect">
            <a:avLst/>
          </a:prstGeom>
          <a:noFill/>
          <a:ln w="127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400" b="1" dirty="0">
                <a:solidFill>
                  <a:schemeClr val="tx1"/>
                </a:solidFill>
                <a:latin typeface="+mj-lt"/>
              </a:rPr>
              <a:t>2,239</a:t>
            </a:r>
            <a:endParaRPr lang="es-CL" sz="1400" b="1" dirty="0">
              <a:solidFill>
                <a:schemeClr val="tx1"/>
              </a:solidFill>
              <a:latin typeface="+mj-lt"/>
            </a:endParaRPr>
          </a:p>
        </p:txBody>
      </p:sp>
      <p:sp>
        <p:nvSpPr>
          <p:cNvPr id="47" name="Text Box 44"/>
          <p:cNvSpPr txBox="1">
            <a:spLocks noChangeArrowheads="1"/>
          </p:cNvSpPr>
          <p:nvPr/>
        </p:nvSpPr>
        <p:spPr bwMode="auto">
          <a:xfrm>
            <a:off x="7610039" y="764704"/>
            <a:ext cx="1354449" cy="230832"/>
          </a:xfrm>
          <a:prstGeom prst="rect">
            <a:avLst/>
          </a:prstGeom>
          <a:noFill/>
          <a:ln w="9525" algn="ctr">
            <a:noFill/>
            <a:miter lim="800000"/>
            <a:headEnd/>
            <a:tailEnd/>
          </a:ln>
          <a:effectLst/>
        </p:spPr>
        <p:txBody>
          <a:bodyPr wrap="square">
            <a:spAutoFit/>
          </a:bodyPr>
          <a:lstStyle/>
          <a:p>
            <a:r>
              <a:rPr lang="es-ES" sz="900" b="1" i="1" dirty="0">
                <a:solidFill>
                  <a:srgbClr val="525252"/>
                </a:solidFill>
              </a:rPr>
              <a:t>Miles de Nuevos Soles</a:t>
            </a:r>
            <a:endParaRPr lang="en-US" sz="900" b="1" i="1" dirty="0">
              <a:solidFill>
                <a:srgbClr val="525252"/>
              </a:solidFill>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Rectangle 7"/>
          <p:cNvSpPr>
            <a:spLocks noChangeArrowheads="1"/>
          </p:cNvSpPr>
          <p:nvPr/>
        </p:nvSpPr>
        <p:spPr bwMode="auto">
          <a:xfrm>
            <a:off x="4918801" y="980727"/>
            <a:ext cx="4104000" cy="5040561"/>
          </a:xfrm>
          <a:prstGeom prst="rect">
            <a:avLst/>
          </a:prstGeom>
          <a:solidFill>
            <a:schemeClr val="accent1">
              <a:lumMod val="20000"/>
              <a:lumOff val="80000"/>
            </a:schemeClr>
          </a:solidFill>
          <a:ln w="9525" algn="ctr">
            <a:noFill/>
            <a:miter lim="800000"/>
            <a:headEnd/>
            <a:tailEnd/>
          </a:ln>
          <a:effectLst>
            <a:prstShdw prst="shdw17" dist="17961" dir="2700000">
              <a:srgbClr val="DDDDDD">
                <a:gamma/>
                <a:shade val="60000"/>
                <a:invGamma/>
              </a:srgbClr>
            </a:prstShdw>
          </a:effectLst>
        </p:spPr>
        <p:txBody>
          <a:bodyPr wrap="none" anchor="ctr"/>
          <a:lstStyle/>
          <a:p>
            <a:pPr algn="ctr"/>
            <a:endParaRPr lang="es-ES" sz="1300" b="1" dirty="0">
              <a:solidFill>
                <a:srgbClr val="525252"/>
              </a:solidFill>
            </a:endParaRPr>
          </a:p>
        </p:txBody>
      </p:sp>
      <p:sp>
        <p:nvSpPr>
          <p:cNvPr id="16" name="Title 1"/>
          <p:cNvSpPr>
            <a:spLocks noGrp="1"/>
          </p:cNvSpPr>
          <p:nvPr>
            <p:ph type="title"/>
          </p:nvPr>
        </p:nvSpPr>
        <p:spPr>
          <a:xfrm>
            <a:off x="47625" y="32965"/>
            <a:ext cx="8217470" cy="587723"/>
          </a:xfrm>
        </p:spPr>
        <p:txBody>
          <a:bodyPr/>
          <a:lstStyle/>
          <a:p>
            <a:r>
              <a:rPr lang="es-ES" dirty="0"/>
              <a:t>Anexo: Árbol de Procesos</a:t>
            </a:r>
          </a:p>
        </p:txBody>
      </p:sp>
      <p:sp>
        <p:nvSpPr>
          <p:cNvPr id="22" name="AutoShape 10"/>
          <p:cNvSpPr>
            <a:spLocks noChangeArrowheads="1"/>
          </p:cNvSpPr>
          <p:nvPr/>
        </p:nvSpPr>
        <p:spPr bwMode="auto">
          <a:xfrm rot="10800000">
            <a:off x="1187624" y="1196767"/>
            <a:ext cx="2304256" cy="4320464"/>
          </a:xfrm>
          <a:prstGeom prst="homePlate">
            <a:avLst>
              <a:gd name="adj" fmla="val 28726"/>
            </a:avLst>
          </a:prstGeom>
          <a:solidFill>
            <a:schemeClr val="accent1">
              <a:lumMod val="20000"/>
              <a:lumOff val="80000"/>
            </a:schemeClr>
          </a:solidFill>
          <a:ln w="12700">
            <a:solidFill>
              <a:srgbClr val="A9A9A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dirty="0">
              <a:solidFill>
                <a:schemeClr val="lt1"/>
              </a:solidFill>
            </a:endParaRPr>
          </a:p>
        </p:txBody>
      </p:sp>
      <p:sp>
        <p:nvSpPr>
          <p:cNvPr id="23" name="Rounded Rectangle 21"/>
          <p:cNvSpPr/>
          <p:nvPr/>
        </p:nvSpPr>
        <p:spPr>
          <a:xfrm>
            <a:off x="107504" y="2977409"/>
            <a:ext cx="1512000" cy="648000"/>
          </a:xfrm>
          <a:prstGeom prst="roundRect">
            <a:avLst/>
          </a:prstGeom>
          <a:solidFill>
            <a:srgbClr val="DB0613"/>
          </a:solidFill>
          <a:ln w="9525" algn="ctr">
            <a:noFill/>
            <a:miter lim="800000"/>
            <a:headEnd/>
            <a:tailEnd/>
          </a:ln>
          <a:effectLst>
            <a:prstShdw prst="shdw17" dist="17961" dir="2700000">
              <a:srgbClr val="DDDDDD">
                <a:gamma/>
                <a:shade val="60000"/>
                <a:invGamma/>
              </a:srgbClr>
            </a:prstShdw>
          </a:effectLst>
        </p:spPr>
        <p:txBody>
          <a:bodyPr wrap="none" anchor="ctr"/>
          <a:lstStyle/>
          <a:p>
            <a:pPr algn="ctr"/>
            <a:r>
              <a:rPr lang="es-ES" sz="1600" b="1" dirty="0">
                <a:solidFill>
                  <a:schemeClr val="bg1"/>
                </a:solidFill>
              </a:rPr>
              <a:t>Administración</a:t>
            </a:r>
          </a:p>
          <a:p>
            <a:pPr algn="ctr"/>
            <a:r>
              <a:rPr lang="es-ES" sz="1600" b="1" dirty="0">
                <a:solidFill>
                  <a:schemeClr val="bg1"/>
                </a:solidFill>
              </a:rPr>
              <a:t>de Fondos</a:t>
            </a:r>
          </a:p>
        </p:txBody>
      </p:sp>
      <p:sp>
        <p:nvSpPr>
          <p:cNvPr id="24" name="Rounded Rectangle 21"/>
          <p:cNvSpPr/>
          <p:nvPr/>
        </p:nvSpPr>
        <p:spPr>
          <a:xfrm>
            <a:off x="1843040" y="1340767"/>
            <a:ext cx="1548000" cy="648000"/>
          </a:xfrm>
          <a:prstGeom prst="roundRect">
            <a:avLst/>
          </a:prstGeom>
          <a:solidFill>
            <a:srgbClr val="DB0613"/>
          </a:solidFill>
          <a:ln w="9525" algn="ctr">
            <a:noFill/>
            <a:miter lim="800000"/>
            <a:headEnd/>
            <a:tailEnd/>
          </a:ln>
          <a:effectLst>
            <a:prstShdw prst="shdw17" dist="17961" dir="2700000">
              <a:srgbClr val="DDDDDD">
                <a:gamma/>
                <a:shade val="60000"/>
                <a:invGamma/>
              </a:srgbClr>
            </a:prstShdw>
          </a:effectLst>
        </p:spPr>
        <p:txBody>
          <a:bodyPr wrap="none" anchor="ctr"/>
          <a:lstStyle/>
          <a:p>
            <a:pPr algn="ctr"/>
            <a:r>
              <a:rPr lang="es-ES" sz="1400" b="1" dirty="0">
                <a:solidFill>
                  <a:schemeClr val="bg1"/>
                </a:solidFill>
              </a:rPr>
              <a:t>Identificación de</a:t>
            </a:r>
          </a:p>
          <a:p>
            <a:pPr algn="ctr"/>
            <a:r>
              <a:rPr lang="es-ES" sz="1400" b="1" dirty="0">
                <a:solidFill>
                  <a:schemeClr val="bg1"/>
                </a:solidFill>
              </a:rPr>
              <a:t>Oportunidades</a:t>
            </a:r>
          </a:p>
          <a:p>
            <a:pPr algn="ctr"/>
            <a:r>
              <a:rPr lang="es-ES" sz="1400" b="1" dirty="0">
                <a:solidFill>
                  <a:schemeClr val="bg1"/>
                </a:solidFill>
              </a:rPr>
              <a:t>de Inversión</a:t>
            </a:r>
          </a:p>
        </p:txBody>
      </p:sp>
      <p:sp>
        <p:nvSpPr>
          <p:cNvPr id="26" name="Rounded Rectangle 21"/>
          <p:cNvSpPr/>
          <p:nvPr/>
        </p:nvSpPr>
        <p:spPr>
          <a:xfrm>
            <a:off x="1843040" y="2177009"/>
            <a:ext cx="1548000" cy="648000"/>
          </a:xfrm>
          <a:prstGeom prst="roundRect">
            <a:avLst/>
          </a:prstGeom>
          <a:solidFill>
            <a:srgbClr val="DB0613"/>
          </a:solidFill>
          <a:ln w="9525" algn="ctr">
            <a:noFill/>
            <a:miter lim="800000"/>
            <a:headEnd/>
            <a:tailEnd/>
          </a:ln>
          <a:effectLst>
            <a:prstShdw prst="shdw17" dist="17961" dir="2700000">
              <a:srgbClr val="DDDDDD">
                <a:gamma/>
                <a:shade val="60000"/>
                <a:invGamma/>
              </a:srgbClr>
            </a:prstShdw>
          </a:effectLst>
        </p:spPr>
        <p:txBody>
          <a:bodyPr wrap="none" anchor="ctr"/>
          <a:lstStyle/>
          <a:p>
            <a:pPr algn="ctr"/>
            <a:r>
              <a:rPr lang="es-ES" sz="1400" b="1" dirty="0">
                <a:solidFill>
                  <a:schemeClr val="bg1"/>
                </a:solidFill>
              </a:rPr>
              <a:t>Evaluación de</a:t>
            </a:r>
          </a:p>
          <a:p>
            <a:pPr algn="ctr"/>
            <a:r>
              <a:rPr lang="es-ES" sz="1400" b="1" dirty="0">
                <a:solidFill>
                  <a:schemeClr val="bg1"/>
                </a:solidFill>
              </a:rPr>
              <a:t>Oportunidades</a:t>
            </a:r>
          </a:p>
          <a:p>
            <a:pPr algn="ctr"/>
            <a:r>
              <a:rPr lang="es-ES" sz="1400" b="1" dirty="0">
                <a:solidFill>
                  <a:schemeClr val="bg1"/>
                </a:solidFill>
              </a:rPr>
              <a:t>de Inversión</a:t>
            </a:r>
          </a:p>
        </p:txBody>
      </p:sp>
      <p:sp>
        <p:nvSpPr>
          <p:cNvPr id="27" name="Rounded Rectangle 21"/>
          <p:cNvSpPr/>
          <p:nvPr/>
        </p:nvSpPr>
        <p:spPr>
          <a:xfrm>
            <a:off x="1843040" y="2977409"/>
            <a:ext cx="1548000" cy="648000"/>
          </a:xfrm>
          <a:prstGeom prst="roundRect">
            <a:avLst/>
          </a:prstGeom>
          <a:solidFill>
            <a:srgbClr val="DB0613"/>
          </a:solidFill>
          <a:ln w="9525" algn="ctr">
            <a:noFill/>
            <a:miter lim="800000"/>
            <a:headEnd/>
            <a:tailEnd/>
          </a:ln>
          <a:effectLst>
            <a:prstShdw prst="shdw17" dist="17961" dir="2700000">
              <a:srgbClr val="DDDDDD">
                <a:gamma/>
                <a:shade val="60000"/>
                <a:invGamma/>
              </a:srgbClr>
            </a:prstShdw>
          </a:effectLst>
        </p:spPr>
        <p:txBody>
          <a:bodyPr wrap="none" anchor="ctr"/>
          <a:lstStyle/>
          <a:p>
            <a:pPr algn="ctr"/>
            <a:r>
              <a:rPr lang="es-ES" sz="1400" b="1" dirty="0">
                <a:solidFill>
                  <a:schemeClr val="bg1"/>
                </a:solidFill>
              </a:rPr>
              <a:t>Ejecución de</a:t>
            </a:r>
          </a:p>
          <a:p>
            <a:pPr algn="ctr"/>
            <a:r>
              <a:rPr lang="es-ES" sz="1400" b="1" dirty="0">
                <a:solidFill>
                  <a:schemeClr val="bg1"/>
                </a:solidFill>
              </a:rPr>
              <a:t>Propuesta</a:t>
            </a:r>
          </a:p>
          <a:p>
            <a:pPr algn="ctr"/>
            <a:r>
              <a:rPr lang="es-ES" sz="1400" b="1" dirty="0">
                <a:solidFill>
                  <a:schemeClr val="bg1"/>
                </a:solidFill>
              </a:rPr>
              <a:t>de Inversión</a:t>
            </a:r>
          </a:p>
        </p:txBody>
      </p:sp>
      <p:sp>
        <p:nvSpPr>
          <p:cNvPr id="28" name="Rounded Rectangle 21"/>
          <p:cNvSpPr/>
          <p:nvPr/>
        </p:nvSpPr>
        <p:spPr>
          <a:xfrm>
            <a:off x="1843040" y="3861047"/>
            <a:ext cx="1548000" cy="648000"/>
          </a:xfrm>
          <a:prstGeom prst="roundRect">
            <a:avLst/>
          </a:prstGeom>
          <a:solidFill>
            <a:srgbClr val="DB0613"/>
          </a:solidFill>
          <a:ln w="9525" algn="ctr">
            <a:noFill/>
            <a:miter lim="800000"/>
            <a:headEnd/>
            <a:tailEnd/>
          </a:ln>
          <a:effectLst>
            <a:prstShdw prst="shdw17" dist="17961" dir="2700000">
              <a:srgbClr val="DDDDDD">
                <a:gamma/>
                <a:shade val="60000"/>
                <a:invGamma/>
              </a:srgbClr>
            </a:prstShdw>
          </a:effectLst>
        </p:spPr>
        <p:txBody>
          <a:bodyPr wrap="none" anchor="ctr"/>
          <a:lstStyle/>
          <a:p>
            <a:pPr algn="ctr"/>
            <a:r>
              <a:rPr lang="es-ES" sz="1400" b="1" dirty="0">
                <a:solidFill>
                  <a:schemeClr val="bg1"/>
                </a:solidFill>
              </a:rPr>
              <a:t>Ingreso y Registro</a:t>
            </a:r>
          </a:p>
          <a:p>
            <a:pPr algn="ctr"/>
            <a:r>
              <a:rPr lang="es-ES" sz="1400" b="1" dirty="0">
                <a:solidFill>
                  <a:schemeClr val="bg1"/>
                </a:solidFill>
              </a:rPr>
              <a:t>de Operaciones </a:t>
            </a:r>
          </a:p>
          <a:p>
            <a:pPr algn="ctr"/>
            <a:r>
              <a:rPr lang="es-ES" sz="1400" b="1" dirty="0">
                <a:solidFill>
                  <a:schemeClr val="bg1"/>
                </a:solidFill>
              </a:rPr>
              <a:t>de Inversión</a:t>
            </a:r>
          </a:p>
        </p:txBody>
      </p:sp>
      <p:sp>
        <p:nvSpPr>
          <p:cNvPr id="29" name="Rounded Rectangle 21"/>
          <p:cNvSpPr/>
          <p:nvPr/>
        </p:nvSpPr>
        <p:spPr>
          <a:xfrm>
            <a:off x="1843040" y="4725143"/>
            <a:ext cx="1548000" cy="648000"/>
          </a:xfrm>
          <a:prstGeom prst="roundRect">
            <a:avLst/>
          </a:prstGeom>
          <a:solidFill>
            <a:srgbClr val="DB0613"/>
          </a:solidFill>
          <a:ln w="9525" algn="ctr">
            <a:noFill/>
            <a:miter lim="800000"/>
            <a:headEnd/>
            <a:tailEnd/>
          </a:ln>
          <a:effectLst>
            <a:prstShdw prst="shdw17" dist="17961" dir="2700000">
              <a:srgbClr val="DDDDDD">
                <a:gamma/>
                <a:shade val="60000"/>
                <a:invGamma/>
              </a:srgbClr>
            </a:prstShdw>
          </a:effectLst>
        </p:spPr>
        <p:txBody>
          <a:bodyPr wrap="none" anchor="ctr"/>
          <a:lstStyle/>
          <a:p>
            <a:pPr algn="ctr"/>
            <a:r>
              <a:rPr lang="es-ES" sz="1400" b="1" dirty="0">
                <a:solidFill>
                  <a:schemeClr val="bg1"/>
                </a:solidFill>
              </a:rPr>
              <a:t>Operaciones de</a:t>
            </a:r>
          </a:p>
          <a:p>
            <a:pPr algn="ctr"/>
            <a:r>
              <a:rPr lang="es-ES" sz="1400" b="1" dirty="0">
                <a:solidFill>
                  <a:schemeClr val="bg1"/>
                </a:solidFill>
              </a:rPr>
              <a:t>Money </a:t>
            </a:r>
            <a:r>
              <a:rPr lang="es-ES" sz="1400" b="1" dirty="0" err="1">
                <a:solidFill>
                  <a:schemeClr val="bg1"/>
                </a:solidFill>
              </a:rPr>
              <a:t>Market</a:t>
            </a:r>
            <a:endParaRPr lang="es-ES" sz="1400" b="1" dirty="0">
              <a:solidFill>
                <a:schemeClr val="bg1"/>
              </a:solidFill>
            </a:endParaRPr>
          </a:p>
        </p:txBody>
      </p:sp>
      <p:sp>
        <p:nvSpPr>
          <p:cNvPr id="32" name="Rectangle 7"/>
          <p:cNvSpPr>
            <a:spLocks noChangeArrowheads="1"/>
          </p:cNvSpPr>
          <p:nvPr/>
        </p:nvSpPr>
        <p:spPr bwMode="auto">
          <a:xfrm>
            <a:off x="4986931" y="1030207"/>
            <a:ext cx="2016000" cy="252000"/>
          </a:xfrm>
          <a:prstGeom prst="rect">
            <a:avLst/>
          </a:prstGeom>
          <a:solidFill>
            <a:schemeClr val="tx1">
              <a:lumMod val="50000"/>
              <a:lumOff val="50000"/>
            </a:schemeClr>
          </a:solidFill>
          <a:ln w="9525" algn="ctr">
            <a:noFill/>
            <a:miter lim="800000"/>
            <a:headEnd/>
            <a:tailEnd/>
          </a:ln>
          <a:effectLst>
            <a:prstShdw prst="shdw17" dist="17961" dir="2700000">
              <a:srgbClr val="DDDDDD">
                <a:gamma/>
                <a:shade val="60000"/>
                <a:invGamma/>
              </a:srgbClr>
            </a:prstShdw>
          </a:effectLst>
        </p:spPr>
        <p:txBody>
          <a:bodyPr wrap="none" anchor="ctr"/>
          <a:lstStyle/>
          <a:p>
            <a:pPr algn="ctr"/>
            <a:r>
              <a:rPr lang="es-ES" sz="1300" b="1" dirty="0">
                <a:solidFill>
                  <a:schemeClr val="bg1"/>
                </a:solidFill>
              </a:rPr>
              <a:t>Riesgos</a:t>
            </a:r>
          </a:p>
        </p:txBody>
      </p:sp>
      <p:grpSp>
        <p:nvGrpSpPr>
          <p:cNvPr id="34" name="33 Grupo"/>
          <p:cNvGrpSpPr/>
          <p:nvPr/>
        </p:nvGrpSpPr>
        <p:grpSpPr>
          <a:xfrm>
            <a:off x="3347865" y="4725143"/>
            <a:ext cx="1440000" cy="648000"/>
            <a:chOff x="3491881" y="1281851"/>
            <a:chExt cx="1620000" cy="648000"/>
          </a:xfrm>
        </p:grpSpPr>
        <p:sp>
          <p:nvSpPr>
            <p:cNvPr id="35" name="AutoShape 10"/>
            <p:cNvSpPr>
              <a:spLocks noChangeArrowheads="1"/>
            </p:cNvSpPr>
            <p:nvPr/>
          </p:nvSpPr>
          <p:spPr bwMode="auto">
            <a:xfrm rot="10800000">
              <a:off x="3491881" y="1281851"/>
              <a:ext cx="1620000" cy="648000"/>
            </a:xfrm>
            <a:prstGeom prst="homePlate">
              <a:avLst>
                <a:gd name="adj" fmla="val 28726"/>
              </a:avLst>
            </a:prstGeom>
            <a:solidFill>
              <a:schemeClr val="bg1"/>
            </a:solidFill>
            <a:ln w="9525" algn="ctr">
              <a:noFill/>
              <a:miter lim="800000"/>
              <a:headEnd/>
              <a:tailEnd/>
            </a:ln>
            <a:effectLst>
              <a:prstShdw prst="shdw17" dist="17961" dir="2700000">
                <a:srgbClr val="DDDDDD">
                  <a:gamma/>
                  <a:shade val="60000"/>
                  <a:invGamma/>
                </a:srgbClr>
              </a:prstShdw>
            </a:effectLst>
          </p:spPr>
          <p:txBody>
            <a:bodyPr wrap="none" anchor="ctr"/>
            <a:lstStyle/>
            <a:p>
              <a:pPr algn="ctr"/>
              <a:endParaRPr lang="en-US" sz="1300" b="1" dirty="0">
                <a:solidFill>
                  <a:schemeClr val="bg1"/>
                </a:solidFill>
              </a:endParaRPr>
            </a:p>
          </p:txBody>
        </p:sp>
        <p:sp>
          <p:nvSpPr>
            <p:cNvPr id="42" name="Rectangle 7"/>
            <p:cNvSpPr>
              <a:spLocks noChangeArrowheads="1"/>
            </p:cNvSpPr>
            <p:nvPr/>
          </p:nvSpPr>
          <p:spPr bwMode="auto">
            <a:xfrm>
              <a:off x="3838625" y="1281851"/>
              <a:ext cx="1224000" cy="648000"/>
            </a:xfrm>
            <a:prstGeom prst="rect">
              <a:avLst/>
            </a:prstGeom>
            <a:noFill/>
            <a:ln w="9525" algn="ctr">
              <a:noFill/>
              <a:miter lim="800000"/>
              <a:headEnd/>
              <a:tailEnd/>
            </a:ln>
            <a:effectLst>
              <a:prstShdw prst="shdw17" dist="17961" dir="2700000">
                <a:srgbClr val="DDDDDD">
                  <a:gamma/>
                  <a:shade val="60000"/>
                  <a:invGamma/>
                </a:srgbClr>
              </a:prstShdw>
            </a:effectLst>
          </p:spPr>
          <p:txBody>
            <a:bodyPr wrap="none" anchor="ctr"/>
            <a:lstStyle/>
            <a:p>
              <a:r>
                <a:rPr lang="es-PE" sz="1400" b="1" dirty="0"/>
                <a:t>Riesgos : 10</a:t>
              </a:r>
            </a:p>
            <a:p>
              <a:r>
                <a:rPr lang="es-PE" sz="1400" b="1" dirty="0"/>
                <a:t>Controles: 9</a:t>
              </a:r>
              <a:endParaRPr lang="es-ES" sz="1400" b="1" dirty="0"/>
            </a:p>
          </p:txBody>
        </p:sp>
        <p:sp>
          <p:nvSpPr>
            <p:cNvPr id="53" name="AutoShape 92"/>
            <p:cNvSpPr>
              <a:spLocks noChangeArrowheads="1"/>
            </p:cNvSpPr>
            <p:nvPr/>
          </p:nvSpPr>
          <p:spPr bwMode="auto">
            <a:xfrm>
              <a:off x="3712253" y="1628800"/>
              <a:ext cx="180000" cy="180000"/>
            </a:xfrm>
            <a:prstGeom prst="diamond">
              <a:avLst/>
            </a:prstGeom>
            <a:solidFill>
              <a:srgbClr val="009644"/>
            </a:solidFill>
            <a:ln w="9525" algn="ctr">
              <a:noFill/>
              <a:miter lim="800000"/>
              <a:headEnd/>
              <a:tailEnd/>
            </a:ln>
            <a:effectLst/>
          </p:spPr>
          <p:txBody>
            <a:bodyPr wrap="none" anchor="ctr"/>
            <a:lstStyle/>
            <a:p>
              <a:pPr algn="ctr"/>
              <a:endParaRPr lang="en-US" sz="1000" b="1" dirty="0">
                <a:solidFill>
                  <a:schemeClr val="bg1"/>
                </a:solidFill>
              </a:endParaRPr>
            </a:p>
          </p:txBody>
        </p:sp>
        <p:sp>
          <p:nvSpPr>
            <p:cNvPr id="54" name="Rounded Rectangle 139"/>
            <p:cNvSpPr/>
            <p:nvPr/>
          </p:nvSpPr>
          <p:spPr>
            <a:xfrm>
              <a:off x="3712253" y="1381102"/>
              <a:ext cx="180000" cy="180000"/>
            </a:xfrm>
            <a:prstGeom prst="roundRect">
              <a:avLst/>
            </a:prstGeom>
            <a:solidFill>
              <a:srgbClr val="F26D00"/>
            </a:solidFill>
            <a:ln w="9525" algn="ctr">
              <a:noFill/>
              <a:round/>
              <a:headEnd/>
              <a:tailEnd/>
            </a:ln>
            <a:effectLst/>
          </p:spPr>
          <p:txBody>
            <a:bodyPr wrap="none" anchor="ctr"/>
            <a:lstStyle/>
            <a:p>
              <a:pPr algn="ctr"/>
              <a:endParaRPr lang="es-ES" sz="1000" b="1" dirty="0">
                <a:solidFill>
                  <a:schemeClr val="bg1"/>
                </a:solidFill>
              </a:endParaRPr>
            </a:p>
          </p:txBody>
        </p:sp>
      </p:grpSp>
      <p:sp>
        <p:nvSpPr>
          <p:cNvPr id="55" name="AutoShape 10"/>
          <p:cNvSpPr>
            <a:spLocks noChangeArrowheads="1"/>
          </p:cNvSpPr>
          <p:nvPr/>
        </p:nvSpPr>
        <p:spPr bwMode="auto">
          <a:xfrm rot="10800000">
            <a:off x="4716016" y="4725143"/>
            <a:ext cx="1260000" cy="647999"/>
          </a:xfrm>
          <a:prstGeom prst="homePlate">
            <a:avLst>
              <a:gd name="adj" fmla="val 28726"/>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dirty="0">
              <a:solidFill>
                <a:schemeClr val="lt1"/>
              </a:solidFill>
            </a:endParaRPr>
          </a:p>
        </p:txBody>
      </p:sp>
      <p:sp>
        <p:nvSpPr>
          <p:cNvPr id="56" name="Rectangle 7"/>
          <p:cNvSpPr>
            <a:spLocks noChangeArrowheads="1"/>
          </p:cNvSpPr>
          <p:nvPr/>
        </p:nvSpPr>
        <p:spPr bwMode="auto">
          <a:xfrm>
            <a:off x="4986931" y="1340766"/>
            <a:ext cx="2016000" cy="456000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marL="228600" indent="-228600" algn="just">
              <a:buFont typeface="+mj-lt"/>
              <a:buAutoNum type="arabicParenR"/>
            </a:pPr>
            <a:r>
              <a:rPr lang="es-ES" sz="1100" dirty="0">
                <a:solidFill>
                  <a:schemeClr val="tx1"/>
                </a:solidFill>
              </a:rPr>
              <a:t>Jefe de Gestión de Inversión presenta impedimentos para operar en </a:t>
            </a:r>
            <a:r>
              <a:rPr lang="es-ES" sz="1100" dirty="0" err="1">
                <a:solidFill>
                  <a:schemeClr val="tx1"/>
                </a:solidFill>
              </a:rPr>
              <a:t>Bloomberg</a:t>
            </a:r>
            <a:r>
              <a:rPr lang="es-ES" sz="1100" dirty="0">
                <a:solidFill>
                  <a:schemeClr val="tx1"/>
                </a:solidFill>
              </a:rPr>
              <a:t>.</a:t>
            </a:r>
          </a:p>
          <a:p>
            <a:pPr marL="228600" indent="-228600" algn="just">
              <a:buFont typeface="+mj-lt"/>
              <a:buAutoNum type="arabicParenR"/>
            </a:pPr>
            <a:r>
              <a:rPr lang="es-ES" sz="1100" dirty="0">
                <a:solidFill>
                  <a:schemeClr val="tx1"/>
                </a:solidFill>
              </a:rPr>
              <a:t>Error en el análisis y valoraciones en las que se basan las  operaciones de Money </a:t>
            </a:r>
            <a:r>
              <a:rPr lang="es-ES" sz="1100" dirty="0" err="1">
                <a:solidFill>
                  <a:schemeClr val="tx1"/>
                </a:solidFill>
              </a:rPr>
              <a:t>Market</a:t>
            </a:r>
            <a:r>
              <a:rPr lang="es-ES" sz="1100" dirty="0">
                <a:solidFill>
                  <a:schemeClr val="tx1"/>
                </a:solidFill>
              </a:rPr>
              <a:t>, o bien por un error en los datos utilizados, o bien por un error del  analista.</a:t>
            </a:r>
          </a:p>
          <a:p>
            <a:pPr marL="228600" indent="-228600" algn="just">
              <a:buFont typeface="+mj-lt"/>
              <a:buAutoNum type="arabicParenR"/>
            </a:pPr>
            <a:r>
              <a:rPr lang="es-ES" sz="1100" dirty="0">
                <a:solidFill>
                  <a:schemeClr val="tx1"/>
                </a:solidFill>
              </a:rPr>
              <a:t>Error humano en la elaboración de las cartas de traspasos de fondos necesarias para las operaciones realizadas en Money </a:t>
            </a:r>
            <a:r>
              <a:rPr lang="es-ES" sz="1100" dirty="0" err="1">
                <a:solidFill>
                  <a:schemeClr val="tx1"/>
                </a:solidFill>
              </a:rPr>
              <a:t>Market</a:t>
            </a:r>
            <a:r>
              <a:rPr lang="es-ES" sz="1100" dirty="0">
                <a:solidFill>
                  <a:schemeClr val="tx1"/>
                </a:solidFill>
              </a:rPr>
              <a:t>.</a:t>
            </a:r>
          </a:p>
          <a:p>
            <a:pPr marL="228600" indent="-228600" algn="just">
              <a:buFont typeface="+mj-lt"/>
              <a:buAutoNum type="arabicParenR"/>
            </a:pPr>
            <a:r>
              <a:rPr lang="es-ES" sz="1100" dirty="0">
                <a:solidFill>
                  <a:schemeClr val="tx1"/>
                </a:solidFill>
              </a:rPr>
              <a:t>Boleta sin firma del responsable de la ejecución de la operación.</a:t>
            </a:r>
          </a:p>
          <a:p>
            <a:pPr marL="228600" indent="-228600" algn="just">
              <a:buFont typeface="+mj-lt"/>
              <a:buAutoNum type="arabicParenR"/>
            </a:pPr>
            <a:r>
              <a:rPr lang="es-ES" sz="1100" dirty="0">
                <a:solidFill>
                  <a:schemeClr val="tx1"/>
                </a:solidFill>
              </a:rPr>
              <a:t>riesgo de un fallo en la introducción de estos datos, ya que es una introducción manual.</a:t>
            </a:r>
          </a:p>
        </p:txBody>
      </p:sp>
      <p:sp>
        <p:nvSpPr>
          <p:cNvPr id="25" name="Rectangle 7"/>
          <p:cNvSpPr>
            <a:spLocks noChangeArrowheads="1"/>
          </p:cNvSpPr>
          <p:nvPr/>
        </p:nvSpPr>
        <p:spPr bwMode="auto">
          <a:xfrm>
            <a:off x="7114697" y="1030207"/>
            <a:ext cx="900000" cy="252000"/>
          </a:xfrm>
          <a:prstGeom prst="rect">
            <a:avLst/>
          </a:prstGeom>
          <a:solidFill>
            <a:schemeClr val="tx1">
              <a:lumMod val="50000"/>
              <a:lumOff val="50000"/>
            </a:schemeClr>
          </a:solidFill>
          <a:ln w="9525" algn="ctr">
            <a:noFill/>
            <a:miter lim="800000"/>
            <a:headEnd/>
            <a:tailEnd/>
          </a:ln>
          <a:effectLst>
            <a:prstShdw prst="shdw17" dist="17961" dir="2700000">
              <a:srgbClr val="DDDDDD">
                <a:gamma/>
                <a:shade val="60000"/>
                <a:invGamma/>
              </a:srgbClr>
            </a:prstShdw>
          </a:effectLst>
        </p:spPr>
        <p:txBody>
          <a:bodyPr wrap="none" anchor="ctr"/>
          <a:lstStyle/>
          <a:p>
            <a:pPr algn="ctr"/>
            <a:r>
              <a:rPr lang="es-PE" sz="1300" b="1" dirty="0">
                <a:solidFill>
                  <a:schemeClr val="bg1"/>
                </a:solidFill>
              </a:rPr>
              <a:t>PEA</a:t>
            </a:r>
            <a:endParaRPr lang="es-ES" sz="1300" b="1" dirty="0">
              <a:solidFill>
                <a:schemeClr val="bg1"/>
              </a:solidFill>
            </a:endParaRPr>
          </a:p>
        </p:txBody>
      </p:sp>
      <p:sp>
        <p:nvSpPr>
          <p:cNvPr id="36" name="Rectangle 7"/>
          <p:cNvSpPr>
            <a:spLocks noChangeArrowheads="1"/>
          </p:cNvSpPr>
          <p:nvPr/>
        </p:nvSpPr>
        <p:spPr bwMode="auto">
          <a:xfrm>
            <a:off x="7114697" y="1340766"/>
            <a:ext cx="900000" cy="456000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marL="228600" indent="-228600" algn="just"/>
            <a:endParaRPr lang="es-ES" sz="1100" dirty="0">
              <a:solidFill>
                <a:schemeClr val="tx1"/>
              </a:solidFill>
            </a:endParaRPr>
          </a:p>
        </p:txBody>
      </p:sp>
      <p:sp>
        <p:nvSpPr>
          <p:cNvPr id="37" name="Rectangle 7"/>
          <p:cNvSpPr>
            <a:spLocks noChangeArrowheads="1"/>
          </p:cNvSpPr>
          <p:nvPr/>
        </p:nvSpPr>
        <p:spPr bwMode="auto">
          <a:xfrm>
            <a:off x="8064488" y="1030207"/>
            <a:ext cx="900000" cy="252000"/>
          </a:xfrm>
          <a:prstGeom prst="rect">
            <a:avLst/>
          </a:prstGeom>
          <a:solidFill>
            <a:schemeClr val="tx1">
              <a:lumMod val="50000"/>
              <a:lumOff val="50000"/>
            </a:schemeClr>
          </a:solidFill>
          <a:ln w="9525" algn="ctr">
            <a:noFill/>
            <a:miter lim="800000"/>
            <a:headEnd/>
            <a:tailEnd/>
          </a:ln>
          <a:effectLst>
            <a:prstShdw prst="shdw17" dist="17961" dir="2700000">
              <a:srgbClr val="DDDDDD">
                <a:gamma/>
                <a:shade val="60000"/>
                <a:invGamma/>
              </a:srgbClr>
            </a:prstShdw>
          </a:effectLst>
        </p:spPr>
        <p:txBody>
          <a:bodyPr wrap="none" anchor="ctr"/>
          <a:lstStyle/>
          <a:p>
            <a:pPr algn="ctr"/>
            <a:r>
              <a:rPr lang="es-PE" sz="1300" b="1" dirty="0" err="1">
                <a:solidFill>
                  <a:schemeClr val="bg1"/>
                </a:solidFill>
              </a:rPr>
              <a:t>VaR</a:t>
            </a:r>
            <a:endParaRPr lang="es-ES" sz="1300" b="1" dirty="0">
              <a:solidFill>
                <a:schemeClr val="bg1"/>
              </a:solidFill>
            </a:endParaRPr>
          </a:p>
        </p:txBody>
      </p:sp>
      <p:sp>
        <p:nvSpPr>
          <p:cNvPr id="38" name="Rectangle 7"/>
          <p:cNvSpPr>
            <a:spLocks noChangeArrowheads="1"/>
          </p:cNvSpPr>
          <p:nvPr/>
        </p:nvSpPr>
        <p:spPr bwMode="auto">
          <a:xfrm>
            <a:off x="8064488" y="1340766"/>
            <a:ext cx="900000" cy="456000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marL="228600" indent="-228600" algn="just"/>
            <a:endParaRPr lang="es-ES" sz="1100" dirty="0">
              <a:solidFill>
                <a:schemeClr val="tx1"/>
              </a:solidFill>
            </a:endParaRPr>
          </a:p>
        </p:txBody>
      </p:sp>
      <p:sp>
        <p:nvSpPr>
          <p:cNvPr id="30" name="Rounded Rectangle 93"/>
          <p:cNvSpPr/>
          <p:nvPr/>
        </p:nvSpPr>
        <p:spPr>
          <a:xfrm>
            <a:off x="7164288" y="1440200"/>
            <a:ext cx="792000" cy="548640"/>
          </a:xfrm>
          <a:prstGeom prst="roundRect">
            <a:avLst/>
          </a:prstGeom>
          <a:noFill/>
          <a:ln w="127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PE" sz="1400" b="1" dirty="0">
                <a:solidFill>
                  <a:schemeClr val="tx1"/>
                </a:solidFill>
                <a:latin typeface="+mj-lt"/>
              </a:rPr>
              <a:t>0.8</a:t>
            </a:r>
            <a:endParaRPr lang="es-CL" sz="1400" b="1" dirty="0">
              <a:solidFill>
                <a:schemeClr val="tx1"/>
              </a:solidFill>
              <a:latin typeface="+mj-lt"/>
            </a:endParaRPr>
          </a:p>
        </p:txBody>
      </p:sp>
      <p:sp>
        <p:nvSpPr>
          <p:cNvPr id="31" name="Rounded Rectangle 93"/>
          <p:cNvSpPr/>
          <p:nvPr/>
        </p:nvSpPr>
        <p:spPr>
          <a:xfrm>
            <a:off x="8100480" y="1440200"/>
            <a:ext cx="792000" cy="548640"/>
          </a:xfrm>
          <a:prstGeom prst="roundRect">
            <a:avLst/>
          </a:prstGeom>
          <a:noFill/>
          <a:ln w="127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400" b="1" dirty="0">
                <a:solidFill>
                  <a:schemeClr val="tx1"/>
                </a:solidFill>
                <a:latin typeface="+mj-lt"/>
              </a:rPr>
              <a:t>4.6</a:t>
            </a:r>
            <a:endParaRPr lang="es-CL" sz="1400" b="1" dirty="0">
              <a:solidFill>
                <a:schemeClr val="tx1"/>
              </a:solidFill>
              <a:latin typeface="+mj-lt"/>
            </a:endParaRPr>
          </a:p>
        </p:txBody>
      </p:sp>
      <p:sp>
        <p:nvSpPr>
          <p:cNvPr id="33" name="Rounded Rectangle 93"/>
          <p:cNvSpPr/>
          <p:nvPr/>
        </p:nvSpPr>
        <p:spPr>
          <a:xfrm>
            <a:off x="7164288" y="2160280"/>
            <a:ext cx="792000" cy="548640"/>
          </a:xfrm>
          <a:prstGeom prst="roundRect">
            <a:avLst/>
          </a:prstGeom>
          <a:noFill/>
          <a:ln w="127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400" b="1" dirty="0">
                <a:solidFill>
                  <a:schemeClr val="tx1"/>
                </a:solidFill>
                <a:latin typeface="+mj-lt"/>
              </a:rPr>
              <a:t>0</a:t>
            </a:r>
            <a:endParaRPr lang="es-CL" sz="1400" b="1" dirty="0">
              <a:solidFill>
                <a:schemeClr val="tx1"/>
              </a:solidFill>
              <a:latin typeface="+mj-lt"/>
            </a:endParaRPr>
          </a:p>
        </p:txBody>
      </p:sp>
      <p:sp>
        <p:nvSpPr>
          <p:cNvPr id="39" name="Rounded Rectangle 93"/>
          <p:cNvSpPr/>
          <p:nvPr/>
        </p:nvSpPr>
        <p:spPr>
          <a:xfrm>
            <a:off x="8100480" y="2160280"/>
            <a:ext cx="792000" cy="548640"/>
          </a:xfrm>
          <a:prstGeom prst="roundRect">
            <a:avLst/>
          </a:prstGeom>
          <a:noFill/>
          <a:ln w="127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400" b="1" dirty="0">
                <a:solidFill>
                  <a:schemeClr val="tx1"/>
                </a:solidFill>
                <a:latin typeface="+mj-lt"/>
              </a:rPr>
              <a:t>0</a:t>
            </a:r>
            <a:endParaRPr lang="es-CL" sz="1400" b="1" dirty="0">
              <a:solidFill>
                <a:schemeClr val="tx1"/>
              </a:solidFill>
              <a:latin typeface="+mj-lt"/>
            </a:endParaRPr>
          </a:p>
        </p:txBody>
      </p:sp>
      <p:sp>
        <p:nvSpPr>
          <p:cNvPr id="40" name="Rounded Rectangle 93"/>
          <p:cNvSpPr/>
          <p:nvPr/>
        </p:nvSpPr>
        <p:spPr>
          <a:xfrm>
            <a:off x="7164288" y="3096384"/>
            <a:ext cx="792000" cy="548640"/>
          </a:xfrm>
          <a:prstGeom prst="roundRect">
            <a:avLst/>
          </a:prstGeom>
          <a:noFill/>
          <a:ln w="127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400" b="1" dirty="0">
                <a:solidFill>
                  <a:schemeClr val="tx1"/>
                </a:solidFill>
                <a:latin typeface="+mj-lt"/>
              </a:rPr>
              <a:t>0.3</a:t>
            </a:r>
            <a:endParaRPr lang="es-CL" sz="1400" b="1" dirty="0">
              <a:solidFill>
                <a:schemeClr val="tx1"/>
              </a:solidFill>
              <a:latin typeface="+mj-lt"/>
            </a:endParaRPr>
          </a:p>
        </p:txBody>
      </p:sp>
      <p:sp>
        <p:nvSpPr>
          <p:cNvPr id="41" name="Rounded Rectangle 93"/>
          <p:cNvSpPr/>
          <p:nvPr/>
        </p:nvSpPr>
        <p:spPr>
          <a:xfrm>
            <a:off x="8100480" y="3096384"/>
            <a:ext cx="792000" cy="548640"/>
          </a:xfrm>
          <a:prstGeom prst="roundRect">
            <a:avLst/>
          </a:prstGeom>
          <a:noFill/>
          <a:ln w="127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400" b="1" dirty="0">
                <a:solidFill>
                  <a:schemeClr val="tx1"/>
                </a:solidFill>
                <a:latin typeface="+mj-lt"/>
              </a:rPr>
              <a:t>3.1</a:t>
            </a:r>
            <a:endParaRPr lang="es-CL" sz="1400" b="1" dirty="0">
              <a:solidFill>
                <a:schemeClr val="tx1"/>
              </a:solidFill>
              <a:latin typeface="+mj-lt"/>
            </a:endParaRPr>
          </a:p>
        </p:txBody>
      </p:sp>
      <p:sp>
        <p:nvSpPr>
          <p:cNvPr id="43" name="Rounded Rectangle 93"/>
          <p:cNvSpPr/>
          <p:nvPr/>
        </p:nvSpPr>
        <p:spPr>
          <a:xfrm>
            <a:off x="7164288" y="3933056"/>
            <a:ext cx="792000" cy="548640"/>
          </a:xfrm>
          <a:prstGeom prst="roundRect">
            <a:avLst/>
          </a:prstGeom>
          <a:noFill/>
          <a:ln w="127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400" b="1" dirty="0">
                <a:solidFill>
                  <a:schemeClr val="tx1"/>
                </a:solidFill>
                <a:latin typeface="+mj-lt"/>
              </a:rPr>
              <a:t>0</a:t>
            </a:r>
            <a:endParaRPr lang="es-CL" sz="1400" b="1" dirty="0">
              <a:solidFill>
                <a:schemeClr val="tx1"/>
              </a:solidFill>
              <a:latin typeface="+mj-lt"/>
            </a:endParaRPr>
          </a:p>
        </p:txBody>
      </p:sp>
      <p:sp>
        <p:nvSpPr>
          <p:cNvPr id="44" name="Rounded Rectangle 93"/>
          <p:cNvSpPr/>
          <p:nvPr/>
        </p:nvSpPr>
        <p:spPr>
          <a:xfrm>
            <a:off x="8100480" y="3933056"/>
            <a:ext cx="792000" cy="548640"/>
          </a:xfrm>
          <a:prstGeom prst="roundRect">
            <a:avLst/>
          </a:prstGeom>
          <a:noFill/>
          <a:ln w="127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400" b="1" dirty="0">
                <a:solidFill>
                  <a:schemeClr val="tx1"/>
                </a:solidFill>
                <a:latin typeface="+mj-lt"/>
              </a:rPr>
              <a:t>0</a:t>
            </a:r>
            <a:endParaRPr lang="es-CL" sz="1400" b="1" dirty="0">
              <a:solidFill>
                <a:schemeClr val="tx1"/>
              </a:solidFill>
              <a:latin typeface="+mj-lt"/>
            </a:endParaRPr>
          </a:p>
        </p:txBody>
      </p:sp>
      <p:sp>
        <p:nvSpPr>
          <p:cNvPr id="45" name="Rounded Rectangle 93"/>
          <p:cNvSpPr/>
          <p:nvPr/>
        </p:nvSpPr>
        <p:spPr>
          <a:xfrm>
            <a:off x="7164288" y="4608552"/>
            <a:ext cx="792000" cy="548640"/>
          </a:xfrm>
          <a:prstGeom prst="roundRect">
            <a:avLst/>
          </a:prstGeom>
          <a:noFill/>
          <a:ln w="127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400" b="1" dirty="0">
                <a:solidFill>
                  <a:schemeClr val="tx1"/>
                </a:solidFill>
                <a:latin typeface="+mj-lt"/>
              </a:rPr>
              <a:t>0</a:t>
            </a:r>
            <a:endParaRPr lang="es-CL" sz="1400" b="1" dirty="0">
              <a:solidFill>
                <a:schemeClr val="tx1"/>
              </a:solidFill>
              <a:latin typeface="+mj-lt"/>
            </a:endParaRPr>
          </a:p>
        </p:txBody>
      </p:sp>
      <p:sp>
        <p:nvSpPr>
          <p:cNvPr id="46" name="Rounded Rectangle 93"/>
          <p:cNvSpPr/>
          <p:nvPr/>
        </p:nvSpPr>
        <p:spPr>
          <a:xfrm>
            <a:off x="8100480" y="4608552"/>
            <a:ext cx="792000" cy="548640"/>
          </a:xfrm>
          <a:prstGeom prst="roundRect">
            <a:avLst/>
          </a:prstGeom>
          <a:noFill/>
          <a:ln w="127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400" b="1" dirty="0">
                <a:solidFill>
                  <a:schemeClr val="tx1"/>
                </a:solidFill>
                <a:latin typeface="+mj-lt"/>
              </a:rPr>
              <a:t>0</a:t>
            </a:r>
            <a:endParaRPr lang="es-CL" sz="1400" b="1" dirty="0">
              <a:solidFill>
                <a:schemeClr val="tx1"/>
              </a:solidFill>
              <a:latin typeface="+mj-lt"/>
            </a:endParaRPr>
          </a:p>
        </p:txBody>
      </p:sp>
      <p:sp>
        <p:nvSpPr>
          <p:cNvPr id="47" name="Text Box 44"/>
          <p:cNvSpPr txBox="1">
            <a:spLocks noChangeArrowheads="1"/>
          </p:cNvSpPr>
          <p:nvPr/>
        </p:nvSpPr>
        <p:spPr bwMode="auto">
          <a:xfrm>
            <a:off x="7610039" y="764704"/>
            <a:ext cx="1354449" cy="230832"/>
          </a:xfrm>
          <a:prstGeom prst="rect">
            <a:avLst/>
          </a:prstGeom>
          <a:noFill/>
          <a:ln w="9525" algn="ctr">
            <a:noFill/>
            <a:miter lim="800000"/>
            <a:headEnd/>
            <a:tailEnd/>
          </a:ln>
          <a:effectLst/>
        </p:spPr>
        <p:txBody>
          <a:bodyPr wrap="square">
            <a:spAutoFit/>
          </a:bodyPr>
          <a:lstStyle/>
          <a:p>
            <a:r>
              <a:rPr lang="es-ES" sz="900" b="1" i="1" dirty="0">
                <a:solidFill>
                  <a:srgbClr val="525252"/>
                </a:solidFill>
              </a:rPr>
              <a:t>Miles de Nuevos Soles</a:t>
            </a:r>
            <a:endParaRPr lang="en-US" sz="900" b="1" i="1" dirty="0">
              <a:solidFill>
                <a:srgbClr val="525252"/>
              </a:solidFill>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Rectangle 7"/>
          <p:cNvSpPr>
            <a:spLocks noChangeArrowheads="1"/>
          </p:cNvSpPr>
          <p:nvPr/>
        </p:nvSpPr>
        <p:spPr bwMode="auto">
          <a:xfrm>
            <a:off x="4918801" y="980727"/>
            <a:ext cx="4104000" cy="5040561"/>
          </a:xfrm>
          <a:prstGeom prst="rect">
            <a:avLst/>
          </a:prstGeom>
          <a:solidFill>
            <a:schemeClr val="accent1">
              <a:lumMod val="20000"/>
              <a:lumOff val="80000"/>
            </a:schemeClr>
          </a:solidFill>
          <a:ln w="9525" algn="ctr">
            <a:noFill/>
            <a:miter lim="800000"/>
            <a:headEnd/>
            <a:tailEnd/>
          </a:ln>
          <a:effectLst>
            <a:prstShdw prst="shdw17" dist="17961" dir="2700000">
              <a:srgbClr val="DDDDDD">
                <a:gamma/>
                <a:shade val="60000"/>
                <a:invGamma/>
              </a:srgbClr>
            </a:prstShdw>
          </a:effectLst>
        </p:spPr>
        <p:txBody>
          <a:bodyPr wrap="none" anchor="ctr"/>
          <a:lstStyle/>
          <a:p>
            <a:pPr algn="ctr"/>
            <a:endParaRPr lang="es-ES" sz="1300" b="1" dirty="0">
              <a:solidFill>
                <a:srgbClr val="525252"/>
              </a:solidFill>
            </a:endParaRPr>
          </a:p>
        </p:txBody>
      </p:sp>
      <p:sp>
        <p:nvSpPr>
          <p:cNvPr id="16" name="Title 1"/>
          <p:cNvSpPr>
            <a:spLocks noGrp="1"/>
          </p:cNvSpPr>
          <p:nvPr>
            <p:ph type="title"/>
          </p:nvPr>
        </p:nvSpPr>
        <p:spPr>
          <a:xfrm>
            <a:off x="47625" y="32965"/>
            <a:ext cx="8217470" cy="587723"/>
          </a:xfrm>
        </p:spPr>
        <p:txBody>
          <a:bodyPr/>
          <a:lstStyle/>
          <a:p>
            <a:r>
              <a:rPr lang="es-ES" dirty="0"/>
              <a:t>Anexo: Árbol de Procesos</a:t>
            </a:r>
          </a:p>
        </p:txBody>
      </p:sp>
      <p:sp>
        <p:nvSpPr>
          <p:cNvPr id="17" name="Rounded Rectangle 31">
            <a:hlinkClick r:id="rId2" action="ppaction://hlinksldjump"/>
          </p:cNvPr>
          <p:cNvSpPr/>
          <p:nvPr/>
        </p:nvSpPr>
        <p:spPr>
          <a:xfrm>
            <a:off x="1638012" y="6322807"/>
            <a:ext cx="1080000" cy="360000"/>
          </a:xfrm>
          <a:prstGeom prst="roundRect">
            <a:avLst/>
          </a:prstGeom>
          <a:solidFill>
            <a:schemeClr val="bg1">
              <a:lumMod val="65000"/>
            </a:schemeClr>
          </a:solidFill>
          <a:ln w="25400" cap="sq" cmpd="sng">
            <a:solidFill>
              <a:schemeClr val="bg1">
                <a:lumMod val="75000"/>
              </a:schemeClr>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L" sz="800" b="1" i="1" dirty="0">
                <a:solidFill>
                  <a:schemeClr val="bg1"/>
                </a:solidFill>
                <a:cs typeface="Arial" pitchFamily="34" charset="0"/>
              </a:rPr>
              <a:t>Exposición al RO y Entorno de Control</a:t>
            </a:r>
          </a:p>
        </p:txBody>
      </p:sp>
      <p:sp>
        <p:nvSpPr>
          <p:cNvPr id="25" name="AutoShape 10"/>
          <p:cNvSpPr>
            <a:spLocks noChangeArrowheads="1"/>
          </p:cNvSpPr>
          <p:nvPr/>
        </p:nvSpPr>
        <p:spPr bwMode="auto">
          <a:xfrm rot="10800000">
            <a:off x="1187624" y="1196767"/>
            <a:ext cx="2304256" cy="4320464"/>
          </a:xfrm>
          <a:prstGeom prst="homePlate">
            <a:avLst>
              <a:gd name="adj" fmla="val 28726"/>
            </a:avLst>
          </a:prstGeom>
          <a:solidFill>
            <a:schemeClr val="accent1">
              <a:lumMod val="20000"/>
              <a:lumOff val="80000"/>
            </a:schemeClr>
          </a:solidFill>
          <a:ln w="12700">
            <a:solidFill>
              <a:srgbClr val="A9A9A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dirty="0">
              <a:solidFill>
                <a:schemeClr val="lt1"/>
              </a:solidFill>
            </a:endParaRPr>
          </a:p>
        </p:txBody>
      </p:sp>
      <p:sp>
        <p:nvSpPr>
          <p:cNvPr id="34" name="Rounded Rectangle 21"/>
          <p:cNvSpPr/>
          <p:nvPr/>
        </p:nvSpPr>
        <p:spPr>
          <a:xfrm>
            <a:off x="107504" y="2977409"/>
            <a:ext cx="1512000" cy="648000"/>
          </a:xfrm>
          <a:prstGeom prst="roundRect">
            <a:avLst/>
          </a:prstGeom>
          <a:solidFill>
            <a:srgbClr val="DB0613"/>
          </a:solidFill>
          <a:ln w="9525" algn="ctr">
            <a:noFill/>
            <a:miter lim="800000"/>
            <a:headEnd/>
            <a:tailEnd/>
          </a:ln>
          <a:effectLst>
            <a:prstShdw prst="shdw17" dist="17961" dir="2700000">
              <a:srgbClr val="DDDDDD">
                <a:gamma/>
                <a:shade val="60000"/>
                <a:invGamma/>
              </a:srgbClr>
            </a:prstShdw>
          </a:effectLst>
        </p:spPr>
        <p:txBody>
          <a:bodyPr wrap="none" anchor="ctr"/>
          <a:lstStyle/>
          <a:p>
            <a:pPr algn="ctr"/>
            <a:r>
              <a:rPr lang="es-ES" sz="1600" b="1" dirty="0">
                <a:solidFill>
                  <a:schemeClr val="bg1"/>
                </a:solidFill>
              </a:rPr>
              <a:t>Administración</a:t>
            </a:r>
          </a:p>
          <a:p>
            <a:pPr algn="ctr"/>
            <a:r>
              <a:rPr lang="es-ES" sz="1600" b="1" dirty="0">
                <a:solidFill>
                  <a:schemeClr val="bg1"/>
                </a:solidFill>
              </a:rPr>
              <a:t>de Fondos</a:t>
            </a:r>
          </a:p>
        </p:txBody>
      </p:sp>
      <p:sp>
        <p:nvSpPr>
          <p:cNvPr id="36" name="Rounded Rectangle 21"/>
          <p:cNvSpPr/>
          <p:nvPr/>
        </p:nvSpPr>
        <p:spPr>
          <a:xfrm>
            <a:off x="1843040" y="1340767"/>
            <a:ext cx="1548000" cy="648000"/>
          </a:xfrm>
          <a:prstGeom prst="roundRect">
            <a:avLst/>
          </a:prstGeom>
          <a:solidFill>
            <a:srgbClr val="DB0613"/>
          </a:solidFill>
          <a:ln w="9525" algn="ctr">
            <a:noFill/>
            <a:miter lim="800000"/>
            <a:headEnd/>
            <a:tailEnd/>
          </a:ln>
          <a:effectLst>
            <a:prstShdw prst="shdw17" dist="17961" dir="2700000">
              <a:srgbClr val="DDDDDD">
                <a:gamma/>
                <a:shade val="60000"/>
                <a:invGamma/>
              </a:srgbClr>
            </a:prstShdw>
          </a:effectLst>
        </p:spPr>
        <p:txBody>
          <a:bodyPr wrap="none" anchor="ctr"/>
          <a:lstStyle/>
          <a:p>
            <a:pPr algn="ctr"/>
            <a:r>
              <a:rPr lang="es-ES" sz="1400" b="1" dirty="0">
                <a:solidFill>
                  <a:schemeClr val="bg1"/>
                </a:solidFill>
              </a:rPr>
              <a:t>Identificación de</a:t>
            </a:r>
          </a:p>
          <a:p>
            <a:pPr algn="ctr"/>
            <a:r>
              <a:rPr lang="es-ES" sz="1400" b="1" dirty="0">
                <a:solidFill>
                  <a:schemeClr val="bg1"/>
                </a:solidFill>
              </a:rPr>
              <a:t>Oportunidades</a:t>
            </a:r>
          </a:p>
          <a:p>
            <a:pPr algn="ctr"/>
            <a:r>
              <a:rPr lang="es-ES" sz="1400" b="1" dirty="0">
                <a:solidFill>
                  <a:schemeClr val="bg1"/>
                </a:solidFill>
              </a:rPr>
              <a:t>de Inversión</a:t>
            </a:r>
          </a:p>
        </p:txBody>
      </p:sp>
      <p:sp>
        <p:nvSpPr>
          <p:cNvPr id="37" name="Rounded Rectangle 21"/>
          <p:cNvSpPr/>
          <p:nvPr/>
        </p:nvSpPr>
        <p:spPr>
          <a:xfrm>
            <a:off x="1843040" y="2177009"/>
            <a:ext cx="1548000" cy="648000"/>
          </a:xfrm>
          <a:prstGeom prst="roundRect">
            <a:avLst/>
          </a:prstGeom>
          <a:solidFill>
            <a:srgbClr val="DB0613"/>
          </a:solidFill>
          <a:ln w="9525" algn="ctr">
            <a:noFill/>
            <a:miter lim="800000"/>
            <a:headEnd/>
            <a:tailEnd/>
          </a:ln>
          <a:effectLst>
            <a:prstShdw prst="shdw17" dist="17961" dir="2700000">
              <a:srgbClr val="DDDDDD">
                <a:gamma/>
                <a:shade val="60000"/>
                <a:invGamma/>
              </a:srgbClr>
            </a:prstShdw>
          </a:effectLst>
        </p:spPr>
        <p:txBody>
          <a:bodyPr wrap="none" anchor="ctr"/>
          <a:lstStyle/>
          <a:p>
            <a:pPr algn="ctr"/>
            <a:r>
              <a:rPr lang="es-ES" sz="1400" b="1" dirty="0">
                <a:solidFill>
                  <a:schemeClr val="bg1"/>
                </a:solidFill>
              </a:rPr>
              <a:t>Evaluación de</a:t>
            </a:r>
          </a:p>
          <a:p>
            <a:pPr algn="ctr"/>
            <a:r>
              <a:rPr lang="es-ES" sz="1400" b="1" dirty="0">
                <a:solidFill>
                  <a:schemeClr val="bg1"/>
                </a:solidFill>
              </a:rPr>
              <a:t>Oportunidades</a:t>
            </a:r>
          </a:p>
          <a:p>
            <a:pPr algn="ctr"/>
            <a:r>
              <a:rPr lang="es-ES" sz="1400" b="1" dirty="0">
                <a:solidFill>
                  <a:schemeClr val="bg1"/>
                </a:solidFill>
              </a:rPr>
              <a:t>de Inversión</a:t>
            </a:r>
          </a:p>
        </p:txBody>
      </p:sp>
      <p:sp>
        <p:nvSpPr>
          <p:cNvPr id="38" name="Rounded Rectangle 21"/>
          <p:cNvSpPr/>
          <p:nvPr/>
        </p:nvSpPr>
        <p:spPr>
          <a:xfrm>
            <a:off x="1843040" y="2977409"/>
            <a:ext cx="1548000" cy="648000"/>
          </a:xfrm>
          <a:prstGeom prst="roundRect">
            <a:avLst/>
          </a:prstGeom>
          <a:solidFill>
            <a:srgbClr val="DB0613"/>
          </a:solidFill>
          <a:ln w="9525" algn="ctr">
            <a:noFill/>
            <a:miter lim="800000"/>
            <a:headEnd/>
            <a:tailEnd/>
          </a:ln>
          <a:effectLst>
            <a:prstShdw prst="shdw17" dist="17961" dir="2700000">
              <a:srgbClr val="DDDDDD">
                <a:gamma/>
                <a:shade val="60000"/>
                <a:invGamma/>
              </a:srgbClr>
            </a:prstShdw>
          </a:effectLst>
        </p:spPr>
        <p:txBody>
          <a:bodyPr wrap="none" anchor="ctr"/>
          <a:lstStyle/>
          <a:p>
            <a:pPr algn="ctr"/>
            <a:r>
              <a:rPr lang="es-ES" sz="1400" b="1" dirty="0">
                <a:solidFill>
                  <a:schemeClr val="bg1"/>
                </a:solidFill>
              </a:rPr>
              <a:t>Ejecución de</a:t>
            </a:r>
          </a:p>
          <a:p>
            <a:pPr algn="ctr"/>
            <a:r>
              <a:rPr lang="es-ES" sz="1400" b="1" dirty="0">
                <a:solidFill>
                  <a:schemeClr val="bg1"/>
                </a:solidFill>
              </a:rPr>
              <a:t>Propuesta</a:t>
            </a:r>
          </a:p>
          <a:p>
            <a:pPr algn="ctr"/>
            <a:r>
              <a:rPr lang="es-ES" sz="1400" b="1" dirty="0">
                <a:solidFill>
                  <a:schemeClr val="bg1"/>
                </a:solidFill>
              </a:rPr>
              <a:t>de Inversión</a:t>
            </a:r>
          </a:p>
        </p:txBody>
      </p:sp>
      <p:sp>
        <p:nvSpPr>
          <p:cNvPr id="39" name="Rounded Rectangle 21"/>
          <p:cNvSpPr/>
          <p:nvPr/>
        </p:nvSpPr>
        <p:spPr>
          <a:xfrm>
            <a:off x="1843040" y="3861047"/>
            <a:ext cx="1548000" cy="648000"/>
          </a:xfrm>
          <a:prstGeom prst="roundRect">
            <a:avLst/>
          </a:prstGeom>
          <a:solidFill>
            <a:srgbClr val="DB0613"/>
          </a:solidFill>
          <a:ln w="9525" algn="ctr">
            <a:noFill/>
            <a:miter lim="800000"/>
            <a:headEnd/>
            <a:tailEnd/>
          </a:ln>
          <a:effectLst>
            <a:prstShdw prst="shdw17" dist="17961" dir="2700000">
              <a:srgbClr val="DDDDDD">
                <a:gamma/>
                <a:shade val="60000"/>
                <a:invGamma/>
              </a:srgbClr>
            </a:prstShdw>
          </a:effectLst>
        </p:spPr>
        <p:txBody>
          <a:bodyPr wrap="none" anchor="ctr"/>
          <a:lstStyle/>
          <a:p>
            <a:pPr algn="ctr"/>
            <a:r>
              <a:rPr lang="es-ES" sz="1400" b="1" dirty="0">
                <a:solidFill>
                  <a:schemeClr val="bg1"/>
                </a:solidFill>
              </a:rPr>
              <a:t>Ingreso y Registro</a:t>
            </a:r>
          </a:p>
          <a:p>
            <a:pPr algn="ctr"/>
            <a:r>
              <a:rPr lang="es-ES" sz="1400" b="1" dirty="0">
                <a:solidFill>
                  <a:schemeClr val="bg1"/>
                </a:solidFill>
              </a:rPr>
              <a:t>de Operaciones </a:t>
            </a:r>
          </a:p>
          <a:p>
            <a:pPr algn="ctr"/>
            <a:r>
              <a:rPr lang="es-ES" sz="1400" b="1" dirty="0">
                <a:solidFill>
                  <a:schemeClr val="bg1"/>
                </a:solidFill>
              </a:rPr>
              <a:t>de Inversión</a:t>
            </a:r>
          </a:p>
        </p:txBody>
      </p:sp>
      <p:sp>
        <p:nvSpPr>
          <p:cNvPr id="40" name="Rounded Rectangle 21"/>
          <p:cNvSpPr/>
          <p:nvPr/>
        </p:nvSpPr>
        <p:spPr>
          <a:xfrm>
            <a:off x="1843040" y="4725143"/>
            <a:ext cx="1548000" cy="648000"/>
          </a:xfrm>
          <a:prstGeom prst="roundRect">
            <a:avLst/>
          </a:prstGeom>
          <a:solidFill>
            <a:srgbClr val="DB0613"/>
          </a:solidFill>
          <a:ln w="9525" algn="ctr">
            <a:noFill/>
            <a:miter lim="800000"/>
            <a:headEnd/>
            <a:tailEnd/>
          </a:ln>
          <a:effectLst>
            <a:prstShdw prst="shdw17" dist="17961" dir="2700000">
              <a:srgbClr val="DDDDDD">
                <a:gamma/>
                <a:shade val="60000"/>
                <a:invGamma/>
              </a:srgbClr>
            </a:prstShdw>
          </a:effectLst>
        </p:spPr>
        <p:txBody>
          <a:bodyPr wrap="none" anchor="ctr"/>
          <a:lstStyle/>
          <a:p>
            <a:pPr algn="ctr"/>
            <a:r>
              <a:rPr lang="es-ES" sz="1400" b="1" dirty="0">
                <a:solidFill>
                  <a:schemeClr val="bg1"/>
                </a:solidFill>
              </a:rPr>
              <a:t>Operaciones de</a:t>
            </a:r>
          </a:p>
          <a:p>
            <a:pPr algn="ctr"/>
            <a:r>
              <a:rPr lang="es-ES" sz="1400" b="1" dirty="0">
                <a:solidFill>
                  <a:schemeClr val="bg1"/>
                </a:solidFill>
              </a:rPr>
              <a:t>Money </a:t>
            </a:r>
            <a:r>
              <a:rPr lang="es-ES" sz="1400" b="1" dirty="0" err="1">
                <a:solidFill>
                  <a:schemeClr val="bg1"/>
                </a:solidFill>
              </a:rPr>
              <a:t>Market</a:t>
            </a:r>
            <a:endParaRPr lang="es-ES" sz="1400" b="1" dirty="0">
              <a:solidFill>
                <a:schemeClr val="bg1"/>
              </a:solidFill>
            </a:endParaRPr>
          </a:p>
        </p:txBody>
      </p:sp>
      <p:sp>
        <p:nvSpPr>
          <p:cNvPr id="44" name="Rectangle 7"/>
          <p:cNvSpPr>
            <a:spLocks noChangeArrowheads="1"/>
          </p:cNvSpPr>
          <p:nvPr/>
        </p:nvSpPr>
        <p:spPr bwMode="auto">
          <a:xfrm>
            <a:off x="4986931" y="1030207"/>
            <a:ext cx="2016000" cy="252000"/>
          </a:xfrm>
          <a:prstGeom prst="rect">
            <a:avLst/>
          </a:prstGeom>
          <a:solidFill>
            <a:schemeClr val="tx1">
              <a:lumMod val="50000"/>
              <a:lumOff val="50000"/>
            </a:schemeClr>
          </a:solidFill>
          <a:ln w="9525" algn="ctr">
            <a:noFill/>
            <a:miter lim="800000"/>
            <a:headEnd/>
            <a:tailEnd/>
          </a:ln>
          <a:effectLst>
            <a:prstShdw prst="shdw17" dist="17961" dir="2700000">
              <a:srgbClr val="DDDDDD">
                <a:gamma/>
                <a:shade val="60000"/>
                <a:invGamma/>
              </a:srgbClr>
            </a:prstShdw>
          </a:effectLst>
        </p:spPr>
        <p:txBody>
          <a:bodyPr wrap="none" anchor="ctr"/>
          <a:lstStyle/>
          <a:p>
            <a:pPr algn="ctr"/>
            <a:r>
              <a:rPr lang="es-ES" sz="1300" b="1" dirty="0">
                <a:solidFill>
                  <a:schemeClr val="bg1"/>
                </a:solidFill>
              </a:rPr>
              <a:t>Riesgos</a:t>
            </a:r>
          </a:p>
        </p:txBody>
      </p:sp>
      <p:grpSp>
        <p:nvGrpSpPr>
          <p:cNvPr id="46" name="21 Grupo"/>
          <p:cNvGrpSpPr/>
          <p:nvPr/>
        </p:nvGrpSpPr>
        <p:grpSpPr>
          <a:xfrm>
            <a:off x="3347865" y="4725143"/>
            <a:ext cx="1440000" cy="648000"/>
            <a:chOff x="3491881" y="1281851"/>
            <a:chExt cx="1620000" cy="648000"/>
          </a:xfrm>
        </p:grpSpPr>
        <p:sp>
          <p:nvSpPr>
            <p:cNvPr id="47" name="AutoShape 10"/>
            <p:cNvSpPr>
              <a:spLocks noChangeArrowheads="1"/>
            </p:cNvSpPr>
            <p:nvPr/>
          </p:nvSpPr>
          <p:spPr bwMode="auto">
            <a:xfrm rot="10800000">
              <a:off x="3491881" y="1281851"/>
              <a:ext cx="1620000" cy="648000"/>
            </a:xfrm>
            <a:prstGeom prst="homePlate">
              <a:avLst>
                <a:gd name="adj" fmla="val 28726"/>
              </a:avLst>
            </a:prstGeom>
            <a:solidFill>
              <a:schemeClr val="bg1"/>
            </a:solidFill>
            <a:ln w="9525" algn="ctr">
              <a:noFill/>
              <a:miter lim="800000"/>
              <a:headEnd/>
              <a:tailEnd/>
            </a:ln>
            <a:effectLst>
              <a:prstShdw prst="shdw17" dist="17961" dir="2700000">
                <a:srgbClr val="DDDDDD">
                  <a:gamma/>
                  <a:shade val="60000"/>
                  <a:invGamma/>
                </a:srgbClr>
              </a:prstShdw>
            </a:effectLst>
          </p:spPr>
          <p:txBody>
            <a:bodyPr wrap="none" anchor="ctr"/>
            <a:lstStyle/>
            <a:p>
              <a:pPr algn="ctr"/>
              <a:endParaRPr lang="en-US" sz="1300" b="1" dirty="0">
                <a:solidFill>
                  <a:schemeClr val="bg1"/>
                </a:solidFill>
              </a:endParaRPr>
            </a:p>
          </p:txBody>
        </p:sp>
        <p:sp>
          <p:nvSpPr>
            <p:cNvPr id="48" name="Rectangle 7"/>
            <p:cNvSpPr>
              <a:spLocks noChangeArrowheads="1"/>
            </p:cNvSpPr>
            <p:nvPr/>
          </p:nvSpPr>
          <p:spPr bwMode="auto">
            <a:xfrm>
              <a:off x="3838625" y="1281851"/>
              <a:ext cx="1224000" cy="648000"/>
            </a:xfrm>
            <a:prstGeom prst="rect">
              <a:avLst/>
            </a:prstGeom>
            <a:noFill/>
            <a:ln w="9525" algn="ctr">
              <a:noFill/>
              <a:miter lim="800000"/>
              <a:headEnd/>
              <a:tailEnd/>
            </a:ln>
            <a:effectLst>
              <a:prstShdw prst="shdw17" dist="17961" dir="2700000">
                <a:srgbClr val="DDDDDD">
                  <a:gamma/>
                  <a:shade val="60000"/>
                  <a:invGamma/>
                </a:srgbClr>
              </a:prstShdw>
            </a:effectLst>
          </p:spPr>
          <p:txBody>
            <a:bodyPr wrap="none" anchor="ctr"/>
            <a:lstStyle/>
            <a:p>
              <a:r>
                <a:rPr lang="es-PE" sz="1400" b="1" dirty="0"/>
                <a:t>Riesgos : 10</a:t>
              </a:r>
            </a:p>
            <a:p>
              <a:r>
                <a:rPr lang="es-PE" sz="1400" b="1" dirty="0"/>
                <a:t>Controles: 9</a:t>
              </a:r>
              <a:endParaRPr lang="es-ES" sz="1400" b="1" dirty="0"/>
            </a:p>
          </p:txBody>
        </p:sp>
        <p:sp>
          <p:nvSpPr>
            <p:cNvPr id="49" name="AutoShape 92"/>
            <p:cNvSpPr>
              <a:spLocks noChangeArrowheads="1"/>
            </p:cNvSpPr>
            <p:nvPr/>
          </p:nvSpPr>
          <p:spPr bwMode="auto">
            <a:xfrm>
              <a:off x="3712253" y="1628800"/>
              <a:ext cx="180000" cy="180000"/>
            </a:xfrm>
            <a:prstGeom prst="diamond">
              <a:avLst/>
            </a:prstGeom>
            <a:solidFill>
              <a:srgbClr val="009644"/>
            </a:solidFill>
            <a:ln w="9525" algn="ctr">
              <a:noFill/>
              <a:miter lim="800000"/>
              <a:headEnd/>
              <a:tailEnd/>
            </a:ln>
            <a:effectLst/>
          </p:spPr>
          <p:txBody>
            <a:bodyPr wrap="none" anchor="ctr"/>
            <a:lstStyle/>
            <a:p>
              <a:pPr algn="ctr"/>
              <a:endParaRPr lang="en-US" sz="1000" b="1" dirty="0">
                <a:solidFill>
                  <a:schemeClr val="bg1"/>
                </a:solidFill>
              </a:endParaRPr>
            </a:p>
          </p:txBody>
        </p:sp>
        <p:sp>
          <p:nvSpPr>
            <p:cNvPr id="50" name="Rounded Rectangle 139"/>
            <p:cNvSpPr/>
            <p:nvPr/>
          </p:nvSpPr>
          <p:spPr>
            <a:xfrm>
              <a:off x="3712253" y="1381102"/>
              <a:ext cx="180000" cy="180000"/>
            </a:xfrm>
            <a:prstGeom prst="roundRect">
              <a:avLst/>
            </a:prstGeom>
            <a:solidFill>
              <a:srgbClr val="F26D00"/>
            </a:solidFill>
            <a:ln w="9525" algn="ctr">
              <a:noFill/>
              <a:round/>
              <a:headEnd/>
              <a:tailEnd/>
            </a:ln>
            <a:effectLst/>
          </p:spPr>
          <p:txBody>
            <a:bodyPr wrap="none" anchor="ctr"/>
            <a:lstStyle/>
            <a:p>
              <a:pPr algn="ctr"/>
              <a:endParaRPr lang="es-ES" sz="1000" b="1" dirty="0">
                <a:solidFill>
                  <a:schemeClr val="bg1"/>
                </a:solidFill>
              </a:endParaRPr>
            </a:p>
          </p:txBody>
        </p:sp>
      </p:grpSp>
      <p:sp>
        <p:nvSpPr>
          <p:cNvPr id="51" name="AutoShape 10"/>
          <p:cNvSpPr>
            <a:spLocks noChangeArrowheads="1"/>
          </p:cNvSpPr>
          <p:nvPr/>
        </p:nvSpPr>
        <p:spPr bwMode="auto">
          <a:xfrm rot="10800000">
            <a:off x="4716016" y="4725143"/>
            <a:ext cx="1260000" cy="647999"/>
          </a:xfrm>
          <a:prstGeom prst="homePlate">
            <a:avLst>
              <a:gd name="adj" fmla="val 28726"/>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dirty="0">
              <a:solidFill>
                <a:schemeClr val="lt1"/>
              </a:solidFill>
            </a:endParaRPr>
          </a:p>
        </p:txBody>
      </p:sp>
      <p:sp>
        <p:nvSpPr>
          <p:cNvPr id="52" name="Rectangle 7"/>
          <p:cNvSpPr>
            <a:spLocks noChangeArrowheads="1"/>
          </p:cNvSpPr>
          <p:nvPr/>
        </p:nvSpPr>
        <p:spPr bwMode="auto">
          <a:xfrm>
            <a:off x="4986931" y="1340766"/>
            <a:ext cx="2016000" cy="456000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marL="228600" indent="-228600" algn="just">
              <a:buFont typeface="+mj-lt"/>
              <a:buAutoNum type="arabicParenR" startAt="6"/>
            </a:pPr>
            <a:r>
              <a:rPr lang="es-PE" sz="1100" dirty="0">
                <a:solidFill>
                  <a:schemeClr val="tx1"/>
                </a:solidFill>
              </a:rPr>
              <a:t>Elaboración manual de cartas de certificados de depósito.</a:t>
            </a:r>
          </a:p>
          <a:p>
            <a:pPr marL="228600" indent="-228600" algn="just">
              <a:buFont typeface="+mj-lt"/>
              <a:buAutoNum type="arabicParenR" startAt="6"/>
            </a:pPr>
            <a:r>
              <a:rPr lang="es-PE" sz="1100" dirty="0">
                <a:solidFill>
                  <a:schemeClr val="tx1"/>
                </a:solidFill>
              </a:rPr>
              <a:t>Retraso en las operaciones debido a que la firma de los apoderados B no coincide con los registros del banco.</a:t>
            </a:r>
          </a:p>
          <a:p>
            <a:pPr marL="228600" indent="-228600" algn="just">
              <a:buFont typeface="+mj-lt"/>
              <a:buAutoNum type="arabicParenR" startAt="6"/>
            </a:pPr>
            <a:r>
              <a:rPr lang="es-PE" sz="1100" dirty="0">
                <a:solidFill>
                  <a:schemeClr val="tx1"/>
                </a:solidFill>
              </a:rPr>
              <a:t>Elaboración manual de cartas de forward de cobertura.</a:t>
            </a:r>
          </a:p>
          <a:p>
            <a:pPr marL="228600" indent="-228600" algn="just">
              <a:buFont typeface="+mj-lt"/>
              <a:buAutoNum type="arabicParenR" startAt="6"/>
            </a:pPr>
            <a:r>
              <a:rPr lang="es-ES" sz="1100" dirty="0">
                <a:solidFill>
                  <a:schemeClr val="tx1"/>
                </a:solidFill>
              </a:rPr>
              <a:t>Retraso en la elaboración del sustento de operaciones de cobertura para el organismo regulador (SBS).</a:t>
            </a:r>
          </a:p>
          <a:p>
            <a:pPr marL="228600" indent="-228600" algn="just">
              <a:buFont typeface="+mj-lt"/>
              <a:buAutoNum type="arabicParenR" startAt="6"/>
            </a:pPr>
            <a:r>
              <a:rPr lang="es-ES" sz="1100" dirty="0">
                <a:solidFill>
                  <a:schemeClr val="tx1"/>
                </a:solidFill>
              </a:rPr>
              <a:t>Riesgo de que por una caída de los sistemas no se pueda colocar los excedentes o necesidades de liquidez.</a:t>
            </a:r>
          </a:p>
        </p:txBody>
      </p:sp>
      <p:sp>
        <p:nvSpPr>
          <p:cNvPr id="23" name="Rectangle 7"/>
          <p:cNvSpPr>
            <a:spLocks noChangeArrowheads="1"/>
          </p:cNvSpPr>
          <p:nvPr/>
        </p:nvSpPr>
        <p:spPr bwMode="auto">
          <a:xfrm>
            <a:off x="7114697" y="1030207"/>
            <a:ext cx="900000" cy="252000"/>
          </a:xfrm>
          <a:prstGeom prst="rect">
            <a:avLst/>
          </a:prstGeom>
          <a:solidFill>
            <a:schemeClr val="tx1">
              <a:lumMod val="50000"/>
              <a:lumOff val="50000"/>
            </a:schemeClr>
          </a:solidFill>
          <a:ln w="9525" algn="ctr">
            <a:noFill/>
            <a:miter lim="800000"/>
            <a:headEnd/>
            <a:tailEnd/>
          </a:ln>
          <a:effectLst>
            <a:prstShdw prst="shdw17" dist="17961" dir="2700000">
              <a:srgbClr val="DDDDDD">
                <a:gamma/>
                <a:shade val="60000"/>
                <a:invGamma/>
              </a:srgbClr>
            </a:prstShdw>
          </a:effectLst>
        </p:spPr>
        <p:txBody>
          <a:bodyPr wrap="none" anchor="ctr"/>
          <a:lstStyle/>
          <a:p>
            <a:pPr algn="ctr"/>
            <a:r>
              <a:rPr lang="es-PE" sz="1300" b="1" dirty="0">
                <a:solidFill>
                  <a:schemeClr val="bg1"/>
                </a:solidFill>
              </a:rPr>
              <a:t>PEA</a:t>
            </a:r>
            <a:endParaRPr lang="es-ES" sz="1300" b="1" dirty="0">
              <a:solidFill>
                <a:schemeClr val="bg1"/>
              </a:solidFill>
            </a:endParaRPr>
          </a:p>
        </p:txBody>
      </p:sp>
      <p:sp>
        <p:nvSpPr>
          <p:cNvPr id="24" name="Rectangle 7"/>
          <p:cNvSpPr>
            <a:spLocks noChangeArrowheads="1"/>
          </p:cNvSpPr>
          <p:nvPr/>
        </p:nvSpPr>
        <p:spPr bwMode="auto">
          <a:xfrm>
            <a:off x="7114697" y="1340766"/>
            <a:ext cx="900000" cy="456000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marL="228600" indent="-228600" algn="just"/>
            <a:endParaRPr lang="es-ES" sz="1100" dirty="0">
              <a:solidFill>
                <a:schemeClr val="tx1"/>
              </a:solidFill>
            </a:endParaRPr>
          </a:p>
        </p:txBody>
      </p:sp>
      <p:sp>
        <p:nvSpPr>
          <p:cNvPr id="26" name="Rectangle 7"/>
          <p:cNvSpPr>
            <a:spLocks noChangeArrowheads="1"/>
          </p:cNvSpPr>
          <p:nvPr/>
        </p:nvSpPr>
        <p:spPr bwMode="auto">
          <a:xfrm>
            <a:off x="8064488" y="1030207"/>
            <a:ext cx="900000" cy="252000"/>
          </a:xfrm>
          <a:prstGeom prst="rect">
            <a:avLst/>
          </a:prstGeom>
          <a:solidFill>
            <a:schemeClr val="tx1">
              <a:lumMod val="50000"/>
              <a:lumOff val="50000"/>
            </a:schemeClr>
          </a:solidFill>
          <a:ln w="9525" algn="ctr">
            <a:noFill/>
            <a:miter lim="800000"/>
            <a:headEnd/>
            <a:tailEnd/>
          </a:ln>
          <a:effectLst>
            <a:prstShdw prst="shdw17" dist="17961" dir="2700000">
              <a:srgbClr val="DDDDDD">
                <a:gamma/>
                <a:shade val="60000"/>
                <a:invGamma/>
              </a:srgbClr>
            </a:prstShdw>
          </a:effectLst>
        </p:spPr>
        <p:txBody>
          <a:bodyPr wrap="none" anchor="ctr"/>
          <a:lstStyle/>
          <a:p>
            <a:pPr algn="ctr"/>
            <a:r>
              <a:rPr lang="es-PE" sz="1300" b="1" dirty="0" err="1">
                <a:solidFill>
                  <a:schemeClr val="bg1"/>
                </a:solidFill>
              </a:rPr>
              <a:t>VaR</a:t>
            </a:r>
            <a:endParaRPr lang="es-ES" sz="1300" b="1" dirty="0">
              <a:solidFill>
                <a:schemeClr val="bg1"/>
              </a:solidFill>
            </a:endParaRPr>
          </a:p>
        </p:txBody>
      </p:sp>
      <p:sp>
        <p:nvSpPr>
          <p:cNvPr id="27" name="Rectangle 7"/>
          <p:cNvSpPr>
            <a:spLocks noChangeArrowheads="1"/>
          </p:cNvSpPr>
          <p:nvPr/>
        </p:nvSpPr>
        <p:spPr bwMode="auto">
          <a:xfrm>
            <a:off x="8064488" y="1340766"/>
            <a:ext cx="900000" cy="456000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marL="228600" indent="-228600" algn="just"/>
            <a:endParaRPr lang="es-ES" sz="1100" dirty="0">
              <a:solidFill>
                <a:schemeClr val="tx1"/>
              </a:solidFill>
            </a:endParaRPr>
          </a:p>
        </p:txBody>
      </p:sp>
      <p:sp>
        <p:nvSpPr>
          <p:cNvPr id="28" name="Rounded Rectangle 93"/>
          <p:cNvSpPr/>
          <p:nvPr/>
        </p:nvSpPr>
        <p:spPr>
          <a:xfrm>
            <a:off x="7164288" y="1412776"/>
            <a:ext cx="792000" cy="548640"/>
          </a:xfrm>
          <a:prstGeom prst="roundRect">
            <a:avLst/>
          </a:prstGeom>
          <a:noFill/>
          <a:ln w="127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400" b="1" dirty="0">
                <a:solidFill>
                  <a:schemeClr val="tx1"/>
                </a:solidFill>
                <a:latin typeface="+mj-lt"/>
              </a:rPr>
              <a:t>0.3</a:t>
            </a:r>
            <a:endParaRPr lang="es-CL" sz="1400" b="1" dirty="0">
              <a:solidFill>
                <a:schemeClr val="tx1"/>
              </a:solidFill>
              <a:latin typeface="+mj-lt"/>
            </a:endParaRPr>
          </a:p>
        </p:txBody>
      </p:sp>
      <p:sp>
        <p:nvSpPr>
          <p:cNvPr id="29" name="Rounded Rectangle 93"/>
          <p:cNvSpPr/>
          <p:nvPr/>
        </p:nvSpPr>
        <p:spPr>
          <a:xfrm>
            <a:off x="8100480" y="1412776"/>
            <a:ext cx="792000" cy="548640"/>
          </a:xfrm>
          <a:prstGeom prst="roundRect">
            <a:avLst/>
          </a:prstGeom>
          <a:noFill/>
          <a:ln w="127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400" b="1" dirty="0">
                <a:solidFill>
                  <a:schemeClr val="tx1"/>
                </a:solidFill>
                <a:latin typeface="+mj-lt"/>
              </a:rPr>
              <a:t>3.1</a:t>
            </a:r>
            <a:endParaRPr lang="es-CL" sz="1400" b="1" dirty="0">
              <a:solidFill>
                <a:schemeClr val="tx1"/>
              </a:solidFill>
              <a:latin typeface="+mj-lt"/>
            </a:endParaRPr>
          </a:p>
        </p:txBody>
      </p:sp>
      <p:sp>
        <p:nvSpPr>
          <p:cNvPr id="30" name="Rounded Rectangle 93"/>
          <p:cNvSpPr/>
          <p:nvPr/>
        </p:nvSpPr>
        <p:spPr>
          <a:xfrm>
            <a:off x="7164288" y="2016264"/>
            <a:ext cx="792000" cy="548640"/>
          </a:xfrm>
          <a:prstGeom prst="roundRect">
            <a:avLst/>
          </a:prstGeom>
          <a:noFill/>
          <a:ln w="127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400" b="1" dirty="0">
                <a:solidFill>
                  <a:schemeClr val="tx1"/>
                </a:solidFill>
                <a:latin typeface="+mj-lt"/>
              </a:rPr>
              <a:t>0</a:t>
            </a:r>
            <a:endParaRPr lang="es-CL" sz="1400" b="1" dirty="0">
              <a:solidFill>
                <a:schemeClr val="tx1"/>
              </a:solidFill>
              <a:latin typeface="+mj-lt"/>
            </a:endParaRPr>
          </a:p>
        </p:txBody>
      </p:sp>
      <p:sp>
        <p:nvSpPr>
          <p:cNvPr id="31" name="Rounded Rectangle 93"/>
          <p:cNvSpPr/>
          <p:nvPr/>
        </p:nvSpPr>
        <p:spPr>
          <a:xfrm>
            <a:off x="8100480" y="2016264"/>
            <a:ext cx="792000" cy="548640"/>
          </a:xfrm>
          <a:prstGeom prst="roundRect">
            <a:avLst/>
          </a:prstGeom>
          <a:noFill/>
          <a:ln w="127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400" b="1" dirty="0">
                <a:solidFill>
                  <a:schemeClr val="tx1"/>
                </a:solidFill>
                <a:latin typeface="+mj-lt"/>
              </a:rPr>
              <a:t>0</a:t>
            </a:r>
            <a:endParaRPr lang="es-CL" sz="1400" b="1" dirty="0">
              <a:solidFill>
                <a:schemeClr val="tx1"/>
              </a:solidFill>
              <a:latin typeface="+mj-lt"/>
            </a:endParaRPr>
          </a:p>
        </p:txBody>
      </p:sp>
      <p:sp>
        <p:nvSpPr>
          <p:cNvPr id="32" name="Rounded Rectangle 93"/>
          <p:cNvSpPr/>
          <p:nvPr/>
        </p:nvSpPr>
        <p:spPr>
          <a:xfrm>
            <a:off x="7164288" y="2592328"/>
            <a:ext cx="792000" cy="548640"/>
          </a:xfrm>
          <a:prstGeom prst="roundRect">
            <a:avLst/>
          </a:prstGeom>
          <a:noFill/>
          <a:ln w="127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400" b="1" dirty="0">
                <a:solidFill>
                  <a:schemeClr val="tx1"/>
                </a:solidFill>
                <a:latin typeface="+mj-lt"/>
              </a:rPr>
              <a:t>0.3</a:t>
            </a:r>
            <a:endParaRPr lang="es-CL" sz="1400" b="1" dirty="0">
              <a:solidFill>
                <a:schemeClr val="tx1"/>
              </a:solidFill>
              <a:latin typeface="+mj-lt"/>
            </a:endParaRPr>
          </a:p>
        </p:txBody>
      </p:sp>
      <p:sp>
        <p:nvSpPr>
          <p:cNvPr id="33" name="Rounded Rectangle 93"/>
          <p:cNvSpPr/>
          <p:nvPr/>
        </p:nvSpPr>
        <p:spPr>
          <a:xfrm>
            <a:off x="8100480" y="2592328"/>
            <a:ext cx="792000" cy="548640"/>
          </a:xfrm>
          <a:prstGeom prst="roundRect">
            <a:avLst/>
          </a:prstGeom>
          <a:noFill/>
          <a:ln w="127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400" b="1" dirty="0">
                <a:solidFill>
                  <a:schemeClr val="tx1"/>
                </a:solidFill>
                <a:latin typeface="+mj-lt"/>
              </a:rPr>
              <a:t>3.1</a:t>
            </a:r>
            <a:endParaRPr lang="es-CL" sz="1400" b="1" dirty="0">
              <a:solidFill>
                <a:schemeClr val="tx1"/>
              </a:solidFill>
              <a:latin typeface="+mj-lt"/>
            </a:endParaRPr>
          </a:p>
        </p:txBody>
      </p:sp>
      <p:sp>
        <p:nvSpPr>
          <p:cNvPr id="35" name="Rounded Rectangle 93"/>
          <p:cNvSpPr/>
          <p:nvPr/>
        </p:nvSpPr>
        <p:spPr>
          <a:xfrm>
            <a:off x="7164288" y="3212976"/>
            <a:ext cx="792000" cy="548640"/>
          </a:xfrm>
          <a:prstGeom prst="roundRect">
            <a:avLst/>
          </a:prstGeom>
          <a:noFill/>
          <a:ln w="127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400" b="1" dirty="0">
                <a:solidFill>
                  <a:schemeClr val="tx1"/>
                </a:solidFill>
                <a:latin typeface="+mj-lt"/>
              </a:rPr>
              <a:t>37</a:t>
            </a:r>
            <a:endParaRPr lang="es-CL" sz="1400" b="1" dirty="0">
              <a:solidFill>
                <a:schemeClr val="tx1"/>
              </a:solidFill>
              <a:latin typeface="+mj-lt"/>
            </a:endParaRPr>
          </a:p>
        </p:txBody>
      </p:sp>
      <p:sp>
        <p:nvSpPr>
          <p:cNvPr id="41" name="Rounded Rectangle 93"/>
          <p:cNvSpPr/>
          <p:nvPr/>
        </p:nvSpPr>
        <p:spPr>
          <a:xfrm>
            <a:off x="8100480" y="3212976"/>
            <a:ext cx="792000" cy="548640"/>
          </a:xfrm>
          <a:prstGeom prst="roundRect">
            <a:avLst/>
          </a:prstGeom>
          <a:noFill/>
          <a:ln w="127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400" b="1" dirty="0">
                <a:solidFill>
                  <a:schemeClr val="tx1"/>
                </a:solidFill>
                <a:latin typeface="+mj-lt"/>
              </a:rPr>
              <a:t>329</a:t>
            </a:r>
            <a:endParaRPr lang="es-CL" sz="1400" b="1" dirty="0">
              <a:solidFill>
                <a:schemeClr val="tx1"/>
              </a:solidFill>
              <a:latin typeface="+mj-lt"/>
            </a:endParaRPr>
          </a:p>
        </p:txBody>
      </p:sp>
      <p:sp>
        <p:nvSpPr>
          <p:cNvPr id="42" name="Rounded Rectangle 93"/>
          <p:cNvSpPr/>
          <p:nvPr/>
        </p:nvSpPr>
        <p:spPr>
          <a:xfrm>
            <a:off x="7164288" y="3816464"/>
            <a:ext cx="792000" cy="548640"/>
          </a:xfrm>
          <a:prstGeom prst="roundRect">
            <a:avLst/>
          </a:prstGeom>
          <a:noFill/>
          <a:ln w="127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400" b="1" dirty="0">
                <a:solidFill>
                  <a:schemeClr val="tx1"/>
                </a:solidFill>
                <a:latin typeface="+mj-lt"/>
              </a:rPr>
              <a:t>2.4</a:t>
            </a:r>
            <a:endParaRPr lang="es-CL" sz="1400" b="1" dirty="0">
              <a:solidFill>
                <a:schemeClr val="tx1"/>
              </a:solidFill>
              <a:latin typeface="+mj-lt"/>
            </a:endParaRPr>
          </a:p>
        </p:txBody>
      </p:sp>
      <p:sp>
        <p:nvSpPr>
          <p:cNvPr id="43" name="Rounded Rectangle 93"/>
          <p:cNvSpPr/>
          <p:nvPr/>
        </p:nvSpPr>
        <p:spPr>
          <a:xfrm>
            <a:off x="8100480" y="3816464"/>
            <a:ext cx="792000" cy="548640"/>
          </a:xfrm>
          <a:prstGeom prst="roundRect">
            <a:avLst/>
          </a:prstGeom>
          <a:noFill/>
          <a:ln w="127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400" b="1" dirty="0">
                <a:solidFill>
                  <a:schemeClr val="tx1"/>
                </a:solidFill>
                <a:latin typeface="+mj-lt"/>
              </a:rPr>
              <a:t>8.2</a:t>
            </a:r>
            <a:endParaRPr lang="es-CL" sz="1400" b="1" dirty="0">
              <a:solidFill>
                <a:schemeClr val="tx1"/>
              </a:solidFill>
              <a:latin typeface="+mj-lt"/>
            </a:endParaRPr>
          </a:p>
        </p:txBody>
      </p:sp>
      <p:sp>
        <p:nvSpPr>
          <p:cNvPr id="45" name="Text Box 44"/>
          <p:cNvSpPr txBox="1">
            <a:spLocks noChangeArrowheads="1"/>
          </p:cNvSpPr>
          <p:nvPr/>
        </p:nvSpPr>
        <p:spPr bwMode="auto">
          <a:xfrm>
            <a:off x="7610039" y="764704"/>
            <a:ext cx="1354449" cy="230832"/>
          </a:xfrm>
          <a:prstGeom prst="rect">
            <a:avLst/>
          </a:prstGeom>
          <a:noFill/>
          <a:ln w="9525" algn="ctr">
            <a:noFill/>
            <a:miter lim="800000"/>
            <a:headEnd/>
            <a:tailEnd/>
          </a:ln>
          <a:effectLst/>
        </p:spPr>
        <p:txBody>
          <a:bodyPr wrap="square">
            <a:spAutoFit/>
          </a:bodyPr>
          <a:lstStyle/>
          <a:p>
            <a:r>
              <a:rPr lang="es-ES" sz="900" b="1" i="1" dirty="0">
                <a:solidFill>
                  <a:srgbClr val="525252"/>
                </a:solidFill>
              </a:rPr>
              <a:t>Miles de Nuevos Soles</a:t>
            </a:r>
            <a:endParaRPr lang="en-US" sz="900" b="1" i="1" dirty="0">
              <a:solidFill>
                <a:srgbClr val="525252"/>
              </a:solidFill>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
          <p:cNvSpPr>
            <a:spLocks noGrp="1"/>
          </p:cNvSpPr>
          <p:nvPr>
            <p:ph type="title"/>
          </p:nvPr>
        </p:nvSpPr>
        <p:spPr>
          <a:xfrm>
            <a:off x="47625" y="32965"/>
            <a:ext cx="8217470" cy="587723"/>
          </a:xfrm>
        </p:spPr>
        <p:txBody>
          <a:bodyPr/>
          <a:lstStyle/>
          <a:p>
            <a:r>
              <a:rPr lang="es-ES" dirty="0"/>
              <a:t>Anexo: Árbol de Procesos</a:t>
            </a:r>
          </a:p>
        </p:txBody>
      </p:sp>
      <p:sp>
        <p:nvSpPr>
          <p:cNvPr id="13" name="AutoShape 10"/>
          <p:cNvSpPr>
            <a:spLocks noChangeArrowheads="1"/>
          </p:cNvSpPr>
          <p:nvPr/>
        </p:nvSpPr>
        <p:spPr bwMode="auto">
          <a:xfrm rot="10800000">
            <a:off x="2375935" y="1196767"/>
            <a:ext cx="2304256" cy="4320464"/>
          </a:xfrm>
          <a:prstGeom prst="homePlate">
            <a:avLst>
              <a:gd name="adj" fmla="val 28726"/>
            </a:avLst>
          </a:prstGeom>
          <a:solidFill>
            <a:schemeClr val="accent1">
              <a:lumMod val="20000"/>
              <a:lumOff val="80000"/>
            </a:schemeClr>
          </a:solidFill>
          <a:ln w="12700">
            <a:solidFill>
              <a:srgbClr val="A9A9A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dirty="0">
              <a:solidFill>
                <a:schemeClr val="lt1"/>
              </a:solidFill>
            </a:endParaRPr>
          </a:p>
        </p:txBody>
      </p:sp>
      <p:sp>
        <p:nvSpPr>
          <p:cNvPr id="14" name="Rounded Rectangle 21"/>
          <p:cNvSpPr/>
          <p:nvPr/>
        </p:nvSpPr>
        <p:spPr>
          <a:xfrm>
            <a:off x="1295815" y="2977409"/>
            <a:ext cx="1512000" cy="648000"/>
          </a:xfrm>
          <a:prstGeom prst="roundRect">
            <a:avLst/>
          </a:prstGeom>
          <a:solidFill>
            <a:srgbClr val="DB0613"/>
          </a:solidFill>
          <a:ln w="9525" algn="ctr">
            <a:noFill/>
            <a:miter lim="800000"/>
            <a:headEnd/>
            <a:tailEnd/>
          </a:ln>
          <a:effectLst>
            <a:prstShdw prst="shdw17" dist="17961" dir="2700000">
              <a:srgbClr val="DDDDDD">
                <a:gamma/>
                <a:shade val="60000"/>
                <a:invGamma/>
              </a:srgbClr>
            </a:prstShdw>
          </a:effectLst>
        </p:spPr>
        <p:txBody>
          <a:bodyPr wrap="none" anchor="ctr"/>
          <a:lstStyle/>
          <a:p>
            <a:pPr algn="ctr"/>
            <a:r>
              <a:rPr lang="es-ES" sz="1600" b="1" dirty="0">
                <a:solidFill>
                  <a:schemeClr val="bg1"/>
                </a:solidFill>
              </a:rPr>
              <a:t>Administración</a:t>
            </a:r>
          </a:p>
          <a:p>
            <a:pPr algn="ctr"/>
            <a:r>
              <a:rPr lang="es-ES" sz="1600" b="1" dirty="0">
                <a:solidFill>
                  <a:schemeClr val="bg1"/>
                </a:solidFill>
              </a:rPr>
              <a:t>de Fondos</a:t>
            </a:r>
          </a:p>
        </p:txBody>
      </p:sp>
      <p:sp>
        <p:nvSpPr>
          <p:cNvPr id="15" name="Rounded Rectangle 21"/>
          <p:cNvSpPr/>
          <p:nvPr/>
        </p:nvSpPr>
        <p:spPr>
          <a:xfrm>
            <a:off x="3031351" y="1340767"/>
            <a:ext cx="1548000" cy="648000"/>
          </a:xfrm>
          <a:prstGeom prst="roundRect">
            <a:avLst/>
          </a:prstGeom>
          <a:solidFill>
            <a:srgbClr val="DB0613"/>
          </a:solidFill>
          <a:ln w="9525" algn="ctr">
            <a:noFill/>
            <a:miter lim="800000"/>
            <a:headEnd/>
            <a:tailEnd/>
          </a:ln>
          <a:effectLst>
            <a:prstShdw prst="shdw17" dist="17961" dir="2700000">
              <a:srgbClr val="DDDDDD">
                <a:gamma/>
                <a:shade val="60000"/>
                <a:invGamma/>
              </a:srgbClr>
            </a:prstShdw>
          </a:effectLst>
        </p:spPr>
        <p:txBody>
          <a:bodyPr wrap="none" anchor="ctr"/>
          <a:lstStyle/>
          <a:p>
            <a:pPr algn="ctr"/>
            <a:r>
              <a:rPr lang="es-ES" sz="1400" b="1" dirty="0">
                <a:solidFill>
                  <a:schemeClr val="bg1"/>
                </a:solidFill>
              </a:rPr>
              <a:t>Identificación de</a:t>
            </a:r>
          </a:p>
          <a:p>
            <a:pPr algn="ctr"/>
            <a:r>
              <a:rPr lang="es-ES" sz="1400" b="1" dirty="0">
                <a:solidFill>
                  <a:schemeClr val="bg1"/>
                </a:solidFill>
              </a:rPr>
              <a:t>Oportunidades</a:t>
            </a:r>
          </a:p>
          <a:p>
            <a:pPr algn="ctr"/>
            <a:r>
              <a:rPr lang="es-ES" sz="1400" b="1" dirty="0">
                <a:solidFill>
                  <a:schemeClr val="bg1"/>
                </a:solidFill>
              </a:rPr>
              <a:t>de Inversión</a:t>
            </a:r>
          </a:p>
        </p:txBody>
      </p:sp>
      <p:sp>
        <p:nvSpPr>
          <p:cNvPr id="16" name="Rounded Rectangle 21"/>
          <p:cNvSpPr/>
          <p:nvPr/>
        </p:nvSpPr>
        <p:spPr>
          <a:xfrm>
            <a:off x="3031351" y="2177009"/>
            <a:ext cx="1548000" cy="648000"/>
          </a:xfrm>
          <a:prstGeom prst="roundRect">
            <a:avLst/>
          </a:prstGeom>
          <a:solidFill>
            <a:srgbClr val="DB0613"/>
          </a:solidFill>
          <a:ln w="9525" algn="ctr">
            <a:noFill/>
            <a:miter lim="800000"/>
            <a:headEnd/>
            <a:tailEnd/>
          </a:ln>
          <a:effectLst>
            <a:prstShdw prst="shdw17" dist="17961" dir="2700000">
              <a:srgbClr val="DDDDDD">
                <a:gamma/>
                <a:shade val="60000"/>
                <a:invGamma/>
              </a:srgbClr>
            </a:prstShdw>
          </a:effectLst>
        </p:spPr>
        <p:txBody>
          <a:bodyPr wrap="none" anchor="ctr"/>
          <a:lstStyle/>
          <a:p>
            <a:pPr algn="ctr"/>
            <a:r>
              <a:rPr lang="es-ES" sz="1400" b="1" dirty="0">
                <a:solidFill>
                  <a:schemeClr val="bg1"/>
                </a:solidFill>
              </a:rPr>
              <a:t>Evaluación de</a:t>
            </a:r>
          </a:p>
          <a:p>
            <a:pPr algn="ctr"/>
            <a:r>
              <a:rPr lang="es-ES" sz="1400" b="1" dirty="0">
                <a:solidFill>
                  <a:schemeClr val="bg1"/>
                </a:solidFill>
              </a:rPr>
              <a:t>Oportunidades</a:t>
            </a:r>
          </a:p>
          <a:p>
            <a:pPr algn="ctr"/>
            <a:r>
              <a:rPr lang="es-ES" sz="1400" b="1" dirty="0">
                <a:solidFill>
                  <a:schemeClr val="bg1"/>
                </a:solidFill>
              </a:rPr>
              <a:t>de Inversión</a:t>
            </a:r>
          </a:p>
        </p:txBody>
      </p:sp>
      <p:sp>
        <p:nvSpPr>
          <p:cNvPr id="17" name="Rounded Rectangle 21"/>
          <p:cNvSpPr/>
          <p:nvPr/>
        </p:nvSpPr>
        <p:spPr>
          <a:xfrm>
            <a:off x="3031351" y="2977409"/>
            <a:ext cx="1548000" cy="648000"/>
          </a:xfrm>
          <a:prstGeom prst="roundRect">
            <a:avLst/>
          </a:prstGeom>
          <a:solidFill>
            <a:srgbClr val="DB0613"/>
          </a:solidFill>
          <a:ln w="9525" algn="ctr">
            <a:noFill/>
            <a:miter lim="800000"/>
            <a:headEnd/>
            <a:tailEnd/>
          </a:ln>
          <a:effectLst>
            <a:prstShdw prst="shdw17" dist="17961" dir="2700000">
              <a:srgbClr val="DDDDDD">
                <a:gamma/>
                <a:shade val="60000"/>
                <a:invGamma/>
              </a:srgbClr>
            </a:prstShdw>
          </a:effectLst>
        </p:spPr>
        <p:txBody>
          <a:bodyPr wrap="none" anchor="ctr"/>
          <a:lstStyle/>
          <a:p>
            <a:pPr algn="ctr"/>
            <a:r>
              <a:rPr lang="es-ES" sz="1400" b="1" dirty="0">
                <a:solidFill>
                  <a:schemeClr val="bg1"/>
                </a:solidFill>
              </a:rPr>
              <a:t>Ejecución de</a:t>
            </a:r>
          </a:p>
          <a:p>
            <a:pPr algn="ctr"/>
            <a:r>
              <a:rPr lang="es-ES" sz="1400" b="1" dirty="0">
                <a:solidFill>
                  <a:schemeClr val="bg1"/>
                </a:solidFill>
              </a:rPr>
              <a:t>Propuesta</a:t>
            </a:r>
          </a:p>
          <a:p>
            <a:pPr algn="ctr"/>
            <a:r>
              <a:rPr lang="es-ES" sz="1400" b="1" dirty="0">
                <a:solidFill>
                  <a:schemeClr val="bg1"/>
                </a:solidFill>
              </a:rPr>
              <a:t>de Inversión</a:t>
            </a:r>
          </a:p>
        </p:txBody>
      </p:sp>
      <p:sp>
        <p:nvSpPr>
          <p:cNvPr id="18" name="Rounded Rectangle 21"/>
          <p:cNvSpPr/>
          <p:nvPr/>
        </p:nvSpPr>
        <p:spPr>
          <a:xfrm>
            <a:off x="3031351" y="3861047"/>
            <a:ext cx="1548000" cy="648000"/>
          </a:xfrm>
          <a:prstGeom prst="roundRect">
            <a:avLst/>
          </a:prstGeom>
          <a:solidFill>
            <a:srgbClr val="DB0613"/>
          </a:solidFill>
          <a:ln w="9525" algn="ctr">
            <a:noFill/>
            <a:miter lim="800000"/>
            <a:headEnd/>
            <a:tailEnd/>
          </a:ln>
          <a:effectLst>
            <a:prstShdw prst="shdw17" dist="17961" dir="2700000">
              <a:srgbClr val="DDDDDD">
                <a:gamma/>
                <a:shade val="60000"/>
                <a:invGamma/>
              </a:srgbClr>
            </a:prstShdw>
          </a:effectLst>
        </p:spPr>
        <p:txBody>
          <a:bodyPr wrap="none" anchor="ctr"/>
          <a:lstStyle/>
          <a:p>
            <a:pPr algn="ctr"/>
            <a:r>
              <a:rPr lang="es-ES" sz="1400" b="1" dirty="0">
                <a:solidFill>
                  <a:schemeClr val="bg1"/>
                </a:solidFill>
              </a:rPr>
              <a:t>Ingreso y Registro</a:t>
            </a:r>
          </a:p>
          <a:p>
            <a:pPr algn="ctr"/>
            <a:r>
              <a:rPr lang="es-ES" sz="1400" b="1" dirty="0">
                <a:solidFill>
                  <a:schemeClr val="bg1"/>
                </a:solidFill>
              </a:rPr>
              <a:t>de Operaciones </a:t>
            </a:r>
          </a:p>
          <a:p>
            <a:pPr algn="ctr"/>
            <a:r>
              <a:rPr lang="es-ES" sz="1400" b="1" dirty="0">
                <a:solidFill>
                  <a:schemeClr val="bg1"/>
                </a:solidFill>
              </a:rPr>
              <a:t>de Inversión</a:t>
            </a:r>
          </a:p>
        </p:txBody>
      </p:sp>
      <p:sp>
        <p:nvSpPr>
          <p:cNvPr id="19" name="Rounded Rectangle 21"/>
          <p:cNvSpPr/>
          <p:nvPr/>
        </p:nvSpPr>
        <p:spPr>
          <a:xfrm>
            <a:off x="3031351" y="4725143"/>
            <a:ext cx="1548000" cy="648000"/>
          </a:xfrm>
          <a:prstGeom prst="roundRect">
            <a:avLst/>
          </a:prstGeom>
          <a:solidFill>
            <a:srgbClr val="DB0613"/>
          </a:solidFill>
          <a:ln w="9525" algn="ctr">
            <a:noFill/>
            <a:miter lim="800000"/>
            <a:headEnd/>
            <a:tailEnd/>
          </a:ln>
          <a:effectLst>
            <a:prstShdw prst="shdw17" dist="17961" dir="2700000">
              <a:srgbClr val="DDDDDD">
                <a:gamma/>
                <a:shade val="60000"/>
                <a:invGamma/>
              </a:srgbClr>
            </a:prstShdw>
          </a:effectLst>
        </p:spPr>
        <p:txBody>
          <a:bodyPr wrap="none" anchor="ctr"/>
          <a:lstStyle/>
          <a:p>
            <a:pPr algn="ctr"/>
            <a:r>
              <a:rPr lang="es-ES" sz="1400" b="1" dirty="0">
                <a:solidFill>
                  <a:schemeClr val="bg1"/>
                </a:solidFill>
              </a:rPr>
              <a:t>Operaciones de</a:t>
            </a:r>
          </a:p>
          <a:p>
            <a:pPr algn="ctr"/>
            <a:r>
              <a:rPr lang="es-ES" sz="1400" b="1" dirty="0">
                <a:solidFill>
                  <a:schemeClr val="bg1"/>
                </a:solidFill>
              </a:rPr>
              <a:t>Money </a:t>
            </a:r>
            <a:r>
              <a:rPr lang="es-ES" sz="1400" b="1" dirty="0" err="1">
                <a:solidFill>
                  <a:schemeClr val="bg1"/>
                </a:solidFill>
              </a:rPr>
              <a:t>Market</a:t>
            </a:r>
            <a:endParaRPr lang="es-ES" sz="1400" b="1" dirty="0">
              <a:solidFill>
                <a:schemeClr val="bg1"/>
              </a:solidFill>
            </a:endParaRPr>
          </a:p>
        </p:txBody>
      </p:sp>
      <p:grpSp>
        <p:nvGrpSpPr>
          <p:cNvPr id="2" name="19 Grupo"/>
          <p:cNvGrpSpPr/>
          <p:nvPr/>
        </p:nvGrpSpPr>
        <p:grpSpPr>
          <a:xfrm>
            <a:off x="4536176" y="1340767"/>
            <a:ext cx="1620000" cy="648000"/>
            <a:chOff x="3491881" y="1281851"/>
            <a:chExt cx="1620000" cy="648000"/>
          </a:xfrm>
        </p:grpSpPr>
        <p:sp>
          <p:nvSpPr>
            <p:cNvPr id="21" name="AutoShape 10"/>
            <p:cNvSpPr>
              <a:spLocks noChangeArrowheads="1"/>
            </p:cNvSpPr>
            <p:nvPr/>
          </p:nvSpPr>
          <p:spPr bwMode="auto">
            <a:xfrm rot="10800000">
              <a:off x="3491881" y="1281851"/>
              <a:ext cx="1620000" cy="648000"/>
            </a:xfrm>
            <a:prstGeom prst="homePlate">
              <a:avLst>
                <a:gd name="adj" fmla="val 28726"/>
              </a:avLst>
            </a:prstGeom>
            <a:solidFill>
              <a:schemeClr val="bg1"/>
            </a:solidFill>
            <a:ln w="9525" algn="ctr">
              <a:noFill/>
              <a:miter lim="800000"/>
              <a:headEnd/>
              <a:tailEnd/>
            </a:ln>
            <a:effectLst>
              <a:prstShdw prst="shdw17" dist="17961" dir="2700000">
                <a:srgbClr val="DDDDDD">
                  <a:gamma/>
                  <a:shade val="60000"/>
                  <a:invGamma/>
                </a:srgbClr>
              </a:prstShdw>
            </a:effectLst>
          </p:spPr>
          <p:txBody>
            <a:bodyPr wrap="none" anchor="ctr"/>
            <a:lstStyle/>
            <a:p>
              <a:pPr algn="ctr"/>
              <a:endParaRPr lang="en-US" sz="1300" b="1" dirty="0">
                <a:solidFill>
                  <a:schemeClr val="bg1"/>
                </a:solidFill>
              </a:endParaRPr>
            </a:p>
          </p:txBody>
        </p:sp>
        <p:sp>
          <p:nvSpPr>
            <p:cNvPr id="22" name="Rectangle 7"/>
            <p:cNvSpPr>
              <a:spLocks noChangeArrowheads="1"/>
            </p:cNvSpPr>
            <p:nvPr/>
          </p:nvSpPr>
          <p:spPr bwMode="auto">
            <a:xfrm>
              <a:off x="3838625" y="1281851"/>
              <a:ext cx="1224000" cy="648000"/>
            </a:xfrm>
            <a:prstGeom prst="rect">
              <a:avLst/>
            </a:prstGeom>
            <a:noFill/>
            <a:ln w="9525" algn="ctr">
              <a:noFill/>
              <a:miter lim="800000"/>
              <a:headEnd/>
              <a:tailEnd/>
            </a:ln>
            <a:effectLst>
              <a:prstShdw prst="shdw17" dist="17961" dir="2700000">
                <a:srgbClr val="DDDDDD">
                  <a:gamma/>
                  <a:shade val="60000"/>
                  <a:invGamma/>
                </a:srgbClr>
              </a:prstShdw>
            </a:effectLst>
          </p:spPr>
          <p:txBody>
            <a:bodyPr wrap="none" anchor="ctr"/>
            <a:lstStyle/>
            <a:p>
              <a:r>
                <a:rPr lang="es-PE" sz="1400" b="1" dirty="0"/>
                <a:t>Riesgos : 1</a:t>
              </a:r>
            </a:p>
            <a:p>
              <a:r>
                <a:rPr lang="es-PE" sz="1400" b="1" dirty="0"/>
                <a:t>Controles: 1</a:t>
              </a:r>
              <a:endParaRPr lang="es-ES" sz="1400" b="1" dirty="0"/>
            </a:p>
          </p:txBody>
        </p:sp>
        <p:sp>
          <p:nvSpPr>
            <p:cNvPr id="23" name="AutoShape 92"/>
            <p:cNvSpPr>
              <a:spLocks noChangeArrowheads="1"/>
            </p:cNvSpPr>
            <p:nvPr/>
          </p:nvSpPr>
          <p:spPr bwMode="auto">
            <a:xfrm>
              <a:off x="3712253" y="1628800"/>
              <a:ext cx="180000" cy="180000"/>
            </a:xfrm>
            <a:prstGeom prst="diamond">
              <a:avLst/>
            </a:prstGeom>
            <a:solidFill>
              <a:srgbClr val="009644"/>
            </a:solidFill>
            <a:ln w="9525" algn="ctr">
              <a:noFill/>
              <a:miter lim="800000"/>
              <a:headEnd/>
              <a:tailEnd/>
            </a:ln>
            <a:effectLst/>
          </p:spPr>
          <p:txBody>
            <a:bodyPr wrap="none" anchor="ctr"/>
            <a:lstStyle/>
            <a:p>
              <a:pPr algn="ctr"/>
              <a:endParaRPr lang="en-US" sz="1000" b="1" dirty="0">
                <a:solidFill>
                  <a:schemeClr val="bg1"/>
                </a:solidFill>
              </a:endParaRPr>
            </a:p>
          </p:txBody>
        </p:sp>
        <p:sp>
          <p:nvSpPr>
            <p:cNvPr id="24" name="Rounded Rectangle 139"/>
            <p:cNvSpPr/>
            <p:nvPr/>
          </p:nvSpPr>
          <p:spPr>
            <a:xfrm>
              <a:off x="3712253" y="1381102"/>
              <a:ext cx="180000" cy="180000"/>
            </a:xfrm>
            <a:prstGeom prst="roundRect">
              <a:avLst/>
            </a:prstGeom>
            <a:solidFill>
              <a:srgbClr val="F26D00"/>
            </a:solidFill>
            <a:ln w="9525" algn="ctr">
              <a:noFill/>
              <a:round/>
              <a:headEnd/>
              <a:tailEnd/>
            </a:ln>
            <a:effectLst/>
          </p:spPr>
          <p:txBody>
            <a:bodyPr wrap="none" anchor="ctr"/>
            <a:lstStyle/>
            <a:p>
              <a:pPr algn="ctr"/>
              <a:endParaRPr lang="es-ES" sz="1000" b="1" dirty="0">
                <a:solidFill>
                  <a:schemeClr val="bg1"/>
                </a:solidFill>
              </a:endParaRPr>
            </a:p>
          </p:txBody>
        </p:sp>
      </p:grpSp>
      <p:grpSp>
        <p:nvGrpSpPr>
          <p:cNvPr id="3" name="24 Grupo"/>
          <p:cNvGrpSpPr/>
          <p:nvPr/>
        </p:nvGrpSpPr>
        <p:grpSpPr>
          <a:xfrm>
            <a:off x="4536176" y="2177009"/>
            <a:ext cx="1620000" cy="648000"/>
            <a:chOff x="3491881" y="1281851"/>
            <a:chExt cx="1620000" cy="648000"/>
          </a:xfrm>
        </p:grpSpPr>
        <p:sp>
          <p:nvSpPr>
            <p:cNvPr id="26" name="AutoShape 10"/>
            <p:cNvSpPr>
              <a:spLocks noChangeArrowheads="1"/>
            </p:cNvSpPr>
            <p:nvPr/>
          </p:nvSpPr>
          <p:spPr bwMode="auto">
            <a:xfrm rot="10800000">
              <a:off x="3491881" y="1281851"/>
              <a:ext cx="1620000" cy="648000"/>
            </a:xfrm>
            <a:prstGeom prst="homePlate">
              <a:avLst>
                <a:gd name="adj" fmla="val 28726"/>
              </a:avLst>
            </a:prstGeom>
            <a:solidFill>
              <a:schemeClr val="bg1"/>
            </a:solidFill>
            <a:ln w="9525" algn="ctr">
              <a:noFill/>
              <a:miter lim="800000"/>
              <a:headEnd/>
              <a:tailEnd/>
            </a:ln>
            <a:effectLst>
              <a:prstShdw prst="shdw17" dist="17961" dir="2700000">
                <a:srgbClr val="DDDDDD">
                  <a:gamma/>
                  <a:shade val="60000"/>
                  <a:invGamma/>
                </a:srgbClr>
              </a:prstShdw>
            </a:effectLst>
          </p:spPr>
          <p:txBody>
            <a:bodyPr wrap="none" anchor="ctr"/>
            <a:lstStyle/>
            <a:p>
              <a:pPr algn="ctr"/>
              <a:endParaRPr lang="en-US" sz="1300" b="1" dirty="0">
                <a:solidFill>
                  <a:schemeClr val="bg1"/>
                </a:solidFill>
              </a:endParaRPr>
            </a:p>
          </p:txBody>
        </p:sp>
        <p:sp>
          <p:nvSpPr>
            <p:cNvPr id="27" name="Rectangle 7"/>
            <p:cNvSpPr>
              <a:spLocks noChangeArrowheads="1"/>
            </p:cNvSpPr>
            <p:nvPr/>
          </p:nvSpPr>
          <p:spPr bwMode="auto">
            <a:xfrm>
              <a:off x="3838625" y="1281851"/>
              <a:ext cx="1224000" cy="648000"/>
            </a:xfrm>
            <a:prstGeom prst="rect">
              <a:avLst/>
            </a:prstGeom>
            <a:noFill/>
            <a:ln w="9525" algn="ctr">
              <a:noFill/>
              <a:miter lim="800000"/>
              <a:headEnd/>
              <a:tailEnd/>
            </a:ln>
            <a:effectLst>
              <a:prstShdw prst="shdw17" dist="17961" dir="2700000">
                <a:srgbClr val="DDDDDD">
                  <a:gamma/>
                  <a:shade val="60000"/>
                  <a:invGamma/>
                </a:srgbClr>
              </a:prstShdw>
            </a:effectLst>
          </p:spPr>
          <p:txBody>
            <a:bodyPr wrap="none" anchor="ctr"/>
            <a:lstStyle/>
            <a:p>
              <a:r>
                <a:rPr lang="es-PE" sz="1400" b="1" dirty="0"/>
                <a:t>Riesgos : 4</a:t>
              </a:r>
            </a:p>
            <a:p>
              <a:r>
                <a:rPr lang="es-PE" sz="1400" b="1" dirty="0"/>
                <a:t>Controles: 4</a:t>
              </a:r>
              <a:endParaRPr lang="es-ES" sz="1400" b="1" dirty="0"/>
            </a:p>
          </p:txBody>
        </p:sp>
        <p:sp>
          <p:nvSpPr>
            <p:cNvPr id="28" name="AutoShape 92"/>
            <p:cNvSpPr>
              <a:spLocks noChangeArrowheads="1"/>
            </p:cNvSpPr>
            <p:nvPr/>
          </p:nvSpPr>
          <p:spPr bwMode="auto">
            <a:xfrm>
              <a:off x="3712253" y="1628800"/>
              <a:ext cx="180000" cy="180000"/>
            </a:xfrm>
            <a:prstGeom prst="diamond">
              <a:avLst/>
            </a:prstGeom>
            <a:solidFill>
              <a:srgbClr val="009644"/>
            </a:solidFill>
            <a:ln w="9525" algn="ctr">
              <a:noFill/>
              <a:miter lim="800000"/>
              <a:headEnd/>
              <a:tailEnd/>
            </a:ln>
            <a:effectLst/>
          </p:spPr>
          <p:txBody>
            <a:bodyPr wrap="none" anchor="ctr"/>
            <a:lstStyle/>
            <a:p>
              <a:pPr algn="ctr"/>
              <a:endParaRPr lang="en-US" sz="1000" b="1" dirty="0">
                <a:solidFill>
                  <a:schemeClr val="bg1"/>
                </a:solidFill>
              </a:endParaRPr>
            </a:p>
          </p:txBody>
        </p:sp>
        <p:sp>
          <p:nvSpPr>
            <p:cNvPr id="29" name="Rounded Rectangle 139"/>
            <p:cNvSpPr/>
            <p:nvPr/>
          </p:nvSpPr>
          <p:spPr>
            <a:xfrm>
              <a:off x="3712253" y="1381102"/>
              <a:ext cx="180000" cy="180000"/>
            </a:xfrm>
            <a:prstGeom prst="roundRect">
              <a:avLst/>
            </a:prstGeom>
            <a:solidFill>
              <a:srgbClr val="F26D00"/>
            </a:solidFill>
            <a:ln w="9525" algn="ctr">
              <a:noFill/>
              <a:round/>
              <a:headEnd/>
              <a:tailEnd/>
            </a:ln>
            <a:effectLst/>
          </p:spPr>
          <p:txBody>
            <a:bodyPr wrap="none" anchor="ctr"/>
            <a:lstStyle/>
            <a:p>
              <a:pPr algn="ctr"/>
              <a:endParaRPr lang="es-ES" sz="1000" b="1" dirty="0">
                <a:solidFill>
                  <a:schemeClr val="bg1"/>
                </a:solidFill>
              </a:endParaRPr>
            </a:p>
          </p:txBody>
        </p:sp>
      </p:grpSp>
      <p:grpSp>
        <p:nvGrpSpPr>
          <p:cNvPr id="4" name="29 Grupo"/>
          <p:cNvGrpSpPr/>
          <p:nvPr/>
        </p:nvGrpSpPr>
        <p:grpSpPr>
          <a:xfrm>
            <a:off x="4536176" y="2977409"/>
            <a:ext cx="1620000" cy="648000"/>
            <a:chOff x="3491881" y="1281851"/>
            <a:chExt cx="1620000" cy="648000"/>
          </a:xfrm>
        </p:grpSpPr>
        <p:sp>
          <p:nvSpPr>
            <p:cNvPr id="31" name="AutoShape 10"/>
            <p:cNvSpPr>
              <a:spLocks noChangeArrowheads="1"/>
            </p:cNvSpPr>
            <p:nvPr/>
          </p:nvSpPr>
          <p:spPr bwMode="auto">
            <a:xfrm rot="10800000">
              <a:off x="3491881" y="1281851"/>
              <a:ext cx="1620000" cy="648000"/>
            </a:xfrm>
            <a:prstGeom prst="homePlate">
              <a:avLst>
                <a:gd name="adj" fmla="val 28726"/>
              </a:avLst>
            </a:prstGeom>
            <a:solidFill>
              <a:schemeClr val="bg1"/>
            </a:solidFill>
            <a:ln w="9525" algn="ctr">
              <a:noFill/>
              <a:miter lim="800000"/>
              <a:headEnd/>
              <a:tailEnd/>
            </a:ln>
            <a:effectLst>
              <a:prstShdw prst="shdw17" dist="17961" dir="2700000">
                <a:srgbClr val="DDDDDD">
                  <a:gamma/>
                  <a:shade val="60000"/>
                  <a:invGamma/>
                </a:srgbClr>
              </a:prstShdw>
            </a:effectLst>
          </p:spPr>
          <p:txBody>
            <a:bodyPr wrap="none" anchor="ctr"/>
            <a:lstStyle/>
            <a:p>
              <a:pPr algn="ctr"/>
              <a:endParaRPr lang="en-US" sz="1300" b="1" dirty="0">
                <a:solidFill>
                  <a:schemeClr val="bg1"/>
                </a:solidFill>
              </a:endParaRPr>
            </a:p>
          </p:txBody>
        </p:sp>
        <p:sp>
          <p:nvSpPr>
            <p:cNvPr id="32" name="Rectangle 7"/>
            <p:cNvSpPr>
              <a:spLocks noChangeArrowheads="1"/>
            </p:cNvSpPr>
            <p:nvPr/>
          </p:nvSpPr>
          <p:spPr bwMode="auto">
            <a:xfrm>
              <a:off x="3838625" y="1281851"/>
              <a:ext cx="1224000" cy="648000"/>
            </a:xfrm>
            <a:prstGeom prst="rect">
              <a:avLst/>
            </a:prstGeom>
            <a:noFill/>
            <a:ln w="9525" algn="ctr">
              <a:noFill/>
              <a:miter lim="800000"/>
              <a:headEnd/>
              <a:tailEnd/>
            </a:ln>
            <a:effectLst>
              <a:prstShdw prst="shdw17" dist="17961" dir="2700000">
                <a:srgbClr val="DDDDDD">
                  <a:gamma/>
                  <a:shade val="60000"/>
                  <a:invGamma/>
                </a:srgbClr>
              </a:prstShdw>
            </a:effectLst>
          </p:spPr>
          <p:txBody>
            <a:bodyPr wrap="none" anchor="ctr"/>
            <a:lstStyle/>
            <a:p>
              <a:r>
                <a:rPr lang="es-PE" sz="1400" b="1" dirty="0"/>
                <a:t>Riesgos : 9</a:t>
              </a:r>
            </a:p>
            <a:p>
              <a:r>
                <a:rPr lang="es-PE" sz="1400" b="1" dirty="0"/>
                <a:t>Controles: 9</a:t>
              </a:r>
              <a:endParaRPr lang="es-ES" sz="1400" b="1" dirty="0"/>
            </a:p>
          </p:txBody>
        </p:sp>
        <p:sp>
          <p:nvSpPr>
            <p:cNvPr id="33" name="AutoShape 92"/>
            <p:cNvSpPr>
              <a:spLocks noChangeArrowheads="1"/>
            </p:cNvSpPr>
            <p:nvPr/>
          </p:nvSpPr>
          <p:spPr bwMode="auto">
            <a:xfrm>
              <a:off x="3712253" y="1628800"/>
              <a:ext cx="180000" cy="180000"/>
            </a:xfrm>
            <a:prstGeom prst="diamond">
              <a:avLst/>
            </a:prstGeom>
            <a:solidFill>
              <a:srgbClr val="009644"/>
            </a:solidFill>
            <a:ln w="9525" algn="ctr">
              <a:noFill/>
              <a:miter lim="800000"/>
              <a:headEnd/>
              <a:tailEnd/>
            </a:ln>
            <a:effectLst/>
          </p:spPr>
          <p:txBody>
            <a:bodyPr wrap="none" anchor="ctr"/>
            <a:lstStyle/>
            <a:p>
              <a:pPr algn="ctr"/>
              <a:endParaRPr lang="en-US" sz="1000" b="1" dirty="0">
                <a:solidFill>
                  <a:schemeClr val="bg1"/>
                </a:solidFill>
              </a:endParaRPr>
            </a:p>
          </p:txBody>
        </p:sp>
        <p:sp>
          <p:nvSpPr>
            <p:cNvPr id="34" name="Rounded Rectangle 139"/>
            <p:cNvSpPr/>
            <p:nvPr/>
          </p:nvSpPr>
          <p:spPr>
            <a:xfrm>
              <a:off x="3712253" y="1381102"/>
              <a:ext cx="180000" cy="180000"/>
            </a:xfrm>
            <a:prstGeom prst="roundRect">
              <a:avLst/>
            </a:prstGeom>
            <a:solidFill>
              <a:srgbClr val="F26D00"/>
            </a:solidFill>
            <a:ln w="9525" algn="ctr">
              <a:noFill/>
              <a:round/>
              <a:headEnd/>
              <a:tailEnd/>
            </a:ln>
            <a:effectLst/>
          </p:spPr>
          <p:txBody>
            <a:bodyPr wrap="none" anchor="ctr"/>
            <a:lstStyle/>
            <a:p>
              <a:pPr algn="ctr"/>
              <a:endParaRPr lang="es-ES" sz="1000" b="1" dirty="0">
                <a:solidFill>
                  <a:schemeClr val="bg1"/>
                </a:solidFill>
              </a:endParaRPr>
            </a:p>
          </p:txBody>
        </p:sp>
      </p:grpSp>
      <p:grpSp>
        <p:nvGrpSpPr>
          <p:cNvPr id="5" name="34 Grupo"/>
          <p:cNvGrpSpPr/>
          <p:nvPr/>
        </p:nvGrpSpPr>
        <p:grpSpPr>
          <a:xfrm>
            <a:off x="4536176" y="3861047"/>
            <a:ext cx="1620000" cy="648000"/>
            <a:chOff x="3491881" y="1281851"/>
            <a:chExt cx="1620000" cy="648000"/>
          </a:xfrm>
        </p:grpSpPr>
        <p:sp>
          <p:nvSpPr>
            <p:cNvPr id="36" name="AutoShape 10"/>
            <p:cNvSpPr>
              <a:spLocks noChangeArrowheads="1"/>
            </p:cNvSpPr>
            <p:nvPr/>
          </p:nvSpPr>
          <p:spPr bwMode="auto">
            <a:xfrm rot="10800000">
              <a:off x="3491881" y="1281851"/>
              <a:ext cx="1620000" cy="648000"/>
            </a:xfrm>
            <a:prstGeom prst="homePlate">
              <a:avLst>
                <a:gd name="adj" fmla="val 28726"/>
              </a:avLst>
            </a:prstGeom>
            <a:solidFill>
              <a:schemeClr val="bg1"/>
            </a:solidFill>
            <a:ln w="9525" algn="ctr">
              <a:noFill/>
              <a:miter lim="800000"/>
              <a:headEnd/>
              <a:tailEnd/>
            </a:ln>
            <a:effectLst>
              <a:prstShdw prst="shdw17" dist="17961" dir="2700000">
                <a:srgbClr val="DDDDDD">
                  <a:gamma/>
                  <a:shade val="60000"/>
                  <a:invGamma/>
                </a:srgbClr>
              </a:prstShdw>
            </a:effectLst>
          </p:spPr>
          <p:txBody>
            <a:bodyPr wrap="none" anchor="ctr"/>
            <a:lstStyle/>
            <a:p>
              <a:pPr algn="ctr"/>
              <a:endParaRPr lang="en-US" sz="1300" b="1" dirty="0">
                <a:solidFill>
                  <a:schemeClr val="bg1"/>
                </a:solidFill>
              </a:endParaRPr>
            </a:p>
          </p:txBody>
        </p:sp>
        <p:sp>
          <p:nvSpPr>
            <p:cNvPr id="37" name="Rectangle 7"/>
            <p:cNvSpPr>
              <a:spLocks noChangeArrowheads="1"/>
            </p:cNvSpPr>
            <p:nvPr/>
          </p:nvSpPr>
          <p:spPr bwMode="auto">
            <a:xfrm>
              <a:off x="3838625" y="1281851"/>
              <a:ext cx="1224000" cy="648000"/>
            </a:xfrm>
            <a:prstGeom prst="rect">
              <a:avLst/>
            </a:prstGeom>
            <a:noFill/>
            <a:ln w="9525" algn="ctr">
              <a:noFill/>
              <a:miter lim="800000"/>
              <a:headEnd/>
              <a:tailEnd/>
            </a:ln>
            <a:effectLst>
              <a:prstShdw prst="shdw17" dist="17961" dir="2700000">
                <a:srgbClr val="DDDDDD">
                  <a:gamma/>
                  <a:shade val="60000"/>
                  <a:invGamma/>
                </a:srgbClr>
              </a:prstShdw>
            </a:effectLst>
          </p:spPr>
          <p:txBody>
            <a:bodyPr wrap="none" anchor="ctr"/>
            <a:lstStyle/>
            <a:p>
              <a:r>
                <a:rPr lang="es-PE" sz="1400" b="1" dirty="0"/>
                <a:t>Riesgos : 8</a:t>
              </a:r>
            </a:p>
            <a:p>
              <a:r>
                <a:rPr lang="es-PE" sz="1400" b="1" dirty="0"/>
                <a:t>Controles: 8</a:t>
              </a:r>
              <a:endParaRPr lang="es-ES" sz="1400" b="1" dirty="0"/>
            </a:p>
          </p:txBody>
        </p:sp>
        <p:sp>
          <p:nvSpPr>
            <p:cNvPr id="38" name="AutoShape 92"/>
            <p:cNvSpPr>
              <a:spLocks noChangeArrowheads="1"/>
            </p:cNvSpPr>
            <p:nvPr/>
          </p:nvSpPr>
          <p:spPr bwMode="auto">
            <a:xfrm>
              <a:off x="3712253" y="1628800"/>
              <a:ext cx="180000" cy="180000"/>
            </a:xfrm>
            <a:prstGeom prst="diamond">
              <a:avLst/>
            </a:prstGeom>
            <a:solidFill>
              <a:srgbClr val="009644"/>
            </a:solidFill>
            <a:ln w="9525" algn="ctr">
              <a:noFill/>
              <a:miter lim="800000"/>
              <a:headEnd/>
              <a:tailEnd/>
            </a:ln>
            <a:effectLst/>
          </p:spPr>
          <p:txBody>
            <a:bodyPr wrap="none" anchor="ctr"/>
            <a:lstStyle/>
            <a:p>
              <a:pPr algn="ctr"/>
              <a:endParaRPr lang="en-US" sz="1000" b="1" dirty="0">
                <a:solidFill>
                  <a:schemeClr val="bg1"/>
                </a:solidFill>
              </a:endParaRPr>
            </a:p>
          </p:txBody>
        </p:sp>
        <p:sp>
          <p:nvSpPr>
            <p:cNvPr id="39" name="Rounded Rectangle 139"/>
            <p:cNvSpPr/>
            <p:nvPr/>
          </p:nvSpPr>
          <p:spPr>
            <a:xfrm>
              <a:off x="3712253" y="1381102"/>
              <a:ext cx="180000" cy="180000"/>
            </a:xfrm>
            <a:prstGeom prst="roundRect">
              <a:avLst/>
            </a:prstGeom>
            <a:solidFill>
              <a:srgbClr val="F26D00"/>
            </a:solidFill>
            <a:ln w="9525" algn="ctr">
              <a:noFill/>
              <a:round/>
              <a:headEnd/>
              <a:tailEnd/>
            </a:ln>
            <a:effectLst/>
          </p:spPr>
          <p:txBody>
            <a:bodyPr wrap="none" anchor="ctr"/>
            <a:lstStyle/>
            <a:p>
              <a:pPr algn="ctr"/>
              <a:endParaRPr lang="es-ES" sz="1000" b="1" dirty="0">
                <a:solidFill>
                  <a:schemeClr val="bg1"/>
                </a:solidFill>
              </a:endParaRPr>
            </a:p>
          </p:txBody>
        </p:sp>
      </p:grpSp>
      <p:grpSp>
        <p:nvGrpSpPr>
          <p:cNvPr id="6" name="39 Grupo"/>
          <p:cNvGrpSpPr/>
          <p:nvPr/>
        </p:nvGrpSpPr>
        <p:grpSpPr>
          <a:xfrm>
            <a:off x="4536176" y="4725143"/>
            <a:ext cx="1620000" cy="648000"/>
            <a:chOff x="3491881" y="1281851"/>
            <a:chExt cx="1620000" cy="648000"/>
          </a:xfrm>
        </p:grpSpPr>
        <p:sp>
          <p:nvSpPr>
            <p:cNvPr id="41" name="AutoShape 10"/>
            <p:cNvSpPr>
              <a:spLocks noChangeArrowheads="1"/>
            </p:cNvSpPr>
            <p:nvPr/>
          </p:nvSpPr>
          <p:spPr bwMode="auto">
            <a:xfrm rot="10800000">
              <a:off x="3491881" y="1281851"/>
              <a:ext cx="1620000" cy="648000"/>
            </a:xfrm>
            <a:prstGeom prst="homePlate">
              <a:avLst>
                <a:gd name="adj" fmla="val 28726"/>
              </a:avLst>
            </a:prstGeom>
            <a:solidFill>
              <a:schemeClr val="bg1"/>
            </a:solidFill>
            <a:ln w="9525" algn="ctr">
              <a:noFill/>
              <a:miter lim="800000"/>
              <a:headEnd/>
              <a:tailEnd/>
            </a:ln>
            <a:effectLst>
              <a:prstShdw prst="shdw17" dist="17961" dir="2700000">
                <a:srgbClr val="DDDDDD">
                  <a:gamma/>
                  <a:shade val="60000"/>
                  <a:invGamma/>
                </a:srgbClr>
              </a:prstShdw>
            </a:effectLst>
          </p:spPr>
          <p:txBody>
            <a:bodyPr wrap="none" anchor="ctr"/>
            <a:lstStyle/>
            <a:p>
              <a:pPr algn="ctr"/>
              <a:endParaRPr lang="en-US" sz="1300" b="1" dirty="0">
                <a:solidFill>
                  <a:schemeClr val="bg1"/>
                </a:solidFill>
              </a:endParaRPr>
            </a:p>
          </p:txBody>
        </p:sp>
        <p:sp>
          <p:nvSpPr>
            <p:cNvPr id="42" name="Rectangle 7"/>
            <p:cNvSpPr>
              <a:spLocks noChangeArrowheads="1"/>
            </p:cNvSpPr>
            <p:nvPr/>
          </p:nvSpPr>
          <p:spPr bwMode="auto">
            <a:xfrm>
              <a:off x="3838625" y="1281851"/>
              <a:ext cx="1224000" cy="648000"/>
            </a:xfrm>
            <a:prstGeom prst="rect">
              <a:avLst/>
            </a:prstGeom>
            <a:noFill/>
            <a:ln w="9525" algn="ctr">
              <a:noFill/>
              <a:miter lim="800000"/>
              <a:headEnd/>
              <a:tailEnd/>
            </a:ln>
            <a:effectLst>
              <a:prstShdw prst="shdw17" dist="17961" dir="2700000">
                <a:srgbClr val="DDDDDD">
                  <a:gamma/>
                  <a:shade val="60000"/>
                  <a:invGamma/>
                </a:srgbClr>
              </a:prstShdw>
            </a:effectLst>
          </p:spPr>
          <p:txBody>
            <a:bodyPr wrap="none" anchor="ctr"/>
            <a:lstStyle/>
            <a:p>
              <a:r>
                <a:rPr lang="es-PE" sz="1400" b="1" dirty="0"/>
                <a:t>Riesgos : 10</a:t>
              </a:r>
            </a:p>
            <a:p>
              <a:r>
                <a:rPr lang="es-PE" sz="1400" b="1" dirty="0"/>
                <a:t>Controles: 8</a:t>
              </a:r>
              <a:endParaRPr lang="es-ES" sz="1400" b="1" dirty="0"/>
            </a:p>
          </p:txBody>
        </p:sp>
        <p:sp>
          <p:nvSpPr>
            <p:cNvPr id="43" name="AutoShape 92"/>
            <p:cNvSpPr>
              <a:spLocks noChangeArrowheads="1"/>
            </p:cNvSpPr>
            <p:nvPr/>
          </p:nvSpPr>
          <p:spPr bwMode="auto">
            <a:xfrm>
              <a:off x="3712253" y="1628800"/>
              <a:ext cx="180000" cy="180000"/>
            </a:xfrm>
            <a:prstGeom prst="diamond">
              <a:avLst/>
            </a:prstGeom>
            <a:solidFill>
              <a:srgbClr val="009644"/>
            </a:solidFill>
            <a:ln w="9525" algn="ctr">
              <a:noFill/>
              <a:miter lim="800000"/>
              <a:headEnd/>
              <a:tailEnd/>
            </a:ln>
            <a:effectLst/>
          </p:spPr>
          <p:txBody>
            <a:bodyPr wrap="none" anchor="ctr"/>
            <a:lstStyle/>
            <a:p>
              <a:pPr algn="ctr"/>
              <a:endParaRPr lang="en-US" sz="1000" b="1" dirty="0">
                <a:solidFill>
                  <a:schemeClr val="bg1"/>
                </a:solidFill>
              </a:endParaRPr>
            </a:p>
          </p:txBody>
        </p:sp>
        <p:sp>
          <p:nvSpPr>
            <p:cNvPr id="44" name="Rounded Rectangle 139"/>
            <p:cNvSpPr/>
            <p:nvPr/>
          </p:nvSpPr>
          <p:spPr>
            <a:xfrm>
              <a:off x="3712253" y="1381102"/>
              <a:ext cx="180000" cy="180000"/>
            </a:xfrm>
            <a:prstGeom prst="roundRect">
              <a:avLst/>
            </a:prstGeom>
            <a:solidFill>
              <a:srgbClr val="F26D00"/>
            </a:solidFill>
            <a:ln w="9525" algn="ctr">
              <a:noFill/>
              <a:round/>
              <a:headEnd/>
              <a:tailEnd/>
            </a:ln>
            <a:effectLst/>
          </p:spPr>
          <p:txBody>
            <a:bodyPr wrap="none" anchor="ctr"/>
            <a:lstStyle/>
            <a:p>
              <a:pPr algn="ctr"/>
              <a:endParaRPr lang="es-ES" sz="1000" b="1" dirty="0">
                <a:solidFill>
                  <a:schemeClr val="bg1"/>
                </a:solidFill>
              </a:endParaRPr>
            </a:p>
          </p:txBody>
        </p:sp>
      </p:grpSp>
      <p:sp>
        <p:nvSpPr>
          <p:cNvPr id="35" name="Rounded Rectangle 31">
            <a:hlinkClick r:id="rId2" action="ppaction://hlinksldjump"/>
          </p:cNvPr>
          <p:cNvSpPr/>
          <p:nvPr/>
        </p:nvSpPr>
        <p:spPr>
          <a:xfrm>
            <a:off x="1638012" y="6322807"/>
            <a:ext cx="1080000" cy="360000"/>
          </a:xfrm>
          <a:prstGeom prst="roundRect">
            <a:avLst/>
          </a:prstGeom>
          <a:solidFill>
            <a:schemeClr val="bg1">
              <a:lumMod val="65000"/>
            </a:schemeClr>
          </a:solidFill>
          <a:ln w="25400" cap="sq" cmpd="sng">
            <a:solidFill>
              <a:schemeClr val="bg1">
                <a:lumMod val="75000"/>
              </a:schemeClr>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L" sz="800" b="1" i="1" dirty="0">
                <a:solidFill>
                  <a:schemeClr val="bg1"/>
                </a:solidFill>
                <a:cs typeface="Arial" pitchFamily="34" charset="0"/>
              </a:rPr>
              <a:t>Exposición al RO y Entorno de Control</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Rectangle 7"/>
          <p:cNvSpPr>
            <a:spLocks noChangeArrowheads="1"/>
          </p:cNvSpPr>
          <p:nvPr/>
        </p:nvSpPr>
        <p:spPr bwMode="auto">
          <a:xfrm>
            <a:off x="4918801" y="980727"/>
            <a:ext cx="4104000" cy="5040561"/>
          </a:xfrm>
          <a:prstGeom prst="rect">
            <a:avLst/>
          </a:prstGeom>
          <a:solidFill>
            <a:schemeClr val="accent1">
              <a:lumMod val="20000"/>
              <a:lumOff val="80000"/>
            </a:schemeClr>
          </a:solidFill>
          <a:ln w="9525" algn="ctr">
            <a:noFill/>
            <a:miter lim="800000"/>
            <a:headEnd/>
            <a:tailEnd/>
          </a:ln>
          <a:effectLst>
            <a:prstShdw prst="shdw17" dist="17961" dir="2700000">
              <a:srgbClr val="DDDDDD">
                <a:gamma/>
                <a:shade val="60000"/>
                <a:invGamma/>
              </a:srgbClr>
            </a:prstShdw>
          </a:effectLst>
        </p:spPr>
        <p:txBody>
          <a:bodyPr wrap="none" anchor="ctr"/>
          <a:lstStyle/>
          <a:p>
            <a:pPr algn="ctr"/>
            <a:endParaRPr lang="es-ES" sz="1300" b="1" dirty="0">
              <a:solidFill>
                <a:srgbClr val="525252"/>
              </a:solidFill>
            </a:endParaRPr>
          </a:p>
        </p:txBody>
      </p:sp>
      <p:sp>
        <p:nvSpPr>
          <p:cNvPr id="12" name="Title 1"/>
          <p:cNvSpPr>
            <a:spLocks noGrp="1"/>
          </p:cNvSpPr>
          <p:nvPr>
            <p:ph type="title"/>
          </p:nvPr>
        </p:nvSpPr>
        <p:spPr>
          <a:xfrm>
            <a:off x="47625" y="32965"/>
            <a:ext cx="8217470" cy="587723"/>
          </a:xfrm>
        </p:spPr>
        <p:txBody>
          <a:bodyPr/>
          <a:lstStyle/>
          <a:p>
            <a:r>
              <a:rPr lang="es-ES" dirty="0"/>
              <a:t>Anexo: Árbol de Procesos</a:t>
            </a:r>
          </a:p>
        </p:txBody>
      </p:sp>
      <p:sp>
        <p:nvSpPr>
          <p:cNvPr id="13" name="Rounded Rectangle 31">
            <a:hlinkClick r:id="rId2" action="ppaction://hlinksldjump"/>
          </p:cNvPr>
          <p:cNvSpPr/>
          <p:nvPr/>
        </p:nvSpPr>
        <p:spPr>
          <a:xfrm>
            <a:off x="1638012" y="6322807"/>
            <a:ext cx="1080000" cy="360000"/>
          </a:xfrm>
          <a:prstGeom prst="roundRect">
            <a:avLst/>
          </a:prstGeom>
          <a:solidFill>
            <a:schemeClr val="bg1">
              <a:lumMod val="65000"/>
            </a:schemeClr>
          </a:solidFill>
          <a:ln w="25400" cap="sq" cmpd="sng">
            <a:solidFill>
              <a:schemeClr val="bg1">
                <a:lumMod val="75000"/>
              </a:schemeClr>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L" sz="800" b="1" i="1" dirty="0">
                <a:solidFill>
                  <a:schemeClr val="bg1"/>
                </a:solidFill>
                <a:cs typeface="Arial" pitchFamily="34" charset="0"/>
              </a:rPr>
              <a:t>Exposición al RO y Entorno de Control</a:t>
            </a:r>
          </a:p>
        </p:txBody>
      </p:sp>
      <p:sp>
        <p:nvSpPr>
          <p:cNvPr id="14" name="AutoShape 10"/>
          <p:cNvSpPr>
            <a:spLocks noChangeArrowheads="1"/>
          </p:cNvSpPr>
          <p:nvPr/>
        </p:nvSpPr>
        <p:spPr bwMode="auto">
          <a:xfrm rot="10800000">
            <a:off x="1187624" y="1233031"/>
            <a:ext cx="2304256" cy="2484000"/>
          </a:xfrm>
          <a:prstGeom prst="homePlate">
            <a:avLst>
              <a:gd name="adj" fmla="val 28726"/>
            </a:avLst>
          </a:prstGeom>
          <a:solidFill>
            <a:schemeClr val="accent1">
              <a:lumMod val="20000"/>
              <a:lumOff val="80000"/>
            </a:schemeClr>
          </a:solidFill>
          <a:ln w="12700">
            <a:solidFill>
              <a:srgbClr val="A9A9A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dirty="0">
              <a:solidFill>
                <a:schemeClr val="lt1"/>
              </a:solidFill>
            </a:endParaRPr>
          </a:p>
        </p:txBody>
      </p:sp>
      <p:sp>
        <p:nvSpPr>
          <p:cNvPr id="15" name="Rounded Rectangle 21"/>
          <p:cNvSpPr/>
          <p:nvPr/>
        </p:nvSpPr>
        <p:spPr>
          <a:xfrm>
            <a:off x="107504" y="2177009"/>
            <a:ext cx="1512000" cy="648000"/>
          </a:xfrm>
          <a:prstGeom prst="roundRect">
            <a:avLst/>
          </a:prstGeom>
          <a:solidFill>
            <a:srgbClr val="DB0613"/>
          </a:solidFill>
          <a:ln w="9525" algn="ctr">
            <a:noFill/>
            <a:miter lim="800000"/>
            <a:headEnd/>
            <a:tailEnd/>
          </a:ln>
          <a:effectLst>
            <a:prstShdw prst="shdw17" dist="17961" dir="2700000">
              <a:srgbClr val="DDDDDD">
                <a:gamma/>
                <a:shade val="60000"/>
                <a:invGamma/>
              </a:srgbClr>
            </a:prstShdw>
          </a:effectLst>
        </p:spPr>
        <p:txBody>
          <a:bodyPr wrap="none" anchor="ctr"/>
          <a:lstStyle/>
          <a:p>
            <a:pPr algn="ctr"/>
            <a:r>
              <a:rPr lang="es-ES" sz="1600" b="1" dirty="0">
                <a:solidFill>
                  <a:schemeClr val="bg1"/>
                </a:solidFill>
              </a:rPr>
              <a:t>Suscripción</a:t>
            </a:r>
          </a:p>
          <a:p>
            <a:pPr algn="ctr"/>
            <a:r>
              <a:rPr lang="es-ES" sz="1600" b="1" dirty="0">
                <a:solidFill>
                  <a:schemeClr val="bg1"/>
                </a:solidFill>
              </a:rPr>
              <a:t>Vehicular</a:t>
            </a:r>
          </a:p>
        </p:txBody>
      </p:sp>
      <p:sp>
        <p:nvSpPr>
          <p:cNvPr id="16" name="Rounded Rectangle 21"/>
          <p:cNvSpPr/>
          <p:nvPr/>
        </p:nvSpPr>
        <p:spPr>
          <a:xfrm>
            <a:off x="1843040" y="1340767"/>
            <a:ext cx="1548000" cy="648000"/>
          </a:xfrm>
          <a:prstGeom prst="roundRect">
            <a:avLst/>
          </a:prstGeom>
          <a:solidFill>
            <a:srgbClr val="DB0613"/>
          </a:solidFill>
          <a:ln w="9525" algn="ctr">
            <a:noFill/>
            <a:miter lim="800000"/>
            <a:headEnd/>
            <a:tailEnd/>
          </a:ln>
          <a:effectLst>
            <a:prstShdw prst="shdw17" dist="17961" dir="2700000">
              <a:srgbClr val="DDDDDD">
                <a:gamma/>
                <a:shade val="60000"/>
                <a:invGamma/>
              </a:srgbClr>
            </a:prstShdw>
          </a:effectLst>
        </p:spPr>
        <p:txBody>
          <a:bodyPr wrap="none" anchor="ctr"/>
          <a:lstStyle/>
          <a:p>
            <a:pPr algn="ctr"/>
            <a:r>
              <a:rPr lang="es-ES" sz="1400" b="1" dirty="0">
                <a:solidFill>
                  <a:schemeClr val="bg1"/>
                </a:solidFill>
              </a:rPr>
              <a:t>Evaluación de</a:t>
            </a:r>
          </a:p>
          <a:p>
            <a:pPr algn="ctr"/>
            <a:r>
              <a:rPr lang="es-ES" sz="1400" b="1" dirty="0">
                <a:solidFill>
                  <a:schemeClr val="bg1"/>
                </a:solidFill>
              </a:rPr>
              <a:t> Solicitudes de</a:t>
            </a:r>
          </a:p>
          <a:p>
            <a:pPr algn="ctr"/>
            <a:r>
              <a:rPr lang="es-ES" sz="1400" b="1" dirty="0">
                <a:solidFill>
                  <a:schemeClr val="bg1"/>
                </a:solidFill>
              </a:rPr>
              <a:t>Cotización</a:t>
            </a:r>
          </a:p>
        </p:txBody>
      </p:sp>
      <p:sp>
        <p:nvSpPr>
          <p:cNvPr id="17" name="Rounded Rectangle 21"/>
          <p:cNvSpPr/>
          <p:nvPr/>
        </p:nvSpPr>
        <p:spPr>
          <a:xfrm>
            <a:off x="1843040" y="2177009"/>
            <a:ext cx="1548000" cy="648000"/>
          </a:xfrm>
          <a:prstGeom prst="roundRect">
            <a:avLst/>
          </a:prstGeom>
          <a:solidFill>
            <a:srgbClr val="DB0613"/>
          </a:solidFill>
          <a:ln w="9525" algn="ctr">
            <a:noFill/>
            <a:miter lim="800000"/>
            <a:headEnd/>
            <a:tailEnd/>
          </a:ln>
          <a:effectLst>
            <a:prstShdw prst="shdw17" dist="17961" dir="2700000">
              <a:srgbClr val="DDDDDD">
                <a:gamma/>
                <a:shade val="60000"/>
                <a:invGamma/>
              </a:srgbClr>
            </a:prstShdw>
          </a:effectLst>
        </p:spPr>
        <p:txBody>
          <a:bodyPr wrap="none" anchor="ctr"/>
          <a:lstStyle/>
          <a:p>
            <a:pPr algn="ctr"/>
            <a:r>
              <a:rPr lang="es-ES" sz="1400" b="1" dirty="0">
                <a:solidFill>
                  <a:schemeClr val="bg1"/>
                </a:solidFill>
              </a:rPr>
              <a:t>Cotización</a:t>
            </a:r>
          </a:p>
          <a:p>
            <a:pPr algn="ctr"/>
            <a:r>
              <a:rPr lang="es-ES" sz="1400" b="1" dirty="0">
                <a:solidFill>
                  <a:schemeClr val="bg1"/>
                </a:solidFill>
              </a:rPr>
              <a:t>Fuera de políticas</a:t>
            </a:r>
          </a:p>
        </p:txBody>
      </p:sp>
      <p:sp>
        <p:nvSpPr>
          <p:cNvPr id="21" name="Rounded Rectangle 21"/>
          <p:cNvSpPr/>
          <p:nvPr/>
        </p:nvSpPr>
        <p:spPr>
          <a:xfrm>
            <a:off x="1843040" y="2977409"/>
            <a:ext cx="1548000" cy="648000"/>
          </a:xfrm>
          <a:prstGeom prst="roundRect">
            <a:avLst/>
          </a:prstGeom>
          <a:solidFill>
            <a:srgbClr val="DB0613"/>
          </a:solidFill>
          <a:ln w="9525" algn="ctr">
            <a:noFill/>
            <a:miter lim="800000"/>
            <a:headEnd/>
            <a:tailEnd/>
          </a:ln>
          <a:effectLst>
            <a:prstShdw prst="shdw17" dist="17961" dir="2700000">
              <a:srgbClr val="DDDDDD">
                <a:gamma/>
                <a:shade val="60000"/>
                <a:invGamma/>
              </a:srgbClr>
            </a:prstShdw>
          </a:effectLst>
        </p:spPr>
        <p:txBody>
          <a:bodyPr wrap="none" anchor="ctr"/>
          <a:lstStyle/>
          <a:p>
            <a:pPr algn="ctr"/>
            <a:r>
              <a:rPr lang="es-ES" sz="1400" b="1" dirty="0">
                <a:solidFill>
                  <a:schemeClr val="bg1"/>
                </a:solidFill>
              </a:rPr>
              <a:t>Inspección Técnica</a:t>
            </a:r>
          </a:p>
        </p:txBody>
      </p:sp>
      <p:grpSp>
        <p:nvGrpSpPr>
          <p:cNvPr id="22" name="52 Grupo"/>
          <p:cNvGrpSpPr/>
          <p:nvPr/>
        </p:nvGrpSpPr>
        <p:grpSpPr>
          <a:xfrm>
            <a:off x="3347865" y="1340767"/>
            <a:ext cx="1440000" cy="648000"/>
            <a:chOff x="3491881" y="1281851"/>
            <a:chExt cx="1620000" cy="648000"/>
          </a:xfrm>
        </p:grpSpPr>
        <p:sp>
          <p:nvSpPr>
            <p:cNvPr id="23" name="AutoShape 10"/>
            <p:cNvSpPr>
              <a:spLocks noChangeArrowheads="1"/>
            </p:cNvSpPr>
            <p:nvPr/>
          </p:nvSpPr>
          <p:spPr bwMode="auto">
            <a:xfrm rot="10800000">
              <a:off x="3491881" y="1281851"/>
              <a:ext cx="1620000" cy="648000"/>
            </a:xfrm>
            <a:prstGeom prst="homePlate">
              <a:avLst>
                <a:gd name="adj" fmla="val 28726"/>
              </a:avLst>
            </a:prstGeom>
            <a:solidFill>
              <a:schemeClr val="bg1"/>
            </a:solidFill>
            <a:ln w="9525" algn="ctr">
              <a:noFill/>
              <a:miter lim="800000"/>
              <a:headEnd/>
              <a:tailEnd/>
            </a:ln>
            <a:effectLst>
              <a:prstShdw prst="shdw17" dist="17961" dir="2700000">
                <a:srgbClr val="DDDDDD">
                  <a:gamma/>
                  <a:shade val="60000"/>
                  <a:invGamma/>
                </a:srgbClr>
              </a:prstShdw>
            </a:effectLst>
          </p:spPr>
          <p:txBody>
            <a:bodyPr wrap="none" anchor="ctr"/>
            <a:lstStyle/>
            <a:p>
              <a:pPr algn="ctr"/>
              <a:endParaRPr lang="en-US" sz="1300" b="1" dirty="0">
                <a:solidFill>
                  <a:schemeClr val="bg1"/>
                </a:solidFill>
              </a:endParaRPr>
            </a:p>
          </p:txBody>
        </p:sp>
        <p:sp>
          <p:nvSpPr>
            <p:cNvPr id="24" name="Rectangle 7"/>
            <p:cNvSpPr>
              <a:spLocks noChangeArrowheads="1"/>
            </p:cNvSpPr>
            <p:nvPr/>
          </p:nvSpPr>
          <p:spPr bwMode="auto">
            <a:xfrm>
              <a:off x="3838625" y="1281851"/>
              <a:ext cx="1224000" cy="648000"/>
            </a:xfrm>
            <a:prstGeom prst="rect">
              <a:avLst/>
            </a:prstGeom>
            <a:noFill/>
            <a:ln w="9525" algn="ctr">
              <a:noFill/>
              <a:miter lim="800000"/>
              <a:headEnd/>
              <a:tailEnd/>
            </a:ln>
            <a:effectLst>
              <a:prstShdw prst="shdw17" dist="17961" dir="2700000">
                <a:srgbClr val="DDDDDD">
                  <a:gamma/>
                  <a:shade val="60000"/>
                  <a:invGamma/>
                </a:srgbClr>
              </a:prstShdw>
            </a:effectLst>
          </p:spPr>
          <p:txBody>
            <a:bodyPr wrap="none" anchor="ctr"/>
            <a:lstStyle/>
            <a:p>
              <a:r>
                <a:rPr lang="es-PE" sz="1400" b="1" dirty="0"/>
                <a:t>Riesgos : 4</a:t>
              </a:r>
            </a:p>
            <a:p>
              <a:r>
                <a:rPr lang="es-PE" sz="1400" b="1" dirty="0"/>
                <a:t>Controles: 4</a:t>
              </a:r>
              <a:endParaRPr lang="es-ES" sz="1400" b="1" dirty="0"/>
            </a:p>
          </p:txBody>
        </p:sp>
        <p:sp>
          <p:nvSpPr>
            <p:cNvPr id="25" name="AutoShape 92"/>
            <p:cNvSpPr>
              <a:spLocks noChangeArrowheads="1"/>
            </p:cNvSpPr>
            <p:nvPr/>
          </p:nvSpPr>
          <p:spPr bwMode="auto">
            <a:xfrm>
              <a:off x="3712253" y="1628800"/>
              <a:ext cx="180000" cy="180000"/>
            </a:xfrm>
            <a:prstGeom prst="diamond">
              <a:avLst/>
            </a:prstGeom>
            <a:solidFill>
              <a:srgbClr val="009644"/>
            </a:solidFill>
            <a:ln w="9525" algn="ctr">
              <a:noFill/>
              <a:miter lim="800000"/>
              <a:headEnd/>
              <a:tailEnd/>
            </a:ln>
            <a:effectLst/>
          </p:spPr>
          <p:txBody>
            <a:bodyPr wrap="none" anchor="ctr"/>
            <a:lstStyle/>
            <a:p>
              <a:pPr algn="ctr"/>
              <a:endParaRPr lang="en-US" sz="1000" b="1" dirty="0">
                <a:solidFill>
                  <a:schemeClr val="bg1"/>
                </a:solidFill>
              </a:endParaRPr>
            </a:p>
          </p:txBody>
        </p:sp>
        <p:sp>
          <p:nvSpPr>
            <p:cNvPr id="26" name="Rounded Rectangle 139"/>
            <p:cNvSpPr/>
            <p:nvPr/>
          </p:nvSpPr>
          <p:spPr>
            <a:xfrm>
              <a:off x="3712253" y="1381102"/>
              <a:ext cx="180000" cy="180000"/>
            </a:xfrm>
            <a:prstGeom prst="roundRect">
              <a:avLst/>
            </a:prstGeom>
            <a:solidFill>
              <a:srgbClr val="F26D00"/>
            </a:solidFill>
            <a:ln w="9525" algn="ctr">
              <a:noFill/>
              <a:round/>
              <a:headEnd/>
              <a:tailEnd/>
            </a:ln>
            <a:effectLst/>
          </p:spPr>
          <p:txBody>
            <a:bodyPr wrap="none" anchor="ctr"/>
            <a:lstStyle/>
            <a:p>
              <a:pPr algn="ctr"/>
              <a:endParaRPr lang="es-ES" sz="1000" b="1" dirty="0">
                <a:solidFill>
                  <a:schemeClr val="bg1"/>
                </a:solidFill>
              </a:endParaRPr>
            </a:p>
          </p:txBody>
        </p:sp>
      </p:grpSp>
      <p:sp>
        <p:nvSpPr>
          <p:cNvPr id="28" name="AutoShape 10"/>
          <p:cNvSpPr>
            <a:spLocks noChangeArrowheads="1"/>
          </p:cNvSpPr>
          <p:nvPr/>
        </p:nvSpPr>
        <p:spPr bwMode="auto">
          <a:xfrm rot="10800000">
            <a:off x="4716016" y="1340767"/>
            <a:ext cx="1260000" cy="647999"/>
          </a:xfrm>
          <a:prstGeom prst="homePlate">
            <a:avLst>
              <a:gd name="adj" fmla="val 28726"/>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dirty="0">
              <a:solidFill>
                <a:schemeClr val="lt1"/>
              </a:solidFill>
            </a:endParaRPr>
          </a:p>
        </p:txBody>
      </p:sp>
      <p:sp>
        <p:nvSpPr>
          <p:cNvPr id="30" name="Rectangle 7"/>
          <p:cNvSpPr>
            <a:spLocks noChangeArrowheads="1"/>
          </p:cNvSpPr>
          <p:nvPr/>
        </p:nvSpPr>
        <p:spPr bwMode="auto">
          <a:xfrm>
            <a:off x="4986931" y="1340766"/>
            <a:ext cx="2016000" cy="456000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marL="228600" indent="-228600" algn="just">
              <a:buFont typeface="+mj-lt"/>
              <a:buAutoNum type="arabicParenR"/>
            </a:pPr>
            <a:r>
              <a:rPr lang="es-ES" sz="1100" dirty="0">
                <a:solidFill>
                  <a:schemeClr val="tx1"/>
                </a:solidFill>
              </a:rPr>
              <a:t>Riesgo de que el asegurado haga una declaración falsa del uso que le va a dar al vehículo.</a:t>
            </a:r>
          </a:p>
          <a:p>
            <a:pPr marL="228600" indent="-228600" algn="just">
              <a:buFont typeface="+mj-lt"/>
              <a:buAutoNum type="arabicParenR"/>
            </a:pPr>
            <a:r>
              <a:rPr lang="es-ES" sz="1100" dirty="0">
                <a:solidFill>
                  <a:schemeClr val="tx1"/>
                </a:solidFill>
              </a:rPr>
              <a:t>Error en la introducción de datos  en el sistema. Genera </a:t>
            </a:r>
            <a:r>
              <a:rPr lang="es-ES" sz="1100" dirty="0" err="1">
                <a:solidFill>
                  <a:schemeClr val="tx1"/>
                </a:solidFill>
              </a:rPr>
              <a:t>reprocesos</a:t>
            </a:r>
            <a:r>
              <a:rPr lang="es-ES" sz="1100" dirty="0">
                <a:solidFill>
                  <a:schemeClr val="tx1"/>
                </a:solidFill>
              </a:rPr>
              <a:t> y trámites erróneos.</a:t>
            </a:r>
          </a:p>
          <a:p>
            <a:pPr marL="228600" indent="-228600" algn="just">
              <a:buFont typeface="+mj-lt"/>
              <a:buAutoNum type="arabicParenR"/>
            </a:pPr>
            <a:r>
              <a:rPr lang="es-ES" sz="1100" dirty="0">
                <a:solidFill>
                  <a:schemeClr val="tx1"/>
                </a:solidFill>
              </a:rPr>
              <a:t>Error en el entendimiento / revisión de las cláusulas  que provoquen Slip de cotización con condiciones contradictorias.</a:t>
            </a:r>
          </a:p>
          <a:p>
            <a:pPr marL="228600" indent="-228600" algn="just">
              <a:buFont typeface="+mj-lt"/>
              <a:buAutoNum type="arabicParenR"/>
            </a:pPr>
            <a:r>
              <a:rPr lang="es-ES" sz="1100" dirty="0">
                <a:solidFill>
                  <a:schemeClr val="tx1"/>
                </a:solidFill>
              </a:rPr>
              <a:t>Subgerente de vehículos / Suscriptor  no se encuentra disponible  para el análisis  y aprobación final de las cotizaciones lo que puede provocar un retraso en la emisión/formalización  de la póliza .</a:t>
            </a:r>
            <a:endParaRPr lang="es-PE" sz="1100" dirty="0">
              <a:solidFill>
                <a:schemeClr val="tx1"/>
              </a:solidFill>
            </a:endParaRPr>
          </a:p>
        </p:txBody>
      </p:sp>
      <p:sp>
        <p:nvSpPr>
          <p:cNvPr id="31" name="Rectangle 7"/>
          <p:cNvSpPr>
            <a:spLocks noChangeArrowheads="1"/>
          </p:cNvSpPr>
          <p:nvPr/>
        </p:nvSpPr>
        <p:spPr bwMode="auto">
          <a:xfrm>
            <a:off x="4986931" y="1030207"/>
            <a:ext cx="2016000" cy="252000"/>
          </a:xfrm>
          <a:prstGeom prst="rect">
            <a:avLst/>
          </a:prstGeom>
          <a:solidFill>
            <a:schemeClr val="tx1">
              <a:lumMod val="50000"/>
              <a:lumOff val="50000"/>
            </a:schemeClr>
          </a:solidFill>
          <a:ln w="9525" algn="ctr">
            <a:noFill/>
            <a:miter lim="800000"/>
            <a:headEnd/>
            <a:tailEnd/>
          </a:ln>
          <a:effectLst>
            <a:prstShdw prst="shdw17" dist="17961" dir="2700000">
              <a:srgbClr val="DDDDDD">
                <a:gamma/>
                <a:shade val="60000"/>
                <a:invGamma/>
              </a:srgbClr>
            </a:prstShdw>
          </a:effectLst>
        </p:spPr>
        <p:txBody>
          <a:bodyPr wrap="none" anchor="ctr"/>
          <a:lstStyle/>
          <a:p>
            <a:pPr algn="ctr"/>
            <a:r>
              <a:rPr lang="es-ES" sz="1300" b="1" dirty="0">
                <a:solidFill>
                  <a:schemeClr val="bg1"/>
                </a:solidFill>
              </a:rPr>
              <a:t>Riesgos</a:t>
            </a:r>
          </a:p>
        </p:txBody>
      </p:sp>
      <p:sp>
        <p:nvSpPr>
          <p:cNvPr id="33" name="Rectangle 7"/>
          <p:cNvSpPr>
            <a:spLocks noChangeArrowheads="1"/>
          </p:cNvSpPr>
          <p:nvPr/>
        </p:nvSpPr>
        <p:spPr bwMode="auto">
          <a:xfrm>
            <a:off x="7114697" y="1030207"/>
            <a:ext cx="900000" cy="252000"/>
          </a:xfrm>
          <a:prstGeom prst="rect">
            <a:avLst/>
          </a:prstGeom>
          <a:solidFill>
            <a:schemeClr val="tx1">
              <a:lumMod val="50000"/>
              <a:lumOff val="50000"/>
            </a:schemeClr>
          </a:solidFill>
          <a:ln w="9525" algn="ctr">
            <a:noFill/>
            <a:miter lim="800000"/>
            <a:headEnd/>
            <a:tailEnd/>
          </a:ln>
          <a:effectLst>
            <a:prstShdw prst="shdw17" dist="17961" dir="2700000">
              <a:srgbClr val="DDDDDD">
                <a:gamma/>
                <a:shade val="60000"/>
                <a:invGamma/>
              </a:srgbClr>
            </a:prstShdw>
          </a:effectLst>
        </p:spPr>
        <p:txBody>
          <a:bodyPr wrap="none" anchor="ctr"/>
          <a:lstStyle/>
          <a:p>
            <a:pPr algn="ctr"/>
            <a:r>
              <a:rPr lang="es-PE" sz="1300" b="1" dirty="0">
                <a:solidFill>
                  <a:schemeClr val="bg1"/>
                </a:solidFill>
              </a:rPr>
              <a:t>PEA</a:t>
            </a:r>
            <a:endParaRPr lang="es-ES" sz="1300" b="1" dirty="0">
              <a:solidFill>
                <a:schemeClr val="bg1"/>
              </a:solidFill>
            </a:endParaRPr>
          </a:p>
        </p:txBody>
      </p:sp>
      <p:sp>
        <p:nvSpPr>
          <p:cNvPr id="34" name="Rectangle 7"/>
          <p:cNvSpPr>
            <a:spLocks noChangeArrowheads="1"/>
          </p:cNvSpPr>
          <p:nvPr/>
        </p:nvSpPr>
        <p:spPr bwMode="auto">
          <a:xfrm>
            <a:off x="7114697" y="1340766"/>
            <a:ext cx="900000" cy="456000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marL="228600" indent="-228600" algn="just"/>
            <a:endParaRPr lang="es-ES" sz="1100" dirty="0">
              <a:solidFill>
                <a:schemeClr val="tx1"/>
              </a:solidFill>
            </a:endParaRPr>
          </a:p>
        </p:txBody>
      </p:sp>
      <p:sp>
        <p:nvSpPr>
          <p:cNvPr id="35" name="Rectangle 7"/>
          <p:cNvSpPr>
            <a:spLocks noChangeArrowheads="1"/>
          </p:cNvSpPr>
          <p:nvPr/>
        </p:nvSpPr>
        <p:spPr bwMode="auto">
          <a:xfrm>
            <a:off x="8064488" y="1030207"/>
            <a:ext cx="900000" cy="252000"/>
          </a:xfrm>
          <a:prstGeom prst="rect">
            <a:avLst/>
          </a:prstGeom>
          <a:solidFill>
            <a:schemeClr val="tx1">
              <a:lumMod val="50000"/>
              <a:lumOff val="50000"/>
            </a:schemeClr>
          </a:solidFill>
          <a:ln w="9525" algn="ctr">
            <a:noFill/>
            <a:miter lim="800000"/>
            <a:headEnd/>
            <a:tailEnd/>
          </a:ln>
          <a:effectLst>
            <a:prstShdw prst="shdw17" dist="17961" dir="2700000">
              <a:srgbClr val="DDDDDD">
                <a:gamma/>
                <a:shade val="60000"/>
                <a:invGamma/>
              </a:srgbClr>
            </a:prstShdw>
          </a:effectLst>
        </p:spPr>
        <p:txBody>
          <a:bodyPr wrap="none" anchor="ctr"/>
          <a:lstStyle/>
          <a:p>
            <a:pPr algn="ctr"/>
            <a:r>
              <a:rPr lang="es-PE" sz="1300" b="1" dirty="0" err="1">
                <a:solidFill>
                  <a:schemeClr val="bg1"/>
                </a:solidFill>
              </a:rPr>
              <a:t>VaR</a:t>
            </a:r>
            <a:endParaRPr lang="es-ES" sz="1300" b="1" dirty="0">
              <a:solidFill>
                <a:schemeClr val="bg1"/>
              </a:solidFill>
            </a:endParaRPr>
          </a:p>
        </p:txBody>
      </p:sp>
      <p:sp>
        <p:nvSpPr>
          <p:cNvPr id="36" name="Rectangle 7"/>
          <p:cNvSpPr>
            <a:spLocks noChangeArrowheads="1"/>
          </p:cNvSpPr>
          <p:nvPr/>
        </p:nvSpPr>
        <p:spPr bwMode="auto">
          <a:xfrm>
            <a:off x="8064488" y="1340766"/>
            <a:ext cx="900000" cy="456000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marL="228600" indent="-228600" algn="just"/>
            <a:endParaRPr lang="es-ES" sz="1100" dirty="0">
              <a:solidFill>
                <a:schemeClr val="tx1"/>
              </a:solidFill>
            </a:endParaRPr>
          </a:p>
        </p:txBody>
      </p:sp>
      <p:sp>
        <p:nvSpPr>
          <p:cNvPr id="27" name="Rounded Rectangle 93"/>
          <p:cNvSpPr/>
          <p:nvPr/>
        </p:nvSpPr>
        <p:spPr>
          <a:xfrm>
            <a:off x="7164288" y="1412776"/>
            <a:ext cx="792000" cy="548640"/>
          </a:xfrm>
          <a:prstGeom prst="roundRect">
            <a:avLst/>
          </a:prstGeom>
          <a:noFill/>
          <a:ln w="127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400" b="1" dirty="0">
                <a:solidFill>
                  <a:schemeClr val="tx1"/>
                </a:solidFill>
                <a:latin typeface="+mj-lt"/>
              </a:rPr>
              <a:t>89.2</a:t>
            </a:r>
            <a:endParaRPr lang="es-CL" sz="1400" b="1" dirty="0">
              <a:solidFill>
                <a:schemeClr val="tx1"/>
              </a:solidFill>
              <a:latin typeface="+mj-lt"/>
            </a:endParaRPr>
          </a:p>
        </p:txBody>
      </p:sp>
      <p:sp>
        <p:nvSpPr>
          <p:cNvPr id="29" name="Rounded Rectangle 93"/>
          <p:cNvSpPr/>
          <p:nvPr/>
        </p:nvSpPr>
        <p:spPr>
          <a:xfrm>
            <a:off x="8100480" y="1412776"/>
            <a:ext cx="792000" cy="548640"/>
          </a:xfrm>
          <a:prstGeom prst="roundRect">
            <a:avLst/>
          </a:prstGeom>
          <a:noFill/>
          <a:ln w="127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400" b="1" dirty="0">
                <a:solidFill>
                  <a:schemeClr val="tx1"/>
                </a:solidFill>
                <a:latin typeface="+mj-lt"/>
              </a:rPr>
              <a:t>834.3</a:t>
            </a:r>
            <a:endParaRPr lang="es-CL" sz="1400" b="1" dirty="0">
              <a:solidFill>
                <a:schemeClr val="tx1"/>
              </a:solidFill>
              <a:latin typeface="+mj-lt"/>
            </a:endParaRPr>
          </a:p>
        </p:txBody>
      </p:sp>
      <p:sp>
        <p:nvSpPr>
          <p:cNvPr id="32" name="Rounded Rectangle 93"/>
          <p:cNvSpPr/>
          <p:nvPr/>
        </p:nvSpPr>
        <p:spPr>
          <a:xfrm>
            <a:off x="7164288" y="2160280"/>
            <a:ext cx="792000" cy="548640"/>
          </a:xfrm>
          <a:prstGeom prst="roundRect">
            <a:avLst/>
          </a:prstGeom>
          <a:noFill/>
          <a:ln w="127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400" b="1" dirty="0">
                <a:solidFill>
                  <a:schemeClr val="tx1"/>
                </a:solidFill>
                <a:latin typeface="+mj-lt"/>
              </a:rPr>
              <a:t>17.85</a:t>
            </a:r>
            <a:endParaRPr lang="es-CL" sz="1400" b="1" dirty="0">
              <a:solidFill>
                <a:schemeClr val="tx1"/>
              </a:solidFill>
              <a:latin typeface="+mj-lt"/>
            </a:endParaRPr>
          </a:p>
        </p:txBody>
      </p:sp>
      <p:sp>
        <p:nvSpPr>
          <p:cNvPr id="37" name="Rounded Rectangle 93"/>
          <p:cNvSpPr/>
          <p:nvPr/>
        </p:nvSpPr>
        <p:spPr>
          <a:xfrm>
            <a:off x="8100480" y="2160280"/>
            <a:ext cx="792000" cy="548640"/>
          </a:xfrm>
          <a:prstGeom prst="roundRect">
            <a:avLst/>
          </a:prstGeom>
          <a:noFill/>
          <a:ln w="127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400" b="1" dirty="0">
                <a:solidFill>
                  <a:schemeClr val="tx1"/>
                </a:solidFill>
                <a:latin typeface="+mj-lt"/>
              </a:rPr>
              <a:t>499</a:t>
            </a:r>
            <a:endParaRPr lang="es-CL" sz="1400" b="1" dirty="0">
              <a:solidFill>
                <a:schemeClr val="tx1"/>
              </a:solidFill>
              <a:latin typeface="+mj-lt"/>
            </a:endParaRPr>
          </a:p>
        </p:txBody>
      </p:sp>
      <p:sp>
        <p:nvSpPr>
          <p:cNvPr id="38" name="Rounded Rectangle 93"/>
          <p:cNvSpPr/>
          <p:nvPr/>
        </p:nvSpPr>
        <p:spPr>
          <a:xfrm>
            <a:off x="7164288" y="2808352"/>
            <a:ext cx="792000" cy="548640"/>
          </a:xfrm>
          <a:prstGeom prst="roundRect">
            <a:avLst/>
          </a:prstGeom>
          <a:noFill/>
          <a:ln w="127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400" b="1" dirty="0">
                <a:solidFill>
                  <a:schemeClr val="tx1"/>
                </a:solidFill>
                <a:latin typeface="+mj-lt"/>
              </a:rPr>
              <a:t>127.5</a:t>
            </a:r>
            <a:endParaRPr lang="es-CL" sz="1400" b="1" dirty="0">
              <a:solidFill>
                <a:schemeClr val="tx1"/>
              </a:solidFill>
              <a:latin typeface="+mj-lt"/>
            </a:endParaRPr>
          </a:p>
        </p:txBody>
      </p:sp>
      <p:sp>
        <p:nvSpPr>
          <p:cNvPr id="39" name="Rounded Rectangle 93"/>
          <p:cNvSpPr/>
          <p:nvPr/>
        </p:nvSpPr>
        <p:spPr>
          <a:xfrm>
            <a:off x="8100480" y="2808352"/>
            <a:ext cx="792000" cy="548640"/>
          </a:xfrm>
          <a:prstGeom prst="roundRect">
            <a:avLst/>
          </a:prstGeom>
          <a:noFill/>
          <a:ln w="127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400" b="1" dirty="0">
                <a:solidFill>
                  <a:schemeClr val="tx1"/>
                </a:solidFill>
                <a:latin typeface="+mj-lt"/>
              </a:rPr>
              <a:t>905.3</a:t>
            </a:r>
            <a:endParaRPr lang="es-CL" sz="1400" b="1" dirty="0">
              <a:solidFill>
                <a:schemeClr val="tx1"/>
              </a:solidFill>
              <a:latin typeface="+mj-lt"/>
            </a:endParaRPr>
          </a:p>
        </p:txBody>
      </p:sp>
      <p:sp>
        <p:nvSpPr>
          <p:cNvPr id="40" name="Rounded Rectangle 93"/>
          <p:cNvSpPr/>
          <p:nvPr/>
        </p:nvSpPr>
        <p:spPr>
          <a:xfrm>
            <a:off x="7164288" y="3816464"/>
            <a:ext cx="792000" cy="548640"/>
          </a:xfrm>
          <a:prstGeom prst="roundRect">
            <a:avLst/>
          </a:prstGeom>
          <a:noFill/>
          <a:ln w="127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400" b="1" dirty="0">
                <a:solidFill>
                  <a:schemeClr val="tx1"/>
                </a:solidFill>
                <a:latin typeface="+mj-lt"/>
              </a:rPr>
              <a:t>1.2</a:t>
            </a:r>
            <a:endParaRPr lang="es-CL" sz="1400" b="1" dirty="0">
              <a:solidFill>
                <a:schemeClr val="tx1"/>
              </a:solidFill>
              <a:latin typeface="+mj-lt"/>
            </a:endParaRPr>
          </a:p>
        </p:txBody>
      </p:sp>
      <p:sp>
        <p:nvSpPr>
          <p:cNvPr id="41" name="Rounded Rectangle 93"/>
          <p:cNvSpPr/>
          <p:nvPr/>
        </p:nvSpPr>
        <p:spPr>
          <a:xfrm>
            <a:off x="8100480" y="3816464"/>
            <a:ext cx="792000" cy="548640"/>
          </a:xfrm>
          <a:prstGeom prst="roundRect">
            <a:avLst/>
          </a:prstGeom>
          <a:noFill/>
          <a:ln w="127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400" b="1" dirty="0">
                <a:solidFill>
                  <a:schemeClr val="tx1"/>
                </a:solidFill>
                <a:latin typeface="+mj-lt"/>
              </a:rPr>
              <a:t>255.1</a:t>
            </a:r>
            <a:endParaRPr lang="es-CL" sz="1400" b="1" dirty="0">
              <a:solidFill>
                <a:schemeClr val="tx1"/>
              </a:solidFill>
              <a:latin typeface="+mj-lt"/>
            </a:endParaRPr>
          </a:p>
        </p:txBody>
      </p:sp>
      <p:sp>
        <p:nvSpPr>
          <p:cNvPr id="42" name="Text Box 44"/>
          <p:cNvSpPr txBox="1">
            <a:spLocks noChangeArrowheads="1"/>
          </p:cNvSpPr>
          <p:nvPr/>
        </p:nvSpPr>
        <p:spPr bwMode="auto">
          <a:xfrm>
            <a:off x="7610039" y="764704"/>
            <a:ext cx="1354449" cy="230832"/>
          </a:xfrm>
          <a:prstGeom prst="rect">
            <a:avLst/>
          </a:prstGeom>
          <a:noFill/>
          <a:ln w="9525" algn="ctr">
            <a:noFill/>
            <a:miter lim="800000"/>
            <a:headEnd/>
            <a:tailEnd/>
          </a:ln>
          <a:effectLst/>
        </p:spPr>
        <p:txBody>
          <a:bodyPr wrap="square">
            <a:spAutoFit/>
          </a:bodyPr>
          <a:lstStyle/>
          <a:p>
            <a:r>
              <a:rPr lang="es-ES" sz="900" b="1" i="1" dirty="0">
                <a:solidFill>
                  <a:srgbClr val="525252"/>
                </a:solidFill>
              </a:rPr>
              <a:t>Miles de Nuevos Soles</a:t>
            </a:r>
            <a:endParaRPr lang="en-US" sz="900" b="1" i="1" dirty="0">
              <a:solidFill>
                <a:srgbClr val="525252"/>
              </a:solidFill>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Rectangle 7"/>
          <p:cNvSpPr>
            <a:spLocks noChangeArrowheads="1"/>
          </p:cNvSpPr>
          <p:nvPr/>
        </p:nvSpPr>
        <p:spPr bwMode="auto">
          <a:xfrm>
            <a:off x="4918801" y="980727"/>
            <a:ext cx="4104000" cy="5040561"/>
          </a:xfrm>
          <a:prstGeom prst="rect">
            <a:avLst/>
          </a:prstGeom>
          <a:solidFill>
            <a:schemeClr val="accent1">
              <a:lumMod val="20000"/>
              <a:lumOff val="80000"/>
            </a:schemeClr>
          </a:solidFill>
          <a:ln w="9525" algn="ctr">
            <a:noFill/>
            <a:miter lim="800000"/>
            <a:headEnd/>
            <a:tailEnd/>
          </a:ln>
          <a:effectLst>
            <a:prstShdw prst="shdw17" dist="17961" dir="2700000">
              <a:srgbClr val="DDDDDD">
                <a:gamma/>
                <a:shade val="60000"/>
                <a:invGamma/>
              </a:srgbClr>
            </a:prstShdw>
          </a:effectLst>
        </p:spPr>
        <p:txBody>
          <a:bodyPr wrap="none" anchor="ctr"/>
          <a:lstStyle/>
          <a:p>
            <a:pPr algn="ctr"/>
            <a:endParaRPr lang="es-ES" sz="1300" b="1" dirty="0">
              <a:solidFill>
                <a:srgbClr val="525252"/>
              </a:solidFill>
            </a:endParaRPr>
          </a:p>
        </p:txBody>
      </p:sp>
      <p:sp>
        <p:nvSpPr>
          <p:cNvPr id="12" name="Title 1"/>
          <p:cNvSpPr>
            <a:spLocks noGrp="1"/>
          </p:cNvSpPr>
          <p:nvPr>
            <p:ph type="title"/>
          </p:nvPr>
        </p:nvSpPr>
        <p:spPr>
          <a:xfrm>
            <a:off x="47625" y="32965"/>
            <a:ext cx="8217470" cy="587723"/>
          </a:xfrm>
        </p:spPr>
        <p:txBody>
          <a:bodyPr/>
          <a:lstStyle/>
          <a:p>
            <a:r>
              <a:rPr lang="es-ES" dirty="0"/>
              <a:t>Anexo: Árbol de Procesos</a:t>
            </a:r>
          </a:p>
        </p:txBody>
      </p:sp>
      <p:sp>
        <p:nvSpPr>
          <p:cNvPr id="13" name="Rounded Rectangle 31">
            <a:hlinkClick r:id="rId2" action="ppaction://hlinksldjump"/>
          </p:cNvPr>
          <p:cNvSpPr/>
          <p:nvPr/>
        </p:nvSpPr>
        <p:spPr>
          <a:xfrm>
            <a:off x="1638012" y="6322807"/>
            <a:ext cx="1080000" cy="360000"/>
          </a:xfrm>
          <a:prstGeom prst="roundRect">
            <a:avLst/>
          </a:prstGeom>
          <a:solidFill>
            <a:schemeClr val="bg1">
              <a:lumMod val="65000"/>
            </a:schemeClr>
          </a:solidFill>
          <a:ln w="25400" cap="sq" cmpd="sng">
            <a:solidFill>
              <a:schemeClr val="bg1">
                <a:lumMod val="75000"/>
              </a:schemeClr>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L" sz="800" b="1" i="1" dirty="0">
                <a:solidFill>
                  <a:schemeClr val="bg1"/>
                </a:solidFill>
                <a:cs typeface="Arial" pitchFamily="34" charset="0"/>
              </a:rPr>
              <a:t>Exposición al RO y Entorno de Control</a:t>
            </a:r>
          </a:p>
        </p:txBody>
      </p:sp>
      <p:sp>
        <p:nvSpPr>
          <p:cNvPr id="14" name="AutoShape 10"/>
          <p:cNvSpPr>
            <a:spLocks noChangeArrowheads="1"/>
          </p:cNvSpPr>
          <p:nvPr/>
        </p:nvSpPr>
        <p:spPr bwMode="auto">
          <a:xfrm rot="10800000">
            <a:off x="1187624" y="1233031"/>
            <a:ext cx="2304256" cy="2484000"/>
          </a:xfrm>
          <a:prstGeom prst="homePlate">
            <a:avLst>
              <a:gd name="adj" fmla="val 28726"/>
            </a:avLst>
          </a:prstGeom>
          <a:solidFill>
            <a:schemeClr val="accent1">
              <a:lumMod val="20000"/>
              <a:lumOff val="80000"/>
            </a:schemeClr>
          </a:solidFill>
          <a:ln w="12700">
            <a:solidFill>
              <a:srgbClr val="A9A9A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dirty="0">
              <a:solidFill>
                <a:schemeClr val="lt1"/>
              </a:solidFill>
            </a:endParaRPr>
          </a:p>
        </p:txBody>
      </p:sp>
      <p:sp>
        <p:nvSpPr>
          <p:cNvPr id="15" name="Rounded Rectangle 21"/>
          <p:cNvSpPr/>
          <p:nvPr/>
        </p:nvSpPr>
        <p:spPr>
          <a:xfrm>
            <a:off x="107504" y="2177009"/>
            <a:ext cx="1512000" cy="648000"/>
          </a:xfrm>
          <a:prstGeom prst="roundRect">
            <a:avLst/>
          </a:prstGeom>
          <a:solidFill>
            <a:srgbClr val="DB0613"/>
          </a:solidFill>
          <a:ln w="9525" algn="ctr">
            <a:noFill/>
            <a:miter lim="800000"/>
            <a:headEnd/>
            <a:tailEnd/>
          </a:ln>
          <a:effectLst>
            <a:prstShdw prst="shdw17" dist="17961" dir="2700000">
              <a:srgbClr val="DDDDDD">
                <a:gamma/>
                <a:shade val="60000"/>
                <a:invGamma/>
              </a:srgbClr>
            </a:prstShdw>
          </a:effectLst>
        </p:spPr>
        <p:txBody>
          <a:bodyPr wrap="none" anchor="ctr"/>
          <a:lstStyle/>
          <a:p>
            <a:pPr algn="ctr"/>
            <a:r>
              <a:rPr lang="es-ES" sz="1600" b="1" dirty="0">
                <a:solidFill>
                  <a:schemeClr val="bg1"/>
                </a:solidFill>
              </a:rPr>
              <a:t>Suscripción</a:t>
            </a:r>
          </a:p>
          <a:p>
            <a:pPr algn="ctr"/>
            <a:r>
              <a:rPr lang="es-ES" sz="1600" b="1" dirty="0">
                <a:solidFill>
                  <a:schemeClr val="bg1"/>
                </a:solidFill>
              </a:rPr>
              <a:t>Vehicular</a:t>
            </a:r>
          </a:p>
        </p:txBody>
      </p:sp>
      <p:sp>
        <p:nvSpPr>
          <p:cNvPr id="19" name="Rounded Rectangle 21"/>
          <p:cNvSpPr/>
          <p:nvPr/>
        </p:nvSpPr>
        <p:spPr>
          <a:xfrm>
            <a:off x="1843040" y="1340767"/>
            <a:ext cx="1548000" cy="648000"/>
          </a:xfrm>
          <a:prstGeom prst="roundRect">
            <a:avLst/>
          </a:prstGeom>
          <a:solidFill>
            <a:srgbClr val="DB0613"/>
          </a:solidFill>
          <a:ln w="9525" algn="ctr">
            <a:noFill/>
            <a:miter lim="800000"/>
            <a:headEnd/>
            <a:tailEnd/>
          </a:ln>
          <a:effectLst>
            <a:prstShdw prst="shdw17" dist="17961" dir="2700000">
              <a:srgbClr val="DDDDDD">
                <a:gamma/>
                <a:shade val="60000"/>
                <a:invGamma/>
              </a:srgbClr>
            </a:prstShdw>
          </a:effectLst>
        </p:spPr>
        <p:txBody>
          <a:bodyPr wrap="none" anchor="ctr"/>
          <a:lstStyle/>
          <a:p>
            <a:pPr algn="ctr"/>
            <a:r>
              <a:rPr lang="es-ES" sz="1400" b="1" dirty="0">
                <a:solidFill>
                  <a:schemeClr val="bg1"/>
                </a:solidFill>
              </a:rPr>
              <a:t>Evaluación de</a:t>
            </a:r>
          </a:p>
          <a:p>
            <a:pPr algn="ctr"/>
            <a:r>
              <a:rPr lang="es-ES" sz="1400" b="1" dirty="0">
                <a:solidFill>
                  <a:schemeClr val="bg1"/>
                </a:solidFill>
              </a:rPr>
              <a:t> Solicitudes de</a:t>
            </a:r>
          </a:p>
          <a:p>
            <a:pPr algn="ctr"/>
            <a:r>
              <a:rPr lang="es-ES" sz="1400" b="1" dirty="0">
                <a:solidFill>
                  <a:schemeClr val="bg1"/>
                </a:solidFill>
              </a:rPr>
              <a:t>Cotización</a:t>
            </a:r>
          </a:p>
        </p:txBody>
      </p:sp>
      <p:sp>
        <p:nvSpPr>
          <p:cNvPr id="20" name="Rounded Rectangle 21"/>
          <p:cNvSpPr/>
          <p:nvPr/>
        </p:nvSpPr>
        <p:spPr>
          <a:xfrm>
            <a:off x="1843040" y="2177009"/>
            <a:ext cx="1548000" cy="648000"/>
          </a:xfrm>
          <a:prstGeom prst="roundRect">
            <a:avLst/>
          </a:prstGeom>
          <a:solidFill>
            <a:srgbClr val="DB0613"/>
          </a:solidFill>
          <a:ln w="9525" algn="ctr">
            <a:noFill/>
            <a:miter lim="800000"/>
            <a:headEnd/>
            <a:tailEnd/>
          </a:ln>
          <a:effectLst>
            <a:prstShdw prst="shdw17" dist="17961" dir="2700000">
              <a:srgbClr val="DDDDDD">
                <a:gamma/>
                <a:shade val="60000"/>
                <a:invGamma/>
              </a:srgbClr>
            </a:prstShdw>
          </a:effectLst>
        </p:spPr>
        <p:txBody>
          <a:bodyPr wrap="none" anchor="ctr"/>
          <a:lstStyle/>
          <a:p>
            <a:pPr algn="ctr"/>
            <a:r>
              <a:rPr lang="es-ES" sz="1400" b="1" dirty="0">
                <a:solidFill>
                  <a:schemeClr val="bg1"/>
                </a:solidFill>
              </a:rPr>
              <a:t>Cotización</a:t>
            </a:r>
          </a:p>
          <a:p>
            <a:pPr algn="ctr"/>
            <a:r>
              <a:rPr lang="es-ES" sz="1400" b="1" dirty="0">
                <a:solidFill>
                  <a:schemeClr val="bg1"/>
                </a:solidFill>
              </a:rPr>
              <a:t>Fuera de políticas</a:t>
            </a:r>
          </a:p>
        </p:txBody>
      </p:sp>
      <p:sp>
        <p:nvSpPr>
          <p:cNvPr id="21" name="Rounded Rectangle 21"/>
          <p:cNvSpPr/>
          <p:nvPr/>
        </p:nvSpPr>
        <p:spPr>
          <a:xfrm>
            <a:off x="1843040" y="2977409"/>
            <a:ext cx="1548000" cy="648000"/>
          </a:xfrm>
          <a:prstGeom prst="roundRect">
            <a:avLst/>
          </a:prstGeom>
          <a:solidFill>
            <a:srgbClr val="DB0613"/>
          </a:solidFill>
          <a:ln w="9525" algn="ctr">
            <a:noFill/>
            <a:miter lim="800000"/>
            <a:headEnd/>
            <a:tailEnd/>
          </a:ln>
          <a:effectLst>
            <a:prstShdw prst="shdw17" dist="17961" dir="2700000">
              <a:srgbClr val="DDDDDD">
                <a:gamma/>
                <a:shade val="60000"/>
                <a:invGamma/>
              </a:srgbClr>
            </a:prstShdw>
          </a:effectLst>
        </p:spPr>
        <p:txBody>
          <a:bodyPr wrap="none" anchor="ctr"/>
          <a:lstStyle/>
          <a:p>
            <a:pPr algn="ctr"/>
            <a:r>
              <a:rPr lang="es-ES" sz="1400" b="1" dirty="0">
                <a:solidFill>
                  <a:schemeClr val="bg1"/>
                </a:solidFill>
              </a:rPr>
              <a:t>Inspección Técnica</a:t>
            </a:r>
          </a:p>
        </p:txBody>
      </p:sp>
      <p:grpSp>
        <p:nvGrpSpPr>
          <p:cNvPr id="22" name="53 Grupo"/>
          <p:cNvGrpSpPr/>
          <p:nvPr/>
        </p:nvGrpSpPr>
        <p:grpSpPr>
          <a:xfrm>
            <a:off x="3347865" y="2177009"/>
            <a:ext cx="1440000" cy="648000"/>
            <a:chOff x="3491881" y="1281851"/>
            <a:chExt cx="1620000" cy="648000"/>
          </a:xfrm>
        </p:grpSpPr>
        <p:sp>
          <p:nvSpPr>
            <p:cNvPr id="23" name="AutoShape 10"/>
            <p:cNvSpPr>
              <a:spLocks noChangeArrowheads="1"/>
            </p:cNvSpPr>
            <p:nvPr/>
          </p:nvSpPr>
          <p:spPr bwMode="auto">
            <a:xfrm rot="10800000">
              <a:off x="3491881" y="1281851"/>
              <a:ext cx="1620000" cy="648000"/>
            </a:xfrm>
            <a:prstGeom prst="homePlate">
              <a:avLst>
                <a:gd name="adj" fmla="val 28726"/>
              </a:avLst>
            </a:prstGeom>
            <a:solidFill>
              <a:schemeClr val="bg1"/>
            </a:solidFill>
            <a:ln w="9525" algn="ctr">
              <a:noFill/>
              <a:miter lim="800000"/>
              <a:headEnd/>
              <a:tailEnd/>
            </a:ln>
            <a:effectLst>
              <a:prstShdw prst="shdw17" dist="17961" dir="2700000">
                <a:srgbClr val="DDDDDD">
                  <a:gamma/>
                  <a:shade val="60000"/>
                  <a:invGamma/>
                </a:srgbClr>
              </a:prstShdw>
            </a:effectLst>
          </p:spPr>
          <p:txBody>
            <a:bodyPr wrap="none" anchor="ctr"/>
            <a:lstStyle/>
            <a:p>
              <a:pPr algn="ctr"/>
              <a:endParaRPr lang="en-US" sz="1300" b="1" dirty="0">
                <a:solidFill>
                  <a:schemeClr val="bg1"/>
                </a:solidFill>
              </a:endParaRPr>
            </a:p>
          </p:txBody>
        </p:sp>
        <p:sp>
          <p:nvSpPr>
            <p:cNvPr id="24" name="Rectangle 7"/>
            <p:cNvSpPr>
              <a:spLocks noChangeArrowheads="1"/>
            </p:cNvSpPr>
            <p:nvPr/>
          </p:nvSpPr>
          <p:spPr bwMode="auto">
            <a:xfrm>
              <a:off x="3838625" y="1281851"/>
              <a:ext cx="1224000" cy="648000"/>
            </a:xfrm>
            <a:prstGeom prst="rect">
              <a:avLst/>
            </a:prstGeom>
            <a:noFill/>
            <a:ln w="9525" algn="ctr">
              <a:noFill/>
              <a:miter lim="800000"/>
              <a:headEnd/>
              <a:tailEnd/>
            </a:ln>
            <a:effectLst>
              <a:prstShdw prst="shdw17" dist="17961" dir="2700000">
                <a:srgbClr val="DDDDDD">
                  <a:gamma/>
                  <a:shade val="60000"/>
                  <a:invGamma/>
                </a:srgbClr>
              </a:prstShdw>
            </a:effectLst>
          </p:spPr>
          <p:txBody>
            <a:bodyPr wrap="none" anchor="ctr"/>
            <a:lstStyle/>
            <a:p>
              <a:r>
                <a:rPr lang="es-PE" sz="1400" b="1" dirty="0"/>
                <a:t>Riesgos : 3</a:t>
              </a:r>
            </a:p>
            <a:p>
              <a:r>
                <a:rPr lang="es-PE" sz="1400" b="1" dirty="0"/>
                <a:t>Controles: 4</a:t>
              </a:r>
              <a:endParaRPr lang="es-ES" sz="1400" b="1" dirty="0"/>
            </a:p>
          </p:txBody>
        </p:sp>
        <p:sp>
          <p:nvSpPr>
            <p:cNvPr id="25" name="AutoShape 92"/>
            <p:cNvSpPr>
              <a:spLocks noChangeArrowheads="1"/>
            </p:cNvSpPr>
            <p:nvPr/>
          </p:nvSpPr>
          <p:spPr bwMode="auto">
            <a:xfrm>
              <a:off x="3712253" y="1628800"/>
              <a:ext cx="180000" cy="180000"/>
            </a:xfrm>
            <a:prstGeom prst="diamond">
              <a:avLst/>
            </a:prstGeom>
            <a:solidFill>
              <a:srgbClr val="009644"/>
            </a:solidFill>
            <a:ln w="9525" algn="ctr">
              <a:noFill/>
              <a:miter lim="800000"/>
              <a:headEnd/>
              <a:tailEnd/>
            </a:ln>
            <a:effectLst/>
          </p:spPr>
          <p:txBody>
            <a:bodyPr wrap="none" anchor="ctr"/>
            <a:lstStyle/>
            <a:p>
              <a:pPr algn="ctr"/>
              <a:endParaRPr lang="en-US" sz="1000" b="1" dirty="0">
                <a:solidFill>
                  <a:schemeClr val="bg1"/>
                </a:solidFill>
              </a:endParaRPr>
            </a:p>
          </p:txBody>
        </p:sp>
        <p:sp>
          <p:nvSpPr>
            <p:cNvPr id="26" name="Rounded Rectangle 139"/>
            <p:cNvSpPr/>
            <p:nvPr/>
          </p:nvSpPr>
          <p:spPr>
            <a:xfrm>
              <a:off x="3712253" y="1381102"/>
              <a:ext cx="180000" cy="180000"/>
            </a:xfrm>
            <a:prstGeom prst="roundRect">
              <a:avLst/>
            </a:prstGeom>
            <a:solidFill>
              <a:srgbClr val="F26D00"/>
            </a:solidFill>
            <a:ln w="9525" algn="ctr">
              <a:noFill/>
              <a:round/>
              <a:headEnd/>
              <a:tailEnd/>
            </a:ln>
            <a:effectLst/>
          </p:spPr>
          <p:txBody>
            <a:bodyPr wrap="none" anchor="ctr"/>
            <a:lstStyle/>
            <a:p>
              <a:pPr algn="ctr"/>
              <a:endParaRPr lang="es-ES" sz="1000" b="1" dirty="0">
                <a:solidFill>
                  <a:schemeClr val="bg1"/>
                </a:solidFill>
              </a:endParaRPr>
            </a:p>
          </p:txBody>
        </p:sp>
      </p:grpSp>
      <p:sp>
        <p:nvSpPr>
          <p:cNvPr id="28" name="AutoShape 10"/>
          <p:cNvSpPr>
            <a:spLocks noChangeArrowheads="1"/>
          </p:cNvSpPr>
          <p:nvPr/>
        </p:nvSpPr>
        <p:spPr bwMode="auto">
          <a:xfrm rot="10800000">
            <a:off x="4716016" y="2177010"/>
            <a:ext cx="1260000" cy="647999"/>
          </a:xfrm>
          <a:prstGeom prst="homePlate">
            <a:avLst>
              <a:gd name="adj" fmla="val 28726"/>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dirty="0">
              <a:solidFill>
                <a:schemeClr val="lt1"/>
              </a:solidFill>
            </a:endParaRPr>
          </a:p>
        </p:txBody>
      </p:sp>
      <p:sp>
        <p:nvSpPr>
          <p:cNvPr id="30" name="Rectangle 7"/>
          <p:cNvSpPr>
            <a:spLocks noChangeArrowheads="1"/>
          </p:cNvSpPr>
          <p:nvPr/>
        </p:nvSpPr>
        <p:spPr bwMode="auto">
          <a:xfrm>
            <a:off x="4986931" y="1340766"/>
            <a:ext cx="2016000" cy="4536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marL="228600" indent="-228600" algn="just">
              <a:buFont typeface="+mj-lt"/>
              <a:buAutoNum type="arabicParenR"/>
            </a:pPr>
            <a:r>
              <a:rPr lang="es-ES" sz="1100" dirty="0">
                <a:solidFill>
                  <a:schemeClr val="tx1"/>
                </a:solidFill>
              </a:rPr>
              <a:t>Riesgo de que el comercial haciendo las veces de suscriptor autorice operaciones no alineadas con los objetivos definidos por la UN (caso BBVA).</a:t>
            </a:r>
          </a:p>
          <a:p>
            <a:pPr marL="228600" indent="-228600" algn="just">
              <a:buFont typeface="+mj-lt"/>
              <a:buAutoNum type="arabicParenR"/>
            </a:pPr>
            <a:r>
              <a:rPr lang="es-ES" sz="1100" dirty="0">
                <a:solidFill>
                  <a:schemeClr val="tx1"/>
                </a:solidFill>
              </a:rPr>
              <a:t>Riesgo de que los suscriptores autoricen cotizaciones no alineadas con los objetivos definidos por la UN por la inexistencia de límites para estos.</a:t>
            </a:r>
          </a:p>
          <a:p>
            <a:pPr marL="228600" indent="-228600" algn="just">
              <a:buFont typeface="+mj-lt"/>
              <a:buAutoNum type="arabicParenR"/>
            </a:pPr>
            <a:r>
              <a:rPr lang="es-ES" sz="1100" dirty="0">
                <a:solidFill>
                  <a:schemeClr val="tx1"/>
                </a:solidFill>
              </a:rPr>
              <a:t>subgerente de vehículos / Suscriptor se ven imposibilitados de realizar sus tareas diarias a causa de la caída del sistema, en mayor grado de incidencia en el proceso de análisis del riesgo .</a:t>
            </a:r>
          </a:p>
        </p:txBody>
      </p:sp>
      <p:sp>
        <p:nvSpPr>
          <p:cNvPr id="31" name="Rectangle 7"/>
          <p:cNvSpPr>
            <a:spLocks noChangeArrowheads="1"/>
          </p:cNvSpPr>
          <p:nvPr/>
        </p:nvSpPr>
        <p:spPr bwMode="auto">
          <a:xfrm>
            <a:off x="4986931" y="1030207"/>
            <a:ext cx="2016000" cy="252000"/>
          </a:xfrm>
          <a:prstGeom prst="rect">
            <a:avLst/>
          </a:prstGeom>
          <a:solidFill>
            <a:schemeClr val="tx1">
              <a:lumMod val="50000"/>
              <a:lumOff val="50000"/>
            </a:schemeClr>
          </a:solidFill>
          <a:ln w="9525" algn="ctr">
            <a:noFill/>
            <a:miter lim="800000"/>
            <a:headEnd/>
            <a:tailEnd/>
          </a:ln>
          <a:effectLst>
            <a:prstShdw prst="shdw17" dist="17961" dir="2700000">
              <a:srgbClr val="DDDDDD">
                <a:gamma/>
                <a:shade val="60000"/>
                <a:invGamma/>
              </a:srgbClr>
            </a:prstShdw>
          </a:effectLst>
        </p:spPr>
        <p:txBody>
          <a:bodyPr wrap="none" anchor="ctr"/>
          <a:lstStyle/>
          <a:p>
            <a:pPr algn="ctr"/>
            <a:r>
              <a:rPr lang="es-ES" sz="1300" b="1" dirty="0">
                <a:solidFill>
                  <a:schemeClr val="bg1"/>
                </a:solidFill>
              </a:rPr>
              <a:t>Riesgos</a:t>
            </a:r>
          </a:p>
        </p:txBody>
      </p:sp>
      <p:sp>
        <p:nvSpPr>
          <p:cNvPr id="34" name="Rectangle 7"/>
          <p:cNvSpPr>
            <a:spLocks noChangeArrowheads="1"/>
          </p:cNvSpPr>
          <p:nvPr/>
        </p:nvSpPr>
        <p:spPr bwMode="auto">
          <a:xfrm>
            <a:off x="7114697" y="1030207"/>
            <a:ext cx="900000" cy="252000"/>
          </a:xfrm>
          <a:prstGeom prst="rect">
            <a:avLst/>
          </a:prstGeom>
          <a:solidFill>
            <a:schemeClr val="tx1">
              <a:lumMod val="50000"/>
              <a:lumOff val="50000"/>
            </a:schemeClr>
          </a:solidFill>
          <a:ln w="9525" algn="ctr">
            <a:noFill/>
            <a:miter lim="800000"/>
            <a:headEnd/>
            <a:tailEnd/>
          </a:ln>
          <a:effectLst>
            <a:prstShdw prst="shdw17" dist="17961" dir="2700000">
              <a:srgbClr val="DDDDDD">
                <a:gamma/>
                <a:shade val="60000"/>
                <a:invGamma/>
              </a:srgbClr>
            </a:prstShdw>
          </a:effectLst>
        </p:spPr>
        <p:txBody>
          <a:bodyPr wrap="none" anchor="ctr"/>
          <a:lstStyle/>
          <a:p>
            <a:pPr algn="ctr"/>
            <a:r>
              <a:rPr lang="es-PE" sz="1300" b="1" dirty="0">
                <a:solidFill>
                  <a:schemeClr val="bg1"/>
                </a:solidFill>
              </a:rPr>
              <a:t>PEA</a:t>
            </a:r>
            <a:endParaRPr lang="es-ES" sz="1300" b="1" dirty="0">
              <a:solidFill>
                <a:schemeClr val="bg1"/>
              </a:solidFill>
            </a:endParaRPr>
          </a:p>
        </p:txBody>
      </p:sp>
      <p:sp>
        <p:nvSpPr>
          <p:cNvPr id="35" name="Rectangle 7"/>
          <p:cNvSpPr>
            <a:spLocks noChangeArrowheads="1"/>
          </p:cNvSpPr>
          <p:nvPr/>
        </p:nvSpPr>
        <p:spPr bwMode="auto">
          <a:xfrm>
            <a:off x="7114697" y="1340766"/>
            <a:ext cx="900000" cy="456000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marL="228600" indent="-228600" algn="just"/>
            <a:endParaRPr lang="es-ES" sz="1100" dirty="0">
              <a:solidFill>
                <a:schemeClr val="tx1"/>
              </a:solidFill>
            </a:endParaRPr>
          </a:p>
        </p:txBody>
      </p:sp>
      <p:sp>
        <p:nvSpPr>
          <p:cNvPr id="36" name="Rectangle 7"/>
          <p:cNvSpPr>
            <a:spLocks noChangeArrowheads="1"/>
          </p:cNvSpPr>
          <p:nvPr/>
        </p:nvSpPr>
        <p:spPr bwMode="auto">
          <a:xfrm>
            <a:off x="8064488" y="1030207"/>
            <a:ext cx="900000" cy="252000"/>
          </a:xfrm>
          <a:prstGeom prst="rect">
            <a:avLst/>
          </a:prstGeom>
          <a:solidFill>
            <a:schemeClr val="tx1">
              <a:lumMod val="50000"/>
              <a:lumOff val="50000"/>
            </a:schemeClr>
          </a:solidFill>
          <a:ln w="9525" algn="ctr">
            <a:noFill/>
            <a:miter lim="800000"/>
            <a:headEnd/>
            <a:tailEnd/>
          </a:ln>
          <a:effectLst>
            <a:prstShdw prst="shdw17" dist="17961" dir="2700000">
              <a:srgbClr val="DDDDDD">
                <a:gamma/>
                <a:shade val="60000"/>
                <a:invGamma/>
              </a:srgbClr>
            </a:prstShdw>
          </a:effectLst>
        </p:spPr>
        <p:txBody>
          <a:bodyPr wrap="none" anchor="ctr"/>
          <a:lstStyle/>
          <a:p>
            <a:pPr algn="ctr"/>
            <a:r>
              <a:rPr lang="es-PE" sz="1300" b="1" dirty="0" err="1">
                <a:solidFill>
                  <a:schemeClr val="bg1"/>
                </a:solidFill>
              </a:rPr>
              <a:t>VaR</a:t>
            </a:r>
            <a:endParaRPr lang="es-ES" sz="1300" b="1" dirty="0">
              <a:solidFill>
                <a:schemeClr val="bg1"/>
              </a:solidFill>
            </a:endParaRPr>
          </a:p>
        </p:txBody>
      </p:sp>
      <p:sp>
        <p:nvSpPr>
          <p:cNvPr id="37" name="Rectangle 7"/>
          <p:cNvSpPr>
            <a:spLocks noChangeArrowheads="1"/>
          </p:cNvSpPr>
          <p:nvPr/>
        </p:nvSpPr>
        <p:spPr bwMode="auto">
          <a:xfrm>
            <a:off x="8064488" y="1340766"/>
            <a:ext cx="900000" cy="456000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marL="228600" indent="-228600" algn="just"/>
            <a:endParaRPr lang="es-ES" sz="1100" dirty="0">
              <a:solidFill>
                <a:schemeClr val="tx1"/>
              </a:solidFill>
            </a:endParaRPr>
          </a:p>
        </p:txBody>
      </p:sp>
      <p:sp>
        <p:nvSpPr>
          <p:cNvPr id="27" name="Rounded Rectangle 93"/>
          <p:cNvSpPr/>
          <p:nvPr/>
        </p:nvSpPr>
        <p:spPr>
          <a:xfrm>
            <a:off x="7164288" y="1412776"/>
            <a:ext cx="792000" cy="548640"/>
          </a:xfrm>
          <a:prstGeom prst="roundRect">
            <a:avLst/>
          </a:prstGeom>
          <a:noFill/>
          <a:ln w="127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400" b="1" dirty="0">
                <a:solidFill>
                  <a:schemeClr val="tx1"/>
                </a:solidFill>
                <a:latin typeface="+mj-lt"/>
              </a:rPr>
              <a:t>27.5</a:t>
            </a:r>
            <a:endParaRPr lang="es-CL" sz="1400" b="1" dirty="0">
              <a:solidFill>
                <a:schemeClr val="tx1"/>
              </a:solidFill>
              <a:latin typeface="+mj-lt"/>
            </a:endParaRPr>
          </a:p>
        </p:txBody>
      </p:sp>
      <p:sp>
        <p:nvSpPr>
          <p:cNvPr id="29" name="Rounded Rectangle 93"/>
          <p:cNvSpPr/>
          <p:nvPr/>
        </p:nvSpPr>
        <p:spPr>
          <a:xfrm>
            <a:off x="8100480" y="1412776"/>
            <a:ext cx="792000" cy="548640"/>
          </a:xfrm>
          <a:prstGeom prst="roundRect">
            <a:avLst/>
          </a:prstGeom>
          <a:noFill/>
          <a:ln w="127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400" b="1" dirty="0">
                <a:solidFill>
                  <a:schemeClr val="tx1"/>
                </a:solidFill>
                <a:latin typeface="+mj-lt"/>
              </a:rPr>
              <a:t>170</a:t>
            </a:r>
            <a:endParaRPr lang="es-CL" sz="1400" b="1" dirty="0">
              <a:solidFill>
                <a:schemeClr val="tx1"/>
              </a:solidFill>
              <a:latin typeface="+mj-lt"/>
            </a:endParaRPr>
          </a:p>
        </p:txBody>
      </p:sp>
      <p:sp>
        <p:nvSpPr>
          <p:cNvPr id="32" name="Rounded Rectangle 93"/>
          <p:cNvSpPr/>
          <p:nvPr/>
        </p:nvSpPr>
        <p:spPr>
          <a:xfrm>
            <a:off x="7164288" y="2492896"/>
            <a:ext cx="792000" cy="548640"/>
          </a:xfrm>
          <a:prstGeom prst="roundRect">
            <a:avLst/>
          </a:prstGeom>
          <a:noFill/>
          <a:ln w="127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400" b="1" dirty="0">
                <a:solidFill>
                  <a:schemeClr val="tx1"/>
                </a:solidFill>
                <a:latin typeface="+mj-lt"/>
              </a:rPr>
              <a:t>0</a:t>
            </a:r>
            <a:endParaRPr lang="es-CL" sz="1400" b="1" dirty="0">
              <a:solidFill>
                <a:schemeClr val="tx1"/>
              </a:solidFill>
              <a:latin typeface="+mj-lt"/>
            </a:endParaRPr>
          </a:p>
        </p:txBody>
      </p:sp>
      <p:sp>
        <p:nvSpPr>
          <p:cNvPr id="38" name="Rounded Rectangle 93"/>
          <p:cNvSpPr/>
          <p:nvPr/>
        </p:nvSpPr>
        <p:spPr>
          <a:xfrm>
            <a:off x="8100480" y="2492896"/>
            <a:ext cx="792000" cy="548640"/>
          </a:xfrm>
          <a:prstGeom prst="roundRect">
            <a:avLst/>
          </a:prstGeom>
          <a:noFill/>
          <a:ln w="127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400" b="1" dirty="0">
                <a:solidFill>
                  <a:schemeClr val="tx1"/>
                </a:solidFill>
                <a:latin typeface="+mj-lt"/>
              </a:rPr>
              <a:t>0</a:t>
            </a:r>
            <a:endParaRPr lang="es-CL" sz="1400" b="1" dirty="0">
              <a:solidFill>
                <a:schemeClr val="tx1"/>
              </a:solidFill>
              <a:latin typeface="+mj-lt"/>
            </a:endParaRPr>
          </a:p>
        </p:txBody>
      </p:sp>
      <p:sp>
        <p:nvSpPr>
          <p:cNvPr id="39" name="Rounded Rectangle 93"/>
          <p:cNvSpPr/>
          <p:nvPr/>
        </p:nvSpPr>
        <p:spPr>
          <a:xfrm>
            <a:off x="7164288" y="3528432"/>
            <a:ext cx="792000" cy="548640"/>
          </a:xfrm>
          <a:prstGeom prst="roundRect">
            <a:avLst/>
          </a:prstGeom>
          <a:noFill/>
          <a:ln w="127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400" b="1" dirty="0">
                <a:solidFill>
                  <a:schemeClr val="tx1"/>
                </a:solidFill>
                <a:latin typeface="+mj-lt"/>
              </a:rPr>
              <a:t>25.5</a:t>
            </a:r>
            <a:endParaRPr lang="es-CL" sz="1400" b="1" dirty="0">
              <a:solidFill>
                <a:schemeClr val="tx1"/>
              </a:solidFill>
              <a:latin typeface="+mj-lt"/>
            </a:endParaRPr>
          </a:p>
        </p:txBody>
      </p:sp>
      <p:sp>
        <p:nvSpPr>
          <p:cNvPr id="40" name="Rounded Rectangle 93"/>
          <p:cNvSpPr/>
          <p:nvPr/>
        </p:nvSpPr>
        <p:spPr>
          <a:xfrm>
            <a:off x="8100480" y="3528432"/>
            <a:ext cx="792000" cy="548640"/>
          </a:xfrm>
          <a:prstGeom prst="roundRect">
            <a:avLst/>
          </a:prstGeom>
          <a:noFill/>
          <a:ln w="127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400" b="1" dirty="0">
                <a:solidFill>
                  <a:schemeClr val="tx1"/>
                </a:solidFill>
                <a:latin typeface="+mj-lt"/>
              </a:rPr>
              <a:t>283</a:t>
            </a:r>
            <a:endParaRPr lang="es-CL" sz="1400" b="1" dirty="0">
              <a:solidFill>
                <a:schemeClr val="tx1"/>
              </a:solidFill>
              <a:latin typeface="+mj-lt"/>
            </a:endParaRPr>
          </a:p>
        </p:txBody>
      </p:sp>
      <p:sp>
        <p:nvSpPr>
          <p:cNvPr id="41" name="Text Box 44"/>
          <p:cNvSpPr txBox="1">
            <a:spLocks noChangeArrowheads="1"/>
          </p:cNvSpPr>
          <p:nvPr/>
        </p:nvSpPr>
        <p:spPr bwMode="auto">
          <a:xfrm>
            <a:off x="7610039" y="764704"/>
            <a:ext cx="1354449" cy="230832"/>
          </a:xfrm>
          <a:prstGeom prst="rect">
            <a:avLst/>
          </a:prstGeom>
          <a:noFill/>
          <a:ln w="9525" algn="ctr">
            <a:noFill/>
            <a:miter lim="800000"/>
            <a:headEnd/>
            <a:tailEnd/>
          </a:ln>
          <a:effectLst/>
        </p:spPr>
        <p:txBody>
          <a:bodyPr wrap="square">
            <a:spAutoFit/>
          </a:bodyPr>
          <a:lstStyle/>
          <a:p>
            <a:r>
              <a:rPr lang="es-ES" sz="900" b="1" i="1" dirty="0">
                <a:solidFill>
                  <a:srgbClr val="525252"/>
                </a:solidFill>
              </a:rPr>
              <a:t>Miles de Nuevos Soles</a:t>
            </a:r>
            <a:endParaRPr lang="en-US" sz="900" b="1" i="1" dirty="0">
              <a:solidFill>
                <a:srgbClr val="525252"/>
              </a:solidFill>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Rectangle 7"/>
          <p:cNvSpPr>
            <a:spLocks noChangeArrowheads="1"/>
          </p:cNvSpPr>
          <p:nvPr/>
        </p:nvSpPr>
        <p:spPr bwMode="auto">
          <a:xfrm>
            <a:off x="4918801" y="980727"/>
            <a:ext cx="4104000" cy="5040561"/>
          </a:xfrm>
          <a:prstGeom prst="rect">
            <a:avLst/>
          </a:prstGeom>
          <a:solidFill>
            <a:schemeClr val="accent1">
              <a:lumMod val="20000"/>
              <a:lumOff val="80000"/>
            </a:schemeClr>
          </a:solidFill>
          <a:ln w="9525" algn="ctr">
            <a:noFill/>
            <a:miter lim="800000"/>
            <a:headEnd/>
            <a:tailEnd/>
          </a:ln>
          <a:effectLst>
            <a:prstShdw prst="shdw17" dist="17961" dir="2700000">
              <a:srgbClr val="DDDDDD">
                <a:gamma/>
                <a:shade val="60000"/>
                <a:invGamma/>
              </a:srgbClr>
            </a:prstShdw>
          </a:effectLst>
        </p:spPr>
        <p:txBody>
          <a:bodyPr wrap="none" anchor="ctr"/>
          <a:lstStyle/>
          <a:p>
            <a:pPr algn="ctr"/>
            <a:endParaRPr lang="es-ES" sz="1300" b="1" dirty="0">
              <a:solidFill>
                <a:srgbClr val="525252"/>
              </a:solidFill>
            </a:endParaRPr>
          </a:p>
        </p:txBody>
      </p:sp>
      <p:sp>
        <p:nvSpPr>
          <p:cNvPr id="12" name="Title 1"/>
          <p:cNvSpPr>
            <a:spLocks noGrp="1"/>
          </p:cNvSpPr>
          <p:nvPr>
            <p:ph type="title"/>
          </p:nvPr>
        </p:nvSpPr>
        <p:spPr>
          <a:xfrm>
            <a:off x="47625" y="32965"/>
            <a:ext cx="8217470" cy="587723"/>
          </a:xfrm>
        </p:spPr>
        <p:txBody>
          <a:bodyPr/>
          <a:lstStyle/>
          <a:p>
            <a:r>
              <a:rPr lang="es-ES" dirty="0"/>
              <a:t>Anexo: Árbol de Procesos</a:t>
            </a:r>
          </a:p>
        </p:txBody>
      </p:sp>
      <p:sp>
        <p:nvSpPr>
          <p:cNvPr id="16" name="AutoShape 10"/>
          <p:cNvSpPr>
            <a:spLocks noChangeArrowheads="1"/>
          </p:cNvSpPr>
          <p:nvPr/>
        </p:nvSpPr>
        <p:spPr bwMode="auto">
          <a:xfrm rot="10800000">
            <a:off x="1187624" y="1233031"/>
            <a:ext cx="2304256" cy="2484000"/>
          </a:xfrm>
          <a:prstGeom prst="homePlate">
            <a:avLst>
              <a:gd name="adj" fmla="val 28726"/>
            </a:avLst>
          </a:prstGeom>
          <a:solidFill>
            <a:schemeClr val="accent1">
              <a:lumMod val="20000"/>
              <a:lumOff val="80000"/>
            </a:schemeClr>
          </a:solidFill>
          <a:ln w="12700">
            <a:solidFill>
              <a:srgbClr val="A9A9A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dirty="0">
              <a:solidFill>
                <a:schemeClr val="lt1"/>
              </a:solidFill>
            </a:endParaRPr>
          </a:p>
        </p:txBody>
      </p:sp>
      <p:sp>
        <p:nvSpPr>
          <p:cNvPr id="17" name="Rounded Rectangle 21"/>
          <p:cNvSpPr/>
          <p:nvPr/>
        </p:nvSpPr>
        <p:spPr>
          <a:xfrm>
            <a:off x="107504" y="2177009"/>
            <a:ext cx="1512000" cy="648000"/>
          </a:xfrm>
          <a:prstGeom prst="roundRect">
            <a:avLst/>
          </a:prstGeom>
          <a:solidFill>
            <a:srgbClr val="DB0613"/>
          </a:solidFill>
          <a:ln w="9525" algn="ctr">
            <a:noFill/>
            <a:miter lim="800000"/>
            <a:headEnd/>
            <a:tailEnd/>
          </a:ln>
          <a:effectLst>
            <a:prstShdw prst="shdw17" dist="17961" dir="2700000">
              <a:srgbClr val="DDDDDD">
                <a:gamma/>
                <a:shade val="60000"/>
                <a:invGamma/>
              </a:srgbClr>
            </a:prstShdw>
          </a:effectLst>
        </p:spPr>
        <p:txBody>
          <a:bodyPr wrap="none" anchor="ctr"/>
          <a:lstStyle/>
          <a:p>
            <a:pPr algn="ctr"/>
            <a:r>
              <a:rPr lang="es-ES" sz="1600" b="1" dirty="0">
                <a:solidFill>
                  <a:schemeClr val="bg1"/>
                </a:solidFill>
              </a:rPr>
              <a:t>Suscripción</a:t>
            </a:r>
          </a:p>
          <a:p>
            <a:pPr algn="ctr"/>
            <a:r>
              <a:rPr lang="es-ES" sz="1600" b="1" dirty="0">
                <a:solidFill>
                  <a:schemeClr val="bg1"/>
                </a:solidFill>
              </a:rPr>
              <a:t>Vehicular</a:t>
            </a:r>
          </a:p>
        </p:txBody>
      </p:sp>
      <p:sp>
        <p:nvSpPr>
          <p:cNvPr id="18" name="Rounded Rectangle 21"/>
          <p:cNvSpPr/>
          <p:nvPr/>
        </p:nvSpPr>
        <p:spPr>
          <a:xfrm>
            <a:off x="1843040" y="1340767"/>
            <a:ext cx="1548000" cy="648000"/>
          </a:xfrm>
          <a:prstGeom prst="roundRect">
            <a:avLst/>
          </a:prstGeom>
          <a:solidFill>
            <a:srgbClr val="DB0613"/>
          </a:solidFill>
          <a:ln w="9525" algn="ctr">
            <a:noFill/>
            <a:miter lim="800000"/>
            <a:headEnd/>
            <a:tailEnd/>
          </a:ln>
          <a:effectLst>
            <a:prstShdw prst="shdw17" dist="17961" dir="2700000">
              <a:srgbClr val="DDDDDD">
                <a:gamma/>
                <a:shade val="60000"/>
                <a:invGamma/>
              </a:srgbClr>
            </a:prstShdw>
          </a:effectLst>
        </p:spPr>
        <p:txBody>
          <a:bodyPr wrap="none" anchor="ctr"/>
          <a:lstStyle/>
          <a:p>
            <a:pPr algn="ctr"/>
            <a:r>
              <a:rPr lang="es-ES" sz="1400" b="1" dirty="0">
                <a:solidFill>
                  <a:schemeClr val="bg1"/>
                </a:solidFill>
              </a:rPr>
              <a:t>Evaluación de</a:t>
            </a:r>
          </a:p>
          <a:p>
            <a:pPr algn="ctr"/>
            <a:r>
              <a:rPr lang="es-ES" sz="1400" b="1" dirty="0">
                <a:solidFill>
                  <a:schemeClr val="bg1"/>
                </a:solidFill>
              </a:rPr>
              <a:t> Solicitudes de</a:t>
            </a:r>
          </a:p>
          <a:p>
            <a:pPr algn="ctr"/>
            <a:r>
              <a:rPr lang="es-ES" sz="1400" b="1" dirty="0">
                <a:solidFill>
                  <a:schemeClr val="bg1"/>
                </a:solidFill>
              </a:rPr>
              <a:t>Cotización</a:t>
            </a:r>
          </a:p>
        </p:txBody>
      </p:sp>
      <p:sp>
        <p:nvSpPr>
          <p:cNvPr id="19" name="Rounded Rectangle 21"/>
          <p:cNvSpPr/>
          <p:nvPr/>
        </p:nvSpPr>
        <p:spPr>
          <a:xfrm>
            <a:off x="1843040" y="2177009"/>
            <a:ext cx="1548000" cy="648000"/>
          </a:xfrm>
          <a:prstGeom prst="roundRect">
            <a:avLst/>
          </a:prstGeom>
          <a:solidFill>
            <a:srgbClr val="DB0613"/>
          </a:solidFill>
          <a:ln w="9525" algn="ctr">
            <a:noFill/>
            <a:miter lim="800000"/>
            <a:headEnd/>
            <a:tailEnd/>
          </a:ln>
          <a:effectLst>
            <a:prstShdw prst="shdw17" dist="17961" dir="2700000">
              <a:srgbClr val="DDDDDD">
                <a:gamma/>
                <a:shade val="60000"/>
                <a:invGamma/>
              </a:srgbClr>
            </a:prstShdw>
          </a:effectLst>
        </p:spPr>
        <p:txBody>
          <a:bodyPr wrap="none" anchor="ctr"/>
          <a:lstStyle/>
          <a:p>
            <a:pPr algn="ctr"/>
            <a:r>
              <a:rPr lang="es-ES" sz="1400" b="1" dirty="0">
                <a:solidFill>
                  <a:schemeClr val="bg1"/>
                </a:solidFill>
              </a:rPr>
              <a:t>Cotización</a:t>
            </a:r>
          </a:p>
          <a:p>
            <a:pPr algn="ctr"/>
            <a:r>
              <a:rPr lang="es-ES" sz="1400" b="1" dirty="0">
                <a:solidFill>
                  <a:schemeClr val="bg1"/>
                </a:solidFill>
              </a:rPr>
              <a:t>Fuera de políticas</a:t>
            </a:r>
          </a:p>
        </p:txBody>
      </p:sp>
      <p:sp>
        <p:nvSpPr>
          <p:cNvPr id="20" name="Rounded Rectangle 21"/>
          <p:cNvSpPr/>
          <p:nvPr/>
        </p:nvSpPr>
        <p:spPr>
          <a:xfrm>
            <a:off x="1843040" y="2977409"/>
            <a:ext cx="1548000" cy="648000"/>
          </a:xfrm>
          <a:prstGeom prst="roundRect">
            <a:avLst/>
          </a:prstGeom>
          <a:solidFill>
            <a:srgbClr val="DB0613"/>
          </a:solidFill>
          <a:ln w="9525" algn="ctr">
            <a:noFill/>
            <a:miter lim="800000"/>
            <a:headEnd/>
            <a:tailEnd/>
          </a:ln>
          <a:effectLst>
            <a:prstShdw prst="shdw17" dist="17961" dir="2700000">
              <a:srgbClr val="DDDDDD">
                <a:gamma/>
                <a:shade val="60000"/>
                <a:invGamma/>
              </a:srgbClr>
            </a:prstShdw>
          </a:effectLst>
        </p:spPr>
        <p:txBody>
          <a:bodyPr wrap="none" anchor="ctr"/>
          <a:lstStyle/>
          <a:p>
            <a:pPr algn="ctr"/>
            <a:r>
              <a:rPr lang="es-ES" sz="1400" b="1" dirty="0">
                <a:solidFill>
                  <a:schemeClr val="bg1"/>
                </a:solidFill>
              </a:rPr>
              <a:t>Inspección Técnica</a:t>
            </a:r>
          </a:p>
        </p:txBody>
      </p:sp>
      <p:grpSp>
        <p:nvGrpSpPr>
          <p:cNvPr id="21" name="58 Grupo"/>
          <p:cNvGrpSpPr/>
          <p:nvPr/>
        </p:nvGrpSpPr>
        <p:grpSpPr>
          <a:xfrm>
            <a:off x="3347865" y="2977409"/>
            <a:ext cx="1440000" cy="648000"/>
            <a:chOff x="3491881" y="1281851"/>
            <a:chExt cx="1620000" cy="648000"/>
          </a:xfrm>
        </p:grpSpPr>
        <p:sp>
          <p:nvSpPr>
            <p:cNvPr id="22" name="AutoShape 10"/>
            <p:cNvSpPr>
              <a:spLocks noChangeArrowheads="1"/>
            </p:cNvSpPr>
            <p:nvPr/>
          </p:nvSpPr>
          <p:spPr bwMode="auto">
            <a:xfrm rot="10800000">
              <a:off x="3491881" y="1281851"/>
              <a:ext cx="1620000" cy="648000"/>
            </a:xfrm>
            <a:prstGeom prst="homePlate">
              <a:avLst>
                <a:gd name="adj" fmla="val 28726"/>
              </a:avLst>
            </a:prstGeom>
            <a:solidFill>
              <a:schemeClr val="bg1"/>
            </a:solidFill>
            <a:ln w="9525" algn="ctr">
              <a:noFill/>
              <a:miter lim="800000"/>
              <a:headEnd/>
              <a:tailEnd/>
            </a:ln>
            <a:effectLst>
              <a:prstShdw prst="shdw17" dist="17961" dir="2700000">
                <a:srgbClr val="DDDDDD">
                  <a:gamma/>
                  <a:shade val="60000"/>
                  <a:invGamma/>
                </a:srgbClr>
              </a:prstShdw>
            </a:effectLst>
          </p:spPr>
          <p:txBody>
            <a:bodyPr wrap="none" anchor="ctr"/>
            <a:lstStyle/>
            <a:p>
              <a:pPr algn="ctr"/>
              <a:endParaRPr lang="en-US" sz="1300" b="1" dirty="0">
                <a:solidFill>
                  <a:schemeClr val="bg1"/>
                </a:solidFill>
              </a:endParaRPr>
            </a:p>
          </p:txBody>
        </p:sp>
        <p:sp>
          <p:nvSpPr>
            <p:cNvPr id="23" name="Rectangle 7"/>
            <p:cNvSpPr>
              <a:spLocks noChangeArrowheads="1"/>
            </p:cNvSpPr>
            <p:nvPr/>
          </p:nvSpPr>
          <p:spPr bwMode="auto">
            <a:xfrm>
              <a:off x="3838625" y="1281851"/>
              <a:ext cx="1224000" cy="648000"/>
            </a:xfrm>
            <a:prstGeom prst="rect">
              <a:avLst/>
            </a:prstGeom>
            <a:noFill/>
            <a:ln w="9525" algn="ctr">
              <a:noFill/>
              <a:miter lim="800000"/>
              <a:headEnd/>
              <a:tailEnd/>
            </a:ln>
            <a:effectLst>
              <a:prstShdw prst="shdw17" dist="17961" dir="2700000">
                <a:srgbClr val="DDDDDD">
                  <a:gamma/>
                  <a:shade val="60000"/>
                  <a:invGamma/>
                </a:srgbClr>
              </a:prstShdw>
            </a:effectLst>
          </p:spPr>
          <p:txBody>
            <a:bodyPr wrap="none" anchor="ctr"/>
            <a:lstStyle/>
            <a:p>
              <a:r>
                <a:rPr lang="es-PE" sz="1400" b="1" dirty="0"/>
                <a:t>Riesgos : 10</a:t>
              </a:r>
            </a:p>
            <a:p>
              <a:r>
                <a:rPr lang="es-PE" sz="1400" b="1" dirty="0"/>
                <a:t>Controles: 3</a:t>
              </a:r>
              <a:endParaRPr lang="es-ES" sz="1400" b="1" dirty="0"/>
            </a:p>
          </p:txBody>
        </p:sp>
        <p:sp>
          <p:nvSpPr>
            <p:cNvPr id="24" name="AutoShape 92"/>
            <p:cNvSpPr>
              <a:spLocks noChangeArrowheads="1"/>
            </p:cNvSpPr>
            <p:nvPr/>
          </p:nvSpPr>
          <p:spPr bwMode="auto">
            <a:xfrm>
              <a:off x="3712253" y="1628800"/>
              <a:ext cx="180000" cy="180000"/>
            </a:xfrm>
            <a:prstGeom prst="diamond">
              <a:avLst/>
            </a:prstGeom>
            <a:solidFill>
              <a:srgbClr val="009644"/>
            </a:solidFill>
            <a:ln w="9525" algn="ctr">
              <a:noFill/>
              <a:miter lim="800000"/>
              <a:headEnd/>
              <a:tailEnd/>
            </a:ln>
            <a:effectLst/>
          </p:spPr>
          <p:txBody>
            <a:bodyPr wrap="none" anchor="ctr"/>
            <a:lstStyle/>
            <a:p>
              <a:pPr algn="ctr"/>
              <a:endParaRPr lang="en-US" sz="1000" b="1" dirty="0">
                <a:solidFill>
                  <a:schemeClr val="bg1"/>
                </a:solidFill>
              </a:endParaRPr>
            </a:p>
          </p:txBody>
        </p:sp>
        <p:sp>
          <p:nvSpPr>
            <p:cNvPr id="25" name="Rounded Rectangle 139"/>
            <p:cNvSpPr/>
            <p:nvPr/>
          </p:nvSpPr>
          <p:spPr>
            <a:xfrm>
              <a:off x="3712253" y="1381102"/>
              <a:ext cx="180000" cy="180000"/>
            </a:xfrm>
            <a:prstGeom prst="roundRect">
              <a:avLst/>
            </a:prstGeom>
            <a:solidFill>
              <a:srgbClr val="F26D00"/>
            </a:solidFill>
            <a:ln w="9525" algn="ctr">
              <a:noFill/>
              <a:round/>
              <a:headEnd/>
              <a:tailEnd/>
            </a:ln>
            <a:effectLst/>
          </p:spPr>
          <p:txBody>
            <a:bodyPr wrap="none" anchor="ctr"/>
            <a:lstStyle/>
            <a:p>
              <a:pPr algn="ctr"/>
              <a:endParaRPr lang="es-ES" sz="1000" b="1" dirty="0">
                <a:solidFill>
                  <a:schemeClr val="bg1"/>
                </a:solidFill>
              </a:endParaRPr>
            </a:p>
          </p:txBody>
        </p:sp>
      </p:grpSp>
      <p:sp>
        <p:nvSpPr>
          <p:cNvPr id="27" name="AutoShape 10"/>
          <p:cNvSpPr>
            <a:spLocks noChangeArrowheads="1"/>
          </p:cNvSpPr>
          <p:nvPr/>
        </p:nvSpPr>
        <p:spPr bwMode="auto">
          <a:xfrm rot="10800000">
            <a:off x="4716016" y="2977410"/>
            <a:ext cx="1260000" cy="647999"/>
          </a:xfrm>
          <a:prstGeom prst="homePlate">
            <a:avLst>
              <a:gd name="adj" fmla="val 28726"/>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dirty="0">
              <a:solidFill>
                <a:schemeClr val="lt1"/>
              </a:solidFill>
            </a:endParaRPr>
          </a:p>
        </p:txBody>
      </p:sp>
      <p:sp>
        <p:nvSpPr>
          <p:cNvPr id="29" name="Rectangle 7"/>
          <p:cNvSpPr>
            <a:spLocks noChangeArrowheads="1"/>
          </p:cNvSpPr>
          <p:nvPr/>
        </p:nvSpPr>
        <p:spPr bwMode="auto">
          <a:xfrm>
            <a:off x="4986931" y="1340766"/>
            <a:ext cx="2016000" cy="456000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marL="228600" indent="-228600" algn="just">
              <a:buFont typeface="+mj-lt"/>
              <a:buAutoNum type="arabicParenR"/>
            </a:pPr>
            <a:r>
              <a:rPr lang="es-ES" sz="1100" dirty="0">
                <a:solidFill>
                  <a:schemeClr val="tx1"/>
                </a:solidFill>
              </a:rPr>
              <a:t>Fraude por declaración falsa del estado del vehículo (lugar inaccesible).</a:t>
            </a:r>
          </a:p>
          <a:p>
            <a:pPr marL="228600" indent="-228600" algn="just">
              <a:buFont typeface="+mj-lt"/>
              <a:buAutoNum type="arabicParenR"/>
            </a:pPr>
            <a:endParaRPr lang="es-ES" sz="1100" dirty="0">
              <a:solidFill>
                <a:schemeClr val="tx1"/>
              </a:solidFill>
            </a:endParaRPr>
          </a:p>
          <a:p>
            <a:pPr marL="228600" indent="-228600" algn="just">
              <a:buFont typeface="+mj-lt"/>
              <a:buAutoNum type="arabicParenR"/>
            </a:pPr>
            <a:r>
              <a:rPr lang="es-ES" sz="1100" dirty="0">
                <a:solidFill>
                  <a:schemeClr val="tx1"/>
                </a:solidFill>
              </a:rPr>
              <a:t>Incumplimiento de los servicios de un tercero por huelga (CGS).</a:t>
            </a:r>
          </a:p>
          <a:p>
            <a:pPr marL="228600" indent="-228600" algn="just">
              <a:buFont typeface="+mj-lt"/>
              <a:buAutoNum type="arabicParenR"/>
            </a:pPr>
            <a:r>
              <a:rPr lang="es-ES" sz="1100" dirty="0">
                <a:solidFill>
                  <a:schemeClr val="tx1"/>
                </a:solidFill>
              </a:rPr>
              <a:t>Falla de los servicios de un proveedor por incumplimiento de la normativa laboral vigente.</a:t>
            </a:r>
          </a:p>
          <a:p>
            <a:pPr marL="228600" indent="-228600" algn="just">
              <a:buFont typeface="+mj-lt"/>
              <a:buAutoNum type="arabicParenR"/>
            </a:pPr>
            <a:r>
              <a:rPr lang="es-ES" sz="1100" dirty="0">
                <a:solidFill>
                  <a:schemeClr val="tx1"/>
                </a:solidFill>
              </a:rPr>
              <a:t>Riesgo de que el proveedor de creación de trámites de emisión realice sus tareas de forma incorrecta.</a:t>
            </a:r>
          </a:p>
          <a:p>
            <a:pPr marL="228600" indent="-228600" algn="just">
              <a:buFont typeface="+mj-lt"/>
              <a:buAutoNum type="arabicParenR"/>
            </a:pPr>
            <a:r>
              <a:rPr lang="es-ES" sz="1100" dirty="0">
                <a:solidFill>
                  <a:schemeClr val="tx1"/>
                </a:solidFill>
              </a:rPr>
              <a:t>Los estados del trámite del sistema </a:t>
            </a:r>
            <a:r>
              <a:rPr lang="es-ES" sz="1100" dirty="0" err="1">
                <a:solidFill>
                  <a:schemeClr val="tx1"/>
                </a:solidFill>
              </a:rPr>
              <a:t>Rimac</a:t>
            </a:r>
            <a:r>
              <a:rPr lang="es-ES" sz="1100" dirty="0">
                <a:solidFill>
                  <a:schemeClr val="tx1"/>
                </a:solidFill>
              </a:rPr>
              <a:t> y del proveedor no son homogéneos, generando duplicidades.</a:t>
            </a:r>
          </a:p>
          <a:p>
            <a:pPr marL="228600" indent="-228600" algn="just">
              <a:buFont typeface="+mj-lt"/>
              <a:buAutoNum type="arabicParenR"/>
            </a:pPr>
            <a:r>
              <a:rPr lang="es-ES" sz="1100" dirty="0">
                <a:solidFill>
                  <a:schemeClr val="tx1"/>
                </a:solidFill>
              </a:rPr>
              <a:t>Riesgo de que el proveedor no esté prestando el servicio en las condiciones contratadas (PE: N° de llamadas)</a:t>
            </a:r>
          </a:p>
        </p:txBody>
      </p:sp>
      <p:sp>
        <p:nvSpPr>
          <p:cNvPr id="30" name="Rectangle 7"/>
          <p:cNvSpPr>
            <a:spLocks noChangeArrowheads="1"/>
          </p:cNvSpPr>
          <p:nvPr/>
        </p:nvSpPr>
        <p:spPr bwMode="auto">
          <a:xfrm>
            <a:off x="4986931" y="1030207"/>
            <a:ext cx="2016000" cy="252000"/>
          </a:xfrm>
          <a:prstGeom prst="rect">
            <a:avLst/>
          </a:prstGeom>
          <a:solidFill>
            <a:schemeClr val="tx1">
              <a:lumMod val="50000"/>
              <a:lumOff val="50000"/>
            </a:schemeClr>
          </a:solidFill>
          <a:ln w="9525" algn="ctr">
            <a:noFill/>
            <a:miter lim="800000"/>
            <a:headEnd/>
            <a:tailEnd/>
          </a:ln>
          <a:effectLst>
            <a:prstShdw prst="shdw17" dist="17961" dir="2700000">
              <a:srgbClr val="DDDDDD">
                <a:gamma/>
                <a:shade val="60000"/>
                <a:invGamma/>
              </a:srgbClr>
            </a:prstShdw>
          </a:effectLst>
        </p:spPr>
        <p:txBody>
          <a:bodyPr wrap="none" anchor="ctr"/>
          <a:lstStyle/>
          <a:p>
            <a:pPr algn="ctr"/>
            <a:r>
              <a:rPr lang="es-ES" sz="1300" b="1" dirty="0">
                <a:solidFill>
                  <a:schemeClr val="bg1"/>
                </a:solidFill>
              </a:rPr>
              <a:t>Riesgos</a:t>
            </a:r>
          </a:p>
        </p:txBody>
      </p:sp>
      <p:sp>
        <p:nvSpPr>
          <p:cNvPr id="33" name="Rectangle 7"/>
          <p:cNvSpPr>
            <a:spLocks noChangeArrowheads="1"/>
          </p:cNvSpPr>
          <p:nvPr/>
        </p:nvSpPr>
        <p:spPr bwMode="auto">
          <a:xfrm>
            <a:off x="7114697" y="1030207"/>
            <a:ext cx="900000" cy="252000"/>
          </a:xfrm>
          <a:prstGeom prst="rect">
            <a:avLst/>
          </a:prstGeom>
          <a:solidFill>
            <a:schemeClr val="tx1">
              <a:lumMod val="50000"/>
              <a:lumOff val="50000"/>
            </a:schemeClr>
          </a:solidFill>
          <a:ln w="9525" algn="ctr">
            <a:noFill/>
            <a:miter lim="800000"/>
            <a:headEnd/>
            <a:tailEnd/>
          </a:ln>
          <a:effectLst>
            <a:prstShdw prst="shdw17" dist="17961" dir="2700000">
              <a:srgbClr val="DDDDDD">
                <a:gamma/>
                <a:shade val="60000"/>
                <a:invGamma/>
              </a:srgbClr>
            </a:prstShdw>
          </a:effectLst>
        </p:spPr>
        <p:txBody>
          <a:bodyPr wrap="none" anchor="ctr"/>
          <a:lstStyle/>
          <a:p>
            <a:pPr algn="ctr"/>
            <a:r>
              <a:rPr lang="es-PE" sz="1300" b="1" dirty="0">
                <a:solidFill>
                  <a:schemeClr val="bg1"/>
                </a:solidFill>
              </a:rPr>
              <a:t>PEA</a:t>
            </a:r>
            <a:endParaRPr lang="es-ES" sz="1300" b="1" dirty="0">
              <a:solidFill>
                <a:schemeClr val="bg1"/>
              </a:solidFill>
            </a:endParaRPr>
          </a:p>
        </p:txBody>
      </p:sp>
      <p:sp>
        <p:nvSpPr>
          <p:cNvPr id="34" name="Rectangle 7"/>
          <p:cNvSpPr>
            <a:spLocks noChangeArrowheads="1"/>
          </p:cNvSpPr>
          <p:nvPr/>
        </p:nvSpPr>
        <p:spPr bwMode="auto">
          <a:xfrm>
            <a:off x="7114697" y="1340766"/>
            <a:ext cx="900000" cy="456000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marL="228600" indent="-228600" algn="just"/>
            <a:endParaRPr lang="es-ES" sz="1100" dirty="0">
              <a:solidFill>
                <a:schemeClr val="tx1"/>
              </a:solidFill>
            </a:endParaRPr>
          </a:p>
        </p:txBody>
      </p:sp>
      <p:sp>
        <p:nvSpPr>
          <p:cNvPr id="35" name="Rectangle 7"/>
          <p:cNvSpPr>
            <a:spLocks noChangeArrowheads="1"/>
          </p:cNvSpPr>
          <p:nvPr/>
        </p:nvSpPr>
        <p:spPr bwMode="auto">
          <a:xfrm>
            <a:off x="8064488" y="1030207"/>
            <a:ext cx="900000" cy="252000"/>
          </a:xfrm>
          <a:prstGeom prst="rect">
            <a:avLst/>
          </a:prstGeom>
          <a:solidFill>
            <a:schemeClr val="tx1">
              <a:lumMod val="50000"/>
              <a:lumOff val="50000"/>
            </a:schemeClr>
          </a:solidFill>
          <a:ln w="9525" algn="ctr">
            <a:noFill/>
            <a:miter lim="800000"/>
            <a:headEnd/>
            <a:tailEnd/>
          </a:ln>
          <a:effectLst>
            <a:prstShdw prst="shdw17" dist="17961" dir="2700000">
              <a:srgbClr val="DDDDDD">
                <a:gamma/>
                <a:shade val="60000"/>
                <a:invGamma/>
              </a:srgbClr>
            </a:prstShdw>
          </a:effectLst>
        </p:spPr>
        <p:txBody>
          <a:bodyPr wrap="none" anchor="ctr"/>
          <a:lstStyle/>
          <a:p>
            <a:pPr algn="ctr"/>
            <a:r>
              <a:rPr lang="es-PE" sz="1300" b="1" dirty="0" err="1">
                <a:solidFill>
                  <a:schemeClr val="bg1"/>
                </a:solidFill>
              </a:rPr>
              <a:t>VaR</a:t>
            </a:r>
            <a:endParaRPr lang="es-ES" sz="1300" b="1" dirty="0">
              <a:solidFill>
                <a:schemeClr val="bg1"/>
              </a:solidFill>
            </a:endParaRPr>
          </a:p>
        </p:txBody>
      </p:sp>
      <p:sp>
        <p:nvSpPr>
          <p:cNvPr id="36" name="Rectangle 7"/>
          <p:cNvSpPr>
            <a:spLocks noChangeArrowheads="1"/>
          </p:cNvSpPr>
          <p:nvPr/>
        </p:nvSpPr>
        <p:spPr bwMode="auto">
          <a:xfrm>
            <a:off x="8064488" y="1340766"/>
            <a:ext cx="900000" cy="456000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marL="228600" indent="-228600" algn="just"/>
            <a:endParaRPr lang="es-ES" sz="1100" dirty="0">
              <a:solidFill>
                <a:schemeClr val="tx1"/>
              </a:solidFill>
            </a:endParaRPr>
          </a:p>
        </p:txBody>
      </p:sp>
      <p:sp>
        <p:nvSpPr>
          <p:cNvPr id="31" name="Rounded Rectangle 93"/>
          <p:cNvSpPr/>
          <p:nvPr/>
        </p:nvSpPr>
        <p:spPr>
          <a:xfrm>
            <a:off x="7164288" y="2232288"/>
            <a:ext cx="792000" cy="548640"/>
          </a:xfrm>
          <a:prstGeom prst="roundRect">
            <a:avLst/>
          </a:prstGeom>
          <a:noFill/>
          <a:ln w="127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400" b="1" dirty="0">
                <a:solidFill>
                  <a:schemeClr val="tx1"/>
                </a:solidFill>
                <a:latin typeface="+mj-lt"/>
              </a:rPr>
              <a:t>50</a:t>
            </a:r>
            <a:endParaRPr lang="es-CL" sz="1400" b="1" dirty="0">
              <a:solidFill>
                <a:schemeClr val="tx1"/>
              </a:solidFill>
              <a:latin typeface="+mj-lt"/>
            </a:endParaRPr>
          </a:p>
        </p:txBody>
      </p:sp>
      <p:sp>
        <p:nvSpPr>
          <p:cNvPr id="37" name="Rounded Rectangle 93"/>
          <p:cNvSpPr/>
          <p:nvPr/>
        </p:nvSpPr>
        <p:spPr>
          <a:xfrm>
            <a:off x="8100480" y="2232288"/>
            <a:ext cx="792000" cy="548640"/>
          </a:xfrm>
          <a:prstGeom prst="roundRect">
            <a:avLst/>
          </a:prstGeom>
          <a:noFill/>
          <a:ln w="127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400" b="1" dirty="0">
                <a:solidFill>
                  <a:schemeClr val="tx1"/>
                </a:solidFill>
                <a:latin typeface="+mj-lt"/>
              </a:rPr>
              <a:t>6,995</a:t>
            </a:r>
            <a:endParaRPr lang="es-CL" sz="1400" b="1" dirty="0">
              <a:solidFill>
                <a:schemeClr val="tx1"/>
              </a:solidFill>
              <a:latin typeface="+mj-lt"/>
            </a:endParaRPr>
          </a:p>
        </p:txBody>
      </p:sp>
      <p:sp>
        <p:nvSpPr>
          <p:cNvPr id="38" name="Rounded Rectangle 93"/>
          <p:cNvSpPr/>
          <p:nvPr/>
        </p:nvSpPr>
        <p:spPr>
          <a:xfrm>
            <a:off x="7164288" y="2880360"/>
            <a:ext cx="792000" cy="548640"/>
          </a:xfrm>
          <a:prstGeom prst="roundRect">
            <a:avLst/>
          </a:prstGeom>
          <a:noFill/>
          <a:ln w="127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400" b="1" dirty="0">
                <a:solidFill>
                  <a:schemeClr val="tx1"/>
                </a:solidFill>
                <a:latin typeface="+mj-lt"/>
              </a:rPr>
              <a:t>0</a:t>
            </a:r>
            <a:endParaRPr lang="es-CL" sz="1400" b="1" dirty="0">
              <a:solidFill>
                <a:schemeClr val="tx1"/>
              </a:solidFill>
              <a:latin typeface="+mj-lt"/>
            </a:endParaRPr>
          </a:p>
        </p:txBody>
      </p:sp>
      <p:sp>
        <p:nvSpPr>
          <p:cNvPr id="39" name="Rounded Rectangle 93"/>
          <p:cNvSpPr/>
          <p:nvPr/>
        </p:nvSpPr>
        <p:spPr>
          <a:xfrm>
            <a:off x="8100480" y="2880360"/>
            <a:ext cx="792000" cy="548640"/>
          </a:xfrm>
          <a:prstGeom prst="roundRect">
            <a:avLst/>
          </a:prstGeom>
          <a:noFill/>
          <a:ln w="127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400" b="1" dirty="0">
                <a:solidFill>
                  <a:schemeClr val="tx1"/>
                </a:solidFill>
                <a:latin typeface="+mj-lt"/>
              </a:rPr>
              <a:t>0</a:t>
            </a:r>
            <a:endParaRPr lang="es-CL" sz="1400" b="1" dirty="0">
              <a:solidFill>
                <a:schemeClr val="tx1"/>
              </a:solidFill>
              <a:latin typeface="+mj-lt"/>
            </a:endParaRPr>
          </a:p>
        </p:txBody>
      </p:sp>
      <p:sp>
        <p:nvSpPr>
          <p:cNvPr id="40" name="Rounded Rectangle 93"/>
          <p:cNvSpPr/>
          <p:nvPr/>
        </p:nvSpPr>
        <p:spPr>
          <a:xfrm>
            <a:off x="7164288" y="3528432"/>
            <a:ext cx="792000" cy="548640"/>
          </a:xfrm>
          <a:prstGeom prst="roundRect">
            <a:avLst/>
          </a:prstGeom>
          <a:noFill/>
          <a:ln w="127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400" b="1" dirty="0">
                <a:solidFill>
                  <a:schemeClr val="tx1"/>
                </a:solidFill>
                <a:latin typeface="+mj-lt"/>
              </a:rPr>
              <a:t>497</a:t>
            </a:r>
            <a:endParaRPr lang="es-CL" sz="1400" b="1" dirty="0">
              <a:solidFill>
                <a:schemeClr val="tx1"/>
              </a:solidFill>
              <a:latin typeface="+mj-lt"/>
            </a:endParaRPr>
          </a:p>
        </p:txBody>
      </p:sp>
      <p:sp>
        <p:nvSpPr>
          <p:cNvPr id="41" name="Rounded Rectangle 93"/>
          <p:cNvSpPr/>
          <p:nvPr/>
        </p:nvSpPr>
        <p:spPr>
          <a:xfrm>
            <a:off x="8100480" y="3528432"/>
            <a:ext cx="792000" cy="548640"/>
          </a:xfrm>
          <a:prstGeom prst="roundRect">
            <a:avLst/>
          </a:prstGeom>
          <a:noFill/>
          <a:ln w="127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400" b="1" dirty="0">
                <a:solidFill>
                  <a:schemeClr val="tx1"/>
                </a:solidFill>
                <a:latin typeface="+mj-lt"/>
              </a:rPr>
              <a:t>1,944</a:t>
            </a:r>
            <a:endParaRPr lang="es-CL" sz="1400" b="1" dirty="0">
              <a:solidFill>
                <a:schemeClr val="tx1"/>
              </a:solidFill>
              <a:latin typeface="+mj-lt"/>
            </a:endParaRPr>
          </a:p>
        </p:txBody>
      </p:sp>
      <p:sp>
        <p:nvSpPr>
          <p:cNvPr id="42" name="Rounded Rectangle 93"/>
          <p:cNvSpPr/>
          <p:nvPr/>
        </p:nvSpPr>
        <p:spPr>
          <a:xfrm>
            <a:off x="7164288" y="4221088"/>
            <a:ext cx="792000" cy="548640"/>
          </a:xfrm>
          <a:prstGeom prst="roundRect">
            <a:avLst/>
          </a:prstGeom>
          <a:noFill/>
          <a:ln w="127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400" b="1" dirty="0">
                <a:solidFill>
                  <a:schemeClr val="tx1"/>
                </a:solidFill>
                <a:latin typeface="+mj-lt"/>
              </a:rPr>
              <a:t>5</a:t>
            </a:r>
            <a:endParaRPr lang="es-CL" sz="1400" b="1" dirty="0">
              <a:solidFill>
                <a:schemeClr val="tx1"/>
              </a:solidFill>
              <a:latin typeface="+mj-lt"/>
            </a:endParaRPr>
          </a:p>
        </p:txBody>
      </p:sp>
      <p:sp>
        <p:nvSpPr>
          <p:cNvPr id="43" name="Rounded Rectangle 93"/>
          <p:cNvSpPr/>
          <p:nvPr/>
        </p:nvSpPr>
        <p:spPr>
          <a:xfrm>
            <a:off x="8100480" y="4221088"/>
            <a:ext cx="792000" cy="548640"/>
          </a:xfrm>
          <a:prstGeom prst="roundRect">
            <a:avLst/>
          </a:prstGeom>
          <a:noFill/>
          <a:ln w="127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400" b="1" dirty="0">
                <a:solidFill>
                  <a:schemeClr val="tx1"/>
                </a:solidFill>
                <a:latin typeface="+mj-lt"/>
              </a:rPr>
              <a:t>6.5</a:t>
            </a:r>
            <a:endParaRPr lang="es-CL" sz="1400" b="1" dirty="0">
              <a:solidFill>
                <a:schemeClr val="tx1"/>
              </a:solidFill>
              <a:latin typeface="+mj-lt"/>
            </a:endParaRPr>
          </a:p>
        </p:txBody>
      </p:sp>
      <p:sp>
        <p:nvSpPr>
          <p:cNvPr id="44" name="Rounded Rectangle 93"/>
          <p:cNvSpPr/>
          <p:nvPr/>
        </p:nvSpPr>
        <p:spPr>
          <a:xfrm>
            <a:off x="7164288" y="5112608"/>
            <a:ext cx="792000" cy="548640"/>
          </a:xfrm>
          <a:prstGeom prst="roundRect">
            <a:avLst/>
          </a:prstGeom>
          <a:noFill/>
          <a:ln w="127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400" b="1" dirty="0">
                <a:solidFill>
                  <a:schemeClr val="tx1"/>
                </a:solidFill>
                <a:latin typeface="+mj-lt"/>
              </a:rPr>
              <a:t>119</a:t>
            </a:r>
            <a:endParaRPr lang="es-CL" sz="1400" b="1" dirty="0">
              <a:solidFill>
                <a:schemeClr val="tx1"/>
              </a:solidFill>
              <a:latin typeface="+mj-lt"/>
            </a:endParaRPr>
          </a:p>
        </p:txBody>
      </p:sp>
      <p:sp>
        <p:nvSpPr>
          <p:cNvPr id="45" name="Rounded Rectangle 93"/>
          <p:cNvSpPr/>
          <p:nvPr/>
        </p:nvSpPr>
        <p:spPr>
          <a:xfrm>
            <a:off x="8100480" y="5112608"/>
            <a:ext cx="792000" cy="548640"/>
          </a:xfrm>
          <a:prstGeom prst="roundRect">
            <a:avLst/>
          </a:prstGeom>
          <a:noFill/>
          <a:ln w="127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400" b="1" dirty="0">
                <a:solidFill>
                  <a:schemeClr val="tx1"/>
                </a:solidFill>
                <a:latin typeface="+mj-lt"/>
              </a:rPr>
              <a:t>1,664</a:t>
            </a:r>
            <a:endParaRPr lang="es-CL" sz="1400" b="1" dirty="0">
              <a:solidFill>
                <a:schemeClr val="tx1"/>
              </a:solidFill>
              <a:latin typeface="+mj-lt"/>
            </a:endParaRPr>
          </a:p>
        </p:txBody>
      </p:sp>
      <p:sp>
        <p:nvSpPr>
          <p:cNvPr id="46" name="Text Box 44"/>
          <p:cNvSpPr txBox="1">
            <a:spLocks noChangeArrowheads="1"/>
          </p:cNvSpPr>
          <p:nvPr/>
        </p:nvSpPr>
        <p:spPr bwMode="auto">
          <a:xfrm>
            <a:off x="7610039" y="764704"/>
            <a:ext cx="1354449" cy="230832"/>
          </a:xfrm>
          <a:prstGeom prst="rect">
            <a:avLst/>
          </a:prstGeom>
          <a:noFill/>
          <a:ln w="9525" algn="ctr">
            <a:noFill/>
            <a:miter lim="800000"/>
            <a:headEnd/>
            <a:tailEnd/>
          </a:ln>
          <a:effectLst/>
        </p:spPr>
        <p:txBody>
          <a:bodyPr wrap="square">
            <a:spAutoFit/>
          </a:bodyPr>
          <a:lstStyle/>
          <a:p>
            <a:r>
              <a:rPr lang="es-ES" sz="900" b="1" i="1" dirty="0">
                <a:solidFill>
                  <a:srgbClr val="525252"/>
                </a:solidFill>
              </a:rPr>
              <a:t>Miles de Nuevos Soles</a:t>
            </a:r>
            <a:endParaRPr lang="en-US" sz="900" b="1" i="1" dirty="0">
              <a:solidFill>
                <a:srgbClr val="525252"/>
              </a:solidFill>
            </a:endParaRPr>
          </a:p>
        </p:txBody>
      </p:sp>
      <p:sp>
        <p:nvSpPr>
          <p:cNvPr id="47" name="Rounded Rectangle 93"/>
          <p:cNvSpPr/>
          <p:nvPr/>
        </p:nvSpPr>
        <p:spPr>
          <a:xfrm>
            <a:off x="7164288" y="1412776"/>
            <a:ext cx="792000" cy="548640"/>
          </a:xfrm>
          <a:prstGeom prst="roundRect">
            <a:avLst/>
          </a:prstGeom>
          <a:noFill/>
          <a:ln w="127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400" b="1" dirty="0">
                <a:solidFill>
                  <a:schemeClr val="tx1"/>
                </a:solidFill>
                <a:latin typeface="+mj-lt"/>
              </a:rPr>
              <a:t>5,355</a:t>
            </a:r>
            <a:endParaRPr lang="es-CL" sz="1400" b="1" dirty="0">
              <a:solidFill>
                <a:schemeClr val="tx1"/>
              </a:solidFill>
              <a:latin typeface="+mj-lt"/>
            </a:endParaRPr>
          </a:p>
        </p:txBody>
      </p:sp>
      <p:sp>
        <p:nvSpPr>
          <p:cNvPr id="48" name="Rounded Rectangle 93"/>
          <p:cNvSpPr/>
          <p:nvPr/>
        </p:nvSpPr>
        <p:spPr>
          <a:xfrm>
            <a:off x="8100480" y="1412776"/>
            <a:ext cx="792000" cy="548640"/>
          </a:xfrm>
          <a:prstGeom prst="roundRect">
            <a:avLst/>
          </a:prstGeom>
          <a:noFill/>
          <a:ln w="127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400" b="1" dirty="0">
                <a:solidFill>
                  <a:schemeClr val="tx1"/>
                </a:solidFill>
                <a:latin typeface="+mj-lt"/>
              </a:rPr>
              <a:t>7,974</a:t>
            </a:r>
            <a:endParaRPr lang="es-CL" sz="1400" b="1" dirty="0">
              <a:solidFill>
                <a:schemeClr val="tx1"/>
              </a:solidFill>
              <a:latin typeface="+mj-lt"/>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Rectangle 7"/>
          <p:cNvSpPr>
            <a:spLocks noChangeArrowheads="1"/>
          </p:cNvSpPr>
          <p:nvPr/>
        </p:nvSpPr>
        <p:spPr bwMode="auto">
          <a:xfrm>
            <a:off x="4918801" y="980727"/>
            <a:ext cx="4104000" cy="5040561"/>
          </a:xfrm>
          <a:prstGeom prst="rect">
            <a:avLst/>
          </a:prstGeom>
          <a:solidFill>
            <a:schemeClr val="accent1">
              <a:lumMod val="20000"/>
              <a:lumOff val="80000"/>
            </a:schemeClr>
          </a:solidFill>
          <a:ln w="9525" algn="ctr">
            <a:noFill/>
            <a:miter lim="800000"/>
            <a:headEnd/>
            <a:tailEnd/>
          </a:ln>
          <a:effectLst>
            <a:prstShdw prst="shdw17" dist="17961" dir="2700000">
              <a:srgbClr val="DDDDDD">
                <a:gamma/>
                <a:shade val="60000"/>
                <a:invGamma/>
              </a:srgbClr>
            </a:prstShdw>
          </a:effectLst>
        </p:spPr>
        <p:txBody>
          <a:bodyPr wrap="none" anchor="ctr"/>
          <a:lstStyle/>
          <a:p>
            <a:pPr algn="ctr"/>
            <a:endParaRPr lang="es-ES" sz="1300" b="1" dirty="0">
              <a:solidFill>
                <a:srgbClr val="525252"/>
              </a:solidFill>
            </a:endParaRPr>
          </a:p>
        </p:txBody>
      </p:sp>
      <p:sp>
        <p:nvSpPr>
          <p:cNvPr id="12" name="Title 1"/>
          <p:cNvSpPr>
            <a:spLocks noGrp="1"/>
          </p:cNvSpPr>
          <p:nvPr>
            <p:ph type="title"/>
          </p:nvPr>
        </p:nvSpPr>
        <p:spPr>
          <a:xfrm>
            <a:off x="47625" y="32965"/>
            <a:ext cx="8217470" cy="587723"/>
          </a:xfrm>
        </p:spPr>
        <p:txBody>
          <a:bodyPr/>
          <a:lstStyle/>
          <a:p>
            <a:r>
              <a:rPr lang="es-ES" dirty="0"/>
              <a:t>Anexo: Árbol de Procesos</a:t>
            </a:r>
          </a:p>
        </p:txBody>
      </p:sp>
      <p:sp>
        <p:nvSpPr>
          <p:cNvPr id="15" name="Rounded Rectangle 31">
            <a:hlinkClick r:id="rId2" action="ppaction://hlinksldjump"/>
          </p:cNvPr>
          <p:cNvSpPr/>
          <p:nvPr/>
        </p:nvSpPr>
        <p:spPr>
          <a:xfrm>
            <a:off x="1638012" y="6322807"/>
            <a:ext cx="1080000" cy="360000"/>
          </a:xfrm>
          <a:prstGeom prst="roundRect">
            <a:avLst/>
          </a:prstGeom>
          <a:solidFill>
            <a:schemeClr val="bg1">
              <a:lumMod val="65000"/>
            </a:schemeClr>
          </a:solidFill>
          <a:ln w="25400" cap="sq" cmpd="sng">
            <a:solidFill>
              <a:schemeClr val="bg1">
                <a:lumMod val="75000"/>
              </a:schemeClr>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L" sz="800" b="1" i="1" dirty="0">
                <a:solidFill>
                  <a:schemeClr val="bg1"/>
                </a:solidFill>
                <a:cs typeface="Arial" pitchFamily="34" charset="0"/>
              </a:rPr>
              <a:t>Exposición al RO y Entorno de Control</a:t>
            </a:r>
          </a:p>
        </p:txBody>
      </p:sp>
      <p:sp>
        <p:nvSpPr>
          <p:cNvPr id="21" name="AutoShape 10"/>
          <p:cNvSpPr>
            <a:spLocks noChangeArrowheads="1"/>
          </p:cNvSpPr>
          <p:nvPr/>
        </p:nvSpPr>
        <p:spPr bwMode="auto">
          <a:xfrm rot="10800000">
            <a:off x="1187624" y="1233031"/>
            <a:ext cx="2304256" cy="2484000"/>
          </a:xfrm>
          <a:prstGeom prst="homePlate">
            <a:avLst>
              <a:gd name="adj" fmla="val 28726"/>
            </a:avLst>
          </a:prstGeom>
          <a:solidFill>
            <a:schemeClr val="accent1">
              <a:lumMod val="20000"/>
              <a:lumOff val="80000"/>
            </a:schemeClr>
          </a:solidFill>
          <a:ln w="12700">
            <a:solidFill>
              <a:srgbClr val="A9A9A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dirty="0">
              <a:solidFill>
                <a:schemeClr val="lt1"/>
              </a:solidFill>
            </a:endParaRPr>
          </a:p>
        </p:txBody>
      </p:sp>
      <p:sp>
        <p:nvSpPr>
          <p:cNvPr id="32" name="Rounded Rectangle 21"/>
          <p:cNvSpPr/>
          <p:nvPr/>
        </p:nvSpPr>
        <p:spPr>
          <a:xfrm>
            <a:off x="107504" y="2177009"/>
            <a:ext cx="1512000" cy="648000"/>
          </a:xfrm>
          <a:prstGeom prst="roundRect">
            <a:avLst/>
          </a:prstGeom>
          <a:solidFill>
            <a:srgbClr val="DB0613"/>
          </a:solidFill>
          <a:ln w="9525" algn="ctr">
            <a:noFill/>
            <a:miter lim="800000"/>
            <a:headEnd/>
            <a:tailEnd/>
          </a:ln>
          <a:effectLst>
            <a:prstShdw prst="shdw17" dist="17961" dir="2700000">
              <a:srgbClr val="DDDDDD">
                <a:gamma/>
                <a:shade val="60000"/>
                <a:invGamma/>
              </a:srgbClr>
            </a:prstShdw>
          </a:effectLst>
        </p:spPr>
        <p:txBody>
          <a:bodyPr wrap="none" anchor="ctr"/>
          <a:lstStyle/>
          <a:p>
            <a:pPr algn="ctr"/>
            <a:r>
              <a:rPr lang="es-ES" sz="1600" b="1" dirty="0">
                <a:solidFill>
                  <a:schemeClr val="bg1"/>
                </a:solidFill>
              </a:rPr>
              <a:t>Suscripción</a:t>
            </a:r>
          </a:p>
          <a:p>
            <a:pPr algn="ctr"/>
            <a:r>
              <a:rPr lang="es-ES" sz="1600" b="1" dirty="0">
                <a:solidFill>
                  <a:schemeClr val="bg1"/>
                </a:solidFill>
              </a:rPr>
              <a:t>Vehicular</a:t>
            </a:r>
          </a:p>
        </p:txBody>
      </p:sp>
      <p:sp>
        <p:nvSpPr>
          <p:cNvPr id="33" name="Rounded Rectangle 21"/>
          <p:cNvSpPr/>
          <p:nvPr/>
        </p:nvSpPr>
        <p:spPr>
          <a:xfrm>
            <a:off x="1843040" y="1340767"/>
            <a:ext cx="1548000" cy="648000"/>
          </a:xfrm>
          <a:prstGeom prst="roundRect">
            <a:avLst/>
          </a:prstGeom>
          <a:solidFill>
            <a:srgbClr val="DB0613"/>
          </a:solidFill>
          <a:ln w="9525" algn="ctr">
            <a:noFill/>
            <a:miter lim="800000"/>
            <a:headEnd/>
            <a:tailEnd/>
          </a:ln>
          <a:effectLst>
            <a:prstShdw prst="shdw17" dist="17961" dir="2700000">
              <a:srgbClr val="DDDDDD">
                <a:gamma/>
                <a:shade val="60000"/>
                <a:invGamma/>
              </a:srgbClr>
            </a:prstShdw>
          </a:effectLst>
        </p:spPr>
        <p:txBody>
          <a:bodyPr wrap="none" anchor="ctr"/>
          <a:lstStyle/>
          <a:p>
            <a:pPr algn="ctr"/>
            <a:r>
              <a:rPr lang="es-ES" sz="1400" b="1" dirty="0">
                <a:solidFill>
                  <a:schemeClr val="bg1"/>
                </a:solidFill>
              </a:rPr>
              <a:t>Evaluación de</a:t>
            </a:r>
          </a:p>
          <a:p>
            <a:pPr algn="ctr"/>
            <a:r>
              <a:rPr lang="es-ES" sz="1400" b="1" dirty="0">
                <a:solidFill>
                  <a:schemeClr val="bg1"/>
                </a:solidFill>
              </a:rPr>
              <a:t> Solicitudes de</a:t>
            </a:r>
          </a:p>
          <a:p>
            <a:pPr algn="ctr"/>
            <a:r>
              <a:rPr lang="es-ES" sz="1400" b="1" dirty="0">
                <a:solidFill>
                  <a:schemeClr val="bg1"/>
                </a:solidFill>
              </a:rPr>
              <a:t>Cotización</a:t>
            </a:r>
          </a:p>
        </p:txBody>
      </p:sp>
      <p:sp>
        <p:nvSpPr>
          <p:cNvPr id="34" name="Rounded Rectangle 21"/>
          <p:cNvSpPr/>
          <p:nvPr/>
        </p:nvSpPr>
        <p:spPr>
          <a:xfrm>
            <a:off x="1843040" y="2177009"/>
            <a:ext cx="1548000" cy="648000"/>
          </a:xfrm>
          <a:prstGeom prst="roundRect">
            <a:avLst/>
          </a:prstGeom>
          <a:solidFill>
            <a:srgbClr val="DB0613"/>
          </a:solidFill>
          <a:ln w="9525" algn="ctr">
            <a:noFill/>
            <a:miter lim="800000"/>
            <a:headEnd/>
            <a:tailEnd/>
          </a:ln>
          <a:effectLst>
            <a:prstShdw prst="shdw17" dist="17961" dir="2700000">
              <a:srgbClr val="DDDDDD">
                <a:gamma/>
                <a:shade val="60000"/>
                <a:invGamma/>
              </a:srgbClr>
            </a:prstShdw>
          </a:effectLst>
        </p:spPr>
        <p:txBody>
          <a:bodyPr wrap="none" anchor="ctr"/>
          <a:lstStyle/>
          <a:p>
            <a:pPr algn="ctr"/>
            <a:r>
              <a:rPr lang="es-ES" sz="1400" b="1" dirty="0">
                <a:solidFill>
                  <a:schemeClr val="bg1"/>
                </a:solidFill>
              </a:rPr>
              <a:t>Cotización</a:t>
            </a:r>
          </a:p>
          <a:p>
            <a:pPr algn="ctr"/>
            <a:r>
              <a:rPr lang="es-ES" sz="1400" b="1" dirty="0">
                <a:solidFill>
                  <a:schemeClr val="bg1"/>
                </a:solidFill>
              </a:rPr>
              <a:t>Fuera de políticas</a:t>
            </a:r>
          </a:p>
        </p:txBody>
      </p:sp>
      <p:sp>
        <p:nvSpPr>
          <p:cNvPr id="35" name="Rounded Rectangle 21"/>
          <p:cNvSpPr/>
          <p:nvPr/>
        </p:nvSpPr>
        <p:spPr>
          <a:xfrm>
            <a:off x="1843040" y="2977409"/>
            <a:ext cx="1548000" cy="648000"/>
          </a:xfrm>
          <a:prstGeom prst="roundRect">
            <a:avLst/>
          </a:prstGeom>
          <a:solidFill>
            <a:srgbClr val="DB0613"/>
          </a:solidFill>
          <a:ln w="9525" algn="ctr">
            <a:noFill/>
            <a:miter lim="800000"/>
            <a:headEnd/>
            <a:tailEnd/>
          </a:ln>
          <a:effectLst>
            <a:prstShdw prst="shdw17" dist="17961" dir="2700000">
              <a:srgbClr val="DDDDDD">
                <a:gamma/>
                <a:shade val="60000"/>
                <a:invGamma/>
              </a:srgbClr>
            </a:prstShdw>
          </a:effectLst>
        </p:spPr>
        <p:txBody>
          <a:bodyPr wrap="none" anchor="ctr"/>
          <a:lstStyle/>
          <a:p>
            <a:pPr algn="ctr"/>
            <a:r>
              <a:rPr lang="es-ES" sz="1400" b="1" dirty="0">
                <a:solidFill>
                  <a:schemeClr val="bg1"/>
                </a:solidFill>
              </a:rPr>
              <a:t>Inspección Técnica</a:t>
            </a:r>
          </a:p>
        </p:txBody>
      </p:sp>
      <p:grpSp>
        <p:nvGrpSpPr>
          <p:cNvPr id="36" name="58 Grupo"/>
          <p:cNvGrpSpPr/>
          <p:nvPr/>
        </p:nvGrpSpPr>
        <p:grpSpPr>
          <a:xfrm>
            <a:off x="3347865" y="2977409"/>
            <a:ext cx="1440000" cy="648000"/>
            <a:chOff x="3491881" y="1281851"/>
            <a:chExt cx="1620000" cy="648000"/>
          </a:xfrm>
        </p:grpSpPr>
        <p:sp>
          <p:nvSpPr>
            <p:cNvPr id="37" name="AutoShape 10"/>
            <p:cNvSpPr>
              <a:spLocks noChangeArrowheads="1"/>
            </p:cNvSpPr>
            <p:nvPr/>
          </p:nvSpPr>
          <p:spPr bwMode="auto">
            <a:xfrm rot="10800000">
              <a:off x="3491881" y="1281851"/>
              <a:ext cx="1620000" cy="648000"/>
            </a:xfrm>
            <a:prstGeom prst="homePlate">
              <a:avLst>
                <a:gd name="adj" fmla="val 28726"/>
              </a:avLst>
            </a:prstGeom>
            <a:solidFill>
              <a:schemeClr val="bg1"/>
            </a:solidFill>
            <a:ln w="9525" algn="ctr">
              <a:noFill/>
              <a:miter lim="800000"/>
              <a:headEnd/>
              <a:tailEnd/>
            </a:ln>
            <a:effectLst>
              <a:prstShdw prst="shdw17" dist="17961" dir="2700000">
                <a:srgbClr val="DDDDDD">
                  <a:gamma/>
                  <a:shade val="60000"/>
                  <a:invGamma/>
                </a:srgbClr>
              </a:prstShdw>
            </a:effectLst>
          </p:spPr>
          <p:txBody>
            <a:bodyPr wrap="none" anchor="ctr"/>
            <a:lstStyle/>
            <a:p>
              <a:pPr algn="ctr"/>
              <a:endParaRPr lang="en-US" sz="1300" b="1" dirty="0">
                <a:solidFill>
                  <a:schemeClr val="bg1"/>
                </a:solidFill>
              </a:endParaRPr>
            </a:p>
          </p:txBody>
        </p:sp>
        <p:sp>
          <p:nvSpPr>
            <p:cNvPr id="38" name="Rectangle 7"/>
            <p:cNvSpPr>
              <a:spLocks noChangeArrowheads="1"/>
            </p:cNvSpPr>
            <p:nvPr/>
          </p:nvSpPr>
          <p:spPr bwMode="auto">
            <a:xfrm>
              <a:off x="3838625" y="1281851"/>
              <a:ext cx="1224000" cy="648000"/>
            </a:xfrm>
            <a:prstGeom prst="rect">
              <a:avLst/>
            </a:prstGeom>
            <a:noFill/>
            <a:ln w="9525" algn="ctr">
              <a:noFill/>
              <a:miter lim="800000"/>
              <a:headEnd/>
              <a:tailEnd/>
            </a:ln>
            <a:effectLst>
              <a:prstShdw prst="shdw17" dist="17961" dir="2700000">
                <a:srgbClr val="DDDDDD">
                  <a:gamma/>
                  <a:shade val="60000"/>
                  <a:invGamma/>
                </a:srgbClr>
              </a:prstShdw>
            </a:effectLst>
          </p:spPr>
          <p:txBody>
            <a:bodyPr wrap="none" anchor="ctr"/>
            <a:lstStyle/>
            <a:p>
              <a:r>
                <a:rPr lang="es-PE" sz="1400" b="1" dirty="0"/>
                <a:t>Riesgos : 10</a:t>
              </a:r>
            </a:p>
            <a:p>
              <a:r>
                <a:rPr lang="es-PE" sz="1400" b="1" dirty="0"/>
                <a:t>Controles: 3</a:t>
              </a:r>
              <a:endParaRPr lang="es-ES" sz="1400" b="1" dirty="0"/>
            </a:p>
          </p:txBody>
        </p:sp>
        <p:sp>
          <p:nvSpPr>
            <p:cNvPr id="39" name="AutoShape 92"/>
            <p:cNvSpPr>
              <a:spLocks noChangeArrowheads="1"/>
            </p:cNvSpPr>
            <p:nvPr/>
          </p:nvSpPr>
          <p:spPr bwMode="auto">
            <a:xfrm>
              <a:off x="3712253" y="1628800"/>
              <a:ext cx="180000" cy="180000"/>
            </a:xfrm>
            <a:prstGeom prst="diamond">
              <a:avLst/>
            </a:prstGeom>
            <a:solidFill>
              <a:srgbClr val="009644"/>
            </a:solidFill>
            <a:ln w="9525" algn="ctr">
              <a:noFill/>
              <a:miter lim="800000"/>
              <a:headEnd/>
              <a:tailEnd/>
            </a:ln>
            <a:effectLst/>
          </p:spPr>
          <p:txBody>
            <a:bodyPr wrap="none" anchor="ctr"/>
            <a:lstStyle/>
            <a:p>
              <a:pPr algn="ctr"/>
              <a:endParaRPr lang="en-US" sz="1000" b="1" dirty="0">
                <a:solidFill>
                  <a:schemeClr val="bg1"/>
                </a:solidFill>
              </a:endParaRPr>
            </a:p>
          </p:txBody>
        </p:sp>
        <p:sp>
          <p:nvSpPr>
            <p:cNvPr id="40" name="Rounded Rectangle 139"/>
            <p:cNvSpPr/>
            <p:nvPr/>
          </p:nvSpPr>
          <p:spPr>
            <a:xfrm>
              <a:off x="3712253" y="1381102"/>
              <a:ext cx="180000" cy="180000"/>
            </a:xfrm>
            <a:prstGeom prst="roundRect">
              <a:avLst/>
            </a:prstGeom>
            <a:solidFill>
              <a:srgbClr val="F26D00"/>
            </a:solidFill>
            <a:ln w="9525" algn="ctr">
              <a:noFill/>
              <a:round/>
              <a:headEnd/>
              <a:tailEnd/>
            </a:ln>
            <a:effectLst/>
          </p:spPr>
          <p:txBody>
            <a:bodyPr wrap="none" anchor="ctr"/>
            <a:lstStyle/>
            <a:p>
              <a:pPr algn="ctr"/>
              <a:endParaRPr lang="es-ES" sz="1000" b="1" dirty="0">
                <a:solidFill>
                  <a:schemeClr val="bg1"/>
                </a:solidFill>
              </a:endParaRPr>
            </a:p>
          </p:txBody>
        </p:sp>
      </p:grpSp>
      <p:sp>
        <p:nvSpPr>
          <p:cNvPr id="42" name="AutoShape 10"/>
          <p:cNvSpPr>
            <a:spLocks noChangeArrowheads="1"/>
          </p:cNvSpPr>
          <p:nvPr/>
        </p:nvSpPr>
        <p:spPr bwMode="auto">
          <a:xfrm rot="10800000">
            <a:off x="4716016" y="2977410"/>
            <a:ext cx="1260000" cy="647999"/>
          </a:xfrm>
          <a:prstGeom prst="homePlate">
            <a:avLst>
              <a:gd name="adj" fmla="val 28726"/>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dirty="0">
              <a:solidFill>
                <a:schemeClr val="lt1"/>
              </a:solidFill>
            </a:endParaRPr>
          </a:p>
        </p:txBody>
      </p:sp>
      <p:sp>
        <p:nvSpPr>
          <p:cNvPr id="44" name="Rectangle 7"/>
          <p:cNvSpPr>
            <a:spLocks noChangeArrowheads="1"/>
          </p:cNvSpPr>
          <p:nvPr/>
        </p:nvSpPr>
        <p:spPr bwMode="auto">
          <a:xfrm>
            <a:off x="4986931" y="1340766"/>
            <a:ext cx="2016000" cy="456000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marL="228600" indent="-228600" algn="just">
              <a:buFont typeface="+mj-lt"/>
              <a:buAutoNum type="arabicParenR" startAt="7"/>
            </a:pPr>
            <a:r>
              <a:rPr lang="es-ES" sz="1100" dirty="0">
                <a:solidFill>
                  <a:schemeClr val="tx1"/>
                </a:solidFill>
              </a:rPr>
              <a:t>Captura errónea de los datos de inspección por parte del inspector al momento de adjuntarlo al trámite. </a:t>
            </a:r>
          </a:p>
          <a:p>
            <a:pPr marL="228600" indent="-228600" algn="just">
              <a:buFont typeface="+mj-lt"/>
              <a:buAutoNum type="arabicParenR" startAt="7"/>
            </a:pPr>
            <a:r>
              <a:rPr lang="es-ES" sz="1100" dirty="0">
                <a:solidFill>
                  <a:schemeClr val="tx1"/>
                </a:solidFill>
              </a:rPr>
              <a:t>Jefe de Gestión Operativa de Vehículos no puede revisar los trámites o informes de inspección por alguna caída del sistema (WF).</a:t>
            </a:r>
          </a:p>
          <a:p>
            <a:pPr marL="228600" indent="-228600" algn="just">
              <a:buFont typeface="+mj-lt"/>
              <a:buAutoNum type="arabicParenR" startAt="7"/>
            </a:pPr>
            <a:r>
              <a:rPr lang="es-ES" sz="1100" dirty="0">
                <a:solidFill>
                  <a:schemeClr val="tx1"/>
                </a:solidFill>
              </a:rPr>
              <a:t>El proveedor no envía a Rímac la documentación física que sustenta la inspección técnica del vehículo, cargo de la póliza y documentos de cobranza.</a:t>
            </a:r>
          </a:p>
          <a:p>
            <a:pPr marL="228600" indent="-228600" algn="just">
              <a:buFont typeface="+mj-lt"/>
              <a:buAutoNum type="arabicParenR" startAt="7"/>
            </a:pPr>
            <a:r>
              <a:rPr lang="es-ES" sz="1100" dirty="0">
                <a:solidFill>
                  <a:schemeClr val="tx1"/>
                </a:solidFill>
              </a:rPr>
              <a:t>Retraso en las actividades del Coordinador de Procesos de Emisión debido a incumplimientos en plazos por parte de CGS (proveedor).</a:t>
            </a:r>
          </a:p>
          <a:p>
            <a:pPr marL="228600" indent="-228600" algn="just"/>
            <a:endParaRPr lang="es-ES" sz="1100" dirty="0">
              <a:solidFill>
                <a:schemeClr val="tx1"/>
              </a:solidFill>
            </a:endParaRPr>
          </a:p>
        </p:txBody>
      </p:sp>
      <p:sp>
        <p:nvSpPr>
          <p:cNvPr id="45" name="Rectangle 7"/>
          <p:cNvSpPr>
            <a:spLocks noChangeArrowheads="1"/>
          </p:cNvSpPr>
          <p:nvPr/>
        </p:nvSpPr>
        <p:spPr bwMode="auto">
          <a:xfrm>
            <a:off x="4986931" y="1030207"/>
            <a:ext cx="2016000" cy="252000"/>
          </a:xfrm>
          <a:prstGeom prst="rect">
            <a:avLst/>
          </a:prstGeom>
          <a:solidFill>
            <a:schemeClr val="tx1">
              <a:lumMod val="50000"/>
              <a:lumOff val="50000"/>
            </a:schemeClr>
          </a:solidFill>
          <a:ln w="9525" algn="ctr">
            <a:noFill/>
            <a:miter lim="800000"/>
            <a:headEnd/>
            <a:tailEnd/>
          </a:ln>
          <a:effectLst>
            <a:prstShdw prst="shdw17" dist="17961" dir="2700000">
              <a:srgbClr val="DDDDDD">
                <a:gamma/>
                <a:shade val="60000"/>
                <a:invGamma/>
              </a:srgbClr>
            </a:prstShdw>
          </a:effectLst>
        </p:spPr>
        <p:txBody>
          <a:bodyPr wrap="none" anchor="ctr"/>
          <a:lstStyle/>
          <a:p>
            <a:pPr algn="ctr"/>
            <a:r>
              <a:rPr lang="es-ES" sz="1300" b="1" dirty="0">
                <a:solidFill>
                  <a:schemeClr val="bg1"/>
                </a:solidFill>
              </a:rPr>
              <a:t>Riesgos</a:t>
            </a:r>
          </a:p>
        </p:txBody>
      </p:sp>
      <p:sp>
        <p:nvSpPr>
          <p:cNvPr id="22" name="Rectangle 7"/>
          <p:cNvSpPr>
            <a:spLocks noChangeArrowheads="1"/>
          </p:cNvSpPr>
          <p:nvPr/>
        </p:nvSpPr>
        <p:spPr bwMode="auto">
          <a:xfrm>
            <a:off x="7114697" y="1030207"/>
            <a:ext cx="900000" cy="252000"/>
          </a:xfrm>
          <a:prstGeom prst="rect">
            <a:avLst/>
          </a:prstGeom>
          <a:solidFill>
            <a:schemeClr val="tx1">
              <a:lumMod val="50000"/>
              <a:lumOff val="50000"/>
            </a:schemeClr>
          </a:solidFill>
          <a:ln w="9525" algn="ctr">
            <a:noFill/>
            <a:miter lim="800000"/>
            <a:headEnd/>
            <a:tailEnd/>
          </a:ln>
          <a:effectLst>
            <a:prstShdw prst="shdw17" dist="17961" dir="2700000">
              <a:srgbClr val="DDDDDD">
                <a:gamma/>
                <a:shade val="60000"/>
                <a:invGamma/>
              </a:srgbClr>
            </a:prstShdw>
          </a:effectLst>
        </p:spPr>
        <p:txBody>
          <a:bodyPr wrap="none" anchor="ctr"/>
          <a:lstStyle/>
          <a:p>
            <a:pPr algn="ctr"/>
            <a:r>
              <a:rPr lang="es-PE" sz="1300" b="1" dirty="0">
                <a:solidFill>
                  <a:schemeClr val="bg1"/>
                </a:solidFill>
              </a:rPr>
              <a:t>PEA</a:t>
            </a:r>
            <a:endParaRPr lang="es-ES" sz="1300" b="1" dirty="0">
              <a:solidFill>
                <a:schemeClr val="bg1"/>
              </a:solidFill>
            </a:endParaRPr>
          </a:p>
        </p:txBody>
      </p:sp>
      <p:sp>
        <p:nvSpPr>
          <p:cNvPr id="23" name="Rectangle 7"/>
          <p:cNvSpPr>
            <a:spLocks noChangeArrowheads="1"/>
          </p:cNvSpPr>
          <p:nvPr/>
        </p:nvSpPr>
        <p:spPr bwMode="auto">
          <a:xfrm>
            <a:off x="7114697" y="1340766"/>
            <a:ext cx="900000" cy="456000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marL="228600" indent="-228600" algn="just"/>
            <a:endParaRPr lang="es-ES" sz="1100" dirty="0">
              <a:solidFill>
                <a:schemeClr val="tx1"/>
              </a:solidFill>
            </a:endParaRPr>
          </a:p>
        </p:txBody>
      </p:sp>
      <p:sp>
        <p:nvSpPr>
          <p:cNvPr id="24" name="Rectangle 7"/>
          <p:cNvSpPr>
            <a:spLocks noChangeArrowheads="1"/>
          </p:cNvSpPr>
          <p:nvPr/>
        </p:nvSpPr>
        <p:spPr bwMode="auto">
          <a:xfrm>
            <a:off x="8064488" y="1030207"/>
            <a:ext cx="900000" cy="252000"/>
          </a:xfrm>
          <a:prstGeom prst="rect">
            <a:avLst/>
          </a:prstGeom>
          <a:solidFill>
            <a:schemeClr val="tx1">
              <a:lumMod val="50000"/>
              <a:lumOff val="50000"/>
            </a:schemeClr>
          </a:solidFill>
          <a:ln w="9525" algn="ctr">
            <a:noFill/>
            <a:miter lim="800000"/>
            <a:headEnd/>
            <a:tailEnd/>
          </a:ln>
          <a:effectLst>
            <a:prstShdw prst="shdw17" dist="17961" dir="2700000">
              <a:srgbClr val="DDDDDD">
                <a:gamma/>
                <a:shade val="60000"/>
                <a:invGamma/>
              </a:srgbClr>
            </a:prstShdw>
          </a:effectLst>
        </p:spPr>
        <p:txBody>
          <a:bodyPr wrap="none" anchor="ctr"/>
          <a:lstStyle/>
          <a:p>
            <a:pPr algn="ctr"/>
            <a:r>
              <a:rPr lang="es-PE" sz="1300" b="1" dirty="0" err="1">
                <a:solidFill>
                  <a:schemeClr val="bg1"/>
                </a:solidFill>
              </a:rPr>
              <a:t>VaR</a:t>
            </a:r>
            <a:endParaRPr lang="es-ES" sz="1300" b="1" dirty="0">
              <a:solidFill>
                <a:schemeClr val="bg1"/>
              </a:solidFill>
            </a:endParaRPr>
          </a:p>
        </p:txBody>
      </p:sp>
      <p:sp>
        <p:nvSpPr>
          <p:cNvPr id="25" name="Rectangle 7"/>
          <p:cNvSpPr>
            <a:spLocks noChangeArrowheads="1"/>
          </p:cNvSpPr>
          <p:nvPr/>
        </p:nvSpPr>
        <p:spPr bwMode="auto">
          <a:xfrm>
            <a:off x="8064488" y="1340766"/>
            <a:ext cx="900000" cy="456000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marL="228600" indent="-228600" algn="just"/>
            <a:endParaRPr lang="es-ES" sz="1100" dirty="0">
              <a:solidFill>
                <a:schemeClr val="tx1"/>
              </a:solidFill>
            </a:endParaRPr>
          </a:p>
        </p:txBody>
      </p:sp>
      <p:sp>
        <p:nvSpPr>
          <p:cNvPr id="26" name="Rounded Rectangle 93"/>
          <p:cNvSpPr/>
          <p:nvPr/>
        </p:nvSpPr>
        <p:spPr>
          <a:xfrm>
            <a:off x="7164288" y="1412776"/>
            <a:ext cx="792000" cy="548640"/>
          </a:xfrm>
          <a:prstGeom prst="roundRect">
            <a:avLst/>
          </a:prstGeom>
          <a:noFill/>
          <a:ln w="127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400" b="1" dirty="0">
                <a:solidFill>
                  <a:schemeClr val="tx1"/>
                </a:solidFill>
                <a:latin typeface="+mj-lt"/>
              </a:rPr>
              <a:t>39.7</a:t>
            </a:r>
            <a:endParaRPr lang="es-CL" sz="1400" b="1" dirty="0">
              <a:solidFill>
                <a:schemeClr val="tx1"/>
              </a:solidFill>
              <a:latin typeface="+mj-lt"/>
            </a:endParaRPr>
          </a:p>
        </p:txBody>
      </p:sp>
      <p:sp>
        <p:nvSpPr>
          <p:cNvPr id="27" name="Rounded Rectangle 93"/>
          <p:cNvSpPr/>
          <p:nvPr/>
        </p:nvSpPr>
        <p:spPr>
          <a:xfrm>
            <a:off x="8100480" y="1412776"/>
            <a:ext cx="792000" cy="548640"/>
          </a:xfrm>
          <a:prstGeom prst="roundRect">
            <a:avLst/>
          </a:prstGeom>
          <a:noFill/>
          <a:ln w="127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400" b="1" dirty="0">
                <a:solidFill>
                  <a:schemeClr val="tx1"/>
                </a:solidFill>
                <a:latin typeface="+mj-lt"/>
              </a:rPr>
              <a:t>1,037</a:t>
            </a:r>
            <a:endParaRPr lang="es-CL" sz="1400" b="1" dirty="0">
              <a:solidFill>
                <a:schemeClr val="tx1"/>
              </a:solidFill>
              <a:latin typeface="+mj-lt"/>
            </a:endParaRPr>
          </a:p>
        </p:txBody>
      </p:sp>
      <p:sp>
        <p:nvSpPr>
          <p:cNvPr id="28" name="Rounded Rectangle 93"/>
          <p:cNvSpPr/>
          <p:nvPr/>
        </p:nvSpPr>
        <p:spPr>
          <a:xfrm>
            <a:off x="7164288" y="2448312"/>
            <a:ext cx="792000" cy="548640"/>
          </a:xfrm>
          <a:prstGeom prst="roundRect">
            <a:avLst/>
          </a:prstGeom>
          <a:noFill/>
          <a:ln w="127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400" b="1" dirty="0">
                <a:solidFill>
                  <a:schemeClr val="tx1"/>
                </a:solidFill>
                <a:latin typeface="+mj-lt"/>
              </a:rPr>
              <a:t>159</a:t>
            </a:r>
            <a:endParaRPr lang="es-CL" sz="1400" b="1" dirty="0">
              <a:solidFill>
                <a:schemeClr val="tx1"/>
              </a:solidFill>
              <a:latin typeface="+mj-lt"/>
            </a:endParaRPr>
          </a:p>
        </p:txBody>
      </p:sp>
      <p:sp>
        <p:nvSpPr>
          <p:cNvPr id="29" name="Rounded Rectangle 93"/>
          <p:cNvSpPr/>
          <p:nvPr/>
        </p:nvSpPr>
        <p:spPr>
          <a:xfrm>
            <a:off x="8100480" y="2448312"/>
            <a:ext cx="792000" cy="548640"/>
          </a:xfrm>
          <a:prstGeom prst="roundRect">
            <a:avLst/>
          </a:prstGeom>
          <a:noFill/>
          <a:ln w="127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400" b="1" dirty="0">
                <a:solidFill>
                  <a:schemeClr val="tx1"/>
                </a:solidFill>
                <a:latin typeface="+mj-lt"/>
              </a:rPr>
              <a:t>430</a:t>
            </a:r>
            <a:endParaRPr lang="es-CL" sz="1400" b="1" dirty="0">
              <a:solidFill>
                <a:schemeClr val="tx1"/>
              </a:solidFill>
              <a:latin typeface="+mj-lt"/>
            </a:endParaRPr>
          </a:p>
        </p:txBody>
      </p:sp>
      <p:sp>
        <p:nvSpPr>
          <p:cNvPr id="41" name="Rounded Rectangle 93"/>
          <p:cNvSpPr/>
          <p:nvPr/>
        </p:nvSpPr>
        <p:spPr>
          <a:xfrm>
            <a:off x="7164288" y="3429000"/>
            <a:ext cx="792000" cy="548640"/>
          </a:xfrm>
          <a:prstGeom prst="roundRect">
            <a:avLst/>
          </a:prstGeom>
          <a:noFill/>
          <a:ln w="127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400" b="1" dirty="0">
                <a:solidFill>
                  <a:schemeClr val="tx1"/>
                </a:solidFill>
                <a:latin typeface="+mj-lt"/>
              </a:rPr>
              <a:t>99.4</a:t>
            </a:r>
            <a:endParaRPr lang="es-CL" sz="1400" b="1" dirty="0">
              <a:solidFill>
                <a:schemeClr val="tx1"/>
              </a:solidFill>
              <a:latin typeface="+mj-lt"/>
            </a:endParaRPr>
          </a:p>
        </p:txBody>
      </p:sp>
      <p:sp>
        <p:nvSpPr>
          <p:cNvPr id="43" name="Rounded Rectangle 93"/>
          <p:cNvSpPr/>
          <p:nvPr/>
        </p:nvSpPr>
        <p:spPr>
          <a:xfrm>
            <a:off x="8100480" y="3429000"/>
            <a:ext cx="792000" cy="548640"/>
          </a:xfrm>
          <a:prstGeom prst="roundRect">
            <a:avLst/>
          </a:prstGeom>
          <a:noFill/>
          <a:ln w="127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400" b="1" dirty="0">
                <a:solidFill>
                  <a:schemeClr val="tx1"/>
                </a:solidFill>
                <a:latin typeface="+mj-lt"/>
              </a:rPr>
              <a:t>1,467</a:t>
            </a:r>
            <a:endParaRPr lang="es-CL" sz="1400" b="1" dirty="0">
              <a:solidFill>
                <a:schemeClr val="tx1"/>
              </a:solidFill>
              <a:latin typeface="+mj-lt"/>
            </a:endParaRPr>
          </a:p>
        </p:txBody>
      </p:sp>
      <p:sp>
        <p:nvSpPr>
          <p:cNvPr id="46" name="Text Box 44"/>
          <p:cNvSpPr txBox="1">
            <a:spLocks noChangeArrowheads="1"/>
          </p:cNvSpPr>
          <p:nvPr/>
        </p:nvSpPr>
        <p:spPr bwMode="auto">
          <a:xfrm>
            <a:off x="7610039" y="764704"/>
            <a:ext cx="1354449" cy="230832"/>
          </a:xfrm>
          <a:prstGeom prst="rect">
            <a:avLst/>
          </a:prstGeom>
          <a:noFill/>
          <a:ln w="9525" algn="ctr">
            <a:noFill/>
            <a:miter lim="800000"/>
            <a:headEnd/>
            <a:tailEnd/>
          </a:ln>
          <a:effectLst/>
        </p:spPr>
        <p:txBody>
          <a:bodyPr wrap="square">
            <a:spAutoFit/>
          </a:bodyPr>
          <a:lstStyle/>
          <a:p>
            <a:r>
              <a:rPr lang="es-ES" sz="900" b="1" i="1" dirty="0">
                <a:solidFill>
                  <a:srgbClr val="525252"/>
                </a:solidFill>
              </a:rPr>
              <a:t>Miles de Nuevos Soles</a:t>
            </a:r>
            <a:endParaRPr lang="en-US" sz="900" b="1" i="1" dirty="0">
              <a:solidFill>
                <a:srgbClr val="525252"/>
              </a:solidFill>
            </a:endParaRPr>
          </a:p>
        </p:txBody>
      </p:sp>
      <p:sp>
        <p:nvSpPr>
          <p:cNvPr id="47" name="Rounded Rectangle 93"/>
          <p:cNvSpPr/>
          <p:nvPr/>
        </p:nvSpPr>
        <p:spPr>
          <a:xfrm>
            <a:off x="7164288" y="4337680"/>
            <a:ext cx="792000" cy="548640"/>
          </a:xfrm>
          <a:prstGeom prst="roundRect">
            <a:avLst/>
          </a:prstGeom>
          <a:noFill/>
          <a:ln w="127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400" b="1" dirty="0">
                <a:solidFill>
                  <a:schemeClr val="tx1"/>
                </a:solidFill>
                <a:latin typeface="+mj-lt"/>
              </a:rPr>
              <a:t>124</a:t>
            </a:r>
            <a:endParaRPr lang="es-CL" sz="1400" b="1" dirty="0">
              <a:solidFill>
                <a:schemeClr val="tx1"/>
              </a:solidFill>
              <a:latin typeface="+mj-lt"/>
            </a:endParaRPr>
          </a:p>
        </p:txBody>
      </p:sp>
      <p:sp>
        <p:nvSpPr>
          <p:cNvPr id="48" name="Rounded Rectangle 93"/>
          <p:cNvSpPr/>
          <p:nvPr/>
        </p:nvSpPr>
        <p:spPr>
          <a:xfrm>
            <a:off x="8100480" y="4337680"/>
            <a:ext cx="792000" cy="548640"/>
          </a:xfrm>
          <a:prstGeom prst="roundRect">
            <a:avLst/>
          </a:prstGeom>
          <a:noFill/>
          <a:ln w="127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400" b="1" dirty="0">
                <a:solidFill>
                  <a:schemeClr val="tx1"/>
                </a:solidFill>
                <a:latin typeface="+mj-lt"/>
              </a:rPr>
              <a:t>1,114</a:t>
            </a:r>
            <a:endParaRPr lang="es-CL" sz="1400" b="1" dirty="0">
              <a:solidFill>
                <a:schemeClr val="tx1"/>
              </a:solidFill>
              <a:latin typeface="+mj-lt"/>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1"/>
          <p:cNvSpPr>
            <a:spLocks noGrp="1"/>
          </p:cNvSpPr>
          <p:nvPr>
            <p:ph type="title"/>
          </p:nvPr>
        </p:nvSpPr>
        <p:spPr>
          <a:xfrm>
            <a:off x="47625" y="32965"/>
            <a:ext cx="8217470" cy="587723"/>
          </a:xfrm>
        </p:spPr>
        <p:txBody>
          <a:bodyPr/>
          <a:lstStyle/>
          <a:p>
            <a:r>
              <a:rPr lang="es-ES" dirty="0"/>
              <a:t>Anexo: Árbol de Procesos</a:t>
            </a:r>
          </a:p>
        </p:txBody>
      </p:sp>
      <p:sp>
        <p:nvSpPr>
          <p:cNvPr id="11" name="AutoShape 10"/>
          <p:cNvSpPr>
            <a:spLocks noChangeArrowheads="1"/>
          </p:cNvSpPr>
          <p:nvPr/>
        </p:nvSpPr>
        <p:spPr bwMode="auto">
          <a:xfrm rot="10800000">
            <a:off x="2699951" y="1809095"/>
            <a:ext cx="2304256" cy="2484000"/>
          </a:xfrm>
          <a:prstGeom prst="homePlate">
            <a:avLst>
              <a:gd name="adj" fmla="val 28726"/>
            </a:avLst>
          </a:prstGeom>
          <a:solidFill>
            <a:schemeClr val="accent1">
              <a:lumMod val="20000"/>
              <a:lumOff val="80000"/>
            </a:schemeClr>
          </a:solidFill>
          <a:ln w="12700">
            <a:solidFill>
              <a:srgbClr val="A9A9A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dirty="0">
              <a:solidFill>
                <a:schemeClr val="lt1"/>
              </a:solidFill>
            </a:endParaRPr>
          </a:p>
        </p:txBody>
      </p:sp>
      <p:sp>
        <p:nvSpPr>
          <p:cNvPr id="12" name="Rounded Rectangle 21"/>
          <p:cNvSpPr/>
          <p:nvPr/>
        </p:nvSpPr>
        <p:spPr>
          <a:xfrm>
            <a:off x="1619831" y="2753073"/>
            <a:ext cx="1512000" cy="648000"/>
          </a:xfrm>
          <a:prstGeom prst="roundRect">
            <a:avLst/>
          </a:prstGeom>
          <a:solidFill>
            <a:srgbClr val="DB0613"/>
          </a:solidFill>
          <a:ln w="9525" algn="ctr">
            <a:noFill/>
            <a:miter lim="800000"/>
            <a:headEnd/>
            <a:tailEnd/>
          </a:ln>
          <a:effectLst>
            <a:prstShdw prst="shdw17" dist="17961" dir="2700000">
              <a:srgbClr val="DDDDDD">
                <a:gamma/>
                <a:shade val="60000"/>
                <a:invGamma/>
              </a:srgbClr>
            </a:prstShdw>
          </a:effectLst>
        </p:spPr>
        <p:txBody>
          <a:bodyPr wrap="none" anchor="ctr"/>
          <a:lstStyle/>
          <a:p>
            <a:pPr algn="ctr"/>
            <a:r>
              <a:rPr lang="es-ES" sz="1600" b="1" dirty="0">
                <a:solidFill>
                  <a:schemeClr val="bg1"/>
                </a:solidFill>
              </a:rPr>
              <a:t>Suscripción</a:t>
            </a:r>
          </a:p>
          <a:p>
            <a:pPr algn="ctr"/>
            <a:r>
              <a:rPr lang="es-ES" sz="1600" b="1" dirty="0">
                <a:solidFill>
                  <a:schemeClr val="bg1"/>
                </a:solidFill>
              </a:rPr>
              <a:t>Vehicular</a:t>
            </a:r>
          </a:p>
        </p:txBody>
      </p:sp>
      <p:sp>
        <p:nvSpPr>
          <p:cNvPr id="13" name="Rounded Rectangle 21"/>
          <p:cNvSpPr/>
          <p:nvPr/>
        </p:nvSpPr>
        <p:spPr>
          <a:xfrm>
            <a:off x="3355367" y="1916831"/>
            <a:ext cx="1548000" cy="648000"/>
          </a:xfrm>
          <a:prstGeom prst="roundRect">
            <a:avLst/>
          </a:prstGeom>
          <a:solidFill>
            <a:srgbClr val="DB0613"/>
          </a:solidFill>
          <a:ln w="9525" algn="ctr">
            <a:noFill/>
            <a:miter lim="800000"/>
            <a:headEnd/>
            <a:tailEnd/>
          </a:ln>
          <a:effectLst>
            <a:prstShdw prst="shdw17" dist="17961" dir="2700000">
              <a:srgbClr val="DDDDDD">
                <a:gamma/>
                <a:shade val="60000"/>
                <a:invGamma/>
              </a:srgbClr>
            </a:prstShdw>
          </a:effectLst>
        </p:spPr>
        <p:txBody>
          <a:bodyPr wrap="none" anchor="ctr"/>
          <a:lstStyle/>
          <a:p>
            <a:pPr algn="ctr"/>
            <a:r>
              <a:rPr lang="es-ES" sz="1400" b="1" dirty="0">
                <a:solidFill>
                  <a:schemeClr val="bg1"/>
                </a:solidFill>
              </a:rPr>
              <a:t>Evaluación de</a:t>
            </a:r>
          </a:p>
          <a:p>
            <a:pPr algn="ctr"/>
            <a:r>
              <a:rPr lang="es-ES" sz="1400" b="1" dirty="0">
                <a:solidFill>
                  <a:schemeClr val="bg1"/>
                </a:solidFill>
              </a:rPr>
              <a:t> Solicitudes de</a:t>
            </a:r>
          </a:p>
          <a:p>
            <a:pPr algn="ctr"/>
            <a:r>
              <a:rPr lang="es-ES" sz="1400" b="1" dirty="0">
                <a:solidFill>
                  <a:schemeClr val="bg1"/>
                </a:solidFill>
              </a:rPr>
              <a:t>Cotización</a:t>
            </a:r>
          </a:p>
        </p:txBody>
      </p:sp>
      <p:sp>
        <p:nvSpPr>
          <p:cNvPr id="14" name="Rounded Rectangle 21"/>
          <p:cNvSpPr/>
          <p:nvPr/>
        </p:nvSpPr>
        <p:spPr>
          <a:xfrm>
            <a:off x="3355367" y="2753073"/>
            <a:ext cx="1548000" cy="648000"/>
          </a:xfrm>
          <a:prstGeom prst="roundRect">
            <a:avLst/>
          </a:prstGeom>
          <a:solidFill>
            <a:srgbClr val="DB0613"/>
          </a:solidFill>
          <a:ln w="9525" algn="ctr">
            <a:noFill/>
            <a:miter lim="800000"/>
            <a:headEnd/>
            <a:tailEnd/>
          </a:ln>
          <a:effectLst>
            <a:prstShdw prst="shdw17" dist="17961" dir="2700000">
              <a:srgbClr val="DDDDDD">
                <a:gamma/>
                <a:shade val="60000"/>
                <a:invGamma/>
              </a:srgbClr>
            </a:prstShdw>
          </a:effectLst>
        </p:spPr>
        <p:txBody>
          <a:bodyPr wrap="none" anchor="ctr"/>
          <a:lstStyle/>
          <a:p>
            <a:pPr algn="ctr"/>
            <a:r>
              <a:rPr lang="es-ES" sz="1400" b="1" dirty="0">
                <a:solidFill>
                  <a:schemeClr val="bg1"/>
                </a:solidFill>
              </a:rPr>
              <a:t>Cotización</a:t>
            </a:r>
          </a:p>
          <a:p>
            <a:pPr algn="ctr"/>
            <a:r>
              <a:rPr lang="es-ES" sz="1400" b="1" dirty="0">
                <a:solidFill>
                  <a:schemeClr val="bg1"/>
                </a:solidFill>
              </a:rPr>
              <a:t>Fuera de políticas</a:t>
            </a:r>
          </a:p>
        </p:txBody>
      </p:sp>
      <p:sp>
        <p:nvSpPr>
          <p:cNvPr id="15" name="Rounded Rectangle 21"/>
          <p:cNvSpPr/>
          <p:nvPr/>
        </p:nvSpPr>
        <p:spPr>
          <a:xfrm>
            <a:off x="3355367" y="3553473"/>
            <a:ext cx="1548000" cy="648000"/>
          </a:xfrm>
          <a:prstGeom prst="roundRect">
            <a:avLst/>
          </a:prstGeom>
          <a:solidFill>
            <a:srgbClr val="DB0613"/>
          </a:solidFill>
          <a:ln w="9525" algn="ctr">
            <a:noFill/>
            <a:miter lim="800000"/>
            <a:headEnd/>
            <a:tailEnd/>
          </a:ln>
          <a:effectLst>
            <a:prstShdw prst="shdw17" dist="17961" dir="2700000">
              <a:srgbClr val="DDDDDD">
                <a:gamma/>
                <a:shade val="60000"/>
                <a:invGamma/>
              </a:srgbClr>
            </a:prstShdw>
          </a:effectLst>
        </p:spPr>
        <p:txBody>
          <a:bodyPr wrap="none" anchor="ctr"/>
          <a:lstStyle/>
          <a:p>
            <a:pPr algn="ctr"/>
            <a:r>
              <a:rPr lang="es-ES" sz="1400" b="1" dirty="0">
                <a:solidFill>
                  <a:schemeClr val="bg1"/>
                </a:solidFill>
              </a:rPr>
              <a:t>Inspección Técnica</a:t>
            </a:r>
          </a:p>
        </p:txBody>
      </p:sp>
      <p:grpSp>
        <p:nvGrpSpPr>
          <p:cNvPr id="2" name="52 Grupo"/>
          <p:cNvGrpSpPr/>
          <p:nvPr/>
        </p:nvGrpSpPr>
        <p:grpSpPr>
          <a:xfrm>
            <a:off x="4860192" y="1916831"/>
            <a:ext cx="1440000" cy="648000"/>
            <a:chOff x="3491881" y="1281851"/>
            <a:chExt cx="1620000" cy="648000"/>
          </a:xfrm>
        </p:grpSpPr>
        <p:sp>
          <p:nvSpPr>
            <p:cNvPr id="17" name="AutoShape 10"/>
            <p:cNvSpPr>
              <a:spLocks noChangeArrowheads="1"/>
            </p:cNvSpPr>
            <p:nvPr/>
          </p:nvSpPr>
          <p:spPr bwMode="auto">
            <a:xfrm rot="10800000">
              <a:off x="3491881" y="1281851"/>
              <a:ext cx="1620000" cy="648000"/>
            </a:xfrm>
            <a:prstGeom prst="homePlate">
              <a:avLst>
                <a:gd name="adj" fmla="val 28726"/>
              </a:avLst>
            </a:prstGeom>
            <a:solidFill>
              <a:schemeClr val="bg1"/>
            </a:solidFill>
            <a:ln w="9525" algn="ctr">
              <a:noFill/>
              <a:miter lim="800000"/>
              <a:headEnd/>
              <a:tailEnd/>
            </a:ln>
            <a:effectLst>
              <a:prstShdw prst="shdw17" dist="17961" dir="2700000">
                <a:srgbClr val="DDDDDD">
                  <a:gamma/>
                  <a:shade val="60000"/>
                  <a:invGamma/>
                </a:srgbClr>
              </a:prstShdw>
            </a:effectLst>
          </p:spPr>
          <p:txBody>
            <a:bodyPr wrap="none" anchor="ctr"/>
            <a:lstStyle/>
            <a:p>
              <a:pPr algn="ctr"/>
              <a:endParaRPr lang="en-US" sz="1300" b="1" dirty="0">
                <a:solidFill>
                  <a:schemeClr val="bg1"/>
                </a:solidFill>
              </a:endParaRPr>
            </a:p>
          </p:txBody>
        </p:sp>
        <p:sp>
          <p:nvSpPr>
            <p:cNvPr id="18" name="Rectangle 7"/>
            <p:cNvSpPr>
              <a:spLocks noChangeArrowheads="1"/>
            </p:cNvSpPr>
            <p:nvPr/>
          </p:nvSpPr>
          <p:spPr bwMode="auto">
            <a:xfrm>
              <a:off x="3838625" y="1281851"/>
              <a:ext cx="1224000" cy="648000"/>
            </a:xfrm>
            <a:prstGeom prst="rect">
              <a:avLst/>
            </a:prstGeom>
            <a:noFill/>
            <a:ln w="9525" algn="ctr">
              <a:noFill/>
              <a:miter lim="800000"/>
              <a:headEnd/>
              <a:tailEnd/>
            </a:ln>
            <a:effectLst>
              <a:prstShdw prst="shdw17" dist="17961" dir="2700000">
                <a:srgbClr val="DDDDDD">
                  <a:gamma/>
                  <a:shade val="60000"/>
                  <a:invGamma/>
                </a:srgbClr>
              </a:prstShdw>
            </a:effectLst>
          </p:spPr>
          <p:txBody>
            <a:bodyPr wrap="none" anchor="ctr"/>
            <a:lstStyle/>
            <a:p>
              <a:r>
                <a:rPr lang="es-PE" sz="1400" b="1" dirty="0"/>
                <a:t>Riesgos : 4</a:t>
              </a:r>
            </a:p>
            <a:p>
              <a:r>
                <a:rPr lang="es-PE" sz="1400" b="1" dirty="0"/>
                <a:t>Controles: 4</a:t>
              </a:r>
              <a:endParaRPr lang="es-ES" sz="1400" b="1" dirty="0"/>
            </a:p>
          </p:txBody>
        </p:sp>
        <p:sp>
          <p:nvSpPr>
            <p:cNvPr id="19" name="AutoShape 92"/>
            <p:cNvSpPr>
              <a:spLocks noChangeArrowheads="1"/>
            </p:cNvSpPr>
            <p:nvPr/>
          </p:nvSpPr>
          <p:spPr bwMode="auto">
            <a:xfrm>
              <a:off x="3712253" y="1628800"/>
              <a:ext cx="180000" cy="180000"/>
            </a:xfrm>
            <a:prstGeom prst="diamond">
              <a:avLst/>
            </a:prstGeom>
            <a:solidFill>
              <a:srgbClr val="009644"/>
            </a:solidFill>
            <a:ln w="9525" algn="ctr">
              <a:noFill/>
              <a:miter lim="800000"/>
              <a:headEnd/>
              <a:tailEnd/>
            </a:ln>
            <a:effectLst/>
          </p:spPr>
          <p:txBody>
            <a:bodyPr wrap="none" anchor="ctr"/>
            <a:lstStyle/>
            <a:p>
              <a:pPr algn="ctr"/>
              <a:endParaRPr lang="en-US" sz="1000" b="1" dirty="0">
                <a:solidFill>
                  <a:schemeClr val="bg1"/>
                </a:solidFill>
              </a:endParaRPr>
            </a:p>
          </p:txBody>
        </p:sp>
        <p:sp>
          <p:nvSpPr>
            <p:cNvPr id="20" name="Rounded Rectangle 139"/>
            <p:cNvSpPr/>
            <p:nvPr/>
          </p:nvSpPr>
          <p:spPr>
            <a:xfrm>
              <a:off x="3712253" y="1381102"/>
              <a:ext cx="180000" cy="180000"/>
            </a:xfrm>
            <a:prstGeom prst="roundRect">
              <a:avLst/>
            </a:prstGeom>
            <a:solidFill>
              <a:srgbClr val="F26D00"/>
            </a:solidFill>
            <a:ln w="9525" algn="ctr">
              <a:noFill/>
              <a:round/>
              <a:headEnd/>
              <a:tailEnd/>
            </a:ln>
            <a:effectLst/>
          </p:spPr>
          <p:txBody>
            <a:bodyPr wrap="none" anchor="ctr"/>
            <a:lstStyle/>
            <a:p>
              <a:pPr algn="ctr"/>
              <a:endParaRPr lang="es-ES" sz="1000" b="1" dirty="0">
                <a:solidFill>
                  <a:schemeClr val="bg1"/>
                </a:solidFill>
              </a:endParaRPr>
            </a:p>
          </p:txBody>
        </p:sp>
      </p:grpSp>
      <p:grpSp>
        <p:nvGrpSpPr>
          <p:cNvPr id="3" name="53 Grupo"/>
          <p:cNvGrpSpPr/>
          <p:nvPr/>
        </p:nvGrpSpPr>
        <p:grpSpPr>
          <a:xfrm>
            <a:off x="4860192" y="2753073"/>
            <a:ext cx="1440000" cy="648000"/>
            <a:chOff x="3491881" y="1281851"/>
            <a:chExt cx="1620000" cy="648000"/>
          </a:xfrm>
        </p:grpSpPr>
        <p:sp>
          <p:nvSpPr>
            <p:cNvPr id="22" name="AutoShape 10"/>
            <p:cNvSpPr>
              <a:spLocks noChangeArrowheads="1"/>
            </p:cNvSpPr>
            <p:nvPr/>
          </p:nvSpPr>
          <p:spPr bwMode="auto">
            <a:xfrm rot="10800000">
              <a:off x="3491881" y="1281851"/>
              <a:ext cx="1620000" cy="648000"/>
            </a:xfrm>
            <a:prstGeom prst="homePlate">
              <a:avLst>
                <a:gd name="adj" fmla="val 28726"/>
              </a:avLst>
            </a:prstGeom>
            <a:solidFill>
              <a:schemeClr val="bg1"/>
            </a:solidFill>
            <a:ln w="9525" algn="ctr">
              <a:noFill/>
              <a:miter lim="800000"/>
              <a:headEnd/>
              <a:tailEnd/>
            </a:ln>
            <a:effectLst>
              <a:prstShdw prst="shdw17" dist="17961" dir="2700000">
                <a:srgbClr val="DDDDDD">
                  <a:gamma/>
                  <a:shade val="60000"/>
                  <a:invGamma/>
                </a:srgbClr>
              </a:prstShdw>
            </a:effectLst>
          </p:spPr>
          <p:txBody>
            <a:bodyPr wrap="none" anchor="ctr"/>
            <a:lstStyle/>
            <a:p>
              <a:pPr algn="ctr"/>
              <a:endParaRPr lang="en-US" sz="1300" b="1" dirty="0">
                <a:solidFill>
                  <a:schemeClr val="bg1"/>
                </a:solidFill>
              </a:endParaRPr>
            </a:p>
          </p:txBody>
        </p:sp>
        <p:sp>
          <p:nvSpPr>
            <p:cNvPr id="23" name="Rectangle 7"/>
            <p:cNvSpPr>
              <a:spLocks noChangeArrowheads="1"/>
            </p:cNvSpPr>
            <p:nvPr/>
          </p:nvSpPr>
          <p:spPr bwMode="auto">
            <a:xfrm>
              <a:off x="3838625" y="1281851"/>
              <a:ext cx="1224000" cy="648000"/>
            </a:xfrm>
            <a:prstGeom prst="rect">
              <a:avLst/>
            </a:prstGeom>
            <a:noFill/>
            <a:ln w="9525" algn="ctr">
              <a:noFill/>
              <a:miter lim="800000"/>
              <a:headEnd/>
              <a:tailEnd/>
            </a:ln>
            <a:effectLst>
              <a:prstShdw prst="shdw17" dist="17961" dir="2700000">
                <a:srgbClr val="DDDDDD">
                  <a:gamma/>
                  <a:shade val="60000"/>
                  <a:invGamma/>
                </a:srgbClr>
              </a:prstShdw>
            </a:effectLst>
          </p:spPr>
          <p:txBody>
            <a:bodyPr wrap="none" anchor="ctr"/>
            <a:lstStyle/>
            <a:p>
              <a:r>
                <a:rPr lang="es-PE" sz="1400" b="1" dirty="0"/>
                <a:t>Riesgos : 3</a:t>
              </a:r>
            </a:p>
            <a:p>
              <a:r>
                <a:rPr lang="es-PE" sz="1400" b="1" dirty="0"/>
                <a:t>Controles: 4</a:t>
              </a:r>
              <a:endParaRPr lang="es-ES" sz="1400" b="1" dirty="0"/>
            </a:p>
          </p:txBody>
        </p:sp>
        <p:sp>
          <p:nvSpPr>
            <p:cNvPr id="24" name="AutoShape 92"/>
            <p:cNvSpPr>
              <a:spLocks noChangeArrowheads="1"/>
            </p:cNvSpPr>
            <p:nvPr/>
          </p:nvSpPr>
          <p:spPr bwMode="auto">
            <a:xfrm>
              <a:off x="3712253" y="1628800"/>
              <a:ext cx="180000" cy="180000"/>
            </a:xfrm>
            <a:prstGeom prst="diamond">
              <a:avLst/>
            </a:prstGeom>
            <a:solidFill>
              <a:srgbClr val="009644"/>
            </a:solidFill>
            <a:ln w="9525" algn="ctr">
              <a:noFill/>
              <a:miter lim="800000"/>
              <a:headEnd/>
              <a:tailEnd/>
            </a:ln>
            <a:effectLst/>
          </p:spPr>
          <p:txBody>
            <a:bodyPr wrap="none" anchor="ctr"/>
            <a:lstStyle/>
            <a:p>
              <a:pPr algn="ctr"/>
              <a:endParaRPr lang="en-US" sz="1000" b="1" dirty="0">
                <a:solidFill>
                  <a:schemeClr val="bg1"/>
                </a:solidFill>
              </a:endParaRPr>
            </a:p>
          </p:txBody>
        </p:sp>
        <p:sp>
          <p:nvSpPr>
            <p:cNvPr id="25" name="Rounded Rectangle 139"/>
            <p:cNvSpPr/>
            <p:nvPr/>
          </p:nvSpPr>
          <p:spPr>
            <a:xfrm>
              <a:off x="3712253" y="1381102"/>
              <a:ext cx="180000" cy="180000"/>
            </a:xfrm>
            <a:prstGeom prst="roundRect">
              <a:avLst/>
            </a:prstGeom>
            <a:solidFill>
              <a:srgbClr val="F26D00"/>
            </a:solidFill>
            <a:ln w="9525" algn="ctr">
              <a:noFill/>
              <a:round/>
              <a:headEnd/>
              <a:tailEnd/>
            </a:ln>
            <a:effectLst/>
          </p:spPr>
          <p:txBody>
            <a:bodyPr wrap="none" anchor="ctr"/>
            <a:lstStyle/>
            <a:p>
              <a:pPr algn="ctr"/>
              <a:endParaRPr lang="es-ES" sz="1000" b="1" dirty="0">
                <a:solidFill>
                  <a:schemeClr val="bg1"/>
                </a:solidFill>
              </a:endParaRPr>
            </a:p>
          </p:txBody>
        </p:sp>
      </p:grpSp>
      <p:grpSp>
        <p:nvGrpSpPr>
          <p:cNvPr id="4" name="58 Grupo"/>
          <p:cNvGrpSpPr/>
          <p:nvPr/>
        </p:nvGrpSpPr>
        <p:grpSpPr>
          <a:xfrm>
            <a:off x="4860192" y="3553473"/>
            <a:ext cx="1440000" cy="648000"/>
            <a:chOff x="3491881" y="1281851"/>
            <a:chExt cx="1620000" cy="648000"/>
          </a:xfrm>
        </p:grpSpPr>
        <p:sp>
          <p:nvSpPr>
            <p:cNvPr id="27" name="AutoShape 10"/>
            <p:cNvSpPr>
              <a:spLocks noChangeArrowheads="1"/>
            </p:cNvSpPr>
            <p:nvPr/>
          </p:nvSpPr>
          <p:spPr bwMode="auto">
            <a:xfrm rot="10800000">
              <a:off x="3491881" y="1281851"/>
              <a:ext cx="1620000" cy="648000"/>
            </a:xfrm>
            <a:prstGeom prst="homePlate">
              <a:avLst>
                <a:gd name="adj" fmla="val 28726"/>
              </a:avLst>
            </a:prstGeom>
            <a:solidFill>
              <a:schemeClr val="bg1"/>
            </a:solidFill>
            <a:ln w="9525" algn="ctr">
              <a:noFill/>
              <a:miter lim="800000"/>
              <a:headEnd/>
              <a:tailEnd/>
            </a:ln>
            <a:effectLst>
              <a:prstShdw prst="shdw17" dist="17961" dir="2700000">
                <a:srgbClr val="DDDDDD">
                  <a:gamma/>
                  <a:shade val="60000"/>
                  <a:invGamma/>
                </a:srgbClr>
              </a:prstShdw>
            </a:effectLst>
          </p:spPr>
          <p:txBody>
            <a:bodyPr wrap="none" anchor="ctr"/>
            <a:lstStyle/>
            <a:p>
              <a:pPr algn="ctr"/>
              <a:endParaRPr lang="en-US" sz="1300" b="1" dirty="0">
                <a:solidFill>
                  <a:schemeClr val="bg1"/>
                </a:solidFill>
              </a:endParaRPr>
            </a:p>
          </p:txBody>
        </p:sp>
        <p:sp>
          <p:nvSpPr>
            <p:cNvPr id="28" name="Rectangle 7"/>
            <p:cNvSpPr>
              <a:spLocks noChangeArrowheads="1"/>
            </p:cNvSpPr>
            <p:nvPr/>
          </p:nvSpPr>
          <p:spPr bwMode="auto">
            <a:xfrm>
              <a:off x="3838625" y="1281851"/>
              <a:ext cx="1224000" cy="648000"/>
            </a:xfrm>
            <a:prstGeom prst="rect">
              <a:avLst/>
            </a:prstGeom>
            <a:noFill/>
            <a:ln w="9525" algn="ctr">
              <a:noFill/>
              <a:miter lim="800000"/>
              <a:headEnd/>
              <a:tailEnd/>
            </a:ln>
            <a:effectLst>
              <a:prstShdw prst="shdw17" dist="17961" dir="2700000">
                <a:srgbClr val="DDDDDD">
                  <a:gamma/>
                  <a:shade val="60000"/>
                  <a:invGamma/>
                </a:srgbClr>
              </a:prstShdw>
            </a:effectLst>
          </p:spPr>
          <p:txBody>
            <a:bodyPr wrap="none" anchor="ctr"/>
            <a:lstStyle/>
            <a:p>
              <a:r>
                <a:rPr lang="es-PE" sz="1400" b="1" dirty="0"/>
                <a:t>Riesgos : 10</a:t>
              </a:r>
            </a:p>
            <a:p>
              <a:r>
                <a:rPr lang="es-PE" sz="1400" b="1" dirty="0"/>
                <a:t>Controles: 3</a:t>
              </a:r>
              <a:endParaRPr lang="es-ES" sz="1400" b="1" dirty="0"/>
            </a:p>
          </p:txBody>
        </p:sp>
        <p:sp>
          <p:nvSpPr>
            <p:cNvPr id="29" name="AutoShape 92"/>
            <p:cNvSpPr>
              <a:spLocks noChangeArrowheads="1"/>
            </p:cNvSpPr>
            <p:nvPr/>
          </p:nvSpPr>
          <p:spPr bwMode="auto">
            <a:xfrm>
              <a:off x="3712253" y="1628800"/>
              <a:ext cx="180000" cy="180000"/>
            </a:xfrm>
            <a:prstGeom prst="diamond">
              <a:avLst/>
            </a:prstGeom>
            <a:solidFill>
              <a:srgbClr val="009644"/>
            </a:solidFill>
            <a:ln w="9525" algn="ctr">
              <a:noFill/>
              <a:miter lim="800000"/>
              <a:headEnd/>
              <a:tailEnd/>
            </a:ln>
            <a:effectLst/>
          </p:spPr>
          <p:txBody>
            <a:bodyPr wrap="none" anchor="ctr"/>
            <a:lstStyle/>
            <a:p>
              <a:pPr algn="ctr"/>
              <a:endParaRPr lang="en-US" sz="1000" b="1" dirty="0">
                <a:solidFill>
                  <a:schemeClr val="bg1"/>
                </a:solidFill>
              </a:endParaRPr>
            </a:p>
          </p:txBody>
        </p:sp>
        <p:sp>
          <p:nvSpPr>
            <p:cNvPr id="30" name="Rounded Rectangle 139"/>
            <p:cNvSpPr/>
            <p:nvPr/>
          </p:nvSpPr>
          <p:spPr>
            <a:xfrm>
              <a:off x="3712253" y="1381102"/>
              <a:ext cx="180000" cy="180000"/>
            </a:xfrm>
            <a:prstGeom prst="roundRect">
              <a:avLst/>
            </a:prstGeom>
            <a:solidFill>
              <a:srgbClr val="F26D00"/>
            </a:solidFill>
            <a:ln w="9525" algn="ctr">
              <a:noFill/>
              <a:round/>
              <a:headEnd/>
              <a:tailEnd/>
            </a:ln>
            <a:effectLst/>
          </p:spPr>
          <p:txBody>
            <a:bodyPr wrap="none" anchor="ctr"/>
            <a:lstStyle/>
            <a:p>
              <a:pPr algn="ctr"/>
              <a:endParaRPr lang="es-ES" sz="1000" b="1" dirty="0">
                <a:solidFill>
                  <a:schemeClr val="bg1"/>
                </a:solidFill>
              </a:endParaRPr>
            </a:p>
          </p:txBody>
        </p:sp>
      </p:grpSp>
      <p:sp>
        <p:nvSpPr>
          <p:cNvPr id="26" name="Rounded Rectangle 31">
            <a:hlinkClick r:id="rId2" action="ppaction://hlinksldjump"/>
          </p:cNvPr>
          <p:cNvSpPr/>
          <p:nvPr/>
        </p:nvSpPr>
        <p:spPr>
          <a:xfrm>
            <a:off x="1638012" y="6322807"/>
            <a:ext cx="1080000" cy="360000"/>
          </a:xfrm>
          <a:prstGeom prst="roundRect">
            <a:avLst/>
          </a:prstGeom>
          <a:solidFill>
            <a:schemeClr val="bg1">
              <a:lumMod val="65000"/>
            </a:schemeClr>
          </a:solidFill>
          <a:ln w="25400" cap="sq" cmpd="sng">
            <a:solidFill>
              <a:schemeClr val="bg1">
                <a:lumMod val="75000"/>
              </a:schemeClr>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L" sz="800" b="1" i="1" dirty="0">
                <a:solidFill>
                  <a:schemeClr val="bg1"/>
                </a:solidFill>
                <a:cs typeface="Arial" pitchFamily="34" charset="0"/>
              </a:rPr>
              <a:t>Exposición al RO y Entorno de Control</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dirty="0"/>
              <a:t>Anexo: Ficha Individual Riesgos Operacionales</a:t>
            </a:r>
          </a:p>
        </p:txBody>
      </p:sp>
      <p:sp>
        <p:nvSpPr>
          <p:cNvPr id="3" name="AutoShape 179"/>
          <p:cNvSpPr>
            <a:spLocks noChangeArrowheads="1"/>
          </p:cNvSpPr>
          <p:nvPr/>
        </p:nvSpPr>
        <p:spPr bwMode="auto">
          <a:xfrm>
            <a:off x="611560" y="3535397"/>
            <a:ext cx="3960812" cy="1371600"/>
          </a:xfrm>
          <a:prstGeom prst="roundRect">
            <a:avLst>
              <a:gd name="adj" fmla="val 9481"/>
            </a:avLst>
          </a:prstGeom>
          <a:solidFill>
            <a:schemeClr val="accent1">
              <a:lumMod val="20000"/>
              <a:lumOff val="80000"/>
            </a:schemeClr>
          </a:solidFill>
          <a:ln w="9525" algn="ctr">
            <a:noFill/>
            <a:round/>
            <a:headEnd/>
            <a:tailEnd/>
          </a:ln>
          <a:effectLst/>
        </p:spPr>
        <p:txBody>
          <a:bodyPr wrap="none" anchor="ctr"/>
          <a:lstStyle/>
          <a:p>
            <a:endParaRPr lang="es-CL">
              <a:solidFill>
                <a:srgbClr val="002060"/>
              </a:solidFill>
            </a:endParaRPr>
          </a:p>
        </p:txBody>
      </p:sp>
      <p:sp>
        <p:nvSpPr>
          <p:cNvPr id="4" name="Rounded Rectangle 3"/>
          <p:cNvSpPr/>
          <p:nvPr/>
        </p:nvSpPr>
        <p:spPr>
          <a:xfrm>
            <a:off x="214497" y="764704"/>
            <a:ext cx="397063" cy="274320"/>
          </a:xfrm>
          <a:prstGeom prst="roundRect">
            <a:avLst/>
          </a:prstGeom>
          <a:solidFill>
            <a:srgbClr val="DB0613"/>
          </a:solidFill>
          <a:ln w="9525" algn="ctr">
            <a:noFill/>
            <a:miter lim="800000"/>
            <a:headEnd/>
            <a:tailEnd/>
          </a:ln>
          <a:effectLst/>
        </p:spPr>
        <p:txBody>
          <a:bodyPr anchor="ctr"/>
          <a:lstStyle/>
          <a:p>
            <a:pPr algn="ctr">
              <a:lnSpc>
                <a:spcPct val="80000"/>
              </a:lnSpc>
            </a:pPr>
            <a:r>
              <a:rPr lang="es-CL" sz="1200" b="1" dirty="0">
                <a:solidFill>
                  <a:srgbClr val="FFFFFF"/>
                </a:solidFill>
                <a:cs typeface="Arial" pitchFamily="34" charset="0"/>
              </a:rPr>
              <a:t>9</a:t>
            </a:r>
          </a:p>
        </p:txBody>
      </p:sp>
      <p:sp>
        <p:nvSpPr>
          <p:cNvPr id="5" name="Rectangle 18"/>
          <p:cNvSpPr>
            <a:spLocks noChangeArrowheads="1"/>
          </p:cNvSpPr>
          <p:nvPr/>
        </p:nvSpPr>
        <p:spPr bwMode="auto">
          <a:xfrm>
            <a:off x="227770" y="2409552"/>
            <a:ext cx="6400800" cy="839807"/>
          </a:xfrm>
          <a:prstGeom prst="rect">
            <a:avLst/>
          </a:prstGeom>
          <a:noFill/>
          <a:ln w="9525" algn="ctr">
            <a:solidFill>
              <a:schemeClr val="bg2"/>
            </a:solidFill>
            <a:miter lim="800000"/>
            <a:headEnd/>
            <a:tailEnd/>
          </a:ln>
          <a:effectLst/>
        </p:spPr>
        <p:txBody>
          <a:bodyPr/>
          <a:lstStyle/>
          <a:p>
            <a:r>
              <a:rPr lang="es-ES" sz="1100" dirty="0"/>
              <a:t>Incumplimiento de los servicios de un tercero por huelga. El proveedor que se encarga de crear el trámite de emisión es SGS.</a:t>
            </a:r>
            <a:endParaRPr lang="es-ES" sz="1100" dirty="0">
              <a:solidFill>
                <a:srgbClr val="002060"/>
              </a:solidFill>
            </a:endParaRPr>
          </a:p>
        </p:txBody>
      </p:sp>
      <p:sp>
        <p:nvSpPr>
          <p:cNvPr id="7" name="Text Box 30"/>
          <p:cNvSpPr txBox="1">
            <a:spLocks noChangeArrowheads="1"/>
          </p:cNvSpPr>
          <p:nvPr/>
        </p:nvSpPr>
        <p:spPr bwMode="auto">
          <a:xfrm>
            <a:off x="190747" y="3299257"/>
            <a:ext cx="3671888" cy="276999"/>
          </a:xfrm>
          <a:prstGeom prst="rect">
            <a:avLst/>
          </a:prstGeom>
          <a:noFill/>
          <a:ln w="9525" algn="ctr">
            <a:noFill/>
            <a:miter lim="800000"/>
            <a:headEnd/>
            <a:tailEnd/>
          </a:ln>
          <a:effectLst/>
        </p:spPr>
        <p:txBody>
          <a:bodyPr>
            <a:spAutoFit/>
          </a:bodyPr>
          <a:lstStyle/>
          <a:p>
            <a:pPr>
              <a:spcBef>
                <a:spcPct val="50000"/>
              </a:spcBef>
            </a:pPr>
            <a:r>
              <a:rPr lang="es-CL" sz="1200" b="1" i="1" dirty="0">
                <a:solidFill>
                  <a:srgbClr val="A3A3E0"/>
                </a:solidFill>
              </a:rPr>
              <a:t>Resultados valoración de riesgos</a:t>
            </a:r>
            <a:endParaRPr lang="es-ES" sz="1200" b="1" i="1" dirty="0">
              <a:solidFill>
                <a:srgbClr val="A3A3E0"/>
              </a:solidFill>
            </a:endParaRPr>
          </a:p>
        </p:txBody>
      </p:sp>
      <p:sp>
        <p:nvSpPr>
          <p:cNvPr id="8" name="Rounded Rectangle 7"/>
          <p:cNvSpPr/>
          <p:nvPr/>
        </p:nvSpPr>
        <p:spPr>
          <a:xfrm>
            <a:off x="652842" y="764704"/>
            <a:ext cx="8321040" cy="274320"/>
          </a:xfrm>
          <a:prstGeom prst="roundRect">
            <a:avLst/>
          </a:prstGeom>
          <a:solidFill>
            <a:srgbClr val="DB0613"/>
          </a:solidFill>
          <a:ln w="9525" algn="ctr">
            <a:noFill/>
            <a:miter lim="800000"/>
            <a:headEnd/>
            <a:tailEnd/>
          </a:ln>
          <a:effectLst/>
        </p:spPr>
        <p:txBody>
          <a:bodyPr anchor="ctr"/>
          <a:lstStyle/>
          <a:p>
            <a:pPr>
              <a:lnSpc>
                <a:spcPct val="80000"/>
              </a:lnSpc>
            </a:pPr>
            <a:r>
              <a:rPr lang="es-ES" sz="1200" dirty="0">
                <a:solidFill>
                  <a:schemeClr val="bg1"/>
                </a:solidFill>
              </a:rPr>
              <a:t>Incumplimiento de los servicios de un tercero por huelga. </a:t>
            </a:r>
            <a:endParaRPr lang="es-CL" sz="1200" b="1" dirty="0">
              <a:solidFill>
                <a:schemeClr val="bg1"/>
              </a:solidFill>
              <a:cs typeface="Arial" pitchFamily="34" charset="0"/>
            </a:endParaRPr>
          </a:p>
        </p:txBody>
      </p:sp>
      <p:sp>
        <p:nvSpPr>
          <p:cNvPr id="9" name="Rounded Rectangle 8"/>
          <p:cNvSpPr/>
          <p:nvPr/>
        </p:nvSpPr>
        <p:spPr>
          <a:xfrm>
            <a:off x="227770" y="2202383"/>
            <a:ext cx="64008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Descripción</a:t>
            </a:r>
          </a:p>
        </p:txBody>
      </p:sp>
      <p:sp>
        <p:nvSpPr>
          <p:cNvPr id="10" name="Rounded Rectangle 9"/>
          <p:cNvSpPr/>
          <p:nvPr/>
        </p:nvSpPr>
        <p:spPr>
          <a:xfrm>
            <a:off x="6716066" y="1089119"/>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Categoría  de Riesgo Nivel I</a:t>
            </a:r>
          </a:p>
        </p:txBody>
      </p:sp>
      <p:sp>
        <p:nvSpPr>
          <p:cNvPr id="11" name="Rectangle 18"/>
          <p:cNvSpPr>
            <a:spLocks noChangeArrowheads="1"/>
          </p:cNvSpPr>
          <p:nvPr/>
        </p:nvSpPr>
        <p:spPr bwMode="auto">
          <a:xfrm>
            <a:off x="6716066" y="1316374"/>
            <a:ext cx="2286000" cy="365760"/>
          </a:xfrm>
          <a:prstGeom prst="rect">
            <a:avLst/>
          </a:prstGeom>
          <a:noFill/>
          <a:ln w="9525" algn="ctr">
            <a:solidFill>
              <a:schemeClr val="bg2"/>
            </a:solidFill>
            <a:miter lim="800000"/>
            <a:headEnd/>
            <a:tailEnd/>
          </a:ln>
          <a:effectLst/>
        </p:spPr>
        <p:txBody>
          <a:bodyPr anchor="ctr"/>
          <a:lstStyle/>
          <a:p>
            <a:pPr>
              <a:lnSpc>
                <a:spcPts val="1000"/>
              </a:lnSpc>
            </a:pPr>
            <a:r>
              <a:rPr lang="es-ES" sz="1100" dirty="0"/>
              <a:t>Ejecución, entrega y gestión de procesos</a:t>
            </a:r>
          </a:p>
        </p:txBody>
      </p:sp>
      <p:sp>
        <p:nvSpPr>
          <p:cNvPr id="12" name="Rounded Rectangle 11"/>
          <p:cNvSpPr/>
          <p:nvPr/>
        </p:nvSpPr>
        <p:spPr>
          <a:xfrm>
            <a:off x="6716066" y="1725169"/>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Categoría de Riesgo Nivel II</a:t>
            </a:r>
          </a:p>
        </p:txBody>
      </p:sp>
      <p:sp>
        <p:nvSpPr>
          <p:cNvPr id="13" name="Rectangle 18"/>
          <p:cNvSpPr>
            <a:spLocks noChangeArrowheads="1"/>
          </p:cNvSpPr>
          <p:nvPr/>
        </p:nvSpPr>
        <p:spPr bwMode="auto">
          <a:xfrm>
            <a:off x="6716066" y="1942710"/>
            <a:ext cx="2286000" cy="274320"/>
          </a:xfrm>
          <a:prstGeom prst="rect">
            <a:avLst/>
          </a:prstGeom>
          <a:noFill/>
          <a:ln w="9525" algn="ctr">
            <a:solidFill>
              <a:schemeClr val="bg2"/>
            </a:solidFill>
            <a:miter lim="800000"/>
            <a:headEnd/>
            <a:tailEnd/>
          </a:ln>
          <a:effectLst/>
        </p:spPr>
        <p:txBody>
          <a:bodyPr anchor="ctr"/>
          <a:lstStyle/>
          <a:p>
            <a:r>
              <a:rPr lang="es-ES" sz="1100" dirty="0"/>
              <a:t>Distribuidores y Proveedores</a:t>
            </a:r>
          </a:p>
        </p:txBody>
      </p:sp>
      <p:grpSp>
        <p:nvGrpSpPr>
          <p:cNvPr id="6" name="Group 72"/>
          <p:cNvGrpSpPr/>
          <p:nvPr/>
        </p:nvGrpSpPr>
        <p:grpSpPr>
          <a:xfrm>
            <a:off x="6716066" y="2243313"/>
            <a:ext cx="2286000" cy="504056"/>
            <a:chOff x="6716066" y="2972444"/>
            <a:chExt cx="2286000" cy="504056"/>
          </a:xfrm>
        </p:grpSpPr>
        <p:sp>
          <p:nvSpPr>
            <p:cNvPr id="15" name="Rounded Rectangle 14"/>
            <p:cNvSpPr/>
            <p:nvPr/>
          </p:nvSpPr>
          <p:spPr>
            <a:xfrm>
              <a:off x="6716066" y="2972444"/>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Categoría de Riesgo Nivel III</a:t>
              </a:r>
            </a:p>
          </p:txBody>
        </p:sp>
        <p:sp>
          <p:nvSpPr>
            <p:cNvPr id="16" name="Rectangle 18"/>
            <p:cNvSpPr>
              <a:spLocks noChangeArrowheads="1"/>
            </p:cNvSpPr>
            <p:nvPr/>
          </p:nvSpPr>
          <p:spPr bwMode="auto">
            <a:xfrm>
              <a:off x="6716066" y="3202180"/>
              <a:ext cx="2286000" cy="274320"/>
            </a:xfrm>
            <a:prstGeom prst="rect">
              <a:avLst/>
            </a:prstGeom>
            <a:noFill/>
            <a:ln w="9525" algn="ctr">
              <a:solidFill>
                <a:schemeClr val="bg2"/>
              </a:solidFill>
              <a:miter lim="800000"/>
              <a:headEnd/>
              <a:tailEnd/>
            </a:ln>
            <a:effectLst/>
          </p:spPr>
          <p:txBody>
            <a:bodyPr anchor="ctr"/>
            <a:lstStyle/>
            <a:p>
              <a:r>
                <a:rPr lang="es-ES" sz="1100" dirty="0"/>
                <a:t>Errores en entrega realizada por distribuidores y proveedores</a:t>
              </a:r>
            </a:p>
          </p:txBody>
        </p:sp>
      </p:grpSp>
      <p:sp>
        <p:nvSpPr>
          <p:cNvPr id="17" name="Rounded Rectangle 16"/>
          <p:cNvSpPr/>
          <p:nvPr/>
        </p:nvSpPr>
        <p:spPr>
          <a:xfrm>
            <a:off x="227770" y="1110038"/>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Macroproceso</a:t>
            </a:r>
          </a:p>
        </p:txBody>
      </p:sp>
      <p:sp>
        <p:nvSpPr>
          <p:cNvPr id="18" name="Rectangle 18"/>
          <p:cNvSpPr>
            <a:spLocks noChangeArrowheads="1"/>
          </p:cNvSpPr>
          <p:nvPr/>
        </p:nvSpPr>
        <p:spPr bwMode="auto">
          <a:xfrm>
            <a:off x="2568409" y="1110038"/>
            <a:ext cx="4060161" cy="182880"/>
          </a:xfrm>
          <a:prstGeom prst="rect">
            <a:avLst/>
          </a:prstGeom>
          <a:noFill/>
          <a:ln w="9525" algn="ctr">
            <a:solidFill>
              <a:schemeClr val="bg2"/>
            </a:solidFill>
            <a:miter lim="800000"/>
            <a:headEnd/>
            <a:tailEnd/>
          </a:ln>
          <a:effectLst/>
        </p:spPr>
        <p:txBody>
          <a:bodyPr anchor="ctr"/>
          <a:lstStyle/>
          <a:p>
            <a:r>
              <a:rPr lang="es-ES" sz="1100" dirty="0"/>
              <a:t>Generación de Negocio</a:t>
            </a:r>
          </a:p>
        </p:txBody>
      </p:sp>
      <p:sp>
        <p:nvSpPr>
          <p:cNvPr id="19" name="Rounded Rectangle 18"/>
          <p:cNvSpPr/>
          <p:nvPr/>
        </p:nvSpPr>
        <p:spPr>
          <a:xfrm>
            <a:off x="227770" y="1339045"/>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Proceso</a:t>
            </a:r>
          </a:p>
        </p:txBody>
      </p:sp>
      <p:sp>
        <p:nvSpPr>
          <p:cNvPr id="20" name="Rectangle 18"/>
          <p:cNvSpPr>
            <a:spLocks noChangeArrowheads="1"/>
          </p:cNvSpPr>
          <p:nvPr/>
        </p:nvSpPr>
        <p:spPr bwMode="auto">
          <a:xfrm>
            <a:off x="2568409" y="1339045"/>
            <a:ext cx="4060161" cy="182880"/>
          </a:xfrm>
          <a:prstGeom prst="rect">
            <a:avLst/>
          </a:prstGeom>
          <a:noFill/>
          <a:ln w="9525" algn="ctr">
            <a:solidFill>
              <a:schemeClr val="bg2"/>
            </a:solidFill>
            <a:miter lim="800000"/>
            <a:headEnd/>
            <a:tailEnd/>
          </a:ln>
          <a:effectLst/>
        </p:spPr>
        <p:txBody>
          <a:bodyPr anchor="ctr"/>
          <a:lstStyle/>
          <a:p>
            <a:r>
              <a:rPr lang="es-ES" sz="1100" dirty="0"/>
              <a:t>Suscripción</a:t>
            </a:r>
          </a:p>
        </p:txBody>
      </p:sp>
      <p:sp>
        <p:nvSpPr>
          <p:cNvPr id="21" name="Rectangle 29"/>
          <p:cNvSpPr>
            <a:spLocks noChangeArrowheads="1"/>
          </p:cNvSpPr>
          <p:nvPr/>
        </p:nvSpPr>
        <p:spPr bwMode="auto">
          <a:xfrm>
            <a:off x="107504" y="3423715"/>
            <a:ext cx="8961120" cy="1607926"/>
          </a:xfrm>
          <a:prstGeom prst="rect">
            <a:avLst/>
          </a:prstGeom>
          <a:noFill/>
          <a:ln w="19050" cap="rnd" algn="ctr">
            <a:solidFill>
              <a:schemeClr val="bg2"/>
            </a:solidFill>
            <a:prstDash val="sysDot"/>
            <a:miter lim="800000"/>
            <a:headEnd/>
            <a:tailEnd/>
          </a:ln>
          <a:effectLst/>
        </p:spPr>
        <p:txBody>
          <a:bodyPr wrap="none" anchor="ctr"/>
          <a:lstStyle/>
          <a:p>
            <a:endParaRPr lang="en-US">
              <a:solidFill>
                <a:srgbClr val="002060"/>
              </a:solidFill>
            </a:endParaRPr>
          </a:p>
        </p:txBody>
      </p:sp>
      <p:sp>
        <p:nvSpPr>
          <p:cNvPr id="22" name="Rounded Rectangle 21"/>
          <p:cNvSpPr/>
          <p:nvPr/>
        </p:nvSpPr>
        <p:spPr>
          <a:xfrm>
            <a:off x="902959" y="4382163"/>
            <a:ext cx="1920240" cy="182880"/>
          </a:xfrm>
          <a:prstGeom prst="roundRect">
            <a:avLst/>
          </a:prstGeom>
          <a:solidFill>
            <a:srgbClr val="DB0613"/>
          </a:solidFill>
          <a:ln w="9525" algn="ctr">
            <a:noFill/>
            <a:miter lim="800000"/>
            <a:headEnd/>
            <a:tailEnd/>
          </a:ln>
          <a:effectLst/>
        </p:spPr>
        <p:txBody>
          <a:bodyPr tIns="91440" anchor="ctr"/>
          <a:lstStyle/>
          <a:p>
            <a:pPr>
              <a:lnSpc>
                <a:spcPct val="80000"/>
              </a:lnSpc>
            </a:pPr>
            <a:r>
              <a:rPr lang="es-CL" sz="1100" b="1" dirty="0">
                <a:solidFill>
                  <a:srgbClr val="FFFFFF"/>
                </a:solidFill>
                <a:cs typeface="Arial" pitchFamily="34" charset="0"/>
              </a:rPr>
              <a:t>Pérdida Esperada Anual</a:t>
            </a:r>
          </a:p>
        </p:txBody>
      </p:sp>
      <p:sp>
        <p:nvSpPr>
          <p:cNvPr id="23" name="Rectangle 18"/>
          <p:cNvSpPr>
            <a:spLocks noChangeArrowheads="1"/>
          </p:cNvSpPr>
          <p:nvPr/>
        </p:nvSpPr>
        <p:spPr bwMode="auto">
          <a:xfrm>
            <a:off x="2859920" y="4382163"/>
            <a:ext cx="1554480" cy="182880"/>
          </a:xfrm>
          <a:prstGeom prst="rect">
            <a:avLst/>
          </a:prstGeom>
          <a:solidFill>
            <a:schemeClr val="bg1"/>
          </a:solidFill>
          <a:ln w="9525" algn="ctr">
            <a:solidFill>
              <a:schemeClr val="bg2"/>
            </a:solidFill>
            <a:miter lim="800000"/>
            <a:headEnd/>
            <a:tailEnd/>
          </a:ln>
          <a:effectLst/>
        </p:spPr>
        <p:txBody>
          <a:bodyPr anchor="ctr"/>
          <a:lstStyle/>
          <a:p>
            <a:pPr algn="ctr"/>
            <a:r>
              <a:rPr lang="es-ES" sz="1100" dirty="0"/>
              <a:t>S/. 50,000.00</a:t>
            </a:r>
            <a:endParaRPr lang="es-ES" sz="1100" dirty="0">
              <a:solidFill>
                <a:srgbClr val="002060"/>
              </a:solidFill>
            </a:endParaRPr>
          </a:p>
        </p:txBody>
      </p:sp>
      <p:sp>
        <p:nvSpPr>
          <p:cNvPr id="24" name="Rounded Rectangle 23"/>
          <p:cNvSpPr/>
          <p:nvPr/>
        </p:nvSpPr>
        <p:spPr>
          <a:xfrm>
            <a:off x="902959" y="4611775"/>
            <a:ext cx="192024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VaR Cualitativo Anual</a:t>
            </a:r>
          </a:p>
        </p:txBody>
      </p:sp>
      <p:sp>
        <p:nvSpPr>
          <p:cNvPr id="25" name="Rectangle 18"/>
          <p:cNvSpPr>
            <a:spLocks noChangeArrowheads="1"/>
          </p:cNvSpPr>
          <p:nvPr/>
        </p:nvSpPr>
        <p:spPr bwMode="auto">
          <a:xfrm>
            <a:off x="2859920" y="4611775"/>
            <a:ext cx="1554480" cy="182880"/>
          </a:xfrm>
          <a:prstGeom prst="rect">
            <a:avLst/>
          </a:prstGeom>
          <a:solidFill>
            <a:schemeClr val="bg1"/>
          </a:solidFill>
          <a:ln w="9525" algn="ctr">
            <a:solidFill>
              <a:schemeClr val="bg2"/>
            </a:solidFill>
            <a:miter lim="800000"/>
            <a:headEnd/>
            <a:tailEnd/>
          </a:ln>
          <a:effectLst/>
        </p:spPr>
        <p:txBody>
          <a:bodyPr anchor="ctr"/>
          <a:lstStyle/>
          <a:p>
            <a:pPr algn="ctr"/>
            <a:r>
              <a:rPr lang="es-ES" sz="1100" dirty="0"/>
              <a:t>S/. 6,995,212.12</a:t>
            </a:r>
            <a:endParaRPr lang="es-ES" sz="1100" dirty="0">
              <a:solidFill>
                <a:srgbClr val="002060"/>
              </a:solidFill>
            </a:endParaRPr>
          </a:p>
        </p:txBody>
      </p:sp>
      <p:sp>
        <p:nvSpPr>
          <p:cNvPr id="26" name="Rounded Rectangle 25"/>
          <p:cNvSpPr/>
          <p:nvPr/>
        </p:nvSpPr>
        <p:spPr>
          <a:xfrm>
            <a:off x="891084" y="3618777"/>
            <a:ext cx="192024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Frecuencia  Evento Pérdida</a:t>
            </a:r>
          </a:p>
        </p:txBody>
      </p:sp>
      <p:sp>
        <p:nvSpPr>
          <p:cNvPr id="27" name="Rectangle 18"/>
          <p:cNvSpPr>
            <a:spLocks noChangeArrowheads="1"/>
          </p:cNvSpPr>
          <p:nvPr/>
        </p:nvSpPr>
        <p:spPr bwMode="auto">
          <a:xfrm>
            <a:off x="2859920" y="3618777"/>
            <a:ext cx="1554480" cy="182880"/>
          </a:xfrm>
          <a:prstGeom prst="rect">
            <a:avLst/>
          </a:prstGeom>
          <a:solidFill>
            <a:schemeClr val="bg1"/>
          </a:solidFill>
          <a:ln w="9525" algn="ctr">
            <a:solidFill>
              <a:schemeClr val="bg2"/>
            </a:solidFill>
            <a:miter lim="800000"/>
            <a:headEnd/>
            <a:tailEnd/>
          </a:ln>
          <a:effectLst/>
        </p:spPr>
        <p:txBody>
          <a:bodyPr anchor="ctr"/>
          <a:lstStyle/>
          <a:p>
            <a:pPr algn="ctr"/>
            <a:r>
              <a:rPr lang="es-ES" sz="1100" dirty="0"/>
              <a:t>1 al siglo</a:t>
            </a:r>
          </a:p>
        </p:txBody>
      </p:sp>
      <p:sp>
        <p:nvSpPr>
          <p:cNvPr id="28" name="Rounded Rectangle 27"/>
          <p:cNvSpPr/>
          <p:nvPr/>
        </p:nvSpPr>
        <p:spPr>
          <a:xfrm>
            <a:off x="891084" y="3848389"/>
            <a:ext cx="192024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Impacto Medio Evento</a:t>
            </a:r>
          </a:p>
        </p:txBody>
      </p:sp>
      <p:sp>
        <p:nvSpPr>
          <p:cNvPr id="29" name="Rectangle 18"/>
          <p:cNvSpPr>
            <a:spLocks noChangeArrowheads="1"/>
          </p:cNvSpPr>
          <p:nvPr/>
        </p:nvSpPr>
        <p:spPr bwMode="auto">
          <a:xfrm>
            <a:off x="2859920" y="3848389"/>
            <a:ext cx="1554480" cy="182880"/>
          </a:xfrm>
          <a:prstGeom prst="rect">
            <a:avLst/>
          </a:prstGeom>
          <a:solidFill>
            <a:schemeClr val="bg1"/>
          </a:solidFill>
          <a:ln w="9525" algn="ctr">
            <a:solidFill>
              <a:schemeClr val="bg2"/>
            </a:solidFill>
            <a:miter lim="800000"/>
            <a:headEnd/>
            <a:tailEnd/>
          </a:ln>
          <a:effectLst/>
        </p:spPr>
        <p:txBody>
          <a:bodyPr anchor="ctr"/>
          <a:lstStyle/>
          <a:p>
            <a:pPr algn="ctr"/>
            <a:r>
              <a:rPr lang="es-ES" sz="1100" dirty="0"/>
              <a:t>S/. 5,000,000.00</a:t>
            </a:r>
            <a:endParaRPr lang="es-ES" sz="1100" dirty="0">
              <a:solidFill>
                <a:srgbClr val="002060"/>
              </a:solidFill>
            </a:endParaRPr>
          </a:p>
        </p:txBody>
      </p:sp>
      <p:sp>
        <p:nvSpPr>
          <p:cNvPr id="30" name="Rounded Rectangle 29"/>
          <p:cNvSpPr/>
          <p:nvPr/>
        </p:nvSpPr>
        <p:spPr>
          <a:xfrm>
            <a:off x="891084" y="4083969"/>
            <a:ext cx="192024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Impacto Peor Escenario</a:t>
            </a:r>
          </a:p>
        </p:txBody>
      </p:sp>
      <p:sp>
        <p:nvSpPr>
          <p:cNvPr id="31" name="Rectangle 18"/>
          <p:cNvSpPr>
            <a:spLocks noChangeArrowheads="1"/>
          </p:cNvSpPr>
          <p:nvPr/>
        </p:nvSpPr>
        <p:spPr bwMode="auto">
          <a:xfrm>
            <a:off x="2859920" y="4083969"/>
            <a:ext cx="1554480" cy="182880"/>
          </a:xfrm>
          <a:prstGeom prst="rect">
            <a:avLst/>
          </a:prstGeom>
          <a:solidFill>
            <a:schemeClr val="bg1"/>
          </a:solidFill>
          <a:ln w="9525" algn="ctr">
            <a:solidFill>
              <a:schemeClr val="bg2"/>
            </a:solidFill>
            <a:miter lim="800000"/>
            <a:headEnd/>
            <a:tailEnd/>
          </a:ln>
          <a:effectLst/>
        </p:spPr>
        <p:txBody>
          <a:bodyPr anchor="ctr"/>
          <a:lstStyle/>
          <a:p>
            <a:pPr algn="ctr"/>
            <a:r>
              <a:rPr lang="es-ES" sz="1100" dirty="0"/>
              <a:t>S/. 10,000,000.00</a:t>
            </a:r>
            <a:endParaRPr lang="es-ES" sz="1100" dirty="0">
              <a:solidFill>
                <a:srgbClr val="002060"/>
              </a:solidFill>
            </a:endParaRPr>
          </a:p>
        </p:txBody>
      </p:sp>
      <p:sp>
        <p:nvSpPr>
          <p:cNvPr id="32" name="AutoShape 47"/>
          <p:cNvSpPr>
            <a:spLocks noChangeAspect="1" noChangeArrowheads="1"/>
          </p:cNvSpPr>
          <p:nvPr/>
        </p:nvSpPr>
        <p:spPr bwMode="blackWhite">
          <a:xfrm>
            <a:off x="263033" y="3533122"/>
            <a:ext cx="492543" cy="1339083"/>
          </a:xfrm>
          <a:prstGeom prst="rightArrow">
            <a:avLst>
              <a:gd name="adj1" fmla="val 100000"/>
              <a:gd name="adj2" fmla="val 11009"/>
            </a:avLst>
          </a:prstGeom>
          <a:solidFill>
            <a:srgbClr val="969696"/>
          </a:solidFill>
          <a:ln w="12700">
            <a:noFill/>
            <a:miter lim="800000"/>
            <a:headEnd/>
            <a:tailEnd/>
          </a:ln>
          <a:effectLst>
            <a:outerShdw dist="35921" dir="2700000" algn="ctr" rotWithShape="0">
              <a:schemeClr val="bg2"/>
            </a:outerShdw>
          </a:effectLst>
        </p:spPr>
        <p:txBody>
          <a:bodyPr vert="vert270" anchor="ctr"/>
          <a:lstStyle/>
          <a:p>
            <a:pPr algn="ctr">
              <a:lnSpc>
                <a:spcPts val="1000"/>
              </a:lnSpc>
            </a:pPr>
            <a:r>
              <a:rPr lang="es-ES" sz="1200" b="1" noProof="1">
                <a:solidFill>
                  <a:srgbClr val="FFFFFF"/>
                </a:solidFill>
                <a:cs typeface="Arial" charset="0"/>
              </a:rPr>
              <a:t>Evaluación Riesgo Operacional</a:t>
            </a:r>
          </a:p>
        </p:txBody>
      </p:sp>
      <p:sp>
        <p:nvSpPr>
          <p:cNvPr id="59" name="Rounded Rectangle 58"/>
          <p:cNvSpPr/>
          <p:nvPr/>
        </p:nvSpPr>
        <p:spPr>
          <a:xfrm>
            <a:off x="223049" y="1554311"/>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Subproceso</a:t>
            </a:r>
          </a:p>
        </p:txBody>
      </p:sp>
      <p:sp>
        <p:nvSpPr>
          <p:cNvPr id="60" name="Rectangle 18"/>
          <p:cNvSpPr>
            <a:spLocks noChangeArrowheads="1"/>
          </p:cNvSpPr>
          <p:nvPr/>
        </p:nvSpPr>
        <p:spPr bwMode="auto">
          <a:xfrm>
            <a:off x="2563688" y="1554311"/>
            <a:ext cx="4064882" cy="182880"/>
          </a:xfrm>
          <a:prstGeom prst="rect">
            <a:avLst/>
          </a:prstGeom>
          <a:noFill/>
          <a:ln w="9525" algn="ctr">
            <a:solidFill>
              <a:schemeClr val="bg2"/>
            </a:solidFill>
            <a:miter lim="800000"/>
            <a:headEnd/>
            <a:tailEnd/>
          </a:ln>
          <a:effectLst/>
        </p:spPr>
        <p:txBody>
          <a:bodyPr anchor="ctr"/>
          <a:lstStyle/>
          <a:p>
            <a:r>
              <a:rPr lang="es-ES" sz="1100" dirty="0"/>
              <a:t>Inspección Técnica</a:t>
            </a:r>
          </a:p>
        </p:txBody>
      </p:sp>
      <p:sp>
        <p:nvSpPr>
          <p:cNvPr id="57" name="Rounded Rectangle 56"/>
          <p:cNvSpPr/>
          <p:nvPr/>
        </p:nvSpPr>
        <p:spPr>
          <a:xfrm>
            <a:off x="223049" y="1771093"/>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Línea de Negocio</a:t>
            </a:r>
          </a:p>
        </p:txBody>
      </p:sp>
      <p:sp>
        <p:nvSpPr>
          <p:cNvPr id="58" name="Rectangle 18"/>
          <p:cNvSpPr>
            <a:spLocks noChangeArrowheads="1"/>
          </p:cNvSpPr>
          <p:nvPr/>
        </p:nvSpPr>
        <p:spPr bwMode="auto">
          <a:xfrm>
            <a:off x="2563688" y="1771093"/>
            <a:ext cx="4064882" cy="182880"/>
          </a:xfrm>
          <a:prstGeom prst="rect">
            <a:avLst/>
          </a:prstGeom>
          <a:noFill/>
          <a:ln w="9525" algn="ctr">
            <a:solidFill>
              <a:schemeClr val="bg2"/>
            </a:solidFill>
            <a:miter lim="800000"/>
            <a:headEnd/>
            <a:tailEnd/>
          </a:ln>
          <a:effectLst/>
        </p:spPr>
        <p:txBody>
          <a:bodyPr anchor="ctr"/>
          <a:lstStyle/>
          <a:p>
            <a:r>
              <a:rPr lang="es-ES" sz="1100" dirty="0"/>
              <a:t>Ramos Generales</a:t>
            </a:r>
          </a:p>
        </p:txBody>
      </p:sp>
      <p:sp>
        <p:nvSpPr>
          <p:cNvPr id="61" name="Rounded Rectangle 60"/>
          <p:cNvSpPr/>
          <p:nvPr/>
        </p:nvSpPr>
        <p:spPr>
          <a:xfrm>
            <a:off x="223049" y="1986359"/>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Responsable</a:t>
            </a:r>
          </a:p>
        </p:txBody>
      </p:sp>
      <p:sp>
        <p:nvSpPr>
          <p:cNvPr id="62" name="Rectangle 18"/>
          <p:cNvSpPr>
            <a:spLocks noChangeArrowheads="1"/>
          </p:cNvSpPr>
          <p:nvPr/>
        </p:nvSpPr>
        <p:spPr bwMode="auto">
          <a:xfrm>
            <a:off x="2558967" y="1986359"/>
            <a:ext cx="4069603" cy="182880"/>
          </a:xfrm>
          <a:prstGeom prst="rect">
            <a:avLst/>
          </a:prstGeom>
          <a:noFill/>
          <a:ln w="9525" algn="ctr">
            <a:solidFill>
              <a:schemeClr val="bg2"/>
            </a:solidFill>
            <a:miter lim="800000"/>
            <a:headEnd/>
            <a:tailEnd/>
          </a:ln>
          <a:effectLst/>
        </p:spPr>
        <p:txBody>
          <a:bodyPr anchor="ctr"/>
          <a:lstStyle/>
          <a:p>
            <a:r>
              <a:rPr lang="es-ES" sz="1100" dirty="0"/>
              <a:t>Coordinador de procesos  de emisión</a:t>
            </a:r>
          </a:p>
        </p:txBody>
      </p:sp>
      <p:sp>
        <p:nvSpPr>
          <p:cNvPr id="64" name="AutoShape 179"/>
          <p:cNvSpPr>
            <a:spLocks noChangeArrowheads="1"/>
          </p:cNvSpPr>
          <p:nvPr/>
        </p:nvSpPr>
        <p:spPr bwMode="auto">
          <a:xfrm>
            <a:off x="4932039" y="3537391"/>
            <a:ext cx="4037169" cy="864000"/>
          </a:xfrm>
          <a:prstGeom prst="roundRect">
            <a:avLst>
              <a:gd name="adj" fmla="val 9481"/>
            </a:avLst>
          </a:prstGeom>
          <a:solidFill>
            <a:schemeClr val="accent1">
              <a:lumMod val="20000"/>
              <a:lumOff val="80000"/>
            </a:schemeClr>
          </a:solidFill>
          <a:ln w="9525" algn="ctr">
            <a:noFill/>
            <a:round/>
            <a:headEnd/>
            <a:tailEnd/>
          </a:ln>
          <a:effectLst/>
        </p:spPr>
        <p:txBody>
          <a:bodyPr wrap="none" anchor="ctr"/>
          <a:lstStyle/>
          <a:p>
            <a:endParaRPr lang="es-CL">
              <a:solidFill>
                <a:srgbClr val="002060"/>
              </a:solidFill>
            </a:endParaRPr>
          </a:p>
        </p:txBody>
      </p:sp>
      <p:sp>
        <p:nvSpPr>
          <p:cNvPr id="65" name="AutoShape 47"/>
          <p:cNvSpPr>
            <a:spLocks noChangeArrowheads="1"/>
          </p:cNvSpPr>
          <p:nvPr/>
        </p:nvSpPr>
        <p:spPr bwMode="blackWhite">
          <a:xfrm>
            <a:off x="4678512" y="3538893"/>
            <a:ext cx="353942" cy="864000"/>
          </a:xfrm>
          <a:prstGeom prst="rightArrow">
            <a:avLst>
              <a:gd name="adj1" fmla="val 100000"/>
              <a:gd name="adj2" fmla="val 11009"/>
            </a:avLst>
          </a:prstGeom>
          <a:solidFill>
            <a:srgbClr val="969696"/>
          </a:solidFill>
          <a:ln w="12700">
            <a:noFill/>
            <a:miter lim="800000"/>
            <a:headEnd/>
            <a:tailEnd/>
          </a:ln>
          <a:effectLst>
            <a:outerShdw dist="35921" dir="2700000" algn="ctr" rotWithShape="0">
              <a:schemeClr val="bg2"/>
            </a:outerShdw>
          </a:effectLst>
        </p:spPr>
        <p:txBody>
          <a:bodyPr vert="vert270" anchor="ctr"/>
          <a:lstStyle/>
          <a:p>
            <a:pPr algn="ctr">
              <a:lnSpc>
                <a:spcPts val="1000"/>
              </a:lnSpc>
            </a:pPr>
            <a:r>
              <a:rPr lang="es-ES" sz="1100" b="1" noProof="1">
                <a:solidFill>
                  <a:srgbClr val="FFFFFF"/>
                </a:solidFill>
                <a:cs typeface="Arial" charset="0"/>
              </a:rPr>
              <a:t>Impacto Reputacional</a:t>
            </a:r>
          </a:p>
        </p:txBody>
      </p:sp>
      <p:sp>
        <p:nvSpPr>
          <p:cNvPr id="66" name="Rectangle 18"/>
          <p:cNvSpPr>
            <a:spLocks noChangeArrowheads="1"/>
          </p:cNvSpPr>
          <p:nvPr/>
        </p:nvSpPr>
        <p:spPr bwMode="auto">
          <a:xfrm>
            <a:off x="8334310" y="3612658"/>
            <a:ext cx="548640" cy="170094"/>
          </a:xfrm>
          <a:prstGeom prst="rect">
            <a:avLst/>
          </a:prstGeom>
          <a:solidFill>
            <a:schemeClr val="bg1"/>
          </a:solidFill>
          <a:ln w="9525" algn="ctr">
            <a:solidFill>
              <a:schemeClr val="bg2"/>
            </a:solidFill>
            <a:miter lim="800000"/>
            <a:headEnd/>
            <a:tailEnd/>
          </a:ln>
          <a:effectLst/>
        </p:spPr>
        <p:txBody>
          <a:bodyPr anchor="ctr"/>
          <a:lstStyle/>
          <a:p>
            <a:pPr algn="ctr"/>
            <a:r>
              <a:rPr lang="es-ES" sz="1100" dirty="0"/>
              <a:t>5</a:t>
            </a:r>
          </a:p>
        </p:txBody>
      </p:sp>
      <p:sp>
        <p:nvSpPr>
          <p:cNvPr id="67" name="Rounded Rectangle 66"/>
          <p:cNvSpPr/>
          <p:nvPr/>
        </p:nvSpPr>
        <p:spPr>
          <a:xfrm>
            <a:off x="5102950" y="3612658"/>
            <a:ext cx="3132000" cy="170094"/>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Afectación a Clientes</a:t>
            </a:r>
          </a:p>
        </p:txBody>
      </p:sp>
      <p:sp>
        <p:nvSpPr>
          <p:cNvPr id="68" name="Rectangle 18"/>
          <p:cNvSpPr>
            <a:spLocks noChangeArrowheads="1"/>
          </p:cNvSpPr>
          <p:nvPr/>
        </p:nvSpPr>
        <p:spPr bwMode="auto">
          <a:xfrm>
            <a:off x="5102950" y="3830815"/>
            <a:ext cx="3780000" cy="469509"/>
          </a:xfrm>
          <a:prstGeom prst="rect">
            <a:avLst/>
          </a:prstGeom>
          <a:solidFill>
            <a:schemeClr val="bg1"/>
          </a:solidFill>
          <a:ln w="9525" algn="ctr">
            <a:solidFill>
              <a:schemeClr val="bg2"/>
            </a:solidFill>
            <a:miter lim="800000"/>
            <a:headEnd/>
            <a:tailEnd/>
          </a:ln>
          <a:effectLst/>
        </p:spPr>
        <p:txBody>
          <a:bodyPr anchor="ctr"/>
          <a:lstStyle/>
          <a:p>
            <a:r>
              <a:rPr lang="es-ES" sz="1100" dirty="0">
                <a:solidFill>
                  <a:srgbClr val="000000"/>
                </a:solidFill>
              </a:rPr>
              <a:t>Mal manejo de los medios que podría tener un impacto negativo en la imagen de Rímac por un tiempo prolongado.</a:t>
            </a:r>
          </a:p>
        </p:txBody>
      </p:sp>
      <p:sp>
        <p:nvSpPr>
          <p:cNvPr id="72" name="AutoShape 179"/>
          <p:cNvSpPr>
            <a:spLocks noChangeArrowheads="1"/>
          </p:cNvSpPr>
          <p:nvPr/>
        </p:nvSpPr>
        <p:spPr bwMode="auto">
          <a:xfrm>
            <a:off x="4927319" y="4441607"/>
            <a:ext cx="4037169" cy="1056202"/>
          </a:xfrm>
          <a:prstGeom prst="roundRect">
            <a:avLst>
              <a:gd name="adj" fmla="val 9481"/>
            </a:avLst>
          </a:prstGeom>
          <a:solidFill>
            <a:schemeClr val="accent1">
              <a:lumMod val="20000"/>
              <a:lumOff val="80000"/>
            </a:schemeClr>
          </a:solidFill>
          <a:ln w="9525" algn="ctr">
            <a:noFill/>
            <a:round/>
            <a:headEnd/>
            <a:tailEnd/>
          </a:ln>
          <a:effectLst/>
        </p:spPr>
        <p:txBody>
          <a:bodyPr wrap="none" anchor="ctr"/>
          <a:lstStyle/>
          <a:p>
            <a:endParaRPr lang="es-CL">
              <a:solidFill>
                <a:srgbClr val="002060"/>
              </a:solidFill>
            </a:endParaRPr>
          </a:p>
        </p:txBody>
      </p:sp>
      <p:sp>
        <p:nvSpPr>
          <p:cNvPr id="73" name="AutoShape 47"/>
          <p:cNvSpPr>
            <a:spLocks noChangeArrowheads="1"/>
          </p:cNvSpPr>
          <p:nvPr/>
        </p:nvSpPr>
        <p:spPr bwMode="blackWhite">
          <a:xfrm>
            <a:off x="4673792" y="4443109"/>
            <a:ext cx="352800" cy="1056202"/>
          </a:xfrm>
          <a:prstGeom prst="rightArrow">
            <a:avLst>
              <a:gd name="adj1" fmla="val 100000"/>
              <a:gd name="adj2" fmla="val 11009"/>
            </a:avLst>
          </a:prstGeom>
          <a:solidFill>
            <a:srgbClr val="969696"/>
          </a:solidFill>
          <a:ln w="12700">
            <a:noFill/>
            <a:miter lim="800000"/>
            <a:headEnd/>
            <a:tailEnd/>
          </a:ln>
          <a:effectLst>
            <a:outerShdw dist="35921" dir="2700000" algn="ctr" rotWithShape="0">
              <a:schemeClr val="bg2"/>
            </a:outerShdw>
          </a:effectLst>
        </p:spPr>
        <p:txBody>
          <a:bodyPr vert="vert270" anchor="ctr"/>
          <a:lstStyle/>
          <a:p>
            <a:pPr algn="ctr">
              <a:lnSpc>
                <a:spcPts val="1000"/>
              </a:lnSpc>
            </a:pPr>
            <a:r>
              <a:rPr lang="es-ES" sz="1100" b="1" noProof="1">
                <a:solidFill>
                  <a:srgbClr val="FFFFFF"/>
                </a:solidFill>
                <a:cs typeface="Arial" charset="0"/>
              </a:rPr>
              <a:t>Cuestionarios</a:t>
            </a:r>
          </a:p>
        </p:txBody>
      </p:sp>
      <p:sp>
        <p:nvSpPr>
          <p:cNvPr id="75" name="Rounded Rectangle 38"/>
          <p:cNvSpPr/>
          <p:nvPr/>
        </p:nvSpPr>
        <p:spPr>
          <a:xfrm>
            <a:off x="5098230" y="4516875"/>
            <a:ext cx="3132000" cy="170094"/>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Criterios de Evaluación</a:t>
            </a:r>
          </a:p>
        </p:txBody>
      </p:sp>
      <p:sp>
        <p:nvSpPr>
          <p:cNvPr id="76" name="Rectangle 18"/>
          <p:cNvSpPr>
            <a:spLocks noChangeArrowheads="1"/>
          </p:cNvSpPr>
          <p:nvPr/>
        </p:nvSpPr>
        <p:spPr bwMode="auto">
          <a:xfrm>
            <a:off x="5102950" y="4730047"/>
            <a:ext cx="3780000" cy="648000"/>
          </a:xfrm>
          <a:prstGeom prst="rect">
            <a:avLst/>
          </a:prstGeom>
          <a:solidFill>
            <a:schemeClr val="bg1"/>
          </a:solidFill>
          <a:ln w="9525" algn="ctr">
            <a:solidFill>
              <a:schemeClr val="bg2"/>
            </a:solidFill>
            <a:miter lim="800000"/>
            <a:headEnd/>
            <a:tailEnd/>
          </a:ln>
          <a:effectLst/>
        </p:spPr>
        <p:txBody>
          <a:bodyPr anchor="ctr"/>
          <a:lstStyle/>
          <a:p>
            <a:pPr algn="just"/>
            <a:r>
              <a:rPr lang="es-ES" sz="1100" dirty="0"/>
              <a:t>Se ha considerado para el monto de Impacto s/.30,000,000.00 como las posibles primas captadas al mes. Por un aproximado de 5 días de huelga: s./ 5,000,000.00. Suponemos el peor escenario: 10 días de huelga. </a:t>
            </a:r>
            <a:endParaRPr lang="es-ES" sz="1100" dirty="0">
              <a:solidFill>
                <a:srgbClr val="000000"/>
              </a:solidFill>
            </a:endParaRPr>
          </a:p>
        </p:txBody>
      </p:sp>
      <p:sp>
        <p:nvSpPr>
          <p:cNvPr id="77" name="Text Box 30"/>
          <p:cNvSpPr txBox="1">
            <a:spLocks noChangeArrowheads="1"/>
          </p:cNvSpPr>
          <p:nvPr/>
        </p:nvSpPr>
        <p:spPr bwMode="auto">
          <a:xfrm>
            <a:off x="190746" y="4977551"/>
            <a:ext cx="3996000" cy="276999"/>
          </a:xfrm>
          <a:prstGeom prst="rect">
            <a:avLst/>
          </a:prstGeom>
          <a:noFill/>
          <a:ln w="9525" algn="ctr">
            <a:noFill/>
            <a:miter lim="800000"/>
            <a:headEnd/>
            <a:tailEnd/>
          </a:ln>
          <a:effectLst/>
        </p:spPr>
        <p:txBody>
          <a:bodyPr wrap="square">
            <a:spAutoFit/>
          </a:bodyPr>
          <a:lstStyle/>
          <a:p>
            <a:pPr>
              <a:spcBef>
                <a:spcPct val="50000"/>
              </a:spcBef>
            </a:pPr>
            <a:r>
              <a:rPr lang="es-CL" sz="1200" b="1" i="1" dirty="0">
                <a:solidFill>
                  <a:srgbClr val="A3A3E0"/>
                </a:solidFill>
              </a:rPr>
              <a:t>Resultados valoración de controles / factores mitigantes</a:t>
            </a:r>
            <a:endParaRPr lang="es-ES" sz="1200" b="1" i="1" dirty="0">
              <a:solidFill>
                <a:srgbClr val="A3A3E0"/>
              </a:solidFill>
            </a:endParaRPr>
          </a:p>
        </p:txBody>
      </p:sp>
      <p:sp>
        <p:nvSpPr>
          <p:cNvPr id="78" name="AutoShape 179"/>
          <p:cNvSpPr>
            <a:spLocks noChangeArrowheads="1"/>
          </p:cNvSpPr>
          <p:nvPr/>
        </p:nvSpPr>
        <p:spPr bwMode="auto">
          <a:xfrm>
            <a:off x="534831" y="5200032"/>
            <a:ext cx="4037169" cy="864000"/>
          </a:xfrm>
          <a:prstGeom prst="roundRect">
            <a:avLst>
              <a:gd name="adj" fmla="val 9481"/>
            </a:avLst>
          </a:prstGeom>
          <a:solidFill>
            <a:schemeClr val="accent1">
              <a:lumMod val="20000"/>
              <a:lumOff val="80000"/>
            </a:schemeClr>
          </a:solidFill>
          <a:ln w="9525" algn="ctr">
            <a:noFill/>
            <a:round/>
            <a:headEnd/>
            <a:tailEnd/>
          </a:ln>
          <a:effectLst/>
        </p:spPr>
        <p:txBody>
          <a:bodyPr wrap="none" anchor="ctr"/>
          <a:lstStyle/>
          <a:p>
            <a:endParaRPr lang="es-CL">
              <a:solidFill>
                <a:srgbClr val="002060"/>
              </a:solidFill>
            </a:endParaRPr>
          </a:p>
        </p:txBody>
      </p:sp>
      <p:sp>
        <p:nvSpPr>
          <p:cNvPr id="79" name="AutoShape 47"/>
          <p:cNvSpPr>
            <a:spLocks noChangeArrowheads="1"/>
          </p:cNvSpPr>
          <p:nvPr/>
        </p:nvSpPr>
        <p:spPr bwMode="blackWhite">
          <a:xfrm>
            <a:off x="281304" y="5201534"/>
            <a:ext cx="353942" cy="864000"/>
          </a:xfrm>
          <a:prstGeom prst="rightArrow">
            <a:avLst>
              <a:gd name="adj1" fmla="val 100000"/>
              <a:gd name="adj2" fmla="val 11009"/>
            </a:avLst>
          </a:prstGeom>
          <a:solidFill>
            <a:srgbClr val="969696"/>
          </a:solidFill>
          <a:ln w="12700">
            <a:noFill/>
            <a:miter lim="800000"/>
            <a:headEnd/>
            <a:tailEnd/>
          </a:ln>
          <a:effectLst>
            <a:outerShdw dist="35921" dir="2700000" algn="ctr" rotWithShape="0">
              <a:schemeClr val="bg2"/>
            </a:outerShdw>
          </a:effectLst>
        </p:spPr>
        <p:txBody>
          <a:bodyPr vert="vert270" anchor="ctr"/>
          <a:lstStyle/>
          <a:p>
            <a:pPr algn="ctr">
              <a:lnSpc>
                <a:spcPts val="1000"/>
              </a:lnSpc>
            </a:pPr>
            <a:r>
              <a:rPr lang="es-ES" sz="1100" b="1" noProof="1">
                <a:solidFill>
                  <a:srgbClr val="FFFFFF"/>
                </a:solidFill>
                <a:cs typeface="Arial" charset="0"/>
              </a:rPr>
              <a:t>Evaluación de Controles</a:t>
            </a:r>
          </a:p>
        </p:txBody>
      </p:sp>
      <p:sp>
        <p:nvSpPr>
          <p:cNvPr id="80" name="Rectangle 18"/>
          <p:cNvSpPr>
            <a:spLocks noChangeArrowheads="1"/>
          </p:cNvSpPr>
          <p:nvPr/>
        </p:nvSpPr>
        <p:spPr bwMode="auto">
          <a:xfrm>
            <a:off x="3937102" y="5275299"/>
            <a:ext cx="548640" cy="170094"/>
          </a:xfrm>
          <a:prstGeom prst="rect">
            <a:avLst/>
          </a:prstGeom>
          <a:solidFill>
            <a:schemeClr val="bg1"/>
          </a:solidFill>
          <a:ln w="9525" algn="ctr">
            <a:solidFill>
              <a:schemeClr val="bg2"/>
            </a:solidFill>
            <a:miter lim="800000"/>
            <a:headEnd/>
            <a:tailEnd/>
          </a:ln>
          <a:effectLst/>
        </p:spPr>
        <p:txBody>
          <a:bodyPr anchor="ctr"/>
          <a:lstStyle/>
          <a:p>
            <a:pPr algn="ctr"/>
            <a:r>
              <a:rPr lang="es-ES" sz="1100" dirty="0">
                <a:solidFill>
                  <a:srgbClr val="002060"/>
                </a:solidFill>
              </a:rPr>
              <a:t>0</a:t>
            </a:r>
          </a:p>
        </p:txBody>
      </p:sp>
      <p:sp>
        <p:nvSpPr>
          <p:cNvPr id="81" name="Rounded Rectangle 38"/>
          <p:cNvSpPr/>
          <p:nvPr/>
        </p:nvSpPr>
        <p:spPr>
          <a:xfrm>
            <a:off x="705742" y="5275299"/>
            <a:ext cx="3132000" cy="170094"/>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Controles asociados al riesgo</a:t>
            </a:r>
          </a:p>
        </p:txBody>
      </p:sp>
      <p:sp>
        <p:nvSpPr>
          <p:cNvPr id="82" name="Rectangle 18"/>
          <p:cNvSpPr>
            <a:spLocks noChangeArrowheads="1"/>
          </p:cNvSpPr>
          <p:nvPr/>
        </p:nvSpPr>
        <p:spPr bwMode="auto">
          <a:xfrm>
            <a:off x="705742" y="5496307"/>
            <a:ext cx="3780000" cy="469509"/>
          </a:xfrm>
          <a:prstGeom prst="rect">
            <a:avLst/>
          </a:prstGeom>
          <a:solidFill>
            <a:schemeClr val="bg1"/>
          </a:solidFill>
          <a:ln w="9525" algn="ctr">
            <a:solidFill>
              <a:schemeClr val="bg2"/>
            </a:solidFill>
            <a:miter lim="800000"/>
            <a:headEnd/>
            <a:tailEnd/>
          </a:ln>
          <a:effectLst/>
        </p:spPr>
        <p:txBody>
          <a:bodyPr anchor="ctr"/>
          <a:lstStyle/>
          <a:p>
            <a:r>
              <a:rPr lang="es-PE" sz="1100" dirty="0">
                <a:solidFill>
                  <a:srgbClr val="000000"/>
                </a:solidFill>
              </a:rPr>
              <a:t>No existe un control definido</a:t>
            </a:r>
            <a:endParaRPr lang="es-ES" sz="1100" dirty="0">
              <a:solidFill>
                <a:srgbClr val="000000"/>
              </a:solidFill>
            </a:endParaRPr>
          </a:p>
        </p:txBody>
      </p:sp>
      <p:sp>
        <p:nvSpPr>
          <p:cNvPr id="83" name="Rounded Rectangle 14"/>
          <p:cNvSpPr/>
          <p:nvPr/>
        </p:nvSpPr>
        <p:spPr>
          <a:xfrm>
            <a:off x="6716066" y="2817311"/>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Origen del Riesgo</a:t>
            </a:r>
          </a:p>
        </p:txBody>
      </p:sp>
      <p:sp>
        <p:nvSpPr>
          <p:cNvPr id="84" name="Rectangle 18"/>
          <p:cNvSpPr>
            <a:spLocks noChangeArrowheads="1"/>
          </p:cNvSpPr>
          <p:nvPr/>
        </p:nvSpPr>
        <p:spPr bwMode="auto">
          <a:xfrm>
            <a:off x="6716066" y="3032576"/>
            <a:ext cx="2286000" cy="270000"/>
          </a:xfrm>
          <a:prstGeom prst="rect">
            <a:avLst/>
          </a:prstGeom>
          <a:noFill/>
          <a:ln w="9525" algn="ctr">
            <a:solidFill>
              <a:schemeClr val="bg2"/>
            </a:solidFill>
            <a:miter lim="800000"/>
            <a:headEnd/>
            <a:tailEnd/>
          </a:ln>
          <a:effectLst/>
        </p:spPr>
        <p:txBody>
          <a:bodyPr anchor="ctr"/>
          <a:lstStyle/>
          <a:p>
            <a:r>
              <a:rPr lang="es-ES" sz="1100" dirty="0">
                <a:solidFill>
                  <a:srgbClr val="000000"/>
                </a:solidFill>
              </a:rPr>
              <a:t>Relaciones con terceros</a:t>
            </a:r>
          </a:p>
        </p:txBody>
      </p:sp>
      <p:sp>
        <p:nvSpPr>
          <p:cNvPr id="55" name="Rounded Rectangle 31">
            <a:hlinkClick r:id="rId2" action="ppaction://hlinksldjump"/>
          </p:cNvPr>
          <p:cNvSpPr/>
          <p:nvPr/>
        </p:nvSpPr>
        <p:spPr>
          <a:xfrm>
            <a:off x="1638012" y="6322807"/>
            <a:ext cx="1080000" cy="360000"/>
          </a:xfrm>
          <a:prstGeom prst="roundRect">
            <a:avLst/>
          </a:prstGeom>
          <a:solidFill>
            <a:schemeClr val="bg1">
              <a:lumMod val="65000"/>
            </a:schemeClr>
          </a:solidFill>
          <a:ln w="25400" cap="sq" cmpd="sng">
            <a:solidFill>
              <a:schemeClr val="bg1">
                <a:lumMod val="75000"/>
              </a:schemeClr>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L" sz="800" b="1" i="1" dirty="0">
                <a:solidFill>
                  <a:schemeClr val="bg1"/>
                </a:solidFill>
                <a:cs typeface="Arial" pitchFamily="34" charset="0"/>
              </a:rPr>
              <a:t>Exposición al RO y Entorno de Control</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dirty="0"/>
              <a:t>Anexo: Ficha Individual Riesgos Operacionales</a:t>
            </a:r>
          </a:p>
        </p:txBody>
      </p:sp>
      <p:sp>
        <p:nvSpPr>
          <p:cNvPr id="3" name="AutoShape 179"/>
          <p:cNvSpPr>
            <a:spLocks noChangeArrowheads="1"/>
          </p:cNvSpPr>
          <p:nvPr/>
        </p:nvSpPr>
        <p:spPr bwMode="auto">
          <a:xfrm>
            <a:off x="611560" y="3421097"/>
            <a:ext cx="3960812" cy="1371600"/>
          </a:xfrm>
          <a:prstGeom prst="roundRect">
            <a:avLst>
              <a:gd name="adj" fmla="val 9481"/>
            </a:avLst>
          </a:prstGeom>
          <a:solidFill>
            <a:schemeClr val="accent1">
              <a:lumMod val="20000"/>
              <a:lumOff val="80000"/>
            </a:schemeClr>
          </a:solidFill>
          <a:ln w="9525" algn="ctr">
            <a:noFill/>
            <a:round/>
            <a:headEnd/>
            <a:tailEnd/>
          </a:ln>
          <a:effectLst/>
        </p:spPr>
        <p:txBody>
          <a:bodyPr wrap="none" anchor="ctr"/>
          <a:lstStyle/>
          <a:p>
            <a:endParaRPr lang="es-CL">
              <a:solidFill>
                <a:srgbClr val="002060"/>
              </a:solidFill>
            </a:endParaRPr>
          </a:p>
        </p:txBody>
      </p:sp>
      <p:sp>
        <p:nvSpPr>
          <p:cNvPr id="4" name="Rounded Rectangle 3"/>
          <p:cNvSpPr/>
          <p:nvPr/>
        </p:nvSpPr>
        <p:spPr>
          <a:xfrm>
            <a:off x="214497" y="764704"/>
            <a:ext cx="397063" cy="274320"/>
          </a:xfrm>
          <a:prstGeom prst="roundRect">
            <a:avLst/>
          </a:prstGeom>
          <a:solidFill>
            <a:srgbClr val="DB0613"/>
          </a:solidFill>
          <a:ln w="9525" algn="ctr">
            <a:noFill/>
            <a:miter lim="800000"/>
            <a:headEnd/>
            <a:tailEnd/>
          </a:ln>
          <a:effectLst/>
        </p:spPr>
        <p:txBody>
          <a:bodyPr anchor="ctr"/>
          <a:lstStyle/>
          <a:p>
            <a:pPr algn="ctr">
              <a:lnSpc>
                <a:spcPct val="80000"/>
              </a:lnSpc>
            </a:pPr>
            <a:r>
              <a:rPr lang="es-CL" sz="1200" b="1" dirty="0">
                <a:solidFill>
                  <a:srgbClr val="FFFFFF"/>
                </a:solidFill>
                <a:cs typeface="Arial" pitchFamily="34" charset="0"/>
              </a:rPr>
              <a:t>16</a:t>
            </a:r>
          </a:p>
        </p:txBody>
      </p:sp>
      <p:sp>
        <p:nvSpPr>
          <p:cNvPr id="5" name="Rectangle 18"/>
          <p:cNvSpPr>
            <a:spLocks noChangeArrowheads="1"/>
          </p:cNvSpPr>
          <p:nvPr/>
        </p:nvSpPr>
        <p:spPr bwMode="auto">
          <a:xfrm>
            <a:off x="227770" y="2409552"/>
            <a:ext cx="6400800" cy="839807"/>
          </a:xfrm>
          <a:prstGeom prst="rect">
            <a:avLst/>
          </a:prstGeom>
          <a:noFill/>
          <a:ln w="9525" algn="ctr">
            <a:solidFill>
              <a:schemeClr val="bg2"/>
            </a:solidFill>
            <a:miter lim="800000"/>
            <a:headEnd/>
            <a:tailEnd/>
          </a:ln>
          <a:effectLst/>
        </p:spPr>
        <p:txBody>
          <a:bodyPr/>
          <a:lstStyle/>
          <a:p>
            <a:r>
              <a:rPr lang="es-ES" sz="1100" dirty="0"/>
              <a:t>Fraude por declaración falsa del estado del vehículo (en los casos de "lugar inaccesible" cuando son requeridas las fotografías del vehículo)</a:t>
            </a:r>
            <a:endParaRPr lang="es-ES" sz="1100" dirty="0">
              <a:solidFill>
                <a:srgbClr val="002060"/>
              </a:solidFill>
            </a:endParaRPr>
          </a:p>
        </p:txBody>
      </p:sp>
      <p:sp>
        <p:nvSpPr>
          <p:cNvPr id="7" name="Text Box 30"/>
          <p:cNvSpPr txBox="1">
            <a:spLocks noChangeArrowheads="1"/>
          </p:cNvSpPr>
          <p:nvPr/>
        </p:nvSpPr>
        <p:spPr bwMode="auto">
          <a:xfrm>
            <a:off x="190747" y="3184957"/>
            <a:ext cx="3671888" cy="276999"/>
          </a:xfrm>
          <a:prstGeom prst="rect">
            <a:avLst/>
          </a:prstGeom>
          <a:noFill/>
          <a:ln w="9525" algn="ctr">
            <a:noFill/>
            <a:miter lim="800000"/>
            <a:headEnd/>
            <a:tailEnd/>
          </a:ln>
          <a:effectLst/>
        </p:spPr>
        <p:txBody>
          <a:bodyPr>
            <a:spAutoFit/>
          </a:bodyPr>
          <a:lstStyle/>
          <a:p>
            <a:pPr>
              <a:spcBef>
                <a:spcPct val="50000"/>
              </a:spcBef>
            </a:pPr>
            <a:r>
              <a:rPr lang="es-CL" sz="1200" b="1" i="1" dirty="0">
                <a:solidFill>
                  <a:srgbClr val="A3A3E0"/>
                </a:solidFill>
              </a:rPr>
              <a:t>Resultados valoración de riesgos</a:t>
            </a:r>
            <a:endParaRPr lang="es-ES" sz="1200" b="1" i="1" dirty="0">
              <a:solidFill>
                <a:srgbClr val="A3A3E0"/>
              </a:solidFill>
            </a:endParaRPr>
          </a:p>
        </p:txBody>
      </p:sp>
      <p:sp>
        <p:nvSpPr>
          <p:cNvPr id="8" name="Rounded Rectangle 7"/>
          <p:cNvSpPr/>
          <p:nvPr/>
        </p:nvSpPr>
        <p:spPr>
          <a:xfrm>
            <a:off x="652842" y="764704"/>
            <a:ext cx="8321040" cy="274320"/>
          </a:xfrm>
          <a:prstGeom prst="roundRect">
            <a:avLst/>
          </a:prstGeom>
          <a:solidFill>
            <a:srgbClr val="DB0613"/>
          </a:solidFill>
          <a:ln w="9525" algn="ctr">
            <a:noFill/>
            <a:miter lim="800000"/>
            <a:headEnd/>
            <a:tailEnd/>
          </a:ln>
          <a:effectLst/>
        </p:spPr>
        <p:txBody>
          <a:bodyPr anchor="ctr"/>
          <a:lstStyle/>
          <a:p>
            <a:pPr>
              <a:lnSpc>
                <a:spcPct val="80000"/>
              </a:lnSpc>
            </a:pPr>
            <a:r>
              <a:rPr lang="es-ES" sz="1200" dirty="0">
                <a:solidFill>
                  <a:schemeClr val="bg1"/>
                </a:solidFill>
              </a:rPr>
              <a:t>Fraude por declaración falsa del estado del vehículo.</a:t>
            </a:r>
            <a:endParaRPr lang="es-CL" sz="1200" b="1" dirty="0">
              <a:solidFill>
                <a:schemeClr val="bg1"/>
              </a:solidFill>
              <a:cs typeface="Arial" pitchFamily="34" charset="0"/>
            </a:endParaRPr>
          </a:p>
        </p:txBody>
      </p:sp>
      <p:sp>
        <p:nvSpPr>
          <p:cNvPr id="9" name="Rounded Rectangle 8"/>
          <p:cNvSpPr/>
          <p:nvPr/>
        </p:nvSpPr>
        <p:spPr>
          <a:xfrm>
            <a:off x="227770" y="2202383"/>
            <a:ext cx="64008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Descripción</a:t>
            </a:r>
          </a:p>
        </p:txBody>
      </p:sp>
      <p:sp>
        <p:nvSpPr>
          <p:cNvPr id="10" name="Rounded Rectangle 9"/>
          <p:cNvSpPr/>
          <p:nvPr/>
        </p:nvSpPr>
        <p:spPr>
          <a:xfrm>
            <a:off x="6716066" y="1089119"/>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Categoría  de Riesgo Nivel I</a:t>
            </a:r>
          </a:p>
        </p:txBody>
      </p:sp>
      <p:sp>
        <p:nvSpPr>
          <p:cNvPr id="11" name="Rectangle 18"/>
          <p:cNvSpPr>
            <a:spLocks noChangeArrowheads="1"/>
          </p:cNvSpPr>
          <p:nvPr/>
        </p:nvSpPr>
        <p:spPr bwMode="auto">
          <a:xfrm>
            <a:off x="6716066" y="1316374"/>
            <a:ext cx="2286000" cy="365760"/>
          </a:xfrm>
          <a:prstGeom prst="rect">
            <a:avLst/>
          </a:prstGeom>
          <a:noFill/>
          <a:ln w="9525" algn="ctr">
            <a:solidFill>
              <a:schemeClr val="bg2"/>
            </a:solidFill>
            <a:miter lim="800000"/>
            <a:headEnd/>
            <a:tailEnd/>
          </a:ln>
          <a:effectLst/>
        </p:spPr>
        <p:txBody>
          <a:bodyPr anchor="ctr"/>
          <a:lstStyle/>
          <a:p>
            <a:pPr>
              <a:lnSpc>
                <a:spcPts val="1000"/>
              </a:lnSpc>
            </a:pPr>
            <a:r>
              <a:rPr lang="es-ES" sz="1100" dirty="0"/>
              <a:t>Fraude Externo</a:t>
            </a:r>
          </a:p>
        </p:txBody>
      </p:sp>
      <p:sp>
        <p:nvSpPr>
          <p:cNvPr id="12" name="Rounded Rectangle 11"/>
          <p:cNvSpPr/>
          <p:nvPr/>
        </p:nvSpPr>
        <p:spPr>
          <a:xfrm>
            <a:off x="6716066" y="1725169"/>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Categoría de Riesgo Nivel II</a:t>
            </a:r>
          </a:p>
        </p:txBody>
      </p:sp>
      <p:sp>
        <p:nvSpPr>
          <p:cNvPr id="13" name="Rectangle 18"/>
          <p:cNvSpPr>
            <a:spLocks noChangeArrowheads="1"/>
          </p:cNvSpPr>
          <p:nvPr/>
        </p:nvSpPr>
        <p:spPr bwMode="auto">
          <a:xfrm>
            <a:off x="6716066" y="1942710"/>
            <a:ext cx="2286000" cy="274320"/>
          </a:xfrm>
          <a:prstGeom prst="rect">
            <a:avLst/>
          </a:prstGeom>
          <a:noFill/>
          <a:ln w="9525" algn="ctr">
            <a:solidFill>
              <a:schemeClr val="bg2"/>
            </a:solidFill>
            <a:miter lim="800000"/>
            <a:headEnd/>
            <a:tailEnd/>
          </a:ln>
          <a:effectLst/>
        </p:spPr>
        <p:txBody>
          <a:bodyPr anchor="ctr"/>
          <a:lstStyle/>
          <a:p>
            <a:r>
              <a:rPr lang="es-ES" sz="1100" dirty="0"/>
              <a:t>Robo y fraude</a:t>
            </a:r>
          </a:p>
        </p:txBody>
      </p:sp>
      <p:sp>
        <p:nvSpPr>
          <p:cNvPr id="16" name="Rectangle 18"/>
          <p:cNvSpPr>
            <a:spLocks noChangeArrowheads="1"/>
          </p:cNvSpPr>
          <p:nvPr/>
        </p:nvSpPr>
        <p:spPr bwMode="auto">
          <a:xfrm>
            <a:off x="6716066" y="2459337"/>
            <a:ext cx="2286000" cy="506469"/>
          </a:xfrm>
          <a:prstGeom prst="rect">
            <a:avLst/>
          </a:prstGeom>
          <a:noFill/>
          <a:ln w="9525" algn="ctr">
            <a:solidFill>
              <a:schemeClr val="bg2"/>
            </a:solidFill>
            <a:miter lim="800000"/>
            <a:headEnd/>
            <a:tailEnd/>
          </a:ln>
          <a:effectLst/>
        </p:spPr>
        <p:txBody>
          <a:bodyPr anchor="ctr"/>
          <a:lstStyle/>
          <a:p>
            <a:r>
              <a:rPr lang="es-ES" sz="1100" dirty="0"/>
              <a:t>Falsificación, suplantación de identidad</a:t>
            </a:r>
            <a:endParaRPr lang="es-ES" sz="1100" dirty="0">
              <a:solidFill>
                <a:srgbClr val="002060"/>
              </a:solidFill>
            </a:endParaRPr>
          </a:p>
        </p:txBody>
      </p:sp>
      <p:sp>
        <p:nvSpPr>
          <p:cNvPr id="17" name="Rounded Rectangle 16"/>
          <p:cNvSpPr/>
          <p:nvPr/>
        </p:nvSpPr>
        <p:spPr>
          <a:xfrm>
            <a:off x="227770" y="1110038"/>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Macroproceso</a:t>
            </a:r>
          </a:p>
        </p:txBody>
      </p:sp>
      <p:sp>
        <p:nvSpPr>
          <p:cNvPr id="18" name="Rectangle 18"/>
          <p:cNvSpPr>
            <a:spLocks noChangeArrowheads="1"/>
          </p:cNvSpPr>
          <p:nvPr/>
        </p:nvSpPr>
        <p:spPr bwMode="auto">
          <a:xfrm>
            <a:off x="2568409" y="1110038"/>
            <a:ext cx="4060161" cy="182880"/>
          </a:xfrm>
          <a:prstGeom prst="rect">
            <a:avLst/>
          </a:prstGeom>
          <a:noFill/>
          <a:ln w="9525" algn="ctr">
            <a:solidFill>
              <a:schemeClr val="bg2"/>
            </a:solidFill>
            <a:miter lim="800000"/>
            <a:headEnd/>
            <a:tailEnd/>
          </a:ln>
          <a:effectLst/>
        </p:spPr>
        <p:txBody>
          <a:bodyPr anchor="ctr"/>
          <a:lstStyle/>
          <a:p>
            <a:r>
              <a:rPr lang="es-ES" sz="1100" dirty="0"/>
              <a:t>Generación de Negocio</a:t>
            </a:r>
          </a:p>
        </p:txBody>
      </p:sp>
      <p:sp>
        <p:nvSpPr>
          <p:cNvPr id="19" name="Rounded Rectangle 18"/>
          <p:cNvSpPr/>
          <p:nvPr/>
        </p:nvSpPr>
        <p:spPr>
          <a:xfrm>
            <a:off x="227770" y="1339045"/>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Proceso</a:t>
            </a:r>
          </a:p>
        </p:txBody>
      </p:sp>
      <p:sp>
        <p:nvSpPr>
          <p:cNvPr id="20" name="Rectangle 18"/>
          <p:cNvSpPr>
            <a:spLocks noChangeArrowheads="1"/>
          </p:cNvSpPr>
          <p:nvPr/>
        </p:nvSpPr>
        <p:spPr bwMode="auto">
          <a:xfrm>
            <a:off x="2568409" y="1339045"/>
            <a:ext cx="4060161" cy="182880"/>
          </a:xfrm>
          <a:prstGeom prst="rect">
            <a:avLst/>
          </a:prstGeom>
          <a:noFill/>
          <a:ln w="9525" algn="ctr">
            <a:solidFill>
              <a:schemeClr val="bg2"/>
            </a:solidFill>
            <a:miter lim="800000"/>
            <a:headEnd/>
            <a:tailEnd/>
          </a:ln>
          <a:effectLst/>
        </p:spPr>
        <p:txBody>
          <a:bodyPr anchor="ctr"/>
          <a:lstStyle/>
          <a:p>
            <a:r>
              <a:rPr lang="es-ES" sz="1100" dirty="0"/>
              <a:t>Suscripción</a:t>
            </a:r>
          </a:p>
        </p:txBody>
      </p:sp>
      <p:sp>
        <p:nvSpPr>
          <p:cNvPr id="21" name="Rectangle 29"/>
          <p:cNvSpPr>
            <a:spLocks noChangeArrowheads="1"/>
          </p:cNvSpPr>
          <p:nvPr/>
        </p:nvSpPr>
        <p:spPr bwMode="auto">
          <a:xfrm>
            <a:off x="107504" y="3309415"/>
            <a:ext cx="8961120" cy="1607926"/>
          </a:xfrm>
          <a:prstGeom prst="rect">
            <a:avLst/>
          </a:prstGeom>
          <a:noFill/>
          <a:ln w="19050" cap="rnd" algn="ctr">
            <a:solidFill>
              <a:schemeClr val="bg2"/>
            </a:solidFill>
            <a:prstDash val="sysDot"/>
            <a:miter lim="800000"/>
            <a:headEnd/>
            <a:tailEnd/>
          </a:ln>
          <a:effectLst/>
        </p:spPr>
        <p:txBody>
          <a:bodyPr wrap="none" anchor="ctr"/>
          <a:lstStyle/>
          <a:p>
            <a:endParaRPr lang="en-US">
              <a:solidFill>
                <a:srgbClr val="002060"/>
              </a:solidFill>
            </a:endParaRPr>
          </a:p>
        </p:txBody>
      </p:sp>
      <p:sp>
        <p:nvSpPr>
          <p:cNvPr id="22" name="Rounded Rectangle 21"/>
          <p:cNvSpPr/>
          <p:nvPr/>
        </p:nvSpPr>
        <p:spPr>
          <a:xfrm>
            <a:off x="902959" y="4267863"/>
            <a:ext cx="1920240" cy="182880"/>
          </a:xfrm>
          <a:prstGeom prst="roundRect">
            <a:avLst/>
          </a:prstGeom>
          <a:solidFill>
            <a:srgbClr val="DB0613"/>
          </a:solidFill>
          <a:ln w="9525" algn="ctr">
            <a:noFill/>
            <a:miter lim="800000"/>
            <a:headEnd/>
            <a:tailEnd/>
          </a:ln>
          <a:effectLst/>
        </p:spPr>
        <p:txBody>
          <a:bodyPr tIns="91440" anchor="ctr"/>
          <a:lstStyle/>
          <a:p>
            <a:pPr>
              <a:lnSpc>
                <a:spcPct val="80000"/>
              </a:lnSpc>
            </a:pPr>
            <a:r>
              <a:rPr lang="es-CL" sz="1100" b="1" dirty="0">
                <a:solidFill>
                  <a:srgbClr val="FFFFFF"/>
                </a:solidFill>
                <a:cs typeface="Arial" pitchFamily="34" charset="0"/>
              </a:rPr>
              <a:t>Pérdida Esperada Anual</a:t>
            </a:r>
          </a:p>
        </p:txBody>
      </p:sp>
      <p:sp>
        <p:nvSpPr>
          <p:cNvPr id="23" name="Rectangle 18"/>
          <p:cNvSpPr>
            <a:spLocks noChangeArrowheads="1"/>
          </p:cNvSpPr>
          <p:nvPr/>
        </p:nvSpPr>
        <p:spPr bwMode="auto">
          <a:xfrm>
            <a:off x="2859920" y="4267863"/>
            <a:ext cx="1554480" cy="182880"/>
          </a:xfrm>
          <a:prstGeom prst="rect">
            <a:avLst/>
          </a:prstGeom>
          <a:solidFill>
            <a:schemeClr val="bg1"/>
          </a:solidFill>
          <a:ln w="9525" algn="ctr">
            <a:solidFill>
              <a:schemeClr val="bg2"/>
            </a:solidFill>
            <a:miter lim="800000"/>
            <a:headEnd/>
            <a:tailEnd/>
          </a:ln>
          <a:effectLst/>
        </p:spPr>
        <p:txBody>
          <a:bodyPr anchor="ctr"/>
          <a:lstStyle/>
          <a:p>
            <a:pPr algn="ctr"/>
            <a:r>
              <a:rPr lang="es-ES" sz="1100" dirty="0"/>
              <a:t>S/. 5,355,000.00</a:t>
            </a:r>
          </a:p>
        </p:txBody>
      </p:sp>
      <p:sp>
        <p:nvSpPr>
          <p:cNvPr id="24" name="Rounded Rectangle 23"/>
          <p:cNvSpPr/>
          <p:nvPr/>
        </p:nvSpPr>
        <p:spPr>
          <a:xfrm>
            <a:off x="902959" y="4497475"/>
            <a:ext cx="192024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VaR Cualitativo Anual</a:t>
            </a:r>
          </a:p>
        </p:txBody>
      </p:sp>
      <p:sp>
        <p:nvSpPr>
          <p:cNvPr id="25" name="Rectangle 18"/>
          <p:cNvSpPr>
            <a:spLocks noChangeArrowheads="1"/>
          </p:cNvSpPr>
          <p:nvPr/>
        </p:nvSpPr>
        <p:spPr bwMode="auto">
          <a:xfrm>
            <a:off x="2859920" y="4497475"/>
            <a:ext cx="1554480" cy="182880"/>
          </a:xfrm>
          <a:prstGeom prst="rect">
            <a:avLst/>
          </a:prstGeom>
          <a:solidFill>
            <a:schemeClr val="bg1"/>
          </a:solidFill>
          <a:ln w="9525" algn="ctr">
            <a:solidFill>
              <a:schemeClr val="bg2"/>
            </a:solidFill>
            <a:miter lim="800000"/>
            <a:headEnd/>
            <a:tailEnd/>
          </a:ln>
          <a:effectLst/>
        </p:spPr>
        <p:txBody>
          <a:bodyPr anchor="ctr"/>
          <a:lstStyle/>
          <a:p>
            <a:pPr algn="ctr"/>
            <a:r>
              <a:rPr lang="es-ES" sz="1100" dirty="0"/>
              <a:t>S/. 7,974,526.47</a:t>
            </a:r>
          </a:p>
        </p:txBody>
      </p:sp>
      <p:sp>
        <p:nvSpPr>
          <p:cNvPr id="26" name="Rounded Rectangle 25"/>
          <p:cNvSpPr/>
          <p:nvPr/>
        </p:nvSpPr>
        <p:spPr>
          <a:xfrm>
            <a:off x="891084" y="3504477"/>
            <a:ext cx="192024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Frecuencia  Evento Pérdida</a:t>
            </a:r>
          </a:p>
        </p:txBody>
      </p:sp>
      <p:sp>
        <p:nvSpPr>
          <p:cNvPr id="27" name="Rectangle 18"/>
          <p:cNvSpPr>
            <a:spLocks noChangeArrowheads="1"/>
          </p:cNvSpPr>
          <p:nvPr/>
        </p:nvSpPr>
        <p:spPr bwMode="auto">
          <a:xfrm>
            <a:off x="2859920" y="3504477"/>
            <a:ext cx="1554480" cy="182880"/>
          </a:xfrm>
          <a:prstGeom prst="rect">
            <a:avLst/>
          </a:prstGeom>
          <a:solidFill>
            <a:schemeClr val="bg1"/>
          </a:solidFill>
          <a:ln w="9525" algn="ctr">
            <a:solidFill>
              <a:schemeClr val="bg2"/>
            </a:solidFill>
            <a:miter lim="800000"/>
            <a:headEnd/>
            <a:tailEnd/>
          </a:ln>
          <a:effectLst/>
        </p:spPr>
        <p:txBody>
          <a:bodyPr anchor="ctr"/>
          <a:lstStyle/>
          <a:p>
            <a:pPr algn="ctr"/>
            <a:r>
              <a:rPr lang="es-ES" sz="1100" dirty="0">
                <a:solidFill>
                  <a:srgbClr val="002060"/>
                </a:solidFill>
              </a:rPr>
              <a:t>5 veces al mes</a:t>
            </a:r>
          </a:p>
        </p:txBody>
      </p:sp>
      <p:sp>
        <p:nvSpPr>
          <p:cNvPr id="28" name="Rounded Rectangle 27"/>
          <p:cNvSpPr/>
          <p:nvPr/>
        </p:nvSpPr>
        <p:spPr>
          <a:xfrm>
            <a:off x="891084" y="3734089"/>
            <a:ext cx="192024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Impacto Medio Evento</a:t>
            </a:r>
          </a:p>
        </p:txBody>
      </p:sp>
      <p:sp>
        <p:nvSpPr>
          <p:cNvPr id="29" name="Rectangle 18"/>
          <p:cNvSpPr>
            <a:spLocks noChangeArrowheads="1"/>
          </p:cNvSpPr>
          <p:nvPr/>
        </p:nvSpPr>
        <p:spPr bwMode="auto">
          <a:xfrm>
            <a:off x="2859920" y="3734089"/>
            <a:ext cx="1554480" cy="182880"/>
          </a:xfrm>
          <a:prstGeom prst="rect">
            <a:avLst/>
          </a:prstGeom>
          <a:solidFill>
            <a:schemeClr val="bg1"/>
          </a:solidFill>
          <a:ln w="9525" algn="ctr">
            <a:solidFill>
              <a:schemeClr val="bg2"/>
            </a:solidFill>
            <a:miter lim="800000"/>
            <a:headEnd/>
            <a:tailEnd/>
          </a:ln>
          <a:effectLst/>
        </p:spPr>
        <p:txBody>
          <a:bodyPr anchor="ctr"/>
          <a:lstStyle/>
          <a:p>
            <a:pPr algn="ctr"/>
            <a:r>
              <a:rPr lang="es-ES" sz="1100" dirty="0"/>
              <a:t>S/. 89,250.00</a:t>
            </a:r>
            <a:endParaRPr lang="es-ES" sz="1100" dirty="0">
              <a:solidFill>
                <a:srgbClr val="002060"/>
              </a:solidFill>
            </a:endParaRPr>
          </a:p>
        </p:txBody>
      </p:sp>
      <p:sp>
        <p:nvSpPr>
          <p:cNvPr id="30" name="Rounded Rectangle 29"/>
          <p:cNvSpPr/>
          <p:nvPr/>
        </p:nvSpPr>
        <p:spPr>
          <a:xfrm>
            <a:off x="891084" y="3969669"/>
            <a:ext cx="192024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Impacto Peor Escenario</a:t>
            </a:r>
          </a:p>
        </p:txBody>
      </p:sp>
      <p:sp>
        <p:nvSpPr>
          <p:cNvPr id="31" name="Rectangle 18"/>
          <p:cNvSpPr>
            <a:spLocks noChangeArrowheads="1"/>
          </p:cNvSpPr>
          <p:nvPr/>
        </p:nvSpPr>
        <p:spPr bwMode="auto">
          <a:xfrm>
            <a:off x="2859920" y="3969669"/>
            <a:ext cx="1554480" cy="182880"/>
          </a:xfrm>
          <a:prstGeom prst="rect">
            <a:avLst/>
          </a:prstGeom>
          <a:solidFill>
            <a:schemeClr val="bg1"/>
          </a:solidFill>
          <a:ln w="9525" algn="ctr">
            <a:solidFill>
              <a:schemeClr val="bg2"/>
            </a:solidFill>
            <a:miter lim="800000"/>
            <a:headEnd/>
            <a:tailEnd/>
          </a:ln>
          <a:effectLst/>
        </p:spPr>
        <p:txBody>
          <a:bodyPr anchor="ctr"/>
          <a:lstStyle/>
          <a:p>
            <a:pPr algn="ctr"/>
            <a:r>
              <a:rPr lang="es-ES" sz="1100" dirty="0"/>
              <a:t>S/. 255,000.00</a:t>
            </a:r>
            <a:endParaRPr lang="es-ES" sz="1100" dirty="0">
              <a:solidFill>
                <a:srgbClr val="002060"/>
              </a:solidFill>
            </a:endParaRPr>
          </a:p>
        </p:txBody>
      </p:sp>
      <p:sp>
        <p:nvSpPr>
          <p:cNvPr id="32" name="AutoShape 47"/>
          <p:cNvSpPr>
            <a:spLocks noChangeAspect="1" noChangeArrowheads="1"/>
          </p:cNvSpPr>
          <p:nvPr/>
        </p:nvSpPr>
        <p:spPr bwMode="blackWhite">
          <a:xfrm>
            <a:off x="263033" y="3418822"/>
            <a:ext cx="492543" cy="1339083"/>
          </a:xfrm>
          <a:prstGeom prst="rightArrow">
            <a:avLst>
              <a:gd name="adj1" fmla="val 100000"/>
              <a:gd name="adj2" fmla="val 11009"/>
            </a:avLst>
          </a:prstGeom>
          <a:solidFill>
            <a:srgbClr val="969696"/>
          </a:solidFill>
          <a:ln w="12700">
            <a:noFill/>
            <a:miter lim="800000"/>
            <a:headEnd/>
            <a:tailEnd/>
          </a:ln>
          <a:effectLst>
            <a:outerShdw dist="35921" dir="2700000" algn="ctr" rotWithShape="0">
              <a:schemeClr val="bg2"/>
            </a:outerShdw>
          </a:effectLst>
        </p:spPr>
        <p:txBody>
          <a:bodyPr vert="vert270" anchor="ctr"/>
          <a:lstStyle/>
          <a:p>
            <a:pPr algn="ctr">
              <a:lnSpc>
                <a:spcPts val="1000"/>
              </a:lnSpc>
            </a:pPr>
            <a:r>
              <a:rPr lang="es-ES" sz="1200" b="1" noProof="1">
                <a:solidFill>
                  <a:srgbClr val="FFFFFF"/>
                </a:solidFill>
                <a:cs typeface="Arial" charset="0"/>
              </a:rPr>
              <a:t>Evaluación Riesgo Operacional</a:t>
            </a:r>
          </a:p>
        </p:txBody>
      </p:sp>
      <p:sp>
        <p:nvSpPr>
          <p:cNvPr id="43" name="Text Box 30"/>
          <p:cNvSpPr txBox="1">
            <a:spLocks noChangeArrowheads="1"/>
          </p:cNvSpPr>
          <p:nvPr/>
        </p:nvSpPr>
        <p:spPr bwMode="auto">
          <a:xfrm>
            <a:off x="190746" y="4893591"/>
            <a:ext cx="4741293" cy="276999"/>
          </a:xfrm>
          <a:prstGeom prst="rect">
            <a:avLst/>
          </a:prstGeom>
          <a:noFill/>
          <a:ln w="9525" algn="ctr">
            <a:noFill/>
            <a:miter lim="800000"/>
            <a:headEnd/>
            <a:tailEnd/>
          </a:ln>
          <a:effectLst/>
        </p:spPr>
        <p:txBody>
          <a:bodyPr wrap="square">
            <a:spAutoFit/>
          </a:bodyPr>
          <a:lstStyle/>
          <a:p>
            <a:pPr>
              <a:spcBef>
                <a:spcPct val="50000"/>
              </a:spcBef>
            </a:pPr>
            <a:r>
              <a:rPr lang="es-CL" sz="1200" b="1" i="1" dirty="0">
                <a:solidFill>
                  <a:srgbClr val="A3A3E0"/>
                </a:solidFill>
              </a:rPr>
              <a:t>Resultados valoración de controles / factores mitigantes</a:t>
            </a:r>
            <a:endParaRPr lang="es-ES" sz="1200" b="1" i="1" dirty="0">
              <a:solidFill>
                <a:srgbClr val="A3A3E0"/>
              </a:solidFill>
            </a:endParaRPr>
          </a:p>
        </p:txBody>
      </p:sp>
      <p:sp>
        <p:nvSpPr>
          <p:cNvPr id="59" name="Rounded Rectangle 58"/>
          <p:cNvSpPr/>
          <p:nvPr/>
        </p:nvSpPr>
        <p:spPr>
          <a:xfrm>
            <a:off x="223049" y="1554311"/>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Subproceso</a:t>
            </a:r>
          </a:p>
        </p:txBody>
      </p:sp>
      <p:sp>
        <p:nvSpPr>
          <p:cNvPr id="60" name="Rectangle 18"/>
          <p:cNvSpPr>
            <a:spLocks noChangeArrowheads="1"/>
          </p:cNvSpPr>
          <p:nvPr/>
        </p:nvSpPr>
        <p:spPr bwMode="auto">
          <a:xfrm>
            <a:off x="2563688" y="1554311"/>
            <a:ext cx="4064882" cy="182880"/>
          </a:xfrm>
          <a:prstGeom prst="rect">
            <a:avLst/>
          </a:prstGeom>
          <a:noFill/>
          <a:ln w="9525" algn="ctr">
            <a:solidFill>
              <a:schemeClr val="bg2"/>
            </a:solidFill>
            <a:miter lim="800000"/>
            <a:headEnd/>
            <a:tailEnd/>
          </a:ln>
          <a:effectLst/>
        </p:spPr>
        <p:txBody>
          <a:bodyPr anchor="ctr"/>
          <a:lstStyle/>
          <a:p>
            <a:r>
              <a:rPr lang="es-ES" sz="1100" dirty="0"/>
              <a:t>Inspección Técnica</a:t>
            </a:r>
          </a:p>
        </p:txBody>
      </p:sp>
      <p:sp>
        <p:nvSpPr>
          <p:cNvPr id="57" name="Rounded Rectangle 56"/>
          <p:cNvSpPr/>
          <p:nvPr/>
        </p:nvSpPr>
        <p:spPr>
          <a:xfrm>
            <a:off x="223049" y="1771093"/>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Línea de Negocio</a:t>
            </a:r>
          </a:p>
        </p:txBody>
      </p:sp>
      <p:sp>
        <p:nvSpPr>
          <p:cNvPr id="58" name="Rectangle 18"/>
          <p:cNvSpPr>
            <a:spLocks noChangeArrowheads="1"/>
          </p:cNvSpPr>
          <p:nvPr/>
        </p:nvSpPr>
        <p:spPr bwMode="auto">
          <a:xfrm>
            <a:off x="2563688" y="1771093"/>
            <a:ext cx="4064882" cy="182880"/>
          </a:xfrm>
          <a:prstGeom prst="rect">
            <a:avLst/>
          </a:prstGeom>
          <a:noFill/>
          <a:ln w="9525" algn="ctr">
            <a:solidFill>
              <a:schemeClr val="bg2"/>
            </a:solidFill>
            <a:miter lim="800000"/>
            <a:headEnd/>
            <a:tailEnd/>
          </a:ln>
          <a:effectLst/>
        </p:spPr>
        <p:txBody>
          <a:bodyPr anchor="ctr"/>
          <a:lstStyle/>
          <a:p>
            <a:r>
              <a:rPr lang="es-ES" sz="1100" dirty="0"/>
              <a:t>Ramos Generales</a:t>
            </a:r>
          </a:p>
        </p:txBody>
      </p:sp>
      <p:sp>
        <p:nvSpPr>
          <p:cNvPr id="61" name="Rounded Rectangle 60"/>
          <p:cNvSpPr/>
          <p:nvPr/>
        </p:nvSpPr>
        <p:spPr>
          <a:xfrm>
            <a:off x="223049" y="1986359"/>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Responsable</a:t>
            </a:r>
          </a:p>
        </p:txBody>
      </p:sp>
      <p:sp>
        <p:nvSpPr>
          <p:cNvPr id="62" name="Rectangle 18"/>
          <p:cNvSpPr>
            <a:spLocks noChangeArrowheads="1"/>
          </p:cNvSpPr>
          <p:nvPr/>
        </p:nvSpPr>
        <p:spPr bwMode="auto">
          <a:xfrm>
            <a:off x="2558967" y="1986359"/>
            <a:ext cx="4069603" cy="182880"/>
          </a:xfrm>
          <a:prstGeom prst="rect">
            <a:avLst/>
          </a:prstGeom>
          <a:noFill/>
          <a:ln w="9525" algn="ctr">
            <a:solidFill>
              <a:schemeClr val="bg2"/>
            </a:solidFill>
            <a:miter lim="800000"/>
            <a:headEnd/>
            <a:tailEnd/>
          </a:ln>
          <a:effectLst/>
        </p:spPr>
        <p:txBody>
          <a:bodyPr anchor="ctr"/>
          <a:lstStyle/>
          <a:p>
            <a:r>
              <a:rPr lang="es-ES" sz="1100" dirty="0"/>
              <a:t>Jefe de Gestión Operativa de Vehículos y Riesgos Generales</a:t>
            </a:r>
            <a:endParaRPr lang="es-ES" sz="1100" dirty="0">
              <a:solidFill>
                <a:srgbClr val="002060"/>
              </a:solidFill>
            </a:endParaRPr>
          </a:p>
        </p:txBody>
      </p:sp>
      <p:sp>
        <p:nvSpPr>
          <p:cNvPr id="63" name="Rounded Rectangle 62"/>
          <p:cNvSpPr/>
          <p:nvPr/>
        </p:nvSpPr>
        <p:spPr>
          <a:xfrm>
            <a:off x="6732240" y="2276457"/>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Categoría de Riesgo Nivel III</a:t>
            </a:r>
          </a:p>
        </p:txBody>
      </p:sp>
      <p:sp>
        <p:nvSpPr>
          <p:cNvPr id="64" name="Rounded Rectangle 14"/>
          <p:cNvSpPr/>
          <p:nvPr/>
        </p:nvSpPr>
        <p:spPr>
          <a:xfrm>
            <a:off x="6732240" y="2908110"/>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Origen del Riesgo</a:t>
            </a:r>
          </a:p>
        </p:txBody>
      </p:sp>
      <p:sp>
        <p:nvSpPr>
          <p:cNvPr id="65" name="Rectangle 18"/>
          <p:cNvSpPr>
            <a:spLocks noChangeArrowheads="1"/>
          </p:cNvSpPr>
          <p:nvPr/>
        </p:nvSpPr>
        <p:spPr bwMode="auto">
          <a:xfrm>
            <a:off x="6732240" y="3097975"/>
            <a:ext cx="2286000" cy="270000"/>
          </a:xfrm>
          <a:prstGeom prst="rect">
            <a:avLst/>
          </a:prstGeom>
          <a:noFill/>
          <a:ln w="9525" algn="ctr">
            <a:solidFill>
              <a:schemeClr val="bg2"/>
            </a:solidFill>
            <a:miter lim="800000"/>
            <a:headEnd/>
            <a:tailEnd/>
          </a:ln>
          <a:effectLst/>
        </p:spPr>
        <p:txBody>
          <a:bodyPr anchor="ctr"/>
          <a:lstStyle/>
          <a:p>
            <a:r>
              <a:rPr lang="es-ES" sz="1100" dirty="0">
                <a:solidFill>
                  <a:srgbClr val="000000"/>
                </a:solidFill>
              </a:rPr>
              <a:t>Eventos Externos</a:t>
            </a:r>
          </a:p>
        </p:txBody>
      </p:sp>
      <p:sp>
        <p:nvSpPr>
          <p:cNvPr id="66" name="AutoShape 179"/>
          <p:cNvSpPr>
            <a:spLocks noChangeArrowheads="1"/>
          </p:cNvSpPr>
          <p:nvPr/>
        </p:nvSpPr>
        <p:spPr bwMode="auto">
          <a:xfrm>
            <a:off x="4932039" y="3476308"/>
            <a:ext cx="4037169" cy="864000"/>
          </a:xfrm>
          <a:prstGeom prst="roundRect">
            <a:avLst>
              <a:gd name="adj" fmla="val 9481"/>
            </a:avLst>
          </a:prstGeom>
          <a:solidFill>
            <a:schemeClr val="accent1">
              <a:lumMod val="20000"/>
              <a:lumOff val="80000"/>
            </a:schemeClr>
          </a:solidFill>
          <a:ln w="9525" algn="ctr">
            <a:noFill/>
            <a:round/>
            <a:headEnd/>
            <a:tailEnd/>
          </a:ln>
          <a:effectLst/>
        </p:spPr>
        <p:txBody>
          <a:bodyPr wrap="none" anchor="ctr"/>
          <a:lstStyle/>
          <a:p>
            <a:endParaRPr lang="es-CL">
              <a:solidFill>
                <a:srgbClr val="002060"/>
              </a:solidFill>
            </a:endParaRPr>
          </a:p>
        </p:txBody>
      </p:sp>
      <p:sp>
        <p:nvSpPr>
          <p:cNvPr id="67" name="AutoShape 47"/>
          <p:cNvSpPr>
            <a:spLocks noChangeArrowheads="1"/>
          </p:cNvSpPr>
          <p:nvPr/>
        </p:nvSpPr>
        <p:spPr bwMode="blackWhite">
          <a:xfrm>
            <a:off x="4678512" y="3477810"/>
            <a:ext cx="353942" cy="864000"/>
          </a:xfrm>
          <a:prstGeom prst="rightArrow">
            <a:avLst>
              <a:gd name="adj1" fmla="val 100000"/>
              <a:gd name="adj2" fmla="val 11009"/>
            </a:avLst>
          </a:prstGeom>
          <a:solidFill>
            <a:srgbClr val="969696"/>
          </a:solidFill>
          <a:ln w="12700">
            <a:noFill/>
            <a:miter lim="800000"/>
            <a:headEnd/>
            <a:tailEnd/>
          </a:ln>
          <a:effectLst>
            <a:outerShdw dist="35921" dir="2700000" algn="ctr" rotWithShape="0">
              <a:schemeClr val="bg2"/>
            </a:outerShdw>
          </a:effectLst>
        </p:spPr>
        <p:txBody>
          <a:bodyPr vert="vert270" anchor="ctr"/>
          <a:lstStyle/>
          <a:p>
            <a:pPr algn="ctr">
              <a:lnSpc>
                <a:spcPts val="1000"/>
              </a:lnSpc>
            </a:pPr>
            <a:r>
              <a:rPr lang="es-ES" sz="1100" b="1" noProof="1">
                <a:solidFill>
                  <a:srgbClr val="FFFFFF"/>
                </a:solidFill>
                <a:cs typeface="Arial" charset="0"/>
              </a:rPr>
              <a:t>Impacto Reputacional</a:t>
            </a:r>
          </a:p>
        </p:txBody>
      </p:sp>
      <p:sp>
        <p:nvSpPr>
          <p:cNvPr id="68" name="Rectangle 18"/>
          <p:cNvSpPr>
            <a:spLocks noChangeArrowheads="1"/>
          </p:cNvSpPr>
          <p:nvPr/>
        </p:nvSpPr>
        <p:spPr bwMode="auto">
          <a:xfrm>
            <a:off x="8334310" y="3551575"/>
            <a:ext cx="548640" cy="170094"/>
          </a:xfrm>
          <a:prstGeom prst="rect">
            <a:avLst/>
          </a:prstGeom>
          <a:solidFill>
            <a:schemeClr val="bg1"/>
          </a:solidFill>
          <a:ln w="9525" algn="ctr">
            <a:solidFill>
              <a:schemeClr val="bg2"/>
            </a:solidFill>
            <a:miter lim="800000"/>
            <a:headEnd/>
            <a:tailEnd/>
          </a:ln>
          <a:effectLst/>
        </p:spPr>
        <p:txBody>
          <a:bodyPr anchor="ctr"/>
          <a:lstStyle/>
          <a:p>
            <a:pPr algn="ctr"/>
            <a:r>
              <a:rPr lang="es-ES" sz="1100" dirty="0"/>
              <a:t>3</a:t>
            </a:r>
          </a:p>
        </p:txBody>
      </p:sp>
      <p:sp>
        <p:nvSpPr>
          <p:cNvPr id="69" name="Rounded Rectangle 68"/>
          <p:cNvSpPr/>
          <p:nvPr/>
        </p:nvSpPr>
        <p:spPr>
          <a:xfrm>
            <a:off x="5102950" y="3551575"/>
            <a:ext cx="3132000" cy="170094"/>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Afectación a Clientes</a:t>
            </a:r>
          </a:p>
        </p:txBody>
      </p:sp>
      <p:sp>
        <p:nvSpPr>
          <p:cNvPr id="70" name="Rectangle 18"/>
          <p:cNvSpPr>
            <a:spLocks noChangeArrowheads="1"/>
          </p:cNvSpPr>
          <p:nvPr/>
        </p:nvSpPr>
        <p:spPr bwMode="auto">
          <a:xfrm>
            <a:off x="5102950" y="3769732"/>
            <a:ext cx="3780000" cy="469509"/>
          </a:xfrm>
          <a:prstGeom prst="rect">
            <a:avLst/>
          </a:prstGeom>
          <a:solidFill>
            <a:schemeClr val="bg1"/>
          </a:solidFill>
          <a:ln w="9525" algn="ctr">
            <a:solidFill>
              <a:schemeClr val="bg2"/>
            </a:solidFill>
            <a:miter lim="800000"/>
            <a:headEnd/>
            <a:tailEnd/>
          </a:ln>
          <a:effectLst/>
        </p:spPr>
        <p:txBody>
          <a:bodyPr anchor="ctr"/>
          <a:lstStyle/>
          <a:p>
            <a:r>
              <a:rPr lang="es-ES" sz="1100" dirty="0">
                <a:solidFill>
                  <a:srgbClr val="000000"/>
                </a:solidFill>
              </a:rPr>
              <a:t>La exposición de la imagen es interna y externa con un nivel de impacto medio.</a:t>
            </a:r>
          </a:p>
        </p:txBody>
      </p:sp>
      <p:sp>
        <p:nvSpPr>
          <p:cNvPr id="73" name="AutoShape 179"/>
          <p:cNvSpPr>
            <a:spLocks noChangeArrowheads="1"/>
          </p:cNvSpPr>
          <p:nvPr/>
        </p:nvSpPr>
        <p:spPr bwMode="auto">
          <a:xfrm>
            <a:off x="4927319" y="4380524"/>
            <a:ext cx="4037169" cy="1065627"/>
          </a:xfrm>
          <a:prstGeom prst="roundRect">
            <a:avLst>
              <a:gd name="adj" fmla="val 9481"/>
            </a:avLst>
          </a:prstGeom>
          <a:solidFill>
            <a:schemeClr val="accent1">
              <a:lumMod val="20000"/>
              <a:lumOff val="80000"/>
            </a:schemeClr>
          </a:solidFill>
          <a:ln w="9525" algn="ctr">
            <a:noFill/>
            <a:round/>
            <a:headEnd/>
            <a:tailEnd/>
          </a:ln>
          <a:effectLst/>
        </p:spPr>
        <p:txBody>
          <a:bodyPr wrap="none" anchor="ctr"/>
          <a:lstStyle/>
          <a:p>
            <a:endParaRPr lang="es-CL">
              <a:solidFill>
                <a:srgbClr val="002060"/>
              </a:solidFill>
            </a:endParaRPr>
          </a:p>
        </p:txBody>
      </p:sp>
      <p:sp>
        <p:nvSpPr>
          <p:cNvPr id="74" name="AutoShape 47"/>
          <p:cNvSpPr>
            <a:spLocks noChangeArrowheads="1"/>
          </p:cNvSpPr>
          <p:nvPr/>
        </p:nvSpPr>
        <p:spPr bwMode="blackWhite">
          <a:xfrm>
            <a:off x="4673792" y="4382026"/>
            <a:ext cx="352800" cy="1065627"/>
          </a:xfrm>
          <a:prstGeom prst="rightArrow">
            <a:avLst>
              <a:gd name="adj1" fmla="val 100000"/>
              <a:gd name="adj2" fmla="val 11009"/>
            </a:avLst>
          </a:prstGeom>
          <a:solidFill>
            <a:srgbClr val="969696"/>
          </a:solidFill>
          <a:ln w="12700">
            <a:noFill/>
            <a:miter lim="800000"/>
            <a:headEnd/>
            <a:tailEnd/>
          </a:ln>
          <a:effectLst>
            <a:outerShdw dist="35921" dir="2700000" algn="ctr" rotWithShape="0">
              <a:schemeClr val="bg2"/>
            </a:outerShdw>
          </a:effectLst>
        </p:spPr>
        <p:txBody>
          <a:bodyPr vert="vert270" anchor="ctr"/>
          <a:lstStyle/>
          <a:p>
            <a:pPr algn="ctr">
              <a:lnSpc>
                <a:spcPts val="1000"/>
              </a:lnSpc>
            </a:pPr>
            <a:r>
              <a:rPr lang="es-ES" sz="1100" b="1" noProof="1">
                <a:solidFill>
                  <a:srgbClr val="FFFFFF"/>
                </a:solidFill>
                <a:cs typeface="Arial" charset="0"/>
              </a:rPr>
              <a:t>Cuestionarios</a:t>
            </a:r>
          </a:p>
        </p:txBody>
      </p:sp>
      <p:sp>
        <p:nvSpPr>
          <p:cNvPr id="76" name="Rounded Rectangle 38"/>
          <p:cNvSpPr/>
          <p:nvPr/>
        </p:nvSpPr>
        <p:spPr>
          <a:xfrm>
            <a:off x="5098230" y="4455792"/>
            <a:ext cx="3132000" cy="170094"/>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Criterios de Evaluación</a:t>
            </a:r>
          </a:p>
        </p:txBody>
      </p:sp>
      <p:sp>
        <p:nvSpPr>
          <p:cNvPr id="77" name="Rectangle 18"/>
          <p:cNvSpPr>
            <a:spLocks noChangeArrowheads="1"/>
          </p:cNvSpPr>
          <p:nvPr/>
        </p:nvSpPr>
        <p:spPr bwMode="auto">
          <a:xfrm>
            <a:off x="5102950" y="4668964"/>
            <a:ext cx="3780000" cy="726273"/>
          </a:xfrm>
          <a:prstGeom prst="rect">
            <a:avLst/>
          </a:prstGeom>
          <a:solidFill>
            <a:schemeClr val="bg1"/>
          </a:solidFill>
          <a:ln w="9525" algn="ctr">
            <a:solidFill>
              <a:schemeClr val="bg2"/>
            </a:solidFill>
            <a:miter lim="800000"/>
            <a:headEnd/>
            <a:tailEnd/>
          </a:ln>
          <a:effectLst/>
        </p:spPr>
        <p:txBody>
          <a:bodyPr anchor="ctr"/>
          <a:lstStyle/>
          <a:p>
            <a:r>
              <a:rPr lang="es-PE" sz="1050" dirty="0">
                <a:solidFill>
                  <a:srgbClr val="000000"/>
                </a:solidFill>
              </a:rPr>
              <a:t>El Experto ha evaluado el presente riesgo teniendo en cuenta que la consecuencia final llegaría a ser el pago de un siniestro por un monto que no le correspondería; la valoración se ha basado en el siniestro medio actual.</a:t>
            </a:r>
            <a:endParaRPr lang="es-ES" sz="1050" dirty="0">
              <a:solidFill>
                <a:srgbClr val="000000"/>
              </a:solidFill>
            </a:endParaRPr>
          </a:p>
        </p:txBody>
      </p:sp>
      <p:sp>
        <p:nvSpPr>
          <p:cNvPr id="78" name="AutoShape 179"/>
          <p:cNvSpPr>
            <a:spLocks noChangeArrowheads="1"/>
          </p:cNvSpPr>
          <p:nvPr/>
        </p:nvSpPr>
        <p:spPr bwMode="auto">
          <a:xfrm>
            <a:off x="534831" y="5149877"/>
            <a:ext cx="4037169" cy="864000"/>
          </a:xfrm>
          <a:prstGeom prst="roundRect">
            <a:avLst>
              <a:gd name="adj" fmla="val 9481"/>
            </a:avLst>
          </a:prstGeom>
          <a:solidFill>
            <a:schemeClr val="accent1">
              <a:lumMod val="20000"/>
              <a:lumOff val="80000"/>
            </a:schemeClr>
          </a:solidFill>
          <a:ln w="9525" algn="ctr">
            <a:noFill/>
            <a:round/>
            <a:headEnd/>
            <a:tailEnd/>
          </a:ln>
          <a:effectLst/>
        </p:spPr>
        <p:txBody>
          <a:bodyPr wrap="none" anchor="ctr"/>
          <a:lstStyle/>
          <a:p>
            <a:endParaRPr lang="es-CL">
              <a:solidFill>
                <a:srgbClr val="002060"/>
              </a:solidFill>
            </a:endParaRPr>
          </a:p>
        </p:txBody>
      </p:sp>
      <p:sp>
        <p:nvSpPr>
          <p:cNvPr id="79" name="AutoShape 47"/>
          <p:cNvSpPr>
            <a:spLocks noChangeArrowheads="1"/>
          </p:cNvSpPr>
          <p:nvPr/>
        </p:nvSpPr>
        <p:spPr bwMode="blackWhite">
          <a:xfrm>
            <a:off x="281304" y="5151379"/>
            <a:ext cx="353942" cy="864000"/>
          </a:xfrm>
          <a:prstGeom prst="rightArrow">
            <a:avLst>
              <a:gd name="adj1" fmla="val 100000"/>
              <a:gd name="adj2" fmla="val 11009"/>
            </a:avLst>
          </a:prstGeom>
          <a:solidFill>
            <a:srgbClr val="969696"/>
          </a:solidFill>
          <a:ln w="12700">
            <a:noFill/>
            <a:miter lim="800000"/>
            <a:headEnd/>
            <a:tailEnd/>
          </a:ln>
          <a:effectLst>
            <a:outerShdw dist="35921" dir="2700000" algn="ctr" rotWithShape="0">
              <a:schemeClr val="bg2"/>
            </a:outerShdw>
          </a:effectLst>
        </p:spPr>
        <p:txBody>
          <a:bodyPr vert="vert270" anchor="ctr"/>
          <a:lstStyle/>
          <a:p>
            <a:pPr algn="ctr">
              <a:lnSpc>
                <a:spcPts val="1000"/>
              </a:lnSpc>
            </a:pPr>
            <a:r>
              <a:rPr lang="es-ES" sz="1100" b="1" noProof="1">
                <a:solidFill>
                  <a:srgbClr val="FFFFFF"/>
                </a:solidFill>
                <a:cs typeface="Arial" charset="0"/>
              </a:rPr>
              <a:t>Evaluación de Controles</a:t>
            </a:r>
          </a:p>
        </p:txBody>
      </p:sp>
      <p:sp>
        <p:nvSpPr>
          <p:cNvPr id="80" name="Rectangle 18"/>
          <p:cNvSpPr>
            <a:spLocks noChangeArrowheads="1"/>
          </p:cNvSpPr>
          <p:nvPr/>
        </p:nvSpPr>
        <p:spPr bwMode="auto">
          <a:xfrm>
            <a:off x="3937102" y="5225144"/>
            <a:ext cx="548640" cy="170094"/>
          </a:xfrm>
          <a:prstGeom prst="rect">
            <a:avLst/>
          </a:prstGeom>
          <a:solidFill>
            <a:schemeClr val="bg1"/>
          </a:solidFill>
          <a:ln w="9525" algn="ctr">
            <a:solidFill>
              <a:schemeClr val="bg2"/>
            </a:solidFill>
            <a:miter lim="800000"/>
            <a:headEnd/>
            <a:tailEnd/>
          </a:ln>
          <a:effectLst/>
        </p:spPr>
        <p:txBody>
          <a:bodyPr anchor="ctr"/>
          <a:lstStyle/>
          <a:p>
            <a:pPr algn="ctr"/>
            <a:r>
              <a:rPr lang="es-ES" sz="1100" dirty="0">
                <a:solidFill>
                  <a:srgbClr val="002060"/>
                </a:solidFill>
              </a:rPr>
              <a:t>1</a:t>
            </a:r>
          </a:p>
        </p:txBody>
      </p:sp>
      <p:sp>
        <p:nvSpPr>
          <p:cNvPr id="81" name="Rounded Rectangle 38"/>
          <p:cNvSpPr/>
          <p:nvPr/>
        </p:nvSpPr>
        <p:spPr>
          <a:xfrm>
            <a:off x="705742" y="5225144"/>
            <a:ext cx="3132000" cy="170094"/>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Controles asociados al riesgo</a:t>
            </a:r>
          </a:p>
        </p:txBody>
      </p:sp>
      <p:sp>
        <p:nvSpPr>
          <p:cNvPr id="82" name="Rectangle 18"/>
          <p:cNvSpPr>
            <a:spLocks noChangeArrowheads="1"/>
          </p:cNvSpPr>
          <p:nvPr/>
        </p:nvSpPr>
        <p:spPr bwMode="auto">
          <a:xfrm>
            <a:off x="705742" y="5446152"/>
            <a:ext cx="3780000" cy="469509"/>
          </a:xfrm>
          <a:prstGeom prst="rect">
            <a:avLst/>
          </a:prstGeom>
          <a:solidFill>
            <a:schemeClr val="bg1"/>
          </a:solidFill>
          <a:ln w="9525" algn="ctr">
            <a:solidFill>
              <a:schemeClr val="bg2"/>
            </a:solidFill>
            <a:miter lim="800000"/>
            <a:headEnd/>
            <a:tailEnd/>
          </a:ln>
          <a:effectLst/>
        </p:spPr>
        <p:txBody>
          <a:bodyPr anchor="ctr"/>
          <a:lstStyle/>
          <a:p>
            <a:r>
              <a:rPr lang="es-ES" sz="1100" dirty="0">
                <a:solidFill>
                  <a:srgbClr val="000000"/>
                </a:solidFill>
              </a:rPr>
              <a:t>(NF) Estas fotografías son esporádicamente revisadas por Supervisión de Inspección quien tiene que adjuntarlas al trámite.</a:t>
            </a:r>
          </a:p>
        </p:txBody>
      </p:sp>
      <p:sp>
        <p:nvSpPr>
          <p:cNvPr id="83" name="TextBox 82"/>
          <p:cNvSpPr txBox="1"/>
          <p:nvPr/>
        </p:nvSpPr>
        <p:spPr>
          <a:xfrm>
            <a:off x="705742" y="5966112"/>
            <a:ext cx="1819944" cy="261610"/>
          </a:xfrm>
          <a:prstGeom prst="rect">
            <a:avLst/>
          </a:prstGeom>
          <a:noFill/>
        </p:spPr>
        <p:txBody>
          <a:bodyPr wrap="square" rtlCol="0">
            <a:spAutoFit/>
          </a:bodyPr>
          <a:lstStyle/>
          <a:p>
            <a:r>
              <a:rPr lang="es-ES" sz="1100" dirty="0"/>
              <a:t>(NF): No Formalizado</a:t>
            </a:r>
          </a:p>
        </p:txBody>
      </p:sp>
      <p:sp>
        <p:nvSpPr>
          <p:cNvPr id="56" name="Rounded Rectangle 31">
            <a:hlinkClick r:id="rId2" action="ppaction://hlinksldjump"/>
          </p:cNvPr>
          <p:cNvSpPr/>
          <p:nvPr/>
        </p:nvSpPr>
        <p:spPr>
          <a:xfrm>
            <a:off x="1638012" y="6322807"/>
            <a:ext cx="1080000" cy="360000"/>
          </a:xfrm>
          <a:prstGeom prst="roundRect">
            <a:avLst/>
          </a:prstGeom>
          <a:solidFill>
            <a:schemeClr val="bg1">
              <a:lumMod val="65000"/>
            </a:schemeClr>
          </a:solidFill>
          <a:ln w="25400" cap="sq" cmpd="sng">
            <a:solidFill>
              <a:schemeClr val="bg1">
                <a:lumMod val="75000"/>
              </a:schemeClr>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L" sz="800" b="1" i="1" dirty="0">
                <a:solidFill>
                  <a:schemeClr val="bg1"/>
                </a:solidFill>
                <a:cs typeface="Arial" pitchFamily="34" charset="0"/>
              </a:rPr>
              <a:t>Exposición al RO y Entorno de Control</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dirty="0"/>
              <a:t>Anexo: Ficha Individual Riesgos Operacionales</a:t>
            </a:r>
          </a:p>
        </p:txBody>
      </p:sp>
      <p:sp>
        <p:nvSpPr>
          <p:cNvPr id="3" name="AutoShape 179"/>
          <p:cNvSpPr>
            <a:spLocks noChangeArrowheads="1"/>
          </p:cNvSpPr>
          <p:nvPr/>
        </p:nvSpPr>
        <p:spPr bwMode="auto">
          <a:xfrm>
            <a:off x="611560" y="3535397"/>
            <a:ext cx="3960812" cy="1371600"/>
          </a:xfrm>
          <a:prstGeom prst="roundRect">
            <a:avLst>
              <a:gd name="adj" fmla="val 9481"/>
            </a:avLst>
          </a:prstGeom>
          <a:solidFill>
            <a:schemeClr val="accent1">
              <a:lumMod val="20000"/>
              <a:lumOff val="80000"/>
            </a:schemeClr>
          </a:solidFill>
          <a:ln w="9525" algn="ctr">
            <a:noFill/>
            <a:round/>
            <a:headEnd/>
            <a:tailEnd/>
          </a:ln>
          <a:effectLst/>
        </p:spPr>
        <p:txBody>
          <a:bodyPr wrap="none" anchor="ctr"/>
          <a:lstStyle/>
          <a:p>
            <a:endParaRPr lang="es-CL">
              <a:solidFill>
                <a:srgbClr val="002060"/>
              </a:solidFill>
            </a:endParaRPr>
          </a:p>
        </p:txBody>
      </p:sp>
      <p:sp>
        <p:nvSpPr>
          <p:cNvPr id="4" name="Rounded Rectangle 3"/>
          <p:cNvSpPr/>
          <p:nvPr/>
        </p:nvSpPr>
        <p:spPr>
          <a:xfrm>
            <a:off x="214497" y="764704"/>
            <a:ext cx="397063" cy="274320"/>
          </a:xfrm>
          <a:prstGeom prst="roundRect">
            <a:avLst/>
          </a:prstGeom>
          <a:solidFill>
            <a:srgbClr val="DB0613"/>
          </a:solidFill>
          <a:ln w="9525" algn="ctr">
            <a:noFill/>
            <a:miter lim="800000"/>
            <a:headEnd/>
            <a:tailEnd/>
          </a:ln>
          <a:effectLst/>
        </p:spPr>
        <p:txBody>
          <a:bodyPr anchor="ctr"/>
          <a:lstStyle/>
          <a:p>
            <a:pPr algn="ctr">
              <a:lnSpc>
                <a:spcPct val="80000"/>
              </a:lnSpc>
            </a:pPr>
            <a:r>
              <a:rPr lang="es-CL" sz="1200" b="1" dirty="0">
                <a:solidFill>
                  <a:srgbClr val="FFFFFF"/>
                </a:solidFill>
                <a:cs typeface="Arial" pitchFamily="34" charset="0"/>
              </a:rPr>
              <a:t>23</a:t>
            </a:r>
          </a:p>
        </p:txBody>
      </p:sp>
      <p:sp>
        <p:nvSpPr>
          <p:cNvPr id="5" name="Rectangle 18"/>
          <p:cNvSpPr>
            <a:spLocks noChangeArrowheads="1"/>
          </p:cNvSpPr>
          <p:nvPr/>
        </p:nvSpPr>
        <p:spPr bwMode="auto">
          <a:xfrm>
            <a:off x="227770" y="2409552"/>
            <a:ext cx="6400800" cy="839807"/>
          </a:xfrm>
          <a:prstGeom prst="rect">
            <a:avLst/>
          </a:prstGeom>
          <a:noFill/>
          <a:ln w="9525" algn="ctr">
            <a:solidFill>
              <a:schemeClr val="bg2"/>
            </a:solidFill>
            <a:miter lim="800000"/>
            <a:headEnd/>
            <a:tailEnd/>
          </a:ln>
          <a:effectLst/>
        </p:spPr>
        <p:txBody>
          <a:bodyPr/>
          <a:lstStyle/>
          <a:p>
            <a:r>
              <a:rPr lang="es-ES" sz="1100" dirty="0"/>
              <a:t>Falla en los equipos de IT / telecomunicaciones / software con tiempo de inactividad de los mismos. Impedimentos para capturar la operación en </a:t>
            </a:r>
            <a:r>
              <a:rPr lang="es-ES" sz="1100" dirty="0" err="1"/>
              <a:t>bloomberg</a:t>
            </a:r>
            <a:r>
              <a:rPr lang="es-ES" sz="1100" dirty="0"/>
              <a:t> o </a:t>
            </a:r>
            <a:r>
              <a:rPr lang="es-ES" sz="1100" dirty="0" err="1"/>
              <a:t>datatec</a:t>
            </a:r>
            <a:r>
              <a:rPr lang="es-ES" sz="1100" dirty="0"/>
              <a:t>.</a:t>
            </a:r>
            <a:endParaRPr lang="es-ES" sz="1100" dirty="0">
              <a:solidFill>
                <a:srgbClr val="002060"/>
              </a:solidFill>
            </a:endParaRPr>
          </a:p>
        </p:txBody>
      </p:sp>
      <p:sp>
        <p:nvSpPr>
          <p:cNvPr id="7" name="Text Box 30"/>
          <p:cNvSpPr txBox="1">
            <a:spLocks noChangeArrowheads="1"/>
          </p:cNvSpPr>
          <p:nvPr/>
        </p:nvSpPr>
        <p:spPr bwMode="auto">
          <a:xfrm>
            <a:off x="190747" y="3299257"/>
            <a:ext cx="3671888" cy="276999"/>
          </a:xfrm>
          <a:prstGeom prst="rect">
            <a:avLst/>
          </a:prstGeom>
          <a:noFill/>
          <a:ln w="9525" algn="ctr">
            <a:noFill/>
            <a:miter lim="800000"/>
            <a:headEnd/>
            <a:tailEnd/>
          </a:ln>
          <a:effectLst/>
        </p:spPr>
        <p:txBody>
          <a:bodyPr>
            <a:spAutoFit/>
          </a:bodyPr>
          <a:lstStyle/>
          <a:p>
            <a:pPr>
              <a:spcBef>
                <a:spcPct val="50000"/>
              </a:spcBef>
            </a:pPr>
            <a:r>
              <a:rPr lang="es-CL" sz="1200" b="1" i="1" dirty="0">
                <a:solidFill>
                  <a:srgbClr val="A3A3E0"/>
                </a:solidFill>
              </a:rPr>
              <a:t>Resultados valoración de riesgos</a:t>
            </a:r>
            <a:endParaRPr lang="es-ES" sz="1200" b="1" i="1" dirty="0">
              <a:solidFill>
                <a:srgbClr val="A3A3E0"/>
              </a:solidFill>
            </a:endParaRPr>
          </a:p>
        </p:txBody>
      </p:sp>
      <p:sp>
        <p:nvSpPr>
          <p:cNvPr id="8" name="Rounded Rectangle 7"/>
          <p:cNvSpPr/>
          <p:nvPr/>
        </p:nvSpPr>
        <p:spPr>
          <a:xfrm>
            <a:off x="652842" y="764704"/>
            <a:ext cx="8321040" cy="274320"/>
          </a:xfrm>
          <a:prstGeom prst="roundRect">
            <a:avLst/>
          </a:prstGeom>
          <a:solidFill>
            <a:srgbClr val="DB0613"/>
          </a:solidFill>
          <a:ln w="9525" algn="ctr">
            <a:noFill/>
            <a:miter lim="800000"/>
            <a:headEnd/>
            <a:tailEnd/>
          </a:ln>
          <a:effectLst/>
        </p:spPr>
        <p:txBody>
          <a:bodyPr anchor="ctr"/>
          <a:lstStyle/>
          <a:p>
            <a:pPr>
              <a:lnSpc>
                <a:spcPct val="80000"/>
              </a:lnSpc>
            </a:pPr>
            <a:r>
              <a:rPr lang="es-PE" sz="1200" b="1" dirty="0">
                <a:solidFill>
                  <a:schemeClr val="bg1"/>
                </a:solidFill>
              </a:rPr>
              <a:t>Falla en las telecomunicaciones que impiden contratación de </a:t>
            </a:r>
            <a:r>
              <a:rPr lang="es-PE" sz="1200" b="1" dirty="0" err="1">
                <a:solidFill>
                  <a:schemeClr val="bg1"/>
                </a:solidFill>
              </a:rPr>
              <a:t>ope</a:t>
            </a:r>
            <a:r>
              <a:rPr lang="es-PE" sz="1200" b="1" dirty="0">
                <a:solidFill>
                  <a:schemeClr val="bg1"/>
                </a:solidFill>
              </a:rPr>
              <a:t>. por </a:t>
            </a:r>
            <a:r>
              <a:rPr lang="es-PE" sz="1200" b="1" dirty="0" err="1">
                <a:solidFill>
                  <a:schemeClr val="bg1"/>
                </a:solidFill>
              </a:rPr>
              <a:t>Bloomberg</a:t>
            </a:r>
            <a:r>
              <a:rPr lang="es-PE" sz="1200" b="1" dirty="0">
                <a:solidFill>
                  <a:schemeClr val="bg1"/>
                </a:solidFill>
              </a:rPr>
              <a:t> y </a:t>
            </a:r>
            <a:r>
              <a:rPr lang="es-PE" sz="1200" b="1" dirty="0" err="1">
                <a:solidFill>
                  <a:schemeClr val="bg1"/>
                </a:solidFill>
              </a:rPr>
              <a:t>Datatec</a:t>
            </a:r>
            <a:endParaRPr lang="es-CL" sz="1200" b="1" dirty="0">
              <a:solidFill>
                <a:schemeClr val="bg1"/>
              </a:solidFill>
              <a:cs typeface="Arial" pitchFamily="34" charset="0"/>
            </a:endParaRPr>
          </a:p>
        </p:txBody>
      </p:sp>
      <p:sp>
        <p:nvSpPr>
          <p:cNvPr id="9" name="Rounded Rectangle 8"/>
          <p:cNvSpPr/>
          <p:nvPr/>
        </p:nvSpPr>
        <p:spPr>
          <a:xfrm>
            <a:off x="227770" y="2202383"/>
            <a:ext cx="64008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Descripción</a:t>
            </a:r>
          </a:p>
        </p:txBody>
      </p:sp>
      <p:sp>
        <p:nvSpPr>
          <p:cNvPr id="10" name="Rounded Rectangle 9"/>
          <p:cNvSpPr/>
          <p:nvPr/>
        </p:nvSpPr>
        <p:spPr>
          <a:xfrm>
            <a:off x="6716066" y="1089119"/>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Categoría  de Riesgo Nivel I</a:t>
            </a:r>
          </a:p>
        </p:txBody>
      </p:sp>
      <p:sp>
        <p:nvSpPr>
          <p:cNvPr id="11" name="Rectangle 18"/>
          <p:cNvSpPr>
            <a:spLocks noChangeArrowheads="1"/>
          </p:cNvSpPr>
          <p:nvPr/>
        </p:nvSpPr>
        <p:spPr bwMode="auto">
          <a:xfrm>
            <a:off x="6716066" y="1316374"/>
            <a:ext cx="2286000" cy="365760"/>
          </a:xfrm>
          <a:prstGeom prst="rect">
            <a:avLst/>
          </a:prstGeom>
          <a:noFill/>
          <a:ln w="9525" algn="ctr">
            <a:solidFill>
              <a:schemeClr val="bg2"/>
            </a:solidFill>
            <a:miter lim="800000"/>
            <a:headEnd/>
            <a:tailEnd/>
          </a:ln>
          <a:effectLst/>
        </p:spPr>
        <p:txBody>
          <a:bodyPr anchor="ctr"/>
          <a:lstStyle/>
          <a:p>
            <a:pPr>
              <a:lnSpc>
                <a:spcPts val="1000"/>
              </a:lnSpc>
            </a:pPr>
            <a:r>
              <a:rPr lang="es-ES" sz="1100" dirty="0"/>
              <a:t>Incidencias en el negocio y fallos en los sistemas</a:t>
            </a:r>
          </a:p>
        </p:txBody>
      </p:sp>
      <p:sp>
        <p:nvSpPr>
          <p:cNvPr id="12" name="Rounded Rectangle 11"/>
          <p:cNvSpPr/>
          <p:nvPr/>
        </p:nvSpPr>
        <p:spPr>
          <a:xfrm>
            <a:off x="6716066" y="1725169"/>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Categoría de Riesgo Nivel II</a:t>
            </a:r>
          </a:p>
        </p:txBody>
      </p:sp>
      <p:sp>
        <p:nvSpPr>
          <p:cNvPr id="13" name="Rectangle 18"/>
          <p:cNvSpPr>
            <a:spLocks noChangeArrowheads="1"/>
          </p:cNvSpPr>
          <p:nvPr/>
        </p:nvSpPr>
        <p:spPr bwMode="auto">
          <a:xfrm>
            <a:off x="6716066" y="1942710"/>
            <a:ext cx="2286000" cy="274320"/>
          </a:xfrm>
          <a:prstGeom prst="rect">
            <a:avLst/>
          </a:prstGeom>
          <a:noFill/>
          <a:ln w="9525" algn="ctr">
            <a:solidFill>
              <a:schemeClr val="bg2"/>
            </a:solidFill>
            <a:miter lim="800000"/>
            <a:headEnd/>
            <a:tailEnd/>
          </a:ln>
          <a:effectLst/>
        </p:spPr>
        <p:txBody>
          <a:bodyPr anchor="ctr"/>
          <a:lstStyle/>
          <a:p>
            <a:r>
              <a:rPr lang="es-ES" sz="1100" dirty="0"/>
              <a:t>Interrupción del negocio y fallos en los sistemas.</a:t>
            </a:r>
          </a:p>
        </p:txBody>
      </p:sp>
      <p:sp>
        <p:nvSpPr>
          <p:cNvPr id="16" name="Rectangle 18"/>
          <p:cNvSpPr>
            <a:spLocks noChangeArrowheads="1"/>
          </p:cNvSpPr>
          <p:nvPr/>
        </p:nvSpPr>
        <p:spPr bwMode="auto">
          <a:xfrm>
            <a:off x="6716066" y="2524663"/>
            <a:ext cx="2286000" cy="272604"/>
          </a:xfrm>
          <a:prstGeom prst="rect">
            <a:avLst/>
          </a:prstGeom>
          <a:noFill/>
          <a:ln w="9525" algn="ctr">
            <a:solidFill>
              <a:schemeClr val="bg2"/>
            </a:solidFill>
            <a:miter lim="800000"/>
            <a:headEnd/>
            <a:tailEnd/>
          </a:ln>
          <a:effectLst/>
        </p:spPr>
        <p:txBody>
          <a:bodyPr anchor="ctr"/>
          <a:lstStyle/>
          <a:p>
            <a:r>
              <a:rPr lang="es-ES" sz="1100" dirty="0"/>
              <a:t>Cortes en los servicios/Interrupción de las aplicaciones </a:t>
            </a:r>
            <a:endParaRPr lang="es-ES" sz="1100" dirty="0">
              <a:solidFill>
                <a:srgbClr val="002060"/>
              </a:solidFill>
            </a:endParaRPr>
          </a:p>
        </p:txBody>
      </p:sp>
      <p:sp>
        <p:nvSpPr>
          <p:cNvPr id="17" name="Rounded Rectangle 16"/>
          <p:cNvSpPr/>
          <p:nvPr/>
        </p:nvSpPr>
        <p:spPr>
          <a:xfrm>
            <a:off x="227770" y="1110038"/>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Macroproceso</a:t>
            </a:r>
          </a:p>
        </p:txBody>
      </p:sp>
      <p:sp>
        <p:nvSpPr>
          <p:cNvPr id="18" name="Rectangle 18"/>
          <p:cNvSpPr>
            <a:spLocks noChangeArrowheads="1"/>
          </p:cNvSpPr>
          <p:nvPr/>
        </p:nvSpPr>
        <p:spPr bwMode="auto">
          <a:xfrm>
            <a:off x="2568409" y="1110038"/>
            <a:ext cx="4060161" cy="182880"/>
          </a:xfrm>
          <a:prstGeom prst="rect">
            <a:avLst/>
          </a:prstGeom>
          <a:noFill/>
          <a:ln w="9525" algn="ctr">
            <a:solidFill>
              <a:schemeClr val="bg2"/>
            </a:solidFill>
            <a:miter lim="800000"/>
            <a:headEnd/>
            <a:tailEnd/>
          </a:ln>
          <a:effectLst/>
        </p:spPr>
        <p:txBody>
          <a:bodyPr anchor="ctr"/>
          <a:lstStyle/>
          <a:p>
            <a:r>
              <a:rPr lang="es-ES" sz="1100" dirty="0"/>
              <a:t>Administración de Portafolio de Inversiones</a:t>
            </a:r>
          </a:p>
        </p:txBody>
      </p:sp>
      <p:sp>
        <p:nvSpPr>
          <p:cNvPr id="19" name="Rounded Rectangle 18"/>
          <p:cNvSpPr/>
          <p:nvPr/>
        </p:nvSpPr>
        <p:spPr>
          <a:xfrm>
            <a:off x="227770" y="1339045"/>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Proceso</a:t>
            </a:r>
          </a:p>
        </p:txBody>
      </p:sp>
      <p:sp>
        <p:nvSpPr>
          <p:cNvPr id="20" name="Rectangle 18"/>
          <p:cNvSpPr>
            <a:spLocks noChangeArrowheads="1"/>
          </p:cNvSpPr>
          <p:nvPr/>
        </p:nvSpPr>
        <p:spPr bwMode="auto">
          <a:xfrm>
            <a:off x="2568409" y="1339045"/>
            <a:ext cx="4060161" cy="182880"/>
          </a:xfrm>
          <a:prstGeom prst="rect">
            <a:avLst/>
          </a:prstGeom>
          <a:noFill/>
          <a:ln w="9525" algn="ctr">
            <a:solidFill>
              <a:schemeClr val="bg2"/>
            </a:solidFill>
            <a:miter lim="800000"/>
            <a:headEnd/>
            <a:tailEnd/>
          </a:ln>
          <a:effectLst/>
        </p:spPr>
        <p:txBody>
          <a:bodyPr anchor="ctr"/>
          <a:lstStyle/>
          <a:p>
            <a:r>
              <a:rPr lang="es-ES" sz="1100" dirty="0"/>
              <a:t>Administración de fondos</a:t>
            </a:r>
          </a:p>
        </p:txBody>
      </p:sp>
      <p:sp>
        <p:nvSpPr>
          <p:cNvPr id="21" name="Rectangle 29"/>
          <p:cNvSpPr>
            <a:spLocks noChangeArrowheads="1"/>
          </p:cNvSpPr>
          <p:nvPr/>
        </p:nvSpPr>
        <p:spPr bwMode="auto">
          <a:xfrm>
            <a:off x="107504" y="3423715"/>
            <a:ext cx="8961120" cy="1607926"/>
          </a:xfrm>
          <a:prstGeom prst="rect">
            <a:avLst/>
          </a:prstGeom>
          <a:noFill/>
          <a:ln w="19050" cap="rnd" algn="ctr">
            <a:solidFill>
              <a:schemeClr val="bg2"/>
            </a:solidFill>
            <a:prstDash val="sysDot"/>
            <a:miter lim="800000"/>
            <a:headEnd/>
            <a:tailEnd/>
          </a:ln>
          <a:effectLst/>
        </p:spPr>
        <p:txBody>
          <a:bodyPr wrap="none" anchor="ctr"/>
          <a:lstStyle/>
          <a:p>
            <a:endParaRPr lang="en-US">
              <a:solidFill>
                <a:srgbClr val="002060"/>
              </a:solidFill>
            </a:endParaRPr>
          </a:p>
        </p:txBody>
      </p:sp>
      <p:sp>
        <p:nvSpPr>
          <p:cNvPr id="22" name="Rounded Rectangle 21"/>
          <p:cNvSpPr/>
          <p:nvPr/>
        </p:nvSpPr>
        <p:spPr>
          <a:xfrm>
            <a:off x="902959" y="4382163"/>
            <a:ext cx="1920240" cy="182880"/>
          </a:xfrm>
          <a:prstGeom prst="roundRect">
            <a:avLst/>
          </a:prstGeom>
          <a:solidFill>
            <a:srgbClr val="DB0613"/>
          </a:solidFill>
          <a:ln w="9525" algn="ctr">
            <a:noFill/>
            <a:miter lim="800000"/>
            <a:headEnd/>
            <a:tailEnd/>
          </a:ln>
          <a:effectLst/>
        </p:spPr>
        <p:txBody>
          <a:bodyPr tIns="91440" anchor="ctr"/>
          <a:lstStyle/>
          <a:p>
            <a:pPr>
              <a:lnSpc>
                <a:spcPct val="80000"/>
              </a:lnSpc>
            </a:pPr>
            <a:r>
              <a:rPr lang="es-CL" sz="1100" b="1" dirty="0">
                <a:solidFill>
                  <a:srgbClr val="FFFFFF"/>
                </a:solidFill>
                <a:cs typeface="Arial" pitchFamily="34" charset="0"/>
              </a:rPr>
              <a:t>Pérdida Esperada Anual</a:t>
            </a:r>
          </a:p>
        </p:txBody>
      </p:sp>
      <p:sp>
        <p:nvSpPr>
          <p:cNvPr id="23" name="Rectangle 18"/>
          <p:cNvSpPr>
            <a:spLocks noChangeArrowheads="1"/>
          </p:cNvSpPr>
          <p:nvPr/>
        </p:nvSpPr>
        <p:spPr bwMode="auto">
          <a:xfrm>
            <a:off x="2859920" y="4382163"/>
            <a:ext cx="1554480" cy="182880"/>
          </a:xfrm>
          <a:prstGeom prst="rect">
            <a:avLst/>
          </a:prstGeom>
          <a:solidFill>
            <a:schemeClr val="bg1"/>
          </a:solidFill>
          <a:ln w="9525" algn="ctr">
            <a:solidFill>
              <a:schemeClr val="bg2"/>
            </a:solidFill>
            <a:miter lim="800000"/>
            <a:headEnd/>
            <a:tailEnd/>
          </a:ln>
          <a:effectLst/>
        </p:spPr>
        <p:txBody>
          <a:bodyPr anchor="ctr"/>
          <a:lstStyle/>
          <a:p>
            <a:pPr algn="ctr"/>
            <a:r>
              <a:rPr lang="es-ES" sz="1100" dirty="0"/>
              <a:t>S/. 3,187,500.00</a:t>
            </a:r>
            <a:endParaRPr lang="es-ES" sz="1100" dirty="0">
              <a:solidFill>
                <a:srgbClr val="002060"/>
              </a:solidFill>
            </a:endParaRPr>
          </a:p>
        </p:txBody>
      </p:sp>
      <p:sp>
        <p:nvSpPr>
          <p:cNvPr id="24" name="Rounded Rectangle 23"/>
          <p:cNvSpPr/>
          <p:nvPr/>
        </p:nvSpPr>
        <p:spPr>
          <a:xfrm>
            <a:off x="902959" y="4611775"/>
            <a:ext cx="192024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VaR Cualitativo Anual</a:t>
            </a:r>
          </a:p>
        </p:txBody>
      </p:sp>
      <p:sp>
        <p:nvSpPr>
          <p:cNvPr id="25" name="Rectangle 18"/>
          <p:cNvSpPr>
            <a:spLocks noChangeArrowheads="1"/>
          </p:cNvSpPr>
          <p:nvPr/>
        </p:nvSpPr>
        <p:spPr bwMode="auto">
          <a:xfrm>
            <a:off x="2859920" y="4611775"/>
            <a:ext cx="1554480" cy="182880"/>
          </a:xfrm>
          <a:prstGeom prst="rect">
            <a:avLst/>
          </a:prstGeom>
          <a:solidFill>
            <a:schemeClr val="bg1"/>
          </a:solidFill>
          <a:ln w="9525" algn="ctr">
            <a:solidFill>
              <a:schemeClr val="bg2"/>
            </a:solidFill>
            <a:miter lim="800000"/>
            <a:headEnd/>
            <a:tailEnd/>
          </a:ln>
          <a:effectLst/>
        </p:spPr>
        <p:txBody>
          <a:bodyPr anchor="ctr"/>
          <a:lstStyle/>
          <a:p>
            <a:pPr algn="ctr"/>
            <a:r>
              <a:rPr lang="es-ES" sz="1100" dirty="0"/>
              <a:t>S/. 10,646,627.00 </a:t>
            </a:r>
            <a:endParaRPr lang="es-ES" sz="1100" dirty="0">
              <a:solidFill>
                <a:srgbClr val="002060"/>
              </a:solidFill>
            </a:endParaRPr>
          </a:p>
        </p:txBody>
      </p:sp>
      <p:sp>
        <p:nvSpPr>
          <p:cNvPr id="26" name="Rounded Rectangle 25"/>
          <p:cNvSpPr/>
          <p:nvPr/>
        </p:nvSpPr>
        <p:spPr>
          <a:xfrm>
            <a:off x="891084" y="3618777"/>
            <a:ext cx="192024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Frecuencia  Evento Pérdida</a:t>
            </a:r>
          </a:p>
        </p:txBody>
      </p:sp>
      <p:sp>
        <p:nvSpPr>
          <p:cNvPr id="27" name="Rectangle 18"/>
          <p:cNvSpPr>
            <a:spLocks noChangeArrowheads="1"/>
          </p:cNvSpPr>
          <p:nvPr/>
        </p:nvSpPr>
        <p:spPr bwMode="auto">
          <a:xfrm>
            <a:off x="2859920" y="3618777"/>
            <a:ext cx="1554480" cy="182880"/>
          </a:xfrm>
          <a:prstGeom prst="rect">
            <a:avLst/>
          </a:prstGeom>
          <a:solidFill>
            <a:schemeClr val="bg1"/>
          </a:solidFill>
          <a:ln w="9525" algn="ctr">
            <a:solidFill>
              <a:schemeClr val="bg2"/>
            </a:solidFill>
            <a:miter lim="800000"/>
            <a:headEnd/>
            <a:tailEnd/>
          </a:ln>
          <a:effectLst/>
        </p:spPr>
        <p:txBody>
          <a:bodyPr anchor="ctr"/>
          <a:lstStyle/>
          <a:p>
            <a:pPr algn="ctr"/>
            <a:r>
              <a:rPr lang="es-ES" sz="1100" dirty="0"/>
              <a:t>10 veces por año</a:t>
            </a:r>
          </a:p>
        </p:txBody>
      </p:sp>
      <p:sp>
        <p:nvSpPr>
          <p:cNvPr id="28" name="Rounded Rectangle 27"/>
          <p:cNvSpPr/>
          <p:nvPr/>
        </p:nvSpPr>
        <p:spPr>
          <a:xfrm>
            <a:off x="891084" y="3848389"/>
            <a:ext cx="192024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Impacto Medio Evento</a:t>
            </a:r>
          </a:p>
        </p:txBody>
      </p:sp>
      <p:sp>
        <p:nvSpPr>
          <p:cNvPr id="29" name="Rectangle 18"/>
          <p:cNvSpPr>
            <a:spLocks noChangeArrowheads="1"/>
          </p:cNvSpPr>
          <p:nvPr/>
        </p:nvSpPr>
        <p:spPr bwMode="auto">
          <a:xfrm>
            <a:off x="2859920" y="3848389"/>
            <a:ext cx="1554480" cy="182880"/>
          </a:xfrm>
          <a:prstGeom prst="rect">
            <a:avLst/>
          </a:prstGeom>
          <a:solidFill>
            <a:schemeClr val="bg1"/>
          </a:solidFill>
          <a:ln w="9525" algn="ctr">
            <a:solidFill>
              <a:schemeClr val="bg2"/>
            </a:solidFill>
            <a:miter lim="800000"/>
            <a:headEnd/>
            <a:tailEnd/>
          </a:ln>
          <a:effectLst/>
        </p:spPr>
        <p:txBody>
          <a:bodyPr anchor="ctr"/>
          <a:lstStyle/>
          <a:p>
            <a:pPr algn="ctr"/>
            <a:r>
              <a:rPr lang="es-ES" sz="1100" dirty="0"/>
              <a:t>S/. 318,750.00 </a:t>
            </a:r>
            <a:endParaRPr lang="es-ES" sz="1100" dirty="0">
              <a:solidFill>
                <a:srgbClr val="002060"/>
              </a:solidFill>
            </a:endParaRPr>
          </a:p>
        </p:txBody>
      </p:sp>
      <p:sp>
        <p:nvSpPr>
          <p:cNvPr id="30" name="Rounded Rectangle 29"/>
          <p:cNvSpPr/>
          <p:nvPr/>
        </p:nvSpPr>
        <p:spPr>
          <a:xfrm>
            <a:off x="891084" y="4083969"/>
            <a:ext cx="192024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Impacto Peor Escenario</a:t>
            </a:r>
          </a:p>
        </p:txBody>
      </p:sp>
      <p:sp>
        <p:nvSpPr>
          <p:cNvPr id="31" name="Rectangle 18"/>
          <p:cNvSpPr>
            <a:spLocks noChangeArrowheads="1"/>
          </p:cNvSpPr>
          <p:nvPr/>
        </p:nvSpPr>
        <p:spPr bwMode="auto">
          <a:xfrm>
            <a:off x="2859920" y="4083969"/>
            <a:ext cx="1554480" cy="182880"/>
          </a:xfrm>
          <a:prstGeom prst="rect">
            <a:avLst/>
          </a:prstGeom>
          <a:solidFill>
            <a:schemeClr val="bg1"/>
          </a:solidFill>
          <a:ln w="9525" algn="ctr">
            <a:solidFill>
              <a:schemeClr val="bg2"/>
            </a:solidFill>
            <a:miter lim="800000"/>
            <a:headEnd/>
            <a:tailEnd/>
          </a:ln>
          <a:effectLst/>
        </p:spPr>
        <p:txBody>
          <a:bodyPr anchor="ctr"/>
          <a:lstStyle/>
          <a:p>
            <a:pPr algn="ctr"/>
            <a:r>
              <a:rPr lang="es-ES" sz="1100" dirty="0">
                <a:solidFill>
                  <a:srgbClr val="002060"/>
                </a:solidFill>
              </a:rPr>
              <a:t>S/. </a:t>
            </a:r>
            <a:r>
              <a:rPr lang="es-ES" sz="1100" dirty="0"/>
              <a:t>3,825,000.00</a:t>
            </a:r>
            <a:endParaRPr lang="es-ES" sz="1100" dirty="0">
              <a:solidFill>
                <a:srgbClr val="002060"/>
              </a:solidFill>
            </a:endParaRPr>
          </a:p>
        </p:txBody>
      </p:sp>
      <p:sp>
        <p:nvSpPr>
          <p:cNvPr id="32" name="AutoShape 47"/>
          <p:cNvSpPr>
            <a:spLocks noChangeAspect="1" noChangeArrowheads="1"/>
          </p:cNvSpPr>
          <p:nvPr/>
        </p:nvSpPr>
        <p:spPr bwMode="blackWhite">
          <a:xfrm>
            <a:off x="263033" y="3533122"/>
            <a:ext cx="492543" cy="1339083"/>
          </a:xfrm>
          <a:prstGeom prst="rightArrow">
            <a:avLst>
              <a:gd name="adj1" fmla="val 100000"/>
              <a:gd name="adj2" fmla="val 11009"/>
            </a:avLst>
          </a:prstGeom>
          <a:solidFill>
            <a:srgbClr val="969696"/>
          </a:solidFill>
          <a:ln w="12700">
            <a:noFill/>
            <a:miter lim="800000"/>
            <a:headEnd/>
            <a:tailEnd/>
          </a:ln>
          <a:effectLst>
            <a:outerShdw dist="35921" dir="2700000" algn="ctr" rotWithShape="0">
              <a:schemeClr val="bg2"/>
            </a:outerShdw>
          </a:effectLst>
        </p:spPr>
        <p:txBody>
          <a:bodyPr vert="vert270" anchor="ctr"/>
          <a:lstStyle/>
          <a:p>
            <a:pPr algn="ctr">
              <a:lnSpc>
                <a:spcPts val="1000"/>
              </a:lnSpc>
            </a:pPr>
            <a:r>
              <a:rPr lang="es-ES" sz="1200" b="1" noProof="1">
                <a:solidFill>
                  <a:srgbClr val="FFFFFF"/>
                </a:solidFill>
                <a:cs typeface="Arial" charset="0"/>
              </a:rPr>
              <a:t>Evaluación Riesgo Operacional</a:t>
            </a:r>
          </a:p>
        </p:txBody>
      </p:sp>
      <p:sp>
        <p:nvSpPr>
          <p:cNvPr id="59" name="Rounded Rectangle 58"/>
          <p:cNvSpPr/>
          <p:nvPr/>
        </p:nvSpPr>
        <p:spPr>
          <a:xfrm>
            <a:off x="223049" y="1554311"/>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Subproceso</a:t>
            </a:r>
          </a:p>
        </p:txBody>
      </p:sp>
      <p:sp>
        <p:nvSpPr>
          <p:cNvPr id="60" name="Rectangle 18"/>
          <p:cNvSpPr>
            <a:spLocks noChangeArrowheads="1"/>
          </p:cNvSpPr>
          <p:nvPr/>
        </p:nvSpPr>
        <p:spPr bwMode="auto">
          <a:xfrm>
            <a:off x="2563688" y="1554311"/>
            <a:ext cx="4064882" cy="182880"/>
          </a:xfrm>
          <a:prstGeom prst="rect">
            <a:avLst/>
          </a:prstGeom>
          <a:noFill/>
          <a:ln w="9525" algn="ctr">
            <a:solidFill>
              <a:schemeClr val="bg2"/>
            </a:solidFill>
            <a:miter lim="800000"/>
            <a:headEnd/>
            <a:tailEnd/>
          </a:ln>
          <a:effectLst/>
        </p:spPr>
        <p:txBody>
          <a:bodyPr anchor="ctr"/>
          <a:lstStyle/>
          <a:p>
            <a:r>
              <a:rPr lang="es-ES" sz="1100" dirty="0"/>
              <a:t>Ejecución de propuesta de Inversión</a:t>
            </a:r>
          </a:p>
        </p:txBody>
      </p:sp>
      <p:sp>
        <p:nvSpPr>
          <p:cNvPr id="57" name="Rounded Rectangle 56"/>
          <p:cNvSpPr/>
          <p:nvPr/>
        </p:nvSpPr>
        <p:spPr>
          <a:xfrm>
            <a:off x="223049" y="1771093"/>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Línea de Negocio</a:t>
            </a:r>
          </a:p>
        </p:txBody>
      </p:sp>
      <p:sp>
        <p:nvSpPr>
          <p:cNvPr id="58" name="Rectangle 18"/>
          <p:cNvSpPr>
            <a:spLocks noChangeArrowheads="1"/>
          </p:cNvSpPr>
          <p:nvPr/>
        </p:nvSpPr>
        <p:spPr bwMode="auto">
          <a:xfrm>
            <a:off x="2563688" y="1771093"/>
            <a:ext cx="4064882" cy="182880"/>
          </a:xfrm>
          <a:prstGeom prst="rect">
            <a:avLst/>
          </a:prstGeom>
          <a:noFill/>
          <a:ln w="9525" algn="ctr">
            <a:solidFill>
              <a:schemeClr val="bg2"/>
            </a:solidFill>
            <a:miter lim="800000"/>
            <a:headEnd/>
            <a:tailEnd/>
          </a:ln>
          <a:effectLst/>
        </p:spPr>
        <p:txBody>
          <a:bodyPr anchor="ctr"/>
          <a:lstStyle/>
          <a:p>
            <a:r>
              <a:rPr lang="es-ES" sz="1100" dirty="0"/>
              <a:t>Negociación y ventas</a:t>
            </a:r>
          </a:p>
        </p:txBody>
      </p:sp>
      <p:sp>
        <p:nvSpPr>
          <p:cNvPr id="61" name="Rounded Rectangle 60"/>
          <p:cNvSpPr/>
          <p:nvPr/>
        </p:nvSpPr>
        <p:spPr>
          <a:xfrm>
            <a:off x="223049" y="1986359"/>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Responsable</a:t>
            </a:r>
          </a:p>
        </p:txBody>
      </p:sp>
      <p:sp>
        <p:nvSpPr>
          <p:cNvPr id="62" name="Rectangle 18"/>
          <p:cNvSpPr>
            <a:spLocks noChangeArrowheads="1"/>
          </p:cNvSpPr>
          <p:nvPr/>
        </p:nvSpPr>
        <p:spPr bwMode="auto">
          <a:xfrm>
            <a:off x="2558967" y="1986359"/>
            <a:ext cx="4069603" cy="182880"/>
          </a:xfrm>
          <a:prstGeom prst="rect">
            <a:avLst/>
          </a:prstGeom>
          <a:noFill/>
          <a:ln w="9525" algn="ctr">
            <a:solidFill>
              <a:schemeClr val="bg2"/>
            </a:solidFill>
            <a:miter lim="800000"/>
            <a:headEnd/>
            <a:tailEnd/>
          </a:ln>
          <a:effectLst/>
        </p:spPr>
        <p:txBody>
          <a:bodyPr anchor="ctr"/>
          <a:lstStyle/>
          <a:p>
            <a:r>
              <a:rPr lang="es-ES" sz="1100" dirty="0"/>
              <a:t>Subgerente de Operaciones de Inversión </a:t>
            </a:r>
          </a:p>
        </p:txBody>
      </p:sp>
      <p:sp>
        <p:nvSpPr>
          <p:cNvPr id="63" name="Rounded Rectangle 62"/>
          <p:cNvSpPr/>
          <p:nvPr/>
        </p:nvSpPr>
        <p:spPr>
          <a:xfrm>
            <a:off x="6732240" y="2276457"/>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Categoría de Riesgo Nivel III</a:t>
            </a:r>
          </a:p>
        </p:txBody>
      </p:sp>
      <p:sp>
        <p:nvSpPr>
          <p:cNvPr id="64" name="AutoShape 179"/>
          <p:cNvSpPr>
            <a:spLocks noChangeArrowheads="1"/>
          </p:cNvSpPr>
          <p:nvPr/>
        </p:nvSpPr>
        <p:spPr bwMode="auto">
          <a:xfrm>
            <a:off x="4932039" y="3537391"/>
            <a:ext cx="4037169" cy="864000"/>
          </a:xfrm>
          <a:prstGeom prst="roundRect">
            <a:avLst>
              <a:gd name="adj" fmla="val 9481"/>
            </a:avLst>
          </a:prstGeom>
          <a:solidFill>
            <a:schemeClr val="accent1">
              <a:lumMod val="20000"/>
              <a:lumOff val="80000"/>
            </a:schemeClr>
          </a:solidFill>
          <a:ln w="9525" algn="ctr">
            <a:noFill/>
            <a:round/>
            <a:headEnd/>
            <a:tailEnd/>
          </a:ln>
          <a:effectLst/>
        </p:spPr>
        <p:txBody>
          <a:bodyPr wrap="none" anchor="ctr"/>
          <a:lstStyle/>
          <a:p>
            <a:endParaRPr lang="es-CL">
              <a:solidFill>
                <a:srgbClr val="002060"/>
              </a:solidFill>
            </a:endParaRPr>
          </a:p>
        </p:txBody>
      </p:sp>
      <p:sp>
        <p:nvSpPr>
          <p:cNvPr id="65" name="AutoShape 47"/>
          <p:cNvSpPr>
            <a:spLocks noChangeArrowheads="1"/>
          </p:cNvSpPr>
          <p:nvPr/>
        </p:nvSpPr>
        <p:spPr bwMode="blackWhite">
          <a:xfrm>
            <a:off x="4678512" y="3538893"/>
            <a:ext cx="353942" cy="864000"/>
          </a:xfrm>
          <a:prstGeom prst="rightArrow">
            <a:avLst>
              <a:gd name="adj1" fmla="val 100000"/>
              <a:gd name="adj2" fmla="val 11009"/>
            </a:avLst>
          </a:prstGeom>
          <a:solidFill>
            <a:srgbClr val="969696"/>
          </a:solidFill>
          <a:ln w="12700">
            <a:noFill/>
            <a:miter lim="800000"/>
            <a:headEnd/>
            <a:tailEnd/>
          </a:ln>
          <a:effectLst>
            <a:outerShdw dist="35921" dir="2700000" algn="ctr" rotWithShape="0">
              <a:schemeClr val="bg2"/>
            </a:outerShdw>
          </a:effectLst>
        </p:spPr>
        <p:txBody>
          <a:bodyPr vert="vert270" anchor="ctr"/>
          <a:lstStyle/>
          <a:p>
            <a:pPr algn="ctr">
              <a:lnSpc>
                <a:spcPts val="1000"/>
              </a:lnSpc>
            </a:pPr>
            <a:r>
              <a:rPr lang="es-ES" sz="1100" b="1" noProof="1">
                <a:solidFill>
                  <a:srgbClr val="FFFFFF"/>
                </a:solidFill>
                <a:cs typeface="Arial" charset="0"/>
              </a:rPr>
              <a:t>Impacto Reputacional</a:t>
            </a:r>
          </a:p>
        </p:txBody>
      </p:sp>
      <p:sp>
        <p:nvSpPr>
          <p:cNvPr id="66" name="Rectangle 18"/>
          <p:cNvSpPr>
            <a:spLocks noChangeArrowheads="1"/>
          </p:cNvSpPr>
          <p:nvPr/>
        </p:nvSpPr>
        <p:spPr bwMode="auto">
          <a:xfrm>
            <a:off x="8334310" y="3612658"/>
            <a:ext cx="548640" cy="170094"/>
          </a:xfrm>
          <a:prstGeom prst="rect">
            <a:avLst/>
          </a:prstGeom>
          <a:solidFill>
            <a:schemeClr val="bg1"/>
          </a:solidFill>
          <a:ln w="9525" algn="ctr">
            <a:solidFill>
              <a:schemeClr val="bg2"/>
            </a:solidFill>
            <a:miter lim="800000"/>
            <a:headEnd/>
            <a:tailEnd/>
          </a:ln>
          <a:effectLst/>
        </p:spPr>
        <p:txBody>
          <a:bodyPr anchor="ctr"/>
          <a:lstStyle/>
          <a:p>
            <a:pPr algn="ctr"/>
            <a:r>
              <a:rPr lang="es-ES" sz="1100" dirty="0">
                <a:solidFill>
                  <a:srgbClr val="002060"/>
                </a:solidFill>
              </a:rPr>
              <a:t>1</a:t>
            </a:r>
          </a:p>
        </p:txBody>
      </p:sp>
      <p:sp>
        <p:nvSpPr>
          <p:cNvPr id="67" name="Rounded Rectangle 66"/>
          <p:cNvSpPr/>
          <p:nvPr/>
        </p:nvSpPr>
        <p:spPr>
          <a:xfrm>
            <a:off x="5102950" y="3612658"/>
            <a:ext cx="3132000" cy="170094"/>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Afectación a Clientes</a:t>
            </a:r>
          </a:p>
        </p:txBody>
      </p:sp>
      <p:sp>
        <p:nvSpPr>
          <p:cNvPr id="68" name="Rectangle 18"/>
          <p:cNvSpPr>
            <a:spLocks noChangeArrowheads="1"/>
          </p:cNvSpPr>
          <p:nvPr/>
        </p:nvSpPr>
        <p:spPr bwMode="auto">
          <a:xfrm>
            <a:off x="5102950" y="3830815"/>
            <a:ext cx="3780000" cy="469509"/>
          </a:xfrm>
          <a:prstGeom prst="rect">
            <a:avLst/>
          </a:prstGeom>
          <a:solidFill>
            <a:schemeClr val="bg1"/>
          </a:solidFill>
          <a:ln w="9525" algn="ctr">
            <a:solidFill>
              <a:schemeClr val="bg2"/>
            </a:solidFill>
            <a:miter lim="800000"/>
            <a:headEnd/>
            <a:tailEnd/>
          </a:ln>
          <a:effectLst/>
        </p:spPr>
        <p:txBody>
          <a:bodyPr anchor="ctr"/>
          <a:lstStyle/>
          <a:p>
            <a:r>
              <a:rPr lang="es-ES" sz="1100" dirty="0">
                <a:solidFill>
                  <a:srgbClr val="000000"/>
                </a:solidFill>
              </a:rPr>
              <a:t>La exposición de la imagen es únicamente interna y limitada.</a:t>
            </a:r>
          </a:p>
        </p:txBody>
      </p:sp>
      <p:sp>
        <p:nvSpPr>
          <p:cNvPr id="72" name="AutoShape 179"/>
          <p:cNvSpPr>
            <a:spLocks noChangeArrowheads="1"/>
          </p:cNvSpPr>
          <p:nvPr/>
        </p:nvSpPr>
        <p:spPr bwMode="auto">
          <a:xfrm>
            <a:off x="4927319" y="4441608"/>
            <a:ext cx="4037169" cy="892800"/>
          </a:xfrm>
          <a:prstGeom prst="roundRect">
            <a:avLst>
              <a:gd name="adj" fmla="val 9481"/>
            </a:avLst>
          </a:prstGeom>
          <a:solidFill>
            <a:schemeClr val="accent1">
              <a:lumMod val="20000"/>
              <a:lumOff val="80000"/>
            </a:schemeClr>
          </a:solidFill>
          <a:ln w="9525" algn="ctr">
            <a:noFill/>
            <a:round/>
            <a:headEnd/>
            <a:tailEnd/>
          </a:ln>
          <a:effectLst/>
        </p:spPr>
        <p:txBody>
          <a:bodyPr wrap="none" anchor="ctr"/>
          <a:lstStyle/>
          <a:p>
            <a:endParaRPr lang="es-CL">
              <a:solidFill>
                <a:srgbClr val="002060"/>
              </a:solidFill>
            </a:endParaRPr>
          </a:p>
        </p:txBody>
      </p:sp>
      <p:sp>
        <p:nvSpPr>
          <p:cNvPr id="73" name="AutoShape 47"/>
          <p:cNvSpPr>
            <a:spLocks noChangeArrowheads="1"/>
          </p:cNvSpPr>
          <p:nvPr/>
        </p:nvSpPr>
        <p:spPr bwMode="blackWhite">
          <a:xfrm>
            <a:off x="4673792" y="4443110"/>
            <a:ext cx="352800" cy="892800"/>
          </a:xfrm>
          <a:prstGeom prst="rightArrow">
            <a:avLst>
              <a:gd name="adj1" fmla="val 100000"/>
              <a:gd name="adj2" fmla="val 11009"/>
            </a:avLst>
          </a:prstGeom>
          <a:solidFill>
            <a:srgbClr val="969696"/>
          </a:solidFill>
          <a:ln w="12700">
            <a:noFill/>
            <a:miter lim="800000"/>
            <a:headEnd/>
            <a:tailEnd/>
          </a:ln>
          <a:effectLst>
            <a:outerShdw dist="35921" dir="2700000" algn="ctr" rotWithShape="0">
              <a:schemeClr val="bg2"/>
            </a:outerShdw>
          </a:effectLst>
        </p:spPr>
        <p:txBody>
          <a:bodyPr vert="vert270" anchor="ctr"/>
          <a:lstStyle/>
          <a:p>
            <a:pPr algn="ctr">
              <a:lnSpc>
                <a:spcPts val="1000"/>
              </a:lnSpc>
            </a:pPr>
            <a:r>
              <a:rPr lang="es-ES" sz="1100" b="1" noProof="1">
                <a:solidFill>
                  <a:srgbClr val="FFFFFF"/>
                </a:solidFill>
                <a:cs typeface="Arial" charset="0"/>
              </a:rPr>
              <a:t>Cuestionarios</a:t>
            </a:r>
          </a:p>
        </p:txBody>
      </p:sp>
      <p:sp>
        <p:nvSpPr>
          <p:cNvPr id="75" name="Rounded Rectangle 38"/>
          <p:cNvSpPr/>
          <p:nvPr/>
        </p:nvSpPr>
        <p:spPr>
          <a:xfrm>
            <a:off x="5098230" y="4516875"/>
            <a:ext cx="3132000" cy="170094"/>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Criterios de Evaluación</a:t>
            </a:r>
          </a:p>
        </p:txBody>
      </p:sp>
      <p:sp>
        <p:nvSpPr>
          <p:cNvPr id="76" name="Rectangle 18"/>
          <p:cNvSpPr>
            <a:spLocks noChangeArrowheads="1"/>
          </p:cNvSpPr>
          <p:nvPr/>
        </p:nvSpPr>
        <p:spPr bwMode="auto">
          <a:xfrm>
            <a:off x="5102950" y="4730048"/>
            <a:ext cx="3780000" cy="469509"/>
          </a:xfrm>
          <a:prstGeom prst="rect">
            <a:avLst/>
          </a:prstGeom>
          <a:solidFill>
            <a:schemeClr val="bg1"/>
          </a:solidFill>
          <a:ln w="9525" algn="ctr">
            <a:solidFill>
              <a:schemeClr val="bg2"/>
            </a:solidFill>
            <a:miter lim="800000"/>
            <a:headEnd/>
            <a:tailEnd/>
          </a:ln>
          <a:effectLst/>
        </p:spPr>
        <p:txBody>
          <a:bodyPr anchor="ctr"/>
          <a:lstStyle/>
          <a:p>
            <a:r>
              <a:rPr lang="es-ES" sz="1050" dirty="0"/>
              <a:t>Valoración en base al promedio de las  operaciones diarias. Se toma una operación promedio de $5MM y un 2.5% de promedio que podría caer un activo.</a:t>
            </a:r>
          </a:p>
        </p:txBody>
      </p:sp>
      <p:sp>
        <p:nvSpPr>
          <p:cNvPr id="77" name="Text Box 30"/>
          <p:cNvSpPr txBox="1">
            <a:spLocks noChangeArrowheads="1"/>
          </p:cNvSpPr>
          <p:nvPr/>
        </p:nvSpPr>
        <p:spPr bwMode="auto">
          <a:xfrm>
            <a:off x="190746" y="4977551"/>
            <a:ext cx="3996000" cy="276999"/>
          </a:xfrm>
          <a:prstGeom prst="rect">
            <a:avLst/>
          </a:prstGeom>
          <a:noFill/>
          <a:ln w="9525" algn="ctr">
            <a:noFill/>
            <a:miter lim="800000"/>
            <a:headEnd/>
            <a:tailEnd/>
          </a:ln>
          <a:effectLst/>
        </p:spPr>
        <p:txBody>
          <a:bodyPr wrap="square">
            <a:spAutoFit/>
          </a:bodyPr>
          <a:lstStyle/>
          <a:p>
            <a:pPr>
              <a:spcBef>
                <a:spcPct val="50000"/>
              </a:spcBef>
            </a:pPr>
            <a:r>
              <a:rPr lang="es-CL" sz="1200" b="1" i="1" dirty="0">
                <a:solidFill>
                  <a:srgbClr val="A3A3E0"/>
                </a:solidFill>
              </a:rPr>
              <a:t>Resultados valoración de controles / factores mitigantes</a:t>
            </a:r>
            <a:endParaRPr lang="es-ES" sz="1200" b="1" i="1" dirty="0">
              <a:solidFill>
                <a:srgbClr val="A3A3E0"/>
              </a:solidFill>
            </a:endParaRPr>
          </a:p>
        </p:txBody>
      </p:sp>
      <p:sp>
        <p:nvSpPr>
          <p:cNvPr id="78" name="AutoShape 179"/>
          <p:cNvSpPr>
            <a:spLocks noChangeArrowheads="1"/>
          </p:cNvSpPr>
          <p:nvPr/>
        </p:nvSpPr>
        <p:spPr bwMode="auto">
          <a:xfrm>
            <a:off x="534831" y="5200032"/>
            <a:ext cx="4037169" cy="864000"/>
          </a:xfrm>
          <a:prstGeom prst="roundRect">
            <a:avLst>
              <a:gd name="adj" fmla="val 9481"/>
            </a:avLst>
          </a:prstGeom>
          <a:solidFill>
            <a:schemeClr val="accent1">
              <a:lumMod val="20000"/>
              <a:lumOff val="80000"/>
            </a:schemeClr>
          </a:solidFill>
          <a:ln w="9525" algn="ctr">
            <a:noFill/>
            <a:round/>
            <a:headEnd/>
            <a:tailEnd/>
          </a:ln>
          <a:effectLst/>
        </p:spPr>
        <p:txBody>
          <a:bodyPr wrap="none" anchor="ctr"/>
          <a:lstStyle/>
          <a:p>
            <a:endParaRPr lang="es-CL">
              <a:solidFill>
                <a:srgbClr val="002060"/>
              </a:solidFill>
            </a:endParaRPr>
          </a:p>
        </p:txBody>
      </p:sp>
      <p:sp>
        <p:nvSpPr>
          <p:cNvPr id="79" name="AutoShape 47"/>
          <p:cNvSpPr>
            <a:spLocks noChangeArrowheads="1"/>
          </p:cNvSpPr>
          <p:nvPr/>
        </p:nvSpPr>
        <p:spPr bwMode="blackWhite">
          <a:xfrm>
            <a:off x="281304" y="5201534"/>
            <a:ext cx="353942" cy="864000"/>
          </a:xfrm>
          <a:prstGeom prst="rightArrow">
            <a:avLst>
              <a:gd name="adj1" fmla="val 100000"/>
              <a:gd name="adj2" fmla="val 11009"/>
            </a:avLst>
          </a:prstGeom>
          <a:solidFill>
            <a:srgbClr val="969696"/>
          </a:solidFill>
          <a:ln w="12700">
            <a:noFill/>
            <a:miter lim="800000"/>
            <a:headEnd/>
            <a:tailEnd/>
          </a:ln>
          <a:effectLst>
            <a:outerShdw dist="35921" dir="2700000" algn="ctr" rotWithShape="0">
              <a:schemeClr val="bg2"/>
            </a:outerShdw>
          </a:effectLst>
        </p:spPr>
        <p:txBody>
          <a:bodyPr vert="vert270" anchor="ctr"/>
          <a:lstStyle/>
          <a:p>
            <a:pPr algn="ctr">
              <a:lnSpc>
                <a:spcPts val="1000"/>
              </a:lnSpc>
            </a:pPr>
            <a:r>
              <a:rPr lang="es-ES" sz="1100" b="1" noProof="1">
                <a:solidFill>
                  <a:srgbClr val="FFFFFF"/>
                </a:solidFill>
                <a:cs typeface="Arial" charset="0"/>
              </a:rPr>
              <a:t>Evaluación de Controles</a:t>
            </a:r>
          </a:p>
        </p:txBody>
      </p:sp>
      <p:sp>
        <p:nvSpPr>
          <p:cNvPr id="80" name="Rectangle 18"/>
          <p:cNvSpPr>
            <a:spLocks noChangeArrowheads="1"/>
          </p:cNvSpPr>
          <p:nvPr/>
        </p:nvSpPr>
        <p:spPr bwMode="auto">
          <a:xfrm>
            <a:off x="3937102" y="5275299"/>
            <a:ext cx="548640" cy="170094"/>
          </a:xfrm>
          <a:prstGeom prst="rect">
            <a:avLst/>
          </a:prstGeom>
          <a:solidFill>
            <a:schemeClr val="bg1"/>
          </a:solidFill>
          <a:ln w="9525" algn="ctr">
            <a:solidFill>
              <a:schemeClr val="bg2"/>
            </a:solidFill>
            <a:miter lim="800000"/>
            <a:headEnd/>
            <a:tailEnd/>
          </a:ln>
          <a:effectLst/>
        </p:spPr>
        <p:txBody>
          <a:bodyPr anchor="ctr"/>
          <a:lstStyle/>
          <a:p>
            <a:pPr algn="ctr"/>
            <a:r>
              <a:rPr lang="es-ES" sz="1100" dirty="0">
                <a:solidFill>
                  <a:srgbClr val="002060"/>
                </a:solidFill>
              </a:rPr>
              <a:t>1</a:t>
            </a:r>
          </a:p>
        </p:txBody>
      </p:sp>
      <p:sp>
        <p:nvSpPr>
          <p:cNvPr id="81" name="Rounded Rectangle 38"/>
          <p:cNvSpPr/>
          <p:nvPr/>
        </p:nvSpPr>
        <p:spPr>
          <a:xfrm>
            <a:off x="705742" y="5275299"/>
            <a:ext cx="3132000" cy="170094"/>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Controles asociados al riesgo</a:t>
            </a:r>
          </a:p>
        </p:txBody>
      </p:sp>
      <p:sp>
        <p:nvSpPr>
          <p:cNvPr id="82" name="Rectangle 18"/>
          <p:cNvSpPr>
            <a:spLocks noChangeArrowheads="1"/>
          </p:cNvSpPr>
          <p:nvPr/>
        </p:nvSpPr>
        <p:spPr bwMode="auto">
          <a:xfrm>
            <a:off x="705742" y="5496307"/>
            <a:ext cx="3780000" cy="469509"/>
          </a:xfrm>
          <a:prstGeom prst="rect">
            <a:avLst/>
          </a:prstGeom>
          <a:solidFill>
            <a:schemeClr val="bg1"/>
          </a:solidFill>
          <a:ln w="9525" algn="ctr">
            <a:solidFill>
              <a:schemeClr val="bg2"/>
            </a:solidFill>
            <a:miter lim="800000"/>
            <a:headEnd/>
            <a:tailEnd/>
          </a:ln>
          <a:effectLst/>
        </p:spPr>
        <p:txBody>
          <a:bodyPr anchor="ctr"/>
          <a:lstStyle/>
          <a:p>
            <a:r>
              <a:rPr lang="es-ES" sz="1100" dirty="0">
                <a:solidFill>
                  <a:srgbClr val="000000"/>
                </a:solidFill>
              </a:rPr>
              <a:t>Revisión de los datos generados en la operativa por parte de Back Office (Analista de Operaciones de Inversión)</a:t>
            </a:r>
          </a:p>
        </p:txBody>
      </p:sp>
      <p:sp>
        <p:nvSpPr>
          <p:cNvPr id="83" name="Rounded Rectangle 14"/>
          <p:cNvSpPr/>
          <p:nvPr/>
        </p:nvSpPr>
        <p:spPr>
          <a:xfrm>
            <a:off x="6732240" y="2908110"/>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Origen del Riesgo</a:t>
            </a:r>
          </a:p>
        </p:txBody>
      </p:sp>
      <p:sp>
        <p:nvSpPr>
          <p:cNvPr id="84" name="Rectangle 18"/>
          <p:cNvSpPr>
            <a:spLocks noChangeArrowheads="1"/>
          </p:cNvSpPr>
          <p:nvPr/>
        </p:nvSpPr>
        <p:spPr bwMode="auto">
          <a:xfrm>
            <a:off x="6732240" y="3123375"/>
            <a:ext cx="2286000" cy="270000"/>
          </a:xfrm>
          <a:prstGeom prst="rect">
            <a:avLst/>
          </a:prstGeom>
          <a:noFill/>
          <a:ln w="9525" algn="ctr">
            <a:solidFill>
              <a:schemeClr val="bg2"/>
            </a:solidFill>
            <a:miter lim="800000"/>
            <a:headEnd/>
            <a:tailEnd/>
          </a:ln>
          <a:effectLst/>
        </p:spPr>
        <p:txBody>
          <a:bodyPr anchor="ctr"/>
          <a:lstStyle/>
          <a:p>
            <a:r>
              <a:rPr lang="es-ES" sz="1100" dirty="0">
                <a:solidFill>
                  <a:srgbClr val="000000"/>
                </a:solidFill>
              </a:rPr>
              <a:t>Tecnología</a:t>
            </a:r>
          </a:p>
        </p:txBody>
      </p:sp>
      <p:sp>
        <p:nvSpPr>
          <p:cNvPr id="54" name="Rounded Rectangle 31">
            <a:hlinkClick r:id="rId2" action="ppaction://hlinksldjump"/>
          </p:cNvPr>
          <p:cNvSpPr/>
          <p:nvPr/>
        </p:nvSpPr>
        <p:spPr>
          <a:xfrm>
            <a:off x="1638012" y="6322807"/>
            <a:ext cx="1080000" cy="360000"/>
          </a:xfrm>
          <a:prstGeom prst="roundRect">
            <a:avLst/>
          </a:prstGeom>
          <a:solidFill>
            <a:schemeClr val="bg1">
              <a:lumMod val="65000"/>
            </a:schemeClr>
          </a:solidFill>
          <a:ln w="25400" cap="sq" cmpd="sng">
            <a:solidFill>
              <a:schemeClr val="bg1">
                <a:lumMod val="75000"/>
              </a:schemeClr>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L" sz="800" b="1" i="1" dirty="0">
                <a:solidFill>
                  <a:schemeClr val="bg1"/>
                </a:solidFill>
                <a:cs typeface="Arial" pitchFamily="34" charset="0"/>
              </a:rPr>
              <a:t>Exposición al RO y Entorno de Control</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dirty="0"/>
              <a:t>Anexo: Ficha Individual Riesgos Operacionales</a:t>
            </a:r>
          </a:p>
        </p:txBody>
      </p:sp>
      <p:sp>
        <p:nvSpPr>
          <p:cNvPr id="4" name="Rounded Rectangle 3"/>
          <p:cNvSpPr/>
          <p:nvPr/>
        </p:nvSpPr>
        <p:spPr>
          <a:xfrm>
            <a:off x="227770" y="764704"/>
            <a:ext cx="383790" cy="274320"/>
          </a:xfrm>
          <a:prstGeom prst="roundRect">
            <a:avLst/>
          </a:prstGeom>
          <a:solidFill>
            <a:srgbClr val="DB0613"/>
          </a:solidFill>
          <a:ln w="9525" algn="ctr">
            <a:noFill/>
            <a:miter lim="800000"/>
            <a:headEnd/>
            <a:tailEnd/>
          </a:ln>
          <a:effectLst/>
        </p:spPr>
        <p:txBody>
          <a:bodyPr anchor="ctr"/>
          <a:lstStyle/>
          <a:p>
            <a:pPr algn="ctr">
              <a:lnSpc>
                <a:spcPct val="80000"/>
              </a:lnSpc>
            </a:pPr>
            <a:r>
              <a:rPr lang="es-CL" sz="1200" b="1" dirty="0">
                <a:solidFill>
                  <a:srgbClr val="FFFFFF"/>
                </a:solidFill>
                <a:cs typeface="Arial" pitchFamily="34" charset="0"/>
              </a:rPr>
              <a:t>24</a:t>
            </a:r>
          </a:p>
        </p:txBody>
      </p:sp>
      <p:sp>
        <p:nvSpPr>
          <p:cNvPr id="5" name="Rectangle 18"/>
          <p:cNvSpPr>
            <a:spLocks noChangeArrowheads="1"/>
          </p:cNvSpPr>
          <p:nvPr/>
        </p:nvSpPr>
        <p:spPr bwMode="auto">
          <a:xfrm>
            <a:off x="227770" y="2548229"/>
            <a:ext cx="6400800" cy="708660"/>
          </a:xfrm>
          <a:prstGeom prst="rect">
            <a:avLst/>
          </a:prstGeom>
          <a:noFill/>
          <a:ln w="9525" algn="ctr">
            <a:solidFill>
              <a:schemeClr val="bg2"/>
            </a:solidFill>
            <a:miter lim="800000"/>
            <a:headEnd/>
            <a:tailEnd/>
          </a:ln>
          <a:effectLst/>
        </p:spPr>
        <p:txBody>
          <a:bodyPr/>
          <a:lstStyle/>
          <a:p>
            <a:r>
              <a:rPr lang="es-ES" sz="1100" dirty="0"/>
              <a:t>Riesgo de error en la operativa de contratación por caída de la conexión de la plataforma de contratación (incluye el supuesto de que se no sea posible la conexión telefónica).</a:t>
            </a:r>
          </a:p>
        </p:txBody>
      </p:sp>
      <p:sp>
        <p:nvSpPr>
          <p:cNvPr id="8" name="Rounded Rectangle 7"/>
          <p:cNvSpPr/>
          <p:nvPr/>
        </p:nvSpPr>
        <p:spPr>
          <a:xfrm>
            <a:off x="652842" y="764704"/>
            <a:ext cx="8352000" cy="274320"/>
          </a:xfrm>
          <a:prstGeom prst="roundRect">
            <a:avLst/>
          </a:prstGeom>
          <a:solidFill>
            <a:srgbClr val="DB0613"/>
          </a:solidFill>
          <a:ln w="9525" algn="ctr">
            <a:noFill/>
            <a:miter lim="800000"/>
            <a:headEnd/>
            <a:tailEnd/>
          </a:ln>
          <a:effectLst/>
        </p:spPr>
        <p:txBody>
          <a:bodyPr anchor="ctr"/>
          <a:lstStyle/>
          <a:p>
            <a:pPr>
              <a:lnSpc>
                <a:spcPct val="80000"/>
              </a:lnSpc>
            </a:pPr>
            <a:r>
              <a:rPr lang="es-ES" sz="1200" b="1" dirty="0">
                <a:solidFill>
                  <a:srgbClr val="FFFFFF"/>
                </a:solidFill>
                <a:cs typeface="Arial" pitchFamily="34" charset="0"/>
              </a:rPr>
              <a:t>Caída de la plataforma de contratación</a:t>
            </a:r>
            <a:endParaRPr lang="es-CL" sz="1200" b="1" dirty="0">
              <a:solidFill>
                <a:srgbClr val="FFFFFF"/>
              </a:solidFill>
              <a:cs typeface="Arial" pitchFamily="34" charset="0"/>
            </a:endParaRPr>
          </a:p>
        </p:txBody>
      </p:sp>
      <p:sp>
        <p:nvSpPr>
          <p:cNvPr id="9" name="Rounded Rectangle 8"/>
          <p:cNvSpPr/>
          <p:nvPr/>
        </p:nvSpPr>
        <p:spPr>
          <a:xfrm>
            <a:off x="227770" y="2307916"/>
            <a:ext cx="64008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Descripción</a:t>
            </a:r>
          </a:p>
        </p:txBody>
      </p:sp>
      <p:sp>
        <p:nvSpPr>
          <p:cNvPr id="10" name="Rounded Rectangle 9"/>
          <p:cNvSpPr/>
          <p:nvPr/>
        </p:nvSpPr>
        <p:spPr>
          <a:xfrm>
            <a:off x="6716066" y="1111764"/>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Categoría  de Riesgo Nivel I</a:t>
            </a:r>
          </a:p>
        </p:txBody>
      </p:sp>
      <p:sp>
        <p:nvSpPr>
          <p:cNvPr id="11" name="Rectangle 18"/>
          <p:cNvSpPr>
            <a:spLocks noChangeArrowheads="1"/>
          </p:cNvSpPr>
          <p:nvPr/>
        </p:nvSpPr>
        <p:spPr bwMode="auto">
          <a:xfrm>
            <a:off x="6716066" y="1325572"/>
            <a:ext cx="2286000" cy="270000"/>
          </a:xfrm>
          <a:prstGeom prst="rect">
            <a:avLst/>
          </a:prstGeom>
          <a:noFill/>
          <a:ln w="9525" algn="ctr">
            <a:solidFill>
              <a:schemeClr val="bg2"/>
            </a:solidFill>
            <a:miter lim="800000"/>
            <a:headEnd/>
            <a:tailEnd/>
          </a:ln>
          <a:effectLst/>
        </p:spPr>
        <p:txBody>
          <a:bodyPr anchor="ctr"/>
          <a:lstStyle/>
          <a:p>
            <a:pPr>
              <a:lnSpc>
                <a:spcPts val="1000"/>
              </a:lnSpc>
            </a:pPr>
            <a:r>
              <a:rPr lang="es-ES" sz="1100" dirty="0"/>
              <a:t>Incidencias en el negocio y fallos en los sistemas</a:t>
            </a:r>
          </a:p>
        </p:txBody>
      </p:sp>
      <p:sp>
        <p:nvSpPr>
          <p:cNvPr id="12" name="Rounded Rectangle 11"/>
          <p:cNvSpPr/>
          <p:nvPr/>
        </p:nvSpPr>
        <p:spPr>
          <a:xfrm>
            <a:off x="6716066" y="1664503"/>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Categoría  de Riesgo Nivel II</a:t>
            </a:r>
          </a:p>
        </p:txBody>
      </p:sp>
      <p:sp>
        <p:nvSpPr>
          <p:cNvPr id="13" name="Rectangle 18"/>
          <p:cNvSpPr>
            <a:spLocks noChangeArrowheads="1"/>
          </p:cNvSpPr>
          <p:nvPr/>
        </p:nvSpPr>
        <p:spPr bwMode="auto">
          <a:xfrm>
            <a:off x="6716066" y="1877089"/>
            <a:ext cx="2286000" cy="270000"/>
          </a:xfrm>
          <a:prstGeom prst="rect">
            <a:avLst/>
          </a:prstGeom>
          <a:noFill/>
          <a:ln w="9525" algn="ctr">
            <a:solidFill>
              <a:schemeClr val="bg2"/>
            </a:solidFill>
            <a:miter lim="800000"/>
            <a:headEnd/>
            <a:tailEnd/>
          </a:ln>
          <a:effectLst/>
        </p:spPr>
        <p:txBody>
          <a:bodyPr anchor="ctr"/>
          <a:lstStyle/>
          <a:p>
            <a:r>
              <a:rPr lang="es-ES" sz="1100" dirty="0"/>
              <a:t>Interrupción del negocio y fallos en los sistemas.</a:t>
            </a:r>
          </a:p>
        </p:txBody>
      </p:sp>
      <p:sp>
        <p:nvSpPr>
          <p:cNvPr id="15" name="Rounded Rectangle 14"/>
          <p:cNvSpPr/>
          <p:nvPr/>
        </p:nvSpPr>
        <p:spPr>
          <a:xfrm>
            <a:off x="6716066" y="2223551"/>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Categoría  de Riesgo Nivel III</a:t>
            </a:r>
          </a:p>
        </p:txBody>
      </p:sp>
      <p:sp>
        <p:nvSpPr>
          <p:cNvPr id="16" name="Rectangle 18"/>
          <p:cNvSpPr>
            <a:spLocks noChangeArrowheads="1"/>
          </p:cNvSpPr>
          <p:nvPr/>
        </p:nvSpPr>
        <p:spPr bwMode="auto">
          <a:xfrm>
            <a:off x="6716066" y="2434321"/>
            <a:ext cx="2286000" cy="270000"/>
          </a:xfrm>
          <a:prstGeom prst="rect">
            <a:avLst/>
          </a:prstGeom>
          <a:noFill/>
          <a:ln w="9525" algn="ctr">
            <a:solidFill>
              <a:schemeClr val="bg2"/>
            </a:solidFill>
            <a:miter lim="800000"/>
            <a:headEnd/>
            <a:tailEnd/>
          </a:ln>
          <a:effectLst/>
        </p:spPr>
        <p:txBody>
          <a:bodyPr anchor="ctr"/>
          <a:lstStyle/>
          <a:p>
            <a:r>
              <a:rPr lang="es-ES" sz="900" dirty="0"/>
              <a:t>Cortes en los servicios/Interrupción en las aplicaciones</a:t>
            </a:r>
          </a:p>
        </p:txBody>
      </p:sp>
      <p:sp>
        <p:nvSpPr>
          <p:cNvPr id="17" name="Rounded Rectangle 16"/>
          <p:cNvSpPr/>
          <p:nvPr/>
        </p:nvSpPr>
        <p:spPr>
          <a:xfrm>
            <a:off x="216583" y="1110038"/>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Macroproceso</a:t>
            </a:r>
          </a:p>
        </p:txBody>
      </p:sp>
      <p:sp>
        <p:nvSpPr>
          <p:cNvPr id="18" name="Rectangle 18"/>
          <p:cNvSpPr>
            <a:spLocks noChangeArrowheads="1"/>
          </p:cNvSpPr>
          <p:nvPr/>
        </p:nvSpPr>
        <p:spPr bwMode="auto">
          <a:xfrm>
            <a:off x="2568409" y="1110038"/>
            <a:ext cx="3877200" cy="182880"/>
          </a:xfrm>
          <a:prstGeom prst="rect">
            <a:avLst/>
          </a:prstGeom>
          <a:noFill/>
          <a:ln w="9525" algn="ctr">
            <a:solidFill>
              <a:schemeClr val="bg2"/>
            </a:solidFill>
            <a:miter lim="800000"/>
            <a:headEnd/>
            <a:tailEnd/>
          </a:ln>
          <a:effectLst/>
        </p:spPr>
        <p:txBody>
          <a:bodyPr anchor="ctr"/>
          <a:lstStyle/>
          <a:p>
            <a:r>
              <a:rPr lang="es-ES" sz="1100" dirty="0"/>
              <a:t>Administración de Portafolio de Inversiones</a:t>
            </a:r>
          </a:p>
        </p:txBody>
      </p:sp>
      <p:sp>
        <p:nvSpPr>
          <p:cNvPr id="19" name="Rounded Rectangle 18"/>
          <p:cNvSpPr/>
          <p:nvPr/>
        </p:nvSpPr>
        <p:spPr>
          <a:xfrm>
            <a:off x="216583" y="1339045"/>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Proceso</a:t>
            </a:r>
          </a:p>
        </p:txBody>
      </p:sp>
      <p:sp>
        <p:nvSpPr>
          <p:cNvPr id="20" name="Rectangle 18"/>
          <p:cNvSpPr>
            <a:spLocks noChangeArrowheads="1"/>
          </p:cNvSpPr>
          <p:nvPr/>
        </p:nvSpPr>
        <p:spPr bwMode="auto">
          <a:xfrm>
            <a:off x="2568409" y="1339045"/>
            <a:ext cx="3877200" cy="182880"/>
          </a:xfrm>
          <a:prstGeom prst="rect">
            <a:avLst/>
          </a:prstGeom>
          <a:noFill/>
          <a:ln w="9525" algn="ctr">
            <a:solidFill>
              <a:schemeClr val="bg2"/>
            </a:solidFill>
            <a:miter lim="800000"/>
            <a:headEnd/>
            <a:tailEnd/>
          </a:ln>
          <a:effectLst/>
        </p:spPr>
        <p:txBody>
          <a:bodyPr anchor="ctr"/>
          <a:lstStyle/>
          <a:p>
            <a:r>
              <a:rPr lang="es-ES" sz="1100" dirty="0"/>
              <a:t>Administración de fondos</a:t>
            </a:r>
          </a:p>
        </p:txBody>
      </p:sp>
      <p:sp>
        <p:nvSpPr>
          <p:cNvPr id="59" name="Rounded Rectangle 58"/>
          <p:cNvSpPr/>
          <p:nvPr/>
        </p:nvSpPr>
        <p:spPr>
          <a:xfrm>
            <a:off x="216583" y="1579694"/>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Subproceso</a:t>
            </a:r>
          </a:p>
        </p:txBody>
      </p:sp>
      <p:sp>
        <p:nvSpPr>
          <p:cNvPr id="60" name="Rectangle 18"/>
          <p:cNvSpPr>
            <a:spLocks noChangeArrowheads="1"/>
          </p:cNvSpPr>
          <p:nvPr/>
        </p:nvSpPr>
        <p:spPr bwMode="auto">
          <a:xfrm>
            <a:off x="2568409" y="1579694"/>
            <a:ext cx="3875799" cy="182880"/>
          </a:xfrm>
          <a:prstGeom prst="rect">
            <a:avLst/>
          </a:prstGeom>
          <a:noFill/>
          <a:ln w="9525" algn="ctr">
            <a:solidFill>
              <a:schemeClr val="bg2"/>
            </a:solidFill>
            <a:miter lim="800000"/>
            <a:headEnd/>
            <a:tailEnd/>
          </a:ln>
          <a:effectLst/>
        </p:spPr>
        <p:txBody>
          <a:bodyPr anchor="ctr"/>
          <a:lstStyle/>
          <a:p>
            <a:r>
              <a:rPr lang="es-ES" sz="1100" dirty="0"/>
              <a:t>Ejecución de propuesta de Inversión</a:t>
            </a:r>
          </a:p>
        </p:txBody>
      </p:sp>
      <p:sp>
        <p:nvSpPr>
          <p:cNvPr id="61" name="Rounded Rectangle 60"/>
          <p:cNvSpPr/>
          <p:nvPr/>
        </p:nvSpPr>
        <p:spPr>
          <a:xfrm>
            <a:off x="226806" y="1826440"/>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Línea de Negocio</a:t>
            </a:r>
          </a:p>
        </p:txBody>
      </p:sp>
      <p:sp>
        <p:nvSpPr>
          <p:cNvPr id="63" name="Rounded Rectangle 62"/>
          <p:cNvSpPr/>
          <p:nvPr/>
        </p:nvSpPr>
        <p:spPr>
          <a:xfrm>
            <a:off x="226806" y="2079535"/>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Responsable</a:t>
            </a:r>
          </a:p>
        </p:txBody>
      </p:sp>
      <p:sp>
        <p:nvSpPr>
          <p:cNvPr id="65" name="Rectangle 18"/>
          <p:cNvSpPr>
            <a:spLocks noChangeArrowheads="1"/>
          </p:cNvSpPr>
          <p:nvPr/>
        </p:nvSpPr>
        <p:spPr bwMode="auto">
          <a:xfrm>
            <a:off x="2568409" y="1826440"/>
            <a:ext cx="3875799" cy="182880"/>
          </a:xfrm>
          <a:prstGeom prst="rect">
            <a:avLst/>
          </a:prstGeom>
          <a:noFill/>
          <a:ln w="9525" algn="ctr">
            <a:solidFill>
              <a:schemeClr val="bg2"/>
            </a:solidFill>
            <a:miter lim="800000"/>
            <a:headEnd/>
            <a:tailEnd/>
          </a:ln>
          <a:effectLst/>
        </p:spPr>
        <p:txBody>
          <a:bodyPr anchor="ctr"/>
          <a:lstStyle/>
          <a:p>
            <a:r>
              <a:rPr lang="es-ES" sz="1100" dirty="0"/>
              <a:t>Negociación y Ventas</a:t>
            </a:r>
          </a:p>
        </p:txBody>
      </p:sp>
      <p:sp>
        <p:nvSpPr>
          <p:cNvPr id="66" name="Rectangle 18"/>
          <p:cNvSpPr>
            <a:spLocks noChangeArrowheads="1"/>
          </p:cNvSpPr>
          <p:nvPr/>
        </p:nvSpPr>
        <p:spPr bwMode="auto">
          <a:xfrm>
            <a:off x="2555776" y="2079535"/>
            <a:ext cx="3875799" cy="182880"/>
          </a:xfrm>
          <a:prstGeom prst="rect">
            <a:avLst/>
          </a:prstGeom>
          <a:noFill/>
          <a:ln w="9525" algn="ctr">
            <a:solidFill>
              <a:schemeClr val="bg2"/>
            </a:solidFill>
            <a:miter lim="800000"/>
            <a:headEnd/>
            <a:tailEnd/>
          </a:ln>
          <a:effectLst/>
        </p:spPr>
        <p:txBody>
          <a:bodyPr anchor="ctr"/>
          <a:lstStyle/>
          <a:p>
            <a:r>
              <a:rPr lang="es-ES" sz="1100" dirty="0"/>
              <a:t>Subgerentes de Portafolio</a:t>
            </a:r>
          </a:p>
        </p:txBody>
      </p:sp>
      <p:sp>
        <p:nvSpPr>
          <p:cNvPr id="78" name="Rounded Rectangle 14"/>
          <p:cNvSpPr/>
          <p:nvPr/>
        </p:nvSpPr>
        <p:spPr>
          <a:xfrm>
            <a:off x="6716066" y="2768330"/>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Origen del Riesgo</a:t>
            </a:r>
          </a:p>
        </p:txBody>
      </p:sp>
      <p:sp>
        <p:nvSpPr>
          <p:cNvPr id="79" name="Rectangle 18"/>
          <p:cNvSpPr>
            <a:spLocks noChangeArrowheads="1"/>
          </p:cNvSpPr>
          <p:nvPr/>
        </p:nvSpPr>
        <p:spPr bwMode="auto">
          <a:xfrm>
            <a:off x="6716066" y="2983595"/>
            <a:ext cx="2286000" cy="270000"/>
          </a:xfrm>
          <a:prstGeom prst="rect">
            <a:avLst/>
          </a:prstGeom>
          <a:noFill/>
          <a:ln w="9525" algn="ctr">
            <a:solidFill>
              <a:schemeClr val="bg2"/>
            </a:solidFill>
            <a:miter lim="800000"/>
            <a:headEnd/>
            <a:tailEnd/>
          </a:ln>
          <a:effectLst/>
        </p:spPr>
        <p:txBody>
          <a:bodyPr anchor="ctr"/>
          <a:lstStyle/>
          <a:p>
            <a:r>
              <a:rPr lang="es-ES" sz="1100" dirty="0">
                <a:solidFill>
                  <a:srgbClr val="000000"/>
                </a:solidFill>
              </a:rPr>
              <a:t>Tecnología</a:t>
            </a:r>
          </a:p>
        </p:txBody>
      </p:sp>
      <p:sp>
        <p:nvSpPr>
          <p:cNvPr id="68" name="AutoShape 179"/>
          <p:cNvSpPr>
            <a:spLocks noChangeArrowheads="1"/>
          </p:cNvSpPr>
          <p:nvPr/>
        </p:nvSpPr>
        <p:spPr bwMode="auto">
          <a:xfrm>
            <a:off x="611560" y="3482416"/>
            <a:ext cx="3960812" cy="1275707"/>
          </a:xfrm>
          <a:prstGeom prst="roundRect">
            <a:avLst>
              <a:gd name="adj" fmla="val 9481"/>
            </a:avLst>
          </a:prstGeom>
          <a:solidFill>
            <a:schemeClr val="accent1">
              <a:lumMod val="20000"/>
              <a:lumOff val="80000"/>
            </a:schemeClr>
          </a:solidFill>
          <a:ln w="9525" algn="ctr">
            <a:noFill/>
            <a:round/>
            <a:headEnd/>
            <a:tailEnd/>
          </a:ln>
          <a:effectLst/>
        </p:spPr>
        <p:txBody>
          <a:bodyPr wrap="none" anchor="ctr"/>
          <a:lstStyle/>
          <a:p>
            <a:endParaRPr lang="es-CL">
              <a:solidFill>
                <a:srgbClr val="002060"/>
              </a:solidFill>
            </a:endParaRPr>
          </a:p>
        </p:txBody>
      </p:sp>
      <p:sp>
        <p:nvSpPr>
          <p:cNvPr id="73" name="Text Box 30"/>
          <p:cNvSpPr txBox="1">
            <a:spLocks noChangeArrowheads="1"/>
          </p:cNvSpPr>
          <p:nvPr/>
        </p:nvSpPr>
        <p:spPr bwMode="auto">
          <a:xfrm>
            <a:off x="190747" y="3259373"/>
            <a:ext cx="3671888" cy="276999"/>
          </a:xfrm>
          <a:prstGeom prst="rect">
            <a:avLst/>
          </a:prstGeom>
          <a:noFill/>
          <a:ln w="9525" algn="ctr">
            <a:noFill/>
            <a:miter lim="800000"/>
            <a:headEnd/>
            <a:tailEnd/>
          </a:ln>
          <a:effectLst/>
        </p:spPr>
        <p:txBody>
          <a:bodyPr>
            <a:spAutoFit/>
          </a:bodyPr>
          <a:lstStyle/>
          <a:p>
            <a:pPr>
              <a:spcBef>
                <a:spcPct val="50000"/>
              </a:spcBef>
            </a:pPr>
            <a:r>
              <a:rPr lang="es-CL" sz="1200" b="1" i="1" dirty="0">
                <a:solidFill>
                  <a:srgbClr val="A3A3E0"/>
                </a:solidFill>
              </a:rPr>
              <a:t>Resultados valoración de riesgos</a:t>
            </a:r>
            <a:endParaRPr lang="es-ES" sz="1200" b="1" i="1" dirty="0">
              <a:solidFill>
                <a:srgbClr val="A3A3E0"/>
              </a:solidFill>
            </a:endParaRPr>
          </a:p>
        </p:txBody>
      </p:sp>
      <p:sp>
        <p:nvSpPr>
          <p:cNvPr id="76" name="Rounded Rectangle 75"/>
          <p:cNvSpPr/>
          <p:nvPr/>
        </p:nvSpPr>
        <p:spPr>
          <a:xfrm>
            <a:off x="902959" y="4255955"/>
            <a:ext cx="1920240" cy="170094"/>
          </a:xfrm>
          <a:prstGeom prst="roundRect">
            <a:avLst/>
          </a:prstGeom>
          <a:solidFill>
            <a:srgbClr val="DB0613"/>
          </a:solidFill>
          <a:ln w="9525" algn="ctr">
            <a:noFill/>
            <a:miter lim="800000"/>
            <a:headEnd/>
            <a:tailEnd/>
          </a:ln>
          <a:effectLst/>
        </p:spPr>
        <p:txBody>
          <a:bodyPr tIns="91440" anchor="ctr"/>
          <a:lstStyle/>
          <a:p>
            <a:pPr>
              <a:lnSpc>
                <a:spcPct val="80000"/>
              </a:lnSpc>
            </a:pPr>
            <a:r>
              <a:rPr lang="es-CL" sz="1100" b="1" dirty="0">
                <a:solidFill>
                  <a:srgbClr val="FFFFFF"/>
                </a:solidFill>
                <a:cs typeface="Arial" pitchFamily="34" charset="0"/>
              </a:rPr>
              <a:t>Pérdida Esperada Anual</a:t>
            </a:r>
          </a:p>
        </p:txBody>
      </p:sp>
      <p:sp>
        <p:nvSpPr>
          <p:cNvPr id="77" name="Rectangle 18"/>
          <p:cNvSpPr>
            <a:spLocks noChangeArrowheads="1"/>
          </p:cNvSpPr>
          <p:nvPr/>
        </p:nvSpPr>
        <p:spPr bwMode="auto">
          <a:xfrm>
            <a:off x="2859920" y="4255955"/>
            <a:ext cx="1554480" cy="170094"/>
          </a:xfrm>
          <a:prstGeom prst="rect">
            <a:avLst/>
          </a:prstGeom>
          <a:solidFill>
            <a:schemeClr val="bg1"/>
          </a:solidFill>
          <a:ln w="9525" algn="ctr">
            <a:solidFill>
              <a:schemeClr val="bg2"/>
            </a:solidFill>
            <a:miter lim="800000"/>
            <a:headEnd/>
            <a:tailEnd/>
          </a:ln>
          <a:effectLst/>
        </p:spPr>
        <p:txBody>
          <a:bodyPr anchor="ctr"/>
          <a:lstStyle/>
          <a:p>
            <a:pPr algn="ctr"/>
            <a:r>
              <a:rPr lang="es-ES" sz="1100" dirty="0">
                <a:solidFill>
                  <a:srgbClr val="000000"/>
                </a:solidFill>
              </a:rPr>
              <a:t>s/. </a:t>
            </a:r>
            <a:r>
              <a:rPr lang="es-ES" sz="1100" dirty="0"/>
              <a:t>637,500 .00</a:t>
            </a:r>
            <a:endParaRPr lang="es-ES" sz="1100" dirty="0">
              <a:solidFill>
                <a:srgbClr val="000000"/>
              </a:solidFill>
            </a:endParaRPr>
          </a:p>
        </p:txBody>
      </p:sp>
      <p:sp>
        <p:nvSpPr>
          <p:cNvPr id="80" name="Rounded Rectangle 79"/>
          <p:cNvSpPr/>
          <p:nvPr/>
        </p:nvSpPr>
        <p:spPr>
          <a:xfrm>
            <a:off x="902959" y="4485567"/>
            <a:ext cx="1920240" cy="170094"/>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VaR Cualitativo Anual</a:t>
            </a:r>
          </a:p>
        </p:txBody>
      </p:sp>
      <p:sp>
        <p:nvSpPr>
          <p:cNvPr id="81" name="Rectangle 18"/>
          <p:cNvSpPr>
            <a:spLocks noChangeArrowheads="1"/>
          </p:cNvSpPr>
          <p:nvPr/>
        </p:nvSpPr>
        <p:spPr bwMode="auto">
          <a:xfrm>
            <a:off x="2859920" y="4485567"/>
            <a:ext cx="1554480" cy="170094"/>
          </a:xfrm>
          <a:prstGeom prst="rect">
            <a:avLst/>
          </a:prstGeom>
          <a:solidFill>
            <a:schemeClr val="bg1"/>
          </a:solidFill>
          <a:ln w="9525" algn="ctr">
            <a:solidFill>
              <a:schemeClr val="bg2"/>
            </a:solidFill>
            <a:miter lim="800000"/>
            <a:headEnd/>
            <a:tailEnd/>
          </a:ln>
          <a:effectLst/>
        </p:spPr>
        <p:txBody>
          <a:bodyPr anchor="ctr"/>
          <a:lstStyle/>
          <a:p>
            <a:pPr algn="ctr"/>
            <a:r>
              <a:rPr lang="es-ES" sz="1100" dirty="0"/>
              <a:t>s</a:t>
            </a:r>
            <a:r>
              <a:rPr lang="es-ES" sz="1100" dirty="0">
                <a:solidFill>
                  <a:srgbClr val="000000"/>
                </a:solidFill>
              </a:rPr>
              <a:t>/. </a:t>
            </a:r>
            <a:r>
              <a:rPr lang="es-ES" sz="1100" dirty="0"/>
              <a:t>5,146,940.56 </a:t>
            </a:r>
            <a:endParaRPr lang="es-ES" sz="1100" dirty="0">
              <a:solidFill>
                <a:srgbClr val="000000"/>
              </a:solidFill>
            </a:endParaRPr>
          </a:p>
        </p:txBody>
      </p:sp>
      <p:sp>
        <p:nvSpPr>
          <p:cNvPr id="82" name="Rounded Rectangle 81"/>
          <p:cNvSpPr/>
          <p:nvPr/>
        </p:nvSpPr>
        <p:spPr>
          <a:xfrm>
            <a:off x="891084" y="3553916"/>
            <a:ext cx="1920240" cy="170094"/>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Frecuencia  Evento Pérdida</a:t>
            </a:r>
          </a:p>
        </p:txBody>
      </p:sp>
      <p:sp>
        <p:nvSpPr>
          <p:cNvPr id="83" name="Rectangle 18"/>
          <p:cNvSpPr>
            <a:spLocks noChangeArrowheads="1"/>
          </p:cNvSpPr>
          <p:nvPr/>
        </p:nvSpPr>
        <p:spPr bwMode="auto">
          <a:xfrm>
            <a:off x="2859920" y="3553916"/>
            <a:ext cx="1554480" cy="170094"/>
          </a:xfrm>
          <a:prstGeom prst="rect">
            <a:avLst/>
          </a:prstGeom>
          <a:solidFill>
            <a:schemeClr val="bg1"/>
          </a:solidFill>
          <a:ln w="9525" algn="ctr">
            <a:solidFill>
              <a:schemeClr val="bg2"/>
            </a:solidFill>
            <a:miter lim="800000"/>
            <a:headEnd/>
            <a:tailEnd/>
          </a:ln>
          <a:effectLst/>
        </p:spPr>
        <p:txBody>
          <a:bodyPr anchor="ctr"/>
          <a:lstStyle/>
          <a:p>
            <a:pPr algn="ctr"/>
            <a:r>
              <a:rPr lang="es-ES" sz="1100" dirty="0">
                <a:solidFill>
                  <a:srgbClr val="000000"/>
                </a:solidFill>
              </a:rPr>
              <a:t>2 veces por 1 año</a:t>
            </a:r>
          </a:p>
        </p:txBody>
      </p:sp>
      <p:sp>
        <p:nvSpPr>
          <p:cNvPr id="84" name="Rounded Rectangle 83"/>
          <p:cNvSpPr/>
          <p:nvPr/>
        </p:nvSpPr>
        <p:spPr>
          <a:xfrm>
            <a:off x="891084" y="3783528"/>
            <a:ext cx="1920240" cy="170094"/>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Impacto Medio Evento</a:t>
            </a:r>
          </a:p>
        </p:txBody>
      </p:sp>
      <p:sp>
        <p:nvSpPr>
          <p:cNvPr id="85" name="Rectangle 18"/>
          <p:cNvSpPr>
            <a:spLocks noChangeArrowheads="1"/>
          </p:cNvSpPr>
          <p:nvPr/>
        </p:nvSpPr>
        <p:spPr bwMode="auto">
          <a:xfrm>
            <a:off x="2859920" y="3783528"/>
            <a:ext cx="1554480" cy="170094"/>
          </a:xfrm>
          <a:prstGeom prst="rect">
            <a:avLst/>
          </a:prstGeom>
          <a:solidFill>
            <a:schemeClr val="bg1"/>
          </a:solidFill>
          <a:ln w="9525" algn="ctr">
            <a:solidFill>
              <a:schemeClr val="bg2"/>
            </a:solidFill>
            <a:miter lim="800000"/>
            <a:headEnd/>
            <a:tailEnd/>
          </a:ln>
          <a:effectLst/>
        </p:spPr>
        <p:txBody>
          <a:bodyPr anchor="ctr"/>
          <a:lstStyle/>
          <a:p>
            <a:pPr algn="ctr"/>
            <a:r>
              <a:rPr lang="es-ES" sz="1100" dirty="0">
                <a:solidFill>
                  <a:srgbClr val="000000"/>
                </a:solidFill>
              </a:rPr>
              <a:t>s/. </a:t>
            </a:r>
            <a:r>
              <a:rPr lang="es-ES" sz="1100" dirty="0"/>
              <a:t>318,750  .00 </a:t>
            </a:r>
            <a:endParaRPr lang="es-ES" sz="1100" dirty="0">
              <a:solidFill>
                <a:srgbClr val="000000"/>
              </a:solidFill>
            </a:endParaRPr>
          </a:p>
        </p:txBody>
      </p:sp>
      <p:sp>
        <p:nvSpPr>
          <p:cNvPr id="86" name="Rounded Rectangle 85"/>
          <p:cNvSpPr/>
          <p:nvPr/>
        </p:nvSpPr>
        <p:spPr>
          <a:xfrm>
            <a:off x="891084" y="4019108"/>
            <a:ext cx="1920240" cy="170094"/>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Impacto Peor Escenario</a:t>
            </a:r>
          </a:p>
        </p:txBody>
      </p:sp>
      <p:sp>
        <p:nvSpPr>
          <p:cNvPr id="87" name="Rectangle 18"/>
          <p:cNvSpPr>
            <a:spLocks noChangeArrowheads="1"/>
          </p:cNvSpPr>
          <p:nvPr/>
        </p:nvSpPr>
        <p:spPr bwMode="auto">
          <a:xfrm>
            <a:off x="2859920" y="4019108"/>
            <a:ext cx="1554480" cy="170094"/>
          </a:xfrm>
          <a:prstGeom prst="rect">
            <a:avLst/>
          </a:prstGeom>
          <a:solidFill>
            <a:schemeClr val="bg1"/>
          </a:solidFill>
          <a:ln w="9525" algn="ctr">
            <a:solidFill>
              <a:schemeClr val="bg2"/>
            </a:solidFill>
            <a:miter lim="800000"/>
            <a:headEnd/>
            <a:tailEnd/>
          </a:ln>
          <a:effectLst/>
        </p:spPr>
        <p:txBody>
          <a:bodyPr anchor="ctr"/>
          <a:lstStyle/>
          <a:p>
            <a:pPr algn="ctr"/>
            <a:r>
              <a:rPr lang="es-ES" sz="1100" dirty="0">
                <a:solidFill>
                  <a:srgbClr val="000000"/>
                </a:solidFill>
              </a:rPr>
              <a:t>s/. </a:t>
            </a:r>
            <a:r>
              <a:rPr lang="es-ES" sz="1100" dirty="0"/>
              <a:t>3,825,000 .00</a:t>
            </a:r>
            <a:endParaRPr lang="es-ES" sz="1100" dirty="0">
              <a:solidFill>
                <a:srgbClr val="000000"/>
              </a:solidFill>
            </a:endParaRPr>
          </a:p>
        </p:txBody>
      </p:sp>
      <p:sp>
        <p:nvSpPr>
          <p:cNvPr id="88" name="AutoShape 47"/>
          <p:cNvSpPr>
            <a:spLocks noChangeAspect="1" noChangeArrowheads="1"/>
          </p:cNvSpPr>
          <p:nvPr/>
        </p:nvSpPr>
        <p:spPr bwMode="blackWhite">
          <a:xfrm>
            <a:off x="263032" y="3482416"/>
            <a:ext cx="503986" cy="1274400"/>
          </a:xfrm>
          <a:prstGeom prst="rightArrow">
            <a:avLst>
              <a:gd name="adj1" fmla="val 100000"/>
              <a:gd name="adj2" fmla="val 11009"/>
            </a:avLst>
          </a:prstGeom>
          <a:solidFill>
            <a:srgbClr val="969696"/>
          </a:solidFill>
          <a:ln w="12700">
            <a:noFill/>
            <a:miter lim="800000"/>
            <a:headEnd/>
            <a:tailEnd/>
          </a:ln>
          <a:effectLst>
            <a:outerShdw dist="35921" dir="2700000" algn="ctr" rotWithShape="0">
              <a:schemeClr val="bg2"/>
            </a:outerShdw>
          </a:effectLst>
        </p:spPr>
        <p:txBody>
          <a:bodyPr vert="vert270" anchor="ctr"/>
          <a:lstStyle/>
          <a:p>
            <a:pPr algn="ctr">
              <a:lnSpc>
                <a:spcPts val="1000"/>
              </a:lnSpc>
            </a:pPr>
            <a:r>
              <a:rPr lang="es-ES" sz="1100" b="1" noProof="1">
                <a:solidFill>
                  <a:srgbClr val="FFFFFF"/>
                </a:solidFill>
                <a:cs typeface="Arial" charset="0"/>
              </a:rPr>
              <a:t>Evaluación Riesgo Operacional</a:t>
            </a:r>
          </a:p>
        </p:txBody>
      </p:sp>
      <p:sp>
        <p:nvSpPr>
          <p:cNvPr id="89" name="AutoShape 179"/>
          <p:cNvSpPr>
            <a:spLocks noChangeArrowheads="1"/>
          </p:cNvSpPr>
          <p:nvPr/>
        </p:nvSpPr>
        <p:spPr bwMode="auto">
          <a:xfrm>
            <a:off x="4932039" y="3493021"/>
            <a:ext cx="4037169" cy="864000"/>
          </a:xfrm>
          <a:prstGeom prst="roundRect">
            <a:avLst>
              <a:gd name="adj" fmla="val 9481"/>
            </a:avLst>
          </a:prstGeom>
          <a:solidFill>
            <a:schemeClr val="accent1">
              <a:lumMod val="20000"/>
              <a:lumOff val="80000"/>
            </a:schemeClr>
          </a:solidFill>
          <a:ln w="9525" algn="ctr">
            <a:noFill/>
            <a:round/>
            <a:headEnd/>
            <a:tailEnd/>
          </a:ln>
          <a:effectLst/>
        </p:spPr>
        <p:txBody>
          <a:bodyPr wrap="none" anchor="ctr"/>
          <a:lstStyle/>
          <a:p>
            <a:endParaRPr lang="es-CL">
              <a:solidFill>
                <a:srgbClr val="002060"/>
              </a:solidFill>
            </a:endParaRPr>
          </a:p>
        </p:txBody>
      </p:sp>
      <p:sp>
        <p:nvSpPr>
          <p:cNvPr id="90" name="AutoShape 47"/>
          <p:cNvSpPr>
            <a:spLocks noChangeArrowheads="1"/>
          </p:cNvSpPr>
          <p:nvPr/>
        </p:nvSpPr>
        <p:spPr bwMode="blackWhite">
          <a:xfrm>
            <a:off x="4678512" y="3494523"/>
            <a:ext cx="353942" cy="864000"/>
          </a:xfrm>
          <a:prstGeom prst="rightArrow">
            <a:avLst>
              <a:gd name="adj1" fmla="val 100000"/>
              <a:gd name="adj2" fmla="val 11009"/>
            </a:avLst>
          </a:prstGeom>
          <a:solidFill>
            <a:srgbClr val="969696"/>
          </a:solidFill>
          <a:ln w="12700">
            <a:noFill/>
            <a:miter lim="800000"/>
            <a:headEnd/>
            <a:tailEnd/>
          </a:ln>
          <a:effectLst>
            <a:outerShdw dist="35921" dir="2700000" algn="ctr" rotWithShape="0">
              <a:schemeClr val="bg2"/>
            </a:outerShdw>
          </a:effectLst>
        </p:spPr>
        <p:txBody>
          <a:bodyPr vert="vert270" anchor="ctr"/>
          <a:lstStyle/>
          <a:p>
            <a:pPr algn="ctr">
              <a:lnSpc>
                <a:spcPts val="1000"/>
              </a:lnSpc>
            </a:pPr>
            <a:r>
              <a:rPr lang="es-ES" sz="1100" b="1" noProof="1">
                <a:solidFill>
                  <a:srgbClr val="FFFFFF"/>
                </a:solidFill>
                <a:cs typeface="Arial" charset="0"/>
              </a:rPr>
              <a:t>Impacto Reputacional</a:t>
            </a:r>
          </a:p>
        </p:txBody>
      </p:sp>
      <p:sp>
        <p:nvSpPr>
          <p:cNvPr id="91" name="Rectangle 18"/>
          <p:cNvSpPr>
            <a:spLocks noChangeArrowheads="1"/>
          </p:cNvSpPr>
          <p:nvPr/>
        </p:nvSpPr>
        <p:spPr bwMode="auto">
          <a:xfrm>
            <a:off x="8334310" y="3568288"/>
            <a:ext cx="548640" cy="170094"/>
          </a:xfrm>
          <a:prstGeom prst="rect">
            <a:avLst/>
          </a:prstGeom>
          <a:solidFill>
            <a:schemeClr val="bg1"/>
          </a:solidFill>
          <a:ln w="9525" algn="ctr">
            <a:solidFill>
              <a:schemeClr val="bg2"/>
            </a:solidFill>
            <a:miter lim="800000"/>
            <a:headEnd/>
            <a:tailEnd/>
          </a:ln>
          <a:effectLst/>
        </p:spPr>
        <p:txBody>
          <a:bodyPr anchor="ctr"/>
          <a:lstStyle/>
          <a:p>
            <a:pPr algn="ctr"/>
            <a:r>
              <a:rPr lang="es-ES" sz="1100" dirty="0"/>
              <a:t>1</a:t>
            </a:r>
          </a:p>
        </p:txBody>
      </p:sp>
      <p:sp>
        <p:nvSpPr>
          <p:cNvPr id="92" name="Rounded Rectangle 91"/>
          <p:cNvSpPr/>
          <p:nvPr/>
        </p:nvSpPr>
        <p:spPr>
          <a:xfrm>
            <a:off x="5102950" y="3568288"/>
            <a:ext cx="3132000" cy="170094"/>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Afectación a contrapartes</a:t>
            </a:r>
          </a:p>
        </p:txBody>
      </p:sp>
      <p:sp>
        <p:nvSpPr>
          <p:cNvPr id="93" name="Rectangle 18"/>
          <p:cNvSpPr>
            <a:spLocks noChangeArrowheads="1"/>
          </p:cNvSpPr>
          <p:nvPr/>
        </p:nvSpPr>
        <p:spPr bwMode="auto">
          <a:xfrm>
            <a:off x="5102950" y="3786445"/>
            <a:ext cx="3780000" cy="469509"/>
          </a:xfrm>
          <a:prstGeom prst="rect">
            <a:avLst/>
          </a:prstGeom>
          <a:solidFill>
            <a:schemeClr val="bg1"/>
          </a:solidFill>
          <a:ln w="9525" algn="ctr">
            <a:solidFill>
              <a:schemeClr val="bg2"/>
            </a:solidFill>
            <a:miter lim="800000"/>
            <a:headEnd/>
            <a:tailEnd/>
          </a:ln>
          <a:effectLst/>
        </p:spPr>
        <p:txBody>
          <a:bodyPr anchor="ctr"/>
          <a:lstStyle/>
          <a:p>
            <a:r>
              <a:rPr lang="es-ES" sz="1100" dirty="0">
                <a:solidFill>
                  <a:srgbClr val="000000"/>
                </a:solidFill>
              </a:rPr>
              <a:t>La exposición de la imagen es únicamente interna y limitada.</a:t>
            </a:r>
          </a:p>
        </p:txBody>
      </p:sp>
      <p:sp>
        <p:nvSpPr>
          <p:cNvPr id="94" name="Text Box 30"/>
          <p:cNvSpPr txBox="1">
            <a:spLocks noChangeArrowheads="1"/>
          </p:cNvSpPr>
          <p:nvPr/>
        </p:nvSpPr>
        <p:spPr bwMode="auto">
          <a:xfrm>
            <a:off x="190746" y="4838419"/>
            <a:ext cx="3996000" cy="276999"/>
          </a:xfrm>
          <a:prstGeom prst="rect">
            <a:avLst/>
          </a:prstGeom>
          <a:noFill/>
          <a:ln w="9525" algn="ctr">
            <a:noFill/>
            <a:miter lim="800000"/>
            <a:headEnd/>
            <a:tailEnd/>
          </a:ln>
          <a:effectLst/>
        </p:spPr>
        <p:txBody>
          <a:bodyPr wrap="square">
            <a:spAutoFit/>
          </a:bodyPr>
          <a:lstStyle/>
          <a:p>
            <a:pPr>
              <a:spcBef>
                <a:spcPct val="50000"/>
              </a:spcBef>
            </a:pPr>
            <a:r>
              <a:rPr lang="es-CL" sz="1200" b="1" i="1" dirty="0">
                <a:solidFill>
                  <a:srgbClr val="A3A3E0"/>
                </a:solidFill>
              </a:rPr>
              <a:t>Resultados valoración de controles / factores mitigantes</a:t>
            </a:r>
            <a:endParaRPr lang="es-ES" sz="1200" b="1" i="1" dirty="0">
              <a:solidFill>
                <a:srgbClr val="A3A3E0"/>
              </a:solidFill>
            </a:endParaRPr>
          </a:p>
        </p:txBody>
      </p:sp>
      <p:sp>
        <p:nvSpPr>
          <p:cNvPr id="98" name="AutoShape 179"/>
          <p:cNvSpPr>
            <a:spLocks noChangeArrowheads="1"/>
          </p:cNvSpPr>
          <p:nvPr/>
        </p:nvSpPr>
        <p:spPr bwMode="auto">
          <a:xfrm>
            <a:off x="4927319" y="4397238"/>
            <a:ext cx="4037169" cy="892800"/>
          </a:xfrm>
          <a:prstGeom prst="roundRect">
            <a:avLst>
              <a:gd name="adj" fmla="val 9481"/>
            </a:avLst>
          </a:prstGeom>
          <a:solidFill>
            <a:schemeClr val="accent1">
              <a:lumMod val="20000"/>
              <a:lumOff val="80000"/>
            </a:schemeClr>
          </a:solidFill>
          <a:ln w="9525" algn="ctr">
            <a:noFill/>
            <a:round/>
            <a:headEnd/>
            <a:tailEnd/>
          </a:ln>
          <a:effectLst/>
        </p:spPr>
        <p:txBody>
          <a:bodyPr wrap="none" anchor="ctr"/>
          <a:lstStyle/>
          <a:p>
            <a:endParaRPr lang="es-CL">
              <a:solidFill>
                <a:srgbClr val="002060"/>
              </a:solidFill>
            </a:endParaRPr>
          </a:p>
        </p:txBody>
      </p:sp>
      <p:sp>
        <p:nvSpPr>
          <p:cNvPr id="99" name="AutoShape 47"/>
          <p:cNvSpPr>
            <a:spLocks noChangeArrowheads="1"/>
          </p:cNvSpPr>
          <p:nvPr/>
        </p:nvSpPr>
        <p:spPr bwMode="blackWhite">
          <a:xfrm>
            <a:off x="4673792" y="4398740"/>
            <a:ext cx="352800" cy="892800"/>
          </a:xfrm>
          <a:prstGeom prst="rightArrow">
            <a:avLst>
              <a:gd name="adj1" fmla="val 100000"/>
              <a:gd name="adj2" fmla="val 11009"/>
            </a:avLst>
          </a:prstGeom>
          <a:solidFill>
            <a:srgbClr val="969696"/>
          </a:solidFill>
          <a:ln w="12700">
            <a:noFill/>
            <a:miter lim="800000"/>
            <a:headEnd/>
            <a:tailEnd/>
          </a:ln>
          <a:effectLst>
            <a:outerShdw dist="35921" dir="2700000" algn="ctr" rotWithShape="0">
              <a:schemeClr val="bg2"/>
            </a:outerShdw>
          </a:effectLst>
        </p:spPr>
        <p:txBody>
          <a:bodyPr vert="vert270" anchor="ctr"/>
          <a:lstStyle/>
          <a:p>
            <a:pPr algn="ctr">
              <a:lnSpc>
                <a:spcPts val="1000"/>
              </a:lnSpc>
            </a:pPr>
            <a:r>
              <a:rPr lang="es-ES" sz="1100" b="1" noProof="1">
                <a:solidFill>
                  <a:srgbClr val="FFFFFF"/>
                </a:solidFill>
                <a:cs typeface="Arial" charset="0"/>
              </a:rPr>
              <a:t>Cuestionarios</a:t>
            </a:r>
          </a:p>
        </p:txBody>
      </p:sp>
      <p:sp>
        <p:nvSpPr>
          <p:cNvPr id="101" name="Rounded Rectangle 38"/>
          <p:cNvSpPr/>
          <p:nvPr/>
        </p:nvSpPr>
        <p:spPr>
          <a:xfrm>
            <a:off x="5098230" y="4472505"/>
            <a:ext cx="3132000" cy="170094"/>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Criterios de Evaluación</a:t>
            </a:r>
          </a:p>
        </p:txBody>
      </p:sp>
      <p:sp>
        <p:nvSpPr>
          <p:cNvPr id="102" name="AutoShape 179"/>
          <p:cNvSpPr>
            <a:spLocks noChangeArrowheads="1"/>
          </p:cNvSpPr>
          <p:nvPr/>
        </p:nvSpPr>
        <p:spPr bwMode="auto">
          <a:xfrm>
            <a:off x="534831" y="5060900"/>
            <a:ext cx="4037169" cy="864000"/>
          </a:xfrm>
          <a:prstGeom prst="roundRect">
            <a:avLst>
              <a:gd name="adj" fmla="val 9481"/>
            </a:avLst>
          </a:prstGeom>
          <a:solidFill>
            <a:schemeClr val="accent1">
              <a:lumMod val="20000"/>
              <a:lumOff val="80000"/>
            </a:schemeClr>
          </a:solidFill>
          <a:ln w="9525" algn="ctr">
            <a:noFill/>
            <a:round/>
            <a:headEnd/>
            <a:tailEnd/>
          </a:ln>
          <a:effectLst/>
        </p:spPr>
        <p:txBody>
          <a:bodyPr wrap="none" anchor="ctr"/>
          <a:lstStyle/>
          <a:p>
            <a:endParaRPr lang="es-CL">
              <a:solidFill>
                <a:srgbClr val="002060"/>
              </a:solidFill>
            </a:endParaRPr>
          </a:p>
        </p:txBody>
      </p:sp>
      <p:sp>
        <p:nvSpPr>
          <p:cNvPr id="103" name="AutoShape 47"/>
          <p:cNvSpPr>
            <a:spLocks noChangeArrowheads="1"/>
          </p:cNvSpPr>
          <p:nvPr/>
        </p:nvSpPr>
        <p:spPr bwMode="blackWhite">
          <a:xfrm>
            <a:off x="281304" y="5062402"/>
            <a:ext cx="353942" cy="864000"/>
          </a:xfrm>
          <a:prstGeom prst="rightArrow">
            <a:avLst>
              <a:gd name="adj1" fmla="val 100000"/>
              <a:gd name="adj2" fmla="val 11009"/>
            </a:avLst>
          </a:prstGeom>
          <a:solidFill>
            <a:srgbClr val="969696"/>
          </a:solidFill>
          <a:ln w="12700">
            <a:noFill/>
            <a:miter lim="800000"/>
            <a:headEnd/>
            <a:tailEnd/>
          </a:ln>
          <a:effectLst>
            <a:outerShdw dist="35921" dir="2700000" algn="ctr" rotWithShape="0">
              <a:schemeClr val="bg2"/>
            </a:outerShdw>
          </a:effectLst>
        </p:spPr>
        <p:txBody>
          <a:bodyPr vert="vert270" anchor="ctr"/>
          <a:lstStyle/>
          <a:p>
            <a:pPr algn="ctr">
              <a:lnSpc>
                <a:spcPts val="1000"/>
              </a:lnSpc>
            </a:pPr>
            <a:r>
              <a:rPr lang="es-ES" sz="1100" b="1" noProof="1">
                <a:solidFill>
                  <a:srgbClr val="FFFFFF"/>
                </a:solidFill>
                <a:cs typeface="Arial" charset="0"/>
              </a:rPr>
              <a:t>Evaluación de Controles</a:t>
            </a:r>
          </a:p>
        </p:txBody>
      </p:sp>
      <p:sp>
        <p:nvSpPr>
          <p:cNvPr id="104" name="Rectangle 18"/>
          <p:cNvSpPr>
            <a:spLocks noChangeArrowheads="1"/>
          </p:cNvSpPr>
          <p:nvPr/>
        </p:nvSpPr>
        <p:spPr bwMode="auto">
          <a:xfrm>
            <a:off x="3937102" y="5136167"/>
            <a:ext cx="548640" cy="170094"/>
          </a:xfrm>
          <a:prstGeom prst="rect">
            <a:avLst/>
          </a:prstGeom>
          <a:solidFill>
            <a:schemeClr val="bg1"/>
          </a:solidFill>
          <a:ln w="9525" algn="ctr">
            <a:solidFill>
              <a:schemeClr val="bg2"/>
            </a:solidFill>
            <a:miter lim="800000"/>
            <a:headEnd/>
            <a:tailEnd/>
          </a:ln>
          <a:effectLst/>
        </p:spPr>
        <p:txBody>
          <a:bodyPr anchor="ctr"/>
          <a:lstStyle/>
          <a:p>
            <a:pPr algn="ctr"/>
            <a:r>
              <a:rPr lang="es-ES" sz="1100" dirty="0">
                <a:solidFill>
                  <a:srgbClr val="002060"/>
                </a:solidFill>
              </a:rPr>
              <a:t>1</a:t>
            </a:r>
          </a:p>
        </p:txBody>
      </p:sp>
      <p:sp>
        <p:nvSpPr>
          <p:cNvPr id="105" name="Rounded Rectangle 38"/>
          <p:cNvSpPr/>
          <p:nvPr/>
        </p:nvSpPr>
        <p:spPr>
          <a:xfrm>
            <a:off x="705742" y="5136167"/>
            <a:ext cx="3132000" cy="170094"/>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Controles asociados al riesgo</a:t>
            </a:r>
          </a:p>
        </p:txBody>
      </p:sp>
      <p:sp>
        <p:nvSpPr>
          <p:cNvPr id="107" name="Rectangle 18"/>
          <p:cNvSpPr>
            <a:spLocks noChangeArrowheads="1"/>
          </p:cNvSpPr>
          <p:nvPr/>
        </p:nvSpPr>
        <p:spPr bwMode="auto">
          <a:xfrm>
            <a:off x="705742" y="5357175"/>
            <a:ext cx="3780000" cy="469509"/>
          </a:xfrm>
          <a:prstGeom prst="rect">
            <a:avLst/>
          </a:prstGeom>
          <a:solidFill>
            <a:schemeClr val="bg1"/>
          </a:solidFill>
          <a:ln w="9525" algn="ctr">
            <a:solidFill>
              <a:schemeClr val="bg2"/>
            </a:solidFill>
            <a:miter lim="800000"/>
            <a:headEnd/>
            <a:tailEnd/>
          </a:ln>
          <a:effectLst/>
        </p:spPr>
        <p:txBody>
          <a:bodyPr anchor="ctr"/>
          <a:lstStyle/>
          <a:p>
            <a:r>
              <a:rPr lang="es-ES" sz="1100" dirty="0">
                <a:solidFill>
                  <a:srgbClr val="000000"/>
                </a:solidFill>
              </a:rPr>
              <a:t>(NF) Controles por Tecnología para la prevención de falla de los aplicativos.</a:t>
            </a:r>
          </a:p>
        </p:txBody>
      </p:sp>
      <p:sp>
        <p:nvSpPr>
          <p:cNvPr id="57" name="Rectangle 18"/>
          <p:cNvSpPr>
            <a:spLocks noChangeArrowheads="1"/>
          </p:cNvSpPr>
          <p:nvPr/>
        </p:nvSpPr>
        <p:spPr bwMode="auto">
          <a:xfrm>
            <a:off x="5102950" y="4685678"/>
            <a:ext cx="3780000" cy="469509"/>
          </a:xfrm>
          <a:prstGeom prst="rect">
            <a:avLst/>
          </a:prstGeom>
          <a:solidFill>
            <a:schemeClr val="bg1"/>
          </a:solidFill>
          <a:ln w="9525" algn="ctr">
            <a:solidFill>
              <a:schemeClr val="bg2"/>
            </a:solidFill>
            <a:miter lim="800000"/>
            <a:headEnd/>
            <a:tailEnd/>
          </a:ln>
          <a:effectLst/>
        </p:spPr>
        <p:txBody>
          <a:bodyPr anchor="ctr"/>
          <a:lstStyle/>
          <a:p>
            <a:r>
              <a:rPr lang="es-ES" sz="1100" dirty="0"/>
              <a:t>Valoración en base al promedio de las  operaciones diarias. Se toma una operación promedio de $5MM y un 2.5% de promedio que podría caer un activo.</a:t>
            </a:r>
          </a:p>
        </p:txBody>
      </p:sp>
      <p:sp>
        <p:nvSpPr>
          <p:cNvPr id="58" name="TextBox 57"/>
          <p:cNvSpPr txBox="1"/>
          <p:nvPr/>
        </p:nvSpPr>
        <p:spPr>
          <a:xfrm>
            <a:off x="705742" y="5940712"/>
            <a:ext cx="1819944" cy="261610"/>
          </a:xfrm>
          <a:prstGeom prst="rect">
            <a:avLst/>
          </a:prstGeom>
          <a:noFill/>
        </p:spPr>
        <p:txBody>
          <a:bodyPr wrap="square" rtlCol="0">
            <a:spAutoFit/>
          </a:bodyPr>
          <a:lstStyle/>
          <a:p>
            <a:r>
              <a:rPr lang="es-ES" sz="1100" dirty="0"/>
              <a:t>(NF): No Formalizado</a:t>
            </a:r>
          </a:p>
        </p:txBody>
      </p:sp>
      <p:sp>
        <p:nvSpPr>
          <p:cNvPr id="54" name="Rounded Rectangle 31">
            <a:hlinkClick r:id="rId2" action="ppaction://hlinksldjump"/>
          </p:cNvPr>
          <p:cNvSpPr/>
          <p:nvPr/>
        </p:nvSpPr>
        <p:spPr>
          <a:xfrm>
            <a:off x="1638012" y="6322807"/>
            <a:ext cx="1080000" cy="360000"/>
          </a:xfrm>
          <a:prstGeom prst="roundRect">
            <a:avLst/>
          </a:prstGeom>
          <a:solidFill>
            <a:schemeClr val="bg1">
              <a:lumMod val="65000"/>
            </a:schemeClr>
          </a:solidFill>
          <a:ln w="25400" cap="sq" cmpd="sng">
            <a:solidFill>
              <a:schemeClr val="bg1">
                <a:lumMod val="75000"/>
              </a:schemeClr>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L" sz="800" b="1" i="1" dirty="0">
                <a:solidFill>
                  <a:schemeClr val="bg1"/>
                </a:solidFill>
                <a:cs typeface="Arial" pitchFamily="34" charset="0"/>
              </a:rPr>
              <a:t>Exposición al RO y Entorno de Control</a:t>
            </a:r>
          </a:p>
        </p:txBody>
      </p:sp>
    </p:spTree>
    <p:extLst>
      <p:ext uri="{BB962C8B-B14F-4D97-AF65-F5344CB8AC3E}">
        <p14:creationId xmlns:p14="http://schemas.microsoft.com/office/powerpoint/2010/main" val="3587714143"/>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dirty="0"/>
              <a:t>Anexo: Ficha Individual Riesgos Operacionales</a:t>
            </a:r>
          </a:p>
        </p:txBody>
      </p:sp>
      <p:sp>
        <p:nvSpPr>
          <p:cNvPr id="3" name="AutoShape 179"/>
          <p:cNvSpPr>
            <a:spLocks noChangeArrowheads="1"/>
          </p:cNvSpPr>
          <p:nvPr/>
        </p:nvSpPr>
        <p:spPr bwMode="auto">
          <a:xfrm>
            <a:off x="611560" y="3535397"/>
            <a:ext cx="3960812" cy="1371600"/>
          </a:xfrm>
          <a:prstGeom prst="roundRect">
            <a:avLst>
              <a:gd name="adj" fmla="val 9481"/>
            </a:avLst>
          </a:prstGeom>
          <a:solidFill>
            <a:schemeClr val="accent1">
              <a:lumMod val="20000"/>
              <a:lumOff val="80000"/>
            </a:schemeClr>
          </a:solidFill>
          <a:ln w="9525" algn="ctr">
            <a:noFill/>
            <a:round/>
            <a:headEnd/>
            <a:tailEnd/>
          </a:ln>
          <a:effectLst/>
        </p:spPr>
        <p:txBody>
          <a:bodyPr wrap="none" anchor="ctr"/>
          <a:lstStyle/>
          <a:p>
            <a:endParaRPr lang="es-CL">
              <a:solidFill>
                <a:srgbClr val="002060"/>
              </a:solidFill>
            </a:endParaRPr>
          </a:p>
        </p:txBody>
      </p:sp>
      <p:sp>
        <p:nvSpPr>
          <p:cNvPr id="4" name="Rounded Rectangle 3"/>
          <p:cNvSpPr/>
          <p:nvPr/>
        </p:nvSpPr>
        <p:spPr>
          <a:xfrm>
            <a:off x="214497" y="764704"/>
            <a:ext cx="397063" cy="274320"/>
          </a:xfrm>
          <a:prstGeom prst="roundRect">
            <a:avLst/>
          </a:prstGeom>
          <a:solidFill>
            <a:srgbClr val="DB0613"/>
          </a:solidFill>
          <a:ln w="9525" algn="ctr">
            <a:noFill/>
            <a:miter lim="800000"/>
            <a:headEnd/>
            <a:tailEnd/>
          </a:ln>
          <a:effectLst/>
        </p:spPr>
        <p:txBody>
          <a:bodyPr anchor="ctr"/>
          <a:lstStyle/>
          <a:p>
            <a:pPr algn="ctr">
              <a:lnSpc>
                <a:spcPct val="80000"/>
              </a:lnSpc>
            </a:pPr>
            <a:r>
              <a:rPr lang="es-CL" sz="1200" b="1" dirty="0">
                <a:solidFill>
                  <a:srgbClr val="FFFFFF"/>
                </a:solidFill>
                <a:cs typeface="Arial" pitchFamily="34" charset="0"/>
              </a:rPr>
              <a:t>13</a:t>
            </a:r>
          </a:p>
        </p:txBody>
      </p:sp>
      <p:sp>
        <p:nvSpPr>
          <p:cNvPr id="5" name="Rectangle 18"/>
          <p:cNvSpPr>
            <a:spLocks noChangeArrowheads="1"/>
          </p:cNvSpPr>
          <p:nvPr/>
        </p:nvSpPr>
        <p:spPr bwMode="auto">
          <a:xfrm>
            <a:off x="227770" y="2409552"/>
            <a:ext cx="6400800" cy="839807"/>
          </a:xfrm>
          <a:prstGeom prst="rect">
            <a:avLst/>
          </a:prstGeom>
          <a:noFill/>
          <a:ln w="9525" algn="ctr">
            <a:solidFill>
              <a:schemeClr val="bg2"/>
            </a:solidFill>
            <a:miter lim="800000"/>
            <a:headEnd/>
            <a:tailEnd/>
          </a:ln>
          <a:effectLst/>
        </p:spPr>
        <p:txBody>
          <a:bodyPr/>
          <a:lstStyle/>
          <a:p>
            <a:r>
              <a:rPr lang="es-ES" sz="1100" dirty="0"/>
              <a:t>Riesgo de que el proveedor no esté prestando el servicio en las condiciones contratadas dado que sabe que no existe plan de contingencia  interno (</a:t>
            </a:r>
            <a:r>
              <a:rPr lang="es-ES" sz="1100" dirty="0" err="1"/>
              <a:t>Rimac</a:t>
            </a:r>
            <a:r>
              <a:rPr lang="es-ES" sz="1100" dirty="0"/>
              <a:t>) en caso  se decida cesar el contrato. Por ejemplo: Que no realice todas las llamadas requeridas para concertar la inspección.</a:t>
            </a:r>
            <a:endParaRPr lang="es-ES" sz="1100" dirty="0">
              <a:solidFill>
                <a:srgbClr val="002060"/>
              </a:solidFill>
            </a:endParaRPr>
          </a:p>
        </p:txBody>
      </p:sp>
      <p:sp>
        <p:nvSpPr>
          <p:cNvPr id="7" name="Text Box 30"/>
          <p:cNvSpPr txBox="1">
            <a:spLocks noChangeArrowheads="1"/>
          </p:cNvSpPr>
          <p:nvPr/>
        </p:nvSpPr>
        <p:spPr bwMode="auto">
          <a:xfrm>
            <a:off x="190747" y="3299257"/>
            <a:ext cx="3671888" cy="276999"/>
          </a:xfrm>
          <a:prstGeom prst="rect">
            <a:avLst/>
          </a:prstGeom>
          <a:noFill/>
          <a:ln w="9525" algn="ctr">
            <a:noFill/>
            <a:miter lim="800000"/>
            <a:headEnd/>
            <a:tailEnd/>
          </a:ln>
          <a:effectLst/>
        </p:spPr>
        <p:txBody>
          <a:bodyPr>
            <a:spAutoFit/>
          </a:bodyPr>
          <a:lstStyle/>
          <a:p>
            <a:pPr>
              <a:spcBef>
                <a:spcPct val="50000"/>
              </a:spcBef>
            </a:pPr>
            <a:r>
              <a:rPr lang="es-CL" sz="1200" b="1" i="1" dirty="0">
                <a:solidFill>
                  <a:srgbClr val="A3A3E0"/>
                </a:solidFill>
              </a:rPr>
              <a:t>Resultados valoración de riesgos</a:t>
            </a:r>
            <a:endParaRPr lang="es-ES" sz="1200" b="1" i="1" dirty="0">
              <a:solidFill>
                <a:srgbClr val="A3A3E0"/>
              </a:solidFill>
            </a:endParaRPr>
          </a:p>
        </p:txBody>
      </p:sp>
      <p:sp>
        <p:nvSpPr>
          <p:cNvPr id="8" name="Rounded Rectangle 7"/>
          <p:cNvSpPr/>
          <p:nvPr/>
        </p:nvSpPr>
        <p:spPr>
          <a:xfrm>
            <a:off x="652842" y="764704"/>
            <a:ext cx="8321040" cy="274320"/>
          </a:xfrm>
          <a:prstGeom prst="roundRect">
            <a:avLst/>
          </a:prstGeom>
          <a:solidFill>
            <a:srgbClr val="DB0613"/>
          </a:solidFill>
          <a:ln w="9525" algn="ctr">
            <a:noFill/>
            <a:miter lim="800000"/>
            <a:headEnd/>
            <a:tailEnd/>
          </a:ln>
          <a:effectLst/>
        </p:spPr>
        <p:txBody>
          <a:bodyPr anchor="ctr"/>
          <a:lstStyle/>
          <a:p>
            <a:pPr>
              <a:lnSpc>
                <a:spcPct val="80000"/>
              </a:lnSpc>
            </a:pPr>
            <a:r>
              <a:rPr lang="es-ES" sz="1200" dirty="0">
                <a:solidFill>
                  <a:schemeClr val="bg1"/>
                </a:solidFill>
              </a:rPr>
              <a:t>Riesgo de que el proveedor que realiza las inspecciones técnicas no esté prestando el servicio en las condiciones contratadas.</a:t>
            </a:r>
            <a:endParaRPr lang="es-CL" sz="1200" b="1" dirty="0">
              <a:solidFill>
                <a:schemeClr val="bg1"/>
              </a:solidFill>
              <a:cs typeface="Arial" pitchFamily="34" charset="0"/>
            </a:endParaRPr>
          </a:p>
        </p:txBody>
      </p:sp>
      <p:sp>
        <p:nvSpPr>
          <p:cNvPr id="9" name="Rounded Rectangle 8"/>
          <p:cNvSpPr/>
          <p:nvPr/>
        </p:nvSpPr>
        <p:spPr>
          <a:xfrm>
            <a:off x="227770" y="2202383"/>
            <a:ext cx="64008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Descripción</a:t>
            </a:r>
          </a:p>
        </p:txBody>
      </p:sp>
      <p:sp>
        <p:nvSpPr>
          <p:cNvPr id="10" name="Rounded Rectangle 9"/>
          <p:cNvSpPr/>
          <p:nvPr/>
        </p:nvSpPr>
        <p:spPr>
          <a:xfrm>
            <a:off x="6716066" y="1089119"/>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Categoría  de Riesgo Nivel I</a:t>
            </a:r>
          </a:p>
        </p:txBody>
      </p:sp>
      <p:sp>
        <p:nvSpPr>
          <p:cNvPr id="11" name="Rectangle 18"/>
          <p:cNvSpPr>
            <a:spLocks noChangeArrowheads="1"/>
          </p:cNvSpPr>
          <p:nvPr/>
        </p:nvSpPr>
        <p:spPr bwMode="auto">
          <a:xfrm>
            <a:off x="6716066" y="1316374"/>
            <a:ext cx="2286000" cy="365760"/>
          </a:xfrm>
          <a:prstGeom prst="rect">
            <a:avLst/>
          </a:prstGeom>
          <a:noFill/>
          <a:ln w="9525" algn="ctr">
            <a:solidFill>
              <a:schemeClr val="bg2"/>
            </a:solidFill>
            <a:miter lim="800000"/>
            <a:headEnd/>
            <a:tailEnd/>
          </a:ln>
          <a:effectLst/>
        </p:spPr>
        <p:txBody>
          <a:bodyPr anchor="ctr"/>
          <a:lstStyle/>
          <a:p>
            <a:pPr>
              <a:lnSpc>
                <a:spcPts val="1000"/>
              </a:lnSpc>
            </a:pPr>
            <a:r>
              <a:rPr lang="es-ES" sz="1100" dirty="0"/>
              <a:t>Ejecución, entrega y gestión de procesos</a:t>
            </a:r>
          </a:p>
        </p:txBody>
      </p:sp>
      <p:sp>
        <p:nvSpPr>
          <p:cNvPr id="12" name="Rounded Rectangle 11"/>
          <p:cNvSpPr/>
          <p:nvPr/>
        </p:nvSpPr>
        <p:spPr>
          <a:xfrm>
            <a:off x="6716066" y="1725169"/>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Categoría de Riesgo Nivel II</a:t>
            </a:r>
          </a:p>
        </p:txBody>
      </p:sp>
      <p:sp>
        <p:nvSpPr>
          <p:cNvPr id="13" name="Rectangle 18"/>
          <p:cNvSpPr>
            <a:spLocks noChangeArrowheads="1"/>
          </p:cNvSpPr>
          <p:nvPr/>
        </p:nvSpPr>
        <p:spPr bwMode="auto">
          <a:xfrm>
            <a:off x="6716066" y="1942710"/>
            <a:ext cx="2286000" cy="274320"/>
          </a:xfrm>
          <a:prstGeom prst="rect">
            <a:avLst/>
          </a:prstGeom>
          <a:noFill/>
          <a:ln w="9525" algn="ctr">
            <a:solidFill>
              <a:schemeClr val="bg2"/>
            </a:solidFill>
            <a:miter lim="800000"/>
            <a:headEnd/>
            <a:tailEnd/>
          </a:ln>
          <a:effectLst/>
        </p:spPr>
        <p:txBody>
          <a:bodyPr anchor="ctr"/>
          <a:lstStyle/>
          <a:p>
            <a:r>
              <a:rPr lang="es-ES" sz="1100" dirty="0"/>
              <a:t>Distribuidores y proveedores</a:t>
            </a:r>
          </a:p>
        </p:txBody>
      </p:sp>
      <p:sp>
        <p:nvSpPr>
          <p:cNvPr id="16" name="Rectangle 18"/>
          <p:cNvSpPr>
            <a:spLocks noChangeArrowheads="1"/>
          </p:cNvSpPr>
          <p:nvPr/>
        </p:nvSpPr>
        <p:spPr bwMode="auto">
          <a:xfrm>
            <a:off x="6716066" y="2459337"/>
            <a:ext cx="2286000" cy="506469"/>
          </a:xfrm>
          <a:prstGeom prst="rect">
            <a:avLst/>
          </a:prstGeom>
          <a:noFill/>
          <a:ln w="9525" algn="ctr">
            <a:solidFill>
              <a:schemeClr val="bg2"/>
            </a:solidFill>
            <a:miter lim="800000"/>
            <a:headEnd/>
            <a:tailEnd/>
          </a:ln>
          <a:effectLst/>
        </p:spPr>
        <p:txBody>
          <a:bodyPr anchor="ctr"/>
          <a:lstStyle/>
          <a:p>
            <a:r>
              <a:rPr lang="es-ES" sz="1100" dirty="0"/>
              <a:t>Errores en entrega realizada por distribuidores y proveedores</a:t>
            </a:r>
          </a:p>
        </p:txBody>
      </p:sp>
      <p:sp>
        <p:nvSpPr>
          <p:cNvPr id="17" name="Rounded Rectangle 16"/>
          <p:cNvSpPr/>
          <p:nvPr/>
        </p:nvSpPr>
        <p:spPr>
          <a:xfrm>
            <a:off x="227770" y="1110038"/>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Macroproceso</a:t>
            </a:r>
          </a:p>
        </p:txBody>
      </p:sp>
      <p:sp>
        <p:nvSpPr>
          <p:cNvPr id="18" name="Rectangle 18"/>
          <p:cNvSpPr>
            <a:spLocks noChangeArrowheads="1"/>
          </p:cNvSpPr>
          <p:nvPr/>
        </p:nvSpPr>
        <p:spPr bwMode="auto">
          <a:xfrm>
            <a:off x="2568409" y="1110038"/>
            <a:ext cx="4060161" cy="182880"/>
          </a:xfrm>
          <a:prstGeom prst="rect">
            <a:avLst/>
          </a:prstGeom>
          <a:noFill/>
          <a:ln w="9525" algn="ctr">
            <a:solidFill>
              <a:schemeClr val="bg2"/>
            </a:solidFill>
            <a:miter lim="800000"/>
            <a:headEnd/>
            <a:tailEnd/>
          </a:ln>
          <a:effectLst/>
        </p:spPr>
        <p:txBody>
          <a:bodyPr anchor="ctr"/>
          <a:lstStyle/>
          <a:p>
            <a:r>
              <a:rPr lang="es-ES" sz="1100" dirty="0"/>
              <a:t>Generación de Negocio</a:t>
            </a:r>
          </a:p>
        </p:txBody>
      </p:sp>
      <p:sp>
        <p:nvSpPr>
          <p:cNvPr id="19" name="Rounded Rectangle 18"/>
          <p:cNvSpPr/>
          <p:nvPr/>
        </p:nvSpPr>
        <p:spPr>
          <a:xfrm>
            <a:off x="227770" y="1339045"/>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Proceso</a:t>
            </a:r>
          </a:p>
        </p:txBody>
      </p:sp>
      <p:sp>
        <p:nvSpPr>
          <p:cNvPr id="20" name="Rectangle 18"/>
          <p:cNvSpPr>
            <a:spLocks noChangeArrowheads="1"/>
          </p:cNvSpPr>
          <p:nvPr/>
        </p:nvSpPr>
        <p:spPr bwMode="auto">
          <a:xfrm>
            <a:off x="2568409" y="1339045"/>
            <a:ext cx="4060161" cy="182880"/>
          </a:xfrm>
          <a:prstGeom prst="rect">
            <a:avLst/>
          </a:prstGeom>
          <a:noFill/>
          <a:ln w="9525" algn="ctr">
            <a:solidFill>
              <a:schemeClr val="bg2"/>
            </a:solidFill>
            <a:miter lim="800000"/>
            <a:headEnd/>
            <a:tailEnd/>
          </a:ln>
          <a:effectLst/>
        </p:spPr>
        <p:txBody>
          <a:bodyPr anchor="ctr"/>
          <a:lstStyle/>
          <a:p>
            <a:r>
              <a:rPr lang="es-ES" sz="1100" dirty="0"/>
              <a:t>Suscripción</a:t>
            </a:r>
          </a:p>
        </p:txBody>
      </p:sp>
      <p:sp>
        <p:nvSpPr>
          <p:cNvPr id="21" name="Rectangle 29"/>
          <p:cNvSpPr>
            <a:spLocks noChangeArrowheads="1"/>
          </p:cNvSpPr>
          <p:nvPr/>
        </p:nvSpPr>
        <p:spPr bwMode="auto">
          <a:xfrm>
            <a:off x="107504" y="3423715"/>
            <a:ext cx="8961120" cy="1607926"/>
          </a:xfrm>
          <a:prstGeom prst="rect">
            <a:avLst/>
          </a:prstGeom>
          <a:noFill/>
          <a:ln w="19050" cap="rnd" algn="ctr">
            <a:solidFill>
              <a:schemeClr val="bg2"/>
            </a:solidFill>
            <a:prstDash val="sysDot"/>
            <a:miter lim="800000"/>
            <a:headEnd/>
            <a:tailEnd/>
          </a:ln>
          <a:effectLst/>
        </p:spPr>
        <p:txBody>
          <a:bodyPr wrap="none" anchor="ctr"/>
          <a:lstStyle/>
          <a:p>
            <a:endParaRPr lang="en-US">
              <a:solidFill>
                <a:srgbClr val="002060"/>
              </a:solidFill>
            </a:endParaRPr>
          </a:p>
        </p:txBody>
      </p:sp>
      <p:sp>
        <p:nvSpPr>
          <p:cNvPr id="22" name="Rounded Rectangle 21"/>
          <p:cNvSpPr/>
          <p:nvPr/>
        </p:nvSpPr>
        <p:spPr>
          <a:xfrm>
            <a:off x="902959" y="4382163"/>
            <a:ext cx="1920240" cy="182880"/>
          </a:xfrm>
          <a:prstGeom prst="roundRect">
            <a:avLst/>
          </a:prstGeom>
          <a:solidFill>
            <a:srgbClr val="DB0613"/>
          </a:solidFill>
          <a:ln w="9525" algn="ctr">
            <a:noFill/>
            <a:miter lim="800000"/>
            <a:headEnd/>
            <a:tailEnd/>
          </a:ln>
          <a:effectLst/>
        </p:spPr>
        <p:txBody>
          <a:bodyPr tIns="91440" anchor="ctr"/>
          <a:lstStyle/>
          <a:p>
            <a:pPr>
              <a:lnSpc>
                <a:spcPct val="80000"/>
              </a:lnSpc>
            </a:pPr>
            <a:r>
              <a:rPr lang="es-CL" sz="1100" b="1" dirty="0">
                <a:solidFill>
                  <a:srgbClr val="FFFFFF"/>
                </a:solidFill>
                <a:cs typeface="Arial" pitchFamily="34" charset="0"/>
              </a:rPr>
              <a:t>Pérdida Esperada Anual</a:t>
            </a:r>
          </a:p>
        </p:txBody>
      </p:sp>
      <p:sp>
        <p:nvSpPr>
          <p:cNvPr id="23" name="Rectangle 18"/>
          <p:cNvSpPr>
            <a:spLocks noChangeArrowheads="1"/>
          </p:cNvSpPr>
          <p:nvPr/>
        </p:nvSpPr>
        <p:spPr bwMode="auto">
          <a:xfrm>
            <a:off x="2859920" y="4382163"/>
            <a:ext cx="1554480" cy="182880"/>
          </a:xfrm>
          <a:prstGeom prst="rect">
            <a:avLst/>
          </a:prstGeom>
          <a:solidFill>
            <a:schemeClr val="bg1"/>
          </a:solidFill>
          <a:ln w="9525" algn="ctr">
            <a:solidFill>
              <a:schemeClr val="bg2"/>
            </a:solidFill>
            <a:miter lim="800000"/>
            <a:headEnd/>
            <a:tailEnd/>
          </a:ln>
          <a:effectLst/>
        </p:spPr>
        <p:txBody>
          <a:bodyPr anchor="ctr"/>
          <a:lstStyle/>
          <a:p>
            <a:pPr algn="ctr"/>
            <a:r>
              <a:rPr lang="es-ES" sz="1100" dirty="0"/>
              <a:t>S/. 119,304.00</a:t>
            </a:r>
          </a:p>
        </p:txBody>
      </p:sp>
      <p:sp>
        <p:nvSpPr>
          <p:cNvPr id="24" name="Rounded Rectangle 23"/>
          <p:cNvSpPr/>
          <p:nvPr/>
        </p:nvSpPr>
        <p:spPr>
          <a:xfrm>
            <a:off x="902959" y="4611775"/>
            <a:ext cx="192024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VaR Cualitativo Anual</a:t>
            </a:r>
          </a:p>
        </p:txBody>
      </p:sp>
      <p:sp>
        <p:nvSpPr>
          <p:cNvPr id="25" name="Rectangle 18"/>
          <p:cNvSpPr>
            <a:spLocks noChangeArrowheads="1"/>
          </p:cNvSpPr>
          <p:nvPr/>
        </p:nvSpPr>
        <p:spPr bwMode="auto">
          <a:xfrm>
            <a:off x="2859920" y="4611775"/>
            <a:ext cx="1554480" cy="182880"/>
          </a:xfrm>
          <a:prstGeom prst="rect">
            <a:avLst/>
          </a:prstGeom>
          <a:solidFill>
            <a:schemeClr val="bg1"/>
          </a:solidFill>
          <a:ln w="9525" algn="ctr">
            <a:solidFill>
              <a:schemeClr val="bg2"/>
            </a:solidFill>
            <a:miter lim="800000"/>
            <a:headEnd/>
            <a:tailEnd/>
          </a:ln>
          <a:effectLst/>
        </p:spPr>
        <p:txBody>
          <a:bodyPr anchor="ctr"/>
          <a:lstStyle/>
          <a:p>
            <a:pPr algn="ctr"/>
            <a:r>
              <a:rPr lang="es-ES" sz="1100" dirty="0"/>
              <a:t>S/. 1,663,878.79</a:t>
            </a:r>
          </a:p>
        </p:txBody>
      </p:sp>
      <p:sp>
        <p:nvSpPr>
          <p:cNvPr id="26" name="Rounded Rectangle 25"/>
          <p:cNvSpPr/>
          <p:nvPr/>
        </p:nvSpPr>
        <p:spPr>
          <a:xfrm>
            <a:off x="891084" y="3618777"/>
            <a:ext cx="192024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Frecuencia  Evento Pérdida</a:t>
            </a:r>
          </a:p>
        </p:txBody>
      </p:sp>
      <p:sp>
        <p:nvSpPr>
          <p:cNvPr id="27" name="Rectangle 18"/>
          <p:cNvSpPr>
            <a:spLocks noChangeArrowheads="1"/>
          </p:cNvSpPr>
          <p:nvPr/>
        </p:nvSpPr>
        <p:spPr bwMode="auto">
          <a:xfrm>
            <a:off x="2859920" y="3618777"/>
            <a:ext cx="1554480" cy="182880"/>
          </a:xfrm>
          <a:prstGeom prst="rect">
            <a:avLst/>
          </a:prstGeom>
          <a:solidFill>
            <a:schemeClr val="bg1"/>
          </a:solidFill>
          <a:ln w="9525" algn="ctr">
            <a:solidFill>
              <a:schemeClr val="bg2"/>
            </a:solidFill>
            <a:miter lim="800000"/>
            <a:headEnd/>
            <a:tailEnd/>
          </a:ln>
          <a:effectLst/>
        </p:spPr>
        <p:txBody>
          <a:bodyPr anchor="ctr"/>
          <a:lstStyle/>
          <a:p>
            <a:pPr algn="ctr"/>
            <a:r>
              <a:rPr lang="es-ES" sz="1100" dirty="0"/>
              <a:t>6 veces por mes</a:t>
            </a:r>
          </a:p>
        </p:txBody>
      </p:sp>
      <p:sp>
        <p:nvSpPr>
          <p:cNvPr id="28" name="Rounded Rectangle 27"/>
          <p:cNvSpPr/>
          <p:nvPr/>
        </p:nvSpPr>
        <p:spPr>
          <a:xfrm>
            <a:off x="891084" y="3848389"/>
            <a:ext cx="192024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Impacto Medio Evento</a:t>
            </a:r>
          </a:p>
        </p:txBody>
      </p:sp>
      <p:sp>
        <p:nvSpPr>
          <p:cNvPr id="29" name="Rectangle 18"/>
          <p:cNvSpPr>
            <a:spLocks noChangeArrowheads="1"/>
          </p:cNvSpPr>
          <p:nvPr/>
        </p:nvSpPr>
        <p:spPr bwMode="auto">
          <a:xfrm>
            <a:off x="2859920" y="3848389"/>
            <a:ext cx="1554480" cy="182880"/>
          </a:xfrm>
          <a:prstGeom prst="rect">
            <a:avLst/>
          </a:prstGeom>
          <a:solidFill>
            <a:schemeClr val="bg1"/>
          </a:solidFill>
          <a:ln w="9525" algn="ctr">
            <a:solidFill>
              <a:schemeClr val="bg2"/>
            </a:solidFill>
            <a:miter lim="800000"/>
            <a:headEnd/>
            <a:tailEnd/>
          </a:ln>
          <a:effectLst/>
        </p:spPr>
        <p:txBody>
          <a:bodyPr anchor="ctr"/>
          <a:lstStyle/>
          <a:p>
            <a:pPr algn="ctr"/>
            <a:r>
              <a:rPr lang="es-ES" sz="1100" dirty="0"/>
              <a:t>S/. 1,657.00</a:t>
            </a:r>
            <a:endParaRPr lang="es-ES" sz="1100" dirty="0">
              <a:solidFill>
                <a:srgbClr val="002060"/>
              </a:solidFill>
            </a:endParaRPr>
          </a:p>
        </p:txBody>
      </p:sp>
      <p:sp>
        <p:nvSpPr>
          <p:cNvPr id="30" name="Rounded Rectangle 29"/>
          <p:cNvSpPr/>
          <p:nvPr/>
        </p:nvSpPr>
        <p:spPr>
          <a:xfrm>
            <a:off x="891084" y="4083969"/>
            <a:ext cx="192024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Impacto Peor Escenario</a:t>
            </a:r>
          </a:p>
        </p:txBody>
      </p:sp>
      <p:sp>
        <p:nvSpPr>
          <p:cNvPr id="31" name="Rectangle 18"/>
          <p:cNvSpPr>
            <a:spLocks noChangeArrowheads="1"/>
          </p:cNvSpPr>
          <p:nvPr/>
        </p:nvSpPr>
        <p:spPr bwMode="auto">
          <a:xfrm>
            <a:off x="2859920" y="4083969"/>
            <a:ext cx="1554480" cy="182880"/>
          </a:xfrm>
          <a:prstGeom prst="rect">
            <a:avLst/>
          </a:prstGeom>
          <a:solidFill>
            <a:schemeClr val="bg1"/>
          </a:solidFill>
          <a:ln w="9525" algn="ctr">
            <a:solidFill>
              <a:schemeClr val="bg2"/>
            </a:solidFill>
            <a:miter lim="800000"/>
            <a:headEnd/>
            <a:tailEnd/>
          </a:ln>
          <a:effectLst/>
        </p:spPr>
        <p:txBody>
          <a:bodyPr anchor="ctr"/>
          <a:lstStyle/>
          <a:p>
            <a:pPr algn="ctr"/>
            <a:r>
              <a:rPr lang="es-ES" sz="1100" dirty="0"/>
              <a:t>S/. 255,000.00</a:t>
            </a:r>
            <a:endParaRPr lang="es-ES" sz="1100" dirty="0">
              <a:solidFill>
                <a:srgbClr val="002060"/>
              </a:solidFill>
            </a:endParaRPr>
          </a:p>
        </p:txBody>
      </p:sp>
      <p:sp>
        <p:nvSpPr>
          <p:cNvPr id="32" name="AutoShape 47"/>
          <p:cNvSpPr>
            <a:spLocks noChangeAspect="1" noChangeArrowheads="1"/>
          </p:cNvSpPr>
          <p:nvPr/>
        </p:nvSpPr>
        <p:spPr bwMode="blackWhite">
          <a:xfrm>
            <a:off x="263033" y="3533122"/>
            <a:ext cx="492543" cy="1339083"/>
          </a:xfrm>
          <a:prstGeom prst="rightArrow">
            <a:avLst>
              <a:gd name="adj1" fmla="val 100000"/>
              <a:gd name="adj2" fmla="val 11009"/>
            </a:avLst>
          </a:prstGeom>
          <a:solidFill>
            <a:srgbClr val="969696"/>
          </a:solidFill>
          <a:ln w="12700">
            <a:noFill/>
            <a:miter lim="800000"/>
            <a:headEnd/>
            <a:tailEnd/>
          </a:ln>
          <a:effectLst>
            <a:outerShdw dist="35921" dir="2700000" algn="ctr" rotWithShape="0">
              <a:schemeClr val="bg2"/>
            </a:outerShdw>
          </a:effectLst>
        </p:spPr>
        <p:txBody>
          <a:bodyPr vert="vert270" anchor="ctr"/>
          <a:lstStyle/>
          <a:p>
            <a:pPr algn="ctr">
              <a:lnSpc>
                <a:spcPts val="1000"/>
              </a:lnSpc>
            </a:pPr>
            <a:r>
              <a:rPr lang="es-ES" sz="1200" b="1" noProof="1">
                <a:solidFill>
                  <a:srgbClr val="FFFFFF"/>
                </a:solidFill>
                <a:cs typeface="Arial" charset="0"/>
              </a:rPr>
              <a:t>Evaluación Riesgo Operacional</a:t>
            </a:r>
          </a:p>
        </p:txBody>
      </p:sp>
      <p:sp>
        <p:nvSpPr>
          <p:cNvPr id="59" name="Rounded Rectangle 58"/>
          <p:cNvSpPr/>
          <p:nvPr/>
        </p:nvSpPr>
        <p:spPr>
          <a:xfrm>
            <a:off x="223049" y="1554311"/>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Subproceso</a:t>
            </a:r>
          </a:p>
        </p:txBody>
      </p:sp>
      <p:sp>
        <p:nvSpPr>
          <p:cNvPr id="60" name="Rectangle 18"/>
          <p:cNvSpPr>
            <a:spLocks noChangeArrowheads="1"/>
          </p:cNvSpPr>
          <p:nvPr/>
        </p:nvSpPr>
        <p:spPr bwMode="auto">
          <a:xfrm>
            <a:off x="2563688" y="1554311"/>
            <a:ext cx="4064882" cy="182880"/>
          </a:xfrm>
          <a:prstGeom prst="rect">
            <a:avLst/>
          </a:prstGeom>
          <a:noFill/>
          <a:ln w="9525" algn="ctr">
            <a:solidFill>
              <a:schemeClr val="bg2"/>
            </a:solidFill>
            <a:miter lim="800000"/>
            <a:headEnd/>
            <a:tailEnd/>
          </a:ln>
          <a:effectLst/>
        </p:spPr>
        <p:txBody>
          <a:bodyPr anchor="ctr"/>
          <a:lstStyle/>
          <a:p>
            <a:r>
              <a:rPr lang="es-ES" sz="1100" dirty="0"/>
              <a:t>Inspección Técnica</a:t>
            </a:r>
          </a:p>
        </p:txBody>
      </p:sp>
      <p:sp>
        <p:nvSpPr>
          <p:cNvPr id="57" name="Rounded Rectangle 56"/>
          <p:cNvSpPr/>
          <p:nvPr/>
        </p:nvSpPr>
        <p:spPr>
          <a:xfrm>
            <a:off x="223049" y="1771093"/>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Línea de Negocio</a:t>
            </a:r>
          </a:p>
        </p:txBody>
      </p:sp>
      <p:sp>
        <p:nvSpPr>
          <p:cNvPr id="58" name="Rectangle 18"/>
          <p:cNvSpPr>
            <a:spLocks noChangeArrowheads="1"/>
          </p:cNvSpPr>
          <p:nvPr/>
        </p:nvSpPr>
        <p:spPr bwMode="auto">
          <a:xfrm>
            <a:off x="2563688" y="1771093"/>
            <a:ext cx="4064882" cy="182880"/>
          </a:xfrm>
          <a:prstGeom prst="rect">
            <a:avLst/>
          </a:prstGeom>
          <a:noFill/>
          <a:ln w="9525" algn="ctr">
            <a:solidFill>
              <a:schemeClr val="bg2"/>
            </a:solidFill>
            <a:miter lim="800000"/>
            <a:headEnd/>
            <a:tailEnd/>
          </a:ln>
          <a:effectLst/>
        </p:spPr>
        <p:txBody>
          <a:bodyPr anchor="ctr"/>
          <a:lstStyle/>
          <a:p>
            <a:r>
              <a:rPr lang="es-ES" sz="1100" dirty="0"/>
              <a:t>Ramos Generales</a:t>
            </a:r>
          </a:p>
        </p:txBody>
      </p:sp>
      <p:sp>
        <p:nvSpPr>
          <p:cNvPr id="61" name="Rounded Rectangle 60"/>
          <p:cNvSpPr/>
          <p:nvPr/>
        </p:nvSpPr>
        <p:spPr>
          <a:xfrm>
            <a:off x="223049" y="1986359"/>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Responsable</a:t>
            </a:r>
          </a:p>
        </p:txBody>
      </p:sp>
      <p:sp>
        <p:nvSpPr>
          <p:cNvPr id="62" name="Rectangle 18"/>
          <p:cNvSpPr>
            <a:spLocks noChangeArrowheads="1"/>
          </p:cNvSpPr>
          <p:nvPr/>
        </p:nvSpPr>
        <p:spPr bwMode="auto">
          <a:xfrm>
            <a:off x="2558967" y="1986359"/>
            <a:ext cx="4069603" cy="182880"/>
          </a:xfrm>
          <a:prstGeom prst="rect">
            <a:avLst/>
          </a:prstGeom>
          <a:noFill/>
          <a:ln w="9525" algn="ctr">
            <a:solidFill>
              <a:schemeClr val="bg2"/>
            </a:solidFill>
            <a:miter lim="800000"/>
            <a:headEnd/>
            <a:tailEnd/>
          </a:ln>
          <a:effectLst/>
        </p:spPr>
        <p:txBody>
          <a:bodyPr anchor="ctr"/>
          <a:lstStyle/>
          <a:p>
            <a:r>
              <a:rPr lang="es-ES" sz="1100" dirty="0"/>
              <a:t>Jefe de Gestión Operativa de Vehículos y Riesgos Generales</a:t>
            </a:r>
            <a:endParaRPr lang="es-ES" sz="1100" dirty="0">
              <a:solidFill>
                <a:srgbClr val="002060"/>
              </a:solidFill>
            </a:endParaRPr>
          </a:p>
        </p:txBody>
      </p:sp>
      <p:sp>
        <p:nvSpPr>
          <p:cNvPr id="63" name="Rounded Rectangle 62"/>
          <p:cNvSpPr/>
          <p:nvPr/>
        </p:nvSpPr>
        <p:spPr>
          <a:xfrm>
            <a:off x="6732240" y="2276457"/>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Categoría de Riesgo Nivel III</a:t>
            </a:r>
          </a:p>
        </p:txBody>
      </p:sp>
      <p:sp>
        <p:nvSpPr>
          <p:cNvPr id="64" name="Rounded Rectangle 14"/>
          <p:cNvSpPr/>
          <p:nvPr/>
        </p:nvSpPr>
        <p:spPr>
          <a:xfrm>
            <a:off x="6732240" y="2961327"/>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Origen del Riesgo</a:t>
            </a:r>
          </a:p>
        </p:txBody>
      </p:sp>
      <p:sp>
        <p:nvSpPr>
          <p:cNvPr id="65" name="Rectangle 18"/>
          <p:cNvSpPr>
            <a:spLocks noChangeArrowheads="1"/>
          </p:cNvSpPr>
          <p:nvPr/>
        </p:nvSpPr>
        <p:spPr bwMode="auto">
          <a:xfrm>
            <a:off x="6732240" y="3176592"/>
            <a:ext cx="2286000" cy="270000"/>
          </a:xfrm>
          <a:prstGeom prst="rect">
            <a:avLst/>
          </a:prstGeom>
          <a:noFill/>
          <a:ln w="9525" algn="ctr">
            <a:solidFill>
              <a:schemeClr val="bg2"/>
            </a:solidFill>
            <a:miter lim="800000"/>
            <a:headEnd/>
            <a:tailEnd/>
          </a:ln>
          <a:effectLst/>
        </p:spPr>
        <p:txBody>
          <a:bodyPr anchor="ctr"/>
          <a:lstStyle/>
          <a:p>
            <a:r>
              <a:rPr lang="es-ES" sz="1100" dirty="0">
                <a:solidFill>
                  <a:srgbClr val="000000"/>
                </a:solidFill>
              </a:rPr>
              <a:t>Relaciones con Terceros</a:t>
            </a:r>
          </a:p>
        </p:txBody>
      </p:sp>
      <p:sp>
        <p:nvSpPr>
          <p:cNvPr id="66" name="AutoShape 179"/>
          <p:cNvSpPr>
            <a:spLocks noChangeArrowheads="1"/>
          </p:cNvSpPr>
          <p:nvPr/>
        </p:nvSpPr>
        <p:spPr bwMode="auto">
          <a:xfrm>
            <a:off x="4932039" y="3590608"/>
            <a:ext cx="4037169" cy="864000"/>
          </a:xfrm>
          <a:prstGeom prst="roundRect">
            <a:avLst>
              <a:gd name="adj" fmla="val 9481"/>
            </a:avLst>
          </a:prstGeom>
          <a:solidFill>
            <a:schemeClr val="accent1">
              <a:lumMod val="20000"/>
              <a:lumOff val="80000"/>
            </a:schemeClr>
          </a:solidFill>
          <a:ln w="9525" algn="ctr">
            <a:noFill/>
            <a:round/>
            <a:headEnd/>
            <a:tailEnd/>
          </a:ln>
          <a:effectLst/>
        </p:spPr>
        <p:txBody>
          <a:bodyPr wrap="none" anchor="ctr"/>
          <a:lstStyle/>
          <a:p>
            <a:endParaRPr lang="es-CL">
              <a:solidFill>
                <a:srgbClr val="002060"/>
              </a:solidFill>
            </a:endParaRPr>
          </a:p>
        </p:txBody>
      </p:sp>
      <p:sp>
        <p:nvSpPr>
          <p:cNvPr id="67" name="AutoShape 47"/>
          <p:cNvSpPr>
            <a:spLocks noChangeArrowheads="1"/>
          </p:cNvSpPr>
          <p:nvPr/>
        </p:nvSpPr>
        <p:spPr bwMode="blackWhite">
          <a:xfrm>
            <a:off x="4678512" y="3592110"/>
            <a:ext cx="353942" cy="864000"/>
          </a:xfrm>
          <a:prstGeom prst="rightArrow">
            <a:avLst>
              <a:gd name="adj1" fmla="val 100000"/>
              <a:gd name="adj2" fmla="val 11009"/>
            </a:avLst>
          </a:prstGeom>
          <a:solidFill>
            <a:srgbClr val="969696"/>
          </a:solidFill>
          <a:ln w="12700">
            <a:noFill/>
            <a:miter lim="800000"/>
            <a:headEnd/>
            <a:tailEnd/>
          </a:ln>
          <a:effectLst>
            <a:outerShdw dist="35921" dir="2700000" algn="ctr" rotWithShape="0">
              <a:schemeClr val="bg2"/>
            </a:outerShdw>
          </a:effectLst>
        </p:spPr>
        <p:txBody>
          <a:bodyPr vert="vert270" anchor="ctr"/>
          <a:lstStyle/>
          <a:p>
            <a:pPr algn="ctr">
              <a:lnSpc>
                <a:spcPts val="1000"/>
              </a:lnSpc>
            </a:pPr>
            <a:r>
              <a:rPr lang="es-ES" sz="1100" b="1" noProof="1">
                <a:solidFill>
                  <a:srgbClr val="FFFFFF"/>
                </a:solidFill>
                <a:cs typeface="Arial" charset="0"/>
              </a:rPr>
              <a:t>Impacto Reputacional</a:t>
            </a:r>
          </a:p>
        </p:txBody>
      </p:sp>
      <p:sp>
        <p:nvSpPr>
          <p:cNvPr id="68" name="Rectangle 18"/>
          <p:cNvSpPr>
            <a:spLocks noChangeArrowheads="1"/>
          </p:cNvSpPr>
          <p:nvPr/>
        </p:nvSpPr>
        <p:spPr bwMode="auto">
          <a:xfrm>
            <a:off x="8334310" y="3665875"/>
            <a:ext cx="548640" cy="170094"/>
          </a:xfrm>
          <a:prstGeom prst="rect">
            <a:avLst/>
          </a:prstGeom>
          <a:solidFill>
            <a:schemeClr val="bg1"/>
          </a:solidFill>
          <a:ln w="9525" algn="ctr">
            <a:solidFill>
              <a:schemeClr val="bg2"/>
            </a:solidFill>
            <a:miter lim="800000"/>
            <a:headEnd/>
            <a:tailEnd/>
          </a:ln>
          <a:effectLst/>
        </p:spPr>
        <p:txBody>
          <a:bodyPr anchor="ctr"/>
          <a:lstStyle/>
          <a:p>
            <a:pPr algn="ctr"/>
            <a:r>
              <a:rPr lang="es-ES" sz="1100" dirty="0"/>
              <a:t>3</a:t>
            </a:r>
          </a:p>
        </p:txBody>
      </p:sp>
      <p:sp>
        <p:nvSpPr>
          <p:cNvPr id="69" name="Rounded Rectangle 68"/>
          <p:cNvSpPr/>
          <p:nvPr/>
        </p:nvSpPr>
        <p:spPr>
          <a:xfrm>
            <a:off x="5102950" y="3665875"/>
            <a:ext cx="3132000" cy="170094"/>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Afectación a Clientes</a:t>
            </a:r>
          </a:p>
        </p:txBody>
      </p:sp>
      <p:sp>
        <p:nvSpPr>
          <p:cNvPr id="70" name="Rectangle 18"/>
          <p:cNvSpPr>
            <a:spLocks noChangeArrowheads="1"/>
          </p:cNvSpPr>
          <p:nvPr/>
        </p:nvSpPr>
        <p:spPr bwMode="auto">
          <a:xfrm>
            <a:off x="5102950" y="3884032"/>
            <a:ext cx="3780000" cy="469509"/>
          </a:xfrm>
          <a:prstGeom prst="rect">
            <a:avLst/>
          </a:prstGeom>
          <a:solidFill>
            <a:schemeClr val="bg1"/>
          </a:solidFill>
          <a:ln w="9525" algn="ctr">
            <a:solidFill>
              <a:schemeClr val="bg2"/>
            </a:solidFill>
            <a:miter lim="800000"/>
            <a:headEnd/>
            <a:tailEnd/>
          </a:ln>
          <a:effectLst/>
        </p:spPr>
        <p:txBody>
          <a:bodyPr anchor="ctr"/>
          <a:lstStyle/>
          <a:p>
            <a:r>
              <a:rPr lang="es-ES" sz="1100" dirty="0">
                <a:solidFill>
                  <a:srgbClr val="000000"/>
                </a:solidFill>
              </a:rPr>
              <a:t>La exposición de la imagen es interna y externa con un nivel de impacto medio.</a:t>
            </a:r>
          </a:p>
        </p:txBody>
      </p:sp>
      <p:sp>
        <p:nvSpPr>
          <p:cNvPr id="73" name="AutoShape 179"/>
          <p:cNvSpPr>
            <a:spLocks noChangeArrowheads="1"/>
          </p:cNvSpPr>
          <p:nvPr/>
        </p:nvSpPr>
        <p:spPr bwMode="auto">
          <a:xfrm>
            <a:off x="4927319" y="4494825"/>
            <a:ext cx="4037169" cy="1001482"/>
          </a:xfrm>
          <a:prstGeom prst="roundRect">
            <a:avLst>
              <a:gd name="adj" fmla="val 9481"/>
            </a:avLst>
          </a:prstGeom>
          <a:solidFill>
            <a:schemeClr val="accent1">
              <a:lumMod val="20000"/>
              <a:lumOff val="80000"/>
            </a:schemeClr>
          </a:solidFill>
          <a:ln w="9525" algn="ctr">
            <a:noFill/>
            <a:round/>
            <a:headEnd/>
            <a:tailEnd/>
          </a:ln>
          <a:effectLst/>
        </p:spPr>
        <p:txBody>
          <a:bodyPr wrap="none" anchor="ctr"/>
          <a:lstStyle/>
          <a:p>
            <a:endParaRPr lang="es-CL">
              <a:solidFill>
                <a:srgbClr val="002060"/>
              </a:solidFill>
            </a:endParaRPr>
          </a:p>
        </p:txBody>
      </p:sp>
      <p:sp>
        <p:nvSpPr>
          <p:cNvPr id="74" name="AutoShape 47"/>
          <p:cNvSpPr>
            <a:spLocks noChangeArrowheads="1"/>
          </p:cNvSpPr>
          <p:nvPr/>
        </p:nvSpPr>
        <p:spPr bwMode="blackWhite">
          <a:xfrm>
            <a:off x="4673792" y="4496327"/>
            <a:ext cx="352800" cy="1001482"/>
          </a:xfrm>
          <a:prstGeom prst="rightArrow">
            <a:avLst>
              <a:gd name="adj1" fmla="val 100000"/>
              <a:gd name="adj2" fmla="val 11009"/>
            </a:avLst>
          </a:prstGeom>
          <a:solidFill>
            <a:srgbClr val="969696"/>
          </a:solidFill>
          <a:ln w="12700">
            <a:noFill/>
            <a:miter lim="800000"/>
            <a:headEnd/>
            <a:tailEnd/>
          </a:ln>
          <a:effectLst>
            <a:outerShdw dist="35921" dir="2700000" algn="ctr" rotWithShape="0">
              <a:schemeClr val="bg2"/>
            </a:outerShdw>
          </a:effectLst>
        </p:spPr>
        <p:txBody>
          <a:bodyPr vert="vert270" anchor="ctr"/>
          <a:lstStyle/>
          <a:p>
            <a:pPr algn="ctr">
              <a:lnSpc>
                <a:spcPts val="1000"/>
              </a:lnSpc>
            </a:pPr>
            <a:r>
              <a:rPr lang="es-ES" sz="1100" b="1" noProof="1">
                <a:solidFill>
                  <a:srgbClr val="FFFFFF"/>
                </a:solidFill>
                <a:cs typeface="Arial" charset="0"/>
              </a:rPr>
              <a:t>Cuestionarios</a:t>
            </a:r>
          </a:p>
        </p:txBody>
      </p:sp>
      <p:sp>
        <p:nvSpPr>
          <p:cNvPr id="76" name="Rounded Rectangle 38"/>
          <p:cNvSpPr/>
          <p:nvPr/>
        </p:nvSpPr>
        <p:spPr>
          <a:xfrm>
            <a:off x="5098230" y="4570092"/>
            <a:ext cx="3132000" cy="170094"/>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Criterios de Evaluación</a:t>
            </a:r>
          </a:p>
        </p:txBody>
      </p:sp>
      <p:sp>
        <p:nvSpPr>
          <p:cNvPr id="77" name="Rectangle 18"/>
          <p:cNvSpPr>
            <a:spLocks noChangeArrowheads="1"/>
          </p:cNvSpPr>
          <p:nvPr/>
        </p:nvSpPr>
        <p:spPr bwMode="auto">
          <a:xfrm>
            <a:off x="5102950" y="4783265"/>
            <a:ext cx="3780000" cy="526663"/>
          </a:xfrm>
          <a:prstGeom prst="rect">
            <a:avLst/>
          </a:prstGeom>
          <a:solidFill>
            <a:schemeClr val="bg1"/>
          </a:solidFill>
          <a:ln w="9525" algn="ctr">
            <a:solidFill>
              <a:schemeClr val="bg2"/>
            </a:solidFill>
            <a:miter lim="800000"/>
            <a:headEnd/>
            <a:tailEnd/>
          </a:ln>
          <a:effectLst/>
        </p:spPr>
        <p:txBody>
          <a:bodyPr anchor="ctr"/>
          <a:lstStyle/>
          <a:p>
            <a:pPr algn="just"/>
            <a:r>
              <a:rPr lang="es-ES" sz="1000" dirty="0"/>
              <a:t>El experto estima que 120 trámites resultan erróneos al mes , lo cual podría implicar que  podrías dejar de percibir el 5% de éstas. Para el Impacto Medio se utilizó la prima media y para el peor escenario se usó una prima cercana a las máximas.</a:t>
            </a:r>
            <a:endParaRPr lang="es-ES" sz="1000" dirty="0">
              <a:solidFill>
                <a:srgbClr val="000000"/>
              </a:solidFill>
            </a:endParaRPr>
          </a:p>
        </p:txBody>
      </p:sp>
      <p:sp>
        <p:nvSpPr>
          <p:cNvPr id="78" name="Text Box 30"/>
          <p:cNvSpPr txBox="1">
            <a:spLocks noChangeArrowheads="1"/>
          </p:cNvSpPr>
          <p:nvPr/>
        </p:nvSpPr>
        <p:spPr bwMode="auto">
          <a:xfrm>
            <a:off x="190746" y="4977551"/>
            <a:ext cx="3996000" cy="276999"/>
          </a:xfrm>
          <a:prstGeom prst="rect">
            <a:avLst/>
          </a:prstGeom>
          <a:noFill/>
          <a:ln w="9525" algn="ctr">
            <a:noFill/>
            <a:miter lim="800000"/>
            <a:headEnd/>
            <a:tailEnd/>
          </a:ln>
          <a:effectLst/>
        </p:spPr>
        <p:txBody>
          <a:bodyPr wrap="square">
            <a:spAutoFit/>
          </a:bodyPr>
          <a:lstStyle/>
          <a:p>
            <a:pPr>
              <a:spcBef>
                <a:spcPct val="50000"/>
              </a:spcBef>
            </a:pPr>
            <a:r>
              <a:rPr lang="es-CL" sz="1200" b="1" i="1" dirty="0">
                <a:solidFill>
                  <a:srgbClr val="A3A3E0"/>
                </a:solidFill>
              </a:rPr>
              <a:t>Resultados valoración de controles / factores mitigantes</a:t>
            </a:r>
            <a:endParaRPr lang="es-ES" sz="1200" b="1" i="1" dirty="0">
              <a:solidFill>
                <a:srgbClr val="A3A3E0"/>
              </a:solidFill>
            </a:endParaRPr>
          </a:p>
        </p:txBody>
      </p:sp>
      <p:sp>
        <p:nvSpPr>
          <p:cNvPr id="84" name="AutoShape 179"/>
          <p:cNvSpPr>
            <a:spLocks noChangeArrowheads="1"/>
          </p:cNvSpPr>
          <p:nvPr/>
        </p:nvSpPr>
        <p:spPr bwMode="auto">
          <a:xfrm>
            <a:off x="534831" y="5200032"/>
            <a:ext cx="4037169" cy="864000"/>
          </a:xfrm>
          <a:prstGeom prst="roundRect">
            <a:avLst>
              <a:gd name="adj" fmla="val 9481"/>
            </a:avLst>
          </a:prstGeom>
          <a:solidFill>
            <a:schemeClr val="accent1">
              <a:lumMod val="20000"/>
              <a:lumOff val="80000"/>
            </a:schemeClr>
          </a:solidFill>
          <a:ln w="9525" algn="ctr">
            <a:noFill/>
            <a:round/>
            <a:headEnd/>
            <a:tailEnd/>
          </a:ln>
          <a:effectLst/>
        </p:spPr>
        <p:txBody>
          <a:bodyPr wrap="none" anchor="ctr"/>
          <a:lstStyle/>
          <a:p>
            <a:endParaRPr lang="es-CL">
              <a:solidFill>
                <a:srgbClr val="002060"/>
              </a:solidFill>
            </a:endParaRPr>
          </a:p>
        </p:txBody>
      </p:sp>
      <p:sp>
        <p:nvSpPr>
          <p:cNvPr id="85" name="AutoShape 47"/>
          <p:cNvSpPr>
            <a:spLocks noChangeArrowheads="1"/>
          </p:cNvSpPr>
          <p:nvPr/>
        </p:nvSpPr>
        <p:spPr bwMode="blackWhite">
          <a:xfrm>
            <a:off x="281304" y="5201534"/>
            <a:ext cx="353942" cy="864000"/>
          </a:xfrm>
          <a:prstGeom prst="rightArrow">
            <a:avLst>
              <a:gd name="adj1" fmla="val 100000"/>
              <a:gd name="adj2" fmla="val 11009"/>
            </a:avLst>
          </a:prstGeom>
          <a:solidFill>
            <a:srgbClr val="969696"/>
          </a:solidFill>
          <a:ln w="12700">
            <a:noFill/>
            <a:miter lim="800000"/>
            <a:headEnd/>
            <a:tailEnd/>
          </a:ln>
          <a:effectLst>
            <a:outerShdw dist="35921" dir="2700000" algn="ctr" rotWithShape="0">
              <a:schemeClr val="bg2"/>
            </a:outerShdw>
          </a:effectLst>
        </p:spPr>
        <p:txBody>
          <a:bodyPr vert="vert270" anchor="ctr"/>
          <a:lstStyle/>
          <a:p>
            <a:pPr algn="ctr">
              <a:lnSpc>
                <a:spcPts val="1000"/>
              </a:lnSpc>
            </a:pPr>
            <a:r>
              <a:rPr lang="es-ES" sz="1100" b="1" noProof="1">
                <a:solidFill>
                  <a:srgbClr val="FFFFFF"/>
                </a:solidFill>
                <a:cs typeface="Arial" charset="0"/>
              </a:rPr>
              <a:t>Evaluación de Controles</a:t>
            </a:r>
          </a:p>
        </p:txBody>
      </p:sp>
      <p:sp>
        <p:nvSpPr>
          <p:cNvPr id="86" name="Rectangle 18"/>
          <p:cNvSpPr>
            <a:spLocks noChangeArrowheads="1"/>
          </p:cNvSpPr>
          <p:nvPr/>
        </p:nvSpPr>
        <p:spPr bwMode="auto">
          <a:xfrm>
            <a:off x="3937102" y="5275299"/>
            <a:ext cx="548640" cy="170094"/>
          </a:xfrm>
          <a:prstGeom prst="rect">
            <a:avLst/>
          </a:prstGeom>
          <a:solidFill>
            <a:schemeClr val="bg1"/>
          </a:solidFill>
          <a:ln w="9525" algn="ctr">
            <a:solidFill>
              <a:schemeClr val="bg2"/>
            </a:solidFill>
            <a:miter lim="800000"/>
            <a:headEnd/>
            <a:tailEnd/>
          </a:ln>
          <a:effectLst/>
        </p:spPr>
        <p:txBody>
          <a:bodyPr anchor="ctr"/>
          <a:lstStyle/>
          <a:p>
            <a:pPr algn="ctr"/>
            <a:r>
              <a:rPr lang="es-ES" sz="1100" dirty="0">
                <a:solidFill>
                  <a:srgbClr val="002060"/>
                </a:solidFill>
              </a:rPr>
              <a:t>0</a:t>
            </a:r>
          </a:p>
        </p:txBody>
      </p:sp>
      <p:sp>
        <p:nvSpPr>
          <p:cNvPr id="87" name="Rounded Rectangle 38"/>
          <p:cNvSpPr/>
          <p:nvPr/>
        </p:nvSpPr>
        <p:spPr>
          <a:xfrm>
            <a:off x="705742" y="5275299"/>
            <a:ext cx="3132000" cy="170094"/>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Controles asociados al riesgo</a:t>
            </a:r>
          </a:p>
        </p:txBody>
      </p:sp>
      <p:sp>
        <p:nvSpPr>
          <p:cNvPr id="88" name="Rectangle 18"/>
          <p:cNvSpPr>
            <a:spLocks noChangeArrowheads="1"/>
          </p:cNvSpPr>
          <p:nvPr/>
        </p:nvSpPr>
        <p:spPr bwMode="auto">
          <a:xfrm>
            <a:off x="705742" y="5496307"/>
            <a:ext cx="3780000" cy="469509"/>
          </a:xfrm>
          <a:prstGeom prst="rect">
            <a:avLst/>
          </a:prstGeom>
          <a:solidFill>
            <a:schemeClr val="bg1"/>
          </a:solidFill>
          <a:ln w="9525" algn="ctr">
            <a:solidFill>
              <a:schemeClr val="bg2"/>
            </a:solidFill>
            <a:miter lim="800000"/>
            <a:headEnd/>
            <a:tailEnd/>
          </a:ln>
          <a:effectLst/>
        </p:spPr>
        <p:txBody>
          <a:bodyPr anchor="ctr"/>
          <a:lstStyle/>
          <a:p>
            <a:r>
              <a:rPr lang="es-PE" sz="1100" dirty="0">
                <a:solidFill>
                  <a:srgbClr val="000000"/>
                </a:solidFill>
              </a:rPr>
              <a:t>No existe un control definido.</a:t>
            </a:r>
            <a:endParaRPr lang="es-ES" sz="1100" dirty="0">
              <a:solidFill>
                <a:srgbClr val="000000"/>
              </a:solidFill>
            </a:endParaRPr>
          </a:p>
        </p:txBody>
      </p:sp>
      <p:sp>
        <p:nvSpPr>
          <p:cNvPr id="54" name="Rounded Rectangle 31">
            <a:hlinkClick r:id="rId2" action="ppaction://hlinksldjump"/>
          </p:cNvPr>
          <p:cNvSpPr/>
          <p:nvPr/>
        </p:nvSpPr>
        <p:spPr>
          <a:xfrm>
            <a:off x="1638012" y="6322807"/>
            <a:ext cx="1080000" cy="360000"/>
          </a:xfrm>
          <a:prstGeom prst="roundRect">
            <a:avLst/>
          </a:prstGeom>
          <a:solidFill>
            <a:schemeClr val="bg1">
              <a:lumMod val="65000"/>
            </a:schemeClr>
          </a:solidFill>
          <a:ln w="25400" cap="sq" cmpd="sng">
            <a:solidFill>
              <a:schemeClr val="bg1">
                <a:lumMod val="75000"/>
              </a:schemeClr>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L" sz="800" b="1" i="1" dirty="0">
                <a:solidFill>
                  <a:schemeClr val="bg1"/>
                </a:solidFill>
                <a:cs typeface="Arial" pitchFamily="34" charset="0"/>
              </a:rPr>
              <a:t>Exposición al RO y Entorno de Control</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dirty="0"/>
              <a:t>Anexo: Visión Global de Riesgos</a:t>
            </a:r>
          </a:p>
        </p:txBody>
      </p:sp>
      <p:sp>
        <p:nvSpPr>
          <p:cNvPr id="3" name="Rounded Rectangle 2"/>
          <p:cNvSpPr/>
          <p:nvPr/>
        </p:nvSpPr>
        <p:spPr>
          <a:xfrm>
            <a:off x="202172" y="977099"/>
            <a:ext cx="4114800" cy="288032"/>
          </a:xfrm>
          <a:prstGeom prst="roundRect">
            <a:avLst/>
          </a:prstGeom>
          <a:solidFill>
            <a:srgbClr val="DB0613"/>
          </a:solidFill>
          <a:ln w="9525" algn="ctr">
            <a:noFill/>
            <a:miter lim="800000"/>
            <a:headEnd/>
            <a:tailEnd/>
          </a:ln>
          <a:effectLst/>
        </p:spPr>
        <p:txBody>
          <a:bodyPr anchor="ctr"/>
          <a:lstStyle/>
          <a:p>
            <a:pPr algn="ctr">
              <a:lnSpc>
                <a:spcPct val="80000"/>
              </a:lnSpc>
            </a:pPr>
            <a:r>
              <a:rPr lang="es-CL" sz="1400" b="1" dirty="0">
                <a:solidFill>
                  <a:schemeClr val="bg1"/>
                </a:solidFill>
                <a:latin typeface="+mj-lt"/>
                <a:cs typeface="Arial" pitchFamily="34" charset="0"/>
              </a:rPr>
              <a:t>Distribución de riesgos por Subproceso</a:t>
            </a:r>
            <a:endParaRPr lang="en-US" sz="1400" b="1" dirty="0">
              <a:solidFill>
                <a:schemeClr val="bg1"/>
              </a:solidFill>
              <a:latin typeface="+mj-lt"/>
              <a:cs typeface="Arial" pitchFamily="34" charset="0"/>
            </a:endParaRPr>
          </a:p>
        </p:txBody>
      </p:sp>
      <p:sp>
        <p:nvSpPr>
          <p:cNvPr id="5" name="Rounded Rectangle 4"/>
          <p:cNvSpPr/>
          <p:nvPr/>
        </p:nvSpPr>
        <p:spPr>
          <a:xfrm>
            <a:off x="4747080" y="3573016"/>
            <a:ext cx="4114800" cy="288032"/>
          </a:xfrm>
          <a:prstGeom prst="roundRect">
            <a:avLst/>
          </a:prstGeom>
          <a:solidFill>
            <a:srgbClr val="DB0613"/>
          </a:solidFill>
          <a:ln w="9525" algn="ctr">
            <a:noFill/>
            <a:miter lim="800000"/>
            <a:headEnd/>
            <a:tailEnd/>
          </a:ln>
          <a:effectLst/>
        </p:spPr>
        <p:txBody>
          <a:bodyPr anchor="ctr"/>
          <a:lstStyle/>
          <a:p>
            <a:pPr algn="ctr">
              <a:lnSpc>
                <a:spcPct val="80000"/>
              </a:lnSpc>
            </a:pPr>
            <a:r>
              <a:rPr lang="es-CL" sz="1400" b="1" dirty="0">
                <a:solidFill>
                  <a:schemeClr val="bg1"/>
                </a:solidFill>
                <a:latin typeface="+mj-lt"/>
                <a:cs typeface="Arial" pitchFamily="34" charset="0"/>
              </a:rPr>
              <a:t>Conclusiones</a:t>
            </a:r>
            <a:endParaRPr lang="en-US" sz="1400" b="1" dirty="0">
              <a:solidFill>
                <a:schemeClr val="bg1"/>
              </a:solidFill>
              <a:latin typeface="+mj-lt"/>
              <a:cs typeface="Arial" pitchFamily="34" charset="0"/>
            </a:endParaRPr>
          </a:p>
        </p:txBody>
      </p:sp>
      <p:sp>
        <p:nvSpPr>
          <p:cNvPr id="6" name="AutoShape 179"/>
          <p:cNvSpPr>
            <a:spLocks noChangeArrowheads="1"/>
          </p:cNvSpPr>
          <p:nvPr/>
        </p:nvSpPr>
        <p:spPr bwMode="auto">
          <a:xfrm>
            <a:off x="4747080" y="1350768"/>
            <a:ext cx="4114800" cy="2150121"/>
          </a:xfrm>
          <a:prstGeom prst="roundRect">
            <a:avLst>
              <a:gd name="adj" fmla="val 9481"/>
            </a:avLst>
          </a:prstGeom>
          <a:noFill/>
          <a:ln w="12700">
            <a:solidFill>
              <a:schemeClr val="bg1">
                <a:lumMod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s-CL" sz="1200" dirty="0">
              <a:solidFill>
                <a:schemeClr val="bg1">
                  <a:lumMod val="50000"/>
                </a:schemeClr>
              </a:solidFill>
              <a:latin typeface="+mj-lt"/>
            </a:endParaRPr>
          </a:p>
        </p:txBody>
      </p:sp>
      <p:sp>
        <p:nvSpPr>
          <p:cNvPr id="7" name="AutoShape 179"/>
          <p:cNvSpPr>
            <a:spLocks noChangeArrowheads="1"/>
          </p:cNvSpPr>
          <p:nvPr/>
        </p:nvSpPr>
        <p:spPr bwMode="auto">
          <a:xfrm>
            <a:off x="202172" y="1350648"/>
            <a:ext cx="4114800" cy="2150360"/>
          </a:xfrm>
          <a:prstGeom prst="roundRect">
            <a:avLst>
              <a:gd name="adj" fmla="val 9481"/>
            </a:avLst>
          </a:prstGeom>
          <a:noFill/>
          <a:ln w="12700">
            <a:solidFill>
              <a:schemeClr val="bg1">
                <a:lumMod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s-CL" sz="1200" dirty="0">
              <a:solidFill>
                <a:schemeClr val="bg1">
                  <a:lumMod val="50000"/>
                </a:schemeClr>
              </a:solidFill>
              <a:latin typeface="+mj-lt"/>
            </a:endParaRPr>
          </a:p>
        </p:txBody>
      </p:sp>
      <p:sp>
        <p:nvSpPr>
          <p:cNvPr id="9" name="Rounded Rectangle 8"/>
          <p:cNvSpPr/>
          <p:nvPr/>
        </p:nvSpPr>
        <p:spPr>
          <a:xfrm>
            <a:off x="4747080" y="977099"/>
            <a:ext cx="4114800" cy="288032"/>
          </a:xfrm>
          <a:prstGeom prst="roundRect">
            <a:avLst/>
          </a:prstGeom>
          <a:solidFill>
            <a:srgbClr val="DB0613"/>
          </a:solidFill>
          <a:ln w="9525" algn="ctr">
            <a:noFill/>
            <a:miter lim="800000"/>
            <a:headEnd/>
            <a:tailEnd/>
          </a:ln>
          <a:effectLst/>
        </p:spPr>
        <p:txBody>
          <a:bodyPr anchor="ctr"/>
          <a:lstStyle/>
          <a:p>
            <a:pPr algn="ctr">
              <a:lnSpc>
                <a:spcPct val="80000"/>
              </a:lnSpc>
            </a:pPr>
            <a:r>
              <a:rPr lang="es-CL" sz="1400" b="1" dirty="0">
                <a:solidFill>
                  <a:schemeClr val="bg1"/>
                </a:solidFill>
                <a:latin typeface="+mj-lt"/>
                <a:cs typeface="Arial" pitchFamily="34" charset="0"/>
              </a:rPr>
              <a:t>Distribución de riesgos por Categoría Nivel II</a:t>
            </a:r>
            <a:endParaRPr lang="en-US" sz="1400" b="1" dirty="0">
              <a:solidFill>
                <a:schemeClr val="bg1"/>
              </a:solidFill>
              <a:latin typeface="+mj-lt"/>
              <a:cs typeface="Arial" pitchFamily="34" charset="0"/>
            </a:endParaRPr>
          </a:p>
        </p:txBody>
      </p:sp>
      <p:sp>
        <p:nvSpPr>
          <p:cNvPr id="10" name="AutoShape 179"/>
          <p:cNvSpPr>
            <a:spLocks noChangeArrowheads="1"/>
          </p:cNvSpPr>
          <p:nvPr/>
        </p:nvSpPr>
        <p:spPr bwMode="auto">
          <a:xfrm>
            <a:off x="202172" y="3954189"/>
            <a:ext cx="4114800" cy="2150360"/>
          </a:xfrm>
          <a:prstGeom prst="roundRect">
            <a:avLst>
              <a:gd name="adj" fmla="val 9481"/>
            </a:avLst>
          </a:prstGeom>
          <a:noFill/>
          <a:ln w="12700">
            <a:solidFill>
              <a:schemeClr val="bg1">
                <a:lumMod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s-CL" sz="1200" dirty="0">
              <a:solidFill>
                <a:schemeClr val="bg1">
                  <a:lumMod val="50000"/>
                </a:schemeClr>
              </a:solidFill>
              <a:latin typeface="+mj-lt"/>
            </a:endParaRPr>
          </a:p>
        </p:txBody>
      </p:sp>
      <p:sp>
        <p:nvSpPr>
          <p:cNvPr id="11" name="Rectangle 29"/>
          <p:cNvSpPr txBox="1">
            <a:spLocks noChangeArrowheads="1"/>
          </p:cNvSpPr>
          <p:nvPr/>
        </p:nvSpPr>
        <p:spPr bwMode="gray">
          <a:xfrm>
            <a:off x="251520" y="596938"/>
            <a:ext cx="6984776" cy="455798"/>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lang="es-ES_tradnl" sz="1600" b="1" dirty="0">
                <a:solidFill>
                  <a:srgbClr val="4D4D4D"/>
                </a:solidFill>
                <a:latin typeface="+mj-lt"/>
                <a:sym typeface="Wingdings" pitchFamily="2" charset="2"/>
              </a:rPr>
              <a:t>Análisis de Riesgos: Administración de Fondos</a:t>
            </a:r>
            <a:endParaRPr kumimoji="0" lang="es-ES_tradnl" sz="1800" b="1" i="0" u="none" strike="noStrike" kern="0" cap="none" spc="0" normalizeH="0" baseline="0" noProof="0" dirty="0">
              <a:ln>
                <a:noFill/>
              </a:ln>
              <a:solidFill>
                <a:schemeClr val="hlink"/>
              </a:solidFill>
              <a:effectLst/>
              <a:uLnTx/>
              <a:uFillTx/>
              <a:latin typeface="+mj-lt"/>
              <a:ea typeface="+mj-ea"/>
              <a:cs typeface="+mj-cs"/>
            </a:endParaRPr>
          </a:p>
        </p:txBody>
      </p:sp>
      <p:sp>
        <p:nvSpPr>
          <p:cNvPr id="21" name="Rounded Rectangle 3"/>
          <p:cNvSpPr/>
          <p:nvPr/>
        </p:nvSpPr>
        <p:spPr>
          <a:xfrm>
            <a:off x="202172" y="3573016"/>
            <a:ext cx="4114800" cy="288032"/>
          </a:xfrm>
          <a:prstGeom prst="roundRect">
            <a:avLst/>
          </a:prstGeom>
          <a:solidFill>
            <a:srgbClr val="DB0613"/>
          </a:solidFill>
          <a:ln w="9525" algn="ctr">
            <a:noFill/>
            <a:miter lim="800000"/>
            <a:headEnd/>
            <a:tailEnd/>
          </a:ln>
          <a:effectLst/>
        </p:spPr>
        <p:txBody>
          <a:bodyPr lIns="0" rIns="0" anchor="ctr"/>
          <a:lstStyle/>
          <a:p>
            <a:pPr algn="ctr">
              <a:lnSpc>
                <a:spcPct val="80000"/>
              </a:lnSpc>
            </a:pPr>
            <a:r>
              <a:rPr lang="es-CL" sz="1400" b="1" dirty="0">
                <a:solidFill>
                  <a:schemeClr val="bg1"/>
                </a:solidFill>
                <a:latin typeface="+mj-lt"/>
                <a:cs typeface="Arial" pitchFamily="34" charset="0"/>
              </a:rPr>
              <a:t>Distribución de riesgos por Origen</a:t>
            </a:r>
            <a:endParaRPr lang="en-US" sz="1400" b="1" dirty="0">
              <a:solidFill>
                <a:schemeClr val="bg1"/>
              </a:solidFill>
              <a:latin typeface="+mj-lt"/>
              <a:cs typeface="Arial" pitchFamily="34" charset="0"/>
            </a:endParaRPr>
          </a:p>
        </p:txBody>
      </p:sp>
      <p:sp>
        <p:nvSpPr>
          <p:cNvPr id="23" name="AutoShape 179"/>
          <p:cNvSpPr>
            <a:spLocks noChangeArrowheads="1"/>
          </p:cNvSpPr>
          <p:nvPr/>
        </p:nvSpPr>
        <p:spPr bwMode="auto">
          <a:xfrm>
            <a:off x="4747080" y="3954309"/>
            <a:ext cx="4114800" cy="2150121"/>
          </a:xfrm>
          <a:prstGeom prst="roundRect">
            <a:avLst>
              <a:gd name="adj" fmla="val 9481"/>
            </a:avLst>
          </a:prstGeom>
          <a:solidFill>
            <a:schemeClr val="accent1">
              <a:lumMod val="20000"/>
              <a:lumOff val="80000"/>
              <a:alpha val="80000"/>
            </a:schemeClr>
          </a:solidFill>
          <a:ln w="9525" algn="ctr">
            <a:noFill/>
            <a:round/>
            <a:headEnd/>
            <a:tailEnd/>
          </a:ln>
          <a:effectLst/>
        </p:spPr>
        <p:txBody>
          <a:bodyPr wrap="square" lIns="91440" rIns="91440" anchor="ctr"/>
          <a:lstStyle/>
          <a:p>
            <a:pPr algn="just"/>
            <a:r>
              <a:rPr lang="es-ES" sz="1100" dirty="0"/>
              <a:t>El 33.3% de los riesgos de Administración de Fondos se concentran en el Subproceso de Operaciones de Money Market, seguido de un porcentaje muy importante en los Subprocesos de Ejecución de Propuestas e Ingreso y Registro de Operaciones.</a:t>
            </a:r>
          </a:p>
          <a:p>
            <a:pPr algn="just">
              <a:lnSpc>
                <a:spcPts val="900"/>
              </a:lnSpc>
            </a:pPr>
            <a:endParaRPr lang="es-ES" sz="1100" dirty="0"/>
          </a:p>
          <a:p>
            <a:pPr algn="just"/>
            <a:r>
              <a:rPr lang="es-ES" sz="1100" dirty="0"/>
              <a:t>La categoría de riesgo Recepción, Ejecución y Mantenimiento de Operaciones acumula el 54.8% de los riesgos, seguido de Fallos en Sistemas con un 19.4% de los riesgos.</a:t>
            </a:r>
          </a:p>
          <a:p>
            <a:pPr algn="just">
              <a:lnSpc>
                <a:spcPts val="900"/>
              </a:lnSpc>
            </a:pPr>
            <a:endParaRPr lang="es-ES" sz="1100" dirty="0"/>
          </a:p>
          <a:p>
            <a:pPr algn="just"/>
            <a:r>
              <a:rPr lang="es-ES" sz="1100" dirty="0"/>
              <a:t>El 47.2% de los riesgos operacionales tendría como origen mayoritariamente en Personas, seguido de Tecnología  con un 27.8% y Procesos con un 19.4% de los riesgos.</a:t>
            </a:r>
          </a:p>
        </p:txBody>
      </p:sp>
      <p:graphicFrame>
        <p:nvGraphicFramePr>
          <p:cNvPr id="24" name="2 Gráfico"/>
          <p:cNvGraphicFramePr>
            <a:graphicFrameLocks/>
          </p:cNvGraphicFramePr>
          <p:nvPr/>
        </p:nvGraphicFramePr>
        <p:xfrm>
          <a:off x="450000" y="1512000"/>
          <a:ext cx="3657600" cy="183240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25" name="8 Gráfico"/>
          <p:cNvGraphicFramePr>
            <a:graphicFrameLocks/>
          </p:cNvGraphicFramePr>
          <p:nvPr/>
        </p:nvGraphicFramePr>
        <p:xfrm>
          <a:off x="450000" y="4104000"/>
          <a:ext cx="3657600" cy="1832400"/>
        </p:xfrm>
        <a:graphic>
          <a:graphicData uri="http://schemas.openxmlformats.org/drawingml/2006/chart">
            <c:chart xmlns:c="http://schemas.openxmlformats.org/drawingml/2006/chart" xmlns:r="http://schemas.openxmlformats.org/officeDocument/2006/relationships" r:id="rId3"/>
          </a:graphicData>
        </a:graphic>
      </p:graphicFrame>
      <p:sp>
        <p:nvSpPr>
          <p:cNvPr id="16" name="Rounded Rectangle 31">
            <a:hlinkClick r:id="rId4" action="ppaction://hlinksldjump"/>
          </p:cNvPr>
          <p:cNvSpPr/>
          <p:nvPr/>
        </p:nvSpPr>
        <p:spPr>
          <a:xfrm>
            <a:off x="1638012" y="6322807"/>
            <a:ext cx="1080000" cy="360000"/>
          </a:xfrm>
          <a:prstGeom prst="roundRect">
            <a:avLst/>
          </a:prstGeom>
          <a:solidFill>
            <a:schemeClr val="bg1">
              <a:lumMod val="65000"/>
            </a:schemeClr>
          </a:solidFill>
          <a:ln w="25400" cap="sq" cmpd="sng">
            <a:solidFill>
              <a:schemeClr val="bg1">
                <a:lumMod val="75000"/>
              </a:schemeClr>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L" sz="800" b="1" i="1" dirty="0">
                <a:solidFill>
                  <a:schemeClr val="bg1"/>
                </a:solidFill>
                <a:cs typeface="Arial" pitchFamily="34" charset="0"/>
              </a:rPr>
              <a:t>Exposición al RO y Entorno de Control</a:t>
            </a:r>
          </a:p>
        </p:txBody>
      </p:sp>
      <p:graphicFrame>
        <p:nvGraphicFramePr>
          <p:cNvPr id="17" name="1 Gráfico"/>
          <p:cNvGraphicFramePr/>
          <p:nvPr/>
        </p:nvGraphicFramePr>
        <p:xfrm>
          <a:off x="4932040" y="1512000"/>
          <a:ext cx="3657600" cy="1832400"/>
        </p:xfrm>
        <a:graphic>
          <a:graphicData uri="http://schemas.openxmlformats.org/drawingml/2006/chart">
            <c:chart xmlns:c="http://schemas.openxmlformats.org/drawingml/2006/chart" xmlns:r="http://schemas.openxmlformats.org/officeDocument/2006/relationships" r:id="rId5"/>
          </a:graphicData>
        </a:graphic>
      </p:graphicFrame>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dirty="0"/>
              <a:t>Anexo: Visión Global de Riesgos</a:t>
            </a:r>
          </a:p>
        </p:txBody>
      </p:sp>
      <p:sp>
        <p:nvSpPr>
          <p:cNvPr id="3" name="Rounded Rectangle 2"/>
          <p:cNvSpPr/>
          <p:nvPr/>
        </p:nvSpPr>
        <p:spPr>
          <a:xfrm>
            <a:off x="202172" y="977099"/>
            <a:ext cx="4114800" cy="288032"/>
          </a:xfrm>
          <a:prstGeom prst="roundRect">
            <a:avLst/>
          </a:prstGeom>
          <a:solidFill>
            <a:srgbClr val="DB0613"/>
          </a:solidFill>
          <a:ln w="9525" algn="ctr">
            <a:noFill/>
            <a:miter lim="800000"/>
            <a:headEnd/>
            <a:tailEnd/>
          </a:ln>
          <a:effectLst/>
        </p:spPr>
        <p:txBody>
          <a:bodyPr anchor="ctr"/>
          <a:lstStyle/>
          <a:p>
            <a:pPr algn="ctr">
              <a:lnSpc>
                <a:spcPct val="80000"/>
              </a:lnSpc>
            </a:pPr>
            <a:r>
              <a:rPr lang="es-CL" sz="1400" b="1" dirty="0">
                <a:solidFill>
                  <a:schemeClr val="bg1"/>
                </a:solidFill>
                <a:latin typeface="+mj-lt"/>
                <a:cs typeface="Arial" pitchFamily="34" charset="0"/>
              </a:rPr>
              <a:t>Distribución de riesgos por Subproceso</a:t>
            </a:r>
            <a:endParaRPr lang="en-US" sz="1400" b="1" dirty="0">
              <a:solidFill>
                <a:schemeClr val="bg1"/>
              </a:solidFill>
              <a:latin typeface="+mj-lt"/>
              <a:cs typeface="Arial" pitchFamily="34" charset="0"/>
            </a:endParaRPr>
          </a:p>
        </p:txBody>
      </p:sp>
      <p:sp>
        <p:nvSpPr>
          <p:cNvPr id="4" name="Rounded Rectangle 3"/>
          <p:cNvSpPr/>
          <p:nvPr/>
        </p:nvSpPr>
        <p:spPr>
          <a:xfrm>
            <a:off x="202172" y="3573016"/>
            <a:ext cx="4114800" cy="288032"/>
          </a:xfrm>
          <a:prstGeom prst="roundRect">
            <a:avLst/>
          </a:prstGeom>
          <a:solidFill>
            <a:srgbClr val="DB0613"/>
          </a:solidFill>
          <a:ln w="9525" algn="ctr">
            <a:noFill/>
            <a:miter lim="800000"/>
            <a:headEnd/>
            <a:tailEnd/>
          </a:ln>
          <a:effectLst/>
        </p:spPr>
        <p:txBody>
          <a:bodyPr lIns="0" rIns="0" anchor="ctr"/>
          <a:lstStyle/>
          <a:p>
            <a:pPr algn="ctr">
              <a:lnSpc>
                <a:spcPct val="80000"/>
              </a:lnSpc>
            </a:pPr>
            <a:r>
              <a:rPr lang="es-CL" sz="1400" b="1" dirty="0">
                <a:solidFill>
                  <a:schemeClr val="bg1"/>
                </a:solidFill>
                <a:latin typeface="+mj-lt"/>
                <a:cs typeface="Arial" pitchFamily="34" charset="0"/>
              </a:rPr>
              <a:t>Distribución de riesgos por Origen</a:t>
            </a:r>
            <a:endParaRPr lang="en-US" sz="1400" b="1" dirty="0">
              <a:solidFill>
                <a:schemeClr val="bg1"/>
              </a:solidFill>
              <a:latin typeface="+mj-lt"/>
              <a:cs typeface="Arial" pitchFamily="34" charset="0"/>
            </a:endParaRPr>
          </a:p>
        </p:txBody>
      </p:sp>
      <p:sp>
        <p:nvSpPr>
          <p:cNvPr id="5" name="Rounded Rectangle 4"/>
          <p:cNvSpPr/>
          <p:nvPr/>
        </p:nvSpPr>
        <p:spPr>
          <a:xfrm>
            <a:off x="4747080" y="3573016"/>
            <a:ext cx="4114800" cy="288032"/>
          </a:xfrm>
          <a:prstGeom prst="roundRect">
            <a:avLst/>
          </a:prstGeom>
          <a:solidFill>
            <a:srgbClr val="DB0613"/>
          </a:solidFill>
          <a:ln w="9525" algn="ctr">
            <a:noFill/>
            <a:miter lim="800000"/>
            <a:headEnd/>
            <a:tailEnd/>
          </a:ln>
          <a:effectLst/>
        </p:spPr>
        <p:txBody>
          <a:bodyPr anchor="ctr"/>
          <a:lstStyle/>
          <a:p>
            <a:pPr algn="ctr">
              <a:lnSpc>
                <a:spcPct val="80000"/>
              </a:lnSpc>
            </a:pPr>
            <a:r>
              <a:rPr lang="es-CL" sz="1400" b="1" dirty="0">
                <a:solidFill>
                  <a:schemeClr val="bg1"/>
                </a:solidFill>
                <a:latin typeface="+mj-lt"/>
                <a:cs typeface="Arial" pitchFamily="34" charset="0"/>
              </a:rPr>
              <a:t>Conclusiones</a:t>
            </a:r>
            <a:endParaRPr lang="en-US" sz="1400" b="1" dirty="0">
              <a:solidFill>
                <a:schemeClr val="bg1"/>
              </a:solidFill>
              <a:latin typeface="+mj-lt"/>
              <a:cs typeface="Arial" pitchFamily="34" charset="0"/>
            </a:endParaRPr>
          </a:p>
        </p:txBody>
      </p:sp>
      <p:sp>
        <p:nvSpPr>
          <p:cNvPr id="6" name="AutoShape 179"/>
          <p:cNvSpPr>
            <a:spLocks noChangeArrowheads="1"/>
          </p:cNvSpPr>
          <p:nvPr/>
        </p:nvSpPr>
        <p:spPr bwMode="auto">
          <a:xfrm>
            <a:off x="4747080" y="1350768"/>
            <a:ext cx="4114800" cy="2150121"/>
          </a:xfrm>
          <a:prstGeom prst="roundRect">
            <a:avLst>
              <a:gd name="adj" fmla="val 9481"/>
            </a:avLst>
          </a:prstGeom>
          <a:noFill/>
          <a:ln w="12700">
            <a:solidFill>
              <a:schemeClr val="bg1">
                <a:lumMod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s-CL" sz="1200" dirty="0">
              <a:solidFill>
                <a:schemeClr val="bg1">
                  <a:lumMod val="50000"/>
                </a:schemeClr>
              </a:solidFill>
              <a:latin typeface="+mj-lt"/>
            </a:endParaRPr>
          </a:p>
        </p:txBody>
      </p:sp>
      <p:sp>
        <p:nvSpPr>
          <p:cNvPr id="7" name="AutoShape 179"/>
          <p:cNvSpPr>
            <a:spLocks noChangeArrowheads="1"/>
          </p:cNvSpPr>
          <p:nvPr/>
        </p:nvSpPr>
        <p:spPr bwMode="auto">
          <a:xfrm>
            <a:off x="202172" y="1350648"/>
            <a:ext cx="4114800" cy="2150360"/>
          </a:xfrm>
          <a:prstGeom prst="roundRect">
            <a:avLst>
              <a:gd name="adj" fmla="val 9481"/>
            </a:avLst>
          </a:prstGeom>
          <a:noFill/>
          <a:ln w="12700">
            <a:solidFill>
              <a:schemeClr val="bg1">
                <a:lumMod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s-CL" sz="1200" dirty="0">
              <a:solidFill>
                <a:schemeClr val="bg1">
                  <a:lumMod val="50000"/>
                </a:schemeClr>
              </a:solidFill>
              <a:latin typeface="+mj-lt"/>
            </a:endParaRPr>
          </a:p>
        </p:txBody>
      </p:sp>
      <p:sp>
        <p:nvSpPr>
          <p:cNvPr id="9" name="Rounded Rectangle 8"/>
          <p:cNvSpPr/>
          <p:nvPr/>
        </p:nvSpPr>
        <p:spPr>
          <a:xfrm>
            <a:off x="4747080" y="977099"/>
            <a:ext cx="4114800" cy="288032"/>
          </a:xfrm>
          <a:prstGeom prst="roundRect">
            <a:avLst/>
          </a:prstGeom>
          <a:solidFill>
            <a:srgbClr val="DB0613"/>
          </a:solidFill>
          <a:ln w="9525" algn="ctr">
            <a:noFill/>
            <a:miter lim="800000"/>
            <a:headEnd/>
            <a:tailEnd/>
          </a:ln>
          <a:effectLst/>
        </p:spPr>
        <p:txBody>
          <a:bodyPr anchor="ctr"/>
          <a:lstStyle/>
          <a:p>
            <a:pPr algn="ctr">
              <a:lnSpc>
                <a:spcPct val="80000"/>
              </a:lnSpc>
            </a:pPr>
            <a:r>
              <a:rPr lang="es-CL" sz="1400" b="1" dirty="0">
                <a:solidFill>
                  <a:schemeClr val="bg1"/>
                </a:solidFill>
                <a:latin typeface="+mj-lt"/>
                <a:cs typeface="Arial" pitchFamily="34" charset="0"/>
              </a:rPr>
              <a:t>Distribución de riesgos por Categoría Nivel II</a:t>
            </a:r>
            <a:endParaRPr lang="en-US" sz="1400" b="1" dirty="0">
              <a:solidFill>
                <a:schemeClr val="bg1"/>
              </a:solidFill>
              <a:latin typeface="+mj-lt"/>
              <a:cs typeface="Arial" pitchFamily="34" charset="0"/>
            </a:endParaRPr>
          </a:p>
        </p:txBody>
      </p:sp>
      <p:sp>
        <p:nvSpPr>
          <p:cNvPr id="10" name="AutoShape 179"/>
          <p:cNvSpPr>
            <a:spLocks noChangeArrowheads="1"/>
          </p:cNvSpPr>
          <p:nvPr/>
        </p:nvSpPr>
        <p:spPr bwMode="auto">
          <a:xfrm>
            <a:off x="202172" y="3954189"/>
            <a:ext cx="4114800" cy="2150360"/>
          </a:xfrm>
          <a:prstGeom prst="roundRect">
            <a:avLst>
              <a:gd name="adj" fmla="val 9481"/>
            </a:avLst>
          </a:prstGeom>
          <a:noFill/>
          <a:ln w="12700">
            <a:solidFill>
              <a:schemeClr val="bg1">
                <a:lumMod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s-CL" sz="1200" dirty="0">
              <a:solidFill>
                <a:schemeClr val="bg1">
                  <a:lumMod val="50000"/>
                </a:schemeClr>
              </a:solidFill>
              <a:latin typeface="+mj-lt"/>
            </a:endParaRPr>
          </a:p>
        </p:txBody>
      </p:sp>
      <p:sp>
        <p:nvSpPr>
          <p:cNvPr id="11" name="Rectangle 29"/>
          <p:cNvSpPr txBox="1">
            <a:spLocks noChangeArrowheads="1"/>
          </p:cNvSpPr>
          <p:nvPr/>
        </p:nvSpPr>
        <p:spPr bwMode="gray">
          <a:xfrm>
            <a:off x="251520" y="596938"/>
            <a:ext cx="6984776" cy="455798"/>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lang="es-ES_tradnl" sz="1600" b="1" dirty="0">
                <a:solidFill>
                  <a:srgbClr val="4D4D4D"/>
                </a:solidFill>
                <a:latin typeface="+mj-lt"/>
                <a:sym typeface="Wingdings" pitchFamily="2" charset="2"/>
              </a:rPr>
              <a:t>Análisis de Riesgos: Suscripción Vehicular</a:t>
            </a:r>
            <a:endParaRPr kumimoji="0" lang="es-ES_tradnl" sz="1800" b="1" i="0" u="none" strike="noStrike" kern="0" cap="none" spc="0" normalizeH="0" baseline="0" noProof="0" dirty="0">
              <a:ln>
                <a:noFill/>
              </a:ln>
              <a:solidFill>
                <a:schemeClr val="hlink"/>
              </a:solidFill>
              <a:effectLst/>
              <a:uLnTx/>
              <a:uFillTx/>
              <a:latin typeface="+mj-lt"/>
              <a:ea typeface="+mj-ea"/>
              <a:cs typeface="+mj-cs"/>
            </a:endParaRPr>
          </a:p>
        </p:txBody>
      </p:sp>
      <p:sp>
        <p:nvSpPr>
          <p:cNvPr id="22" name="AutoShape 179"/>
          <p:cNvSpPr>
            <a:spLocks noChangeArrowheads="1"/>
          </p:cNvSpPr>
          <p:nvPr/>
        </p:nvSpPr>
        <p:spPr bwMode="auto">
          <a:xfrm>
            <a:off x="4747080" y="3954309"/>
            <a:ext cx="4114800" cy="2150121"/>
          </a:xfrm>
          <a:prstGeom prst="roundRect">
            <a:avLst>
              <a:gd name="adj" fmla="val 9481"/>
            </a:avLst>
          </a:prstGeom>
          <a:solidFill>
            <a:schemeClr val="accent1">
              <a:lumMod val="20000"/>
              <a:lumOff val="80000"/>
              <a:alpha val="80000"/>
            </a:schemeClr>
          </a:solidFill>
          <a:ln w="9525" algn="ctr">
            <a:noFill/>
            <a:round/>
            <a:headEnd/>
            <a:tailEnd/>
          </a:ln>
          <a:effectLst/>
        </p:spPr>
        <p:txBody>
          <a:bodyPr wrap="square" lIns="91440" rIns="91440" anchor="ctr"/>
          <a:lstStyle/>
          <a:p>
            <a:pPr algn="just"/>
            <a:r>
              <a:rPr lang="es-ES" sz="1100" dirty="0"/>
              <a:t>El 61.1% de los riesgos de Suscripción Vehicularse concentran en el Subproceso de Inspección Técnica, seguido los Subprocesos de Evaluación de Solicitudes de Cotización y Cotizaciones Fuera de Políticas con 22.2% y 16.7% respectivamente.</a:t>
            </a:r>
          </a:p>
          <a:p>
            <a:pPr algn="just">
              <a:lnSpc>
                <a:spcPts val="900"/>
              </a:lnSpc>
            </a:pPr>
            <a:endParaRPr lang="es-ES" sz="1100" dirty="0"/>
          </a:p>
          <a:p>
            <a:pPr algn="just"/>
            <a:r>
              <a:rPr lang="es-ES" sz="1100" dirty="0"/>
              <a:t>La categoría de riesgo Distribuidores y Proveedores acumula el 33.3% de los riesgos, seguido Recepción, Ejecución y Mantenimiento con un 27.8% de los riesgos.</a:t>
            </a:r>
          </a:p>
          <a:p>
            <a:pPr algn="just">
              <a:lnSpc>
                <a:spcPts val="900"/>
              </a:lnSpc>
            </a:pPr>
            <a:endParaRPr lang="es-ES" sz="1100" dirty="0"/>
          </a:p>
          <a:p>
            <a:pPr algn="just"/>
            <a:r>
              <a:rPr lang="es-ES" sz="1100" dirty="0"/>
              <a:t>El 57.2% de los riesgos operacionales tendría como origen Personas y Relaciones con Terceros con un 28.6% cada uno, seguido de Tecnología  con un 19.0% y Procesos con un 14.3% de los riesgos.</a:t>
            </a:r>
          </a:p>
        </p:txBody>
      </p:sp>
      <p:graphicFrame>
        <p:nvGraphicFramePr>
          <p:cNvPr id="17" name="1 Gráfico"/>
          <p:cNvGraphicFramePr>
            <a:graphicFrameLocks/>
          </p:cNvGraphicFramePr>
          <p:nvPr/>
        </p:nvGraphicFramePr>
        <p:xfrm>
          <a:off x="457200" y="1507634"/>
          <a:ext cx="3657600" cy="183240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23" name="7 Gráfico"/>
          <p:cNvGraphicFramePr>
            <a:graphicFrameLocks/>
          </p:cNvGraphicFramePr>
          <p:nvPr/>
        </p:nvGraphicFramePr>
        <p:xfrm>
          <a:off x="432000" y="4104000"/>
          <a:ext cx="3657600" cy="1832400"/>
        </p:xfrm>
        <a:graphic>
          <a:graphicData uri="http://schemas.openxmlformats.org/drawingml/2006/chart">
            <c:chart xmlns:c="http://schemas.openxmlformats.org/drawingml/2006/chart" xmlns:r="http://schemas.openxmlformats.org/officeDocument/2006/relationships" r:id="rId3"/>
          </a:graphicData>
        </a:graphic>
      </p:graphicFrame>
      <p:sp>
        <p:nvSpPr>
          <p:cNvPr id="16" name="Rounded Rectangle 31">
            <a:hlinkClick r:id="rId4" action="ppaction://hlinksldjump"/>
          </p:cNvPr>
          <p:cNvSpPr/>
          <p:nvPr/>
        </p:nvSpPr>
        <p:spPr>
          <a:xfrm>
            <a:off x="1638012" y="6322807"/>
            <a:ext cx="1080000" cy="360000"/>
          </a:xfrm>
          <a:prstGeom prst="roundRect">
            <a:avLst/>
          </a:prstGeom>
          <a:solidFill>
            <a:schemeClr val="bg1">
              <a:lumMod val="65000"/>
            </a:schemeClr>
          </a:solidFill>
          <a:ln w="25400" cap="sq" cmpd="sng">
            <a:solidFill>
              <a:schemeClr val="bg1">
                <a:lumMod val="75000"/>
              </a:schemeClr>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L" sz="800" b="1" i="1" dirty="0">
                <a:solidFill>
                  <a:schemeClr val="bg1"/>
                </a:solidFill>
                <a:cs typeface="Arial" pitchFamily="34" charset="0"/>
              </a:rPr>
              <a:t>Exposición al RO y Entorno de Control</a:t>
            </a:r>
          </a:p>
        </p:txBody>
      </p:sp>
      <p:graphicFrame>
        <p:nvGraphicFramePr>
          <p:cNvPr id="18" name="8 Gráfico"/>
          <p:cNvGraphicFramePr/>
          <p:nvPr/>
        </p:nvGraphicFramePr>
        <p:xfrm>
          <a:off x="4968000" y="1507634"/>
          <a:ext cx="3657600" cy="1832400"/>
        </p:xfrm>
        <a:graphic>
          <a:graphicData uri="http://schemas.openxmlformats.org/drawingml/2006/chart">
            <c:chart xmlns:c="http://schemas.openxmlformats.org/drawingml/2006/chart" xmlns:r="http://schemas.openxmlformats.org/officeDocument/2006/relationships" r:id="rId5"/>
          </a:graphicData>
        </a:graphic>
      </p:graphicFrame>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 name="Title 1"/>
          <p:cNvSpPr>
            <a:spLocks noGrp="1"/>
          </p:cNvSpPr>
          <p:nvPr>
            <p:ph type="title"/>
          </p:nvPr>
        </p:nvSpPr>
        <p:spPr>
          <a:xfrm>
            <a:off x="47625" y="32965"/>
            <a:ext cx="8217470" cy="587723"/>
          </a:xfrm>
        </p:spPr>
        <p:txBody>
          <a:bodyPr/>
          <a:lstStyle/>
          <a:p>
            <a:r>
              <a:rPr lang="es-ES" dirty="0"/>
              <a:t>Anexo: Planes de Acción</a:t>
            </a:r>
          </a:p>
        </p:txBody>
      </p:sp>
      <p:sp>
        <p:nvSpPr>
          <p:cNvPr id="52" name="Rounded Rectangle 31">
            <a:hlinkClick r:id="rId2" action="ppaction://hlinksldjump"/>
          </p:cNvPr>
          <p:cNvSpPr/>
          <p:nvPr/>
        </p:nvSpPr>
        <p:spPr>
          <a:xfrm>
            <a:off x="1638012" y="6322807"/>
            <a:ext cx="1080000" cy="360000"/>
          </a:xfrm>
          <a:prstGeom prst="roundRect">
            <a:avLst/>
          </a:prstGeom>
          <a:solidFill>
            <a:schemeClr val="bg1">
              <a:lumMod val="65000"/>
            </a:schemeClr>
          </a:solidFill>
          <a:ln w="25400" cap="sq" cmpd="sng">
            <a:solidFill>
              <a:schemeClr val="bg1">
                <a:lumMod val="75000"/>
              </a:schemeClr>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L" sz="800" b="1" i="1" dirty="0">
                <a:solidFill>
                  <a:schemeClr val="bg1"/>
                </a:solidFill>
                <a:cs typeface="Arial" pitchFamily="34" charset="0"/>
              </a:rPr>
              <a:t>Planes de Mitigación</a:t>
            </a:r>
          </a:p>
        </p:txBody>
      </p:sp>
      <p:sp>
        <p:nvSpPr>
          <p:cNvPr id="30" name="Rounded Rectangle 5"/>
          <p:cNvSpPr/>
          <p:nvPr/>
        </p:nvSpPr>
        <p:spPr>
          <a:xfrm>
            <a:off x="694140" y="764704"/>
            <a:ext cx="3949868" cy="396000"/>
          </a:xfrm>
          <a:prstGeom prst="roundRect">
            <a:avLst/>
          </a:prstGeom>
          <a:solidFill>
            <a:srgbClr val="DB0613"/>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lnSpc>
                <a:spcPct val="80000"/>
              </a:lnSpc>
            </a:pPr>
            <a:r>
              <a:rPr lang="es-CL" sz="1400" b="1" dirty="0">
                <a:solidFill>
                  <a:schemeClr val="lt1"/>
                </a:solidFill>
              </a:rPr>
              <a:t>Plan de Acción/ Propuesta</a:t>
            </a:r>
          </a:p>
        </p:txBody>
      </p:sp>
      <p:sp>
        <p:nvSpPr>
          <p:cNvPr id="37" name="Rounded Rectangle 6"/>
          <p:cNvSpPr/>
          <p:nvPr/>
        </p:nvSpPr>
        <p:spPr>
          <a:xfrm>
            <a:off x="694140" y="1333276"/>
            <a:ext cx="3949868" cy="1015604"/>
          </a:xfrm>
          <a:prstGeom prst="roundRect">
            <a:avLst/>
          </a:prstGeom>
          <a:noFill/>
          <a:ln w="127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lnSpc>
                <a:spcPct val="80000"/>
              </a:lnSpc>
            </a:pPr>
            <a:r>
              <a:rPr lang="es-PE" sz="1400" dirty="0">
                <a:solidFill>
                  <a:schemeClr val="bg1">
                    <a:lumMod val="50000"/>
                  </a:schemeClr>
                </a:solidFill>
              </a:rPr>
              <a:t>Proveer al área de Inversiones de una mejor calidad en su sistema de telecomunicaciones.</a:t>
            </a:r>
            <a:endParaRPr lang="es-CL" sz="1400" dirty="0">
              <a:solidFill>
                <a:schemeClr val="bg1">
                  <a:lumMod val="50000"/>
                </a:schemeClr>
              </a:solidFill>
            </a:endParaRPr>
          </a:p>
        </p:txBody>
      </p:sp>
      <p:sp>
        <p:nvSpPr>
          <p:cNvPr id="38" name="Rounded Rectangle 7"/>
          <p:cNvSpPr/>
          <p:nvPr/>
        </p:nvSpPr>
        <p:spPr>
          <a:xfrm>
            <a:off x="190085" y="1333276"/>
            <a:ext cx="432000" cy="1015604"/>
          </a:xfrm>
          <a:prstGeom prst="roundRect">
            <a:avLst/>
          </a:prstGeom>
          <a:solidFill>
            <a:srgbClr val="969696"/>
          </a:solidFill>
          <a:ln w="9525" algn="ctr">
            <a:noFill/>
            <a:miter lim="800000"/>
            <a:headEnd/>
            <a:tailEnd/>
          </a:ln>
          <a:effectLst/>
        </p:spPr>
        <p:txBody>
          <a:bodyPr anchor="ctr"/>
          <a:lstStyle/>
          <a:p>
            <a:pPr algn="ctr">
              <a:lnSpc>
                <a:spcPct val="80000"/>
              </a:lnSpc>
            </a:pPr>
            <a:r>
              <a:rPr lang="es-CL" sz="1400" b="1" dirty="0">
                <a:solidFill>
                  <a:schemeClr val="bg1"/>
                </a:solidFill>
                <a:latin typeface="+mj-lt"/>
                <a:cs typeface="Arial" pitchFamily="34" charset="0"/>
              </a:rPr>
              <a:t>1</a:t>
            </a:r>
          </a:p>
        </p:txBody>
      </p:sp>
      <p:sp>
        <p:nvSpPr>
          <p:cNvPr id="39" name="Rounded Rectangle 10"/>
          <p:cNvSpPr/>
          <p:nvPr/>
        </p:nvSpPr>
        <p:spPr>
          <a:xfrm>
            <a:off x="4860180" y="764704"/>
            <a:ext cx="3959714" cy="396000"/>
          </a:xfrm>
          <a:prstGeom prst="roundRect">
            <a:avLst/>
          </a:prstGeom>
          <a:solidFill>
            <a:srgbClr val="DB061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80000"/>
              </a:lnSpc>
            </a:pPr>
            <a:r>
              <a:rPr lang="es-CL" sz="1400" b="1" dirty="0">
                <a:solidFill>
                  <a:schemeClr val="lt1"/>
                </a:solidFill>
              </a:rPr>
              <a:t>Riesgos Mitigados</a:t>
            </a:r>
          </a:p>
        </p:txBody>
      </p:sp>
      <p:sp>
        <p:nvSpPr>
          <p:cNvPr id="41" name="Rounded Rectangle 6"/>
          <p:cNvSpPr/>
          <p:nvPr/>
        </p:nvSpPr>
        <p:spPr>
          <a:xfrm>
            <a:off x="4870604" y="1340768"/>
            <a:ext cx="3949868" cy="1015604"/>
          </a:xfrm>
          <a:prstGeom prst="roundRect">
            <a:avLst/>
          </a:prstGeom>
          <a:noFill/>
          <a:ln w="127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lnSpc>
                <a:spcPct val="80000"/>
              </a:lnSpc>
            </a:pPr>
            <a:r>
              <a:rPr lang="es-PE" sz="1400" dirty="0">
                <a:solidFill>
                  <a:schemeClr val="bg1">
                    <a:lumMod val="50000"/>
                  </a:schemeClr>
                </a:solidFill>
              </a:rPr>
              <a:t>1. Falla en las telecomunicaciones que impiden contratación de ope. por Bloomberg y Datatec. </a:t>
            </a:r>
          </a:p>
          <a:p>
            <a:pPr algn="just">
              <a:lnSpc>
                <a:spcPct val="80000"/>
              </a:lnSpc>
            </a:pPr>
            <a:r>
              <a:rPr lang="es-CL" sz="1400" dirty="0">
                <a:solidFill>
                  <a:schemeClr val="bg1">
                    <a:lumMod val="50000"/>
                  </a:schemeClr>
                </a:solidFill>
              </a:rPr>
              <a:t>2. Falla en las </a:t>
            </a:r>
            <a:r>
              <a:rPr lang="es-PE" sz="1400" dirty="0">
                <a:solidFill>
                  <a:schemeClr val="bg1">
                    <a:lumMod val="50000"/>
                  </a:schemeClr>
                </a:solidFill>
              </a:rPr>
              <a:t>telecomunicaciones que impiden contratación de ope. sin posibilidad de conexión telefónica.</a:t>
            </a:r>
            <a:endParaRPr lang="es-CL" sz="1400" dirty="0">
              <a:solidFill>
                <a:schemeClr val="bg1">
                  <a:lumMod val="50000"/>
                </a:schemeClr>
              </a:solidFill>
            </a:endParaRPr>
          </a:p>
        </p:txBody>
      </p:sp>
      <p:sp>
        <p:nvSpPr>
          <p:cNvPr id="42" name="Rounded Rectangle 6"/>
          <p:cNvSpPr/>
          <p:nvPr/>
        </p:nvSpPr>
        <p:spPr>
          <a:xfrm>
            <a:off x="683567" y="2492896"/>
            <a:ext cx="3949868" cy="1015604"/>
          </a:xfrm>
          <a:prstGeom prst="roundRect">
            <a:avLst/>
          </a:prstGeom>
          <a:noFill/>
          <a:ln w="127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80000"/>
              </a:lnSpc>
            </a:pPr>
            <a:r>
              <a:rPr lang="es-ES" sz="1400" dirty="0">
                <a:solidFill>
                  <a:schemeClr val="bg1">
                    <a:lumMod val="50000"/>
                  </a:schemeClr>
                </a:solidFill>
              </a:rPr>
              <a:t>Analizar la viabilidad de automatizar carta para la SBS en casos de forward de cobertura.</a:t>
            </a:r>
            <a:endParaRPr lang="es-CL" sz="1400" dirty="0">
              <a:solidFill>
                <a:schemeClr val="bg1">
                  <a:lumMod val="50000"/>
                </a:schemeClr>
              </a:solidFill>
            </a:endParaRPr>
          </a:p>
        </p:txBody>
      </p:sp>
      <p:sp>
        <p:nvSpPr>
          <p:cNvPr id="43" name="Rounded Rectangle 7"/>
          <p:cNvSpPr/>
          <p:nvPr/>
        </p:nvSpPr>
        <p:spPr>
          <a:xfrm>
            <a:off x="179512" y="2492896"/>
            <a:ext cx="432000" cy="1015604"/>
          </a:xfrm>
          <a:prstGeom prst="roundRect">
            <a:avLst/>
          </a:prstGeom>
          <a:solidFill>
            <a:srgbClr val="969696"/>
          </a:solidFill>
          <a:ln w="9525" algn="ctr">
            <a:noFill/>
            <a:miter lim="800000"/>
            <a:headEnd/>
            <a:tailEnd/>
          </a:ln>
          <a:effectLst/>
        </p:spPr>
        <p:txBody>
          <a:bodyPr anchor="ctr"/>
          <a:lstStyle/>
          <a:p>
            <a:pPr algn="ctr">
              <a:lnSpc>
                <a:spcPct val="80000"/>
              </a:lnSpc>
            </a:pPr>
            <a:r>
              <a:rPr lang="es-CL" sz="1400" b="1" dirty="0">
                <a:solidFill>
                  <a:schemeClr val="bg1"/>
                </a:solidFill>
                <a:latin typeface="+mj-lt"/>
                <a:cs typeface="Arial" pitchFamily="34" charset="0"/>
              </a:rPr>
              <a:t>2</a:t>
            </a:r>
          </a:p>
        </p:txBody>
      </p:sp>
      <p:sp>
        <p:nvSpPr>
          <p:cNvPr id="45" name="Rounded Rectangle 6"/>
          <p:cNvSpPr/>
          <p:nvPr/>
        </p:nvSpPr>
        <p:spPr>
          <a:xfrm>
            <a:off x="4860031" y="2500388"/>
            <a:ext cx="3949868" cy="1015604"/>
          </a:xfrm>
          <a:prstGeom prst="roundRect">
            <a:avLst/>
          </a:prstGeom>
          <a:noFill/>
          <a:ln w="127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lnSpc>
                <a:spcPct val="80000"/>
              </a:lnSpc>
            </a:pPr>
            <a:r>
              <a:rPr lang="es-ES" sz="1400" dirty="0">
                <a:solidFill>
                  <a:schemeClr val="bg1">
                    <a:lumMod val="50000"/>
                  </a:schemeClr>
                </a:solidFill>
              </a:rPr>
              <a:t>Multa debido a incumplimiento o retraso de reportes o cartas a la SBS.</a:t>
            </a:r>
            <a:endParaRPr lang="es-CL" sz="1400" dirty="0">
              <a:solidFill>
                <a:schemeClr val="bg1">
                  <a:lumMod val="50000"/>
                </a:schemeClr>
              </a:solidFill>
            </a:endParaRPr>
          </a:p>
        </p:txBody>
      </p:sp>
      <p:sp>
        <p:nvSpPr>
          <p:cNvPr id="46" name="Rounded Rectangle 6"/>
          <p:cNvSpPr/>
          <p:nvPr/>
        </p:nvSpPr>
        <p:spPr>
          <a:xfrm>
            <a:off x="683567" y="3645024"/>
            <a:ext cx="3949868" cy="1015604"/>
          </a:xfrm>
          <a:prstGeom prst="roundRect">
            <a:avLst/>
          </a:prstGeom>
          <a:noFill/>
          <a:ln w="127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80000"/>
              </a:lnSpc>
            </a:pPr>
            <a:r>
              <a:rPr lang="es-ES" sz="1400" dirty="0">
                <a:solidFill>
                  <a:schemeClr val="bg1">
                    <a:lumMod val="50000"/>
                  </a:schemeClr>
                </a:solidFill>
              </a:rPr>
              <a:t>Revisión de procesos internos para segregación de funciones.</a:t>
            </a:r>
            <a:endParaRPr lang="es-CL" sz="1400" dirty="0">
              <a:solidFill>
                <a:schemeClr val="bg1">
                  <a:lumMod val="50000"/>
                </a:schemeClr>
              </a:solidFill>
            </a:endParaRPr>
          </a:p>
        </p:txBody>
      </p:sp>
      <p:sp>
        <p:nvSpPr>
          <p:cNvPr id="47" name="Rounded Rectangle 7"/>
          <p:cNvSpPr/>
          <p:nvPr/>
        </p:nvSpPr>
        <p:spPr>
          <a:xfrm>
            <a:off x="179512" y="3645024"/>
            <a:ext cx="432000" cy="1015604"/>
          </a:xfrm>
          <a:prstGeom prst="roundRect">
            <a:avLst/>
          </a:prstGeom>
          <a:solidFill>
            <a:srgbClr val="969696"/>
          </a:solidFill>
          <a:ln w="9525" algn="ctr">
            <a:noFill/>
            <a:miter lim="800000"/>
            <a:headEnd/>
            <a:tailEnd/>
          </a:ln>
          <a:effectLst/>
        </p:spPr>
        <p:txBody>
          <a:bodyPr anchor="ctr"/>
          <a:lstStyle/>
          <a:p>
            <a:pPr algn="ctr">
              <a:lnSpc>
                <a:spcPct val="80000"/>
              </a:lnSpc>
            </a:pPr>
            <a:r>
              <a:rPr lang="es-CL" sz="1400" b="1" dirty="0">
                <a:solidFill>
                  <a:schemeClr val="bg1"/>
                </a:solidFill>
                <a:latin typeface="+mj-lt"/>
                <a:cs typeface="Arial" pitchFamily="34" charset="0"/>
              </a:rPr>
              <a:t>3</a:t>
            </a:r>
          </a:p>
        </p:txBody>
      </p:sp>
      <p:sp>
        <p:nvSpPr>
          <p:cNvPr id="49" name="Rounded Rectangle 6"/>
          <p:cNvSpPr/>
          <p:nvPr/>
        </p:nvSpPr>
        <p:spPr>
          <a:xfrm>
            <a:off x="4860031" y="3652516"/>
            <a:ext cx="3949868" cy="1015604"/>
          </a:xfrm>
          <a:prstGeom prst="roundRect">
            <a:avLst/>
          </a:prstGeom>
          <a:noFill/>
          <a:ln w="127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lnSpc>
                <a:spcPct val="80000"/>
              </a:lnSpc>
            </a:pPr>
            <a:r>
              <a:rPr lang="es-ES" sz="1400" dirty="0">
                <a:solidFill>
                  <a:schemeClr val="bg1">
                    <a:lumMod val="50000"/>
                  </a:schemeClr>
                </a:solidFill>
              </a:rPr>
              <a:t>Falla en la elaboración de cartas para traspaso de fondos e ingreso de datos en PMS.</a:t>
            </a:r>
            <a:endParaRPr lang="es-CL" sz="1400" dirty="0">
              <a:solidFill>
                <a:schemeClr val="bg1">
                  <a:lumMod val="50000"/>
                </a:schemeClr>
              </a:solidFill>
            </a:endParaRPr>
          </a:p>
        </p:txBody>
      </p:sp>
      <p:sp>
        <p:nvSpPr>
          <p:cNvPr id="50" name="Rounded Rectangle 6"/>
          <p:cNvSpPr/>
          <p:nvPr/>
        </p:nvSpPr>
        <p:spPr>
          <a:xfrm>
            <a:off x="683567" y="4854176"/>
            <a:ext cx="3949868" cy="1015604"/>
          </a:xfrm>
          <a:prstGeom prst="roundRect">
            <a:avLst/>
          </a:prstGeom>
          <a:noFill/>
          <a:ln w="127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80000"/>
              </a:lnSpc>
            </a:pPr>
            <a:r>
              <a:rPr lang="es-ES" sz="1400" dirty="0">
                <a:solidFill>
                  <a:schemeClr val="bg1">
                    <a:lumMod val="50000"/>
                  </a:schemeClr>
                </a:solidFill>
              </a:rPr>
              <a:t>Diversificar proveedores para la inspección técnica.</a:t>
            </a:r>
            <a:endParaRPr lang="es-CL" sz="1400" dirty="0">
              <a:solidFill>
                <a:schemeClr val="bg1">
                  <a:lumMod val="50000"/>
                </a:schemeClr>
              </a:solidFill>
            </a:endParaRPr>
          </a:p>
        </p:txBody>
      </p:sp>
      <p:sp>
        <p:nvSpPr>
          <p:cNvPr id="51" name="Rounded Rectangle 7"/>
          <p:cNvSpPr/>
          <p:nvPr/>
        </p:nvSpPr>
        <p:spPr>
          <a:xfrm>
            <a:off x="179512" y="4854176"/>
            <a:ext cx="432000" cy="1015604"/>
          </a:xfrm>
          <a:prstGeom prst="roundRect">
            <a:avLst/>
          </a:prstGeom>
          <a:solidFill>
            <a:srgbClr val="969696"/>
          </a:solidFill>
          <a:ln w="9525" algn="ctr">
            <a:noFill/>
            <a:miter lim="800000"/>
            <a:headEnd/>
            <a:tailEnd/>
          </a:ln>
          <a:effectLst/>
        </p:spPr>
        <p:txBody>
          <a:bodyPr anchor="ctr"/>
          <a:lstStyle/>
          <a:p>
            <a:pPr algn="ctr">
              <a:lnSpc>
                <a:spcPct val="80000"/>
              </a:lnSpc>
            </a:pPr>
            <a:r>
              <a:rPr lang="es-CL" sz="1400" b="1" dirty="0">
                <a:solidFill>
                  <a:schemeClr val="bg1"/>
                </a:solidFill>
                <a:latin typeface="+mj-lt"/>
                <a:cs typeface="Arial" pitchFamily="34" charset="0"/>
              </a:rPr>
              <a:t>4</a:t>
            </a:r>
          </a:p>
        </p:txBody>
      </p:sp>
      <p:sp>
        <p:nvSpPr>
          <p:cNvPr id="54" name="Rounded Rectangle 6"/>
          <p:cNvSpPr/>
          <p:nvPr/>
        </p:nvSpPr>
        <p:spPr>
          <a:xfrm>
            <a:off x="4860031" y="4861668"/>
            <a:ext cx="3949868" cy="1015604"/>
          </a:xfrm>
          <a:prstGeom prst="roundRect">
            <a:avLst/>
          </a:prstGeom>
          <a:noFill/>
          <a:ln w="127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lnSpc>
                <a:spcPct val="80000"/>
              </a:lnSpc>
            </a:pPr>
            <a:r>
              <a:rPr lang="es-ES" sz="1400" dirty="0">
                <a:solidFill>
                  <a:schemeClr val="bg1">
                    <a:lumMod val="50000"/>
                  </a:schemeClr>
                </a:solidFill>
              </a:rPr>
              <a:t>1. Falla de los servicios de un proveedor por incumplimiento de la normativa laboral vigente.</a:t>
            </a:r>
          </a:p>
          <a:p>
            <a:pPr algn="just">
              <a:lnSpc>
                <a:spcPct val="80000"/>
              </a:lnSpc>
            </a:pPr>
            <a:r>
              <a:rPr lang="es-ES" sz="1400" dirty="0">
                <a:solidFill>
                  <a:schemeClr val="bg1">
                    <a:lumMod val="50000"/>
                  </a:schemeClr>
                </a:solidFill>
              </a:rPr>
              <a:t>2.  Riesgo de que el proveedor no esté prestando el servicio en las condiciones contratadas</a:t>
            </a:r>
            <a:endParaRPr lang="es-CL" sz="1400" dirty="0">
              <a:solidFill>
                <a:schemeClr val="bg1">
                  <a:lumMod val="50000"/>
                </a:schemeClr>
              </a:solidFill>
            </a:endParaRPr>
          </a:p>
        </p:txBody>
      </p:sp>
    </p:spTree>
    <p:extLst>
      <p:ext uri="{BB962C8B-B14F-4D97-AF65-F5344CB8AC3E}">
        <p14:creationId xmlns:p14="http://schemas.microsoft.com/office/powerpoint/2010/main" val="2030448003"/>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 name="Title 1"/>
          <p:cNvSpPr>
            <a:spLocks noGrp="1"/>
          </p:cNvSpPr>
          <p:nvPr>
            <p:ph type="title"/>
          </p:nvPr>
        </p:nvSpPr>
        <p:spPr>
          <a:xfrm>
            <a:off x="47625" y="32965"/>
            <a:ext cx="8217470" cy="587723"/>
          </a:xfrm>
        </p:spPr>
        <p:txBody>
          <a:bodyPr/>
          <a:lstStyle/>
          <a:p>
            <a:r>
              <a:rPr lang="es-ES" dirty="0"/>
              <a:t>Anexo: Planes de Acción</a:t>
            </a:r>
          </a:p>
        </p:txBody>
      </p:sp>
      <p:sp>
        <p:nvSpPr>
          <p:cNvPr id="52" name="Rounded Rectangle 31">
            <a:hlinkClick r:id="rId2" action="ppaction://hlinksldjump"/>
          </p:cNvPr>
          <p:cNvSpPr/>
          <p:nvPr/>
        </p:nvSpPr>
        <p:spPr>
          <a:xfrm>
            <a:off x="1638012" y="6322807"/>
            <a:ext cx="1080000" cy="360000"/>
          </a:xfrm>
          <a:prstGeom prst="roundRect">
            <a:avLst/>
          </a:prstGeom>
          <a:solidFill>
            <a:schemeClr val="bg1">
              <a:lumMod val="65000"/>
            </a:schemeClr>
          </a:solidFill>
          <a:ln w="25400" cap="sq" cmpd="sng">
            <a:solidFill>
              <a:schemeClr val="bg1">
                <a:lumMod val="75000"/>
              </a:schemeClr>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L" sz="800" b="1" i="1" dirty="0">
                <a:solidFill>
                  <a:schemeClr val="bg1"/>
                </a:solidFill>
                <a:cs typeface="Arial" pitchFamily="34" charset="0"/>
              </a:rPr>
              <a:t>Planes de Mitigación</a:t>
            </a:r>
          </a:p>
        </p:txBody>
      </p:sp>
      <p:sp>
        <p:nvSpPr>
          <p:cNvPr id="10" name="Rounded Rectangle 5"/>
          <p:cNvSpPr/>
          <p:nvPr/>
        </p:nvSpPr>
        <p:spPr>
          <a:xfrm>
            <a:off x="694140" y="764704"/>
            <a:ext cx="3949868" cy="396000"/>
          </a:xfrm>
          <a:prstGeom prst="roundRect">
            <a:avLst/>
          </a:prstGeom>
          <a:solidFill>
            <a:srgbClr val="DB0613"/>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lnSpc>
                <a:spcPct val="80000"/>
              </a:lnSpc>
            </a:pPr>
            <a:r>
              <a:rPr lang="es-CL" sz="1400" b="1" dirty="0">
                <a:solidFill>
                  <a:schemeClr val="lt1"/>
                </a:solidFill>
              </a:rPr>
              <a:t>Plan de Acción/ Propuesta</a:t>
            </a:r>
          </a:p>
        </p:txBody>
      </p:sp>
      <p:sp>
        <p:nvSpPr>
          <p:cNvPr id="11" name="Rounded Rectangle 6"/>
          <p:cNvSpPr/>
          <p:nvPr/>
        </p:nvSpPr>
        <p:spPr>
          <a:xfrm>
            <a:off x="694140" y="1333276"/>
            <a:ext cx="3949868" cy="1015604"/>
          </a:xfrm>
          <a:prstGeom prst="roundRect">
            <a:avLst/>
          </a:prstGeom>
          <a:noFill/>
          <a:ln w="127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lnSpc>
                <a:spcPct val="80000"/>
              </a:lnSpc>
            </a:pPr>
            <a:r>
              <a:rPr lang="es-PE" sz="1400" dirty="0">
                <a:solidFill>
                  <a:schemeClr val="bg1">
                    <a:lumMod val="50000"/>
                  </a:schemeClr>
                </a:solidFill>
              </a:rPr>
              <a:t>Exigir sustento a los planes de continuidad requeridos en el contrato firmado con el proveedor.</a:t>
            </a:r>
            <a:endParaRPr lang="es-CL" sz="1400" dirty="0">
              <a:solidFill>
                <a:schemeClr val="bg1">
                  <a:lumMod val="50000"/>
                </a:schemeClr>
              </a:solidFill>
            </a:endParaRPr>
          </a:p>
        </p:txBody>
      </p:sp>
      <p:sp>
        <p:nvSpPr>
          <p:cNvPr id="12" name="Rounded Rectangle 7"/>
          <p:cNvSpPr/>
          <p:nvPr/>
        </p:nvSpPr>
        <p:spPr>
          <a:xfrm>
            <a:off x="190085" y="1333276"/>
            <a:ext cx="432000" cy="1015604"/>
          </a:xfrm>
          <a:prstGeom prst="roundRect">
            <a:avLst/>
          </a:prstGeom>
          <a:solidFill>
            <a:srgbClr val="969696"/>
          </a:solidFill>
          <a:ln w="9525" algn="ctr">
            <a:noFill/>
            <a:miter lim="800000"/>
            <a:headEnd/>
            <a:tailEnd/>
          </a:ln>
          <a:effectLst/>
        </p:spPr>
        <p:txBody>
          <a:bodyPr anchor="ctr"/>
          <a:lstStyle/>
          <a:p>
            <a:pPr algn="ctr">
              <a:lnSpc>
                <a:spcPct val="80000"/>
              </a:lnSpc>
            </a:pPr>
            <a:r>
              <a:rPr lang="es-CL" sz="1400" b="1" dirty="0">
                <a:solidFill>
                  <a:schemeClr val="bg1"/>
                </a:solidFill>
                <a:latin typeface="+mj-lt"/>
                <a:cs typeface="Arial" pitchFamily="34" charset="0"/>
              </a:rPr>
              <a:t>5</a:t>
            </a:r>
          </a:p>
        </p:txBody>
      </p:sp>
      <p:sp>
        <p:nvSpPr>
          <p:cNvPr id="13" name="Rounded Rectangle 10"/>
          <p:cNvSpPr/>
          <p:nvPr/>
        </p:nvSpPr>
        <p:spPr>
          <a:xfrm>
            <a:off x="4860180" y="764704"/>
            <a:ext cx="3959714" cy="396000"/>
          </a:xfrm>
          <a:prstGeom prst="roundRect">
            <a:avLst/>
          </a:prstGeom>
          <a:solidFill>
            <a:srgbClr val="DB061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80000"/>
              </a:lnSpc>
            </a:pPr>
            <a:r>
              <a:rPr lang="es-CL" sz="1400" b="1" dirty="0">
                <a:solidFill>
                  <a:schemeClr val="lt1"/>
                </a:solidFill>
              </a:rPr>
              <a:t>Riesgos Mitigados</a:t>
            </a:r>
          </a:p>
        </p:txBody>
      </p:sp>
      <p:sp>
        <p:nvSpPr>
          <p:cNvPr id="15" name="Rounded Rectangle 6"/>
          <p:cNvSpPr/>
          <p:nvPr/>
        </p:nvSpPr>
        <p:spPr>
          <a:xfrm>
            <a:off x="4870604" y="1340768"/>
            <a:ext cx="3949868" cy="1015604"/>
          </a:xfrm>
          <a:prstGeom prst="roundRect">
            <a:avLst/>
          </a:prstGeom>
          <a:noFill/>
          <a:ln w="127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lnSpc>
                <a:spcPct val="80000"/>
              </a:lnSpc>
            </a:pPr>
            <a:r>
              <a:rPr lang="es-ES" sz="1400" dirty="0">
                <a:solidFill>
                  <a:schemeClr val="bg1">
                    <a:lumMod val="50000"/>
                  </a:schemeClr>
                </a:solidFill>
              </a:rPr>
              <a:t>Incumplimiento de los servicios de un proveedor por huelga (CGS).</a:t>
            </a:r>
            <a:endParaRPr lang="es-CL" sz="1400" dirty="0">
              <a:solidFill>
                <a:schemeClr val="bg1">
                  <a:lumMod val="50000"/>
                </a:schemeClr>
              </a:solidFill>
            </a:endParaRPr>
          </a:p>
        </p:txBody>
      </p:sp>
      <p:sp>
        <p:nvSpPr>
          <p:cNvPr id="16" name="Rounded Rectangle 6"/>
          <p:cNvSpPr/>
          <p:nvPr/>
        </p:nvSpPr>
        <p:spPr>
          <a:xfrm>
            <a:off x="683567" y="2492896"/>
            <a:ext cx="3949868" cy="1015604"/>
          </a:xfrm>
          <a:prstGeom prst="roundRect">
            <a:avLst/>
          </a:prstGeom>
          <a:noFill/>
          <a:ln w="127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80000"/>
              </a:lnSpc>
            </a:pPr>
            <a:r>
              <a:rPr lang="es-ES" sz="1400" dirty="0">
                <a:solidFill>
                  <a:schemeClr val="bg1">
                    <a:lumMod val="50000"/>
                  </a:schemeClr>
                </a:solidFill>
              </a:rPr>
              <a:t>Fortalecer el equipo de control en formalización, apoyándose en una herramienta de seguimiento, para mitigar el riesgo de fraude.</a:t>
            </a:r>
            <a:endParaRPr lang="es-CL" sz="1400" dirty="0">
              <a:solidFill>
                <a:schemeClr val="bg1">
                  <a:lumMod val="50000"/>
                </a:schemeClr>
              </a:solidFill>
            </a:endParaRPr>
          </a:p>
        </p:txBody>
      </p:sp>
      <p:sp>
        <p:nvSpPr>
          <p:cNvPr id="17" name="Rounded Rectangle 7"/>
          <p:cNvSpPr/>
          <p:nvPr/>
        </p:nvSpPr>
        <p:spPr>
          <a:xfrm>
            <a:off x="179512" y="2492896"/>
            <a:ext cx="432000" cy="1015604"/>
          </a:xfrm>
          <a:prstGeom prst="roundRect">
            <a:avLst/>
          </a:prstGeom>
          <a:solidFill>
            <a:srgbClr val="969696"/>
          </a:solidFill>
          <a:ln w="9525" algn="ctr">
            <a:noFill/>
            <a:miter lim="800000"/>
            <a:headEnd/>
            <a:tailEnd/>
          </a:ln>
          <a:effectLst/>
        </p:spPr>
        <p:txBody>
          <a:bodyPr anchor="ctr"/>
          <a:lstStyle/>
          <a:p>
            <a:pPr algn="ctr">
              <a:lnSpc>
                <a:spcPct val="80000"/>
              </a:lnSpc>
            </a:pPr>
            <a:r>
              <a:rPr lang="es-CL" sz="1400" b="1" dirty="0">
                <a:solidFill>
                  <a:schemeClr val="bg1"/>
                </a:solidFill>
                <a:latin typeface="+mj-lt"/>
                <a:cs typeface="Arial" pitchFamily="34" charset="0"/>
              </a:rPr>
              <a:t>6</a:t>
            </a:r>
          </a:p>
        </p:txBody>
      </p:sp>
      <p:sp>
        <p:nvSpPr>
          <p:cNvPr id="19" name="Rounded Rectangle 6"/>
          <p:cNvSpPr/>
          <p:nvPr/>
        </p:nvSpPr>
        <p:spPr>
          <a:xfrm>
            <a:off x="4860031" y="2500388"/>
            <a:ext cx="3949868" cy="1015604"/>
          </a:xfrm>
          <a:prstGeom prst="roundRect">
            <a:avLst/>
          </a:prstGeom>
          <a:noFill/>
          <a:ln w="127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lnSpc>
                <a:spcPct val="80000"/>
              </a:lnSpc>
            </a:pPr>
            <a:r>
              <a:rPr lang="es-ES" sz="1400" dirty="0">
                <a:solidFill>
                  <a:schemeClr val="bg1">
                    <a:lumMod val="50000"/>
                  </a:schemeClr>
                </a:solidFill>
              </a:rPr>
              <a:t>Fraude por declaración falsa del estado del vehículo</a:t>
            </a:r>
            <a:endParaRPr lang="es-CL" sz="1400" dirty="0">
              <a:solidFill>
                <a:schemeClr val="bg1">
                  <a:lumMod val="50000"/>
                </a:schemeClr>
              </a:solidFill>
            </a:endParaRPr>
          </a:p>
        </p:txBody>
      </p:sp>
      <p:sp>
        <p:nvSpPr>
          <p:cNvPr id="20" name="Rounded Rectangle 6"/>
          <p:cNvSpPr/>
          <p:nvPr/>
        </p:nvSpPr>
        <p:spPr>
          <a:xfrm>
            <a:off x="683567" y="3645024"/>
            <a:ext cx="3949868" cy="1015604"/>
          </a:xfrm>
          <a:prstGeom prst="roundRect">
            <a:avLst/>
          </a:prstGeom>
          <a:noFill/>
          <a:ln w="127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80000"/>
              </a:lnSpc>
            </a:pPr>
            <a:r>
              <a:rPr lang="es-ES" sz="1400" dirty="0">
                <a:solidFill>
                  <a:schemeClr val="bg1">
                    <a:lumMod val="50000"/>
                  </a:schemeClr>
                </a:solidFill>
              </a:rPr>
              <a:t>Cargar base de datos de SUNARP a la plantilla de solicitud del seguro.</a:t>
            </a:r>
            <a:endParaRPr lang="es-CL" sz="1400" dirty="0">
              <a:solidFill>
                <a:schemeClr val="bg1">
                  <a:lumMod val="50000"/>
                </a:schemeClr>
              </a:solidFill>
            </a:endParaRPr>
          </a:p>
        </p:txBody>
      </p:sp>
      <p:sp>
        <p:nvSpPr>
          <p:cNvPr id="21" name="Rounded Rectangle 7"/>
          <p:cNvSpPr/>
          <p:nvPr/>
        </p:nvSpPr>
        <p:spPr>
          <a:xfrm>
            <a:off x="179512" y="3645024"/>
            <a:ext cx="432000" cy="1015604"/>
          </a:xfrm>
          <a:prstGeom prst="roundRect">
            <a:avLst/>
          </a:prstGeom>
          <a:solidFill>
            <a:srgbClr val="969696"/>
          </a:solidFill>
          <a:ln w="9525" algn="ctr">
            <a:noFill/>
            <a:miter lim="800000"/>
            <a:headEnd/>
            <a:tailEnd/>
          </a:ln>
          <a:effectLst/>
        </p:spPr>
        <p:txBody>
          <a:bodyPr anchor="ctr"/>
          <a:lstStyle/>
          <a:p>
            <a:pPr algn="ctr">
              <a:lnSpc>
                <a:spcPct val="80000"/>
              </a:lnSpc>
            </a:pPr>
            <a:r>
              <a:rPr lang="es-CL" sz="1400" b="1" dirty="0">
                <a:solidFill>
                  <a:schemeClr val="bg1"/>
                </a:solidFill>
                <a:latin typeface="+mj-lt"/>
                <a:cs typeface="Arial" pitchFamily="34" charset="0"/>
              </a:rPr>
              <a:t>7</a:t>
            </a:r>
          </a:p>
        </p:txBody>
      </p:sp>
      <p:sp>
        <p:nvSpPr>
          <p:cNvPr id="23" name="Rounded Rectangle 6"/>
          <p:cNvSpPr/>
          <p:nvPr/>
        </p:nvSpPr>
        <p:spPr>
          <a:xfrm>
            <a:off x="4860031" y="3652516"/>
            <a:ext cx="3949868" cy="1015604"/>
          </a:xfrm>
          <a:prstGeom prst="roundRect">
            <a:avLst/>
          </a:prstGeom>
          <a:noFill/>
          <a:ln w="127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lnSpc>
                <a:spcPct val="80000"/>
              </a:lnSpc>
            </a:pPr>
            <a:r>
              <a:rPr lang="es-ES" sz="1400" dirty="0">
                <a:solidFill>
                  <a:schemeClr val="bg1">
                    <a:lumMod val="50000"/>
                  </a:schemeClr>
                </a:solidFill>
              </a:rPr>
              <a:t>Captura errónea de los datos de inspección por parte del inspector al momento de adjuntarlo al trámite. </a:t>
            </a:r>
          </a:p>
        </p:txBody>
      </p:sp>
    </p:spTree>
    <p:extLst>
      <p:ext uri="{BB962C8B-B14F-4D97-AF65-F5344CB8AC3E}">
        <p14:creationId xmlns:p14="http://schemas.microsoft.com/office/powerpoint/2010/main" val="2030448003"/>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457200" indent="-457200"/>
            <a:r>
              <a:rPr lang="es-ES" dirty="0"/>
              <a:t>Anexo: Planes de Mejora</a:t>
            </a:r>
          </a:p>
        </p:txBody>
      </p:sp>
      <p:sp>
        <p:nvSpPr>
          <p:cNvPr id="35" name="Rounded Rectangle 7"/>
          <p:cNvSpPr/>
          <p:nvPr/>
        </p:nvSpPr>
        <p:spPr>
          <a:xfrm>
            <a:off x="1296000" y="1599007"/>
            <a:ext cx="432000" cy="651600"/>
          </a:xfrm>
          <a:prstGeom prst="roundRect">
            <a:avLst/>
          </a:prstGeom>
          <a:solidFill>
            <a:srgbClr val="969696"/>
          </a:solidFill>
          <a:ln w="9525" algn="ctr">
            <a:noFill/>
            <a:miter lim="800000"/>
            <a:headEnd/>
            <a:tailEnd/>
          </a:ln>
          <a:effectLst/>
        </p:spPr>
        <p:txBody>
          <a:bodyPr anchor="ctr"/>
          <a:lstStyle/>
          <a:p>
            <a:pPr algn="ctr">
              <a:lnSpc>
                <a:spcPct val="80000"/>
              </a:lnSpc>
            </a:pPr>
            <a:r>
              <a:rPr lang="es-CL" sz="1400" b="1" dirty="0">
                <a:solidFill>
                  <a:schemeClr val="bg1"/>
                </a:solidFill>
                <a:latin typeface="+mj-lt"/>
                <a:cs typeface="Arial" pitchFamily="34" charset="0"/>
              </a:rPr>
              <a:t>1</a:t>
            </a:r>
          </a:p>
        </p:txBody>
      </p:sp>
      <p:sp>
        <p:nvSpPr>
          <p:cNvPr id="36" name="Rounded Rectangle 8"/>
          <p:cNvSpPr/>
          <p:nvPr/>
        </p:nvSpPr>
        <p:spPr>
          <a:xfrm>
            <a:off x="1908220" y="1130197"/>
            <a:ext cx="4607996" cy="432048"/>
          </a:xfrm>
          <a:prstGeom prst="roundRect">
            <a:avLst/>
          </a:prstGeom>
          <a:solidFill>
            <a:srgbClr val="DB061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80000"/>
              </a:lnSpc>
            </a:pPr>
            <a:r>
              <a:rPr lang="es-CL" sz="1400" b="1" dirty="0">
                <a:solidFill>
                  <a:schemeClr val="lt1"/>
                </a:solidFill>
              </a:rPr>
              <a:t>Descripción</a:t>
            </a:r>
          </a:p>
        </p:txBody>
      </p:sp>
      <p:sp>
        <p:nvSpPr>
          <p:cNvPr id="37" name="Rounded Rectangle 9"/>
          <p:cNvSpPr/>
          <p:nvPr/>
        </p:nvSpPr>
        <p:spPr>
          <a:xfrm>
            <a:off x="1908220" y="1599007"/>
            <a:ext cx="4607996" cy="651600"/>
          </a:xfrm>
          <a:prstGeom prst="roundRect">
            <a:avLst/>
          </a:prstGeom>
          <a:noFill/>
          <a:ln w="127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ES" sz="1400" dirty="0">
                <a:solidFill>
                  <a:schemeClr val="bg1">
                    <a:lumMod val="50000"/>
                  </a:schemeClr>
                </a:solidFill>
              </a:rPr>
              <a:t>Implantación en la gestión de riesgo operacional el nivel III de las Mejores Prácticas adaptado a la casuística de Rimac</a:t>
            </a:r>
            <a:endParaRPr lang="es-CL" sz="1400" dirty="0">
              <a:solidFill>
                <a:schemeClr val="bg1">
                  <a:lumMod val="50000"/>
                </a:schemeClr>
              </a:solidFill>
            </a:endParaRPr>
          </a:p>
        </p:txBody>
      </p:sp>
      <p:sp>
        <p:nvSpPr>
          <p:cNvPr id="38" name="Rounded Rectangle 12"/>
          <p:cNvSpPr/>
          <p:nvPr/>
        </p:nvSpPr>
        <p:spPr>
          <a:xfrm>
            <a:off x="6690895" y="1130197"/>
            <a:ext cx="1188720" cy="432048"/>
          </a:xfrm>
          <a:prstGeom prst="roundRect">
            <a:avLst/>
          </a:prstGeom>
          <a:solidFill>
            <a:srgbClr val="DB061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80000"/>
              </a:lnSpc>
            </a:pPr>
            <a:r>
              <a:rPr lang="es-CL" sz="1400" b="1" dirty="0">
                <a:solidFill>
                  <a:schemeClr val="lt1"/>
                </a:solidFill>
              </a:rPr>
              <a:t>Unidades Involucradas</a:t>
            </a:r>
          </a:p>
        </p:txBody>
      </p:sp>
      <p:sp>
        <p:nvSpPr>
          <p:cNvPr id="39" name="Rounded Rectangle 13"/>
          <p:cNvSpPr/>
          <p:nvPr/>
        </p:nvSpPr>
        <p:spPr>
          <a:xfrm>
            <a:off x="6690895" y="1599007"/>
            <a:ext cx="1188720" cy="651600"/>
          </a:xfrm>
          <a:prstGeom prst="roundRect">
            <a:avLst/>
          </a:prstGeom>
          <a:noFill/>
          <a:ln w="127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L" sz="1400" dirty="0">
                <a:solidFill>
                  <a:schemeClr val="bg1">
                    <a:lumMod val="50000"/>
                  </a:schemeClr>
                </a:solidFill>
              </a:rPr>
              <a:t>Riesgo Operacional</a:t>
            </a:r>
          </a:p>
        </p:txBody>
      </p:sp>
      <p:sp>
        <p:nvSpPr>
          <p:cNvPr id="40" name="Rounded Rectangle 16"/>
          <p:cNvSpPr/>
          <p:nvPr/>
        </p:nvSpPr>
        <p:spPr>
          <a:xfrm>
            <a:off x="1296000" y="2492896"/>
            <a:ext cx="432000" cy="651600"/>
          </a:xfrm>
          <a:prstGeom prst="roundRect">
            <a:avLst/>
          </a:prstGeom>
          <a:solidFill>
            <a:srgbClr val="969696"/>
          </a:solidFill>
          <a:ln w="9525" algn="ctr">
            <a:noFill/>
            <a:miter lim="800000"/>
            <a:headEnd/>
            <a:tailEnd/>
          </a:ln>
          <a:effectLst/>
        </p:spPr>
        <p:txBody>
          <a:bodyPr anchor="ctr"/>
          <a:lstStyle/>
          <a:p>
            <a:pPr algn="ctr">
              <a:lnSpc>
                <a:spcPct val="80000"/>
              </a:lnSpc>
            </a:pPr>
            <a:r>
              <a:rPr lang="es-CL" sz="1400" b="1" dirty="0">
                <a:solidFill>
                  <a:schemeClr val="bg1"/>
                </a:solidFill>
                <a:latin typeface="+mj-lt"/>
                <a:cs typeface="Arial" pitchFamily="34" charset="0"/>
              </a:rPr>
              <a:t>2</a:t>
            </a:r>
          </a:p>
        </p:txBody>
      </p:sp>
      <p:sp>
        <p:nvSpPr>
          <p:cNvPr id="41" name="Rounded Rectangle 17"/>
          <p:cNvSpPr/>
          <p:nvPr/>
        </p:nvSpPr>
        <p:spPr>
          <a:xfrm>
            <a:off x="1896345" y="2492896"/>
            <a:ext cx="4607996" cy="651600"/>
          </a:xfrm>
          <a:prstGeom prst="roundRect">
            <a:avLst/>
          </a:prstGeom>
          <a:noFill/>
          <a:ln w="127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s-ES" sz="1400" dirty="0">
                <a:solidFill>
                  <a:schemeClr val="bg1">
                    <a:lumMod val="50000"/>
                  </a:schemeClr>
                </a:solidFill>
              </a:rPr>
              <a:t>Mejorar la atención al cliente informándole de las cláusulas que podrían afectarle en caso de siniestro (ejemplo: "sujeto a inspección")</a:t>
            </a:r>
            <a:endParaRPr lang="es-CL" sz="1400" dirty="0">
              <a:solidFill>
                <a:schemeClr val="bg1">
                  <a:lumMod val="50000"/>
                </a:schemeClr>
              </a:solidFill>
            </a:endParaRPr>
          </a:p>
        </p:txBody>
      </p:sp>
      <p:sp>
        <p:nvSpPr>
          <p:cNvPr id="42" name="Rounded Rectangle 19"/>
          <p:cNvSpPr/>
          <p:nvPr/>
        </p:nvSpPr>
        <p:spPr>
          <a:xfrm>
            <a:off x="6679020" y="2492896"/>
            <a:ext cx="1188720" cy="651600"/>
          </a:xfrm>
          <a:prstGeom prst="roundRect">
            <a:avLst/>
          </a:prstGeom>
          <a:noFill/>
          <a:ln w="127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L" sz="1400" dirty="0">
                <a:solidFill>
                  <a:schemeClr val="bg1">
                    <a:lumMod val="50000"/>
                  </a:schemeClr>
                </a:solidFill>
              </a:rPr>
              <a:t>Venta</a:t>
            </a:r>
          </a:p>
        </p:txBody>
      </p:sp>
      <p:sp>
        <p:nvSpPr>
          <p:cNvPr id="43" name="Rounded Rectangle 7"/>
          <p:cNvSpPr/>
          <p:nvPr/>
        </p:nvSpPr>
        <p:spPr>
          <a:xfrm>
            <a:off x="1296000" y="3396905"/>
            <a:ext cx="432000" cy="651600"/>
          </a:xfrm>
          <a:prstGeom prst="roundRect">
            <a:avLst/>
          </a:prstGeom>
          <a:solidFill>
            <a:srgbClr val="969696"/>
          </a:solidFill>
          <a:ln w="9525" algn="ctr">
            <a:noFill/>
            <a:miter lim="800000"/>
            <a:headEnd/>
            <a:tailEnd/>
          </a:ln>
          <a:effectLst/>
        </p:spPr>
        <p:txBody>
          <a:bodyPr anchor="ctr"/>
          <a:lstStyle/>
          <a:p>
            <a:pPr algn="ctr">
              <a:lnSpc>
                <a:spcPct val="80000"/>
              </a:lnSpc>
            </a:pPr>
            <a:r>
              <a:rPr lang="es-CL" sz="1400" b="1" dirty="0">
                <a:solidFill>
                  <a:schemeClr val="bg1"/>
                </a:solidFill>
                <a:latin typeface="+mj-lt"/>
                <a:cs typeface="Arial" pitchFamily="34" charset="0"/>
              </a:rPr>
              <a:t>3</a:t>
            </a:r>
          </a:p>
        </p:txBody>
      </p:sp>
      <p:sp>
        <p:nvSpPr>
          <p:cNvPr id="44" name="Rounded Rectangle 9"/>
          <p:cNvSpPr/>
          <p:nvPr/>
        </p:nvSpPr>
        <p:spPr>
          <a:xfrm>
            <a:off x="1902500" y="3396905"/>
            <a:ext cx="4607996" cy="651600"/>
          </a:xfrm>
          <a:prstGeom prst="roundRect">
            <a:avLst/>
          </a:prstGeom>
          <a:noFill/>
          <a:ln w="127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CL" sz="1400" dirty="0">
                <a:solidFill>
                  <a:schemeClr val="bg1">
                    <a:lumMod val="50000"/>
                  </a:schemeClr>
                </a:solidFill>
              </a:rPr>
              <a:t>Implantación de los KRI’s propuestos para la gestión y control del riesgo operacional</a:t>
            </a:r>
          </a:p>
        </p:txBody>
      </p:sp>
      <p:sp>
        <p:nvSpPr>
          <p:cNvPr id="45" name="Rounded Rectangle 13"/>
          <p:cNvSpPr/>
          <p:nvPr/>
        </p:nvSpPr>
        <p:spPr>
          <a:xfrm>
            <a:off x="6685175" y="3396905"/>
            <a:ext cx="1188720" cy="651600"/>
          </a:xfrm>
          <a:prstGeom prst="roundRect">
            <a:avLst/>
          </a:prstGeom>
          <a:noFill/>
          <a:ln w="127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L" sz="1400" dirty="0">
                <a:solidFill>
                  <a:schemeClr val="bg1">
                    <a:lumMod val="50000"/>
                  </a:schemeClr>
                </a:solidFill>
              </a:rPr>
              <a:t>Riesgo Operacional</a:t>
            </a:r>
          </a:p>
        </p:txBody>
      </p:sp>
      <p:sp>
        <p:nvSpPr>
          <p:cNvPr id="49" name="Rounded Rectangle 7"/>
          <p:cNvSpPr/>
          <p:nvPr/>
        </p:nvSpPr>
        <p:spPr>
          <a:xfrm>
            <a:off x="1296000" y="4289568"/>
            <a:ext cx="432000" cy="651600"/>
          </a:xfrm>
          <a:prstGeom prst="roundRect">
            <a:avLst/>
          </a:prstGeom>
          <a:solidFill>
            <a:srgbClr val="969696"/>
          </a:solidFill>
          <a:ln w="9525" algn="ctr">
            <a:noFill/>
            <a:miter lim="800000"/>
            <a:headEnd/>
            <a:tailEnd/>
          </a:ln>
          <a:effectLst/>
        </p:spPr>
        <p:txBody>
          <a:bodyPr anchor="ctr"/>
          <a:lstStyle/>
          <a:p>
            <a:pPr algn="ctr">
              <a:lnSpc>
                <a:spcPct val="80000"/>
              </a:lnSpc>
            </a:pPr>
            <a:r>
              <a:rPr lang="es-CL" sz="1400" b="1" dirty="0">
                <a:solidFill>
                  <a:schemeClr val="bg1"/>
                </a:solidFill>
                <a:latin typeface="+mj-lt"/>
                <a:cs typeface="Arial" pitchFamily="34" charset="0"/>
              </a:rPr>
              <a:t>4</a:t>
            </a:r>
          </a:p>
        </p:txBody>
      </p:sp>
      <p:sp>
        <p:nvSpPr>
          <p:cNvPr id="50" name="Rounded Rectangle 9"/>
          <p:cNvSpPr/>
          <p:nvPr/>
        </p:nvSpPr>
        <p:spPr>
          <a:xfrm>
            <a:off x="1877557" y="4289568"/>
            <a:ext cx="4607996" cy="651600"/>
          </a:xfrm>
          <a:prstGeom prst="roundRect">
            <a:avLst/>
          </a:prstGeom>
          <a:noFill/>
          <a:ln w="127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ES" sz="1400" dirty="0">
                <a:solidFill>
                  <a:schemeClr val="bg1">
                    <a:lumMod val="50000"/>
                  </a:schemeClr>
                </a:solidFill>
              </a:rPr>
              <a:t>Necesidad de que la Unidad de TM&amp;C actualice los procesos cada cierto tiempo para la identificación de nuevos riesgos operaciones y para la implantación de planes de acción.</a:t>
            </a:r>
            <a:endParaRPr lang="es-CL" sz="1400" dirty="0">
              <a:solidFill>
                <a:schemeClr val="bg1">
                  <a:lumMod val="50000"/>
                </a:schemeClr>
              </a:solidFill>
            </a:endParaRPr>
          </a:p>
        </p:txBody>
      </p:sp>
      <p:sp>
        <p:nvSpPr>
          <p:cNvPr id="51" name="Rounded Rectangle 13"/>
          <p:cNvSpPr/>
          <p:nvPr/>
        </p:nvSpPr>
        <p:spPr>
          <a:xfrm>
            <a:off x="6660232" y="4289568"/>
            <a:ext cx="1188720" cy="651600"/>
          </a:xfrm>
          <a:prstGeom prst="roundRect">
            <a:avLst/>
          </a:prstGeom>
          <a:noFill/>
          <a:ln w="127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L" sz="1400" dirty="0">
                <a:solidFill>
                  <a:schemeClr val="bg1">
                    <a:lumMod val="50000"/>
                  </a:schemeClr>
                </a:solidFill>
              </a:rPr>
              <a:t>TM&amp;C</a:t>
            </a:r>
          </a:p>
        </p:txBody>
      </p:sp>
      <p:sp>
        <p:nvSpPr>
          <p:cNvPr id="20" name="Rounded Rectangle 16"/>
          <p:cNvSpPr/>
          <p:nvPr/>
        </p:nvSpPr>
        <p:spPr>
          <a:xfrm>
            <a:off x="1296000" y="5225672"/>
            <a:ext cx="432000" cy="651600"/>
          </a:xfrm>
          <a:prstGeom prst="roundRect">
            <a:avLst/>
          </a:prstGeom>
          <a:solidFill>
            <a:srgbClr val="969696"/>
          </a:solidFill>
          <a:ln w="9525" algn="ctr">
            <a:noFill/>
            <a:miter lim="800000"/>
            <a:headEnd/>
            <a:tailEnd/>
          </a:ln>
          <a:effectLst/>
        </p:spPr>
        <p:txBody>
          <a:bodyPr anchor="ctr"/>
          <a:lstStyle/>
          <a:p>
            <a:pPr algn="ctr">
              <a:lnSpc>
                <a:spcPct val="80000"/>
              </a:lnSpc>
            </a:pPr>
            <a:r>
              <a:rPr lang="es-CL" sz="1400" b="1" dirty="0">
                <a:solidFill>
                  <a:schemeClr val="bg1"/>
                </a:solidFill>
                <a:latin typeface="+mj-lt"/>
                <a:cs typeface="Arial" pitchFamily="34" charset="0"/>
              </a:rPr>
              <a:t>5</a:t>
            </a:r>
          </a:p>
        </p:txBody>
      </p:sp>
      <p:sp>
        <p:nvSpPr>
          <p:cNvPr id="21" name="Rounded Rectangle 17"/>
          <p:cNvSpPr/>
          <p:nvPr/>
        </p:nvSpPr>
        <p:spPr>
          <a:xfrm>
            <a:off x="1908000" y="5225672"/>
            <a:ext cx="4607996" cy="651600"/>
          </a:xfrm>
          <a:prstGeom prst="roundRect">
            <a:avLst/>
          </a:prstGeom>
          <a:noFill/>
          <a:ln w="127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ES" sz="1400" dirty="0">
                <a:solidFill>
                  <a:schemeClr val="bg1">
                    <a:lumMod val="50000"/>
                  </a:schemeClr>
                </a:solidFill>
              </a:rPr>
              <a:t>Agregación de un nuevo campo al WF con el objetivo de controlar los reprocesos en el PRO-Suscripción.</a:t>
            </a:r>
            <a:endParaRPr lang="es-CL" sz="1400" dirty="0">
              <a:solidFill>
                <a:schemeClr val="bg1">
                  <a:lumMod val="50000"/>
                </a:schemeClr>
              </a:solidFill>
            </a:endParaRPr>
          </a:p>
        </p:txBody>
      </p:sp>
      <p:sp>
        <p:nvSpPr>
          <p:cNvPr id="22" name="Rounded Rectangle 19"/>
          <p:cNvSpPr/>
          <p:nvPr/>
        </p:nvSpPr>
        <p:spPr>
          <a:xfrm>
            <a:off x="6692400" y="5225672"/>
            <a:ext cx="1188720" cy="651600"/>
          </a:xfrm>
          <a:prstGeom prst="roundRect">
            <a:avLst/>
          </a:prstGeom>
          <a:noFill/>
          <a:ln w="127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L" sz="1400" dirty="0">
                <a:solidFill>
                  <a:schemeClr val="bg1">
                    <a:lumMod val="50000"/>
                  </a:schemeClr>
                </a:solidFill>
              </a:rPr>
              <a:t>Tecnología</a:t>
            </a:r>
          </a:p>
        </p:txBody>
      </p:sp>
    </p:spTree>
    <p:extLst>
      <p:ext uri="{BB962C8B-B14F-4D97-AF65-F5344CB8AC3E}">
        <p14:creationId xmlns:p14="http://schemas.microsoft.com/office/powerpoint/2010/main" val="2030448003"/>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457200" indent="-457200"/>
            <a:r>
              <a:rPr lang="es-ES" dirty="0"/>
              <a:t>Anexo: Planes de Mejora</a:t>
            </a:r>
          </a:p>
        </p:txBody>
      </p:sp>
      <p:sp>
        <p:nvSpPr>
          <p:cNvPr id="19" name="Rounded Rectangle 31">
            <a:hlinkClick r:id="rId2" action="ppaction://hlinksldjump"/>
          </p:cNvPr>
          <p:cNvSpPr/>
          <p:nvPr/>
        </p:nvSpPr>
        <p:spPr>
          <a:xfrm>
            <a:off x="1638012" y="6322807"/>
            <a:ext cx="1080000" cy="360000"/>
          </a:xfrm>
          <a:prstGeom prst="roundRect">
            <a:avLst/>
          </a:prstGeom>
          <a:solidFill>
            <a:schemeClr val="bg1">
              <a:lumMod val="65000"/>
            </a:schemeClr>
          </a:solidFill>
          <a:ln w="25400" cap="sq" cmpd="sng">
            <a:solidFill>
              <a:schemeClr val="bg1">
                <a:lumMod val="75000"/>
              </a:schemeClr>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L" sz="800" b="1" i="1" dirty="0">
                <a:solidFill>
                  <a:schemeClr val="bg1"/>
                </a:solidFill>
                <a:cs typeface="Arial" pitchFamily="34" charset="0"/>
              </a:rPr>
              <a:t>Planes de Mitigación</a:t>
            </a:r>
          </a:p>
        </p:txBody>
      </p:sp>
      <p:sp>
        <p:nvSpPr>
          <p:cNvPr id="21" name="Rounded Rectangle 7"/>
          <p:cNvSpPr/>
          <p:nvPr/>
        </p:nvSpPr>
        <p:spPr>
          <a:xfrm>
            <a:off x="1296000" y="2639281"/>
            <a:ext cx="432000" cy="651600"/>
          </a:xfrm>
          <a:prstGeom prst="roundRect">
            <a:avLst/>
          </a:prstGeom>
          <a:solidFill>
            <a:srgbClr val="969696"/>
          </a:solidFill>
          <a:ln w="9525" algn="ctr">
            <a:noFill/>
            <a:miter lim="800000"/>
            <a:headEnd/>
            <a:tailEnd/>
          </a:ln>
          <a:effectLst/>
        </p:spPr>
        <p:txBody>
          <a:bodyPr anchor="ctr"/>
          <a:lstStyle/>
          <a:p>
            <a:pPr algn="ctr">
              <a:lnSpc>
                <a:spcPct val="80000"/>
              </a:lnSpc>
            </a:pPr>
            <a:r>
              <a:rPr lang="es-CL" sz="1400" b="1" dirty="0">
                <a:solidFill>
                  <a:schemeClr val="bg1"/>
                </a:solidFill>
                <a:latin typeface="+mj-lt"/>
                <a:cs typeface="Arial" pitchFamily="34" charset="0"/>
              </a:rPr>
              <a:t>7</a:t>
            </a:r>
          </a:p>
        </p:txBody>
      </p:sp>
      <p:sp>
        <p:nvSpPr>
          <p:cNvPr id="22" name="Rounded Rectangle 8"/>
          <p:cNvSpPr/>
          <p:nvPr/>
        </p:nvSpPr>
        <p:spPr>
          <a:xfrm>
            <a:off x="1908000" y="1130197"/>
            <a:ext cx="4607996" cy="432048"/>
          </a:xfrm>
          <a:prstGeom prst="roundRect">
            <a:avLst/>
          </a:prstGeom>
          <a:solidFill>
            <a:srgbClr val="DB061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80000"/>
              </a:lnSpc>
            </a:pPr>
            <a:r>
              <a:rPr lang="es-CL" sz="1400" b="1" dirty="0">
                <a:solidFill>
                  <a:schemeClr val="lt1"/>
                </a:solidFill>
              </a:rPr>
              <a:t>Descripción</a:t>
            </a:r>
          </a:p>
        </p:txBody>
      </p:sp>
      <p:sp>
        <p:nvSpPr>
          <p:cNvPr id="23" name="Rounded Rectangle 9"/>
          <p:cNvSpPr/>
          <p:nvPr/>
        </p:nvSpPr>
        <p:spPr>
          <a:xfrm>
            <a:off x="1908000" y="2639281"/>
            <a:ext cx="4607996" cy="651600"/>
          </a:xfrm>
          <a:prstGeom prst="roundRect">
            <a:avLst/>
          </a:prstGeom>
          <a:noFill/>
          <a:ln w="127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CL" sz="1400" dirty="0">
                <a:solidFill>
                  <a:schemeClr val="bg1">
                    <a:lumMod val="50000"/>
                  </a:schemeClr>
                </a:solidFill>
              </a:rPr>
              <a:t>Definir la persona encargada de elaborar el reporte para la Circular 164 y establecer una línea de alertas (mails, llamadas del usuario funcional al usuario encargado, etc.)</a:t>
            </a:r>
          </a:p>
        </p:txBody>
      </p:sp>
      <p:sp>
        <p:nvSpPr>
          <p:cNvPr id="24" name="Rounded Rectangle 12"/>
          <p:cNvSpPr/>
          <p:nvPr/>
        </p:nvSpPr>
        <p:spPr>
          <a:xfrm>
            <a:off x="6692400" y="1130197"/>
            <a:ext cx="1188720" cy="432048"/>
          </a:xfrm>
          <a:prstGeom prst="roundRect">
            <a:avLst/>
          </a:prstGeom>
          <a:solidFill>
            <a:srgbClr val="DB061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80000"/>
              </a:lnSpc>
            </a:pPr>
            <a:r>
              <a:rPr lang="es-CL" sz="1400" b="1" dirty="0">
                <a:solidFill>
                  <a:schemeClr val="lt1"/>
                </a:solidFill>
              </a:rPr>
              <a:t>Unidades Involucradas</a:t>
            </a:r>
          </a:p>
        </p:txBody>
      </p:sp>
      <p:sp>
        <p:nvSpPr>
          <p:cNvPr id="25" name="Rounded Rectangle 13"/>
          <p:cNvSpPr/>
          <p:nvPr/>
        </p:nvSpPr>
        <p:spPr>
          <a:xfrm>
            <a:off x="6692400" y="2639281"/>
            <a:ext cx="1188720" cy="651600"/>
          </a:xfrm>
          <a:prstGeom prst="roundRect">
            <a:avLst/>
          </a:prstGeom>
          <a:noFill/>
          <a:ln w="127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L" sz="1400" dirty="0">
                <a:solidFill>
                  <a:schemeClr val="bg1">
                    <a:lumMod val="50000"/>
                  </a:schemeClr>
                </a:solidFill>
              </a:rPr>
              <a:t>Riesgo Operacional</a:t>
            </a:r>
          </a:p>
        </p:txBody>
      </p:sp>
      <p:sp>
        <p:nvSpPr>
          <p:cNvPr id="26" name="Rounded Rectangle 16"/>
          <p:cNvSpPr/>
          <p:nvPr/>
        </p:nvSpPr>
        <p:spPr>
          <a:xfrm>
            <a:off x="1296000" y="3461162"/>
            <a:ext cx="432000" cy="651600"/>
          </a:xfrm>
          <a:prstGeom prst="roundRect">
            <a:avLst/>
          </a:prstGeom>
          <a:solidFill>
            <a:srgbClr val="969696"/>
          </a:solidFill>
          <a:ln w="9525" algn="ctr">
            <a:noFill/>
            <a:miter lim="800000"/>
            <a:headEnd/>
            <a:tailEnd/>
          </a:ln>
          <a:effectLst/>
        </p:spPr>
        <p:txBody>
          <a:bodyPr anchor="ctr"/>
          <a:lstStyle/>
          <a:p>
            <a:pPr algn="ctr">
              <a:lnSpc>
                <a:spcPct val="80000"/>
              </a:lnSpc>
            </a:pPr>
            <a:r>
              <a:rPr lang="es-CL" sz="1400" b="1" dirty="0">
                <a:solidFill>
                  <a:schemeClr val="bg1"/>
                </a:solidFill>
                <a:latin typeface="+mj-lt"/>
                <a:cs typeface="Arial" pitchFamily="34" charset="0"/>
              </a:rPr>
              <a:t>8</a:t>
            </a:r>
          </a:p>
        </p:txBody>
      </p:sp>
      <p:sp>
        <p:nvSpPr>
          <p:cNvPr id="27" name="Rounded Rectangle 17"/>
          <p:cNvSpPr/>
          <p:nvPr/>
        </p:nvSpPr>
        <p:spPr>
          <a:xfrm>
            <a:off x="1908000" y="3461162"/>
            <a:ext cx="4607996" cy="651600"/>
          </a:xfrm>
          <a:prstGeom prst="roundRect">
            <a:avLst/>
          </a:prstGeom>
          <a:noFill/>
          <a:ln w="127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s-CL" sz="1400" dirty="0">
                <a:solidFill>
                  <a:schemeClr val="bg1">
                    <a:lumMod val="50000"/>
                  </a:schemeClr>
                </a:solidFill>
              </a:rPr>
              <a:t>Definir una persona, perteneciente al Comité de Riesgos, encargada de la elaboración de la Circular 165.</a:t>
            </a:r>
          </a:p>
        </p:txBody>
      </p:sp>
      <p:sp>
        <p:nvSpPr>
          <p:cNvPr id="28" name="Rounded Rectangle 19"/>
          <p:cNvSpPr/>
          <p:nvPr/>
        </p:nvSpPr>
        <p:spPr>
          <a:xfrm>
            <a:off x="6692400" y="3461162"/>
            <a:ext cx="1188720" cy="651600"/>
          </a:xfrm>
          <a:prstGeom prst="roundRect">
            <a:avLst/>
          </a:prstGeom>
          <a:noFill/>
          <a:ln w="127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L" sz="1400" dirty="0">
                <a:solidFill>
                  <a:schemeClr val="bg1">
                    <a:lumMod val="50000"/>
                  </a:schemeClr>
                </a:solidFill>
              </a:rPr>
              <a:t>Riesgo Operacional</a:t>
            </a:r>
          </a:p>
        </p:txBody>
      </p:sp>
      <p:sp>
        <p:nvSpPr>
          <p:cNvPr id="29" name="Rounded Rectangle 7"/>
          <p:cNvSpPr/>
          <p:nvPr/>
        </p:nvSpPr>
        <p:spPr>
          <a:xfrm>
            <a:off x="1296000" y="1844824"/>
            <a:ext cx="432000" cy="651600"/>
          </a:xfrm>
          <a:prstGeom prst="roundRect">
            <a:avLst/>
          </a:prstGeom>
          <a:solidFill>
            <a:srgbClr val="969696"/>
          </a:solidFill>
          <a:ln w="9525" algn="ctr">
            <a:noFill/>
            <a:miter lim="800000"/>
            <a:headEnd/>
            <a:tailEnd/>
          </a:ln>
          <a:effectLst/>
        </p:spPr>
        <p:txBody>
          <a:bodyPr anchor="ctr"/>
          <a:lstStyle/>
          <a:p>
            <a:pPr algn="ctr">
              <a:lnSpc>
                <a:spcPct val="80000"/>
              </a:lnSpc>
            </a:pPr>
            <a:r>
              <a:rPr lang="es-CL" sz="1400" b="1" dirty="0">
                <a:solidFill>
                  <a:schemeClr val="bg1"/>
                </a:solidFill>
                <a:latin typeface="+mj-lt"/>
                <a:cs typeface="Arial" pitchFamily="34" charset="0"/>
              </a:rPr>
              <a:t>6</a:t>
            </a:r>
          </a:p>
        </p:txBody>
      </p:sp>
      <p:sp>
        <p:nvSpPr>
          <p:cNvPr id="30" name="Rounded Rectangle 9"/>
          <p:cNvSpPr/>
          <p:nvPr/>
        </p:nvSpPr>
        <p:spPr>
          <a:xfrm>
            <a:off x="1908000" y="1844824"/>
            <a:ext cx="4607996" cy="651600"/>
          </a:xfrm>
          <a:prstGeom prst="roundRect">
            <a:avLst/>
          </a:prstGeom>
          <a:noFill/>
          <a:ln w="127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CL" sz="1400" dirty="0">
                <a:solidFill>
                  <a:schemeClr val="bg1">
                    <a:lumMod val="50000"/>
                  </a:schemeClr>
                </a:solidFill>
              </a:rPr>
              <a:t>Incluir en la gestión de la BBDD de Eventos de Pérdida, los siniestros que son investigados.</a:t>
            </a:r>
          </a:p>
        </p:txBody>
      </p:sp>
      <p:sp>
        <p:nvSpPr>
          <p:cNvPr id="31" name="Rounded Rectangle 13"/>
          <p:cNvSpPr/>
          <p:nvPr/>
        </p:nvSpPr>
        <p:spPr>
          <a:xfrm>
            <a:off x="6692400" y="1844824"/>
            <a:ext cx="1188720" cy="651600"/>
          </a:xfrm>
          <a:prstGeom prst="roundRect">
            <a:avLst/>
          </a:prstGeom>
          <a:noFill/>
          <a:ln w="127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L" sz="1400" dirty="0">
                <a:solidFill>
                  <a:schemeClr val="bg1">
                    <a:lumMod val="50000"/>
                  </a:schemeClr>
                </a:solidFill>
              </a:rPr>
              <a:t>Siniestros/</a:t>
            </a:r>
          </a:p>
          <a:p>
            <a:pPr algn="ctr"/>
            <a:r>
              <a:rPr lang="es-CL" sz="1400" dirty="0">
                <a:solidFill>
                  <a:schemeClr val="bg1">
                    <a:lumMod val="50000"/>
                  </a:schemeClr>
                </a:solidFill>
              </a:rPr>
              <a:t>Riesgo Operacional</a:t>
            </a:r>
          </a:p>
        </p:txBody>
      </p:sp>
      <p:sp>
        <p:nvSpPr>
          <p:cNvPr id="35" name="Rounded Rectangle 26"/>
          <p:cNvSpPr/>
          <p:nvPr/>
        </p:nvSpPr>
        <p:spPr>
          <a:xfrm>
            <a:off x="1296000" y="4295465"/>
            <a:ext cx="432000" cy="651600"/>
          </a:xfrm>
          <a:prstGeom prst="roundRect">
            <a:avLst/>
          </a:prstGeom>
          <a:solidFill>
            <a:srgbClr val="969696"/>
          </a:solidFill>
          <a:ln w="9525" algn="ctr">
            <a:noFill/>
            <a:miter lim="800000"/>
            <a:headEnd/>
            <a:tailEnd/>
          </a:ln>
          <a:effectLst/>
        </p:spPr>
        <p:txBody>
          <a:bodyPr anchor="ctr"/>
          <a:lstStyle/>
          <a:p>
            <a:pPr algn="ctr">
              <a:lnSpc>
                <a:spcPct val="80000"/>
              </a:lnSpc>
            </a:pPr>
            <a:r>
              <a:rPr lang="es-CL" sz="1400" b="1" dirty="0">
                <a:solidFill>
                  <a:schemeClr val="bg1"/>
                </a:solidFill>
                <a:latin typeface="+mj-lt"/>
                <a:cs typeface="Arial" pitchFamily="34" charset="0"/>
              </a:rPr>
              <a:t>9</a:t>
            </a:r>
          </a:p>
        </p:txBody>
      </p:sp>
      <p:sp>
        <p:nvSpPr>
          <p:cNvPr id="36" name="Rounded Rectangle 27"/>
          <p:cNvSpPr/>
          <p:nvPr/>
        </p:nvSpPr>
        <p:spPr>
          <a:xfrm>
            <a:off x="1914840" y="4295465"/>
            <a:ext cx="4607996" cy="651600"/>
          </a:xfrm>
          <a:prstGeom prst="roundRect">
            <a:avLst/>
          </a:prstGeom>
          <a:noFill/>
          <a:ln w="127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s-ES" sz="1400" dirty="0">
                <a:solidFill>
                  <a:schemeClr val="bg1">
                    <a:lumMod val="50000"/>
                  </a:schemeClr>
                </a:solidFill>
              </a:rPr>
              <a:t>Se recomienda elaborar un documento con un plan de escalamiento consensuado con el objetivo de prever situaciones de ausencia de personal clave.</a:t>
            </a:r>
            <a:endParaRPr lang="es-ES" sz="1400" dirty="0">
              <a:solidFill>
                <a:srgbClr val="002060"/>
              </a:solidFill>
            </a:endParaRPr>
          </a:p>
        </p:txBody>
      </p:sp>
      <p:sp>
        <p:nvSpPr>
          <p:cNvPr id="37" name="Rounded Rectangle 28"/>
          <p:cNvSpPr/>
          <p:nvPr/>
        </p:nvSpPr>
        <p:spPr>
          <a:xfrm>
            <a:off x="6699240" y="4295465"/>
            <a:ext cx="1188720" cy="651600"/>
          </a:xfrm>
          <a:prstGeom prst="roundRect">
            <a:avLst/>
          </a:prstGeom>
          <a:noFill/>
          <a:ln w="127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L" sz="1400" dirty="0">
                <a:solidFill>
                  <a:schemeClr val="bg1">
                    <a:lumMod val="50000"/>
                  </a:schemeClr>
                </a:solidFill>
              </a:rPr>
              <a:t>Riesgo Operacional</a:t>
            </a:r>
          </a:p>
        </p:txBody>
      </p:sp>
    </p:spTree>
    <p:extLst>
      <p:ext uri="{BB962C8B-B14F-4D97-AF65-F5344CB8AC3E}">
        <p14:creationId xmlns:p14="http://schemas.microsoft.com/office/powerpoint/2010/main" val="3539857803"/>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Title 1"/>
          <p:cNvSpPr>
            <a:spLocks noGrp="1"/>
          </p:cNvSpPr>
          <p:nvPr>
            <p:ph type="title"/>
          </p:nvPr>
        </p:nvSpPr>
        <p:spPr>
          <a:xfrm>
            <a:off x="47625" y="32965"/>
            <a:ext cx="8217470" cy="587723"/>
          </a:xfrm>
        </p:spPr>
        <p:txBody>
          <a:bodyPr/>
          <a:lstStyle/>
          <a:p>
            <a:pPr marL="457200" indent="-457200"/>
            <a:r>
              <a:rPr lang="es-ES" dirty="0"/>
              <a:t>Anexo: Planes de Continuidad</a:t>
            </a:r>
          </a:p>
        </p:txBody>
      </p:sp>
      <p:sp>
        <p:nvSpPr>
          <p:cNvPr id="30" name="Rectangle 5"/>
          <p:cNvSpPr>
            <a:spLocks noChangeArrowheads="1"/>
          </p:cNvSpPr>
          <p:nvPr/>
        </p:nvSpPr>
        <p:spPr bwMode="auto">
          <a:xfrm>
            <a:off x="644525" y="911225"/>
            <a:ext cx="7875588" cy="847540"/>
          </a:xfrm>
          <a:prstGeom prst="rect">
            <a:avLst/>
          </a:prstGeom>
          <a:noFill/>
          <a:ln w="9525" algn="ctr">
            <a:noFill/>
            <a:miter lim="800000"/>
            <a:headEnd/>
            <a:tailEnd/>
          </a:ln>
        </p:spPr>
        <p:txBody>
          <a:bodyPr lIns="0" tIns="0" rIns="0" bIns="0">
            <a:spAutoFit/>
          </a:bodyPr>
          <a:lstStyle/>
          <a:p>
            <a:pPr algn="ctr" defTabSz="895350">
              <a:lnSpc>
                <a:spcPct val="102000"/>
              </a:lnSpc>
              <a:spcBef>
                <a:spcPct val="50000"/>
              </a:spcBef>
            </a:pPr>
            <a:r>
              <a:rPr lang="es-ES" sz="1800" b="1" dirty="0">
                <a:cs typeface="Times New Roman" pitchFamily="18" charset="0"/>
              </a:rPr>
              <a:t>Para todos los módulos analizados a lo largo del proyecto, existe un alto recorrido de mejora respecto a la situación actual, aplicable a todos los escenarios de interrupción considerados.</a:t>
            </a:r>
          </a:p>
        </p:txBody>
      </p:sp>
      <p:sp>
        <p:nvSpPr>
          <p:cNvPr id="31" name="Oval 19"/>
          <p:cNvSpPr>
            <a:spLocks noChangeAspect="1" noChangeArrowheads="1"/>
          </p:cNvSpPr>
          <p:nvPr/>
        </p:nvSpPr>
        <p:spPr bwMode="auto">
          <a:xfrm>
            <a:off x="5820221" y="5910516"/>
            <a:ext cx="185738" cy="159890"/>
          </a:xfrm>
          <a:prstGeom prst="ellipse">
            <a:avLst/>
          </a:prstGeom>
          <a:solidFill>
            <a:schemeClr val="bg1"/>
          </a:solidFill>
          <a:ln w="3175">
            <a:solidFill>
              <a:schemeClr val="tx1"/>
            </a:solidFill>
            <a:round/>
            <a:headEnd/>
            <a:tailEnd/>
          </a:ln>
        </p:spPr>
        <p:txBody>
          <a:bodyPr wrap="none" lIns="54000" tIns="46800" rIns="54000" bIns="46800" anchor="ctr"/>
          <a:lstStyle/>
          <a:p>
            <a:pPr algn="ctr">
              <a:spcBef>
                <a:spcPct val="50000"/>
              </a:spcBef>
            </a:pPr>
            <a:endParaRPr lang="en-US" sz="900"/>
          </a:p>
        </p:txBody>
      </p:sp>
      <p:grpSp>
        <p:nvGrpSpPr>
          <p:cNvPr id="2" name="Group 18"/>
          <p:cNvGrpSpPr>
            <a:grpSpLocks noChangeAspect="1"/>
          </p:cNvGrpSpPr>
          <p:nvPr/>
        </p:nvGrpSpPr>
        <p:grpSpPr bwMode="auto">
          <a:xfrm>
            <a:off x="6425058" y="5905767"/>
            <a:ext cx="200025" cy="170971"/>
            <a:chOff x="3376" y="3842"/>
            <a:chExt cx="192" cy="192"/>
          </a:xfrm>
        </p:grpSpPr>
        <p:sp>
          <p:nvSpPr>
            <p:cNvPr id="33" name="Oval 19"/>
            <p:cNvSpPr>
              <a:spLocks noChangeAspect="1" noChangeArrowheads="1"/>
            </p:cNvSpPr>
            <p:nvPr/>
          </p:nvSpPr>
          <p:spPr bwMode="auto">
            <a:xfrm>
              <a:off x="3376" y="3842"/>
              <a:ext cx="192" cy="192"/>
            </a:xfrm>
            <a:prstGeom prst="ellipse">
              <a:avLst/>
            </a:prstGeom>
            <a:solidFill>
              <a:schemeClr val="bg1"/>
            </a:solidFill>
            <a:ln w="3175">
              <a:solidFill>
                <a:schemeClr val="tx1"/>
              </a:solidFill>
              <a:round/>
              <a:headEnd/>
              <a:tailEnd/>
            </a:ln>
          </p:spPr>
          <p:txBody>
            <a:bodyPr wrap="none" lIns="54000" tIns="46800" rIns="54000" bIns="46800" anchor="ctr"/>
            <a:lstStyle/>
            <a:p>
              <a:pPr algn="ctr">
                <a:spcBef>
                  <a:spcPct val="50000"/>
                </a:spcBef>
              </a:pPr>
              <a:endParaRPr lang="en-US" sz="700">
                <a:solidFill>
                  <a:schemeClr val="tx1"/>
                </a:solidFill>
              </a:endParaRPr>
            </a:p>
          </p:txBody>
        </p:sp>
        <p:sp>
          <p:nvSpPr>
            <p:cNvPr id="34" name="Arc 20"/>
            <p:cNvSpPr>
              <a:spLocks noChangeAspect="1"/>
            </p:cNvSpPr>
            <p:nvPr/>
          </p:nvSpPr>
          <p:spPr bwMode="auto">
            <a:xfrm flipH="1">
              <a:off x="3469" y="3842"/>
              <a:ext cx="99" cy="98"/>
            </a:xfrm>
            <a:custGeom>
              <a:avLst/>
              <a:gdLst>
                <a:gd name="T0" fmla="*/ 0 w 22531"/>
                <a:gd name="T1" fmla="*/ 0 h 21600"/>
                <a:gd name="T2" fmla="*/ 0 w 22531"/>
                <a:gd name="T3" fmla="*/ 0 h 21600"/>
                <a:gd name="T4" fmla="*/ 0 w 22531"/>
                <a:gd name="T5" fmla="*/ 0 h 21600"/>
                <a:gd name="T6" fmla="*/ 0 60000 65536"/>
                <a:gd name="T7" fmla="*/ 0 60000 65536"/>
                <a:gd name="T8" fmla="*/ 0 60000 65536"/>
                <a:gd name="T9" fmla="*/ 0 w 22531"/>
                <a:gd name="T10" fmla="*/ 0 h 21600"/>
                <a:gd name="T11" fmla="*/ 22531 w 22531"/>
                <a:gd name="T12" fmla="*/ 21600 h 21600"/>
              </a:gdLst>
              <a:ahLst/>
              <a:cxnLst>
                <a:cxn ang="T6">
                  <a:pos x="T0" y="T1"/>
                </a:cxn>
                <a:cxn ang="T7">
                  <a:pos x="T2" y="T3"/>
                </a:cxn>
                <a:cxn ang="T8">
                  <a:pos x="T4" y="T5"/>
                </a:cxn>
              </a:cxnLst>
              <a:rect l="T9" t="T10" r="T11" b="T12"/>
              <a:pathLst>
                <a:path w="22531" h="21600" fill="none" extrusionOk="0">
                  <a:moveTo>
                    <a:pt x="-1" y="19200"/>
                  </a:moveTo>
                  <a:cubicBezTo>
                    <a:pt x="1221" y="8268"/>
                    <a:pt x="10465" y="-1"/>
                    <a:pt x="21466" y="0"/>
                  </a:cubicBezTo>
                  <a:cubicBezTo>
                    <a:pt x="21821" y="0"/>
                    <a:pt x="22176" y="8"/>
                    <a:pt x="22530" y="26"/>
                  </a:cubicBezTo>
                </a:path>
                <a:path w="22531" h="21600" stroke="0" extrusionOk="0">
                  <a:moveTo>
                    <a:pt x="-1" y="19200"/>
                  </a:moveTo>
                  <a:cubicBezTo>
                    <a:pt x="1221" y="8268"/>
                    <a:pt x="10465" y="-1"/>
                    <a:pt x="21466" y="0"/>
                  </a:cubicBezTo>
                  <a:cubicBezTo>
                    <a:pt x="21821" y="0"/>
                    <a:pt x="22176" y="8"/>
                    <a:pt x="22530" y="26"/>
                  </a:cubicBezTo>
                  <a:lnTo>
                    <a:pt x="21466" y="21600"/>
                  </a:lnTo>
                  <a:close/>
                </a:path>
              </a:pathLst>
            </a:custGeom>
            <a:solidFill>
              <a:schemeClr val="tx1"/>
            </a:solidFill>
            <a:ln w="3175">
              <a:solidFill>
                <a:schemeClr val="tx1"/>
              </a:solidFill>
              <a:round/>
              <a:headEnd/>
              <a:tailEnd/>
            </a:ln>
          </p:spPr>
          <p:txBody>
            <a:bodyPr wrap="none" lIns="54000" tIns="46800" rIns="54000" bIns="46800" anchor="ctr"/>
            <a:lstStyle/>
            <a:p>
              <a:endParaRPr lang="es-ES" sz="900"/>
            </a:p>
          </p:txBody>
        </p:sp>
      </p:grpSp>
      <p:sp>
        <p:nvSpPr>
          <p:cNvPr id="39" name="Freeform 111"/>
          <p:cNvSpPr>
            <a:spLocks noChangeAspect="1"/>
          </p:cNvSpPr>
          <p:nvPr/>
        </p:nvSpPr>
        <p:spPr bwMode="auto">
          <a:xfrm rot="10800000">
            <a:off x="7082409" y="5910516"/>
            <a:ext cx="101478" cy="163056"/>
          </a:xfrm>
          <a:custGeom>
            <a:avLst/>
            <a:gdLst>
              <a:gd name="T0" fmla="*/ 0 w 678"/>
              <a:gd name="T1" fmla="*/ 0 h 1358"/>
              <a:gd name="T2" fmla="*/ 0 w 678"/>
              <a:gd name="T3" fmla="*/ 0 h 1358"/>
              <a:gd name="T4" fmla="*/ 0 w 678"/>
              <a:gd name="T5" fmla="*/ 0 h 1358"/>
              <a:gd name="T6" fmla="*/ 0 w 678"/>
              <a:gd name="T7" fmla="*/ 0 h 1358"/>
              <a:gd name="T8" fmla="*/ 0 w 678"/>
              <a:gd name="T9" fmla="*/ 0 h 1358"/>
              <a:gd name="T10" fmla="*/ 0 w 678"/>
              <a:gd name="T11" fmla="*/ 0 h 1358"/>
              <a:gd name="T12" fmla="*/ 0 w 678"/>
              <a:gd name="T13" fmla="*/ 0 h 1358"/>
              <a:gd name="T14" fmla="*/ 0 w 678"/>
              <a:gd name="T15" fmla="*/ 0 h 1358"/>
              <a:gd name="T16" fmla="*/ 0 w 678"/>
              <a:gd name="T17" fmla="*/ 0 h 1358"/>
              <a:gd name="T18" fmla="*/ 0 w 678"/>
              <a:gd name="T19" fmla="*/ 0 h 1358"/>
              <a:gd name="T20" fmla="*/ 0 w 678"/>
              <a:gd name="T21" fmla="*/ 0 h 1358"/>
              <a:gd name="T22" fmla="*/ 0 w 678"/>
              <a:gd name="T23" fmla="*/ 0 h 1358"/>
              <a:gd name="T24" fmla="*/ 0 w 678"/>
              <a:gd name="T25" fmla="*/ 0 h 1358"/>
              <a:gd name="T26" fmla="*/ 0 w 678"/>
              <a:gd name="T27" fmla="*/ 0 h 1358"/>
              <a:gd name="T28" fmla="*/ 0 w 678"/>
              <a:gd name="T29" fmla="*/ 0 h 1358"/>
              <a:gd name="T30" fmla="*/ 0 w 678"/>
              <a:gd name="T31" fmla="*/ 0 h 1358"/>
              <a:gd name="T32" fmla="*/ 0 w 678"/>
              <a:gd name="T33" fmla="*/ 0 h 1358"/>
              <a:gd name="T34" fmla="*/ 0 w 678"/>
              <a:gd name="T35" fmla="*/ 0 h 1358"/>
              <a:gd name="T36" fmla="*/ 0 w 678"/>
              <a:gd name="T37" fmla="*/ 0 h 1358"/>
              <a:gd name="T38" fmla="*/ 0 w 678"/>
              <a:gd name="T39" fmla="*/ 0 h 1358"/>
              <a:gd name="T40" fmla="*/ 0 w 678"/>
              <a:gd name="T41" fmla="*/ 0 h 1358"/>
              <a:gd name="T42" fmla="*/ 0 w 678"/>
              <a:gd name="T43" fmla="*/ 0 h 1358"/>
              <a:gd name="T44" fmla="*/ 0 w 678"/>
              <a:gd name="T45" fmla="*/ 0 h 1358"/>
              <a:gd name="T46" fmla="*/ 0 w 678"/>
              <a:gd name="T47" fmla="*/ 0 h 1358"/>
              <a:gd name="T48" fmla="*/ 0 w 678"/>
              <a:gd name="T49" fmla="*/ 0 h 1358"/>
              <a:gd name="T50" fmla="*/ 0 w 678"/>
              <a:gd name="T51" fmla="*/ 0 h 1358"/>
              <a:gd name="T52" fmla="*/ 0 w 678"/>
              <a:gd name="T53" fmla="*/ 0 h 1358"/>
              <a:gd name="T54" fmla="*/ 0 w 678"/>
              <a:gd name="T55" fmla="*/ 0 h 1358"/>
              <a:gd name="T56" fmla="*/ 0 w 678"/>
              <a:gd name="T57" fmla="*/ 0 h 1358"/>
              <a:gd name="T58" fmla="*/ 0 w 678"/>
              <a:gd name="T59" fmla="*/ 0 h 1358"/>
              <a:gd name="T60" fmla="*/ 0 w 678"/>
              <a:gd name="T61" fmla="*/ 0 h 1358"/>
              <a:gd name="T62" fmla="*/ 0 w 678"/>
              <a:gd name="T63" fmla="*/ 0 h 1358"/>
              <a:gd name="T64" fmla="*/ 0 w 678"/>
              <a:gd name="T65" fmla="*/ 0 h 1358"/>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678"/>
              <a:gd name="T100" fmla="*/ 0 h 1358"/>
              <a:gd name="T101" fmla="*/ 678 w 678"/>
              <a:gd name="T102" fmla="*/ 1358 h 1358"/>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678" h="1358">
                <a:moveTo>
                  <a:pt x="0" y="679"/>
                </a:moveTo>
                <a:lnTo>
                  <a:pt x="0" y="0"/>
                </a:lnTo>
                <a:lnTo>
                  <a:pt x="34" y="1"/>
                </a:lnTo>
                <a:lnTo>
                  <a:pt x="69" y="3"/>
                </a:lnTo>
                <a:lnTo>
                  <a:pt x="103" y="7"/>
                </a:lnTo>
                <a:lnTo>
                  <a:pt x="137" y="14"/>
                </a:lnTo>
                <a:lnTo>
                  <a:pt x="169" y="21"/>
                </a:lnTo>
                <a:lnTo>
                  <a:pt x="201" y="30"/>
                </a:lnTo>
                <a:lnTo>
                  <a:pt x="232" y="41"/>
                </a:lnTo>
                <a:lnTo>
                  <a:pt x="263" y="53"/>
                </a:lnTo>
                <a:lnTo>
                  <a:pt x="294" y="66"/>
                </a:lnTo>
                <a:lnTo>
                  <a:pt x="323" y="81"/>
                </a:lnTo>
                <a:lnTo>
                  <a:pt x="351" y="98"/>
                </a:lnTo>
                <a:lnTo>
                  <a:pt x="379" y="116"/>
                </a:lnTo>
                <a:lnTo>
                  <a:pt x="405" y="135"/>
                </a:lnTo>
                <a:lnTo>
                  <a:pt x="431" y="155"/>
                </a:lnTo>
                <a:lnTo>
                  <a:pt x="455" y="176"/>
                </a:lnTo>
                <a:lnTo>
                  <a:pt x="479" y="199"/>
                </a:lnTo>
                <a:lnTo>
                  <a:pt x="501" y="223"/>
                </a:lnTo>
                <a:lnTo>
                  <a:pt x="523" y="247"/>
                </a:lnTo>
                <a:lnTo>
                  <a:pt x="543" y="273"/>
                </a:lnTo>
                <a:lnTo>
                  <a:pt x="563" y="299"/>
                </a:lnTo>
                <a:lnTo>
                  <a:pt x="580" y="327"/>
                </a:lnTo>
                <a:lnTo>
                  <a:pt x="596" y="355"/>
                </a:lnTo>
                <a:lnTo>
                  <a:pt x="611" y="385"/>
                </a:lnTo>
                <a:lnTo>
                  <a:pt x="625" y="415"/>
                </a:lnTo>
                <a:lnTo>
                  <a:pt x="637" y="445"/>
                </a:lnTo>
                <a:lnTo>
                  <a:pt x="648" y="478"/>
                </a:lnTo>
                <a:lnTo>
                  <a:pt x="657" y="509"/>
                </a:lnTo>
                <a:lnTo>
                  <a:pt x="665" y="542"/>
                </a:lnTo>
                <a:lnTo>
                  <a:pt x="670" y="576"/>
                </a:lnTo>
                <a:lnTo>
                  <a:pt x="674" y="609"/>
                </a:lnTo>
                <a:lnTo>
                  <a:pt x="678" y="644"/>
                </a:lnTo>
                <a:lnTo>
                  <a:pt x="678" y="679"/>
                </a:lnTo>
                <a:lnTo>
                  <a:pt x="678" y="714"/>
                </a:lnTo>
                <a:lnTo>
                  <a:pt x="674" y="748"/>
                </a:lnTo>
                <a:lnTo>
                  <a:pt x="670" y="783"/>
                </a:lnTo>
                <a:lnTo>
                  <a:pt x="665" y="816"/>
                </a:lnTo>
                <a:lnTo>
                  <a:pt x="657" y="848"/>
                </a:lnTo>
                <a:lnTo>
                  <a:pt x="648" y="881"/>
                </a:lnTo>
                <a:lnTo>
                  <a:pt x="637" y="912"/>
                </a:lnTo>
                <a:lnTo>
                  <a:pt x="625" y="943"/>
                </a:lnTo>
                <a:lnTo>
                  <a:pt x="611" y="973"/>
                </a:lnTo>
                <a:lnTo>
                  <a:pt x="596" y="1002"/>
                </a:lnTo>
                <a:lnTo>
                  <a:pt x="580" y="1030"/>
                </a:lnTo>
                <a:lnTo>
                  <a:pt x="563" y="1058"/>
                </a:lnTo>
                <a:lnTo>
                  <a:pt x="543" y="1085"/>
                </a:lnTo>
                <a:lnTo>
                  <a:pt x="523" y="1111"/>
                </a:lnTo>
                <a:lnTo>
                  <a:pt x="501" y="1135"/>
                </a:lnTo>
                <a:lnTo>
                  <a:pt x="479" y="1158"/>
                </a:lnTo>
                <a:lnTo>
                  <a:pt x="455" y="1181"/>
                </a:lnTo>
                <a:lnTo>
                  <a:pt x="431" y="1203"/>
                </a:lnTo>
                <a:lnTo>
                  <a:pt x="405" y="1223"/>
                </a:lnTo>
                <a:lnTo>
                  <a:pt x="379" y="1242"/>
                </a:lnTo>
                <a:lnTo>
                  <a:pt x="351" y="1260"/>
                </a:lnTo>
                <a:lnTo>
                  <a:pt x="323" y="1276"/>
                </a:lnTo>
                <a:lnTo>
                  <a:pt x="294" y="1291"/>
                </a:lnTo>
                <a:lnTo>
                  <a:pt x="263" y="1305"/>
                </a:lnTo>
                <a:lnTo>
                  <a:pt x="232" y="1317"/>
                </a:lnTo>
                <a:lnTo>
                  <a:pt x="201" y="1327"/>
                </a:lnTo>
                <a:lnTo>
                  <a:pt x="169" y="1337"/>
                </a:lnTo>
                <a:lnTo>
                  <a:pt x="137" y="1345"/>
                </a:lnTo>
                <a:lnTo>
                  <a:pt x="103" y="1350"/>
                </a:lnTo>
                <a:lnTo>
                  <a:pt x="69" y="1354"/>
                </a:lnTo>
                <a:lnTo>
                  <a:pt x="34" y="1358"/>
                </a:lnTo>
                <a:lnTo>
                  <a:pt x="0" y="1358"/>
                </a:lnTo>
                <a:lnTo>
                  <a:pt x="0" y="679"/>
                </a:lnTo>
                <a:close/>
              </a:path>
            </a:pathLst>
          </a:custGeom>
          <a:noFill/>
          <a:ln w="9525">
            <a:solidFill>
              <a:schemeClr val="tx1"/>
            </a:solidFill>
            <a:round/>
            <a:headEnd/>
            <a:tailEnd/>
          </a:ln>
        </p:spPr>
        <p:txBody>
          <a:bodyPr/>
          <a:lstStyle/>
          <a:p>
            <a:endParaRPr lang="es-ES" sz="900"/>
          </a:p>
        </p:txBody>
      </p:sp>
      <p:sp>
        <p:nvSpPr>
          <p:cNvPr id="40" name="Freeform 112"/>
          <p:cNvSpPr>
            <a:spLocks noChangeAspect="1"/>
          </p:cNvSpPr>
          <p:nvPr/>
        </p:nvSpPr>
        <p:spPr bwMode="auto">
          <a:xfrm rot="10800000">
            <a:off x="7182923" y="5910516"/>
            <a:ext cx="99386" cy="163056"/>
          </a:xfrm>
          <a:custGeom>
            <a:avLst/>
            <a:gdLst>
              <a:gd name="T0" fmla="*/ 0 w 678"/>
              <a:gd name="T1" fmla="*/ 0 h 1358"/>
              <a:gd name="T2" fmla="*/ 0 w 678"/>
              <a:gd name="T3" fmla="*/ 0 h 1358"/>
              <a:gd name="T4" fmla="*/ 0 w 678"/>
              <a:gd name="T5" fmla="*/ 0 h 1358"/>
              <a:gd name="T6" fmla="*/ 0 w 678"/>
              <a:gd name="T7" fmla="*/ 0 h 1358"/>
              <a:gd name="T8" fmla="*/ 0 w 678"/>
              <a:gd name="T9" fmla="*/ 0 h 1358"/>
              <a:gd name="T10" fmla="*/ 0 w 678"/>
              <a:gd name="T11" fmla="*/ 0 h 1358"/>
              <a:gd name="T12" fmla="*/ 0 w 678"/>
              <a:gd name="T13" fmla="*/ 0 h 1358"/>
              <a:gd name="T14" fmla="*/ 0 w 678"/>
              <a:gd name="T15" fmla="*/ 0 h 1358"/>
              <a:gd name="T16" fmla="*/ 0 w 678"/>
              <a:gd name="T17" fmla="*/ 0 h 1358"/>
              <a:gd name="T18" fmla="*/ 0 w 678"/>
              <a:gd name="T19" fmla="*/ 0 h 1358"/>
              <a:gd name="T20" fmla="*/ 0 w 678"/>
              <a:gd name="T21" fmla="*/ 0 h 1358"/>
              <a:gd name="T22" fmla="*/ 0 w 678"/>
              <a:gd name="T23" fmla="*/ 0 h 1358"/>
              <a:gd name="T24" fmla="*/ 0 w 678"/>
              <a:gd name="T25" fmla="*/ 0 h 1358"/>
              <a:gd name="T26" fmla="*/ 0 w 678"/>
              <a:gd name="T27" fmla="*/ 0 h 1358"/>
              <a:gd name="T28" fmla="*/ 0 w 678"/>
              <a:gd name="T29" fmla="*/ 0 h 1358"/>
              <a:gd name="T30" fmla="*/ 0 w 678"/>
              <a:gd name="T31" fmla="*/ 0 h 1358"/>
              <a:gd name="T32" fmla="*/ 0 w 678"/>
              <a:gd name="T33" fmla="*/ 0 h 1358"/>
              <a:gd name="T34" fmla="*/ 0 w 678"/>
              <a:gd name="T35" fmla="*/ 0 h 1358"/>
              <a:gd name="T36" fmla="*/ 0 w 678"/>
              <a:gd name="T37" fmla="*/ 0 h 1358"/>
              <a:gd name="T38" fmla="*/ 0 w 678"/>
              <a:gd name="T39" fmla="*/ 0 h 1358"/>
              <a:gd name="T40" fmla="*/ 0 w 678"/>
              <a:gd name="T41" fmla="*/ 0 h 1358"/>
              <a:gd name="T42" fmla="*/ 0 w 678"/>
              <a:gd name="T43" fmla="*/ 0 h 1358"/>
              <a:gd name="T44" fmla="*/ 0 w 678"/>
              <a:gd name="T45" fmla="*/ 0 h 1358"/>
              <a:gd name="T46" fmla="*/ 0 w 678"/>
              <a:gd name="T47" fmla="*/ 0 h 1358"/>
              <a:gd name="T48" fmla="*/ 0 w 678"/>
              <a:gd name="T49" fmla="*/ 0 h 1358"/>
              <a:gd name="T50" fmla="*/ 0 w 678"/>
              <a:gd name="T51" fmla="*/ 0 h 1358"/>
              <a:gd name="T52" fmla="*/ 0 w 678"/>
              <a:gd name="T53" fmla="*/ 0 h 1358"/>
              <a:gd name="T54" fmla="*/ 0 w 678"/>
              <a:gd name="T55" fmla="*/ 0 h 1358"/>
              <a:gd name="T56" fmla="*/ 0 w 678"/>
              <a:gd name="T57" fmla="*/ 0 h 1358"/>
              <a:gd name="T58" fmla="*/ 0 w 678"/>
              <a:gd name="T59" fmla="*/ 0 h 1358"/>
              <a:gd name="T60" fmla="*/ 0 w 678"/>
              <a:gd name="T61" fmla="*/ 0 h 1358"/>
              <a:gd name="T62" fmla="*/ 0 w 678"/>
              <a:gd name="T63" fmla="*/ 0 h 1358"/>
              <a:gd name="T64" fmla="*/ 0 w 678"/>
              <a:gd name="T65" fmla="*/ 0 h 1358"/>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678"/>
              <a:gd name="T100" fmla="*/ 0 h 1358"/>
              <a:gd name="T101" fmla="*/ 678 w 678"/>
              <a:gd name="T102" fmla="*/ 1358 h 1358"/>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678" h="1358">
                <a:moveTo>
                  <a:pt x="678" y="679"/>
                </a:moveTo>
                <a:lnTo>
                  <a:pt x="678" y="1358"/>
                </a:lnTo>
                <a:lnTo>
                  <a:pt x="644" y="1357"/>
                </a:lnTo>
                <a:lnTo>
                  <a:pt x="609" y="1355"/>
                </a:lnTo>
                <a:lnTo>
                  <a:pt x="575" y="1351"/>
                </a:lnTo>
                <a:lnTo>
                  <a:pt x="541" y="1344"/>
                </a:lnTo>
                <a:lnTo>
                  <a:pt x="509" y="1337"/>
                </a:lnTo>
                <a:lnTo>
                  <a:pt x="477" y="1328"/>
                </a:lnTo>
                <a:lnTo>
                  <a:pt x="446" y="1317"/>
                </a:lnTo>
                <a:lnTo>
                  <a:pt x="415" y="1305"/>
                </a:lnTo>
                <a:lnTo>
                  <a:pt x="384" y="1292"/>
                </a:lnTo>
                <a:lnTo>
                  <a:pt x="355" y="1277"/>
                </a:lnTo>
                <a:lnTo>
                  <a:pt x="327" y="1260"/>
                </a:lnTo>
                <a:lnTo>
                  <a:pt x="299" y="1242"/>
                </a:lnTo>
                <a:lnTo>
                  <a:pt x="273" y="1223"/>
                </a:lnTo>
                <a:lnTo>
                  <a:pt x="247" y="1203"/>
                </a:lnTo>
                <a:lnTo>
                  <a:pt x="223" y="1182"/>
                </a:lnTo>
                <a:lnTo>
                  <a:pt x="199" y="1159"/>
                </a:lnTo>
                <a:lnTo>
                  <a:pt x="177" y="1135"/>
                </a:lnTo>
                <a:lnTo>
                  <a:pt x="155" y="1111"/>
                </a:lnTo>
                <a:lnTo>
                  <a:pt x="135" y="1085"/>
                </a:lnTo>
                <a:lnTo>
                  <a:pt x="115" y="1059"/>
                </a:lnTo>
                <a:lnTo>
                  <a:pt x="98" y="1031"/>
                </a:lnTo>
                <a:lnTo>
                  <a:pt x="82" y="1003"/>
                </a:lnTo>
                <a:lnTo>
                  <a:pt x="67" y="973"/>
                </a:lnTo>
                <a:lnTo>
                  <a:pt x="53" y="943"/>
                </a:lnTo>
                <a:lnTo>
                  <a:pt x="41" y="913"/>
                </a:lnTo>
                <a:lnTo>
                  <a:pt x="30" y="880"/>
                </a:lnTo>
                <a:lnTo>
                  <a:pt x="21" y="849"/>
                </a:lnTo>
                <a:lnTo>
                  <a:pt x="13" y="816"/>
                </a:lnTo>
                <a:lnTo>
                  <a:pt x="8" y="782"/>
                </a:lnTo>
                <a:lnTo>
                  <a:pt x="4" y="749"/>
                </a:lnTo>
                <a:lnTo>
                  <a:pt x="0" y="714"/>
                </a:lnTo>
                <a:lnTo>
                  <a:pt x="0" y="679"/>
                </a:lnTo>
                <a:lnTo>
                  <a:pt x="0" y="644"/>
                </a:lnTo>
                <a:lnTo>
                  <a:pt x="4" y="610"/>
                </a:lnTo>
                <a:lnTo>
                  <a:pt x="8" y="575"/>
                </a:lnTo>
                <a:lnTo>
                  <a:pt x="13" y="542"/>
                </a:lnTo>
                <a:lnTo>
                  <a:pt x="21" y="510"/>
                </a:lnTo>
                <a:lnTo>
                  <a:pt x="30" y="477"/>
                </a:lnTo>
                <a:lnTo>
                  <a:pt x="41" y="446"/>
                </a:lnTo>
                <a:lnTo>
                  <a:pt x="53" y="415"/>
                </a:lnTo>
                <a:lnTo>
                  <a:pt x="67" y="385"/>
                </a:lnTo>
                <a:lnTo>
                  <a:pt x="82" y="356"/>
                </a:lnTo>
                <a:lnTo>
                  <a:pt x="98" y="328"/>
                </a:lnTo>
                <a:lnTo>
                  <a:pt x="115" y="300"/>
                </a:lnTo>
                <a:lnTo>
                  <a:pt x="135" y="273"/>
                </a:lnTo>
                <a:lnTo>
                  <a:pt x="155" y="247"/>
                </a:lnTo>
                <a:lnTo>
                  <a:pt x="177" y="223"/>
                </a:lnTo>
                <a:lnTo>
                  <a:pt x="199" y="200"/>
                </a:lnTo>
                <a:lnTo>
                  <a:pt x="223" y="177"/>
                </a:lnTo>
                <a:lnTo>
                  <a:pt x="247" y="155"/>
                </a:lnTo>
                <a:lnTo>
                  <a:pt x="273" y="135"/>
                </a:lnTo>
                <a:lnTo>
                  <a:pt x="299" y="116"/>
                </a:lnTo>
                <a:lnTo>
                  <a:pt x="327" y="98"/>
                </a:lnTo>
                <a:lnTo>
                  <a:pt x="355" y="82"/>
                </a:lnTo>
                <a:lnTo>
                  <a:pt x="384" y="67"/>
                </a:lnTo>
                <a:lnTo>
                  <a:pt x="415" y="53"/>
                </a:lnTo>
                <a:lnTo>
                  <a:pt x="446" y="41"/>
                </a:lnTo>
                <a:lnTo>
                  <a:pt x="477" y="31"/>
                </a:lnTo>
                <a:lnTo>
                  <a:pt x="509" y="21"/>
                </a:lnTo>
                <a:lnTo>
                  <a:pt x="541" y="13"/>
                </a:lnTo>
                <a:lnTo>
                  <a:pt x="575" y="8"/>
                </a:lnTo>
                <a:lnTo>
                  <a:pt x="609" y="4"/>
                </a:lnTo>
                <a:lnTo>
                  <a:pt x="644" y="0"/>
                </a:lnTo>
                <a:lnTo>
                  <a:pt x="678" y="0"/>
                </a:lnTo>
                <a:lnTo>
                  <a:pt x="678" y="679"/>
                </a:lnTo>
                <a:close/>
              </a:path>
            </a:pathLst>
          </a:custGeom>
          <a:solidFill>
            <a:schemeClr val="tx1"/>
          </a:solidFill>
          <a:ln w="9525">
            <a:solidFill>
              <a:schemeClr val="tx1"/>
            </a:solidFill>
            <a:round/>
            <a:headEnd/>
            <a:tailEnd/>
          </a:ln>
        </p:spPr>
        <p:txBody>
          <a:bodyPr/>
          <a:lstStyle/>
          <a:p>
            <a:endParaRPr lang="es-ES" sz="900"/>
          </a:p>
        </p:txBody>
      </p:sp>
      <p:grpSp>
        <p:nvGrpSpPr>
          <p:cNvPr id="3" name="Group 15"/>
          <p:cNvGrpSpPr>
            <a:grpSpLocks noChangeAspect="1"/>
          </p:cNvGrpSpPr>
          <p:nvPr/>
        </p:nvGrpSpPr>
        <p:grpSpPr bwMode="auto">
          <a:xfrm>
            <a:off x="7777609" y="5899435"/>
            <a:ext cx="198438" cy="182053"/>
            <a:chOff x="2104" y="3842"/>
            <a:chExt cx="203" cy="195"/>
          </a:xfrm>
        </p:grpSpPr>
        <p:sp>
          <p:nvSpPr>
            <p:cNvPr id="42" name="Oval 16"/>
            <p:cNvSpPr>
              <a:spLocks noChangeAspect="1" noChangeArrowheads="1"/>
            </p:cNvSpPr>
            <p:nvPr/>
          </p:nvSpPr>
          <p:spPr bwMode="auto">
            <a:xfrm>
              <a:off x="2104" y="3842"/>
              <a:ext cx="192" cy="192"/>
            </a:xfrm>
            <a:prstGeom prst="ellipse">
              <a:avLst/>
            </a:prstGeom>
            <a:solidFill>
              <a:schemeClr val="bg1"/>
            </a:solidFill>
            <a:ln w="3175">
              <a:solidFill>
                <a:schemeClr val="tx1"/>
              </a:solidFill>
              <a:round/>
              <a:headEnd/>
              <a:tailEnd/>
            </a:ln>
          </p:spPr>
          <p:txBody>
            <a:bodyPr wrap="none" lIns="54000" tIns="46800" rIns="54000" bIns="46800" anchor="ctr"/>
            <a:lstStyle/>
            <a:p>
              <a:pPr algn="ctr">
                <a:spcBef>
                  <a:spcPct val="50000"/>
                </a:spcBef>
              </a:pPr>
              <a:endParaRPr lang="en-US" sz="700">
                <a:solidFill>
                  <a:schemeClr val="tx1"/>
                </a:solidFill>
              </a:endParaRPr>
            </a:p>
          </p:txBody>
        </p:sp>
        <p:sp>
          <p:nvSpPr>
            <p:cNvPr id="47" name="Arc 17"/>
            <p:cNvSpPr>
              <a:spLocks noChangeAspect="1"/>
            </p:cNvSpPr>
            <p:nvPr/>
          </p:nvSpPr>
          <p:spPr bwMode="auto">
            <a:xfrm flipH="1">
              <a:off x="2117" y="3842"/>
              <a:ext cx="190" cy="195"/>
            </a:xfrm>
            <a:custGeom>
              <a:avLst/>
              <a:gdLst>
                <a:gd name="T0" fmla="*/ 0 w 43197"/>
                <a:gd name="T1" fmla="*/ 0 h 43200"/>
                <a:gd name="T2" fmla="*/ 0 w 43197"/>
                <a:gd name="T3" fmla="*/ 0 h 43200"/>
                <a:gd name="T4" fmla="*/ 0 w 43197"/>
                <a:gd name="T5" fmla="*/ 0 h 43200"/>
                <a:gd name="T6" fmla="*/ 0 60000 65536"/>
                <a:gd name="T7" fmla="*/ 0 60000 65536"/>
                <a:gd name="T8" fmla="*/ 0 60000 65536"/>
                <a:gd name="T9" fmla="*/ 0 w 43197"/>
                <a:gd name="T10" fmla="*/ 0 h 43200"/>
                <a:gd name="T11" fmla="*/ 43197 w 43197"/>
                <a:gd name="T12" fmla="*/ 43200 h 43200"/>
              </a:gdLst>
              <a:ahLst/>
              <a:cxnLst>
                <a:cxn ang="T6">
                  <a:pos x="T0" y="T1"/>
                </a:cxn>
                <a:cxn ang="T7">
                  <a:pos x="T2" y="T3"/>
                </a:cxn>
                <a:cxn ang="T8">
                  <a:pos x="T4" y="T5"/>
                </a:cxn>
              </a:cxnLst>
              <a:rect l="T9" t="T10" r="T11" b="T12"/>
              <a:pathLst>
                <a:path w="43197" h="43200" fill="none" extrusionOk="0">
                  <a:moveTo>
                    <a:pt x="43197" y="21936"/>
                  </a:moveTo>
                  <a:cubicBezTo>
                    <a:pt x="43013" y="33732"/>
                    <a:pt x="33398" y="43199"/>
                    <a:pt x="21600" y="43200"/>
                  </a:cubicBezTo>
                  <a:cubicBezTo>
                    <a:pt x="9670" y="43200"/>
                    <a:pt x="0" y="33529"/>
                    <a:pt x="0" y="21600"/>
                  </a:cubicBezTo>
                  <a:cubicBezTo>
                    <a:pt x="0" y="9670"/>
                    <a:pt x="9670" y="0"/>
                    <a:pt x="21600" y="0"/>
                  </a:cubicBezTo>
                  <a:cubicBezTo>
                    <a:pt x="21955" y="-1"/>
                    <a:pt x="22310" y="8"/>
                    <a:pt x="22664" y="26"/>
                  </a:cubicBezTo>
                </a:path>
                <a:path w="43197" h="43200" stroke="0" extrusionOk="0">
                  <a:moveTo>
                    <a:pt x="43197" y="21936"/>
                  </a:moveTo>
                  <a:cubicBezTo>
                    <a:pt x="43013" y="33732"/>
                    <a:pt x="33398" y="43199"/>
                    <a:pt x="21600" y="43200"/>
                  </a:cubicBezTo>
                  <a:cubicBezTo>
                    <a:pt x="9670" y="43200"/>
                    <a:pt x="0" y="33529"/>
                    <a:pt x="0" y="21600"/>
                  </a:cubicBezTo>
                  <a:cubicBezTo>
                    <a:pt x="0" y="9670"/>
                    <a:pt x="9670" y="0"/>
                    <a:pt x="21600" y="0"/>
                  </a:cubicBezTo>
                  <a:cubicBezTo>
                    <a:pt x="21955" y="-1"/>
                    <a:pt x="22310" y="8"/>
                    <a:pt x="22664" y="26"/>
                  </a:cubicBezTo>
                  <a:lnTo>
                    <a:pt x="21600" y="21600"/>
                  </a:lnTo>
                  <a:close/>
                </a:path>
              </a:pathLst>
            </a:custGeom>
            <a:solidFill>
              <a:schemeClr val="tx1"/>
            </a:solidFill>
            <a:ln w="3175">
              <a:solidFill>
                <a:schemeClr val="tx1"/>
              </a:solidFill>
              <a:round/>
              <a:headEnd/>
              <a:tailEnd/>
            </a:ln>
          </p:spPr>
          <p:txBody>
            <a:bodyPr wrap="none" lIns="54000" tIns="46800" rIns="54000" bIns="46800" anchor="ctr"/>
            <a:lstStyle/>
            <a:p>
              <a:endParaRPr lang="es-ES" sz="900"/>
            </a:p>
          </p:txBody>
        </p:sp>
      </p:grpSp>
      <p:sp>
        <p:nvSpPr>
          <p:cNvPr id="50" name="Oval 19"/>
          <p:cNvSpPr>
            <a:spLocks noChangeAspect="1" noChangeArrowheads="1"/>
          </p:cNvSpPr>
          <p:nvPr/>
        </p:nvSpPr>
        <p:spPr bwMode="auto">
          <a:xfrm>
            <a:off x="8379271" y="5904184"/>
            <a:ext cx="200025" cy="172554"/>
          </a:xfrm>
          <a:prstGeom prst="ellipse">
            <a:avLst/>
          </a:prstGeom>
          <a:solidFill>
            <a:schemeClr val="tx1"/>
          </a:solidFill>
          <a:ln w="3175">
            <a:solidFill>
              <a:schemeClr val="tx1"/>
            </a:solidFill>
            <a:round/>
            <a:headEnd/>
            <a:tailEnd/>
          </a:ln>
        </p:spPr>
        <p:txBody>
          <a:bodyPr wrap="none" lIns="54000" tIns="46800" rIns="54000" bIns="46800" anchor="ctr"/>
          <a:lstStyle/>
          <a:p>
            <a:pPr algn="ctr">
              <a:spcBef>
                <a:spcPct val="50000"/>
              </a:spcBef>
            </a:pPr>
            <a:endParaRPr lang="en-US" sz="700">
              <a:solidFill>
                <a:schemeClr val="tx1"/>
              </a:solidFill>
            </a:endParaRPr>
          </a:p>
        </p:txBody>
      </p:sp>
      <p:sp>
        <p:nvSpPr>
          <p:cNvPr id="57" name="Text Box 103"/>
          <p:cNvSpPr txBox="1">
            <a:spLocks noChangeArrowheads="1"/>
          </p:cNvSpPr>
          <p:nvPr/>
        </p:nvSpPr>
        <p:spPr bwMode="auto">
          <a:xfrm>
            <a:off x="5940872" y="5877272"/>
            <a:ext cx="506413" cy="230832"/>
          </a:xfrm>
          <a:prstGeom prst="rect">
            <a:avLst/>
          </a:prstGeom>
          <a:noFill/>
          <a:ln w="9525" algn="ctr">
            <a:noFill/>
            <a:miter lim="800000"/>
            <a:headEnd/>
            <a:tailEnd/>
          </a:ln>
          <a:effectLst>
            <a:prstShdw prst="shdw17" dist="17961" dir="2700000">
              <a:srgbClr val="991F00"/>
            </a:prstShdw>
          </a:effectLst>
        </p:spPr>
        <p:txBody>
          <a:bodyPr>
            <a:spAutoFit/>
          </a:bodyPr>
          <a:lstStyle/>
          <a:p>
            <a:pPr marL="177800" indent="-177800" algn="ctr" eaLnBrk="0" hangingPunct="0"/>
            <a:r>
              <a:rPr lang="es-AR" sz="900" dirty="0">
                <a:solidFill>
                  <a:schemeClr val="tx1"/>
                </a:solidFill>
              </a:rPr>
              <a:t>Nula</a:t>
            </a:r>
            <a:endParaRPr lang="en-US" sz="900" dirty="0">
              <a:solidFill>
                <a:schemeClr val="tx1"/>
              </a:solidFill>
            </a:endParaRPr>
          </a:p>
        </p:txBody>
      </p:sp>
      <p:sp>
        <p:nvSpPr>
          <p:cNvPr id="58" name="Text Box 104"/>
          <p:cNvSpPr txBox="1">
            <a:spLocks noChangeArrowheads="1"/>
          </p:cNvSpPr>
          <p:nvPr/>
        </p:nvSpPr>
        <p:spPr bwMode="auto">
          <a:xfrm>
            <a:off x="6583809" y="5877272"/>
            <a:ext cx="424605" cy="230832"/>
          </a:xfrm>
          <a:prstGeom prst="rect">
            <a:avLst/>
          </a:prstGeom>
          <a:noFill/>
          <a:ln w="9525" algn="ctr">
            <a:noFill/>
            <a:miter lim="800000"/>
            <a:headEnd/>
            <a:tailEnd/>
          </a:ln>
          <a:effectLst>
            <a:prstShdw prst="shdw17" dist="17961" dir="2700000">
              <a:srgbClr val="991F00"/>
            </a:prstShdw>
          </a:effectLst>
        </p:spPr>
        <p:txBody>
          <a:bodyPr>
            <a:spAutoFit/>
          </a:bodyPr>
          <a:lstStyle/>
          <a:p>
            <a:pPr marL="177800" indent="-177800" algn="ctr" eaLnBrk="0" hangingPunct="0"/>
            <a:r>
              <a:rPr lang="es-AR" sz="900">
                <a:solidFill>
                  <a:schemeClr val="tx1"/>
                </a:solidFill>
              </a:rPr>
              <a:t>Baja</a:t>
            </a:r>
            <a:endParaRPr lang="en-US" sz="900">
              <a:solidFill>
                <a:schemeClr val="tx1"/>
              </a:solidFill>
            </a:endParaRPr>
          </a:p>
        </p:txBody>
      </p:sp>
      <p:sp>
        <p:nvSpPr>
          <p:cNvPr id="59" name="Text Box 105"/>
          <p:cNvSpPr txBox="1">
            <a:spLocks noChangeArrowheads="1"/>
          </p:cNvSpPr>
          <p:nvPr/>
        </p:nvSpPr>
        <p:spPr bwMode="auto">
          <a:xfrm>
            <a:off x="7256909" y="5877272"/>
            <a:ext cx="506413" cy="230832"/>
          </a:xfrm>
          <a:prstGeom prst="rect">
            <a:avLst/>
          </a:prstGeom>
          <a:noFill/>
          <a:ln w="9525" algn="ctr">
            <a:noFill/>
            <a:miter lim="800000"/>
            <a:headEnd/>
            <a:tailEnd/>
          </a:ln>
          <a:effectLst>
            <a:prstShdw prst="shdw17" dist="17961" dir="2700000">
              <a:srgbClr val="991F00"/>
            </a:prstShdw>
          </a:effectLst>
        </p:spPr>
        <p:txBody>
          <a:bodyPr>
            <a:spAutoFit/>
          </a:bodyPr>
          <a:lstStyle/>
          <a:p>
            <a:pPr marL="177800" indent="-177800" algn="ctr" eaLnBrk="0" hangingPunct="0"/>
            <a:r>
              <a:rPr lang="es-AR" sz="900">
                <a:solidFill>
                  <a:schemeClr val="tx1"/>
                </a:solidFill>
              </a:rPr>
              <a:t>Media</a:t>
            </a:r>
            <a:endParaRPr lang="en-US" sz="900">
              <a:solidFill>
                <a:schemeClr val="tx1"/>
              </a:solidFill>
            </a:endParaRPr>
          </a:p>
        </p:txBody>
      </p:sp>
      <p:sp>
        <p:nvSpPr>
          <p:cNvPr id="60" name="Text Box 106"/>
          <p:cNvSpPr txBox="1">
            <a:spLocks noChangeArrowheads="1"/>
          </p:cNvSpPr>
          <p:nvPr/>
        </p:nvSpPr>
        <p:spPr bwMode="auto">
          <a:xfrm>
            <a:off x="7936359" y="5877272"/>
            <a:ext cx="506413" cy="230832"/>
          </a:xfrm>
          <a:prstGeom prst="rect">
            <a:avLst/>
          </a:prstGeom>
          <a:noFill/>
          <a:ln w="9525" algn="ctr">
            <a:noFill/>
            <a:miter lim="800000"/>
            <a:headEnd/>
            <a:tailEnd/>
          </a:ln>
          <a:effectLst>
            <a:prstShdw prst="shdw17" dist="17961" dir="2700000">
              <a:srgbClr val="991F00"/>
            </a:prstShdw>
          </a:effectLst>
        </p:spPr>
        <p:txBody>
          <a:bodyPr>
            <a:spAutoFit/>
          </a:bodyPr>
          <a:lstStyle/>
          <a:p>
            <a:pPr marL="177800" indent="-177800" algn="ctr" eaLnBrk="0" hangingPunct="0"/>
            <a:r>
              <a:rPr lang="es-AR" sz="900">
                <a:solidFill>
                  <a:schemeClr val="tx1"/>
                </a:solidFill>
              </a:rPr>
              <a:t>Alta</a:t>
            </a:r>
            <a:endParaRPr lang="en-US" sz="900">
              <a:solidFill>
                <a:schemeClr val="tx1"/>
              </a:solidFill>
            </a:endParaRPr>
          </a:p>
        </p:txBody>
      </p:sp>
      <p:sp>
        <p:nvSpPr>
          <p:cNvPr id="61" name="Text Box 107"/>
          <p:cNvSpPr txBox="1">
            <a:spLocks noChangeArrowheads="1"/>
          </p:cNvSpPr>
          <p:nvPr/>
        </p:nvSpPr>
        <p:spPr bwMode="auto">
          <a:xfrm>
            <a:off x="8530083" y="5877272"/>
            <a:ext cx="506413" cy="230832"/>
          </a:xfrm>
          <a:prstGeom prst="rect">
            <a:avLst/>
          </a:prstGeom>
          <a:noFill/>
          <a:ln w="9525" algn="ctr">
            <a:noFill/>
            <a:miter lim="800000"/>
            <a:headEnd/>
            <a:tailEnd/>
          </a:ln>
          <a:effectLst>
            <a:prstShdw prst="shdw17" dist="17961" dir="2700000">
              <a:srgbClr val="991F00"/>
            </a:prstShdw>
          </a:effectLst>
        </p:spPr>
        <p:txBody>
          <a:bodyPr>
            <a:spAutoFit/>
          </a:bodyPr>
          <a:lstStyle/>
          <a:p>
            <a:pPr marL="177800" indent="-177800" algn="ctr" eaLnBrk="0" hangingPunct="0"/>
            <a:r>
              <a:rPr lang="es-AR" sz="900">
                <a:solidFill>
                  <a:schemeClr val="tx1"/>
                </a:solidFill>
              </a:rPr>
              <a:t>Total</a:t>
            </a:r>
            <a:endParaRPr lang="en-US" sz="900">
              <a:solidFill>
                <a:schemeClr val="tx1"/>
              </a:solidFill>
            </a:endParaRPr>
          </a:p>
        </p:txBody>
      </p:sp>
      <p:sp>
        <p:nvSpPr>
          <p:cNvPr id="62" name="AutoShape 83"/>
          <p:cNvSpPr>
            <a:spLocks noChangeArrowheads="1"/>
          </p:cNvSpPr>
          <p:nvPr/>
        </p:nvSpPr>
        <p:spPr bwMode="auto">
          <a:xfrm>
            <a:off x="323528" y="2417946"/>
            <a:ext cx="1409700" cy="786507"/>
          </a:xfrm>
          <a:prstGeom prst="homePlate">
            <a:avLst>
              <a:gd name="adj" fmla="val 44479"/>
            </a:avLst>
          </a:prstGeom>
          <a:solidFill>
            <a:srgbClr val="DB0613"/>
          </a:solidFill>
          <a:ln w="19050" algn="ctr">
            <a:solidFill>
              <a:srgbClr val="DB0613"/>
            </a:solidFill>
            <a:miter lim="800000"/>
            <a:headEnd/>
            <a:tailEnd/>
          </a:ln>
        </p:spPr>
        <p:txBody>
          <a:bodyPr lIns="39600" tIns="38480" rIns="39600" bIns="38480" anchor="ctr"/>
          <a:lstStyle/>
          <a:p>
            <a:pPr algn="ctr" eaLnBrk="0" hangingPunct="0"/>
            <a:r>
              <a:rPr lang="es-AR" sz="1200" b="1" dirty="0">
                <a:solidFill>
                  <a:schemeClr val="bg1"/>
                </a:solidFill>
              </a:rPr>
              <a:t>Administración de Fondos</a:t>
            </a:r>
            <a:endParaRPr lang="en-US" sz="1200" b="1" baseline="-25000" dirty="0">
              <a:solidFill>
                <a:schemeClr val="bg1"/>
              </a:solidFill>
            </a:endParaRPr>
          </a:p>
        </p:txBody>
      </p:sp>
      <p:sp>
        <p:nvSpPr>
          <p:cNvPr id="63" name="Oval 62"/>
          <p:cNvSpPr>
            <a:spLocks noChangeArrowheads="1"/>
          </p:cNvSpPr>
          <p:nvPr/>
        </p:nvSpPr>
        <p:spPr bwMode="auto">
          <a:xfrm>
            <a:off x="251520" y="2295749"/>
            <a:ext cx="261938" cy="238125"/>
          </a:xfrm>
          <a:prstGeom prst="ellipse">
            <a:avLst/>
          </a:prstGeom>
          <a:solidFill>
            <a:schemeClr val="tx1">
              <a:lumMod val="50000"/>
              <a:lumOff val="50000"/>
            </a:schemeClr>
          </a:solidFill>
          <a:ln w="9525" algn="ctr">
            <a:solidFill>
              <a:schemeClr val="bg1">
                <a:lumMod val="75000"/>
              </a:schemeClr>
            </a:solidFill>
            <a:round/>
            <a:headEnd/>
            <a:tailEnd/>
          </a:ln>
        </p:spPr>
        <p:txBody>
          <a:bodyPr wrap="none" anchor="ctr"/>
          <a:lstStyle/>
          <a:p>
            <a:pPr algn="ctr" eaLnBrk="0" hangingPunct="0"/>
            <a:r>
              <a:rPr lang="es-AR" sz="1000" b="1" dirty="0">
                <a:solidFill>
                  <a:schemeClr val="bg1"/>
                </a:solidFill>
              </a:rPr>
              <a:t>1</a:t>
            </a:r>
            <a:endParaRPr lang="en-US" sz="1000" b="1" dirty="0">
              <a:solidFill>
                <a:schemeClr val="bg1"/>
              </a:solidFill>
            </a:endParaRPr>
          </a:p>
        </p:txBody>
      </p:sp>
      <p:sp>
        <p:nvSpPr>
          <p:cNvPr id="64" name="AutoShape 83"/>
          <p:cNvSpPr>
            <a:spLocks noChangeArrowheads="1"/>
          </p:cNvSpPr>
          <p:nvPr/>
        </p:nvSpPr>
        <p:spPr bwMode="auto">
          <a:xfrm>
            <a:off x="323528" y="4533578"/>
            <a:ext cx="1409700" cy="786507"/>
          </a:xfrm>
          <a:prstGeom prst="homePlate">
            <a:avLst>
              <a:gd name="adj" fmla="val 44479"/>
            </a:avLst>
          </a:prstGeom>
          <a:solidFill>
            <a:srgbClr val="DB0613"/>
          </a:solidFill>
          <a:ln w="19050" algn="ctr">
            <a:solidFill>
              <a:srgbClr val="DB0613"/>
            </a:solidFill>
            <a:miter lim="800000"/>
            <a:headEnd/>
            <a:tailEnd/>
          </a:ln>
        </p:spPr>
        <p:txBody>
          <a:bodyPr lIns="39600" tIns="38480" rIns="39600" bIns="38480" anchor="ctr"/>
          <a:lstStyle/>
          <a:p>
            <a:pPr algn="ctr" eaLnBrk="0" hangingPunct="0"/>
            <a:r>
              <a:rPr lang="es-AR" sz="1200" b="1" dirty="0">
                <a:solidFill>
                  <a:schemeClr val="bg1"/>
                </a:solidFill>
              </a:rPr>
              <a:t>Suscripción vehicular</a:t>
            </a:r>
            <a:endParaRPr lang="en-US" sz="1200" b="1" baseline="-25000" dirty="0">
              <a:solidFill>
                <a:schemeClr val="bg1"/>
              </a:solidFill>
            </a:endParaRPr>
          </a:p>
        </p:txBody>
      </p:sp>
      <p:sp>
        <p:nvSpPr>
          <p:cNvPr id="65" name="Oval 62"/>
          <p:cNvSpPr>
            <a:spLocks noChangeArrowheads="1"/>
          </p:cNvSpPr>
          <p:nvPr/>
        </p:nvSpPr>
        <p:spPr bwMode="auto">
          <a:xfrm>
            <a:off x="287337" y="4465316"/>
            <a:ext cx="261938" cy="238125"/>
          </a:xfrm>
          <a:prstGeom prst="ellipse">
            <a:avLst/>
          </a:prstGeom>
          <a:solidFill>
            <a:schemeClr val="tx1">
              <a:lumMod val="50000"/>
              <a:lumOff val="50000"/>
            </a:schemeClr>
          </a:solidFill>
          <a:ln w="9525" algn="ctr">
            <a:solidFill>
              <a:schemeClr val="bg1">
                <a:lumMod val="75000"/>
              </a:schemeClr>
            </a:solidFill>
            <a:round/>
            <a:headEnd/>
            <a:tailEnd/>
          </a:ln>
        </p:spPr>
        <p:txBody>
          <a:bodyPr wrap="none" anchor="ctr"/>
          <a:lstStyle/>
          <a:p>
            <a:pPr algn="ctr" eaLnBrk="0" hangingPunct="0"/>
            <a:r>
              <a:rPr lang="es-AR" sz="1000" b="1" dirty="0">
                <a:solidFill>
                  <a:schemeClr val="bg1"/>
                </a:solidFill>
              </a:rPr>
              <a:t>2</a:t>
            </a:r>
            <a:endParaRPr lang="en-US" sz="1000" b="1" dirty="0">
              <a:solidFill>
                <a:schemeClr val="bg1"/>
              </a:solidFill>
            </a:endParaRPr>
          </a:p>
        </p:txBody>
      </p:sp>
      <p:sp>
        <p:nvSpPr>
          <p:cNvPr id="66" name="Text Box 90"/>
          <p:cNvSpPr txBox="1">
            <a:spLocks noChangeArrowheads="1"/>
          </p:cNvSpPr>
          <p:nvPr/>
        </p:nvSpPr>
        <p:spPr bwMode="auto">
          <a:xfrm>
            <a:off x="1724596" y="1859727"/>
            <a:ext cx="1407244" cy="424732"/>
          </a:xfrm>
          <a:prstGeom prst="rect">
            <a:avLst/>
          </a:prstGeom>
          <a:noFill/>
          <a:ln w="9525" algn="ctr">
            <a:noFill/>
            <a:miter lim="800000"/>
            <a:headEnd/>
            <a:tailEnd/>
          </a:ln>
        </p:spPr>
        <p:txBody>
          <a:bodyPr wrap="square">
            <a:spAutoFit/>
          </a:bodyPr>
          <a:lstStyle/>
          <a:p>
            <a:pPr algn="ctr" eaLnBrk="0" hangingPunct="0">
              <a:lnSpc>
                <a:spcPct val="90000"/>
              </a:lnSpc>
              <a:spcBef>
                <a:spcPct val="35000"/>
              </a:spcBef>
            </a:pPr>
            <a:r>
              <a:rPr lang="es-AR" sz="1200" b="1" i="1" dirty="0"/>
              <a:t>Inhabilitación de infraestructuras</a:t>
            </a:r>
            <a:endParaRPr lang="es-AR" sz="1200" b="1" i="1" dirty="0">
              <a:solidFill>
                <a:schemeClr val="tx1"/>
              </a:solidFill>
            </a:endParaRPr>
          </a:p>
        </p:txBody>
      </p:sp>
      <p:sp>
        <p:nvSpPr>
          <p:cNvPr id="67" name="Text Box 90"/>
          <p:cNvSpPr txBox="1">
            <a:spLocks noChangeArrowheads="1"/>
          </p:cNvSpPr>
          <p:nvPr/>
        </p:nvSpPr>
        <p:spPr bwMode="auto">
          <a:xfrm>
            <a:off x="3223927" y="1859727"/>
            <a:ext cx="1276065" cy="424732"/>
          </a:xfrm>
          <a:prstGeom prst="rect">
            <a:avLst/>
          </a:prstGeom>
          <a:noFill/>
          <a:ln w="9525" algn="ctr">
            <a:noFill/>
            <a:miter lim="800000"/>
            <a:headEnd/>
            <a:tailEnd/>
          </a:ln>
        </p:spPr>
        <p:txBody>
          <a:bodyPr wrap="square">
            <a:spAutoFit/>
          </a:bodyPr>
          <a:lstStyle/>
          <a:p>
            <a:pPr algn="ctr" eaLnBrk="0" hangingPunct="0">
              <a:lnSpc>
                <a:spcPct val="90000"/>
              </a:lnSpc>
              <a:spcBef>
                <a:spcPct val="35000"/>
              </a:spcBef>
            </a:pPr>
            <a:r>
              <a:rPr lang="es-AR" sz="1200" b="1" i="1" dirty="0"/>
              <a:t>Ausencia masiva de personal </a:t>
            </a:r>
            <a:endParaRPr lang="es-AR" sz="1200" b="1" i="1" dirty="0">
              <a:solidFill>
                <a:schemeClr val="tx1"/>
              </a:solidFill>
            </a:endParaRPr>
          </a:p>
        </p:txBody>
      </p:sp>
      <p:sp>
        <p:nvSpPr>
          <p:cNvPr id="68" name="Text Box 90"/>
          <p:cNvSpPr txBox="1">
            <a:spLocks noChangeArrowheads="1"/>
          </p:cNvSpPr>
          <p:nvPr/>
        </p:nvSpPr>
        <p:spPr bwMode="auto">
          <a:xfrm>
            <a:off x="4516041" y="1859727"/>
            <a:ext cx="1208087" cy="424732"/>
          </a:xfrm>
          <a:prstGeom prst="rect">
            <a:avLst/>
          </a:prstGeom>
          <a:noFill/>
          <a:ln w="9525" algn="ctr">
            <a:noFill/>
            <a:miter lim="800000"/>
            <a:headEnd/>
            <a:tailEnd/>
          </a:ln>
        </p:spPr>
        <p:txBody>
          <a:bodyPr wrap="square">
            <a:spAutoFit/>
          </a:bodyPr>
          <a:lstStyle/>
          <a:p>
            <a:pPr algn="ctr" eaLnBrk="0" hangingPunct="0">
              <a:lnSpc>
                <a:spcPct val="90000"/>
              </a:lnSpc>
              <a:spcBef>
                <a:spcPct val="35000"/>
              </a:spcBef>
            </a:pPr>
            <a:r>
              <a:rPr lang="es-AR" sz="1200" b="1" i="1" dirty="0"/>
              <a:t>Falla de sistemas</a:t>
            </a:r>
            <a:endParaRPr lang="es-AR" sz="1200" b="1" i="1" dirty="0">
              <a:solidFill>
                <a:schemeClr val="tx1"/>
              </a:solidFill>
            </a:endParaRPr>
          </a:p>
        </p:txBody>
      </p:sp>
      <p:sp>
        <p:nvSpPr>
          <p:cNvPr id="69" name="Text Box 90"/>
          <p:cNvSpPr txBox="1">
            <a:spLocks noChangeArrowheads="1"/>
          </p:cNvSpPr>
          <p:nvPr/>
        </p:nvSpPr>
        <p:spPr bwMode="auto">
          <a:xfrm>
            <a:off x="5898356" y="1943506"/>
            <a:ext cx="977900" cy="257175"/>
          </a:xfrm>
          <a:prstGeom prst="rect">
            <a:avLst/>
          </a:prstGeom>
          <a:noFill/>
          <a:ln w="9525" algn="ctr">
            <a:noFill/>
            <a:miter lim="800000"/>
            <a:headEnd/>
            <a:tailEnd/>
          </a:ln>
        </p:spPr>
        <p:txBody>
          <a:bodyPr>
            <a:spAutoFit/>
          </a:bodyPr>
          <a:lstStyle/>
          <a:p>
            <a:pPr algn="ctr" eaLnBrk="0" hangingPunct="0">
              <a:lnSpc>
                <a:spcPct val="90000"/>
              </a:lnSpc>
              <a:spcBef>
                <a:spcPct val="35000"/>
              </a:spcBef>
            </a:pPr>
            <a:r>
              <a:rPr lang="es-AR" sz="1200" b="1" i="1" dirty="0">
                <a:solidFill>
                  <a:schemeClr val="tx1"/>
                </a:solidFill>
              </a:rPr>
              <a:t>Resumen</a:t>
            </a:r>
          </a:p>
        </p:txBody>
      </p:sp>
      <p:sp>
        <p:nvSpPr>
          <p:cNvPr id="70" name="AutoShape 139"/>
          <p:cNvSpPr>
            <a:spLocks noChangeArrowheads="1"/>
          </p:cNvSpPr>
          <p:nvPr/>
        </p:nvSpPr>
        <p:spPr bwMode="auto">
          <a:xfrm rot="5400000">
            <a:off x="5484043" y="3692971"/>
            <a:ext cx="3630612" cy="161925"/>
          </a:xfrm>
          <a:prstGeom prst="triangle">
            <a:avLst>
              <a:gd name="adj" fmla="val 50000"/>
            </a:avLst>
          </a:prstGeom>
          <a:solidFill>
            <a:schemeClr val="tx1"/>
          </a:solidFill>
          <a:ln w="9525">
            <a:noFill/>
            <a:miter lim="800000"/>
            <a:headEnd/>
            <a:tailEnd/>
          </a:ln>
          <a:effectLst>
            <a:prstShdw prst="shdw17" dist="17961" dir="2700000">
              <a:schemeClr val="tx1">
                <a:gamma/>
                <a:shade val="60000"/>
                <a:invGamma/>
              </a:schemeClr>
            </a:prstShdw>
          </a:effectLst>
        </p:spPr>
        <p:txBody>
          <a:bodyPr wrap="none" anchor="ctr"/>
          <a:lstStyle/>
          <a:p>
            <a:endParaRPr lang="es-ES"/>
          </a:p>
        </p:txBody>
      </p:sp>
      <p:sp>
        <p:nvSpPr>
          <p:cNvPr id="71" name="Rectangle 5"/>
          <p:cNvSpPr>
            <a:spLocks noChangeArrowheads="1"/>
          </p:cNvSpPr>
          <p:nvPr/>
        </p:nvSpPr>
        <p:spPr bwMode="auto">
          <a:xfrm>
            <a:off x="7527130" y="2518141"/>
            <a:ext cx="1509366" cy="2511585"/>
          </a:xfrm>
          <a:prstGeom prst="rect">
            <a:avLst/>
          </a:prstGeom>
          <a:noFill/>
          <a:ln w="9525" algn="ctr">
            <a:noFill/>
            <a:miter lim="800000"/>
            <a:headEnd/>
            <a:tailEnd/>
          </a:ln>
        </p:spPr>
        <p:txBody>
          <a:bodyPr wrap="square" lIns="0" tIns="0" rIns="0" bIns="0">
            <a:spAutoFit/>
          </a:bodyPr>
          <a:lstStyle/>
          <a:p>
            <a:pPr algn="ctr" defTabSz="895350">
              <a:lnSpc>
                <a:spcPct val="102000"/>
              </a:lnSpc>
              <a:spcBef>
                <a:spcPct val="50000"/>
              </a:spcBef>
            </a:pPr>
            <a:r>
              <a:rPr lang="es-ES" sz="1600" b="1" dirty="0">
                <a:solidFill>
                  <a:schemeClr val="tx1"/>
                </a:solidFill>
                <a:cs typeface="Times New Roman" pitchFamily="18" charset="0"/>
              </a:rPr>
              <a:t>La problemática de los planes de </a:t>
            </a:r>
            <a:r>
              <a:rPr lang="es-ES" sz="1600" b="1" dirty="0">
                <a:cs typeface="Times New Roman" pitchFamily="18" charset="0"/>
              </a:rPr>
              <a:t>continuidad de negocio </a:t>
            </a:r>
            <a:r>
              <a:rPr lang="es-ES" sz="1600" b="1" dirty="0">
                <a:solidFill>
                  <a:schemeClr val="tx1"/>
                </a:solidFill>
                <a:cs typeface="Times New Roman" pitchFamily="18" charset="0"/>
              </a:rPr>
              <a:t>no es puntual, sino </a:t>
            </a:r>
            <a:r>
              <a:rPr lang="es-ES" sz="1600" b="1" dirty="0">
                <a:cs typeface="Times New Roman" pitchFamily="18" charset="0"/>
              </a:rPr>
              <a:t>estructural</a:t>
            </a:r>
            <a:r>
              <a:rPr lang="es-ES" sz="1600" b="1" dirty="0">
                <a:solidFill>
                  <a:schemeClr val="tx1"/>
                </a:solidFill>
                <a:cs typeface="Times New Roman" pitchFamily="18" charset="0"/>
              </a:rPr>
              <a:t>, lo cual evidencia la necesidad de la redefinición de los mismos.</a:t>
            </a:r>
          </a:p>
        </p:txBody>
      </p:sp>
      <p:sp>
        <p:nvSpPr>
          <p:cNvPr id="72" name="Text Box 90"/>
          <p:cNvSpPr txBox="1">
            <a:spLocks noChangeArrowheads="1"/>
          </p:cNvSpPr>
          <p:nvPr/>
        </p:nvSpPr>
        <p:spPr bwMode="auto">
          <a:xfrm>
            <a:off x="1649884" y="3878384"/>
            <a:ext cx="1409948" cy="424732"/>
          </a:xfrm>
          <a:prstGeom prst="rect">
            <a:avLst/>
          </a:prstGeom>
          <a:noFill/>
          <a:ln w="9525" algn="ctr">
            <a:noFill/>
            <a:miter lim="800000"/>
            <a:headEnd/>
            <a:tailEnd/>
          </a:ln>
        </p:spPr>
        <p:txBody>
          <a:bodyPr wrap="square">
            <a:spAutoFit/>
          </a:bodyPr>
          <a:lstStyle/>
          <a:p>
            <a:pPr algn="ctr" eaLnBrk="0" hangingPunct="0">
              <a:lnSpc>
                <a:spcPct val="90000"/>
              </a:lnSpc>
              <a:spcBef>
                <a:spcPct val="35000"/>
              </a:spcBef>
            </a:pPr>
            <a:r>
              <a:rPr lang="es-AR" sz="1200" b="1" i="1" dirty="0"/>
              <a:t>Inhabilitación de infraestructuras</a:t>
            </a:r>
            <a:endParaRPr lang="es-AR" sz="1200" b="1" i="1" dirty="0">
              <a:solidFill>
                <a:schemeClr val="tx1"/>
              </a:solidFill>
            </a:endParaRPr>
          </a:p>
        </p:txBody>
      </p:sp>
      <p:sp>
        <p:nvSpPr>
          <p:cNvPr id="73" name="Text Box 90"/>
          <p:cNvSpPr txBox="1">
            <a:spLocks noChangeArrowheads="1"/>
          </p:cNvSpPr>
          <p:nvPr/>
        </p:nvSpPr>
        <p:spPr bwMode="auto">
          <a:xfrm>
            <a:off x="2811536" y="3878384"/>
            <a:ext cx="1338639" cy="424732"/>
          </a:xfrm>
          <a:prstGeom prst="rect">
            <a:avLst/>
          </a:prstGeom>
          <a:noFill/>
          <a:ln w="9525" algn="ctr">
            <a:noFill/>
            <a:miter lim="800000"/>
            <a:headEnd/>
            <a:tailEnd/>
          </a:ln>
        </p:spPr>
        <p:txBody>
          <a:bodyPr wrap="square">
            <a:spAutoFit/>
          </a:bodyPr>
          <a:lstStyle/>
          <a:p>
            <a:pPr algn="ctr" eaLnBrk="0" hangingPunct="0">
              <a:lnSpc>
                <a:spcPct val="90000"/>
              </a:lnSpc>
              <a:spcBef>
                <a:spcPct val="35000"/>
              </a:spcBef>
            </a:pPr>
            <a:r>
              <a:rPr lang="es-AR" sz="1200" b="1" i="1" dirty="0"/>
              <a:t>Ausencia masiva de personal </a:t>
            </a:r>
            <a:endParaRPr lang="es-AR" sz="1200" b="1" i="1" dirty="0">
              <a:solidFill>
                <a:schemeClr val="tx1"/>
              </a:solidFill>
            </a:endParaRPr>
          </a:p>
        </p:txBody>
      </p:sp>
      <p:sp>
        <p:nvSpPr>
          <p:cNvPr id="74" name="Text Box 90"/>
          <p:cNvSpPr txBox="1">
            <a:spLocks noChangeArrowheads="1"/>
          </p:cNvSpPr>
          <p:nvPr/>
        </p:nvSpPr>
        <p:spPr bwMode="auto">
          <a:xfrm>
            <a:off x="3898286" y="3878384"/>
            <a:ext cx="977900" cy="424732"/>
          </a:xfrm>
          <a:prstGeom prst="rect">
            <a:avLst/>
          </a:prstGeom>
          <a:noFill/>
          <a:ln w="9525" algn="ctr">
            <a:noFill/>
            <a:miter lim="800000"/>
            <a:headEnd/>
            <a:tailEnd/>
          </a:ln>
        </p:spPr>
        <p:txBody>
          <a:bodyPr>
            <a:spAutoFit/>
          </a:bodyPr>
          <a:lstStyle/>
          <a:p>
            <a:pPr algn="ctr" eaLnBrk="0" hangingPunct="0">
              <a:lnSpc>
                <a:spcPct val="90000"/>
              </a:lnSpc>
              <a:spcBef>
                <a:spcPct val="35000"/>
              </a:spcBef>
            </a:pPr>
            <a:r>
              <a:rPr lang="es-AR" sz="1200" b="1" i="1" dirty="0"/>
              <a:t>Falla de sistemas</a:t>
            </a:r>
            <a:endParaRPr lang="es-AR" sz="1200" b="1" i="1" dirty="0">
              <a:solidFill>
                <a:schemeClr val="tx1"/>
              </a:solidFill>
            </a:endParaRPr>
          </a:p>
        </p:txBody>
      </p:sp>
      <p:sp>
        <p:nvSpPr>
          <p:cNvPr id="75" name="Text Box 90"/>
          <p:cNvSpPr txBox="1">
            <a:spLocks noChangeArrowheads="1"/>
          </p:cNvSpPr>
          <p:nvPr/>
        </p:nvSpPr>
        <p:spPr bwMode="auto">
          <a:xfrm>
            <a:off x="4716016" y="3896851"/>
            <a:ext cx="1209675" cy="387798"/>
          </a:xfrm>
          <a:prstGeom prst="rect">
            <a:avLst/>
          </a:prstGeom>
          <a:noFill/>
          <a:ln w="9525" algn="ctr">
            <a:noFill/>
            <a:miter lim="800000"/>
            <a:headEnd/>
            <a:tailEnd/>
          </a:ln>
        </p:spPr>
        <p:txBody>
          <a:bodyPr>
            <a:spAutoFit/>
          </a:bodyPr>
          <a:lstStyle/>
          <a:p>
            <a:pPr algn="ctr" eaLnBrk="0" hangingPunct="0">
              <a:lnSpc>
                <a:spcPct val="80000"/>
              </a:lnSpc>
              <a:spcBef>
                <a:spcPct val="35000"/>
              </a:spcBef>
            </a:pPr>
            <a:r>
              <a:rPr lang="es-AR" sz="1200" b="1" i="1" dirty="0"/>
              <a:t>Falla de servicio de proveedor</a:t>
            </a:r>
            <a:endParaRPr lang="es-AR" sz="1200" b="1" i="1" dirty="0">
              <a:solidFill>
                <a:schemeClr val="tx1"/>
              </a:solidFill>
            </a:endParaRPr>
          </a:p>
        </p:txBody>
      </p:sp>
      <p:sp>
        <p:nvSpPr>
          <p:cNvPr id="76" name="Text Box 90"/>
          <p:cNvSpPr txBox="1">
            <a:spLocks noChangeArrowheads="1"/>
          </p:cNvSpPr>
          <p:nvPr/>
        </p:nvSpPr>
        <p:spPr bwMode="auto">
          <a:xfrm>
            <a:off x="5898356" y="3962163"/>
            <a:ext cx="977900" cy="257175"/>
          </a:xfrm>
          <a:prstGeom prst="rect">
            <a:avLst/>
          </a:prstGeom>
          <a:noFill/>
          <a:ln w="9525" algn="ctr">
            <a:noFill/>
            <a:miter lim="800000"/>
            <a:headEnd/>
            <a:tailEnd/>
          </a:ln>
        </p:spPr>
        <p:txBody>
          <a:bodyPr>
            <a:spAutoFit/>
          </a:bodyPr>
          <a:lstStyle/>
          <a:p>
            <a:pPr algn="ctr" eaLnBrk="0" hangingPunct="0">
              <a:lnSpc>
                <a:spcPct val="90000"/>
              </a:lnSpc>
              <a:spcBef>
                <a:spcPct val="35000"/>
              </a:spcBef>
            </a:pPr>
            <a:r>
              <a:rPr lang="es-AR" sz="1200" b="1" i="1" dirty="0">
                <a:solidFill>
                  <a:schemeClr val="tx1"/>
                </a:solidFill>
              </a:rPr>
              <a:t>Resumen</a:t>
            </a:r>
          </a:p>
        </p:txBody>
      </p:sp>
      <p:grpSp>
        <p:nvGrpSpPr>
          <p:cNvPr id="4" name="Group 303"/>
          <p:cNvGrpSpPr/>
          <p:nvPr/>
        </p:nvGrpSpPr>
        <p:grpSpPr>
          <a:xfrm>
            <a:off x="2102615" y="4684079"/>
            <a:ext cx="504486" cy="485504"/>
            <a:chOff x="2123728" y="5025242"/>
            <a:chExt cx="504486" cy="485504"/>
          </a:xfrm>
        </p:grpSpPr>
        <p:sp>
          <p:nvSpPr>
            <p:cNvPr id="78" name="Oval 16"/>
            <p:cNvSpPr>
              <a:spLocks noChangeAspect="1" noChangeArrowheads="1"/>
            </p:cNvSpPr>
            <p:nvPr/>
          </p:nvSpPr>
          <p:spPr bwMode="auto">
            <a:xfrm>
              <a:off x="2123728" y="5025242"/>
              <a:ext cx="500524" cy="478035"/>
            </a:xfrm>
            <a:prstGeom prst="ellipse">
              <a:avLst/>
            </a:prstGeom>
            <a:solidFill>
              <a:schemeClr val="bg1"/>
            </a:solidFill>
            <a:ln w="3175">
              <a:solidFill>
                <a:schemeClr val="tx1"/>
              </a:solidFill>
              <a:round/>
              <a:headEnd/>
              <a:tailEnd/>
            </a:ln>
          </p:spPr>
          <p:txBody>
            <a:bodyPr wrap="none" lIns="54000" tIns="46800" rIns="54000" bIns="46800" anchor="ctr"/>
            <a:lstStyle/>
            <a:p>
              <a:pPr algn="ctr">
                <a:spcBef>
                  <a:spcPct val="50000"/>
                </a:spcBef>
              </a:pPr>
              <a:endParaRPr lang="en-US" sz="700">
                <a:solidFill>
                  <a:schemeClr val="tx1"/>
                </a:solidFill>
              </a:endParaRPr>
            </a:p>
          </p:txBody>
        </p:sp>
        <p:sp>
          <p:nvSpPr>
            <p:cNvPr id="79" name="Arc 17"/>
            <p:cNvSpPr>
              <a:spLocks noChangeAspect="1"/>
            </p:cNvSpPr>
            <p:nvPr/>
          </p:nvSpPr>
          <p:spPr bwMode="auto">
            <a:xfrm flipH="1">
              <a:off x="2132904" y="5025242"/>
              <a:ext cx="495310" cy="485504"/>
            </a:xfrm>
            <a:custGeom>
              <a:avLst/>
              <a:gdLst>
                <a:gd name="T0" fmla="*/ 0 w 43197"/>
                <a:gd name="T1" fmla="*/ 0 h 43200"/>
                <a:gd name="T2" fmla="*/ 0 w 43197"/>
                <a:gd name="T3" fmla="*/ 0 h 43200"/>
                <a:gd name="T4" fmla="*/ 0 w 43197"/>
                <a:gd name="T5" fmla="*/ 0 h 43200"/>
                <a:gd name="T6" fmla="*/ 0 60000 65536"/>
                <a:gd name="T7" fmla="*/ 0 60000 65536"/>
                <a:gd name="T8" fmla="*/ 0 60000 65536"/>
                <a:gd name="T9" fmla="*/ 0 w 43197"/>
                <a:gd name="T10" fmla="*/ 0 h 43200"/>
                <a:gd name="T11" fmla="*/ 43197 w 43197"/>
                <a:gd name="T12" fmla="*/ 43200 h 43200"/>
              </a:gdLst>
              <a:ahLst/>
              <a:cxnLst>
                <a:cxn ang="T6">
                  <a:pos x="T0" y="T1"/>
                </a:cxn>
                <a:cxn ang="T7">
                  <a:pos x="T2" y="T3"/>
                </a:cxn>
                <a:cxn ang="T8">
                  <a:pos x="T4" y="T5"/>
                </a:cxn>
              </a:cxnLst>
              <a:rect l="T9" t="T10" r="T11" b="T12"/>
              <a:pathLst>
                <a:path w="43197" h="43200" fill="none" extrusionOk="0">
                  <a:moveTo>
                    <a:pt x="43197" y="21936"/>
                  </a:moveTo>
                  <a:cubicBezTo>
                    <a:pt x="43013" y="33732"/>
                    <a:pt x="33398" y="43199"/>
                    <a:pt x="21600" y="43200"/>
                  </a:cubicBezTo>
                  <a:cubicBezTo>
                    <a:pt x="9670" y="43200"/>
                    <a:pt x="0" y="33529"/>
                    <a:pt x="0" y="21600"/>
                  </a:cubicBezTo>
                  <a:cubicBezTo>
                    <a:pt x="0" y="9670"/>
                    <a:pt x="9670" y="0"/>
                    <a:pt x="21600" y="0"/>
                  </a:cubicBezTo>
                  <a:cubicBezTo>
                    <a:pt x="21955" y="-1"/>
                    <a:pt x="22310" y="8"/>
                    <a:pt x="22664" y="26"/>
                  </a:cubicBezTo>
                </a:path>
                <a:path w="43197" h="43200" stroke="0" extrusionOk="0">
                  <a:moveTo>
                    <a:pt x="43197" y="21936"/>
                  </a:moveTo>
                  <a:cubicBezTo>
                    <a:pt x="43013" y="33732"/>
                    <a:pt x="33398" y="43199"/>
                    <a:pt x="21600" y="43200"/>
                  </a:cubicBezTo>
                  <a:cubicBezTo>
                    <a:pt x="9670" y="43200"/>
                    <a:pt x="0" y="33529"/>
                    <a:pt x="0" y="21600"/>
                  </a:cubicBezTo>
                  <a:cubicBezTo>
                    <a:pt x="0" y="9670"/>
                    <a:pt x="9670" y="0"/>
                    <a:pt x="21600" y="0"/>
                  </a:cubicBezTo>
                  <a:cubicBezTo>
                    <a:pt x="21955" y="-1"/>
                    <a:pt x="22310" y="8"/>
                    <a:pt x="22664" y="26"/>
                  </a:cubicBezTo>
                  <a:lnTo>
                    <a:pt x="21600" y="21600"/>
                  </a:lnTo>
                  <a:close/>
                </a:path>
              </a:pathLst>
            </a:custGeom>
            <a:solidFill>
              <a:schemeClr val="tx1"/>
            </a:solidFill>
            <a:ln w="3175">
              <a:solidFill>
                <a:schemeClr val="tx1"/>
              </a:solidFill>
              <a:round/>
              <a:headEnd/>
              <a:tailEnd/>
            </a:ln>
          </p:spPr>
          <p:txBody>
            <a:bodyPr wrap="none" lIns="54000" tIns="46800" rIns="54000" bIns="46800" anchor="ctr"/>
            <a:lstStyle/>
            <a:p>
              <a:endParaRPr lang="es-ES" sz="900"/>
            </a:p>
          </p:txBody>
        </p:sp>
      </p:grpSp>
      <p:sp>
        <p:nvSpPr>
          <p:cNvPr id="80" name="Rounded Rectangle 1"/>
          <p:cNvSpPr/>
          <p:nvPr/>
        </p:nvSpPr>
        <p:spPr>
          <a:xfrm>
            <a:off x="1907704" y="2414811"/>
            <a:ext cx="3789918" cy="792776"/>
          </a:xfrm>
          <a:prstGeom prst="roundRect">
            <a:avLst/>
          </a:prstGeom>
          <a:solidFill>
            <a:schemeClr val="accent1">
              <a:lumMod val="20000"/>
              <a:lumOff val="80000"/>
            </a:schemeClr>
          </a:solidFill>
          <a:ln>
            <a:solidFill>
              <a:schemeClr val="bg1">
                <a:lumMod val="5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81" name="Rounded Rectangle 302"/>
          <p:cNvSpPr/>
          <p:nvPr/>
        </p:nvSpPr>
        <p:spPr>
          <a:xfrm>
            <a:off x="1907704" y="4530692"/>
            <a:ext cx="3869304" cy="792776"/>
          </a:xfrm>
          <a:prstGeom prst="roundRect">
            <a:avLst/>
          </a:prstGeom>
          <a:solidFill>
            <a:schemeClr val="accent1">
              <a:lumMod val="20000"/>
              <a:lumOff val="80000"/>
            </a:schemeClr>
          </a:solidFill>
          <a:ln>
            <a:solidFill>
              <a:schemeClr val="bg1">
                <a:lumMod val="5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grpSp>
        <p:nvGrpSpPr>
          <p:cNvPr id="5" name="Group 370"/>
          <p:cNvGrpSpPr/>
          <p:nvPr/>
        </p:nvGrpSpPr>
        <p:grpSpPr>
          <a:xfrm>
            <a:off x="2175975" y="2568447"/>
            <a:ext cx="504486" cy="485504"/>
            <a:chOff x="2175975" y="2568447"/>
            <a:chExt cx="504486" cy="485504"/>
          </a:xfrm>
        </p:grpSpPr>
        <p:sp>
          <p:nvSpPr>
            <p:cNvPr id="83" name="Oval 16"/>
            <p:cNvSpPr>
              <a:spLocks noChangeAspect="1" noChangeArrowheads="1"/>
            </p:cNvSpPr>
            <p:nvPr/>
          </p:nvSpPr>
          <p:spPr bwMode="auto">
            <a:xfrm>
              <a:off x="2175975" y="2568447"/>
              <a:ext cx="500524" cy="478035"/>
            </a:xfrm>
            <a:prstGeom prst="ellipse">
              <a:avLst/>
            </a:prstGeom>
            <a:solidFill>
              <a:schemeClr val="bg1"/>
            </a:solidFill>
            <a:ln w="3175">
              <a:solidFill>
                <a:schemeClr val="bg1">
                  <a:lumMod val="75000"/>
                </a:schemeClr>
              </a:solidFill>
              <a:round/>
              <a:headEnd/>
              <a:tailEnd/>
            </a:ln>
          </p:spPr>
          <p:txBody>
            <a:bodyPr wrap="none" lIns="54000" tIns="46800" rIns="54000" bIns="46800" anchor="ctr"/>
            <a:lstStyle/>
            <a:p>
              <a:pPr algn="ctr">
                <a:spcBef>
                  <a:spcPct val="50000"/>
                </a:spcBef>
              </a:pPr>
              <a:endParaRPr lang="en-US" sz="700">
                <a:solidFill>
                  <a:schemeClr val="tx1"/>
                </a:solidFill>
              </a:endParaRPr>
            </a:p>
          </p:txBody>
        </p:sp>
        <p:sp>
          <p:nvSpPr>
            <p:cNvPr id="84" name="Arc 17"/>
            <p:cNvSpPr>
              <a:spLocks noChangeAspect="1"/>
            </p:cNvSpPr>
            <p:nvPr/>
          </p:nvSpPr>
          <p:spPr bwMode="auto">
            <a:xfrm flipH="1">
              <a:off x="2185151" y="2568447"/>
              <a:ext cx="495310" cy="485504"/>
            </a:xfrm>
            <a:custGeom>
              <a:avLst/>
              <a:gdLst>
                <a:gd name="T0" fmla="*/ 0 w 43197"/>
                <a:gd name="T1" fmla="*/ 0 h 43200"/>
                <a:gd name="T2" fmla="*/ 0 w 43197"/>
                <a:gd name="T3" fmla="*/ 0 h 43200"/>
                <a:gd name="T4" fmla="*/ 0 w 43197"/>
                <a:gd name="T5" fmla="*/ 0 h 43200"/>
                <a:gd name="T6" fmla="*/ 0 60000 65536"/>
                <a:gd name="T7" fmla="*/ 0 60000 65536"/>
                <a:gd name="T8" fmla="*/ 0 60000 65536"/>
                <a:gd name="T9" fmla="*/ 0 w 43197"/>
                <a:gd name="T10" fmla="*/ 0 h 43200"/>
                <a:gd name="T11" fmla="*/ 43197 w 43197"/>
                <a:gd name="T12" fmla="*/ 43200 h 43200"/>
              </a:gdLst>
              <a:ahLst/>
              <a:cxnLst>
                <a:cxn ang="T6">
                  <a:pos x="T0" y="T1"/>
                </a:cxn>
                <a:cxn ang="T7">
                  <a:pos x="T2" y="T3"/>
                </a:cxn>
                <a:cxn ang="T8">
                  <a:pos x="T4" y="T5"/>
                </a:cxn>
              </a:cxnLst>
              <a:rect l="T9" t="T10" r="T11" b="T12"/>
              <a:pathLst>
                <a:path w="43197" h="43200" fill="none" extrusionOk="0">
                  <a:moveTo>
                    <a:pt x="43197" y="21936"/>
                  </a:moveTo>
                  <a:cubicBezTo>
                    <a:pt x="43013" y="33732"/>
                    <a:pt x="33398" y="43199"/>
                    <a:pt x="21600" y="43200"/>
                  </a:cubicBezTo>
                  <a:cubicBezTo>
                    <a:pt x="9670" y="43200"/>
                    <a:pt x="0" y="33529"/>
                    <a:pt x="0" y="21600"/>
                  </a:cubicBezTo>
                  <a:cubicBezTo>
                    <a:pt x="0" y="9670"/>
                    <a:pt x="9670" y="0"/>
                    <a:pt x="21600" y="0"/>
                  </a:cubicBezTo>
                  <a:cubicBezTo>
                    <a:pt x="21955" y="-1"/>
                    <a:pt x="22310" y="8"/>
                    <a:pt x="22664" y="26"/>
                  </a:cubicBezTo>
                </a:path>
                <a:path w="43197" h="43200" stroke="0" extrusionOk="0">
                  <a:moveTo>
                    <a:pt x="43197" y="21936"/>
                  </a:moveTo>
                  <a:cubicBezTo>
                    <a:pt x="43013" y="33732"/>
                    <a:pt x="33398" y="43199"/>
                    <a:pt x="21600" y="43200"/>
                  </a:cubicBezTo>
                  <a:cubicBezTo>
                    <a:pt x="9670" y="43200"/>
                    <a:pt x="0" y="33529"/>
                    <a:pt x="0" y="21600"/>
                  </a:cubicBezTo>
                  <a:cubicBezTo>
                    <a:pt x="0" y="9670"/>
                    <a:pt x="9670" y="0"/>
                    <a:pt x="21600" y="0"/>
                  </a:cubicBezTo>
                  <a:cubicBezTo>
                    <a:pt x="21955" y="-1"/>
                    <a:pt x="22310" y="8"/>
                    <a:pt x="22664" y="26"/>
                  </a:cubicBezTo>
                  <a:lnTo>
                    <a:pt x="21600" y="21600"/>
                  </a:lnTo>
                  <a:close/>
                </a:path>
              </a:pathLst>
            </a:custGeom>
            <a:solidFill>
              <a:schemeClr val="tx1">
                <a:lumMod val="50000"/>
                <a:lumOff val="50000"/>
              </a:schemeClr>
            </a:solidFill>
            <a:ln w="3175">
              <a:solidFill>
                <a:schemeClr val="bg1">
                  <a:lumMod val="75000"/>
                </a:schemeClr>
              </a:solidFill>
              <a:round/>
              <a:headEnd/>
              <a:tailEnd/>
            </a:ln>
          </p:spPr>
          <p:txBody>
            <a:bodyPr wrap="none" lIns="54000" tIns="46800" rIns="54000" bIns="46800" anchor="ctr"/>
            <a:lstStyle/>
            <a:p>
              <a:endParaRPr lang="es-ES" sz="900"/>
            </a:p>
          </p:txBody>
        </p:sp>
      </p:grpSp>
      <p:sp>
        <p:nvSpPr>
          <p:cNvPr id="85" name="Oval 16"/>
          <p:cNvSpPr>
            <a:spLocks noChangeAspect="1" noChangeArrowheads="1"/>
          </p:cNvSpPr>
          <p:nvPr/>
        </p:nvSpPr>
        <p:spPr bwMode="auto">
          <a:xfrm rot="240000">
            <a:off x="3473007" y="2572182"/>
            <a:ext cx="500524" cy="478035"/>
          </a:xfrm>
          <a:prstGeom prst="ellipse">
            <a:avLst/>
          </a:prstGeom>
          <a:solidFill>
            <a:schemeClr val="bg1"/>
          </a:solidFill>
          <a:ln w="3175">
            <a:solidFill>
              <a:schemeClr val="bg1">
                <a:lumMod val="75000"/>
              </a:schemeClr>
            </a:solidFill>
            <a:round/>
            <a:headEnd/>
            <a:tailEnd/>
          </a:ln>
        </p:spPr>
        <p:txBody>
          <a:bodyPr wrap="none" lIns="54000" tIns="46800" rIns="54000" bIns="46800" anchor="ctr"/>
          <a:lstStyle/>
          <a:p>
            <a:pPr algn="ctr">
              <a:spcBef>
                <a:spcPct val="50000"/>
              </a:spcBef>
            </a:pPr>
            <a:endParaRPr lang="en-US" sz="700">
              <a:solidFill>
                <a:schemeClr val="tx1"/>
              </a:solidFill>
            </a:endParaRPr>
          </a:p>
        </p:txBody>
      </p:sp>
      <p:sp>
        <p:nvSpPr>
          <p:cNvPr id="86" name="Arc 20"/>
          <p:cNvSpPr>
            <a:spLocks noChangeAspect="1"/>
          </p:cNvSpPr>
          <p:nvPr/>
        </p:nvSpPr>
        <p:spPr bwMode="auto">
          <a:xfrm rot="240000" flipH="1">
            <a:off x="3722365" y="2580920"/>
            <a:ext cx="259875" cy="219884"/>
          </a:xfrm>
          <a:custGeom>
            <a:avLst/>
            <a:gdLst>
              <a:gd name="T0" fmla="*/ 0 w 22531"/>
              <a:gd name="T1" fmla="*/ 0 h 21600"/>
              <a:gd name="T2" fmla="*/ 0 w 22531"/>
              <a:gd name="T3" fmla="*/ 0 h 21600"/>
              <a:gd name="T4" fmla="*/ 0 w 22531"/>
              <a:gd name="T5" fmla="*/ 0 h 21600"/>
              <a:gd name="T6" fmla="*/ 0 60000 65536"/>
              <a:gd name="T7" fmla="*/ 0 60000 65536"/>
              <a:gd name="T8" fmla="*/ 0 60000 65536"/>
              <a:gd name="T9" fmla="*/ 0 w 22531"/>
              <a:gd name="T10" fmla="*/ 0 h 21600"/>
              <a:gd name="T11" fmla="*/ 22531 w 22531"/>
              <a:gd name="T12" fmla="*/ 21600 h 21600"/>
            </a:gdLst>
            <a:ahLst/>
            <a:cxnLst>
              <a:cxn ang="T6">
                <a:pos x="T0" y="T1"/>
              </a:cxn>
              <a:cxn ang="T7">
                <a:pos x="T2" y="T3"/>
              </a:cxn>
              <a:cxn ang="T8">
                <a:pos x="T4" y="T5"/>
              </a:cxn>
            </a:cxnLst>
            <a:rect l="T9" t="T10" r="T11" b="T12"/>
            <a:pathLst>
              <a:path w="22531" h="21600" fill="none" extrusionOk="0">
                <a:moveTo>
                  <a:pt x="-1" y="19200"/>
                </a:moveTo>
                <a:cubicBezTo>
                  <a:pt x="1221" y="8268"/>
                  <a:pt x="10465" y="-1"/>
                  <a:pt x="21466" y="0"/>
                </a:cubicBezTo>
                <a:cubicBezTo>
                  <a:pt x="21821" y="0"/>
                  <a:pt x="22176" y="8"/>
                  <a:pt x="22530" y="26"/>
                </a:cubicBezTo>
              </a:path>
              <a:path w="22531" h="21600" stroke="0" extrusionOk="0">
                <a:moveTo>
                  <a:pt x="-1" y="19200"/>
                </a:moveTo>
                <a:cubicBezTo>
                  <a:pt x="1221" y="8268"/>
                  <a:pt x="10465" y="-1"/>
                  <a:pt x="21466" y="0"/>
                </a:cubicBezTo>
                <a:cubicBezTo>
                  <a:pt x="21821" y="0"/>
                  <a:pt x="22176" y="8"/>
                  <a:pt x="22530" y="26"/>
                </a:cubicBezTo>
                <a:lnTo>
                  <a:pt x="21466" y="21600"/>
                </a:lnTo>
                <a:close/>
              </a:path>
            </a:pathLst>
          </a:custGeom>
          <a:solidFill>
            <a:schemeClr val="tx1">
              <a:lumMod val="50000"/>
              <a:lumOff val="50000"/>
            </a:schemeClr>
          </a:solidFill>
          <a:ln w="3175">
            <a:solidFill>
              <a:schemeClr val="bg1">
                <a:lumMod val="75000"/>
              </a:schemeClr>
            </a:solidFill>
            <a:round/>
            <a:headEnd/>
            <a:tailEnd/>
          </a:ln>
        </p:spPr>
        <p:txBody>
          <a:bodyPr wrap="none" lIns="54000" tIns="46800" rIns="54000" bIns="46800" anchor="ctr"/>
          <a:lstStyle/>
          <a:p>
            <a:endParaRPr lang="es-ES" sz="900"/>
          </a:p>
        </p:txBody>
      </p:sp>
      <p:sp>
        <p:nvSpPr>
          <p:cNvPr id="87" name="Oval 16"/>
          <p:cNvSpPr>
            <a:spLocks noChangeAspect="1" noChangeArrowheads="1"/>
          </p:cNvSpPr>
          <p:nvPr/>
        </p:nvSpPr>
        <p:spPr bwMode="auto">
          <a:xfrm>
            <a:off x="5070591" y="4678913"/>
            <a:ext cx="511200" cy="488231"/>
          </a:xfrm>
          <a:prstGeom prst="ellipse">
            <a:avLst/>
          </a:prstGeom>
          <a:solidFill>
            <a:schemeClr val="bg1"/>
          </a:solidFill>
          <a:ln w="3175">
            <a:solidFill>
              <a:schemeClr val="bg1">
                <a:lumMod val="75000"/>
              </a:schemeClr>
            </a:solidFill>
            <a:round/>
            <a:headEnd/>
            <a:tailEnd/>
          </a:ln>
        </p:spPr>
        <p:txBody>
          <a:bodyPr wrap="none" lIns="54000" tIns="46800" rIns="54000" bIns="46800" anchor="ctr"/>
          <a:lstStyle/>
          <a:p>
            <a:pPr algn="ctr">
              <a:spcBef>
                <a:spcPct val="50000"/>
              </a:spcBef>
            </a:pPr>
            <a:endParaRPr lang="en-US" sz="700"/>
          </a:p>
        </p:txBody>
      </p:sp>
      <p:sp>
        <p:nvSpPr>
          <p:cNvPr id="88" name="Oval 16"/>
          <p:cNvSpPr>
            <a:spLocks noChangeAspect="1" noChangeArrowheads="1"/>
          </p:cNvSpPr>
          <p:nvPr/>
        </p:nvSpPr>
        <p:spPr bwMode="auto">
          <a:xfrm rot="240000">
            <a:off x="4847500" y="2574049"/>
            <a:ext cx="500524" cy="478035"/>
          </a:xfrm>
          <a:prstGeom prst="ellipse">
            <a:avLst/>
          </a:prstGeom>
          <a:solidFill>
            <a:schemeClr val="bg1"/>
          </a:solidFill>
          <a:ln w="3175">
            <a:solidFill>
              <a:schemeClr val="bg1">
                <a:lumMod val="75000"/>
              </a:schemeClr>
            </a:solidFill>
            <a:round/>
            <a:headEnd/>
            <a:tailEnd/>
          </a:ln>
        </p:spPr>
        <p:txBody>
          <a:bodyPr wrap="none" lIns="54000" tIns="46800" rIns="54000" bIns="46800" anchor="ctr"/>
          <a:lstStyle/>
          <a:p>
            <a:pPr algn="ctr">
              <a:spcBef>
                <a:spcPct val="50000"/>
              </a:spcBef>
            </a:pPr>
            <a:endParaRPr lang="en-US" sz="700"/>
          </a:p>
        </p:txBody>
      </p:sp>
      <p:sp>
        <p:nvSpPr>
          <p:cNvPr id="89" name="Arc 20"/>
          <p:cNvSpPr>
            <a:spLocks noChangeAspect="1"/>
          </p:cNvSpPr>
          <p:nvPr/>
        </p:nvSpPr>
        <p:spPr bwMode="auto">
          <a:xfrm rot="240000" flipH="1">
            <a:off x="5096858" y="2582787"/>
            <a:ext cx="259875" cy="219884"/>
          </a:xfrm>
          <a:custGeom>
            <a:avLst/>
            <a:gdLst>
              <a:gd name="T0" fmla="*/ 0 w 22531"/>
              <a:gd name="T1" fmla="*/ 0 h 21600"/>
              <a:gd name="T2" fmla="*/ 0 w 22531"/>
              <a:gd name="T3" fmla="*/ 0 h 21600"/>
              <a:gd name="T4" fmla="*/ 0 w 22531"/>
              <a:gd name="T5" fmla="*/ 0 h 21600"/>
              <a:gd name="T6" fmla="*/ 0 60000 65536"/>
              <a:gd name="T7" fmla="*/ 0 60000 65536"/>
              <a:gd name="T8" fmla="*/ 0 60000 65536"/>
              <a:gd name="T9" fmla="*/ 0 w 22531"/>
              <a:gd name="T10" fmla="*/ 0 h 21600"/>
              <a:gd name="T11" fmla="*/ 22531 w 22531"/>
              <a:gd name="T12" fmla="*/ 21600 h 21600"/>
            </a:gdLst>
            <a:ahLst/>
            <a:cxnLst>
              <a:cxn ang="T6">
                <a:pos x="T0" y="T1"/>
              </a:cxn>
              <a:cxn ang="T7">
                <a:pos x="T2" y="T3"/>
              </a:cxn>
              <a:cxn ang="T8">
                <a:pos x="T4" y="T5"/>
              </a:cxn>
            </a:cxnLst>
            <a:rect l="T9" t="T10" r="T11" b="T12"/>
            <a:pathLst>
              <a:path w="22531" h="21600" fill="none" extrusionOk="0">
                <a:moveTo>
                  <a:pt x="-1" y="19200"/>
                </a:moveTo>
                <a:cubicBezTo>
                  <a:pt x="1221" y="8268"/>
                  <a:pt x="10465" y="-1"/>
                  <a:pt x="21466" y="0"/>
                </a:cubicBezTo>
                <a:cubicBezTo>
                  <a:pt x="21821" y="0"/>
                  <a:pt x="22176" y="8"/>
                  <a:pt x="22530" y="26"/>
                </a:cubicBezTo>
              </a:path>
              <a:path w="22531" h="21600" stroke="0" extrusionOk="0">
                <a:moveTo>
                  <a:pt x="-1" y="19200"/>
                </a:moveTo>
                <a:cubicBezTo>
                  <a:pt x="1221" y="8268"/>
                  <a:pt x="10465" y="-1"/>
                  <a:pt x="21466" y="0"/>
                </a:cubicBezTo>
                <a:cubicBezTo>
                  <a:pt x="21821" y="0"/>
                  <a:pt x="22176" y="8"/>
                  <a:pt x="22530" y="26"/>
                </a:cubicBezTo>
                <a:lnTo>
                  <a:pt x="21466" y="21600"/>
                </a:lnTo>
                <a:close/>
              </a:path>
            </a:pathLst>
          </a:custGeom>
          <a:solidFill>
            <a:schemeClr val="tx1">
              <a:lumMod val="50000"/>
              <a:lumOff val="50000"/>
            </a:schemeClr>
          </a:solidFill>
          <a:ln w="3175">
            <a:solidFill>
              <a:schemeClr val="bg1">
                <a:lumMod val="75000"/>
              </a:schemeClr>
            </a:solidFill>
            <a:round/>
            <a:headEnd/>
            <a:tailEnd/>
          </a:ln>
        </p:spPr>
        <p:txBody>
          <a:bodyPr wrap="none" lIns="54000" tIns="46800" rIns="54000" bIns="46800" anchor="ctr"/>
          <a:lstStyle/>
          <a:p>
            <a:endParaRPr lang="es-ES" sz="900"/>
          </a:p>
        </p:txBody>
      </p:sp>
      <p:grpSp>
        <p:nvGrpSpPr>
          <p:cNvPr id="6" name="Group 378"/>
          <p:cNvGrpSpPr/>
          <p:nvPr/>
        </p:nvGrpSpPr>
        <p:grpSpPr>
          <a:xfrm>
            <a:off x="3164454" y="4689109"/>
            <a:ext cx="509233" cy="478035"/>
            <a:chOff x="3230593" y="4678913"/>
            <a:chExt cx="509233" cy="478035"/>
          </a:xfrm>
        </p:grpSpPr>
        <p:sp>
          <p:nvSpPr>
            <p:cNvPr id="91" name="Oval 16"/>
            <p:cNvSpPr>
              <a:spLocks noChangeAspect="1" noChangeArrowheads="1"/>
            </p:cNvSpPr>
            <p:nvPr/>
          </p:nvSpPr>
          <p:spPr bwMode="auto">
            <a:xfrm rot="240000">
              <a:off x="3230593" y="4678913"/>
              <a:ext cx="500524" cy="478035"/>
            </a:xfrm>
            <a:prstGeom prst="ellipse">
              <a:avLst/>
            </a:prstGeom>
            <a:solidFill>
              <a:schemeClr val="bg1"/>
            </a:solidFill>
            <a:ln w="3175">
              <a:solidFill>
                <a:schemeClr val="bg1">
                  <a:lumMod val="75000"/>
                </a:schemeClr>
              </a:solidFill>
              <a:round/>
              <a:headEnd/>
              <a:tailEnd/>
            </a:ln>
          </p:spPr>
          <p:txBody>
            <a:bodyPr wrap="none" lIns="54000" tIns="46800" rIns="54000" bIns="46800" anchor="ctr"/>
            <a:lstStyle/>
            <a:p>
              <a:pPr algn="ctr">
                <a:spcBef>
                  <a:spcPct val="50000"/>
                </a:spcBef>
              </a:pPr>
              <a:endParaRPr lang="en-US" sz="700"/>
            </a:p>
          </p:txBody>
        </p:sp>
        <p:sp>
          <p:nvSpPr>
            <p:cNvPr id="92" name="Arc 20"/>
            <p:cNvSpPr>
              <a:spLocks noChangeAspect="1"/>
            </p:cNvSpPr>
            <p:nvPr/>
          </p:nvSpPr>
          <p:spPr bwMode="auto">
            <a:xfrm rot="240000" flipH="1">
              <a:off x="3479951" y="4696552"/>
              <a:ext cx="259875" cy="219884"/>
            </a:xfrm>
            <a:custGeom>
              <a:avLst/>
              <a:gdLst>
                <a:gd name="T0" fmla="*/ 0 w 22531"/>
                <a:gd name="T1" fmla="*/ 0 h 21600"/>
                <a:gd name="T2" fmla="*/ 0 w 22531"/>
                <a:gd name="T3" fmla="*/ 0 h 21600"/>
                <a:gd name="T4" fmla="*/ 0 w 22531"/>
                <a:gd name="T5" fmla="*/ 0 h 21600"/>
                <a:gd name="T6" fmla="*/ 0 60000 65536"/>
                <a:gd name="T7" fmla="*/ 0 60000 65536"/>
                <a:gd name="T8" fmla="*/ 0 60000 65536"/>
                <a:gd name="T9" fmla="*/ 0 w 22531"/>
                <a:gd name="T10" fmla="*/ 0 h 21600"/>
                <a:gd name="T11" fmla="*/ 22531 w 22531"/>
                <a:gd name="T12" fmla="*/ 21600 h 21600"/>
              </a:gdLst>
              <a:ahLst/>
              <a:cxnLst>
                <a:cxn ang="T6">
                  <a:pos x="T0" y="T1"/>
                </a:cxn>
                <a:cxn ang="T7">
                  <a:pos x="T2" y="T3"/>
                </a:cxn>
                <a:cxn ang="T8">
                  <a:pos x="T4" y="T5"/>
                </a:cxn>
              </a:cxnLst>
              <a:rect l="T9" t="T10" r="T11" b="T12"/>
              <a:pathLst>
                <a:path w="22531" h="21600" fill="none" extrusionOk="0">
                  <a:moveTo>
                    <a:pt x="-1" y="19200"/>
                  </a:moveTo>
                  <a:cubicBezTo>
                    <a:pt x="1221" y="8268"/>
                    <a:pt x="10465" y="-1"/>
                    <a:pt x="21466" y="0"/>
                  </a:cubicBezTo>
                  <a:cubicBezTo>
                    <a:pt x="21821" y="0"/>
                    <a:pt x="22176" y="8"/>
                    <a:pt x="22530" y="26"/>
                  </a:cubicBezTo>
                </a:path>
                <a:path w="22531" h="21600" stroke="0" extrusionOk="0">
                  <a:moveTo>
                    <a:pt x="-1" y="19200"/>
                  </a:moveTo>
                  <a:cubicBezTo>
                    <a:pt x="1221" y="8268"/>
                    <a:pt x="10465" y="-1"/>
                    <a:pt x="21466" y="0"/>
                  </a:cubicBezTo>
                  <a:cubicBezTo>
                    <a:pt x="21821" y="0"/>
                    <a:pt x="22176" y="8"/>
                    <a:pt x="22530" y="26"/>
                  </a:cubicBezTo>
                  <a:lnTo>
                    <a:pt x="21466" y="21600"/>
                  </a:lnTo>
                  <a:close/>
                </a:path>
              </a:pathLst>
            </a:custGeom>
            <a:solidFill>
              <a:schemeClr val="tx1">
                <a:lumMod val="50000"/>
                <a:lumOff val="50000"/>
              </a:schemeClr>
            </a:solidFill>
            <a:ln w="3175">
              <a:solidFill>
                <a:schemeClr val="bg1">
                  <a:lumMod val="75000"/>
                </a:schemeClr>
              </a:solidFill>
              <a:round/>
              <a:headEnd/>
              <a:tailEnd/>
            </a:ln>
          </p:spPr>
          <p:txBody>
            <a:bodyPr wrap="none" lIns="54000" tIns="46800" rIns="54000" bIns="46800" anchor="ctr"/>
            <a:lstStyle/>
            <a:p>
              <a:endParaRPr lang="es-ES" sz="900"/>
            </a:p>
          </p:txBody>
        </p:sp>
      </p:grpSp>
      <p:grpSp>
        <p:nvGrpSpPr>
          <p:cNvPr id="7" name="Group 379"/>
          <p:cNvGrpSpPr/>
          <p:nvPr/>
        </p:nvGrpSpPr>
        <p:grpSpPr>
          <a:xfrm>
            <a:off x="4169712" y="4689109"/>
            <a:ext cx="509233" cy="478035"/>
            <a:chOff x="4136974" y="4678913"/>
            <a:chExt cx="509233" cy="478035"/>
          </a:xfrm>
        </p:grpSpPr>
        <p:sp>
          <p:nvSpPr>
            <p:cNvPr id="94" name="Oval 16"/>
            <p:cNvSpPr>
              <a:spLocks noChangeAspect="1" noChangeArrowheads="1"/>
            </p:cNvSpPr>
            <p:nvPr/>
          </p:nvSpPr>
          <p:spPr bwMode="auto">
            <a:xfrm rot="240000">
              <a:off x="4136974" y="4678913"/>
              <a:ext cx="500524" cy="478035"/>
            </a:xfrm>
            <a:prstGeom prst="ellipse">
              <a:avLst/>
            </a:prstGeom>
            <a:solidFill>
              <a:schemeClr val="bg1"/>
            </a:solidFill>
            <a:ln w="3175">
              <a:solidFill>
                <a:schemeClr val="bg1">
                  <a:lumMod val="75000"/>
                </a:schemeClr>
              </a:solidFill>
              <a:round/>
              <a:headEnd/>
              <a:tailEnd/>
            </a:ln>
          </p:spPr>
          <p:txBody>
            <a:bodyPr wrap="none" lIns="54000" tIns="46800" rIns="54000" bIns="46800" anchor="ctr"/>
            <a:lstStyle/>
            <a:p>
              <a:pPr algn="ctr">
                <a:spcBef>
                  <a:spcPct val="50000"/>
                </a:spcBef>
              </a:pPr>
              <a:endParaRPr lang="en-US" sz="700"/>
            </a:p>
          </p:txBody>
        </p:sp>
        <p:sp>
          <p:nvSpPr>
            <p:cNvPr id="95" name="Arc 20"/>
            <p:cNvSpPr>
              <a:spLocks noChangeAspect="1"/>
            </p:cNvSpPr>
            <p:nvPr/>
          </p:nvSpPr>
          <p:spPr bwMode="auto">
            <a:xfrm rot="240000" flipH="1">
              <a:off x="4386332" y="4696552"/>
              <a:ext cx="259875" cy="219884"/>
            </a:xfrm>
            <a:custGeom>
              <a:avLst/>
              <a:gdLst>
                <a:gd name="T0" fmla="*/ 0 w 22531"/>
                <a:gd name="T1" fmla="*/ 0 h 21600"/>
                <a:gd name="T2" fmla="*/ 0 w 22531"/>
                <a:gd name="T3" fmla="*/ 0 h 21600"/>
                <a:gd name="T4" fmla="*/ 0 w 22531"/>
                <a:gd name="T5" fmla="*/ 0 h 21600"/>
                <a:gd name="T6" fmla="*/ 0 60000 65536"/>
                <a:gd name="T7" fmla="*/ 0 60000 65536"/>
                <a:gd name="T8" fmla="*/ 0 60000 65536"/>
                <a:gd name="T9" fmla="*/ 0 w 22531"/>
                <a:gd name="T10" fmla="*/ 0 h 21600"/>
                <a:gd name="T11" fmla="*/ 22531 w 22531"/>
                <a:gd name="T12" fmla="*/ 21600 h 21600"/>
              </a:gdLst>
              <a:ahLst/>
              <a:cxnLst>
                <a:cxn ang="T6">
                  <a:pos x="T0" y="T1"/>
                </a:cxn>
                <a:cxn ang="T7">
                  <a:pos x="T2" y="T3"/>
                </a:cxn>
                <a:cxn ang="T8">
                  <a:pos x="T4" y="T5"/>
                </a:cxn>
              </a:cxnLst>
              <a:rect l="T9" t="T10" r="T11" b="T12"/>
              <a:pathLst>
                <a:path w="22531" h="21600" fill="none" extrusionOk="0">
                  <a:moveTo>
                    <a:pt x="-1" y="19200"/>
                  </a:moveTo>
                  <a:cubicBezTo>
                    <a:pt x="1221" y="8268"/>
                    <a:pt x="10465" y="-1"/>
                    <a:pt x="21466" y="0"/>
                  </a:cubicBezTo>
                  <a:cubicBezTo>
                    <a:pt x="21821" y="0"/>
                    <a:pt x="22176" y="8"/>
                    <a:pt x="22530" y="26"/>
                  </a:cubicBezTo>
                </a:path>
                <a:path w="22531" h="21600" stroke="0" extrusionOk="0">
                  <a:moveTo>
                    <a:pt x="-1" y="19200"/>
                  </a:moveTo>
                  <a:cubicBezTo>
                    <a:pt x="1221" y="8268"/>
                    <a:pt x="10465" y="-1"/>
                    <a:pt x="21466" y="0"/>
                  </a:cubicBezTo>
                  <a:cubicBezTo>
                    <a:pt x="21821" y="0"/>
                    <a:pt x="22176" y="8"/>
                    <a:pt x="22530" y="26"/>
                  </a:cubicBezTo>
                  <a:lnTo>
                    <a:pt x="21466" y="21600"/>
                  </a:lnTo>
                  <a:close/>
                </a:path>
              </a:pathLst>
            </a:custGeom>
            <a:solidFill>
              <a:schemeClr val="tx1">
                <a:lumMod val="50000"/>
                <a:lumOff val="50000"/>
              </a:schemeClr>
            </a:solidFill>
            <a:ln w="3175">
              <a:solidFill>
                <a:schemeClr val="bg1">
                  <a:lumMod val="75000"/>
                </a:schemeClr>
              </a:solidFill>
              <a:round/>
              <a:headEnd/>
              <a:tailEnd/>
            </a:ln>
          </p:spPr>
          <p:txBody>
            <a:bodyPr wrap="none" lIns="54000" tIns="46800" rIns="54000" bIns="46800" anchor="ctr"/>
            <a:lstStyle/>
            <a:p>
              <a:endParaRPr lang="es-ES" sz="900"/>
            </a:p>
          </p:txBody>
        </p:sp>
      </p:grpSp>
      <p:grpSp>
        <p:nvGrpSpPr>
          <p:cNvPr id="8" name="Group 377"/>
          <p:cNvGrpSpPr/>
          <p:nvPr/>
        </p:nvGrpSpPr>
        <p:grpSpPr>
          <a:xfrm>
            <a:off x="6007893" y="4570680"/>
            <a:ext cx="867600" cy="712800"/>
            <a:chOff x="6007894" y="4610919"/>
            <a:chExt cx="758825" cy="631825"/>
          </a:xfrm>
        </p:grpSpPr>
        <p:sp>
          <p:nvSpPr>
            <p:cNvPr id="97" name="AutoShape 37"/>
            <p:cNvSpPr>
              <a:spLocks noChangeArrowheads="1"/>
            </p:cNvSpPr>
            <p:nvPr/>
          </p:nvSpPr>
          <p:spPr bwMode="auto">
            <a:xfrm>
              <a:off x="6007894" y="4610919"/>
              <a:ext cx="758825" cy="631825"/>
            </a:xfrm>
            <a:prstGeom prst="roundRect">
              <a:avLst>
                <a:gd name="adj" fmla="val 14019"/>
              </a:avLst>
            </a:prstGeom>
            <a:solidFill>
              <a:srgbClr val="DB0613"/>
            </a:solidFill>
            <a:ln w="9525">
              <a:solidFill>
                <a:srgbClr val="DB0613"/>
              </a:solidFill>
              <a:round/>
              <a:headEnd/>
              <a:tailEnd/>
            </a:ln>
          </p:spPr>
          <p:txBody>
            <a:bodyPr wrap="none" anchor="ctr"/>
            <a:lstStyle/>
            <a:p>
              <a:endParaRPr lang="es-ES"/>
            </a:p>
          </p:txBody>
        </p:sp>
        <p:grpSp>
          <p:nvGrpSpPr>
            <p:cNvPr id="9" name="Group 376"/>
            <p:cNvGrpSpPr/>
            <p:nvPr/>
          </p:nvGrpSpPr>
          <p:grpSpPr>
            <a:xfrm>
              <a:off x="6137044" y="4687814"/>
              <a:ext cx="509233" cy="478035"/>
              <a:chOff x="6137044" y="4687814"/>
              <a:chExt cx="509233" cy="478035"/>
            </a:xfrm>
          </p:grpSpPr>
          <p:sp>
            <p:nvSpPr>
              <p:cNvPr id="99" name="Oval 16"/>
              <p:cNvSpPr>
                <a:spLocks noChangeAspect="1" noChangeArrowheads="1"/>
              </p:cNvSpPr>
              <p:nvPr/>
            </p:nvSpPr>
            <p:spPr bwMode="auto">
              <a:xfrm rot="240000">
                <a:off x="6137044" y="4687814"/>
                <a:ext cx="500524" cy="478035"/>
              </a:xfrm>
              <a:prstGeom prst="ellipse">
                <a:avLst/>
              </a:prstGeom>
              <a:solidFill>
                <a:schemeClr val="bg1"/>
              </a:solidFill>
              <a:ln w="3175">
                <a:solidFill>
                  <a:schemeClr val="bg1">
                    <a:lumMod val="75000"/>
                  </a:schemeClr>
                </a:solidFill>
                <a:round/>
                <a:headEnd/>
                <a:tailEnd/>
              </a:ln>
            </p:spPr>
            <p:txBody>
              <a:bodyPr wrap="none" lIns="54000" tIns="46800" rIns="54000" bIns="46800" anchor="ctr"/>
              <a:lstStyle/>
              <a:p>
                <a:pPr algn="ctr">
                  <a:spcBef>
                    <a:spcPct val="50000"/>
                  </a:spcBef>
                </a:pPr>
                <a:endParaRPr lang="en-US" sz="700"/>
              </a:p>
            </p:txBody>
          </p:sp>
          <p:sp>
            <p:nvSpPr>
              <p:cNvPr id="100" name="Arc 20"/>
              <p:cNvSpPr>
                <a:spLocks noChangeAspect="1"/>
              </p:cNvSpPr>
              <p:nvPr/>
            </p:nvSpPr>
            <p:spPr bwMode="auto">
              <a:xfrm rot="240000" flipH="1">
                <a:off x="6386402" y="4696552"/>
                <a:ext cx="259875" cy="219884"/>
              </a:xfrm>
              <a:custGeom>
                <a:avLst/>
                <a:gdLst>
                  <a:gd name="T0" fmla="*/ 0 w 22531"/>
                  <a:gd name="T1" fmla="*/ 0 h 21600"/>
                  <a:gd name="T2" fmla="*/ 0 w 22531"/>
                  <a:gd name="T3" fmla="*/ 0 h 21600"/>
                  <a:gd name="T4" fmla="*/ 0 w 22531"/>
                  <a:gd name="T5" fmla="*/ 0 h 21600"/>
                  <a:gd name="T6" fmla="*/ 0 60000 65536"/>
                  <a:gd name="T7" fmla="*/ 0 60000 65536"/>
                  <a:gd name="T8" fmla="*/ 0 60000 65536"/>
                  <a:gd name="T9" fmla="*/ 0 w 22531"/>
                  <a:gd name="T10" fmla="*/ 0 h 21600"/>
                  <a:gd name="T11" fmla="*/ 22531 w 22531"/>
                  <a:gd name="T12" fmla="*/ 21600 h 21600"/>
                </a:gdLst>
                <a:ahLst/>
                <a:cxnLst>
                  <a:cxn ang="T6">
                    <a:pos x="T0" y="T1"/>
                  </a:cxn>
                  <a:cxn ang="T7">
                    <a:pos x="T2" y="T3"/>
                  </a:cxn>
                  <a:cxn ang="T8">
                    <a:pos x="T4" y="T5"/>
                  </a:cxn>
                </a:cxnLst>
                <a:rect l="T9" t="T10" r="T11" b="T12"/>
                <a:pathLst>
                  <a:path w="22531" h="21600" fill="none" extrusionOk="0">
                    <a:moveTo>
                      <a:pt x="-1" y="19200"/>
                    </a:moveTo>
                    <a:cubicBezTo>
                      <a:pt x="1221" y="8268"/>
                      <a:pt x="10465" y="-1"/>
                      <a:pt x="21466" y="0"/>
                    </a:cubicBezTo>
                    <a:cubicBezTo>
                      <a:pt x="21821" y="0"/>
                      <a:pt x="22176" y="8"/>
                      <a:pt x="22530" y="26"/>
                    </a:cubicBezTo>
                  </a:path>
                  <a:path w="22531" h="21600" stroke="0" extrusionOk="0">
                    <a:moveTo>
                      <a:pt x="-1" y="19200"/>
                    </a:moveTo>
                    <a:cubicBezTo>
                      <a:pt x="1221" y="8268"/>
                      <a:pt x="10465" y="-1"/>
                      <a:pt x="21466" y="0"/>
                    </a:cubicBezTo>
                    <a:cubicBezTo>
                      <a:pt x="21821" y="0"/>
                      <a:pt x="22176" y="8"/>
                      <a:pt x="22530" y="26"/>
                    </a:cubicBezTo>
                    <a:lnTo>
                      <a:pt x="21466" y="21600"/>
                    </a:lnTo>
                    <a:close/>
                  </a:path>
                </a:pathLst>
              </a:custGeom>
              <a:solidFill>
                <a:schemeClr val="tx1">
                  <a:lumMod val="50000"/>
                  <a:lumOff val="50000"/>
                </a:schemeClr>
              </a:solidFill>
              <a:ln w="3175">
                <a:solidFill>
                  <a:schemeClr val="bg1">
                    <a:lumMod val="75000"/>
                  </a:schemeClr>
                </a:solidFill>
                <a:round/>
                <a:headEnd/>
                <a:tailEnd/>
              </a:ln>
            </p:spPr>
            <p:txBody>
              <a:bodyPr wrap="none" lIns="54000" tIns="46800" rIns="54000" bIns="46800" anchor="ctr"/>
              <a:lstStyle/>
              <a:p>
                <a:endParaRPr lang="es-ES" sz="900"/>
              </a:p>
            </p:txBody>
          </p:sp>
        </p:grpSp>
      </p:grpSp>
      <p:grpSp>
        <p:nvGrpSpPr>
          <p:cNvPr id="10" name="Group 371"/>
          <p:cNvGrpSpPr/>
          <p:nvPr/>
        </p:nvGrpSpPr>
        <p:grpSpPr>
          <a:xfrm>
            <a:off x="2051720" y="4681640"/>
            <a:ext cx="504486" cy="485504"/>
            <a:chOff x="2175975" y="2568447"/>
            <a:chExt cx="504486" cy="485504"/>
          </a:xfrm>
        </p:grpSpPr>
        <p:sp>
          <p:nvSpPr>
            <p:cNvPr id="102" name="Oval 16"/>
            <p:cNvSpPr>
              <a:spLocks noChangeAspect="1" noChangeArrowheads="1"/>
            </p:cNvSpPr>
            <p:nvPr/>
          </p:nvSpPr>
          <p:spPr bwMode="auto">
            <a:xfrm>
              <a:off x="2175975" y="2568447"/>
              <a:ext cx="500524" cy="478035"/>
            </a:xfrm>
            <a:prstGeom prst="ellipse">
              <a:avLst/>
            </a:prstGeom>
            <a:solidFill>
              <a:schemeClr val="bg1"/>
            </a:solidFill>
            <a:ln w="3175">
              <a:solidFill>
                <a:schemeClr val="bg1">
                  <a:lumMod val="75000"/>
                </a:schemeClr>
              </a:solidFill>
              <a:round/>
              <a:headEnd/>
              <a:tailEnd/>
            </a:ln>
          </p:spPr>
          <p:txBody>
            <a:bodyPr wrap="none" lIns="54000" tIns="46800" rIns="54000" bIns="46800" anchor="ctr"/>
            <a:lstStyle/>
            <a:p>
              <a:pPr algn="ctr">
                <a:spcBef>
                  <a:spcPct val="50000"/>
                </a:spcBef>
              </a:pPr>
              <a:endParaRPr lang="en-US" sz="700">
                <a:solidFill>
                  <a:schemeClr val="tx1"/>
                </a:solidFill>
              </a:endParaRPr>
            </a:p>
          </p:txBody>
        </p:sp>
        <p:sp>
          <p:nvSpPr>
            <p:cNvPr id="103" name="Arc 17"/>
            <p:cNvSpPr>
              <a:spLocks noChangeAspect="1"/>
            </p:cNvSpPr>
            <p:nvPr/>
          </p:nvSpPr>
          <p:spPr bwMode="auto">
            <a:xfrm flipH="1">
              <a:off x="2185151" y="2568447"/>
              <a:ext cx="495310" cy="485504"/>
            </a:xfrm>
            <a:custGeom>
              <a:avLst/>
              <a:gdLst>
                <a:gd name="T0" fmla="*/ 0 w 43197"/>
                <a:gd name="T1" fmla="*/ 0 h 43200"/>
                <a:gd name="T2" fmla="*/ 0 w 43197"/>
                <a:gd name="T3" fmla="*/ 0 h 43200"/>
                <a:gd name="T4" fmla="*/ 0 w 43197"/>
                <a:gd name="T5" fmla="*/ 0 h 43200"/>
                <a:gd name="T6" fmla="*/ 0 60000 65536"/>
                <a:gd name="T7" fmla="*/ 0 60000 65536"/>
                <a:gd name="T8" fmla="*/ 0 60000 65536"/>
                <a:gd name="T9" fmla="*/ 0 w 43197"/>
                <a:gd name="T10" fmla="*/ 0 h 43200"/>
                <a:gd name="T11" fmla="*/ 43197 w 43197"/>
                <a:gd name="T12" fmla="*/ 43200 h 43200"/>
              </a:gdLst>
              <a:ahLst/>
              <a:cxnLst>
                <a:cxn ang="T6">
                  <a:pos x="T0" y="T1"/>
                </a:cxn>
                <a:cxn ang="T7">
                  <a:pos x="T2" y="T3"/>
                </a:cxn>
                <a:cxn ang="T8">
                  <a:pos x="T4" y="T5"/>
                </a:cxn>
              </a:cxnLst>
              <a:rect l="T9" t="T10" r="T11" b="T12"/>
              <a:pathLst>
                <a:path w="43197" h="43200" fill="none" extrusionOk="0">
                  <a:moveTo>
                    <a:pt x="43197" y="21936"/>
                  </a:moveTo>
                  <a:cubicBezTo>
                    <a:pt x="43013" y="33732"/>
                    <a:pt x="33398" y="43199"/>
                    <a:pt x="21600" y="43200"/>
                  </a:cubicBezTo>
                  <a:cubicBezTo>
                    <a:pt x="9670" y="43200"/>
                    <a:pt x="0" y="33529"/>
                    <a:pt x="0" y="21600"/>
                  </a:cubicBezTo>
                  <a:cubicBezTo>
                    <a:pt x="0" y="9670"/>
                    <a:pt x="9670" y="0"/>
                    <a:pt x="21600" y="0"/>
                  </a:cubicBezTo>
                  <a:cubicBezTo>
                    <a:pt x="21955" y="-1"/>
                    <a:pt x="22310" y="8"/>
                    <a:pt x="22664" y="26"/>
                  </a:cubicBezTo>
                </a:path>
                <a:path w="43197" h="43200" stroke="0" extrusionOk="0">
                  <a:moveTo>
                    <a:pt x="43197" y="21936"/>
                  </a:moveTo>
                  <a:cubicBezTo>
                    <a:pt x="43013" y="33732"/>
                    <a:pt x="33398" y="43199"/>
                    <a:pt x="21600" y="43200"/>
                  </a:cubicBezTo>
                  <a:cubicBezTo>
                    <a:pt x="9670" y="43200"/>
                    <a:pt x="0" y="33529"/>
                    <a:pt x="0" y="21600"/>
                  </a:cubicBezTo>
                  <a:cubicBezTo>
                    <a:pt x="0" y="9670"/>
                    <a:pt x="9670" y="0"/>
                    <a:pt x="21600" y="0"/>
                  </a:cubicBezTo>
                  <a:cubicBezTo>
                    <a:pt x="21955" y="-1"/>
                    <a:pt x="22310" y="8"/>
                    <a:pt x="22664" y="26"/>
                  </a:cubicBezTo>
                  <a:lnTo>
                    <a:pt x="21600" y="21600"/>
                  </a:lnTo>
                  <a:close/>
                </a:path>
              </a:pathLst>
            </a:custGeom>
            <a:solidFill>
              <a:schemeClr val="tx1">
                <a:lumMod val="50000"/>
                <a:lumOff val="50000"/>
              </a:schemeClr>
            </a:solidFill>
            <a:ln w="3175">
              <a:solidFill>
                <a:schemeClr val="bg1">
                  <a:lumMod val="75000"/>
                </a:schemeClr>
              </a:solidFill>
              <a:round/>
              <a:headEnd/>
              <a:tailEnd/>
            </a:ln>
          </p:spPr>
          <p:txBody>
            <a:bodyPr wrap="none" lIns="54000" tIns="46800" rIns="54000" bIns="46800" anchor="ctr"/>
            <a:lstStyle/>
            <a:p>
              <a:endParaRPr lang="es-ES" sz="900"/>
            </a:p>
          </p:txBody>
        </p:sp>
      </p:grpSp>
      <p:grpSp>
        <p:nvGrpSpPr>
          <p:cNvPr id="11" name="103 Grupo"/>
          <p:cNvGrpSpPr/>
          <p:nvPr/>
        </p:nvGrpSpPr>
        <p:grpSpPr>
          <a:xfrm>
            <a:off x="5898356" y="2455049"/>
            <a:ext cx="868363" cy="712300"/>
            <a:chOff x="5898356" y="2455049"/>
            <a:chExt cx="868363" cy="712300"/>
          </a:xfrm>
        </p:grpSpPr>
        <p:sp>
          <p:nvSpPr>
            <p:cNvPr id="105" name="AutoShape 37"/>
            <p:cNvSpPr>
              <a:spLocks noChangeArrowheads="1"/>
            </p:cNvSpPr>
            <p:nvPr/>
          </p:nvSpPr>
          <p:spPr bwMode="auto">
            <a:xfrm>
              <a:off x="5898356" y="2455049"/>
              <a:ext cx="868363" cy="712300"/>
            </a:xfrm>
            <a:prstGeom prst="roundRect">
              <a:avLst>
                <a:gd name="adj" fmla="val 14019"/>
              </a:avLst>
            </a:prstGeom>
            <a:solidFill>
              <a:srgbClr val="DB0613"/>
            </a:solidFill>
            <a:ln w="9525">
              <a:solidFill>
                <a:srgbClr val="DB0613"/>
              </a:solidFill>
              <a:round/>
              <a:headEnd/>
              <a:tailEnd/>
            </a:ln>
          </p:spPr>
          <p:txBody>
            <a:bodyPr wrap="none" anchor="ctr"/>
            <a:lstStyle/>
            <a:p>
              <a:endParaRPr lang="es-ES"/>
            </a:p>
          </p:txBody>
        </p:sp>
        <p:sp>
          <p:nvSpPr>
            <p:cNvPr id="106" name="Oval 16"/>
            <p:cNvSpPr>
              <a:spLocks noChangeAspect="1" noChangeArrowheads="1"/>
            </p:cNvSpPr>
            <p:nvPr/>
          </p:nvSpPr>
          <p:spPr bwMode="auto">
            <a:xfrm rot="240000">
              <a:off x="6046149" y="2541738"/>
              <a:ext cx="572776" cy="538922"/>
            </a:xfrm>
            <a:prstGeom prst="ellipse">
              <a:avLst/>
            </a:prstGeom>
            <a:solidFill>
              <a:schemeClr val="bg1"/>
            </a:solidFill>
            <a:ln w="3175">
              <a:solidFill>
                <a:schemeClr val="bg1">
                  <a:lumMod val="75000"/>
                </a:schemeClr>
              </a:solidFill>
              <a:round/>
              <a:headEnd/>
              <a:tailEnd/>
            </a:ln>
          </p:spPr>
          <p:txBody>
            <a:bodyPr wrap="none" lIns="54000" tIns="46800" rIns="54000" bIns="46800" anchor="ctr"/>
            <a:lstStyle/>
            <a:p>
              <a:pPr algn="ctr">
                <a:spcBef>
                  <a:spcPct val="50000"/>
                </a:spcBef>
              </a:pPr>
              <a:endParaRPr lang="en-US" sz="700"/>
            </a:p>
          </p:txBody>
        </p:sp>
        <p:pic>
          <p:nvPicPr>
            <p:cNvPr id="107" name="Picture 3"/>
            <p:cNvPicPr>
              <a:picLocks noChangeAspect="1" noChangeArrowheads="1"/>
            </p:cNvPicPr>
            <p:nvPr/>
          </p:nvPicPr>
          <p:blipFill>
            <a:blip r:embed="rId2" cstate="print"/>
            <a:srcRect l="47244"/>
            <a:stretch>
              <a:fillRect/>
            </a:stretch>
          </p:blipFill>
          <p:spPr bwMode="auto">
            <a:xfrm>
              <a:off x="6303472" y="2530480"/>
              <a:ext cx="321611" cy="561975"/>
            </a:xfrm>
            <a:prstGeom prst="rect">
              <a:avLst/>
            </a:prstGeom>
            <a:noFill/>
            <a:ln w="9525">
              <a:noFill/>
              <a:miter lim="800000"/>
              <a:headEnd/>
              <a:tailEnd/>
            </a:ln>
            <a:effectLst/>
          </p:spPr>
        </p:pic>
      </p:grpSp>
    </p:spTree>
    <p:extLst>
      <p:ext uri="{BB962C8B-B14F-4D97-AF65-F5344CB8AC3E}">
        <p14:creationId xmlns:p14="http://schemas.microsoft.com/office/powerpoint/2010/main" val="4291455187"/>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Title 1"/>
          <p:cNvSpPr>
            <a:spLocks noGrp="1"/>
          </p:cNvSpPr>
          <p:nvPr>
            <p:ph type="title"/>
          </p:nvPr>
        </p:nvSpPr>
        <p:spPr>
          <a:xfrm>
            <a:off x="47625" y="32965"/>
            <a:ext cx="8217470" cy="587723"/>
          </a:xfrm>
        </p:spPr>
        <p:txBody>
          <a:bodyPr/>
          <a:lstStyle/>
          <a:p>
            <a:pPr marL="457200" indent="-457200"/>
            <a:r>
              <a:rPr lang="es-ES" dirty="0"/>
              <a:t>Anexo: Planes de Continuidad</a:t>
            </a:r>
          </a:p>
        </p:txBody>
      </p:sp>
      <p:sp>
        <p:nvSpPr>
          <p:cNvPr id="77" name="AutoShape 33"/>
          <p:cNvSpPr>
            <a:spLocks noChangeArrowheads="1"/>
          </p:cNvSpPr>
          <p:nvPr/>
        </p:nvSpPr>
        <p:spPr bwMode="auto">
          <a:xfrm>
            <a:off x="1043608" y="1699067"/>
            <a:ext cx="2879725" cy="4394229"/>
          </a:xfrm>
          <a:prstGeom prst="roundRect">
            <a:avLst>
              <a:gd name="adj" fmla="val 6565"/>
            </a:avLst>
          </a:prstGeom>
          <a:solidFill>
            <a:srgbClr val="DB0613"/>
          </a:solidFill>
          <a:ln w="9525">
            <a:noFill/>
            <a:round/>
            <a:headEnd/>
            <a:tailEnd/>
          </a:ln>
          <a:effectLst>
            <a:prstShdw prst="shdw17" dist="17961" dir="2700000">
              <a:srgbClr val="867F5C"/>
            </a:prstShdw>
          </a:effectLst>
        </p:spPr>
        <p:txBody>
          <a:bodyPr wrap="none"/>
          <a:lstStyle/>
          <a:p>
            <a:pPr algn="ctr"/>
            <a:r>
              <a:rPr lang="es-AR" b="1">
                <a:solidFill>
                  <a:schemeClr val="bg1"/>
                </a:solidFill>
              </a:rPr>
              <a:t>Situación actual</a:t>
            </a:r>
            <a:endParaRPr lang="en-US" b="1">
              <a:solidFill>
                <a:schemeClr val="bg1"/>
              </a:solidFill>
            </a:endParaRPr>
          </a:p>
        </p:txBody>
      </p:sp>
      <p:sp>
        <p:nvSpPr>
          <p:cNvPr id="82" name="AutoShape 36"/>
          <p:cNvSpPr>
            <a:spLocks noChangeArrowheads="1"/>
          </p:cNvSpPr>
          <p:nvPr/>
        </p:nvSpPr>
        <p:spPr bwMode="auto">
          <a:xfrm>
            <a:off x="5141913" y="1699067"/>
            <a:ext cx="2884487" cy="4394229"/>
          </a:xfrm>
          <a:prstGeom prst="roundRect">
            <a:avLst>
              <a:gd name="adj" fmla="val 6565"/>
            </a:avLst>
          </a:prstGeom>
          <a:solidFill>
            <a:srgbClr val="DB0613"/>
          </a:solidFill>
          <a:ln w="9525" algn="ctr">
            <a:noFill/>
            <a:round/>
            <a:headEnd/>
            <a:tailEnd/>
          </a:ln>
          <a:effectLst>
            <a:prstShdw prst="shdw17" dist="17961" dir="2700000">
              <a:srgbClr val="867F5C"/>
            </a:prstShdw>
          </a:effectLst>
        </p:spPr>
        <p:txBody>
          <a:bodyPr wrap="none"/>
          <a:lstStyle/>
          <a:p>
            <a:pPr algn="ctr"/>
            <a:r>
              <a:rPr lang="es-AR" b="1">
                <a:solidFill>
                  <a:schemeClr val="bg1"/>
                </a:solidFill>
              </a:rPr>
              <a:t>Situación objetiva</a:t>
            </a:r>
            <a:endParaRPr lang="en-US" b="1">
              <a:solidFill>
                <a:schemeClr val="bg1"/>
              </a:solidFill>
            </a:endParaRPr>
          </a:p>
        </p:txBody>
      </p:sp>
      <p:sp>
        <p:nvSpPr>
          <p:cNvPr id="90" name="AutoShape 37"/>
          <p:cNvSpPr>
            <a:spLocks noChangeArrowheads="1"/>
          </p:cNvSpPr>
          <p:nvPr/>
        </p:nvSpPr>
        <p:spPr bwMode="auto">
          <a:xfrm>
            <a:off x="368300" y="2239705"/>
            <a:ext cx="8180388" cy="1762741"/>
          </a:xfrm>
          <a:prstGeom prst="roundRect">
            <a:avLst>
              <a:gd name="adj" fmla="val 10949"/>
            </a:avLst>
          </a:prstGeom>
          <a:solidFill>
            <a:schemeClr val="bg1">
              <a:lumMod val="65000"/>
            </a:schemeClr>
          </a:solidFill>
          <a:ln w="9525">
            <a:solidFill>
              <a:schemeClr val="bg1">
                <a:lumMod val="65000"/>
              </a:schemeClr>
            </a:solidFill>
            <a:round/>
            <a:headEnd/>
            <a:tailEnd/>
          </a:ln>
          <a:effectLst>
            <a:prstShdw prst="shdw17" dist="17961" dir="2700000">
              <a:srgbClr val="001F3D"/>
            </a:prstShdw>
          </a:effectLst>
        </p:spPr>
        <p:txBody>
          <a:bodyPr wrap="none" anchor="ctr"/>
          <a:lstStyle/>
          <a:p>
            <a:endParaRPr lang="es-ES"/>
          </a:p>
        </p:txBody>
      </p:sp>
      <p:sp>
        <p:nvSpPr>
          <p:cNvPr id="93" name="AutoShape 38"/>
          <p:cNvSpPr>
            <a:spLocks noChangeArrowheads="1"/>
          </p:cNvSpPr>
          <p:nvPr/>
        </p:nvSpPr>
        <p:spPr bwMode="auto">
          <a:xfrm>
            <a:off x="368300" y="4144102"/>
            <a:ext cx="8180388" cy="1761350"/>
          </a:xfrm>
          <a:prstGeom prst="roundRect">
            <a:avLst>
              <a:gd name="adj" fmla="val 10949"/>
            </a:avLst>
          </a:prstGeom>
          <a:solidFill>
            <a:schemeClr val="bg1">
              <a:lumMod val="65000"/>
            </a:schemeClr>
          </a:solidFill>
          <a:ln w="9525">
            <a:solidFill>
              <a:schemeClr val="bg1">
                <a:lumMod val="65000"/>
              </a:schemeClr>
            </a:solidFill>
            <a:round/>
            <a:headEnd/>
            <a:tailEnd/>
          </a:ln>
          <a:effectLst>
            <a:prstShdw prst="shdw17" dist="17961" dir="2700000">
              <a:srgbClr val="001F3D"/>
            </a:prstShdw>
          </a:effectLst>
        </p:spPr>
        <p:txBody>
          <a:bodyPr wrap="none" anchor="ctr"/>
          <a:lstStyle/>
          <a:p>
            <a:endParaRPr lang="es-ES"/>
          </a:p>
        </p:txBody>
      </p:sp>
      <p:sp>
        <p:nvSpPr>
          <p:cNvPr id="96" name="Oval 8"/>
          <p:cNvSpPr>
            <a:spLocks noChangeAspect="1" noChangeArrowheads="1"/>
          </p:cNvSpPr>
          <p:nvPr/>
        </p:nvSpPr>
        <p:spPr bwMode="gray">
          <a:xfrm>
            <a:off x="241300" y="2146042"/>
            <a:ext cx="274638" cy="296863"/>
          </a:xfrm>
          <a:prstGeom prst="ellipse">
            <a:avLst/>
          </a:prstGeom>
          <a:solidFill>
            <a:srgbClr val="DB0613"/>
          </a:solidFill>
          <a:ln w="3175">
            <a:noFill/>
            <a:round/>
            <a:headEnd/>
            <a:tailEnd/>
          </a:ln>
        </p:spPr>
        <p:txBody>
          <a:bodyPr wrap="none" anchor="ctr"/>
          <a:lstStyle/>
          <a:p>
            <a:pPr algn="ctr" eaLnBrk="0" hangingPunct="0"/>
            <a:r>
              <a:rPr lang="es-AR" sz="1800" b="1" dirty="0">
                <a:solidFill>
                  <a:schemeClr val="bg1"/>
                </a:solidFill>
              </a:rPr>
              <a:t>1</a:t>
            </a:r>
            <a:endParaRPr lang="en-US" sz="1800" b="1" dirty="0">
              <a:solidFill>
                <a:schemeClr val="bg1"/>
              </a:solidFill>
            </a:endParaRPr>
          </a:p>
        </p:txBody>
      </p:sp>
      <p:sp>
        <p:nvSpPr>
          <p:cNvPr id="98" name="Oval 8"/>
          <p:cNvSpPr>
            <a:spLocks noChangeAspect="1" noChangeArrowheads="1"/>
          </p:cNvSpPr>
          <p:nvPr/>
        </p:nvSpPr>
        <p:spPr bwMode="gray">
          <a:xfrm>
            <a:off x="241300" y="4043528"/>
            <a:ext cx="274638" cy="296862"/>
          </a:xfrm>
          <a:prstGeom prst="ellipse">
            <a:avLst/>
          </a:prstGeom>
          <a:solidFill>
            <a:srgbClr val="DB0613"/>
          </a:solidFill>
          <a:ln w="3175">
            <a:noFill/>
            <a:round/>
            <a:headEnd/>
            <a:tailEnd/>
          </a:ln>
        </p:spPr>
        <p:txBody>
          <a:bodyPr wrap="none" anchor="ctr"/>
          <a:lstStyle/>
          <a:p>
            <a:pPr algn="ctr" eaLnBrk="0" hangingPunct="0"/>
            <a:r>
              <a:rPr lang="es-AR" sz="1800" b="1">
                <a:solidFill>
                  <a:schemeClr val="bg1"/>
                </a:solidFill>
              </a:rPr>
              <a:t>2</a:t>
            </a:r>
            <a:endParaRPr lang="en-US" sz="1800" b="1">
              <a:solidFill>
                <a:schemeClr val="bg1"/>
              </a:solidFill>
            </a:endParaRPr>
          </a:p>
        </p:txBody>
      </p:sp>
      <p:sp>
        <p:nvSpPr>
          <p:cNvPr id="101" name="AutoShape 44"/>
          <p:cNvSpPr>
            <a:spLocks noChangeArrowheads="1"/>
          </p:cNvSpPr>
          <p:nvPr/>
        </p:nvSpPr>
        <p:spPr bwMode="auto">
          <a:xfrm rot="5400000">
            <a:off x="3974264" y="2861689"/>
            <a:ext cx="1197603" cy="360040"/>
          </a:xfrm>
          <a:prstGeom prst="triangle">
            <a:avLst>
              <a:gd name="adj" fmla="val 50000"/>
            </a:avLst>
          </a:prstGeom>
          <a:solidFill>
            <a:srgbClr val="DB0613"/>
          </a:solidFill>
          <a:ln w="9525">
            <a:noFill/>
            <a:miter lim="800000"/>
            <a:headEnd/>
            <a:tailEnd/>
          </a:ln>
          <a:effectLst>
            <a:prstShdw prst="shdw17" dist="17961" dir="2700000">
              <a:srgbClr val="867F5C"/>
            </a:prstShdw>
          </a:effectLst>
        </p:spPr>
        <p:txBody>
          <a:bodyPr wrap="none" anchor="ctr"/>
          <a:lstStyle/>
          <a:p>
            <a:endParaRPr lang="es-ES"/>
          </a:p>
        </p:txBody>
      </p:sp>
      <p:sp>
        <p:nvSpPr>
          <p:cNvPr id="104" name="AutoShape 45"/>
          <p:cNvSpPr>
            <a:spLocks noChangeArrowheads="1"/>
          </p:cNvSpPr>
          <p:nvPr/>
        </p:nvSpPr>
        <p:spPr bwMode="auto">
          <a:xfrm rot="5400000">
            <a:off x="3974265" y="4863182"/>
            <a:ext cx="1197602" cy="360040"/>
          </a:xfrm>
          <a:prstGeom prst="triangle">
            <a:avLst>
              <a:gd name="adj" fmla="val 50000"/>
            </a:avLst>
          </a:prstGeom>
          <a:solidFill>
            <a:srgbClr val="DB0613"/>
          </a:solidFill>
          <a:ln w="9525">
            <a:noFill/>
            <a:miter lim="800000"/>
            <a:headEnd/>
            <a:tailEnd/>
          </a:ln>
          <a:effectLst>
            <a:prstShdw prst="shdw17" dist="17961" dir="2700000">
              <a:srgbClr val="867F5C"/>
            </a:prstShdw>
          </a:effectLst>
        </p:spPr>
        <p:txBody>
          <a:bodyPr wrap="none" anchor="ctr"/>
          <a:lstStyle/>
          <a:p>
            <a:endParaRPr lang="es-ES"/>
          </a:p>
        </p:txBody>
      </p:sp>
      <p:sp>
        <p:nvSpPr>
          <p:cNvPr id="108" name="AutoShape 47"/>
          <p:cNvSpPr>
            <a:spLocks noChangeArrowheads="1"/>
          </p:cNvSpPr>
          <p:nvPr/>
        </p:nvSpPr>
        <p:spPr bwMode="auto">
          <a:xfrm>
            <a:off x="1091791" y="2358916"/>
            <a:ext cx="2800350" cy="1514489"/>
          </a:xfrm>
          <a:prstGeom prst="roundRect">
            <a:avLst>
              <a:gd name="adj" fmla="val 4468"/>
            </a:avLst>
          </a:prstGeom>
          <a:solidFill>
            <a:schemeClr val="bg1"/>
          </a:solidFill>
          <a:ln w="9525" algn="ctr">
            <a:noFill/>
            <a:round/>
            <a:headEnd/>
            <a:tailEnd/>
          </a:ln>
          <a:effectLst>
            <a:prstShdw prst="shdw17" dist="17961" dir="2700000">
              <a:schemeClr val="bg1">
                <a:gamma/>
                <a:shade val="60000"/>
                <a:invGamma/>
              </a:schemeClr>
            </a:prstShdw>
          </a:effectLst>
        </p:spPr>
        <p:txBody>
          <a:bodyPr/>
          <a:lstStyle/>
          <a:p>
            <a:pPr marL="82550" indent="-82550">
              <a:buFontTx/>
              <a:buChar char="•"/>
              <a:defRPr/>
            </a:pPr>
            <a:r>
              <a:rPr lang="es-ES" sz="1200" dirty="0">
                <a:solidFill>
                  <a:schemeClr val="tx1"/>
                </a:solidFill>
              </a:rPr>
              <a:t>Los Planes de Continuidad actuales no recogen todas las casuísticas de </a:t>
            </a:r>
            <a:r>
              <a:rPr lang="es-ES" sz="1200" dirty="0"/>
              <a:t>interrupción que pueden hacer que el proceso no pueda realizarse con normalidad.</a:t>
            </a:r>
            <a:endParaRPr lang="es-ES" sz="1200" dirty="0">
              <a:solidFill>
                <a:schemeClr val="tx1"/>
              </a:solidFill>
            </a:endParaRPr>
          </a:p>
        </p:txBody>
      </p:sp>
      <p:sp>
        <p:nvSpPr>
          <p:cNvPr id="109" name="AutoShape 48"/>
          <p:cNvSpPr>
            <a:spLocks noChangeArrowheads="1"/>
          </p:cNvSpPr>
          <p:nvPr/>
        </p:nvSpPr>
        <p:spPr bwMode="auto">
          <a:xfrm>
            <a:off x="1080679" y="4259579"/>
            <a:ext cx="2800350" cy="1514489"/>
          </a:xfrm>
          <a:prstGeom prst="roundRect">
            <a:avLst>
              <a:gd name="adj" fmla="val 4468"/>
            </a:avLst>
          </a:prstGeom>
          <a:solidFill>
            <a:schemeClr val="bg1"/>
          </a:solidFill>
          <a:ln w="9525" algn="ctr">
            <a:noFill/>
            <a:round/>
            <a:headEnd/>
            <a:tailEnd/>
          </a:ln>
          <a:effectLst>
            <a:prstShdw prst="shdw17" dist="17961" dir="2700000">
              <a:schemeClr val="bg1">
                <a:gamma/>
                <a:shade val="60000"/>
                <a:invGamma/>
              </a:schemeClr>
            </a:prstShdw>
          </a:effectLst>
        </p:spPr>
        <p:txBody>
          <a:bodyPr/>
          <a:lstStyle/>
          <a:p>
            <a:pPr marL="82550" indent="-82550">
              <a:buFontTx/>
              <a:buChar char="•"/>
              <a:defRPr/>
            </a:pPr>
            <a:r>
              <a:rPr lang="es-ES" sz="1200" dirty="0"/>
              <a:t>No se cuenta con Planes de Continuidad para los procesos más críticos, por tanto, no se garantiza la continuidad de la actividad frente a una crisis.</a:t>
            </a:r>
            <a:endParaRPr lang="en-US" sz="1200" dirty="0">
              <a:solidFill>
                <a:schemeClr val="tx1"/>
              </a:solidFill>
            </a:endParaRPr>
          </a:p>
        </p:txBody>
      </p:sp>
      <p:sp>
        <p:nvSpPr>
          <p:cNvPr id="110" name="AutoShape 50"/>
          <p:cNvSpPr>
            <a:spLocks noChangeArrowheads="1"/>
          </p:cNvSpPr>
          <p:nvPr/>
        </p:nvSpPr>
        <p:spPr bwMode="auto">
          <a:xfrm>
            <a:off x="5214938" y="2358916"/>
            <a:ext cx="2800350" cy="1514489"/>
          </a:xfrm>
          <a:prstGeom prst="roundRect">
            <a:avLst>
              <a:gd name="adj" fmla="val 4468"/>
            </a:avLst>
          </a:prstGeom>
          <a:solidFill>
            <a:schemeClr val="bg1"/>
          </a:solidFill>
          <a:ln w="9525" algn="ctr">
            <a:noFill/>
            <a:round/>
            <a:headEnd/>
            <a:tailEnd/>
          </a:ln>
          <a:effectLst>
            <a:prstShdw prst="shdw17" dist="17961" dir="2700000">
              <a:schemeClr val="bg1">
                <a:gamma/>
                <a:shade val="60000"/>
                <a:invGamma/>
              </a:schemeClr>
            </a:prstShdw>
          </a:effectLst>
        </p:spPr>
        <p:txBody>
          <a:bodyPr/>
          <a:lstStyle/>
          <a:p>
            <a:pPr marL="82550" indent="-82550">
              <a:buFontTx/>
              <a:buChar char="•"/>
              <a:defRPr/>
            </a:pPr>
            <a:r>
              <a:rPr lang="en-US" sz="1200" dirty="0">
                <a:solidFill>
                  <a:schemeClr val="tx1"/>
                </a:solidFill>
              </a:rPr>
              <a:t> </a:t>
            </a:r>
            <a:r>
              <a:rPr lang="es-ES" sz="1200" dirty="0">
                <a:solidFill>
                  <a:schemeClr val="tx1"/>
                </a:solidFill>
              </a:rPr>
              <a:t>Contemplar en cada uno de los Planes de Continuidad todos los escenarios de interrupci</a:t>
            </a:r>
            <a:r>
              <a:rPr lang="es-ES" sz="1200" dirty="0"/>
              <a:t>ón para  minimizar las consecuencias económicas, reputacionales o de responsabilidad civil derivadas de los mismos.</a:t>
            </a:r>
            <a:endParaRPr lang="en-US" sz="1200" dirty="0">
              <a:solidFill>
                <a:schemeClr val="tx1"/>
              </a:solidFill>
            </a:endParaRPr>
          </a:p>
        </p:txBody>
      </p:sp>
      <p:sp>
        <p:nvSpPr>
          <p:cNvPr id="111" name="AutoShape 51"/>
          <p:cNvSpPr>
            <a:spLocks noChangeArrowheads="1"/>
          </p:cNvSpPr>
          <p:nvPr/>
        </p:nvSpPr>
        <p:spPr bwMode="auto">
          <a:xfrm>
            <a:off x="5203825" y="4259491"/>
            <a:ext cx="2800350" cy="1514657"/>
          </a:xfrm>
          <a:prstGeom prst="roundRect">
            <a:avLst>
              <a:gd name="adj" fmla="val 4468"/>
            </a:avLst>
          </a:prstGeom>
          <a:solidFill>
            <a:schemeClr val="bg1"/>
          </a:solidFill>
          <a:ln w="9525" algn="ctr">
            <a:noFill/>
            <a:round/>
            <a:headEnd/>
            <a:tailEnd/>
          </a:ln>
          <a:effectLst>
            <a:prstShdw prst="shdw17" dist="17961" dir="2700000">
              <a:schemeClr val="bg1">
                <a:gamma/>
                <a:shade val="60000"/>
                <a:invGamma/>
              </a:schemeClr>
            </a:prstShdw>
          </a:effectLst>
        </p:spPr>
        <p:txBody>
          <a:bodyPr/>
          <a:lstStyle/>
          <a:p>
            <a:pPr marL="171450" indent="-171450">
              <a:buFont typeface="Arial" pitchFamily="34" charset="0"/>
              <a:buChar char="•"/>
            </a:pPr>
            <a:r>
              <a:rPr lang="es-ES" sz="1200" dirty="0"/>
              <a:t>Contar con Planes de Continuidad  para poder anticiparse a la situación de crisis garantizando el normal desarrollo de la actividad de RIMAC, así como determinar los riesgos de magnitud suficiente para poner en peligro el normal funcionamiento de las actividades del negocio. </a:t>
            </a:r>
          </a:p>
        </p:txBody>
      </p:sp>
      <p:sp>
        <p:nvSpPr>
          <p:cNvPr id="112" name="TextBox 36"/>
          <p:cNvSpPr txBox="1"/>
          <p:nvPr/>
        </p:nvSpPr>
        <p:spPr>
          <a:xfrm>
            <a:off x="1082626" y="764704"/>
            <a:ext cx="6624736" cy="923330"/>
          </a:xfrm>
          <a:prstGeom prst="rect">
            <a:avLst/>
          </a:prstGeom>
          <a:noFill/>
        </p:spPr>
        <p:txBody>
          <a:bodyPr wrap="square" rtlCol="0">
            <a:spAutoFit/>
          </a:bodyPr>
          <a:lstStyle/>
          <a:p>
            <a:pPr algn="ctr"/>
            <a:r>
              <a:rPr lang="es-ES" b="1" dirty="0">
                <a:cs typeface="Times New Roman" pitchFamily="18" charset="0"/>
              </a:rPr>
              <a:t>¿Cuáles son los beneficios del desarrollo de Planes de Continuidad de Negocio?</a:t>
            </a:r>
          </a:p>
          <a:p>
            <a:endParaRPr lang="es-ES" dirty="0"/>
          </a:p>
        </p:txBody>
      </p:sp>
    </p:spTree>
    <p:extLst>
      <p:ext uri="{BB962C8B-B14F-4D97-AF65-F5344CB8AC3E}">
        <p14:creationId xmlns:p14="http://schemas.microsoft.com/office/powerpoint/2010/main" val="4291455187"/>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9"/>
          <p:cNvSpPr>
            <a:spLocks noChangeAspect="1" noChangeArrowheads="1"/>
          </p:cNvSpPr>
          <p:nvPr/>
        </p:nvSpPr>
        <p:spPr bwMode="auto">
          <a:xfrm>
            <a:off x="539553" y="1476695"/>
            <a:ext cx="3884399" cy="528770"/>
          </a:xfrm>
          <a:prstGeom prst="rect">
            <a:avLst/>
          </a:prstGeom>
          <a:solidFill>
            <a:srgbClr val="DB0613"/>
          </a:solidFill>
          <a:ln w="19050" algn="ctr">
            <a:solidFill>
              <a:srgbClr val="DB0613"/>
            </a:solidFill>
            <a:miter lim="800000"/>
            <a:headEnd/>
            <a:tailEnd/>
          </a:ln>
        </p:spPr>
        <p:txBody>
          <a:bodyPr wrap="none"/>
          <a:lstStyle/>
          <a:p>
            <a:pPr algn="ctr"/>
            <a:r>
              <a:rPr lang="es-ES" sz="2000" b="1" dirty="0">
                <a:solidFill>
                  <a:srgbClr val="FFFFFF"/>
                </a:solidFill>
              </a:rPr>
              <a:t>Administración de Fondos</a:t>
            </a:r>
          </a:p>
        </p:txBody>
      </p:sp>
      <p:sp>
        <p:nvSpPr>
          <p:cNvPr id="17" name="Rectangle 9"/>
          <p:cNvSpPr>
            <a:spLocks noChangeAspect="1" noChangeArrowheads="1"/>
          </p:cNvSpPr>
          <p:nvPr/>
        </p:nvSpPr>
        <p:spPr bwMode="auto">
          <a:xfrm>
            <a:off x="4525960" y="1476695"/>
            <a:ext cx="3883151" cy="528770"/>
          </a:xfrm>
          <a:prstGeom prst="rect">
            <a:avLst/>
          </a:prstGeom>
          <a:solidFill>
            <a:srgbClr val="DB0613"/>
          </a:solidFill>
          <a:ln w="19050" algn="ctr">
            <a:solidFill>
              <a:srgbClr val="DB0613"/>
            </a:solidFill>
            <a:miter lim="800000"/>
            <a:headEnd/>
            <a:tailEnd/>
          </a:ln>
        </p:spPr>
        <p:txBody>
          <a:bodyPr wrap="none"/>
          <a:lstStyle/>
          <a:p>
            <a:pPr algn="ctr"/>
            <a:r>
              <a:rPr lang="es-ES" sz="2000" b="1" dirty="0">
                <a:solidFill>
                  <a:srgbClr val="FFFFFF"/>
                </a:solidFill>
              </a:rPr>
              <a:t>Suscripción</a:t>
            </a:r>
          </a:p>
        </p:txBody>
      </p:sp>
      <p:sp>
        <p:nvSpPr>
          <p:cNvPr id="25" name="Rectangle 4"/>
          <p:cNvSpPr>
            <a:spLocks noChangeArrowheads="1"/>
          </p:cNvSpPr>
          <p:nvPr/>
        </p:nvSpPr>
        <p:spPr bwMode="auto">
          <a:xfrm>
            <a:off x="539552" y="2149481"/>
            <a:ext cx="3884400" cy="3960440"/>
          </a:xfrm>
          <a:prstGeom prst="rect">
            <a:avLst/>
          </a:prstGeom>
          <a:solidFill>
            <a:schemeClr val="bg1">
              <a:lumMod val="50000"/>
            </a:schemeClr>
          </a:solidFill>
          <a:ln w="19050" algn="ctr">
            <a:solidFill>
              <a:schemeClr val="bg1">
                <a:lumMod val="50000"/>
              </a:schemeClr>
            </a:solidFill>
            <a:miter lim="800000"/>
            <a:headEnd/>
            <a:tailEnd/>
          </a:ln>
        </p:spPr>
        <p:txBody>
          <a:bodyPr wrap="none"/>
          <a:lstStyle/>
          <a:p>
            <a:pPr algn="just"/>
            <a:endParaRPr lang="es-ES" sz="1400" b="1" dirty="0"/>
          </a:p>
        </p:txBody>
      </p:sp>
      <p:sp>
        <p:nvSpPr>
          <p:cNvPr id="26" name="Rectangle 4"/>
          <p:cNvSpPr>
            <a:spLocks noChangeArrowheads="1"/>
          </p:cNvSpPr>
          <p:nvPr/>
        </p:nvSpPr>
        <p:spPr bwMode="auto">
          <a:xfrm>
            <a:off x="4525959" y="2149481"/>
            <a:ext cx="3883152" cy="3960440"/>
          </a:xfrm>
          <a:prstGeom prst="rect">
            <a:avLst/>
          </a:prstGeom>
          <a:solidFill>
            <a:schemeClr val="bg1">
              <a:lumMod val="50000"/>
            </a:schemeClr>
          </a:solidFill>
          <a:ln w="19050" algn="ctr">
            <a:solidFill>
              <a:schemeClr val="bg1">
                <a:lumMod val="50000"/>
              </a:schemeClr>
            </a:solidFill>
            <a:miter lim="800000"/>
            <a:headEnd/>
            <a:tailEnd/>
          </a:ln>
        </p:spPr>
        <p:txBody>
          <a:bodyPr wrap="none"/>
          <a:lstStyle/>
          <a:p>
            <a:pPr algn="just"/>
            <a:endParaRPr lang="es-ES" sz="1600" b="1" dirty="0"/>
          </a:p>
        </p:txBody>
      </p:sp>
      <p:grpSp>
        <p:nvGrpSpPr>
          <p:cNvPr id="2" name="Group 31"/>
          <p:cNvGrpSpPr/>
          <p:nvPr/>
        </p:nvGrpSpPr>
        <p:grpSpPr>
          <a:xfrm>
            <a:off x="462020" y="2184418"/>
            <a:ext cx="8136904" cy="429344"/>
            <a:chOff x="441883" y="3429000"/>
            <a:chExt cx="8136904" cy="504056"/>
          </a:xfrm>
        </p:grpSpPr>
        <p:sp>
          <p:nvSpPr>
            <p:cNvPr id="27" name="Rounded Rectangle 26"/>
            <p:cNvSpPr/>
            <p:nvPr/>
          </p:nvSpPr>
          <p:spPr>
            <a:xfrm>
              <a:off x="441883" y="3429000"/>
              <a:ext cx="8136904" cy="504056"/>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31" name="TextBox 30"/>
            <p:cNvSpPr txBox="1"/>
            <p:nvPr/>
          </p:nvSpPr>
          <p:spPr>
            <a:xfrm>
              <a:off x="743976" y="3519790"/>
              <a:ext cx="7653535" cy="338554"/>
            </a:xfrm>
            <a:prstGeom prst="rect">
              <a:avLst/>
            </a:prstGeom>
            <a:noFill/>
          </p:spPr>
          <p:txBody>
            <a:bodyPr wrap="square" rtlCol="0">
              <a:spAutoFit/>
            </a:bodyPr>
            <a:lstStyle/>
            <a:p>
              <a:pPr algn="ctr"/>
              <a:r>
                <a:rPr lang="es-ES" sz="1600" b="1" dirty="0"/>
                <a:t>Inhabilitación de infraestructuras</a:t>
              </a:r>
            </a:p>
          </p:txBody>
        </p:sp>
      </p:grpSp>
      <p:grpSp>
        <p:nvGrpSpPr>
          <p:cNvPr id="4" name="Group 32"/>
          <p:cNvGrpSpPr/>
          <p:nvPr/>
        </p:nvGrpSpPr>
        <p:grpSpPr>
          <a:xfrm>
            <a:off x="462020" y="2653537"/>
            <a:ext cx="8136904" cy="429344"/>
            <a:chOff x="441883" y="3429000"/>
            <a:chExt cx="8136904" cy="504056"/>
          </a:xfrm>
        </p:grpSpPr>
        <p:sp>
          <p:nvSpPr>
            <p:cNvPr id="34" name="Rounded Rectangle 33"/>
            <p:cNvSpPr/>
            <p:nvPr/>
          </p:nvSpPr>
          <p:spPr>
            <a:xfrm>
              <a:off x="441883" y="3429000"/>
              <a:ext cx="8136904" cy="504056"/>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35" name="TextBox 34"/>
            <p:cNvSpPr txBox="1"/>
            <p:nvPr/>
          </p:nvSpPr>
          <p:spPr>
            <a:xfrm>
              <a:off x="743976" y="3519790"/>
              <a:ext cx="7653535" cy="338554"/>
            </a:xfrm>
            <a:prstGeom prst="rect">
              <a:avLst/>
            </a:prstGeom>
            <a:noFill/>
          </p:spPr>
          <p:txBody>
            <a:bodyPr wrap="square" rtlCol="0">
              <a:spAutoFit/>
            </a:bodyPr>
            <a:lstStyle/>
            <a:p>
              <a:pPr algn="ctr"/>
              <a:r>
                <a:rPr lang="es-ES" sz="1600" b="1" dirty="0"/>
                <a:t>Ausencia masiva de personal</a:t>
              </a:r>
            </a:p>
          </p:txBody>
        </p:sp>
      </p:grpSp>
      <p:grpSp>
        <p:nvGrpSpPr>
          <p:cNvPr id="5" name="Group 37"/>
          <p:cNvGrpSpPr/>
          <p:nvPr/>
        </p:nvGrpSpPr>
        <p:grpSpPr>
          <a:xfrm>
            <a:off x="462020" y="3123226"/>
            <a:ext cx="8136904" cy="429344"/>
            <a:chOff x="441883" y="3429000"/>
            <a:chExt cx="8136904" cy="504056"/>
          </a:xfrm>
        </p:grpSpPr>
        <p:sp>
          <p:nvSpPr>
            <p:cNvPr id="39" name="Rounded Rectangle 38"/>
            <p:cNvSpPr/>
            <p:nvPr/>
          </p:nvSpPr>
          <p:spPr>
            <a:xfrm>
              <a:off x="441883" y="3429000"/>
              <a:ext cx="8136904" cy="504056"/>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40" name="TextBox 39"/>
            <p:cNvSpPr txBox="1"/>
            <p:nvPr/>
          </p:nvSpPr>
          <p:spPr>
            <a:xfrm>
              <a:off x="743976" y="3519790"/>
              <a:ext cx="7653535" cy="338554"/>
            </a:xfrm>
            <a:prstGeom prst="rect">
              <a:avLst/>
            </a:prstGeom>
            <a:noFill/>
          </p:spPr>
          <p:txBody>
            <a:bodyPr wrap="square" rtlCol="0">
              <a:spAutoFit/>
            </a:bodyPr>
            <a:lstStyle/>
            <a:p>
              <a:pPr algn="ctr"/>
              <a:r>
                <a:rPr lang="es-ES" sz="1600" b="1" dirty="0"/>
                <a:t>Falla de sistemas</a:t>
              </a:r>
            </a:p>
          </p:txBody>
        </p:sp>
      </p:grpSp>
      <p:grpSp>
        <p:nvGrpSpPr>
          <p:cNvPr id="6" name="Group 40"/>
          <p:cNvGrpSpPr/>
          <p:nvPr/>
        </p:nvGrpSpPr>
        <p:grpSpPr>
          <a:xfrm>
            <a:off x="557212" y="3601998"/>
            <a:ext cx="3812392" cy="359059"/>
            <a:chOff x="441883" y="3429000"/>
            <a:chExt cx="8136904" cy="504056"/>
          </a:xfrm>
          <a:solidFill>
            <a:schemeClr val="bg1">
              <a:lumMod val="95000"/>
            </a:schemeClr>
          </a:solidFill>
        </p:grpSpPr>
        <p:sp>
          <p:nvSpPr>
            <p:cNvPr id="42" name="Rounded Rectangle 41"/>
            <p:cNvSpPr/>
            <p:nvPr/>
          </p:nvSpPr>
          <p:spPr>
            <a:xfrm>
              <a:off x="441883" y="3429000"/>
              <a:ext cx="8136904" cy="504056"/>
            </a:xfrm>
            <a:prstGeom prst="round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43" name="TextBox 42"/>
            <p:cNvSpPr txBox="1"/>
            <p:nvPr/>
          </p:nvSpPr>
          <p:spPr>
            <a:xfrm>
              <a:off x="743976" y="3519790"/>
              <a:ext cx="7653536" cy="397467"/>
            </a:xfrm>
            <a:prstGeom prst="rect">
              <a:avLst/>
            </a:prstGeom>
            <a:grpFill/>
          </p:spPr>
          <p:txBody>
            <a:bodyPr wrap="square" rtlCol="0">
              <a:spAutoFit/>
            </a:bodyPr>
            <a:lstStyle/>
            <a:p>
              <a:pPr algn="ctr"/>
              <a:r>
                <a:rPr lang="es-ES" sz="1600" dirty="0"/>
                <a:t>Falla de PMS</a:t>
              </a:r>
            </a:p>
          </p:txBody>
        </p:sp>
      </p:grpSp>
      <p:grpSp>
        <p:nvGrpSpPr>
          <p:cNvPr id="7" name="Group 43"/>
          <p:cNvGrpSpPr/>
          <p:nvPr/>
        </p:nvGrpSpPr>
        <p:grpSpPr>
          <a:xfrm>
            <a:off x="557212" y="3999110"/>
            <a:ext cx="3812392" cy="359059"/>
            <a:chOff x="441883" y="3429000"/>
            <a:chExt cx="8136904" cy="504056"/>
          </a:xfrm>
          <a:solidFill>
            <a:schemeClr val="bg1">
              <a:lumMod val="95000"/>
            </a:schemeClr>
          </a:solidFill>
        </p:grpSpPr>
        <p:sp>
          <p:nvSpPr>
            <p:cNvPr id="45" name="Rounded Rectangle 44"/>
            <p:cNvSpPr/>
            <p:nvPr/>
          </p:nvSpPr>
          <p:spPr>
            <a:xfrm>
              <a:off x="441883" y="3429000"/>
              <a:ext cx="8136904" cy="504056"/>
            </a:xfrm>
            <a:prstGeom prst="round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46" name="TextBox 45"/>
            <p:cNvSpPr txBox="1"/>
            <p:nvPr/>
          </p:nvSpPr>
          <p:spPr>
            <a:xfrm>
              <a:off x="743976" y="3460697"/>
              <a:ext cx="7653536" cy="397466"/>
            </a:xfrm>
            <a:prstGeom prst="rect">
              <a:avLst/>
            </a:prstGeom>
            <a:grpFill/>
          </p:spPr>
          <p:txBody>
            <a:bodyPr wrap="square" rtlCol="0">
              <a:spAutoFit/>
            </a:bodyPr>
            <a:lstStyle/>
            <a:p>
              <a:pPr algn="ctr"/>
              <a:r>
                <a:rPr lang="es-ES" sz="1600" dirty="0"/>
                <a:t>Falla de </a:t>
              </a:r>
              <a:r>
                <a:rPr lang="es-ES" sz="1600" dirty="0" err="1"/>
                <a:t>Bloomberg</a:t>
              </a:r>
              <a:r>
                <a:rPr lang="es-ES" sz="1600" dirty="0"/>
                <a:t>/Data </a:t>
              </a:r>
              <a:r>
                <a:rPr lang="es-ES" sz="1600" dirty="0" err="1"/>
                <a:t>Tec</a:t>
              </a:r>
              <a:endParaRPr lang="es-ES" sz="1600" dirty="0"/>
            </a:p>
          </p:txBody>
        </p:sp>
      </p:grpSp>
      <p:grpSp>
        <p:nvGrpSpPr>
          <p:cNvPr id="9" name="Group 46"/>
          <p:cNvGrpSpPr/>
          <p:nvPr/>
        </p:nvGrpSpPr>
        <p:grpSpPr>
          <a:xfrm>
            <a:off x="557212" y="4392934"/>
            <a:ext cx="3812392" cy="359059"/>
            <a:chOff x="441883" y="3429000"/>
            <a:chExt cx="8136904" cy="504056"/>
          </a:xfrm>
          <a:solidFill>
            <a:schemeClr val="bg1">
              <a:lumMod val="95000"/>
            </a:schemeClr>
          </a:solidFill>
        </p:grpSpPr>
        <p:sp>
          <p:nvSpPr>
            <p:cNvPr id="48" name="Rounded Rectangle 47"/>
            <p:cNvSpPr/>
            <p:nvPr/>
          </p:nvSpPr>
          <p:spPr>
            <a:xfrm>
              <a:off x="441883" y="3429000"/>
              <a:ext cx="8136904" cy="504056"/>
            </a:xfrm>
            <a:prstGeom prst="round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49" name="TextBox 48"/>
            <p:cNvSpPr txBox="1"/>
            <p:nvPr/>
          </p:nvSpPr>
          <p:spPr>
            <a:xfrm>
              <a:off x="743976" y="3447964"/>
              <a:ext cx="7653536" cy="397466"/>
            </a:xfrm>
            <a:prstGeom prst="rect">
              <a:avLst/>
            </a:prstGeom>
            <a:grpFill/>
          </p:spPr>
          <p:txBody>
            <a:bodyPr wrap="square" rtlCol="0">
              <a:spAutoFit/>
            </a:bodyPr>
            <a:lstStyle/>
            <a:p>
              <a:pPr algn="ctr"/>
              <a:r>
                <a:rPr lang="es-ES" sz="1600" dirty="0"/>
                <a:t>Falla de equipos de TI</a:t>
              </a:r>
            </a:p>
          </p:txBody>
        </p:sp>
      </p:grpSp>
      <p:grpSp>
        <p:nvGrpSpPr>
          <p:cNvPr id="10" name="Group 49"/>
          <p:cNvGrpSpPr/>
          <p:nvPr/>
        </p:nvGrpSpPr>
        <p:grpSpPr>
          <a:xfrm>
            <a:off x="4549184" y="3601018"/>
            <a:ext cx="3812392" cy="360039"/>
            <a:chOff x="441883" y="3259923"/>
            <a:chExt cx="8136904" cy="422691"/>
          </a:xfrm>
          <a:solidFill>
            <a:schemeClr val="bg1">
              <a:lumMod val="95000"/>
            </a:schemeClr>
          </a:solidFill>
        </p:grpSpPr>
        <p:sp>
          <p:nvSpPr>
            <p:cNvPr id="51" name="Rounded Rectangle 50"/>
            <p:cNvSpPr/>
            <p:nvPr/>
          </p:nvSpPr>
          <p:spPr>
            <a:xfrm>
              <a:off x="441883" y="3259923"/>
              <a:ext cx="8136904" cy="422645"/>
            </a:xfrm>
            <a:prstGeom prst="round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52" name="TextBox 51"/>
            <p:cNvSpPr txBox="1"/>
            <p:nvPr/>
          </p:nvSpPr>
          <p:spPr>
            <a:xfrm>
              <a:off x="743976" y="3285147"/>
              <a:ext cx="7653536" cy="397467"/>
            </a:xfrm>
            <a:prstGeom prst="rect">
              <a:avLst/>
            </a:prstGeom>
            <a:noFill/>
          </p:spPr>
          <p:txBody>
            <a:bodyPr wrap="square" rtlCol="0">
              <a:spAutoFit/>
            </a:bodyPr>
            <a:lstStyle/>
            <a:p>
              <a:pPr algn="ctr"/>
              <a:r>
                <a:rPr lang="es-ES" sz="1600" dirty="0"/>
                <a:t>Falla de Correo electrónico/WF Emisión</a:t>
              </a:r>
            </a:p>
          </p:txBody>
        </p:sp>
      </p:grpSp>
      <p:grpSp>
        <p:nvGrpSpPr>
          <p:cNvPr id="11" name="Group 55"/>
          <p:cNvGrpSpPr/>
          <p:nvPr/>
        </p:nvGrpSpPr>
        <p:grpSpPr>
          <a:xfrm>
            <a:off x="4549184" y="5261314"/>
            <a:ext cx="3812392" cy="360000"/>
            <a:chOff x="441883" y="3429000"/>
            <a:chExt cx="8136904" cy="504056"/>
          </a:xfrm>
          <a:solidFill>
            <a:schemeClr val="bg1">
              <a:lumMod val="95000"/>
            </a:schemeClr>
          </a:solidFill>
        </p:grpSpPr>
        <p:sp>
          <p:nvSpPr>
            <p:cNvPr id="57" name="Rounded Rectangle 56"/>
            <p:cNvSpPr/>
            <p:nvPr/>
          </p:nvSpPr>
          <p:spPr>
            <a:xfrm>
              <a:off x="441883" y="3429000"/>
              <a:ext cx="8136904" cy="504056"/>
            </a:xfrm>
            <a:prstGeom prst="round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58" name="TextBox 57"/>
            <p:cNvSpPr txBox="1"/>
            <p:nvPr/>
          </p:nvSpPr>
          <p:spPr>
            <a:xfrm>
              <a:off x="743976" y="3459064"/>
              <a:ext cx="7653536" cy="397464"/>
            </a:xfrm>
            <a:prstGeom prst="rect">
              <a:avLst/>
            </a:prstGeom>
            <a:grpFill/>
          </p:spPr>
          <p:txBody>
            <a:bodyPr wrap="square" rtlCol="0">
              <a:spAutoFit/>
            </a:bodyPr>
            <a:lstStyle/>
            <a:p>
              <a:pPr algn="ctr"/>
              <a:r>
                <a:rPr lang="es-ES" sz="1600" dirty="0"/>
                <a:t>Falla de </a:t>
              </a:r>
              <a:r>
                <a:rPr lang="es-ES" sz="1600" dirty="0" err="1"/>
                <a:t>Legall</a:t>
              </a:r>
              <a:endParaRPr lang="es-ES" sz="1600" dirty="0"/>
            </a:p>
          </p:txBody>
        </p:sp>
      </p:grpSp>
      <p:grpSp>
        <p:nvGrpSpPr>
          <p:cNvPr id="12" name="Group 58"/>
          <p:cNvGrpSpPr/>
          <p:nvPr/>
        </p:nvGrpSpPr>
        <p:grpSpPr>
          <a:xfrm>
            <a:off x="4549184" y="5675778"/>
            <a:ext cx="3812392" cy="360000"/>
            <a:chOff x="441883" y="3429000"/>
            <a:chExt cx="8136904" cy="504056"/>
          </a:xfrm>
          <a:solidFill>
            <a:schemeClr val="bg1">
              <a:lumMod val="95000"/>
            </a:schemeClr>
          </a:solidFill>
        </p:grpSpPr>
        <p:sp>
          <p:nvSpPr>
            <p:cNvPr id="60" name="Rounded Rectangle 59"/>
            <p:cNvSpPr/>
            <p:nvPr/>
          </p:nvSpPr>
          <p:spPr>
            <a:xfrm>
              <a:off x="441883" y="3429000"/>
              <a:ext cx="8136904" cy="504056"/>
            </a:xfrm>
            <a:prstGeom prst="round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61" name="TextBox 60"/>
            <p:cNvSpPr txBox="1"/>
            <p:nvPr/>
          </p:nvSpPr>
          <p:spPr>
            <a:xfrm>
              <a:off x="743976" y="3477861"/>
              <a:ext cx="7653536" cy="397466"/>
            </a:xfrm>
            <a:prstGeom prst="rect">
              <a:avLst/>
            </a:prstGeom>
            <a:noFill/>
          </p:spPr>
          <p:txBody>
            <a:bodyPr wrap="square" rtlCol="0">
              <a:spAutoFit/>
            </a:bodyPr>
            <a:lstStyle/>
            <a:p>
              <a:pPr algn="ctr"/>
              <a:r>
                <a:rPr lang="es-ES" sz="1600" dirty="0"/>
                <a:t>Falla de CGS</a:t>
              </a:r>
            </a:p>
          </p:txBody>
        </p:sp>
      </p:grpSp>
      <p:grpSp>
        <p:nvGrpSpPr>
          <p:cNvPr id="13" name="Group 63"/>
          <p:cNvGrpSpPr/>
          <p:nvPr/>
        </p:nvGrpSpPr>
        <p:grpSpPr>
          <a:xfrm>
            <a:off x="462020" y="4801420"/>
            <a:ext cx="8136904" cy="429344"/>
            <a:chOff x="441883" y="3429000"/>
            <a:chExt cx="8136904" cy="504056"/>
          </a:xfrm>
        </p:grpSpPr>
        <p:sp>
          <p:nvSpPr>
            <p:cNvPr id="65" name="Rounded Rectangle 64"/>
            <p:cNvSpPr/>
            <p:nvPr/>
          </p:nvSpPr>
          <p:spPr>
            <a:xfrm>
              <a:off x="441883" y="3429000"/>
              <a:ext cx="8136904" cy="504056"/>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66" name="TextBox 65"/>
            <p:cNvSpPr txBox="1"/>
            <p:nvPr/>
          </p:nvSpPr>
          <p:spPr>
            <a:xfrm>
              <a:off x="743976" y="3519790"/>
              <a:ext cx="7653535" cy="397467"/>
            </a:xfrm>
            <a:prstGeom prst="rect">
              <a:avLst/>
            </a:prstGeom>
            <a:noFill/>
          </p:spPr>
          <p:txBody>
            <a:bodyPr wrap="square" rtlCol="0">
              <a:spAutoFit/>
            </a:bodyPr>
            <a:lstStyle/>
            <a:p>
              <a:pPr algn="ctr"/>
              <a:r>
                <a:rPr lang="es-ES" sz="1600" b="1" dirty="0"/>
                <a:t>Falla de servicio de proveedor</a:t>
              </a:r>
            </a:p>
          </p:txBody>
        </p:sp>
      </p:grpSp>
      <p:sp>
        <p:nvSpPr>
          <p:cNvPr id="68" name="TextBox 67"/>
          <p:cNvSpPr txBox="1"/>
          <p:nvPr/>
        </p:nvSpPr>
        <p:spPr>
          <a:xfrm>
            <a:off x="107504" y="827420"/>
            <a:ext cx="8820472" cy="646331"/>
          </a:xfrm>
          <a:prstGeom prst="rect">
            <a:avLst/>
          </a:prstGeom>
          <a:noFill/>
          <a:ln>
            <a:noFill/>
          </a:ln>
        </p:spPr>
        <p:txBody>
          <a:bodyPr wrap="square" rtlCol="0">
            <a:spAutoFit/>
          </a:bodyPr>
          <a:lstStyle/>
          <a:p>
            <a:pPr algn="ctr"/>
            <a:r>
              <a:rPr lang="es-ES" b="1" dirty="0">
                <a:cs typeface="Times New Roman" pitchFamily="18" charset="0"/>
              </a:rPr>
              <a:t>Los Planes de Continuidad de Negocio propuestos se caracterizan por contemplar el universos de escenarios posibles de interrupción</a:t>
            </a:r>
          </a:p>
        </p:txBody>
      </p:sp>
      <p:sp>
        <p:nvSpPr>
          <p:cNvPr id="41" name="Title 1"/>
          <p:cNvSpPr>
            <a:spLocks noGrp="1"/>
          </p:cNvSpPr>
          <p:nvPr>
            <p:ph type="title"/>
          </p:nvPr>
        </p:nvSpPr>
        <p:spPr>
          <a:xfrm>
            <a:off x="47625" y="32965"/>
            <a:ext cx="8217470" cy="587723"/>
          </a:xfrm>
        </p:spPr>
        <p:txBody>
          <a:bodyPr/>
          <a:lstStyle/>
          <a:p>
            <a:pPr marL="457200" indent="-457200"/>
            <a:r>
              <a:rPr lang="es-ES" dirty="0"/>
              <a:t>Anexo: Planes de Continuidad</a:t>
            </a:r>
          </a:p>
        </p:txBody>
      </p:sp>
      <p:sp>
        <p:nvSpPr>
          <p:cNvPr id="44" name="Rounded Rectangle 31">
            <a:hlinkClick r:id="rId2" action="ppaction://hlinksldjump"/>
          </p:cNvPr>
          <p:cNvSpPr/>
          <p:nvPr/>
        </p:nvSpPr>
        <p:spPr>
          <a:xfrm>
            <a:off x="1638012" y="6322807"/>
            <a:ext cx="1080000" cy="360000"/>
          </a:xfrm>
          <a:prstGeom prst="roundRect">
            <a:avLst/>
          </a:prstGeom>
          <a:solidFill>
            <a:schemeClr val="bg1">
              <a:lumMod val="65000"/>
            </a:schemeClr>
          </a:solidFill>
          <a:ln w="25400" cap="sq" cmpd="sng">
            <a:solidFill>
              <a:schemeClr val="bg1">
                <a:lumMod val="75000"/>
              </a:schemeClr>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L" sz="800" b="1" i="1" dirty="0">
                <a:solidFill>
                  <a:schemeClr val="bg1"/>
                </a:solidFill>
                <a:cs typeface="Arial" pitchFamily="34" charset="0"/>
              </a:rPr>
              <a:t>Planes de Mitigación</a:t>
            </a:r>
          </a:p>
        </p:txBody>
      </p:sp>
      <p:graphicFrame>
        <p:nvGraphicFramePr>
          <p:cNvPr id="47" name="46 Objeto">
            <a:hlinkClick r:id="rId3" action="ppaction://hlinkfile"/>
          </p:cNvPr>
          <p:cNvGraphicFramePr>
            <a:graphicFrameLocks noChangeAspect="1"/>
          </p:cNvGraphicFramePr>
          <p:nvPr/>
        </p:nvGraphicFramePr>
        <p:xfrm>
          <a:off x="3203848" y="6237312"/>
          <a:ext cx="914400" cy="714375"/>
        </p:xfrm>
        <a:graphic>
          <a:graphicData uri="http://schemas.openxmlformats.org/presentationml/2006/ole">
            <mc:AlternateContent xmlns:mc="http://schemas.openxmlformats.org/markup-compatibility/2006">
              <mc:Choice xmlns:v="urn:schemas-microsoft-com:vml" Requires="v">
                <p:oleObj spid="_x0000_s2052" name="PDF" showAsIcon="1" r:id="rId4" imgW="914400" imgH="714375" progId="">
                  <p:embed/>
                </p:oleObj>
              </mc:Choice>
              <mc:Fallback>
                <p:oleObj name="PDF" showAsIcon="1" r:id="rId4" imgW="914400" imgH="714375" progId="">
                  <p:embed/>
                  <p:pic>
                    <p:nvPicPr>
                      <p:cNvPr id="0" name="Picture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203848" y="6237312"/>
                        <a:ext cx="914400" cy="7143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28889259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barn(inVertical)">
                                      <p:cBhvr>
                                        <p:cTn id="7" dur="500"/>
                                        <p:tgtEl>
                                          <p:spTgt spid="8"/>
                                        </p:tgtEl>
                                      </p:cBhvr>
                                    </p:animEffect>
                                  </p:childTnLst>
                                </p:cTn>
                              </p:par>
                              <p:par>
                                <p:cTn id="8" presetID="16" presetClass="entr" presetSubtype="21" fill="hold" grpId="0"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barn(inVertical)">
                                      <p:cBhvr>
                                        <p:cTn id="10" dur="500"/>
                                        <p:tgtEl>
                                          <p:spTgt spid="17"/>
                                        </p:tgtEl>
                                      </p:cBhvr>
                                    </p:animEffect>
                                  </p:childTnLst>
                                </p:cTn>
                              </p:par>
                              <p:par>
                                <p:cTn id="11" presetID="16" presetClass="entr" presetSubtype="21" fill="hold" grpId="0" nodeType="withEffect">
                                  <p:stCondLst>
                                    <p:cond delay="0"/>
                                  </p:stCondLst>
                                  <p:childTnLst>
                                    <p:set>
                                      <p:cBhvr>
                                        <p:cTn id="12" dur="1" fill="hold">
                                          <p:stCondLst>
                                            <p:cond delay="0"/>
                                          </p:stCondLst>
                                        </p:cTn>
                                        <p:tgtEl>
                                          <p:spTgt spid="25"/>
                                        </p:tgtEl>
                                        <p:attrNameLst>
                                          <p:attrName>style.visibility</p:attrName>
                                        </p:attrNameLst>
                                      </p:cBhvr>
                                      <p:to>
                                        <p:strVal val="visible"/>
                                      </p:to>
                                    </p:set>
                                    <p:animEffect transition="in" filter="barn(inVertical)">
                                      <p:cBhvr>
                                        <p:cTn id="13" dur="500"/>
                                        <p:tgtEl>
                                          <p:spTgt spid="25"/>
                                        </p:tgtEl>
                                      </p:cBhvr>
                                    </p:animEffect>
                                  </p:childTnLst>
                                </p:cTn>
                              </p:par>
                              <p:par>
                                <p:cTn id="14" presetID="16" presetClass="entr" presetSubtype="21" fill="hold" grpId="0" nodeType="withEffect">
                                  <p:stCondLst>
                                    <p:cond delay="0"/>
                                  </p:stCondLst>
                                  <p:childTnLst>
                                    <p:set>
                                      <p:cBhvr>
                                        <p:cTn id="15" dur="1" fill="hold">
                                          <p:stCondLst>
                                            <p:cond delay="0"/>
                                          </p:stCondLst>
                                        </p:cTn>
                                        <p:tgtEl>
                                          <p:spTgt spid="26"/>
                                        </p:tgtEl>
                                        <p:attrNameLst>
                                          <p:attrName>style.visibility</p:attrName>
                                        </p:attrNameLst>
                                      </p:cBhvr>
                                      <p:to>
                                        <p:strVal val="visible"/>
                                      </p:to>
                                    </p:set>
                                    <p:animEffect transition="in" filter="barn(inVertical)">
                                      <p:cBhvr>
                                        <p:cTn id="16" dur="500"/>
                                        <p:tgtEl>
                                          <p:spTgt spid="26"/>
                                        </p:tgtEl>
                                      </p:cBhvr>
                                    </p:animEffect>
                                  </p:childTnLst>
                                </p:cTn>
                              </p:par>
                            </p:childTnLst>
                          </p:cTn>
                        </p:par>
                      </p:childTnLst>
                    </p:cTn>
                  </p:par>
                  <p:par>
                    <p:cTn id="17" fill="hold">
                      <p:stCondLst>
                        <p:cond delay="indefinite"/>
                      </p:stCondLst>
                      <p:childTnLst>
                        <p:par>
                          <p:cTn id="18" fill="hold">
                            <p:stCondLst>
                              <p:cond delay="0"/>
                            </p:stCondLst>
                            <p:childTnLst>
                              <p:par>
                                <p:cTn id="19" presetID="2" presetClass="entr" presetSubtype="8" fill="hold" nodeType="clickEffect">
                                  <p:stCondLst>
                                    <p:cond delay="0"/>
                                  </p:stCondLst>
                                  <p:childTnLst>
                                    <p:set>
                                      <p:cBhvr>
                                        <p:cTn id="20" dur="1" fill="hold">
                                          <p:stCondLst>
                                            <p:cond delay="0"/>
                                          </p:stCondLst>
                                        </p:cTn>
                                        <p:tgtEl>
                                          <p:spTgt spid="2"/>
                                        </p:tgtEl>
                                        <p:attrNameLst>
                                          <p:attrName>style.visibility</p:attrName>
                                        </p:attrNameLst>
                                      </p:cBhvr>
                                      <p:to>
                                        <p:strVal val="visible"/>
                                      </p:to>
                                    </p:set>
                                    <p:anim calcmode="lin" valueType="num">
                                      <p:cBhvr additive="base">
                                        <p:cTn id="21" dur="500" fill="hold"/>
                                        <p:tgtEl>
                                          <p:spTgt spid="2"/>
                                        </p:tgtEl>
                                        <p:attrNameLst>
                                          <p:attrName>ppt_x</p:attrName>
                                        </p:attrNameLst>
                                      </p:cBhvr>
                                      <p:tavLst>
                                        <p:tav tm="0">
                                          <p:val>
                                            <p:strVal val="0-#ppt_w/2"/>
                                          </p:val>
                                        </p:tav>
                                        <p:tav tm="100000">
                                          <p:val>
                                            <p:strVal val="#ppt_x"/>
                                          </p:val>
                                        </p:tav>
                                      </p:tavLst>
                                    </p:anim>
                                    <p:anim calcmode="lin" valueType="num">
                                      <p:cBhvr additive="base">
                                        <p:cTn id="22" dur="5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8" fill="hold" nodeType="clickEffect">
                                  <p:stCondLst>
                                    <p:cond delay="0"/>
                                  </p:stCondLst>
                                  <p:childTnLst>
                                    <p:set>
                                      <p:cBhvr>
                                        <p:cTn id="26" dur="1" fill="hold">
                                          <p:stCondLst>
                                            <p:cond delay="0"/>
                                          </p:stCondLst>
                                        </p:cTn>
                                        <p:tgtEl>
                                          <p:spTgt spid="4"/>
                                        </p:tgtEl>
                                        <p:attrNameLst>
                                          <p:attrName>style.visibility</p:attrName>
                                        </p:attrNameLst>
                                      </p:cBhvr>
                                      <p:to>
                                        <p:strVal val="visible"/>
                                      </p:to>
                                    </p:set>
                                    <p:anim calcmode="lin" valueType="num">
                                      <p:cBhvr additive="base">
                                        <p:cTn id="27" dur="500" fill="hold"/>
                                        <p:tgtEl>
                                          <p:spTgt spid="4"/>
                                        </p:tgtEl>
                                        <p:attrNameLst>
                                          <p:attrName>ppt_x</p:attrName>
                                        </p:attrNameLst>
                                      </p:cBhvr>
                                      <p:tavLst>
                                        <p:tav tm="0">
                                          <p:val>
                                            <p:strVal val="0-#ppt_w/2"/>
                                          </p:val>
                                        </p:tav>
                                        <p:tav tm="100000">
                                          <p:val>
                                            <p:strVal val="#ppt_x"/>
                                          </p:val>
                                        </p:tav>
                                      </p:tavLst>
                                    </p:anim>
                                    <p:anim calcmode="lin" valueType="num">
                                      <p:cBhvr additive="base">
                                        <p:cTn id="28" dur="500" fill="hold"/>
                                        <p:tgtEl>
                                          <p:spTgt spid="4"/>
                                        </p:tgtEl>
                                        <p:attrNameLst>
                                          <p:attrName>ppt_y</p:attrName>
                                        </p:attrNameLst>
                                      </p:cBhvr>
                                      <p:tavLst>
                                        <p:tav tm="0">
                                          <p:val>
                                            <p:strVal val="#ppt_y"/>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8" fill="hold" nodeType="clickEffect">
                                  <p:stCondLst>
                                    <p:cond delay="0"/>
                                  </p:stCondLst>
                                  <p:childTnLst>
                                    <p:set>
                                      <p:cBhvr>
                                        <p:cTn id="32" dur="1" fill="hold">
                                          <p:stCondLst>
                                            <p:cond delay="0"/>
                                          </p:stCondLst>
                                        </p:cTn>
                                        <p:tgtEl>
                                          <p:spTgt spid="5"/>
                                        </p:tgtEl>
                                        <p:attrNameLst>
                                          <p:attrName>style.visibility</p:attrName>
                                        </p:attrNameLst>
                                      </p:cBhvr>
                                      <p:to>
                                        <p:strVal val="visible"/>
                                      </p:to>
                                    </p:set>
                                    <p:anim calcmode="lin" valueType="num">
                                      <p:cBhvr additive="base">
                                        <p:cTn id="33" dur="500" fill="hold"/>
                                        <p:tgtEl>
                                          <p:spTgt spid="5"/>
                                        </p:tgtEl>
                                        <p:attrNameLst>
                                          <p:attrName>ppt_x</p:attrName>
                                        </p:attrNameLst>
                                      </p:cBhvr>
                                      <p:tavLst>
                                        <p:tav tm="0">
                                          <p:val>
                                            <p:strVal val="0-#ppt_w/2"/>
                                          </p:val>
                                        </p:tav>
                                        <p:tav tm="100000">
                                          <p:val>
                                            <p:strVal val="#ppt_x"/>
                                          </p:val>
                                        </p:tav>
                                      </p:tavLst>
                                    </p:anim>
                                    <p:anim calcmode="lin" valueType="num">
                                      <p:cBhvr additive="base">
                                        <p:cTn id="34" dur="500" fill="hold"/>
                                        <p:tgtEl>
                                          <p:spTgt spid="5"/>
                                        </p:tgtEl>
                                        <p:attrNameLst>
                                          <p:attrName>ppt_y</p:attrName>
                                        </p:attrNameLst>
                                      </p:cBhvr>
                                      <p:tavLst>
                                        <p:tav tm="0">
                                          <p:val>
                                            <p:strVal val="#ppt_y"/>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2" presetClass="entr" presetSubtype="4" fill="hold" nodeType="clickEffect">
                                  <p:stCondLst>
                                    <p:cond delay="0"/>
                                  </p:stCondLst>
                                  <p:childTnLst>
                                    <p:set>
                                      <p:cBhvr>
                                        <p:cTn id="38" dur="1" fill="hold">
                                          <p:stCondLst>
                                            <p:cond delay="0"/>
                                          </p:stCondLst>
                                        </p:cTn>
                                        <p:tgtEl>
                                          <p:spTgt spid="6"/>
                                        </p:tgtEl>
                                        <p:attrNameLst>
                                          <p:attrName>style.visibility</p:attrName>
                                        </p:attrNameLst>
                                      </p:cBhvr>
                                      <p:to>
                                        <p:strVal val="visible"/>
                                      </p:to>
                                    </p:set>
                                    <p:anim calcmode="lin" valueType="num">
                                      <p:cBhvr additive="base">
                                        <p:cTn id="39" dur="500" fill="hold"/>
                                        <p:tgtEl>
                                          <p:spTgt spid="6"/>
                                        </p:tgtEl>
                                        <p:attrNameLst>
                                          <p:attrName>ppt_x</p:attrName>
                                        </p:attrNameLst>
                                      </p:cBhvr>
                                      <p:tavLst>
                                        <p:tav tm="0">
                                          <p:val>
                                            <p:strVal val="#ppt_x"/>
                                          </p:val>
                                        </p:tav>
                                        <p:tav tm="100000">
                                          <p:val>
                                            <p:strVal val="#ppt_x"/>
                                          </p:val>
                                        </p:tav>
                                      </p:tavLst>
                                    </p:anim>
                                    <p:anim calcmode="lin" valueType="num">
                                      <p:cBhvr additive="base">
                                        <p:cTn id="40"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2" presetClass="entr" presetSubtype="4" fill="hold" nodeType="clickEffect">
                                  <p:stCondLst>
                                    <p:cond delay="0"/>
                                  </p:stCondLst>
                                  <p:childTnLst>
                                    <p:set>
                                      <p:cBhvr>
                                        <p:cTn id="44" dur="1" fill="hold">
                                          <p:stCondLst>
                                            <p:cond delay="0"/>
                                          </p:stCondLst>
                                        </p:cTn>
                                        <p:tgtEl>
                                          <p:spTgt spid="7"/>
                                        </p:tgtEl>
                                        <p:attrNameLst>
                                          <p:attrName>style.visibility</p:attrName>
                                        </p:attrNameLst>
                                      </p:cBhvr>
                                      <p:to>
                                        <p:strVal val="visible"/>
                                      </p:to>
                                    </p:set>
                                    <p:anim calcmode="lin" valueType="num">
                                      <p:cBhvr additive="base">
                                        <p:cTn id="45" dur="500" fill="hold"/>
                                        <p:tgtEl>
                                          <p:spTgt spid="7"/>
                                        </p:tgtEl>
                                        <p:attrNameLst>
                                          <p:attrName>ppt_x</p:attrName>
                                        </p:attrNameLst>
                                      </p:cBhvr>
                                      <p:tavLst>
                                        <p:tav tm="0">
                                          <p:val>
                                            <p:strVal val="#ppt_x"/>
                                          </p:val>
                                        </p:tav>
                                        <p:tav tm="100000">
                                          <p:val>
                                            <p:strVal val="#ppt_x"/>
                                          </p:val>
                                        </p:tav>
                                      </p:tavLst>
                                    </p:anim>
                                    <p:anim calcmode="lin" valueType="num">
                                      <p:cBhvr additive="base">
                                        <p:cTn id="46"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47" fill="hold">
                      <p:stCondLst>
                        <p:cond delay="indefinite"/>
                      </p:stCondLst>
                      <p:childTnLst>
                        <p:par>
                          <p:cTn id="48" fill="hold">
                            <p:stCondLst>
                              <p:cond delay="0"/>
                            </p:stCondLst>
                            <p:childTnLst>
                              <p:par>
                                <p:cTn id="49" presetID="2" presetClass="entr" presetSubtype="4" fill="hold" nodeType="clickEffect">
                                  <p:stCondLst>
                                    <p:cond delay="0"/>
                                  </p:stCondLst>
                                  <p:childTnLst>
                                    <p:set>
                                      <p:cBhvr>
                                        <p:cTn id="50" dur="1" fill="hold">
                                          <p:stCondLst>
                                            <p:cond delay="0"/>
                                          </p:stCondLst>
                                        </p:cTn>
                                        <p:tgtEl>
                                          <p:spTgt spid="9"/>
                                        </p:tgtEl>
                                        <p:attrNameLst>
                                          <p:attrName>style.visibility</p:attrName>
                                        </p:attrNameLst>
                                      </p:cBhvr>
                                      <p:to>
                                        <p:strVal val="visible"/>
                                      </p:to>
                                    </p:set>
                                    <p:anim calcmode="lin" valueType="num">
                                      <p:cBhvr additive="base">
                                        <p:cTn id="51" dur="500" fill="hold"/>
                                        <p:tgtEl>
                                          <p:spTgt spid="9"/>
                                        </p:tgtEl>
                                        <p:attrNameLst>
                                          <p:attrName>ppt_x</p:attrName>
                                        </p:attrNameLst>
                                      </p:cBhvr>
                                      <p:tavLst>
                                        <p:tav tm="0">
                                          <p:val>
                                            <p:strVal val="#ppt_x"/>
                                          </p:val>
                                        </p:tav>
                                        <p:tav tm="100000">
                                          <p:val>
                                            <p:strVal val="#ppt_x"/>
                                          </p:val>
                                        </p:tav>
                                      </p:tavLst>
                                    </p:anim>
                                    <p:anim calcmode="lin" valueType="num">
                                      <p:cBhvr additive="base">
                                        <p:cTn id="52"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53" fill="hold">
                      <p:stCondLst>
                        <p:cond delay="indefinite"/>
                      </p:stCondLst>
                      <p:childTnLst>
                        <p:par>
                          <p:cTn id="54" fill="hold">
                            <p:stCondLst>
                              <p:cond delay="0"/>
                            </p:stCondLst>
                            <p:childTnLst>
                              <p:par>
                                <p:cTn id="55" presetID="2" presetClass="entr" presetSubtype="4" fill="hold" nodeType="clickEffect">
                                  <p:stCondLst>
                                    <p:cond delay="0"/>
                                  </p:stCondLst>
                                  <p:childTnLst>
                                    <p:set>
                                      <p:cBhvr>
                                        <p:cTn id="56" dur="1" fill="hold">
                                          <p:stCondLst>
                                            <p:cond delay="0"/>
                                          </p:stCondLst>
                                        </p:cTn>
                                        <p:tgtEl>
                                          <p:spTgt spid="10"/>
                                        </p:tgtEl>
                                        <p:attrNameLst>
                                          <p:attrName>style.visibility</p:attrName>
                                        </p:attrNameLst>
                                      </p:cBhvr>
                                      <p:to>
                                        <p:strVal val="visible"/>
                                      </p:to>
                                    </p:set>
                                    <p:anim calcmode="lin" valueType="num">
                                      <p:cBhvr additive="base">
                                        <p:cTn id="57" dur="500" fill="hold"/>
                                        <p:tgtEl>
                                          <p:spTgt spid="10"/>
                                        </p:tgtEl>
                                        <p:attrNameLst>
                                          <p:attrName>ppt_x</p:attrName>
                                        </p:attrNameLst>
                                      </p:cBhvr>
                                      <p:tavLst>
                                        <p:tav tm="0">
                                          <p:val>
                                            <p:strVal val="#ppt_x"/>
                                          </p:val>
                                        </p:tav>
                                        <p:tav tm="100000">
                                          <p:val>
                                            <p:strVal val="#ppt_x"/>
                                          </p:val>
                                        </p:tav>
                                      </p:tavLst>
                                    </p:anim>
                                    <p:anim calcmode="lin" valueType="num">
                                      <p:cBhvr additive="base">
                                        <p:cTn id="58"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2" presetClass="entr" presetSubtype="8" fill="hold" nodeType="clickEffect">
                                  <p:stCondLst>
                                    <p:cond delay="0"/>
                                  </p:stCondLst>
                                  <p:childTnLst>
                                    <p:set>
                                      <p:cBhvr>
                                        <p:cTn id="62" dur="1" fill="hold">
                                          <p:stCondLst>
                                            <p:cond delay="0"/>
                                          </p:stCondLst>
                                        </p:cTn>
                                        <p:tgtEl>
                                          <p:spTgt spid="13"/>
                                        </p:tgtEl>
                                        <p:attrNameLst>
                                          <p:attrName>style.visibility</p:attrName>
                                        </p:attrNameLst>
                                      </p:cBhvr>
                                      <p:to>
                                        <p:strVal val="visible"/>
                                      </p:to>
                                    </p:set>
                                    <p:anim calcmode="lin" valueType="num">
                                      <p:cBhvr additive="base">
                                        <p:cTn id="63" dur="500" fill="hold"/>
                                        <p:tgtEl>
                                          <p:spTgt spid="13"/>
                                        </p:tgtEl>
                                        <p:attrNameLst>
                                          <p:attrName>ppt_x</p:attrName>
                                        </p:attrNameLst>
                                      </p:cBhvr>
                                      <p:tavLst>
                                        <p:tav tm="0">
                                          <p:val>
                                            <p:strVal val="0-#ppt_w/2"/>
                                          </p:val>
                                        </p:tav>
                                        <p:tav tm="100000">
                                          <p:val>
                                            <p:strVal val="#ppt_x"/>
                                          </p:val>
                                        </p:tav>
                                      </p:tavLst>
                                    </p:anim>
                                    <p:anim calcmode="lin" valueType="num">
                                      <p:cBhvr additive="base">
                                        <p:cTn id="64" dur="500" fill="hold"/>
                                        <p:tgtEl>
                                          <p:spTgt spid="13"/>
                                        </p:tgtEl>
                                        <p:attrNameLst>
                                          <p:attrName>ppt_y</p:attrName>
                                        </p:attrNameLst>
                                      </p:cBhvr>
                                      <p:tavLst>
                                        <p:tav tm="0">
                                          <p:val>
                                            <p:strVal val="#ppt_y"/>
                                          </p:val>
                                        </p:tav>
                                        <p:tav tm="100000">
                                          <p:val>
                                            <p:strVal val="#ppt_y"/>
                                          </p:val>
                                        </p:tav>
                                      </p:tavLst>
                                    </p:anim>
                                  </p:childTnLst>
                                </p:cTn>
                              </p:par>
                            </p:childTnLst>
                          </p:cTn>
                        </p:par>
                      </p:childTnLst>
                    </p:cTn>
                  </p:par>
                  <p:par>
                    <p:cTn id="65" fill="hold">
                      <p:stCondLst>
                        <p:cond delay="indefinite"/>
                      </p:stCondLst>
                      <p:childTnLst>
                        <p:par>
                          <p:cTn id="66" fill="hold">
                            <p:stCondLst>
                              <p:cond delay="0"/>
                            </p:stCondLst>
                            <p:childTnLst>
                              <p:par>
                                <p:cTn id="67" presetID="2" presetClass="entr" presetSubtype="4" fill="hold" nodeType="clickEffect">
                                  <p:stCondLst>
                                    <p:cond delay="0"/>
                                  </p:stCondLst>
                                  <p:childTnLst>
                                    <p:set>
                                      <p:cBhvr>
                                        <p:cTn id="68" dur="1" fill="hold">
                                          <p:stCondLst>
                                            <p:cond delay="0"/>
                                          </p:stCondLst>
                                        </p:cTn>
                                        <p:tgtEl>
                                          <p:spTgt spid="11"/>
                                        </p:tgtEl>
                                        <p:attrNameLst>
                                          <p:attrName>style.visibility</p:attrName>
                                        </p:attrNameLst>
                                      </p:cBhvr>
                                      <p:to>
                                        <p:strVal val="visible"/>
                                      </p:to>
                                    </p:set>
                                    <p:anim calcmode="lin" valueType="num">
                                      <p:cBhvr additive="base">
                                        <p:cTn id="69" dur="500" fill="hold"/>
                                        <p:tgtEl>
                                          <p:spTgt spid="11"/>
                                        </p:tgtEl>
                                        <p:attrNameLst>
                                          <p:attrName>ppt_x</p:attrName>
                                        </p:attrNameLst>
                                      </p:cBhvr>
                                      <p:tavLst>
                                        <p:tav tm="0">
                                          <p:val>
                                            <p:strVal val="#ppt_x"/>
                                          </p:val>
                                        </p:tav>
                                        <p:tav tm="100000">
                                          <p:val>
                                            <p:strVal val="#ppt_x"/>
                                          </p:val>
                                        </p:tav>
                                      </p:tavLst>
                                    </p:anim>
                                    <p:anim calcmode="lin" valueType="num">
                                      <p:cBhvr additive="base">
                                        <p:cTn id="70"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71" fill="hold">
                      <p:stCondLst>
                        <p:cond delay="indefinite"/>
                      </p:stCondLst>
                      <p:childTnLst>
                        <p:par>
                          <p:cTn id="72" fill="hold">
                            <p:stCondLst>
                              <p:cond delay="0"/>
                            </p:stCondLst>
                            <p:childTnLst>
                              <p:par>
                                <p:cTn id="73" presetID="2" presetClass="entr" presetSubtype="4" fill="hold" nodeType="clickEffect">
                                  <p:stCondLst>
                                    <p:cond delay="0"/>
                                  </p:stCondLst>
                                  <p:childTnLst>
                                    <p:set>
                                      <p:cBhvr>
                                        <p:cTn id="74" dur="1" fill="hold">
                                          <p:stCondLst>
                                            <p:cond delay="0"/>
                                          </p:stCondLst>
                                        </p:cTn>
                                        <p:tgtEl>
                                          <p:spTgt spid="12"/>
                                        </p:tgtEl>
                                        <p:attrNameLst>
                                          <p:attrName>style.visibility</p:attrName>
                                        </p:attrNameLst>
                                      </p:cBhvr>
                                      <p:to>
                                        <p:strVal val="visible"/>
                                      </p:to>
                                    </p:set>
                                    <p:anim calcmode="lin" valueType="num">
                                      <p:cBhvr additive="base">
                                        <p:cTn id="75" dur="500" fill="hold"/>
                                        <p:tgtEl>
                                          <p:spTgt spid="12"/>
                                        </p:tgtEl>
                                        <p:attrNameLst>
                                          <p:attrName>ppt_x</p:attrName>
                                        </p:attrNameLst>
                                      </p:cBhvr>
                                      <p:tavLst>
                                        <p:tav tm="0">
                                          <p:val>
                                            <p:strVal val="#ppt_x"/>
                                          </p:val>
                                        </p:tav>
                                        <p:tav tm="100000">
                                          <p:val>
                                            <p:strVal val="#ppt_x"/>
                                          </p:val>
                                        </p:tav>
                                      </p:tavLst>
                                    </p:anim>
                                    <p:anim calcmode="lin" valueType="num">
                                      <p:cBhvr additive="base">
                                        <p:cTn id="76"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7" grpId="0" animBg="1"/>
      <p:bldP spid="25" grpId="0" animBg="1"/>
      <p:bldP spid="26" grpId="0" animBg="1"/>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dirty="0"/>
              <a:t>Anexo: Ficha Individual Riesgos Operacionales</a:t>
            </a:r>
          </a:p>
        </p:txBody>
      </p:sp>
      <p:sp>
        <p:nvSpPr>
          <p:cNvPr id="4" name="Rounded Rectangle 3"/>
          <p:cNvSpPr/>
          <p:nvPr/>
        </p:nvSpPr>
        <p:spPr>
          <a:xfrm>
            <a:off x="227770" y="764704"/>
            <a:ext cx="360040" cy="274320"/>
          </a:xfrm>
          <a:prstGeom prst="roundRect">
            <a:avLst/>
          </a:prstGeom>
          <a:solidFill>
            <a:srgbClr val="DB0613"/>
          </a:solidFill>
          <a:ln w="9525" algn="ctr">
            <a:noFill/>
            <a:miter lim="800000"/>
            <a:headEnd/>
            <a:tailEnd/>
          </a:ln>
          <a:effectLst/>
        </p:spPr>
        <p:txBody>
          <a:bodyPr anchor="ctr"/>
          <a:lstStyle/>
          <a:p>
            <a:pPr algn="ctr">
              <a:lnSpc>
                <a:spcPct val="80000"/>
              </a:lnSpc>
            </a:pPr>
            <a:r>
              <a:rPr lang="es-CL" sz="1200" b="1" dirty="0">
                <a:solidFill>
                  <a:srgbClr val="FFFFFF"/>
                </a:solidFill>
                <a:cs typeface="Arial" pitchFamily="34" charset="0"/>
              </a:rPr>
              <a:t>1</a:t>
            </a:r>
          </a:p>
        </p:txBody>
      </p:sp>
      <p:sp>
        <p:nvSpPr>
          <p:cNvPr id="5" name="Rectangle 18"/>
          <p:cNvSpPr>
            <a:spLocks noChangeArrowheads="1"/>
          </p:cNvSpPr>
          <p:nvPr/>
        </p:nvSpPr>
        <p:spPr bwMode="auto">
          <a:xfrm>
            <a:off x="227770" y="2548229"/>
            <a:ext cx="6400800" cy="708660"/>
          </a:xfrm>
          <a:prstGeom prst="rect">
            <a:avLst/>
          </a:prstGeom>
          <a:noFill/>
          <a:ln w="9525" algn="ctr">
            <a:solidFill>
              <a:schemeClr val="bg2"/>
            </a:solidFill>
            <a:miter lim="800000"/>
            <a:headEnd/>
            <a:tailEnd/>
          </a:ln>
          <a:effectLst/>
        </p:spPr>
        <p:txBody>
          <a:bodyPr/>
          <a:lstStyle/>
          <a:p>
            <a:r>
              <a:rPr lang="es-ES" sz="1100" dirty="0"/>
              <a:t>Existe el riesgo de que el asegurado o tomador de la póliza haga una declaración falsa del uso que le va a dar al vehículo (uso personal, taxi, etc.).</a:t>
            </a:r>
          </a:p>
          <a:p>
            <a:endParaRPr lang="es-ES" sz="1100" dirty="0"/>
          </a:p>
        </p:txBody>
      </p:sp>
      <p:sp>
        <p:nvSpPr>
          <p:cNvPr id="8" name="Rounded Rectangle 7"/>
          <p:cNvSpPr/>
          <p:nvPr/>
        </p:nvSpPr>
        <p:spPr>
          <a:xfrm>
            <a:off x="652842" y="764704"/>
            <a:ext cx="8352000" cy="274320"/>
          </a:xfrm>
          <a:prstGeom prst="roundRect">
            <a:avLst/>
          </a:prstGeom>
          <a:solidFill>
            <a:srgbClr val="DB0613"/>
          </a:solidFill>
          <a:ln w="9525" algn="ctr">
            <a:noFill/>
            <a:miter lim="800000"/>
            <a:headEnd/>
            <a:tailEnd/>
          </a:ln>
          <a:effectLst/>
        </p:spPr>
        <p:txBody>
          <a:bodyPr anchor="ctr"/>
          <a:lstStyle/>
          <a:p>
            <a:pPr>
              <a:lnSpc>
                <a:spcPct val="80000"/>
              </a:lnSpc>
            </a:pPr>
            <a:r>
              <a:rPr lang="es-ES" sz="1200" b="1" dirty="0">
                <a:solidFill>
                  <a:srgbClr val="FFFFFF"/>
                </a:solidFill>
                <a:cs typeface="Arial" pitchFamily="34" charset="0"/>
              </a:rPr>
              <a:t>Fraude Externo cuando se le solicita al tomador/asegurado la información acerca del "uso" que se le va a dar al vehículo</a:t>
            </a:r>
            <a:endParaRPr lang="es-CL" sz="1200" b="1" dirty="0">
              <a:solidFill>
                <a:srgbClr val="FFFFFF"/>
              </a:solidFill>
              <a:cs typeface="Arial" pitchFamily="34" charset="0"/>
            </a:endParaRPr>
          </a:p>
        </p:txBody>
      </p:sp>
      <p:sp>
        <p:nvSpPr>
          <p:cNvPr id="9" name="Rounded Rectangle 8"/>
          <p:cNvSpPr/>
          <p:nvPr/>
        </p:nvSpPr>
        <p:spPr>
          <a:xfrm>
            <a:off x="227770" y="2307916"/>
            <a:ext cx="64008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Descripción</a:t>
            </a:r>
          </a:p>
        </p:txBody>
      </p:sp>
      <p:sp>
        <p:nvSpPr>
          <p:cNvPr id="10" name="Rounded Rectangle 9"/>
          <p:cNvSpPr/>
          <p:nvPr/>
        </p:nvSpPr>
        <p:spPr>
          <a:xfrm>
            <a:off x="6716066" y="1111764"/>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Categoría  de Riesgo Nivel I</a:t>
            </a:r>
          </a:p>
        </p:txBody>
      </p:sp>
      <p:sp>
        <p:nvSpPr>
          <p:cNvPr id="11" name="Rectangle 18"/>
          <p:cNvSpPr>
            <a:spLocks noChangeArrowheads="1"/>
          </p:cNvSpPr>
          <p:nvPr/>
        </p:nvSpPr>
        <p:spPr bwMode="auto">
          <a:xfrm>
            <a:off x="6716066" y="1325572"/>
            <a:ext cx="2286000" cy="270000"/>
          </a:xfrm>
          <a:prstGeom prst="rect">
            <a:avLst/>
          </a:prstGeom>
          <a:noFill/>
          <a:ln w="9525" algn="ctr">
            <a:solidFill>
              <a:schemeClr val="bg2"/>
            </a:solidFill>
            <a:miter lim="800000"/>
            <a:headEnd/>
            <a:tailEnd/>
          </a:ln>
          <a:effectLst/>
        </p:spPr>
        <p:txBody>
          <a:bodyPr anchor="ctr"/>
          <a:lstStyle/>
          <a:p>
            <a:pPr>
              <a:lnSpc>
                <a:spcPts val="1000"/>
              </a:lnSpc>
            </a:pPr>
            <a:r>
              <a:rPr lang="es-ES" sz="1100" dirty="0"/>
              <a:t>Fraude Externo</a:t>
            </a:r>
          </a:p>
        </p:txBody>
      </p:sp>
      <p:sp>
        <p:nvSpPr>
          <p:cNvPr id="12" name="Rounded Rectangle 11"/>
          <p:cNvSpPr/>
          <p:nvPr/>
        </p:nvSpPr>
        <p:spPr>
          <a:xfrm>
            <a:off x="6716066" y="1664503"/>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Categoría  de Riesgo Nivel II</a:t>
            </a:r>
          </a:p>
        </p:txBody>
      </p:sp>
      <p:sp>
        <p:nvSpPr>
          <p:cNvPr id="13" name="Rectangle 18"/>
          <p:cNvSpPr>
            <a:spLocks noChangeArrowheads="1"/>
          </p:cNvSpPr>
          <p:nvPr/>
        </p:nvSpPr>
        <p:spPr bwMode="auto">
          <a:xfrm>
            <a:off x="6716066" y="1877089"/>
            <a:ext cx="2286000" cy="270000"/>
          </a:xfrm>
          <a:prstGeom prst="rect">
            <a:avLst/>
          </a:prstGeom>
          <a:noFill/>
          <a:ln w="9525" algn="ctr">
            <a:solidFill>
              <a:schemeClr val="bg2"/>
            </a:solidFill>
            <a:miter lim="800000"/>
            <a:headEnd/>
            <a:tailEnd/>
          </a:ln>
          <a:effectLst/>
        </p:spPr>
        <p:txBody>
          <a:bodyPr anchor="ctr"/>
          <a:lstStyle/>
          <a:p>
            <a:r>
              <a:rPr lang="es-ES" sz="1100" dirty="0"/>
              <a:t>Robo y fraude</a:t>
            </a:r>
          </a:p>
        </p:txBody>
      </p:sp>
      <p:sp>
        <p:nvSpPr>
          <p:cNvPr id="15" name="Rounded Rectangle 14"/>
          <p:cNvSpPr/>
          <p:nvPr/>
        </p:nvSpPr>
        <p:spPr>
          <a:xfrm>
            <a:off x="6716066" y="2223551"/>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Categoría  de Riesgo Nivel III</a:t>
            </a:r>
          </a:p>
        </p:txBody>
      </p:sp>
      <p:sp>
        <p:nvSpPr>
          <p:cNvPr id="16" name="Rectangle 18"/>
          <p:cNvSpPr>
            <a:spLocks noChangeArrowheads="1"/>
          </p:cNvSpPr>
          <p:nvPr/>
        </p:nvSpPr>
        <p:spPr bwMode="auto">
          <a:xfrm>
            <a:off x="6716066" y="2434321"/>
            <a:ext cx="2286000" cy="270000"/>
          </a:xfrm>
          <a:prstGeom prst="rect">
            <a:avLst/>
          </a:prstGeom>
          <a:noFill/>
          <a:ln w="9525" algn="ctr">
            <a:solidFill>
              <a:schemeClr val="bg2"/>
            </a:solidFill>
            <a:miter lim="800000"/>
            <a:headEnd/>
            <a:tailEnd/>
          </a:ln>
          <a:effectLst/>
        </p:spPr>
        <p:txBody>
          <a:bodyPr anchor="ctr"/>
          <a:lstStyle/>
          <a:p>
            <a:r>
              <a:rPr lang="es-ES" sz="1100" dirty="0"/>
              <a:t>Falsificación, suplantación de identidad</a:t>
            </a:r>
          </a:p>
        </p:txBody>
      </p:sp>
      <p:sp>
        <p:nvSpPr>
          <p:cNvPr id="17" name="Rounded Rectangle 16"/>
          <p:cNvSpPr/>
          <p:nvPr/>
        </p:nvSpPr>
        <p:spPr>
          <a:xfrm>
            <a:off x="216583" y="1110038"/>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Macroproceso</a:t>
            </a:r>
          </a:p>
        </p:txBody>
      </p:sp>
      <p:sp>
        <p:nvSpPr>
          <p:cNvPr id="18" name="Rectangle 18"/>
          <p:cNvSpPr>
            <a:spLocks noChangeArrowheads="1"/>
          </p:cNvSpPr>
          <p:nvPr/>
        </p:nvSpPr>
        <p:spPr bwMode="auto">
          <a:xfrm>
            <a:off x="2568409" y="1110038"/>
            <a:ext cx="3877200" cy="182880"/>
          </a:xfrm>
          <a:prstGeom prst="rect">
            <a:avLst/>
          </a:prstGeom>
          <a:noFill/>
          <a:ln w="9525" algn="ctr">
            <a:solidFill>
              <a:schemeClr val="bg2"/>
            </a:solidFill>
            <a:miter lim="800000"/>
            <a:headEnd/>
            <a:tailEnd/>
          </a:ln>
          <a:effectLst/>
        </p:spPr>
        <p:txBody>
          <a:bodyPr anchor="ctr"/>
          <a:lstStyle/>
          <a:p>
            <a:r>
              <a:rPr lang="es-ES" sz="1100" dirty="0"/>
              <a:t>Generación de Negocio</a:t>
            </a:r>
          </a:p>
        </p:txBody>
      </p:sp>
      <p:sp>
        <p:nvSpPr>
          <p:cNvPr id="19" name="Rounded Rectangle 18"/>
          <p:cNvSpPr/>
          <p:nvPr/>
        </p:nvSpPr>
        <p:spPr>
          <a:xfrm>
            <a:off x="216583" y="1339045"/>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Proceso</a:t>
            </a:r>
          </a:p>
        </p:txBody>
      </p:sp>
      <p:sp>
        <p:nvSpPr>
          <p:cNvPr id="20" name="Rectangle 18"/>
          <p:cNvSpPr>
            <a:spLocks noChangeArrowheads="1"/>
          </p:cNvSpPr>
          <p:nvPr/>
        </p:nvSpPr>
        <p:spPr bwMode="auto">
          <a:xfrm>
            <a:off x="2568409" y="1339045"/>
            <a:ext cx="3877200" cy="182880"/>
          </a:xfrm>
          <a:prstGeom prst="rect">
            <a:avLst/>
          </a:prstGeom>
          <a:noFill/>
          <a:ln w="9525" algn="ctr">
            <a:solidFill>
              <a:schemeClr val="bg2"/>
            </a:solidFill>
            <a:miter lim="800000"/>
            <a:headEnd/>
            <a:tailEnd/>
          </a:ln>
          <a:effectLst/>
        </p:spPr>
        <p:txBody>
          <a:bodyPr anchor="ctr"/>
          <a:lstStyle/>
          <a:p>
            <a:r>
              <a:rPr lang="es-ES" sz="1100" dirty="0"/>
              <a:t>Suscripción</a:t>
            </a:r>
          </a:p>
        </p:txBody>
      </p:sp>
      <p:sp>
        <p:nvSpPr>
          <p:cNvPr id="59" name="Rounded Rectangle 58"/>
          <p:cNvSpPr/>
          <p:nvPr/>
        </p:nvSpPr>
        <p:spPr>
          <a:xfrm>
            <a:off x="216583" y="1579694"/>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Subproceso</a:t>
            </a:r>
          </a:p>
        </p:txBody>
      </p:sp>
      <p:sp>
        <p:nvSpPr>
          <p:cNvPr id="60" name="Rectangle 18"/>
          <p:cNvSpPr>
            <a:spLocks noChangeArrowheads="1"/>
          </p:cNvSpPr>
          <p:nvPr/>
        </p:nvSpPr>
        <p:spPr bwMode="auto">
          <a:xfrm>
            <a:off x="2568409" y="1579694"/>
            <a:ext cx="3875799" cy="182880"/>
          </a:xfrm>
          <a:prstGeom prst="rect">
            <a:avLst/>
          </a:prstGeom>
          <a:noFill/>
          <a:ln w="9525" algn="ctr">
            <a:solidFill>
              <a:schemeClr val="bg2"/>
            </a:solidFill>
            <a:miter lim="800000"/>
            <a:headEnd/>
            <a:tailEnd/>
          </a:ln>
          <a:effectLst/>
        </p:spPr>
        <p:txBody>
          <a:bodyPr anchor="ctr"/>
          <a:lstStyle/>
          <a:p>
            <a:r>
              <a:rPr lang="es-ES" sz="1100" dirty="0"/>
              <a:t>Evaluación de solicitudes de cotización</a:t>
            </a:r>
          </a:p>
        </p:txBody>
      </p:sp>
      <p:sp>
        <p:nvSpPr>
          <p:cNvPr id="61" name="Rounded Rectangle 60"/>
          <p:cNvSpPr/>
          <p:nvPr/>
        </p:nvSpPr>
        <p:spPr>
          <a:xfrm>
            <a:off x="226806" y="1826440"/>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Línea de Negocio</a:t>
            </a:r>
          </a:p>
        </p:txBody>
      </p:sp>
      <p:sp>
        <p:nvSpPr>
          <p:cNvPr id="63" name="Rounded Rectangle 62"/>
          <p:cNvSpPr/>
          <p:nvPr/>
        </p:nvSpPr>
        <p:spPr>
          <a:xfrm>
            <a:off x="226806" y="2079535"/>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Responsable</a:t>
            </a:r>
          </a:p>
        </p:txBody>
      </p:sp>
      <p:sp>
        <p:nvSpPr>
          <p:cNvPr id="65" name="Rectangle 18"/>
          <p:cNvSpPr>
            <a:spLocks noChangeArrowheads="1"/>
          </p:cNvSpPr>
          <p:nvPr/>
        </p:nvSpPr>
        <p:spPr bwMode="auto">
          <a:xfrm>
            <a:off x="2568409" y="1826440"/>
            <a:ext cx="3875799" cy="182880"/>
          </a:xfrm>
          <a:prstGeom prst="rect">
            <a:avLst/>
          </a:prstGeom>
          <a:noFill/>
          <a:ln w="9525" algn="ctr">
            <a:solidFill>
              <a:schemeClr val="bg2"/>
            </a:solidFill>
            <a:miter lim="800000"/>
            <a:headEnd/>
            <a:tailEnd/>
          </a:ln>
          <a:effectLst/>
        </p:spPr>
        <p:txBody>
          <a:bodyPr anchor="ctr"/>
          <a:lstStyle/>
          <a:p>
            <a:r>
              <a:rPr lang="es-ES" sz="1100" dirty="0"/>
              <a:t>Ramos Generales</a:t>
            </a:r>
          </a:p>
        </p:txBody>
      </p:sp>
      <p:sp>
        <p:nvSpPr>
          <p:cNvPr id="66" name="Rectangle 18"/>
          <p:cNvSpPr>
            <a:spLocks noChangeArrowheads="1"/>
          </p:cNvSpPr>
          <p:nvPr/>
        </p:nvSpPr>
        <p:spPr bwMode="auto">
          <a:xfrm>
            <a:off x="2555776" y="2079535"/>
            <a:ext cx="3875799" cy="182880"/>
          </a:xfrm>
          <a:prstGeom prst="rect">
            <a:avLst/>
          </a:prstGeom>
          <a:noFill/>
          <a:ln w="9525" algn="ctr">
            <a:solidFill>
              <a:schemeClr val="bg2"/>
            </a:solidFill>
            <a:miter lim="800000"/>
            <a:headEnd/>
            <a:tailEnd/>
          </a:ln>
          <a:effectLst/>
        </p:spPr>
        <p:txBody>
          <a:bodyPr anchor="ctr"/>
          <a:lstStyle/>
          <a:p>
            <a:r>
              <a:rPr lang="es-ES" sz="1100" dirty="0"/>
              <a:t>Ejecutivo Comercial</a:t>
            </a:r>
          </a:p>
        </p:txBody>
      </p:sp>
      <p:sp>
        <p:nvSpPr>
          <p:cNvPr id="78" name="Rounded Rectangle 14"/>
          <p:cNvSpPr/>
          <p:nvPr/>
        </p:nvSpPr>
        <p:spPr>
          <a:xfrm>
            <a:off x="6716066" y="2768330"/>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Origen del Riesgo</a:t>
            </a:r>
          </a:p>
        </p:txBody>
      </p:sp>
      <p:sp>
        <p:nvSpPr>
          <p:cNvPr id="79" name="Rectangle 18"/>
          <p:cNvSpPr>
            <a:spLocks noChangeArrowheads="1"/>
          </p:cNvSpPr>
          <p:nvPr/>
        </p:nvSpPr>
        <p:spPr bwMode="auto">
          <a:xfrm>
            <a:off x="6716066" y="2983595"/>
            <a:ext cx="2286000" cy="270000"/>
          </a:xfrm>
          <a:prstGeom prst="rect">
            <a:avLst/>
          </a:prstGeom>
          <a:noFill/>
          <a:ln w="9525" algn="ctr">
            <a:solidFill>
              <a:schemeClr val="bg2"/>
            </a:solidFill>
            <a:miter lim="800000"/>
            <a:headEnd/>
            <a:tailEnd/>
          </a:ln>
          <a:effectLst/>
        </p:spPr>
        <p:txBody>
          <a:bodyPr anchor="ctr"/>
          <a:lstStyle/>
          <a:p>
            <a:r>
              <a:rPr lang="es-ES" sz="1100" dirty="0">
                <a:solidFill>
                  <a:srgbClr val="000000"/>
                </a:solidFill>
              </a:rPr>
              <a:t>Tecnología / Personas / Procesos</a:t>
            </a:r>
          </a:p>
        </p:txBody>
      </p:sp>
      <p:sp>
        <p:nvSpPr>
          <p:cNvPr id="68" name="AutoShape 179"/>
          <p:cNvSpPr>
            <a:spLocks noChangeArrowheads="1"/>
          </p:cNvSpPr>
          <p:nvPr/>
        </p:nvSpPr>
        <p:spPr bwMode="auto">
          <a:xfrm>
            <a:off x="611560" y="3482416"/>
            <a:ext cx="3960812" cy="1275707"/>
          </a:xfrm>
          <a:prstGeom prst="roundRect">
            <a:avLst>
              <a:gd name="adj" fmla="val 9481"/>
            </a:avLst>
          </a:prstGeom>
          <a:solidFill>
            <a:schemeClr val="accent1">
              <a:lumMod val="20000"/>
              <a:lumOff val="80000"/>
            </a:schemeClr>
          </a:solidFill>
          <a:ln w="9525" algn="ctr">
            <a:noFill/>
            <a:round/>
            <a:headEnd/>
            <a:tailEnd/>
          </a:ln>
          <a:effectLst/>
        </p:spPr>
        <p:txBody>
          <a:bodyPr wrap="none" anchor="ctr"/>
          <a:lstStyle/>
          <a:p>
            <a:endParaRPr lang="es-CL">
              <a:solidFill>
                <a:srgbClr val="002060"/>
              </a:solidFill>
            </a:endParaRPr>
          </a:p>
        </p:txBody>
      </p:sp>
      <p:sp>
        <p:nvSpPr>
          <p:cNvPr id="73" name="Text Box 30"/>
          <p:cNvSpPr txBox="1">
            <a:spLocks noChangeArrowheads="1"/>
          </p:cNvSpPr>
          <p:nvPr/>
        </p:nvSpPr>
        <p:spPr bwMode="auto">
          <a:xfrm>
            <a:off x="190747" y="3259373"/>
            <a:ext cx="3671888" cy="276999"/>
          </a:xfrm>
          <a:prstGeom prst="rect">
            <a:avLst/>
          </a:prstGeom>
          <a:noFill/>
          <a:ln w="9525" algn="ctr">
            <a:noFill/>
            <a:miter lim="800000"/>
            <a:headEnd/>
            <a:tailEnd/>
          </a:ln>
          <a:effectLst/>
        </p:spPr>
        <p:txBody>
          <a:bodyPr>
            <a:spAutoFit/>
          </a:bodyPr>
          <a:lstStyle/>
          <a:p>
            <a:pPr>
              <a:spcBef>
                <a:spcPct val="50000"/>
              </a:spcBef>
            </a:pPr>
            <a:r>
              <a:rPr lang="es-CL" sz="1200" b="1" i="1" dirty="0">
                <a:solidFill>
                  <a:srgbClr val="A3A3E0"/>
                </a:solidFill>
              </a:rPr>
              <a:t>Resultados valoración de riesgos</a:t>
            </a:r>
            <a:endParaRPr lang="es-ES" sz="1200" b="1" i="1" dirty="0">
              <a:solidFill>
                <a:srgbClr val="A3A3E0"/>
              </a:solidFill>
            </a:endParaRPr>
          </a:p>
        </p:txBody>
      </p:sp>
      <p:sp>
        <p:nvSpPr>
          <p:cNvPr id="76" name="Rounded Rectangle 75"/>
          <p:cNvSpPr/>
          <p:nvPr/>
        </p:nvSpPr>
        <p:spPr>
          <a:xfrm>
            <a:off x="902959" y="4255955"/>
            <a:ext cx="1920240" cy="170094"/>
          </a:xfrm>
          <a:prstGeom prst="roundRect">
            <a:avLst/>
          </a:prstGeom>
          <a:solidFill>
            <a:srgbClr val="DB0613"/>
          </a:solidFill>
          <a:ln w="9525" algn="ctr">
            <a:noFill/>
            <a:miter lim="800000"/>
            <a:headEnd/>
            <a:tailEnd/>
          </a:ln>
          <a:effectLst/>
        </p:spPr>
        <p:txBody>
          <a:bodyPr tIns="91440" anchor="ctr"/>
          <a:lstStyle/>
          <a:p>
            <a:pPr>
              <a:lnSpc>
                <a:spcPct val="80000"/>
              </a:lnSpc>
            </a:pPr>
            <a:r>
              <a:rPr lang="es-CL" sz="1100" b="1" dirty="0">
                <a:solidFill>
                  <a:srgbClr val="FFFFFF"/>
                </a:solidFill>
                <a:cs typeface="Arial" pitchFamily="34" charset="0"/>
              </a:rPr>
              <a:t>Pérdida Esperada Anual</a:t>
            </a:r>
          </a:p>
        </p:txBody>
      </p:sp>
      <p:sp>
        <p:nvSpPr>
          <p:cNvPr id="77" name="Rectangle 18"/>
          <p:cNvSpPr>
            <a:spLocks noChangeArrowheads="1"/>
          </p:cNvSpPr>
          <p:nvPr/>
        </p:nvSpPr>
        <p:spPr bwMode="auto">
          <a:xfrm>
            <a:off x="2859920" y="4255955"/>
            <a:ext cx="1554480" cy="170094"/>
          </a:xfrm>
          <a:prstGeom prst="rect">
            <a:avLst/>
          </a:prstGeom>
          <a:solidFill>
            <a:schemeClr val="bg1"/>
          </a:solidFill>
          <a:ln w="9525" algn="ctr">
            <a:solidFill>
              <a:schemeClr val="bg2"/>
            </a:solidFill>
            <a:miter lim="800000"/>
            <a:headEnd/>
            <a:tailEnd/>
          </a:ln>
          <a:effectLst/>
        </p:spPr>
        <p:txBody>
          <a:bodyPr anchor="ctr"/>
          <a:lstStyle/>
          <a:p>
            <a:pPr algn="ctr"/>
            <a:r>
              <a:rPr lang="es-ES" sz="1100" dirty="0"/>
              <a:t>s/. 89,250.00 </a:t>
            </a:r>
            <a:endParaRPr lang="es-ES" sz="1100" dirty="0">
              <a:solidFill>
                <a:srgbClr val="000000"/>
              </a:solidFill>
            </a:endParaRPr>
          </a:p>
        </p:txBody>
      </p:sp>
      <p:sp>
        <p:nvSpPr>
          <p:cNvPr id="80" name="Rounded Rectangle 79"/>
          <p:cNvSpPr/>
          <p:nvPr/>
        </p:nvSpPr>
        <p:spPr>
          <a:xfrm>
            <a:off x="902959" y="4485567"/>
            <a:ext cx="1920240" cy="170094"/>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VaR Cualitativo Anual</a:t>
            </a:r>
          </a:p>
        </p:txBody>
      </p:sp>
      <p:sp>
        <p:nvSpPr>
          <p:cNvPr id="81" name="Rectangle 18"/>
          <p:cNvSpPr>
            <a:spLocks noChangeArrowheads="1"/>
          </p:cNvSpPr>
          <p:nvPr/>
        </p:nvSpPr>
        <p:spPr bwMode="auto">
          <a:xfrm>
            <a:off x="2859920" y="4485567"/>
            <a:ext cx="1554480" cy="170094"/>
          </a:xfrm>
          <a:prstGeom prst="rect">
            <a:avLst/>
          </a:prstGeom>
          <a:solidFill>
            <a:schemeClr val="bg1"/>
          </a:solidFill>
          <a:ln w="9525" algn="ctr">
            <a:solidFill>
              <a:schemeClr val="bg2"/>
            </a:solidFill>
            <a:miter lim="800000"/>
            <a:headEnd/>
            <a:tailEnd/>
          </a:ln>
          <a:effectLst/>
        </p:spPr>
        <p:txBody>
          <a:bodyPr anchor="ctr"/>
          <a:lstStyle/>
          <a:p>
            <a:pPr algn="ctr"/>
            <a:r>
              <a:rPr lang="es-ES" sz="1100" dirty="0"/>
              <a:t>s/. 834,299.07 </a:t>
            </a:r>
            <a:endParaRPr lang="es-ES" sz="1100" dirty="0">
              <a:solidFill>
                <a:srgbClr val="000000"/>
              </a:solidFill>
            </a:endParaRPr>
          </a:p>
        </p:txBody>
      </p:sp>
      <p:sp>
        <p:nvSpPr>
          <p:cNvPr id="82" name="Rounded Rectangle 81"/>
          <p:cNvSpPr/>
          <p:nvPr/>
        </p:nvSpPr>
        <p:spPr>
          <a:xfrm>
            <a:off x="891084" y="3553916"/>
            <a:ext cx="1920240" cy="170094"/>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Frecuencia  Evento Pérdida</a:t>
            </a:r>
          </a:p>
        </p:txBody>
      </p:sp>
      <p:sp>
        <p:nvSpPr>
          <p:cNvPr id="83" name="Rectangle 18"/>
          <p:cNvSpPr>
            <a:spLocks noChangeArrowheads="1"/>
          </p:cNvSpPr>
          <p:nvPr/>
        </p:nvSpPr>
        <p:spPr bwMode="auto">
          <a:xfrm>
            <a:off x="2859920" y="3553916"/>
            <a:ext cx="1554480" cy="170094"/>
          </a:xfrm>
          <a:prstGeom prst="rect">
            <a:avLst/>
          </a:prstGeom>
          <a:solidFill>
            <a:schemeClr val="bg1"/>
          </a:solidFill>
          <a:ln w="9525" algn="ctr">
            <a:solidFill>
              <a:schemeClr val="bg2"/>
            </a:solidFill>
            <a:miter lim="800000"/>
            <a:headEnd/>
            <a:tailEnd/>
          </a:ln>
          <a:effectLst/>
        </p:spPr>
        <p:txBody>
          <a:bodyPr anchor="ctr"/>
          <a:lstStyle/>
          <a:p>
            <a:pPr algn="ctr"/>
            <a:r>
              <a:rPr lang="es-ES" sz="1100" dirty="0">
                <a:solidFill>
                  <a:srgbClr val="000000"/>
                </a:solidFill>
              </a:rPr>
              <a:t>1 vez por 1 año</a:t>
            </a:r>
          </a:p>
        </p:txBody>
      </p:sp>
      <p:sp>
        <p:nvSpPr>
          <p:cNvPr id="84" name="Rounded Rectangle 83"/>
          <p:cNvSpPr/>
          <p:nvPr/>
        </p:nvSpPr>
        <p:spPr>
          <a:xfrm>
            <a:off x="891084" y="3783528"/>
            <a:ext cx="1920240" cy="170094"/>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Impacto Medio Evento</a:t>
            </a:r>
          </a:p>
        </p:txBody>
      </p:sp>
      <p:sp>
        <p:nvSpPr>
          <p:cNvPr id="85" name="Rectangle 18"/>
          <p:cNvSpPr>
            <a:spLocks noChangeArrowheads="1"/>
          </p:cNvSpPr>
          <p:nvPr/>
        </p:nvSpPr>
        <p:spPr bwMode="auto">
          <a:xfrm>
            <a:off x="2859920" y="3783528"/>
            <a:ext cx="1554480" cy="170094"/>
          </a:xfrm>
          <a:prstGeom prst="rect">
            <a:avLst/>
          </a:prstGeom>
          <a:solidFill>
            <a:schemeClr val="bg1"/>
          </a:solidFill>
          <a:ln w="9525" algn="ctr">
            <a:solidFill>
              <a:schemeClr val="bg2"/>
            </a:solidFill>
            <a:miter lim="800000"/>
            <a:headEnd/>
            <a:tailEnd/>
          </a:ln>
          <a:effectLst/>
        </p:spPr>
        <p:txBody>
          <a:bodyPr anchor="ctr"/>
          <a:lstStyle/>
          <a:p>
            <a:pPr algn="ctr"/>
            <a:r>
              <a:rPr lang="es-ES" sz="1100" dirty="0"/>
              <a:t>s/. 89,250.00 </a:t>
            </a:r>
            <a:endParaRPr lang="es-ES" sz="1100" dirty="0">
              <a:solidFill>
                <a:srgbClr val="000000"/>
              </a:solidFill>
            </a:endParaRPr>
          </a:p>
        </p:txBody>
      </p:sp>
      <p:sp>
        <p:nvSpPr>
          <p:cNvPr id="86" name="Rounded Rectangle 85"/>
          <p:cNvSpPr/>
          <p:nvPr/>
        </p:nvSpPr>
        <p:spPr>
          <a:xfrm>
            <a:off x="891084" y="4019108"/>
            <a:ext cx="1920240" cy="170094"/>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Impacto Peor Escenario</a:t>
            </a:r>
          </a:p>
        </p:txBody>
      </p:sp>
      <p:sp>
        <p:nvSpPr>
          <p:cNvPr id="87" name="Rectangle 18"/>
          <p:cNvSpPr>
            <a:spLocks noChangeArrowheads="1"/>
          </p:cNvSpPr>
          <p:nvPr/>
        </p:nvSpPr>
        <p:spPr bwMode="auto">
          <a:xfrm>
            <a:off x="2859920" y="4019108"/>
            <a:ext cx="1554480" cy="170094"/>
          </a:xfrm>
          <a:prstGeom prst="rect">
            <a:avLst/>
          </a:prstGeom>
          <a:solidFill>
            <a:schemeClr val="bg1"/>
          </a:solidFill>
          <a:ln w="9525" algn="ctr">
            <a:solidFill>
              <a:schemeClr val="bg2"/>
            </a:solidFill>
            <a:miter lim="800000"/>
            <a:headEnd/>
            <a:tailEnd/>
          </a:ln>
          <a:effectLst/>
        </p:spPr>
        <p:txBody>
          <a:bodyPr anchor="ctr"/>
          <a:lstStyle/>
          <a:p>
            <a:pPr algn="ctr"/>
            <a:r>
              <a:rPr lang="es-ES" sz="1100" dirty="0"/>
              <a:t>s/. 637,500.00 </a:t>
            </a:r>
            <a:endParaRPr lang="es-ES" sz="1100" dirty="0">
              <a:solidFill>
                <a:srgbClr val="000000"/>
              </a:solidFill>
            </a:endParaRPr>
          </a:p>
        </p:txBody>
      </p:sp>
      <p:sp>
        <p:nvSpPr>
          <p:cNvPr id="88" name="AutoShape 47"/>
          <p:cNvSpPr>
            <a:spLocks noChangeAspect="1" noChangeArrowheads="1"/>
          </p:cNvSpPr>
          <p:nvPr/>
        </p:nvSpPr>
        <p:spPr bwMode="blackWhite">
          <a:xfrm>
            <a:off x="263032" y="3482416"/>
            <a:ext cx="503986" cy="1274400"/>
          </a:xfrm>
          <a:prstGeom prst="rightArrow">
            <a:avLst>
              <a:gd name="adj1" fmla="val 100000"/>
              <a:gd name="adj2" fmla="val 11009"/>
            </a:avLst>
          </a:prstGeom>
          <a:solidFill>
            <a:srgbClr val="969696"/>
          </a:solidFill>
          <a:ln w="12700">
            <a:noFill/>
            <a:miter lim="800000"/>
            <a:headEnd/>
            <a:tailEnd/>
          </a:ln>
          <a:effectLst>
            <a:outerShdw dist="35921" dir="2700000" algn="ctr" rotWithShape="0">
              <a:schemeClr val="bg2"/>
            </a:outerShdw>
          </a:effectLst>
        </p:spPr>
        <p:txBody>
          <a:bodyPr vert="vert270" anchor="ctr"/>
          <a:lstStyle/>
          <a:p>
            <a:pPr algn="ctr">
              <a:lnSpc>
                <a:spcPts val="1000"/>
              </a:lnSpc>
            </a:pPr>
            <a:r>
              <a:rPr lang="es-ES" sz="1100" b="1" noProof="1">
                <a:solidFill>
                  <a:srgbClr val="FFFFFF"/>
                </a:solidFill>
                <a:cs typeface="Arial" charset="0"/>
              </a:rPr>
              <a:t>Evaluación Riesgo Operacional</a:t>
            </a:r>
          </a:p>
        </p:txBody>
      </p:sp>
      <p:sp>
        <p:nvSpPr>
          <p:cNvPr id="89" name="AutoShape 179"/>
          <p:cNvSpPr>
            <a:spLocks noChangeArrowheads="1"/>
          </p:cNvSpPr>
          <p:nvPr/>
        </p:nvSpPr>
        <p:spPr bwMode="auto">
          <a:xfrm>
            <a:off x="4932039" y="3493021"/>
            <a:ext cx="4037169" cy="864000"/>
          </a:xfrm>
          <a:prstGeom prst="roundRect">
            <a:avLst>
              <a:gd name="adj" fmla="val 9481"/>
            </a:avLst>
          </a:prstGeom>
          <a:solidFill>
            <a:schemeClr val="accent1">
              <a:lumMod val="20000"/>
              <a:lumOff val="80000"/>
            </a:schemeClr>
          </a:solidFill>
          <a:ln w="9525" algn="ctr">
            <a:noFill/>
            <a:round/>
            <a:headEnd/>
            <a:tailEnd/>
          </a:ln>
          <a:effectLst/>
        </p:spPr>
        <p:txBody>
          <a:bodyPr wrap="none" anchor="ctr"/>
          <a:lstStyle/>
          <a:p>
            <a:endParaRPr lang="es-CL">
              <a:solidFill>
                <a:srgbClr val="002060"/>
              </a:solidFill>
            </a:endParaRPr>
          </a:p>
        </p:txBody>
      </p:sp>
      <p:sp>
        <p:nvSpPr>
          <p:cNvPr id="90" name="AutoShape 47"/>
          <p:cNvSpPr>
            <a:spLocks noChangeArrowheads="1"/>
          </p:cNvSpPr>
          <p:nvPr/>
        </p:nvSpPr>
        <p:spPr bwMode="blackWhite">
          <a:xfrm>
            <a:off x="4678512" y="3494523"/>
            <a:ext cx="353942" cy="864000"/>
          </a:xfrm>
          <a:prstGeom prst="rightArrow">
            <a:avLst>
              <a:gd name="adj1" fmla="val 100000"/>
              <a:gd name="adj2" fmla="val 11009"/>
            </a:avLst>
          </a:prstGeom>
          <a:solidFill>
            <a:srgbClr val="969696"/>
          </a:solidFill>
          <a:ln w="12700">
            <a:noFill/>
            <a:miter lim="800000"/>
            <a:headEnd/>
            <a:tailEnd/>
          </a:ln>
          <a:effectLst>
            <a:outerShdw dist="35921" dir="2700000" algn="ctr" rotWithShape="0">
              <a:schemeClr val="bg2"/>
            </a:outerShdw>
          </a:effectLst>
        </p:spPr>
        <p:txBody>
          <a:bodyPr vert="vert270" anchor="ctr"/>
          <a:lstStyle/>
          <a:p>
            <a:pPr algn="ctr">
              <a:lnSpc>
                <a:spcPts val="1000"/>
              </a:lnSpc>
            </a:pPr>
            <a:r>
              <a:rPr lang="es-ES" sz="1100" b="1" noProof="1">
                <a:solidFill>
                  <a:srgbClr val="FFFFFF"/>
                </a:solidFill>
                <a:cs typeface="Arial" charset="0"/>
              </a:rPr>
              <a:t>Impacto Reputacional</a:t>
            </a:r>
          </a:p>
        </p:txBody>
      </p:sp>
      <p:sp>
        <p:nvSpPr>
          <p:cNvPr id="91" name="Rectangle 18"/>
          <p:cNvSpPr>
            <a:spLocks noChangeArrowheads="1"/>
          </p:cNvSpPr>
          <p:nvPr/>
        </p:nvSpPr>
        <p:spPr bwMode="auto">
          <a:xfrm>
            <a:off x="8334310" y="3568288"/>
            <a:ext cx="548640" cy="170094"/>
          </a:xfrm>
          <a:prstGeom prst="rect">
            <a:avLst/>
          </a:prstGeom>
          <a:solidFill>
            <a:schemeClr val="bg1"/>
          </a:solidFill>
          <a:ln w="9525" algn="ctr">
            <a:solidFill>
              <a:schemeClr val="bg2"/>
            </a:solidFill>
            <a:miter lim="800000"/>
            <a:headEnd/>
            <a:tailEnd/>
          </a:ln>
          <a:effectLst/>
        </p:spPr>
        <p:txBody>
          <a:bodyPr anchor="ctr"/>
          <a:lstStyle/>
          <a:p>
            <a:pPr algn="ctr"/>
            <a:r>
              <a:rPr lang="es-ES" sz="1100" dirty="0">
                <a:solidFill>
                  <a:srgbClr val="002060"/>
                </a:solidFill>
              </a:rPr>
              <a:t>1</a:t>
            </a:r>
          </a:p>
        </p:txBody>
      </p:sp>
      <p:sp>
        <p:nvSpPr>
          <p:cNvPr id="92" name="Rounded Rectangle 91"/>
          <p:cNvSpPr/>
          <p:nvPr/>
        </p:nvSpPr>
        <p:spPr>
          <a:xfrm>
            <a:off x="5102950" y="3568288"/>
            <a:ext cx="3132000" cy="170094"/>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Afectación a Clientes</a:t>
            </a:r>
          </a:p>
        </p:txBody>
      </p:sp>
      <p:sp>
        <p:nvSpPr>
          <p:cNvPr id="93" name="Rectangle 18"/>
          <p:cNvSpPr>
            <a:spLocks noChangeArrowheads="1"/>
          </p:cNvSpPr>
          <p:nvPr/>
        </p:nvSpPr>
        <p:spPr bwMode="auto">
          <a:xfrm>
            <a:off x="5102950" y="3786445"/>
            <a:ext cx="3780000" cy="469509"/>
          </a:xfrm>
          <a:prstGeom prst="rect">
            <a:avLst/>
          </a:prstGeom>
          <a:solidFill>
            <a:schemeClr val="bg1"/>
          </a:solidFill>
          <a:ln w="9525" algn="ctr">
            <a:solidFill>
              <a:schemeClr val="bg2"/>
            </a:solidFill>
            <a:miter lim="800000"/>
            <a:headEnd/>
            <a:tailEnd/>
          </a:ln>
          <a:effectLst/>
        </p:spPr>
        <p:txBody>
          <a:bodyPr anchor="ctr"/>
          <a:lstStyle/>
          <a:p>
            <a:r>
              <a:rPr lang="es-ES" sz="1100" dirty="0">
                <a:solidFill>
                  <a:srgbClr val="000000"/>
                </a:solidFill>
              </a:rPr>
              <a:t>La exposición de la imagen es únicamente interna y limitada.</a:t>
            </a:r>
          </a:p>
        </p:txBody>
      </p:sp>
      <p:sp>
        <p:nvSpPr>
          <p:cNvPr id="94" name="Text Box 30"/>
          <p:cNvSpPr txBox="1">
            <a:spLocks noChangeArrowheads="1"/>
          </p:cNvSpPr>
          <p:nvPr/>
        </p:nvSpPr>
        <p:spPr bwMode="auto">
          <a:xfrm>
            <a:off x="190746" y="4838419"/>
            <a:ext cx="3996000" cy="276999"/>
          </a:xfrm>
          <a:prstGeom prst="rect">
            <a:avLst/>
          </a:prstGeom>
          <a:noFill/>
          <a:ln w="9525" algn="ctr">
            <a:noFill/>
            <a:miter lim="800000"/>
            <a:headEnd/>
            <a:tailEnd/>
          </a:ln>
          <a:effectLst/>
        </p:spPr>
        <p:txBody>
          <a:bodyPr wrap="square">
            <a:spAutoFit/>
          </a:bodyPr>
          <a:lstStyle/>
          <a:p>
            <a:pPr>
              <a:spcBef>
                <a:spcPct val="50000"/>
              </a:spcBef>
            </a:pPr>
            <a:r>
              <a:rPr lang="es-CL" sz="1200" b="1" i="1" dirty="0">
                <a:solidFill>
                  <a:srgbClr val="A3A3E0"/>
                </a:solidFill>
              </a:rPr>
              <a:t>Resultados valoración de controles / factores mitigantes</a:t>
            </a:r>
            <a:endParaRPr lang="es-ES" sz="1200" b="1" i="1" dirty="0">
              <a:solidFill>
                <a:srgbClr val="A3A3E0"/>
              </a:solidFill>
            </a:endParaRPr>
          </a:p>
        </p:txBody>
      </p:sp>
      <p:sp>
        <p:nvSpPr>
          <p:cNvPr id="98" name="AutoShape 179"/>
          <p:cNvSpPr>
            <a:spLocks noChangeArrowheads="1"/>
          </p:cNvSpPr>
          <p:nvPr/>
        </p:nvSpPr>
        <p:spPr bwMode="auto">
          <a:xfrm>
            <a:off x="4927319" y="4397238"/>
            <a:ext cx="4037169" cy="892800"/>
          </a:xfrm>
          <a:prstGeom prst="roundRect">
            <a:avLst>
              <a:gd name="adj" fmla="val 9481"/>
            </a:avLst>
          </a:prstGeom>
          <a:solidFill>
            <a:schemeClr val="accent1">
              <a:lumMod val="20000"/>
              <a:lumOff val="80000"/>
            </a:schemeClr>
          </a:solidFill>
          <a:ln w="9525" algn="ctr">
            <a:noFill/>
            <a:round/>
            <a:headEnd/>
            <a:tailEnd/>
          </a:ln>
          <a:effectLst/>
        </p:spPr>
        <p:txBody>
          <a:bodyPr wrap="none" anchor="ctr"/>
          <a:lstStyle/>
          <a:p>
            <a:endParaRPr lang="es-CL">
              <a:solidFill>
                <a:srgbClr val="002060"/>
              </a:solidFill>
            </a:endParaRPr>
          </a:p>
        </p:txBody>
      </p:sp>
      <p:sp>
        <p:nvSpPr>
          <p:cNvPr id="99" name="AutoShape 47"/>
          <p:cNvSpPr>
            <a:spLocks noChangeArrowheads="1"/>
          </p:cNvSpPr>
          <p:nvPr/>
        </p:nvSpPr>
        <p:spPr bwMode="blackWhite">
          <a:xfrm>
            <a:off x="4673792" y="4398740"/>
            <a:ext cx="352800" cy="892800"/>
          </a:xfrm>
          <a:prstGeom prst="rightArrow">
            <a:avLst>
              <a:gd name="adj1" fmla="val 100000"/>
              <a:gd name="adj2" fmla="val 11009"/>
            </a:avLst>
          </a:prstGeom>
          <a:solidFill>
            <a:srgbClr val="969696"/>
          </a:solidFill>
          <a:ln w="12700">
            <a:noFill/>
            <a:miter lim="800000"/>
            <a:headEnd/>
            <a:tailEnd/>
          </a:ln>
          <a:effectLst>
            <a:outerShdw dist="35921" dir="2700000" algn="ctr" rotWithShape="0">
              <a:schemeClr val="bg2"/>
            </a:outerShdw>
          </a:effectLst>
        </p:spPr>
        <p:txBody>
          <a:bodyPr vert="vert270" anchor="ctr"/>
          <a:lstStyle/>
          <a:p>
            <a:pPr algn="ctr">
              <a:lnSpc>
                <a:spcPts val="1000"/>
              </a:lnSpc>
            </a:pPr>
            <a:r>
              <a:rPr lang="es-ES" sz="1100" b="1" noProof="1">
                <a:solidFill>
                  <a:srgbClr val="FFFFFF"/>
                </a:solidFill>
                <a:cs typeface="Arial" charset="0"/>
              </a:rPr>
              <a:t>Cuestionarios</a:t>
            </a:r>
          </a:p>
        </p:txBody>
      </p:sp>
      <p:sp>
        <p:nvSpPr>
          <p:cNvPr id="101" name="Rounded Rectangle 38"/>
          <p:cNvSpPr/>
          <p:nvPr/>
        </p:nvSpPr>
        <p:spPr>
          <a:xfrm>
            <a:off x="5098230" y="4472505"/>
            <a:ext cx="3132000" cy="170094"/>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Criterios de Evaluación</a:t>
            </a:r>
          </a:p>
        </p:txBody>
      </p:sp>
      <p:sp>
        <p:nvSpPr>
          <p:cNvPr id="102" name="AutoShape 179"/>
          <p:cNvSpPr>
            <a:spLocks noChangeArrowheads="1"/>
          </p:cNvSpPr>
          <p:nvPr/>
        </p:nvSpPr>
        <p:spPr bwMode="auto">
          <a:xfrm>
            <a:off x="534831" y="5060900"/>
            <a:ext cx="4037169" cy="864000"/>
          </a:xfrm>
          <a:prstGeom prst="roundRect">
            <a:avLst>
              <a:gd name="adj" fmla="val 9481"/>
            </a:avLst>
          </a:prstGeom>
          <a:solidFill>
            <a:schemeClr val="accent1">
              <a:lumMod val="20000"/>
              <a:lumOff val="80000"/>
            </a:schemeClr>
          </a:solidFill>
          <a:ln w="9525" algn="ctr">
            <a:noFill/>
            <a:round/>
            <a:headEnd/>
            <a:tailEnd/>
          </a:ln>
          <a:effectLst/>
        </p:spPr>
        <p:txBody>
          <a:bodyPr wrap="none" anchor="ctr"/>
          <a:lstStyle/>
          <a:p>
            <a:endParaRPr lang="es-CL">
              <a:solidFill>
                <a:srgbClr val="002060"/>
              </a:solidFill>
            </a:endParaRPr>
          </a:p>
        </p:txBody>
      </p:sp>
      <p:sp>
        <p:nvSpPr>
          <p:cNvPr id="103" name="AutoShape 47"/>
          <p:cNvSpPr>
            <a:spLocks noChangeArrowheads="1"/>
          </p:cNvSpPr>
          <p:nvPr/>
        </p:nvSpPr>
        <p:spPr bwMode="blackWhite">
          <a:xfrm>
            <a:off x="281304" y="5062402"/>
            <a:ext cx="353942" cy="864000"/>
          </a:xfrm>
          <a:prstGeom prst="rightArrow">
            <a:avLst>
              <a:gd name="adj1" fmla="val 100000"/>
              <a:gd name="adj2" fmla="val 11009"/>
            </a:avLst>
          </a:prstGeom>
          <a:solidFill>
            <a:srgbClr val="969696"/>
          </a:solidFill>
          <a:ln w="12700">
            <a:noFill/>
            <a:miter lim="800000"/>
            <a:headEnd/>
            <a:tailEnd/>
          </a:ln>
          <a:effectLst>
            <a:outerShdw dist="35921" dir="2700000" algn="ctr" rotWithShape="0">
              <a:schemeClr val="bg2"/>
            </a:outerShdw>
          </a:effectLst>
        </p:spPr>
        <p:txBody>
          <a:bodyPr vert="vert270" anchor="ctr"/>
          <a:lstStyle/>
          <a:p>
            <a:pPr algn="ctr">
              <a:lnSpc>
                <a:spcPts val="1000"/>
              </a:lnSpc>
            </a:pPr>
            <a:r>
              <a:rPr lang="es-ES" sz="1100" b="1" noProof="1">
                <a:solidFill>
                  <a:srgbClr val="FFFFFF"/>
                </a:solidFill>
                <a:cs typeface="Arial" charset="0"/>
              </a:rPr>
              <a:t>Evaluación de Controles</a:t>
            </a:r>
          </a:p>
        </p:txBody>
      </p:sp>
      <p:sp>
        <p:nvSpPr>
          <p:cNvPr id="104" name="Rectangle 18"/>
          <p:cNvSpPr>
            <a:spLocks noChangeArrowheads="1"/>
          </p:cNvSpPr>
          <p:nvPr/>
        </p:nvSpPr>
        <p:spPr bwMode="auto">
          <a:xfrm>
            <a:off x="3937102" y="5136167"/>
            <a:ext cx="548640" cy="170094"/>
          </a:xfrm>
          <a:prstGeom prst="rect">
            <a:avLst/>
          </a:prstGeom>
          <a:solidFill>
            <a:schemeClr val="bg1"/>
          </a:solidFill>
          <a:ln w="9525" algn="ctr">
            <a:solidFill>
              <a:schemeClr val="bg2"/>
            </a:solidFill>
            <a:miter lim="800000"/>
            <a:headEnd/>
            <a:tailEnd/>
          </a:ln>
          <a:effectLst/>
        </p:spPr>
        <p:txBody>
          <a:bodyPr anchor="ctr"/>
          <a:lstStyle/>
          <a:p>
            <a:pPr algn="ctr"/>
            <a:r>
              <a:rPr lang="es-ES" sz="1100" dirty="0">
                <a:solidFill>
                  <a:srgbClr val="002060"/>
                </a:solidFill>
              </a:rPr>
              <a:t>1</a:t>
            </a:r>
          </a:p>
        </p:txBody>
      </p:sp>
      <p:sp>
        <p:nvSpPr>
          <p:cNvPr id="105" name="Rounded Rectangle 38"/>
          <p:cNvSpPr/>
          <p:nvPr/>
        </p:nvSpPr>
        <p:spPr>
          <a:xfrm>
            <a:off x="705742" y="5136167"/>
            <a:ext cx="3132000" cy="170094"/>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Controles asociados al riesgo </a:t>
            </a:r>
          </a:p>
        </p:txBody>
      </p:sp>
      <p:sp>
        <p:nvSpPr>
          <p:cNvPr id="106" name="Rectangle 18"/>
          <p:cNvSpPr>
            <a:spLocks noChangeArrowheads="1"/>
          </p:cNvSpPr>
          <p:nvPr/>
        </p:nvSpPr>
        <p:spPr bwMode="auto">
          <a:xfrm>
            <a:off x="5102950" y="4685678"/>
            <a:ext cx="3780000" cy="469509"/>
          </a:xfrm>
          <a:prstGeom prst="rect">
            <a:avLst/>
          </a:prstGeom>
          <a:solidFill>
            <a:schemeClr val="bg1"/>
          </a:solidFill>
          <a:ln w="9525" algn="ctr">
            <a:solidFill>
              <a:schemeClr val="bg2"/>
            </a:solidFill>
            <a:miter lim="800000"/>
            <a:headEnd/>
            <a:tailEnd/>
          </a:ln>
          <a:effectLst/>
        </p:spPr>
        <p:txBody>
          <a:bodyPr anchor="ctr"/>
          <a:lstStyle/>
          <a:p>
            <a:r>
              <a:rPr lang="es-ES" sz="1100" dirty="0">
                <a:solidFill>
                  <a:srgbClr val="000000"/>
                </a:solidFill>
              </a:rPr>
              <a:t>El riesgo se ha valorado por las consecuencias que tendría el pago de un siniestro que no corresponde.</a:t>
            </a:r>
          </a:p>
        </p:txBody>
      </p:sp>
      <p:sp>
        <p:nvSpPr>
          <p:cNvPr id="107" name="Rectangle 18"/>
          <p:cNvSpPr>
            <a:spLocks noChangeArrowheads="1"/>
          </p:cNvSpPr>
          <p:nvPr/>
        </p:nvSpPr>
        <p:spPr bwMode="auto">
          <a:xfrm>
            <a:off x="705742" y="5357175"/>
            <a:ext cx="3780000" cy="469509"/>
          </a:xfrm>
          <a:prstGeom prst="rect">
            <a:avLst/>
          </a:prstGeom>
          <a:solidFill>
            <a:schemeClr val="bg1"/>
          </a:solidFill>
          <a:ln w="9525" algn="ctr">
            <a:solidFill>
              <a:schemeClr val="bg2"/>
            </a:solidFill>
            <a:miter lim="800000"/>
            <a:headEnd/>
            <a:tailEnd/>
          </a:ln>
          <a:effectLst/>
        </p:spPr>
        <p:txBody>
          <a:bodyPr anchor="ctr"/>
          <a:lstStyle/>
          <a:p>
            <a:r>
              <a:rPr lang="es-ES" sz="1100" dirty="0">
                <a:solidFill>
                  <a:srgbClr val="000000"/>
                </a:solidFill>
              </a:rPr>
              <a:t>Cláusula en las pólizas de no indemnización al siniestro que se demuestre que se estaba haciendo un uso distinto del asegurado en la póliza.</a:t>
            </a: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dirty="0"/>
              <a:t>Anexo: Ficha Individual Riesgos Operacionales</a:t>
            </a:r>
          </a:p>
        </p:txBody>
      </p:sp>
      <p:sp>
        <p:nvSpPr>
          <p:cNvPr id="4" name="Rounded Rectangle 3"/>
          <p:cNvSpPr/>
          <p:nvPr/>
        </p:nvSpPr>
        <p:spPr>
          <a:xfrm>
            <a:off x="227770" y="764704"/>
            <a:ext cx="360040" cy="274320"/>
          </a:xfrm>
          <a:prstGeom prst="roundRect">
            <a:avLst/>
          </a:prstGeom>
          <a:solidFill>
            <a:srgbClr val="DB0613"/>
          </a:solidFill>
          <a:ln w="9525" algn="ctr">
            <a:noFill/>
            <a:miter lim="800000"/>
            <a:headEnd/>
            <a:tailEnd/>
          </a:ln>
          <a:effectLst/>
        </p:spPr>
        <p:txBody>
          <a:bodyPr anchor="ctr"/>
          <a:lstStyle/>
          <a:p>
            <a:pPr algn="ctr">
              <a:lnSpc>
                <a:spcPct val="80000"/>
              </a:lnSpc>
            </a:pPr>
            <a:r>
              <a:rPr lang="es-CL" sz="1200" b="1" dirty="0">
                <a:solidFill>
                  <a:srgbClr val="FFFFFF"/>
                </a:solidFill>
                <a:cs typeface="Arial" pitchFamily="34" charset="0"/>
              </a:rPr>
              <a:t>2</a:t>
            </a:r>
          </a:p>
        </p:txBody>
      </p:sp>
      <p:sp>
        <p:nvSpPr>
          <p:cNvPr id="5" name="Rectangle 18"/>
          <p:cNvSpPr>
            <a:spLocks noChangeArrowheads="1"/>
          </p:cNvSpPr>
          <p:nvPr/>
        </p:nvSpPr>
        <p:spPr bwMode="auto">
          <a:xfrm>
            <a:off x="227770" y="2548229"/>
            <a:ext cx="6400800" cy="708660"/>
          </a:xfrm>
          <a:prstGeom prst="rect">
            <a:avLst/>
          </a:prstGeom>
          <a:noFill/>
          <a:ln w="9525" algn="ctr">
            <a:solidFill>
              <a:schemeClr val="bg2"/>
            </a:solidFill>
            <a:miter lim="800000"/>
            <a:headEnd/>
            <a:tailEnd/>
          </a:ln>
          <a:effectLst/>
        </p:spPr>
        <p:txBody>
          <a:bodyPr/>
          <a:lstStyle/>
          <a:p>
            <a:r>
              <a:rPr lang="es-ES" sz="1100" dirty="0"/>
              <a:t>Error en la introducción de datos  en el sistema como marca, modelo, año de fabricación, suma asegurada, uso, etc., lo que conlleva a </a:t>
            </a:r>
            <a:r>
              <a:rPr lang="es-ES" sz="1100" dirty="0" err="1"/>
              <a:t>reprocesos</a:t>
            </a:r>
            <a:r>
              <a:rPr lang="es-ES" sz="1100" dirty="0"/>
              <a:t> y trámites erróneos, es decir, las consecuencias de la materialización del presente riesgo son pérdidas indirectas: variación de H-H.</a:t>
            </a:r>
          </a:p>
        </p:txBody>
      </p:sp>
      <p:sp>
        <p:nvSpPr>
          <p:cNvPr id="8" name="Rounded Rectangle 7"/>
          <p:cNvSpPr/>
          <p:nvPr/>
        </p:nvSpPr>
        <p:spPr>
          <a:xfrm>
            <a:off x="652842" y="764704"/>
            <a:ext cx="8352000" cy="274320"/>
          </a:xfrm>
          <a:prstGeom prst="roundRect">
            <a:avLst/>
          </a:prstGeom>
          <a:solidFill>
            <a:srgbClr val="DB0613"/>
          </a:solidFill>
          <a:ln w="9525" algn="ctr">
            <a:noFill/>
            <a:miter lim="800000"/>
            <a:headEnd/>
            <a:tailEnd/>
          </a:ln>
          <a:effectLst/>
        </p:spPr>
        <p:txBody>
          <a:bodyPr anchor="ctr"/>
          <a:lstStyle/>
          <a:p>
            <a:pPr>
              <a:lnSpc>
                <a:spcPct val="80000"/>
              </a:lnSpc>
            </a:pPr>
            <a:r>
              <a:rPr lang="es-ES" sz="1200" b="1" dirty="0">
                <a:solidFill>
                  <a:srgbClr val="FFFFFF"/>
                </a:solidFill>
                <a:cs typeface="Arial" pitchFamily="34" charset="0"/>
              </a:rPr>
              <a:t>Error en la introducción manual de los datos a enviar a la Unidad de Negocio Suscripción</a:t>
            </a:r>
            <a:endParaRPr lang="es-CL" sz="1200" b="1" dirty="0">
              <a:solidFill>
                <a:srgbClr val="FFFFFF"/>
              </a:solidFill>
              <a:cs typeface="Arial" pitchFamily="34" charset="0"/>
            </a:endParaRPr>
          </a:p>
        </p:txBody>
      </p:sp>
      <p:sp>
        <p:nvSpPr>
          <p:cNvPr id="9" name="Rounded Rectangle 8"/>
          <p:cNvSpPr/>
          <p:nvPr/>
        </p:nvSpPr>
        <p:spPr>
          <a:xfrm>
            <a:off x="227770" y="2307916"/>
            <a:ext cx="64008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Descripción</a:t>
            </a:r>
          </a:p>
        </p:txBody>
      </p:sp>
      <p:sp>
        <p:nvSpPr>
          <p:cNvPr id="10" name="Rounded Rectangle 9"/>
          <p:cNvSpPr/>
          <p:nvPr/>
        </p:nvSpPr>
        <p:spPr>
          <a:xfrm>
            <a:off x="6716066" y="1111764"/>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Categoría  de Riesgo Nivel I</a:t>
            </a:r>
          </a:p>
        </p:txBody>
      </p:sp>
      <p:sp>
        <p:nvSpPr>
          <p:cNvPr id="11" name="Rectangle 18"/>
          <p:cNvSpPr>
            <a:spLocks noChangeArrowheads="1"/>
          </p:cNvSpPr>
          <p:nvPr/>
        </p:nvSpPr>
        <p:spPr bwMode="auto">
          <a:xfrm>
            <a:off x="6716066" y="1325572"/>
            <a:ext cx="2286000" cy="270000"/>
          </a:xfrm>
          <a:prstGeom prst="rect">
            <a:avLst/>
          </a:prstGeom>
          <a:noFill/>
          <a:ln w="9525" algn="ctr">
            <a:solidFill>
              <a:schemeClr val="bg2"/>
            </a:solidFill>
            <a:miter lim="800000"/>
            <a:headEnd/>
            <a:tailEnd/>
          </a:ln>
          <a:effectLst/>
        </p:spPr>
        <p:txBody>
          <a:bodyPr anchor="ctr"/>
          <a:lstStyle/>
          <a:p>
            <a:pPr>
              <a:lnSpc>
                <a:spcPts val="1000"/>
              </a:lnSpc>
            </a:pPr>
            <a:r>
              <a:rPr lang="es-ES" sz="1000" dirty="0"/>
              <a:t>Ejecución, entrega y gestión de procesos</a:t>
            </a:r>
          </a:p>
        </p:txBody>
      </p:sp>
      <p:sp>
        <p:nvSpPr>
          <p:cNvPr id="12" name="Rounded Rectangle 11"/>
          <p:cNvSpPr/>
          <p:nvPr/>
        </p:nvSpPr>
        <p:spPr>
          <a:xfrm>
            <a:off x="6716066" y="1664503"/>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Categoría  de Riesgo Nivel II</a:t>
            </a:r>
          </a:p>
        </p:txBody>
      </p:sp>
      <p:sp>
        <p:nvSpPr>
          <p:cNvPr id="13" name="Rectangle 18"/>
          <p:cNvSpPr>
            <a:spLocks noChangeArrowheads="1"/>
          </p:cNvSpPr>
          <p:nvPr/>
        </p:nvSpPr>
        <p:spPr bwMode="auto">
          <a:xfrm>
            <a:off x="6716066" y="1877089"/>
            <a:ext cx="2286000" cy="270000"/>
          </a:xfrm>
          <a:prstGeom prst="rect">
            <a:avLst/>
          </a:prstGeom>
          <a:noFill/>
          <a:ln w="9525" algn="ctr">
            <a:solidFill>
              <a:schemeClr val="bg2"/>
            </a:solidFill>
            <a:miter lim="800000"/>
            <a:headEnd/>
            <a:tailEnd/>
          </a:ln>
          <a:effectLst/>
        </p:spPr>
        <p:txBody>
          <a:bodyPr anchor="ctr"/>
          <a:lstStyle/>
          <a:p>
            <a:r>
              <a:rPr lang="es-ES" sz="1000" dirty="0"/>
              <a:t>Recepción, ejecución y mantenimiento de operaciones</a:t>
            </a:r>
          </a:p>
        </p:txBody>
      </p:sp>
      <p:sp>
        <p:nvSpPr>
          <p:cNvPr id="15" name="Rounded Rectangle 14"/>
          <p:cNvSpPr/>
          <p:nvPr/>
        </p:nvSpPr>
        <p:spPr>
          <a:xfrm>
            <a:off x="6716066" y="2223551"/>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Categoría  de Riesgo Nivel III</a:t>
            </a:r>
          </a:p>
        </p:txBody>
      </p:sp>
      <p:sp>
        <p:nvSpPr>
          <p:cNvPr id="16" name="Rectangle 18"/>
          <p:cNvSpPr>
            <a:spLocks noChangeArrowheads="1"/>
          </p:cNvSpPr>
          <p:nvPr/>
        </p:nvSpPr>
        <p:spPr bwMode="auto">
          <a:xfrm>
            <a:off x="6716066" y="2434320"/>
            <a:ext cx="2286000" cy="456093"/>
          </a:xfrm>
          <a:prstGeom prst="rect">
            <a:avLst/>
          </a:prstGeom>
          <a:noFill/>
          <a:ln w="9525" algn="ctr">
            <a:solidFill>
              <a:schemeClr val="bg2"/>
            </a:solidFill>
            <a:miter lim="800000"/>
            <a:headEnd/>
            <a:tailEnd/>
          </a:ln>
          <a:effectLst/>
        </p:spPr>
        <p:txBody>
          <a:bodyPr anchor="ctr"/>
          <a:lstStyle/>
          <a:p>
            <a:r>
              <a:rPr lang="es-ES" sz="950" dirty="0"/>
              <a:t>Errores y/u omisiones en la introducción, mantenimiento (actualización) y almacenamiento de datos</a:t>
            </a:r>
          </a:p>
        </p:txBody>
      </p:sp>
      <p:sp>
        <p:nvSpPr>
          <p:cNvPr id="17" name="Rounded Rectangle 16"/>
          <p:cNvSpPr/>
          <p:nvPr/>
        </p:nvSpPr>
        <p:spPr>
          <a:xfrm>
            <a:off x="216583" y="1110038"/>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Macroproceso</a:t>
            </a:r>
          </a:p>
        </p:txBody>
      </p:sp>
      <p:sp>
        <p:nvSpPr>
          <p:cNvPr id="18" name="Rectangle 18"/>
          <p:cNvSpPr>
            <a:spLocks noChangeArrowheads="1"/>
          </p:cNvSpPr>
          <p:nvPr/>
        </p:nvSpPr>
        <p:spPr bwMode="auto">
          <a:xfrm>
            <a:off x="2568409" y="1110038"/>
            <a:ext cx="3877200" cy="182880"/>
          </a:xfrm>
          <a:prstGeom prst="rect">
            <a:avLst/>
          </a:prstGeom>
          <a:noFill/>
          <a:ln w="9525" algn="ctr">
            <a:solidFill>
              <a:schemeClr val="bg2"/>
            </a:solidFill>
            <a:miter lim="800000"/>
            <a:headEnd/>
            <a:tailEnd/>
          </a:ln>
          <a:effectLst/>
        </p:spPr>
        <p:txBody>
          <a:bodyPr anchor="ctr"/>
          <a:lstStyle/>
          <a:p>
            <a:r>
              <a:rPr lang="es-ES" sz="1100" dirty="0"/>
              <a:t>Generación de Negocio</a:t>
            </a:r>
          </a:p>
        </p:txBody>
      </p:sp>
      <p:sp>
        <p:nvSpPr>
          <p:cNvPr id="19" name="Rounded Rectangle 18"/>
          <p:cNvSpPr/>
          <p:nvPr/>
        </p:nvSpPr>
        <p:spPr>
          <a:xfrm>
            <a:off x="216583" y="1339045"/>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Proceso</a:t>
            </a:r>
          </a:p>
        </p:txBody>
      </p:sp>
      <p:sp>
        <p:nvSpPr>
          <p:cNvPr id="20" name="Rectangle 18"/>
          <p:cNvSpPr>
            <a:spLocks noChangeArrowheads="1"/>
          </p:cNvSpPr>
          <p:nvPr/>
        </p:nvSpPr>
        <p:spPr bwMode="auto">
          <a:xfrm>
            <a:off x="2568409" y="1339045"/>
            <a:ext cx="3877200" cy="182880"/>
          </a:xfrm>
          <a:prstGeom prst="rect">
            <a:avLst/>
          </a:prstGeom>
          <a:noFill/>
          <a:ln w="9525" algn="ctr">
            <a:solidFill>
              <a:schemeClr val="bg2"/>
            </a:solidFill>
            <a:miter lim="800000"/>
            <a:headEnd/>
            <a:tailEnd/>
          </a:ln>
          <a:effectLst/>
        </p:spPr>
        <p:txBody>
          <a:bodyPr anchor="ctr"/>
          <a:lstStyle/>
          <a:p>
            <a:r>
              <a:rPr lang="es-ES" sz="1100" dirty="0"/>
              <a:t>Suscripción</a:t>
            </a:r>
          </a:p>
        </p:txBody>
      </p:sp>
      <p:sp>
        <p:nvSpPr>
          <p:cNvPr id="59" name="Rounded Rectangle 58"/>
          <p:cNvSpPr/>
          <p:nvPr/>
        </p:nvSpPr>
        <p:spPr>
          <a:xfrm>
            <a:off x="216583" y="1579694"/>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Subproceso</a:t>
            </a:r>
          </a:p>
        </p:txBody>
      </p:sp>
      <p:sp>
        <p:nvSpPr>
          <p:cNvPr id="60" name="Rectangle 18"/>
          <p:cNvSpPr>
            <a:spLocks noChangeArrowheads="1"/>
          </p:cNvSpPr>
          <p:nvPr/>
        </p:nvSpPr>
        <p:spPr bwMode="auto">
          <a:xfrm>
            <a:off x="2568409" y="1579694"/>
            <a:ext cx="3875799" cy="182880"/>
          </a:xfrm>
          <a:prstGeom prst="rect">
            <a:avLst/>
          </a:prstGeom>
          <a:noFill/>
          <a:ln w="9525" algn="ctr">
            <a:solidFill>
              <a:schemeClr val="bg2"/>
            </a:solidFill>
            <a:miter lim="800000"/>
            <a:headEnd/>
            <a:tailEnd/>
          </a:ln>
          <a:effectLst/>
        </p:spPr>
        <p:txBody>
          <a:bodyPr anchor="ctr"/>
          <a:lstStyle/>
          <a:p>
            <a:r>
              <a:rPr lang="es-ES" sz="1100" dirty="0"/>
              <a:t>Evaluación de solicitudes de cotización</a:t>
            </a:r>
          </a:p>
        </p:txBody>
      </p:sp>
      <p:sp>
        <p:nvSpPr>
          <p:cNvPr id="61" name="Rounded Rectangle 60"/>
          <p:cNvSpPr/>
          <p:nvPr/>
        </p:nvSpPr>
        <p:spPr>
          <a:xfrm>
            <a:off x="226806" y="1826440"/>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Línea de Negocio</a:t>
            </a:r>
          </a:p>
        </p:txBody>
      </p:sp>
      <p:sp>
        <p:nvSpPr>
          <p:cNvPr id="63" name="Rounded Rectangle 62"/>
          <p:cNvSpPr/>
          <p:nvPr/>
        </p:nvSpPr>
        <p:spPr>
          <a:xfrm>
            <a:off x="226806" y="2079535"/>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Responsable</a:t>
            </a:r>
          </a:p>
        </p:txBody>
      </p:sp>
      <p:sp>
        <p:nvSpPr>
          <p:cNvPr id="65" name="Rectangle 18"/>
          <p:cNvSpPr>
            <a:spLocks noChangeArrowheads="1"/>
          </p:cNvSpPr>
          <p:nvPr/>
        </p:nvSpPr>
        <p:spPr bwMode="auto">
          <a:xfrm>
            <a:off x="2568409" y="1826440"/>
            <a:ext cx="3875799" cy="182880"/>
          </a:xfrm>
          <a:prstGeom prst="rect">
            <a:avLst/>
          </a:prstGeom>
          <a:noFill/>
          <a:ln w="9525" algn="ctr">
            <a:solidFill>
              <a:schemeClr val="bg2"/>
            </a:solidFill>
            <a:miter lim="800000"/>
            <a:headEnd/>
            <a:tailEnd/>
          </a:ln>
          <a:effectLst/>
        </p:spPr>
        <p:txBody>
          <a:bodyPr anchor="ctr"/>
          <a:lstStyle/>
          <a:p>
            <a:r>
              <a:rPr lang="es-ES" sz="1100" dirty="0"/>
              <a:t>Ramos Generales</a:t>
            </a:r>
          </a:p>
        </p:txBody>
      </p:sp>
      <p:sp>
        <p:nvSpPr>
          <p:cNvPr id="66" name="Rectangle 18"/>
          <p:cNvSpPr>
            <a:spLocks noChangeArrowheads="1"/>
          </p:cNvSpPr>
          <p:nvPr/>
        </p:nvSpPr>
        <p:spPr bwMode="auto">
          <a:xfrm>
            <a:off x="2555776" y="2079535"/>
            <a:ext cx="3875799" cy="182880"/>
          </a:xfrm>
          <a:prstGeom prst="rect">
            <a:avLst/>
          </a:prstGeom>
          <a:noFill/>
          <a:ln w="9525" algn="ctr">
            <a:solidFill>
              <a:schemeClr val="bg2"/>
            </a:solidFill>
            <a:miter lim="800000"/>
            <a:headEnd/>
            <a:tailEnd/>
          </a:ln>
          <a:effectLst/>
        </p:spPr>
        <p:txBody>
          <a:bodyPr anchor="ctr"/>
          <a:lstStyle/>
          <a:p>
            <a:r>
              <a:rPr lang="es-ES" sz="1100" dirty="0"/>
              <a:t>Ejecutivo Comercial</a:t>
            </a:r>
          </a:p>
        </p:txBody>
      </p:sp>
      <p:sp>
        <p:nvSpPr>
          <p:cNvPr id="78" name="Rounded Rectangle 14"/>
          <p:cNvSpPr/>
          <p:nvPr/>
        </p:nvSpPr>
        <p:spPr>
          <a:xfrm>
            <a:off x="6716066" y="2943735"/>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Origen del Riesgo</a:t>
            </a:r>
          </a:p>
        </p:txBody>
      </p:sp>
      <p:sp>
        <p:nvSpPr>
          <p:cNvPr id="79" name="Rectangle 18"/>
          <p:cNvSpPr>
            <a:spLocks noChangeArrowheads="1"/>
          </p:cNvSpPr>
          <p:nvPr/>
        </p:nvSpPr>
        <p:spPr bwMode="auto">
          <a:xfrm>
            <a:off x="6716066" y="3159000"/>
            <a:ext cx="2286000" cy="270000"/>
          </a:xfrm>
          <a:prstGeom prst="rect">
            <a:avLst/>
          </a:prstGeom>
          <a:noFill/>
          <a:ln w="9525" algn="ctr">
            <a:solidFill>
              <a:schemeClr val="bg2"/>
            </a:solidFill>
            <a:miter lim="800000"/>
            <a:headEnd/>
            <a:tailEnd/>
          </a:ln>
          <a:effectLst/>
        </p:spPr>
        <p:txBody>
          <a:bodyPr anchor="ctr"/>
          <a:lstStyle/>
          <a:p>
            <a:r>
              <a:rPr lang="es-ES" sz="1100" dirty="0">
                <a:solidFill>
                  <a:srgbClr val="000000"/>
                </a:solidFill>
              </a:rPr>
              <a:t>Procesos / Personas</a:t>
            </a:r>
          </a:p>
        </p:txBody>
      </p:sp>
      <p:sp>
        <p:nvSpPr>
          <p:cNvPr id="68" name="AutoShape 179"/>
          <p:cNvSpPr>
            <a:spLocks noChangeArrowheads="1"/>
          </p:cNvSpPr>
          <p:nvPr/>
        </p:nvSpPr>
        <p:spPr bwMode="auto">
          <a:xfrm>
            <a:off x="611560" y="3482416"/>
            <a:ext cx="3960812" cy="1275707"/>
          </a:xfrm>
          <a:prstGeom prst="roundRect">
            <a:avLst>
              <a:gd name="adj" fmla="val 9481"/>
            </a:avLst>
          </a:prstGeom>
          <a:solidFill>
            <a:schemeClr val="accent1">
              <a:lumMod val="20000"/>
              <a:lumOff val="80000"/>
            </a:schemeClr>
          </a:solidFill>
          <a:ln w="9525" algn="ctr">
            <a:noFill/>
            <a:round/>
            <a:headEnd/>
            <a:tailEnd/>
          </a:ln>
          <a:effectLst/>
        </p:spPr>
        <p:txBody>
          <a:bodyPr wrap="none" anchor="ctr"/>
          <a:lstStyle/>
          <a:p>
            <a:endParaRPr lang="es-CL">
              <a:solidFill>
                <a:srgbClr val="002060"/>
              </a:solidFill>
            </a:endParaRPr>
          </a:p>
        </p:txBody>
      </p:sp>
      <p:sp>
        <p:nvSpPr>
          <p:cNvPr id="73" name="Text Box 30"/>
          <p:cNvSpPr txBox="1">
            <a:spLocks noChangeArrowheads="1"/>
          </p:cNvSpPr>
          <p:nvPr/>
        </p:nvSpPr>
        <p:spPr bwMode="auto">
          <a:xfrm>
            <a:off x="190747" y="3259373"/>
            <a:ext cx="3671888" cy="276999"/>
          </a:xfrm>
          <a:prstGeom prst="rect">
            <a:avLst/>
          </a:prstGeom>
          <a:noFill/>
          <a:ln w="9525" algn="ctr">
            <a:noFill/>
            <a:miter lim="800000"/>
            <a:headEnd/>
            <a:tailEnd/>
          </a:ln>
          <a:effectLst/>
        </p:spPr>
        <p:txBody>
          <a:bodyPr>
            <a:spAutoFit/>
          </a:bodyPr>
          <a:lstStyle/>
          <a:p>
            <a:pPr>
              <a:spcBef>
                <a:spcPct val="50000"/>
              </a:spcBef>
            </a:pPr>
            <a:r>
              <a:rPr lang="es-CL" sz="1200" b="1" i="1" dirty="0">
                <a:solidFill>
                  <a:srgbClr val="A3A3E0"/>
                </a:solidFill>
              </a:rPr>
              <a:t>Resultados valoración de riesgos</a:t>
            </a:r>
            <a:endParaRPr lang="es-ES" sz="1200" b="1" i="1" dirty="0">
              <a:solidFill>
                <a:srgbClr val="A3A3E0"/>
              </a:solidFill>
            </a:endParaRPr>
          </a:p>
        </p:txBody>
      </p:sp>
      <p:sp>
        <p:nvSpPr>
          <p:cNvPr id="76" name="Rounded Rectangle 75"/>
          <p:cNvSpPr/>
          <p:nvPr/>
        </p:nvSpPr>
        <p:spPr>
          <a:xfrm>
            <a:off x="902959" y="4255955"/>
            <a:ext cx="1920240" cy="170094"/>
          </a:xfrm>
          <a:prstGeom prst="roundRect">
            <a:avLst/>
          </a:prstGeom>
          <a:solidFill>
            <a:srgbClr val="DB0613"/>
          </a:solidFill>
          <a:ln w="9525" algn="ctr">
            <a:noFill/>
            <a:miter lim="800000"/>
            <a:headEnd/>
            <a:tailEnd/>
          </a:ln>
          <a:effectLst/>
        </p:spPr>
        <p:txBody>
          <a:bodyPr tIns="91440" anchor="ctr"/>
          <a:lstStyle/>
          <a:p>
            <a:pPr>
              <a:lnSpc>
                <a:spcPct val="80000"/>
              </a:lnSpc>
            </a:pPr>
            <a:r>
              <a:rPr lang="es-CL" sz="1100" b="1" dirty="0">
                <a:solidFill>
                  <a:srgbClr val="FFFFFF"/>
                </a:solidFill>
                <a:cs typeface="Arial" pitchFamily="34" charset="0"/>
              </a:rPr>
              <a:t>Pérdida Esperada Anual</a:t>
            </a:r>
          </a:p>
        </p:txBody>
      </p:sp>
      <p:sp>
        <p:nvSpPr>
          <p:cNvPr id="77" name="Rectangle 18"/>
          <p:cNvSpPr>
            <a:spLocks noChangeArrowheads="1"/>
          </p:cNvSpPr>
          <p:nvPr/>
        </p:nvSpPr>
        <p:spPr bwMode="auto">
          <a:xfrm>
            <a:off x="2859920" y="4255955"/>
            <a:ext cx="1554480" cy="170094"/>
          </a:xfrm>
          <a:prstGeom prst="rect">
            <a:avLst/>
          </a:prstGeom>
          <a:solidFill>
            <a:schemeClr val="bg1"/>
          </a:solidFill>
          <a:ln w="9525" algn="ctr">
            <a:solidFill>
              <a:schemeClr val="bg2"/>
            </a:solidFill>
            <a:miter lim="800000"/>
            <a:headEnd/>
            <a:tailEnd/>
          </a:ln>
          <a:effectLst/>
        </p:spPr>
        <p:txBody>
          <a:bodyPr anchor="ctr"/>
          <a:lstStyle/>
          <a:p>
            <a:pPr algn="ctr"/>
            <a:r>
              <a:rPr lang="es-ES" sz="1100" dirty="0"/>
              <a:t>s/. 0.00 </a:t>
            </a:r>
            <a:endParaRPr lang="es-ES" sz="1100" dirty="0">
              <a:solidFill>
                <a:srgbClr val="000000"/>
              </a:solidFill>
            </a:endParaRPr>
          </a:p>
        </p:txBody>
      </p:sp>
      <p:sp>
        <p:nvSpPr>
          <p:cNvPr id="80" name="Rounded Rectangle 79"/>
          <p:cNvSpPr/>
          <p:nvPr/>
        </p:nvSpPr>
        <p:spPr>
          <a:xfrm>
            <a:off x="902959" y="4485567"/>
            <a:ext cx="1920240" cy="170094"/>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VaR Cualitativo Anual</a:t>
            </a:r>
          </a:p>
        </p:txBody>
      </p:sp>
      <p:sp>
        <p:nvSpPr>
          <p:cNvPr id="81" name="Rectangle 18"/>
          <p:cNvSpPr>
            <a:spLocks noChangeArrowheads="1"/>
          </p:cNvSpPr>
          <p:nvPr/>
        </p:nvSpPr>
        <p:spPr bwMode="auto">
          <a:xfrm>
            <a:off x="2859920" y="4485567"/>
            <a:ext cx="1554480" cy="170094"/>
          </a:xfrm>
          <a:prstGeom prst="rect">
            <a:avLst/>
          </a:prstGeom>
          <a:solidFill>
            <a:schemeClr val="bg1"/>
          </a:solidFill>
          <a:ln w="9525" algn="ctr">
            <a:solidFill>
              <a:schemeClr val="bg2"/>
            </a:solidFill>
            <a:miter lim="800000"/>
            <a:headEnd/>
            <a:tailEnd/>
          </a:ln>
          <a:effectLst/>
        </p:spPr>
        <p:txBody>
          <a:bodyPr anchor="ctr"/>
          <a:lstStyle/>
          <a:p>
            <a:pPr algn="ctr"/>
            <a:r>
              <a:rPr lang="es-ES" sz="1100" dirty="0"/>
              <a:t>s/. 0.00 </a:t>
            </a:r>
            <a:endParaRPr lang="es-ES" sz="1100" dirty="0">
              <a:solidFill>
                <a:srgbClr val="000000"/>
              </a:solidFill>
            </a:endParaRPr>
          </a:p>
        </p:txBody>
      </p:sp>
      <p:sp>
        <p:nvSpPr>
          <p:cNvPr id="82" name="Rounded Rectangle 81"/>
          <p:cNvSpPr/>
          <p:nvPr/>
        </p:nvSpPr>
        <p:spPr>
          <a:xfrm>
            <a:off x="891084" y="3553916"/>
            <a:ext cx="1920240" cy="170094"/>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Frecuencia  Evento Pérdida</a:t>
            </a:r>
          </a:p>
        </p:txBody>
      </p:sp>
      <p:sp>
        <p:nvSpPr>
          <p:cNvPr id="83" name="Rectangle 18"/>
          <p:cNvSpPr>
            <a:spLocks noChangeArrowheads="1"/>
          </p:cNvSpPr>
          <p:nvPr/>
        </p:nvSpPr>
        <p:spPr bwMode="auto">
          <a:xfrm>
            <a:off x="2859920" y="3553916"/>
            <a:ext cx="1554480" cy="170094"/>
          </a:xfrm>
          <a:prstGeom prst="rect">
            <a:avLst/>
          </a:prstGeom>
          <a:solidFill>
            <a:schemeClr val="bg1"/>
          </a:solidFill>
          <a:ln w="9525" algn="ctr">
            <a:solidFill>
              <a:schemeClr val="bg2"/>
            </a:solidFill>
            <a:miter lim="800000"/>
            <a:headEnd/>
            <a:tailEnd/>
          </a:ln>
          <a:effectLst/>
        </p:spPr>
        <p:txBody>
          <a:bodyPr anchor="ctr"/>
          <a:lstStyle/>
          <a:p>
            <a:pPr algn="ctr"/>
            <a:r>
              <a:rPr lang="es-ES" sz="1100" dirty="0">
                <a:solidFill>
                  <a:srgbClr val="000000"/>
                </a:solidFill>
              </a:rPr>
              <a:t>1 vez por 1 año</a:t>
            </a:r>
          </a:p>
        </p:txBody>
      </p:sp>
      <p:sp>
        <p:nvSpPr>
          <p:cNvPr id="84" name="Rounded Rectangle 83"/>
          <p:cNvSpPr/>
          <p:nvPr/>
        </p:nvSpPr>
        <p:spPr>
          <a:xfrm>
            <a:off x="891084" y="3783528"/>
            <a:ext cx="1920240" cy="170094"/>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Impacto Medio Evento</a:t>
            </a:r>
          </a:p>
        </p:txBody>
      </p:sp>
      <p:sp>
        <p:nvSpPr>
          <p:cNvPr id="85" name="Rectangle 18"/>
          <p:cNvSpPr>
            <a:spLocks noChangeArrowheads="1"/>
          </p:cNvSpPr>
          <p:nvPr/>
        </p:nvSpPr>
        <p:spPr bwMode="auto">
          <a:xfrm>
            <a:off x="2859920" y="3783528"/>
            <a:ext cx="1554480" cy="170094"/>
          </a:xfrm>
          <a:prstGeom prst="rect">
            <a:avLst/>
          </a:prstGeom>
          <a:solidFill>
            <a:schemeClr val="bg1"/>
          </a:solidFill>
          <a:ln w="9525" algn="ctr">
            <a:solidFill>
              <a:schemeClr val="bg2"/>
            </a:solidFill>
            <a:miter lim="800000"/>
            <a:headEnd/>
            <a:tailEnd/>
          </a:ln>
          <a:effectLst/>
        </p:spPr>
        <p:txBody>
          <a:bodyPr anchor="ctr"/>
          <a:lstStyle/>
          <a:p>
            <a:pPr algn="ctr"/>
            <a:r>
              <a:rPr lang="es-ES" sz="1100" dirty="0"/>
              <a:t>s/. 0.00 </a:t>
            </a:r>
            <a:endParaRPr lang="es-ES" sz="1100" dirty="0">
              <a:solidFill>
                <a:srgbClr val="000000"/>
              </a:solidFill>
            </a:endParaRPr>
          </a:p>
        </p:txBody>
      </p:sp>
      <p:sp>
        <p:nvSpPr>
          <p:cNvPr id="86" name="Rounded Rectangle 85"/>
          <p:cNvSpPr/>
          <p:nvPr/>
        </p:nvSpPr>
        <p:spPr>
          <a:xfrm>
            <a:off x="891084" y="4019108"/>
            <a:ext cx="1920240" cy="170094"/>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Impacto Peor Escenario</a:t>
            </a:r>
          </a:p>
        </p:txBody>
      </p:sp>
      <p:sp>
        <p:nvSpPr>
          <p:cNvPr id="87" name="Rectangle 18"/>
          <p:cNvSpPr>
            <a:spLocks noChangeArrowheads="1"/>
          </p:cNvSpPr>
          <p:nvPr/>
        </p:nvSpPr>
        <p:spPr bwMode="auto">
          <a:xfrm>
            <a:off x="2859920" y="4019108"/>
            <a:ext cx="1554480" cy="170094"/>
          </a:xfrm>
          <a:prstGeom prst="rect">
            <a:avLst/>
          </a:prstGeom>
          <a:solidFill>
            <a:schemeClr val="bg1"/>
          </a:solidFill>
          <a:ln w="9525" algn="ctr">
            <a:solidFill>
              <a:schemeClr val="bg2"/>
            </a:solidFill>
            <a:miter lim="800000"/>
            <a:headEnd/>
            <a:tailEnd/>
          </a:ln>
          <a:effectLst/>
        </p:spPr>
        <p:txBody>
          <a:bodyPr anchor="ctr"/>
          <a:lstStyle/>
          <a:p>
            <a:pPr algn="ctr"/>
            <a:r>
              <a:rPr lang="es-ES" sz="1100" dirty="0"/>
              <a:t>s/. 0.00 </a:t>
            </a:r>
            <a:endParaRPr lang="es-ES" sz="1100" dirty="0">
              <a:solidFill>
                <a:srgbClr val="000000"/>
              </a:solidFill>
            </a:endParaRPr>
          </a:p>
        </p:txBody>
      </p:sp>
      <p:sp>
        <p:nvSpPr>
          <p:cNvPr id="88" name="AutoShape 47"/>
          <p:cNvSpPr>
            <a:spLocks noChangeAspect="1" noChangeArrowheads="1"/>
          </p:cNvSpPr>
          <p:nvPr/>
        </p:nvSpPr>
        <p:spPr bwMode="blackWhite">
          <a:xfrm>
            <a:off x="263032" y="3482416"/>
            <a:ext cx="503986" cy="1274400"/>
          </a:xfrm>
          <a:prstGeom prst="rightArrow">
            <a:avLst>
              <a:gd name="adj1" fmla="val 100000"/>
              <a:gd name="adj2" fmla="val 11009"/>
            </a:avLst>
          </a:prstGeom>
          <a:solidFill>
            <a:srgbClr val="969696"/>
          </a:solidFill>
          <a:ln w="12700">
            <a:noFill/>
            <a:miter lim="800000"/>
            <a:headEnd/>
            <a:tailEnd/>
          </a:ln>
          <a:effectLst>
            <a:outerShdw dist="35921" dir="2700000" algn="ctr" rotWithShape="0">
              <a:schemeClr val="bg2"/>
            </a:outerShdw>
          </a:effectLst>
        </p:spPr>
        <p:txBody>
          <a:bodyPr vert="vert270" anchor="ctr"/>
          <a:lstStyle/>
          <a:p>
            <a:pPr algn="ctr">
              <a:lnSpc>
                <a:spcPts val="1000"/>
              </a:lnSpc>
            </a:pPr>
            <a:r>
              <a:rPr lang="es-ES" sz="1100" b="1" noProof="1">
                <a:solidFill>
                  <a:srgbClr val="FFFFFF"/>
                </a:solidFill>
                <a:cs typeface="Arial" charset="0"/>
              </a:rPr>
              <a:t>Evaluación Riesgo Operacional</a:t>
            </a:r>
          </a:p>
        </p:txBody>
      </p:sp>
      <p:sp>
        <p:nvSpPr>
          <p:cNvPr id="89" name="AutoShape 179"/>
          <p:cNvSpPr>
            <a:spLocks noChangeArrowheads="1"/>
          </p:cNvSpPr>
          <p:nvPr/>
        </p:nvSpPr>
        <p:spPr bwMode="auto">
          <a:xfrm>
            <a:off x="4932039" y="3493021"/>
            <a:ext cx="4037169" cy="864000"/>
          </a:xfrm>
          <a:prstGeom prst="roundRect">
            <a:avLst>
              <a:gd name="adj" fmla="val 9481"/>
            </a:avLst>
          </a:prstGeom>
          <a:solidFill>
            <a:schemeClr val="accent1">
              <a:lumMod val="20000"/>
              <a:lumOff val="80000"/>
            </a:schemeClr>
          </a:solidFill>
          <a:ln w="9525" algn="ctr">
            <a:noFill/>
            <a:round/>
            <a:headEnd/>
            <a:tailEnd/>
          </a:ln>
          <a:effectLst/>
        </p:spPr>
        <p:txBody>
          <a:bodyPr wrap="none" anchor="ctr"/>
          <a:lstStyle/>
          <a:p>
            <a:endParaRPr lang="es-CL">
              <a:solidFill>
                <a:srgbClr val="002060"/>
              </a:solidFill>
            </a:endParaRPr>
          </a:p>
        </p:txBody>
      </p:sp>
      <p:sp>
        <p:nvSpPr>
          <p:cNvPr id="90" name="AutoShape 47"/>
          <p:cNvSpPr>
            <a:spLocks noChangeArrowheads="1"/>
          </p:cNvSpPr>
          <p:nvPr/>
        </p:nvSpPr>
        <p:spPr bwMode="blackWhite">
          <a:xfrm>
            <a:off x="4678512" y="3494523"/>
            <a:ext cx="353942" cy="864000"/>
          </a:xfrm>
          <a:prstGeom prst="rightArrow">
            <a:avLst>
              <a:gd name="adj1" fmla="val 100000"/>
              <a:gd name="adj2" fmla="val 11009"/>
            </a:avLst>
          </a:prstGeom>
          <a:solidFill>
            <a:srgbClr val="969696"/>
          </a:solidFill>
          <a:ln w="12700">
            <a:noFill/>
            <a:miter lim="800000"/>
            <a:headEnd/>
            <a:tailEnd/>
          </a:ln>
          <a:effectLst>
            <a:outerShdw dist="35921" dir="2700000" algn="ctr" rotWithShape="0">
              <a:schemeClr val="bg2"/>
            </a:outerShdw>
          </a:effectLst>
        </p:spPr>
        <p:txBody>
          <a:bodyPr vert="vert270" anchor="ctr"/>
          <a:lstStyle/>
          <a:p>
            <a:pPr algn="ctr">
              <a:lnSpc>
                <a:spcPts val="1000"/>
              </a:lnSpc>
            </a:pPr>
            <a:r>
              <a:rPr lang="es-ES" sz="1100" b="1" noProof="1">
                <a:solidFill>
                  <a:srgbClr val="FFFFFF"/>
                </a:solidFill>
                <a:cs typeface="Arial" charset="0"/>
              </a:rPr>
              <a:t>Impacto Reputacional</a:t>
            </a:r>
          </a:p>
        </p:txBody>
      </p:sp>
      <p:sp>
        <p:nvSpPr>
          <p:cNvPr id="91" name="Rectangle 18"/>
          <p:cNvSpPr>
            <a:spLocks noChangeArrowheads="1"/>
          </p:cNvSpPr>
          <p:nvPr/>
        </p:nvSpPr>
        <p:spPr bwMode="auto">
          <a:xfrm>
            <a:off x="8334310" y="3568288"/>
            <a:ext cx="548640" cy="170094"/>
          </a:xfrm>
          <a:prstGeom prst="rect">
            <a:avLst/>
          </a:prstGeom>
          <a:solidFill>
            <a:schemeClr val="bg1"/>
          </a:solidFill>
          <a:ln w="9525" algn="ctr">
            <a:solidFill>
              <a:schemeClr val="bg2"/>
            </a:solidFill>
            <a:miter lim="800000"/>
            <a:headEnd/>
            <a:tailEnd/>
          </a:ln>
          <a:effectLst/>
        </p:spPr>
        <p:txBody>
          <a:bodyPr anchor="ctr"/>
          <a:lstStyle/>
          <a:p>
            <a:pPr algn="ctr"/>
            <a:r>
              <a:rPr lang="es-ES" sz="1100" dirty="0">
                <a:solidFill>
                  <a:srgbClr val="002060"/>
                </a:solidFill>
              </a:rPr>
              <a:t>1</a:t>
            </a:r>
          </a:p>
        </p:txBody>
      </p:sp>
      <p:sp>
        <p:nvSpPr>
          <p:cNvPr id="92" name="Rounded Rectangle 91"/>
          <p:cNvSpPr/>
          <p:nvPr/>
        </p:nvSpPr>
        <p:spPr>
          <a:xfrm>
            <a:off x="5102950" y="3568288"/>
            <a:ext cx="3132000" cy="170094"/>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Afectación a Clientes</a:t>
            </a:r>
          </a:p>
        </p:txBody>
      </p:sp>
      <p:sp>
        <p:nvSpPr>
          <p:cNvPr id="93" name="Rectangle 18"/>
          <p:cNvSpPr>
            <a:spLocks noChangeArrowheads="1"/>
          </p:cNvSpPr>
          <p:nvPr/>
        </p:nvSpPr>
        <p:spPr bwMode="auto">
          <a:xfrm>
            <a:off x="5102950" y="3786445"/>
            <a:ext cx="3780000" cy="469509"/>
          </a:xfrm>
          <a:prstGeom prst="rect">
            <a:avLst/>
          </a:prstGeom>
          <a:solidFill>
            <a:schemeClr val="bg1"/>
          </a:solidFill>
          <a:ln w="9525" algn="ctr">
            <a:solidFill>
              <a:schemeClr val="bg2"/>
            </a:solidFill>
            <a:miter lim="800000"/>
            <a:headEnd/>
            <a:tailEnd/>
          </a:ln>
          <a:effectLst/>
        </p:spPr>
        <p:txBody>
          <a:bodyPr anchor="ctr"/>
          <a:lstStyle/>
          <a:p>
            <a:r>
              <a:rPr lang="es-ES" sz="1100" dirty="0">
                <a:solidFill>
                  <a:srgbClr val="000000"/>
                </a:solidFill>
              </a:rPr>
              <a:t>La exposición de la imagen es únicamente interna y limitada.</a:t>
            </a:r>
          </a:p>
        </p:txBody>
      </p:sp>
      <p:sp>
        <p:nvSpPr>
          <p:cNvPr id="94" name="Text Box 30"/>
          <p:cNvSpPr txBox="1">
            <a:spLocks noChangeArrowheads="1"/>
          </p:cNvSpPr>
          <p:nvPr/>
        </p:nvSpPr>
        <p:spPr bwMode="auto">
          <a:xfrm>
            <a:off x="190746" y="4838419"/>
            <a:ext cx="3996000" cy="276999"/>
          </a:xfrm>
          <a:prstGeom prst="rect">
            <a:avLst/>
          </a:prstGeom>
          <a:noFill/>
          <a:ln w="9525" algn="ctr">
            <a:noFill/>
            <a:miter lim="800000"/>
            <a:headEnd/>
            <a:tailEnd/>
          </a:ln>
          <a:effectLst/>
        </p:spPr>
        <p:txBody>
          <a:bodyPr wrap="square">
            <a:spAutoFit/>
          </a:bodyPr>
          <a:lstStyle/>
          <a:p>
            <a:pPr>
              <a:spcBef>
                <a:spcPct val="50000"/>
              </a:spcBef>
            </a:pPr>
            <a:r>
              <a:rPr lang="es-CL" sz="1200" b="1" i="1" dirty="0">
                <a:solidFill>
                  <a:srgbClr val="A3A3E0"/>
                </a:solidFill>
              </a:rPr>
              <a:t>Resultados valoración de controles / factores mitigantes</a:t>
            </a:r>
            <a:endParaRPr lang="es-ES" sz="1200" b="1" i="1" dirty="0">
              <a:solidFill>
                <a:srgbClr val="A3A3E0"/>
              </a:solidFill>
            </a:endParaRPr>
          </a:p>
        </p:txBody>
      </p:sp>
      <p:sp>
        <p:nvSpPr>
          <p:cNvPr id="98" name="AutoShape 179"/>
          <p:cNvSpPr>
            <a:spLocks noChangeArrowheads="1"/>
          </p:cNvSpPr>
          <p:nvPr/>
        </p:nvSpPr>
        <p:spPr bwMode="auto">
          <a:xfrm>
            <a:off x="4927319" y="4397238"/>
            <a:ext cx="4037169" cy="892800"/>
          </a:xfrm>
          <a:prstGeom prst="roundRect">
            <a:avLst>
              <a:gd name="adj" fmla="val 9481"/>
            </a:avLst>
          </a:prstGeom>
          <a:solidFill>
            <a:schemeClr val="accent1">
              <a:lumMod val="20000"/>
              <a:lumOff val="80000"/>
            </a:schemeClr>
          </a:solidFill>
          <a:ln w="9525" algn="ctr">
            <a:noFill/>
            <a:round/>
            <a:headEnd/>
            <a:tailEnd/>
          </a:ln>
          <a:effectLst/>
        </p:spPr>
        <p:txBody>
          <a:bodyPr wrap="none" anchor="ctr"/>
          <a:lstStyle/>
          <a:p>
            <a:endParaRPr lang="es-CL">
              <a:solidFill>
                <a:srgbClr val="002060"/>
              </a:solidFill>
            </a:endParaRPr>
          </a:p>
        </p:txBody>
      </p:sp>
      <p:sp>
        <p:nvSpPr>
          <p:cNvPr id="99" name="AutoShape 47"/>
          <p:cNvSpPr>
            <a:spLocks noChangeArrowheads="1"/>
          </p:cNvSpPr>
          <p:nvPr/>
        </p:nvSpPr>
        <p:spPr bwMode="blackWhite">
          <a:xfrm>
            <a:off x="4673792" y="4398740"/>
            <a:ext cx="352800" cy="892800"/>
          </a:xfrm>
          <a:prstGeom prst="rightArrow">
            <a:avLst>
              <a:gd name="adj1" fmla="val 100000"/>
              <a:gd name="adj2" fmla="val 11009"/>
            </a:avLst>
          </a:prstGeom>
          <a:solidFill>
            <a:srgbClr val="969696"/>
          </a:solidFill>
          <a:ln w="12700">
            <a:noFill/>
            <a:miter lim="800000"/>
            <a:headEnd/>
            <a:tailEnd/>
          </a:ln>
          <a:effectLst>
            <a:outerShdw dist="35921" dir="2700000" algn="ctr" rotWithShape="0">
              <a:schemeClr val="bg2"/>
            </a:outerShdw>
          </a:effectLst>
        </p:spPr>
        <p:txBody>
          <a:bodyPr vert="vert270" anchor="ctr"/>
          <a:lstStyle/>
          <a:p>
            <a:pPr algn="ctr">
              <a:lnSpc>
                <a:spcPts val="1000"/>
              </a:lnSpc>
            </a:pPr>
            <a:r>
              <a:rPr lang="es-ES" sz="1100" b="1" noProof="1">
                <a:solidFill>
                  <a:srgbClr val="FFFFFF"/>
                </a:solidFill>
                <a:cs typeface="Arial" charset="0"/>
              </a:rPr>
              <a:t>Cuestionarios</a:t>
            </a:r>
          </a:p>
        </p:txBody>
      </p:sp>
      <p:sp>
        <p:nvSpPr>
          <p:cNvPr id="101" name="Rounded Rectangle 38"/>
          <p:cNvSpPr/>
          <p:nvPr/>
        </p:nvSpPr>
        <p:spPr>
          <a:xfrm>
            <a:off x="5098230" y="4472505"/>
            <a:ext cx="3132000" cy="170094"/>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Criterios de Evaluación</a:t>
            </a:r>
          </a:p>
        </p:txBody>
      </p:sp>
      <p:sp>
        <p:nvSpPr>
          <p:cNvPr id="102" name="AutoShape 179"/>
          <p:cNvSpPr>
            <a:spLocks noChangeArrowheads="1"/>
          </p:cNvSpPr>
          <p:nvPr/>
        </p:nvSpPr>
        <p:spPr bwMode="auto">
          <a:xfrm>
            <a:off x="534831" y="5060900"/>
            <a:ext cx="4037169" cy="864000"/>
          </a:xfrm>
          <a:prstGeom prst="roundRect">
            <a:avLst>
              <a:gd name="adj" fmla="val 9481"/>
            </a:avLst>
          </a:prstGeom>
          <a:solidFill>
            <a:schemeClr val="accent1">
              <a:lumMod val="20000"/>
              <a:lumOff val="80000"/>
            </a:schemeClr>
          </a:solidFill>
          <a:ln w="9525" algn="ctr">
            <a:noFill/>
            <a:round/>
            <a:headEnd/>
            <a:tailEnd/>
          </a:ln>
          <a:effectLst/>
        </p:spPr>
        <p:txBody>
          <a:bodyPr wrap="none" anchor="ctr"/>
          <a:lstStyle/>
          <a:p>
            <a:endParaRPr lang="es-CL">
              <a:solidFill>
                <a:srgbClr val="002060"/>
              </a:solidFill>
            </a:endParaRPr>
          </a:p>
        </p:txBody>
      </p:sp>
      <p:sp>
        <p:nvSpPr>
          <p:cNvPr id="103" name="AutoShape 47"/>
          <p:cNvSpPr>
            <a:spLocks noChangeArrowheads="1"/>
          </p:cNvSpPr>
          <p:nvPr/>
        </p:nvSpPr>
        <p:spPr bwMode="blackWhite">
          <a:xfrm>
            <a:off x="281304" y="5062402"/>
            <a:ext cx="353942" cy="864000"/>
          </a:xfrm>
          <a:prstGeom prst="rightArrow">
            <a:avLst>
              <a:gd name="adj1" fmla="val 100000"/>
              <a:gd name="adj2" fmla="val 11009"/>
            </a:avLst>
          </a:prstGeom>
          <a:solidFill>
            <a:srgbClr val="969696"/>
          </a:solidFill>
          <a:ln w="12700">
            <a:noFill/>
            <a:miter lim="800000"/>
            <a:headEnd/>
            <a:tailEnd/>
          </a:ln>
          <a:effectLst>
            <a:outerShdw dist="35921" dir="2700000" algn="ctr" rotWithShape="0">
              <a:schemeClr val="bg2"/>
            </a:outerShdw>
          </a:effectLst>
        </p:spPr>
        <p:txBody>
          <a:bodyPr vert="vert270" anchor="ctr"/>
          <a:lstStyle/>
          <a:p>
            <a:pPr algn="ctr">
              <a:lnSpc>
                <a:spcPts val="1000"/>
              </a:lnSpc>
            </a:pPr>
            <a:r>
              <a:rPr lang="es-ES" sz="1100" b="1" noProof="1">
                <a:solidFill>
                  <a:srgbClr val="FFFFFF"/>
                </a:solidFill>
                <a:cs typeface="Arial" charset="0"/>
              </a:rPr>
              <a:t>Evaluación de Controles</a:t>
            </a:r>
          </a:p>
        </p:txBody>
      </p:sp>
      <p:sp>
        <p:nvSpPr>
          <p:cNvPr id="104" name="Rectangle 18"/>
          <p:cNvSpPr>
            <a:spLocks noChangeArrowheads="1"/>
          </p:cNvSpPr>
          <p:nvPr/>
        </p:nvSpPr>
        <p:spPr bwMode="auto">
          <a:xfrm>
            <a:off x="3937102" y="5136167"/>
            <a:ext cx="548640" cy="170094"/>
          </a:xfrm>
          <a:prstGeom prst="rect">
            <a:avLst/>
          </a:prstGeom>
          <a:solidFill>
            <a:schemeClr val="bg1"/>
          </a:solidFill>
          <a:ln w="9525" algn="ctr">
            <a:solidFill>
              <a:schemeClr val="bg2"/>
            </a:solidFill>
            <a:miter lim="800000"/>
            <a:headEnd/>
            <a:tailEnd/>
          </a:ln>
          <a:effectLst/>
        </p:spPr>
        <p:txBody>
          <a:bodyPr anchor="ctr"/>
          <a:lstStyle/>
          <a:p>
            <a:pPr algn="ctr"/>
            <a:r>
              <a:rPr lang="es-ES" sz="1100" dirty="0">
                <a:solidFill>
                  <a:srgbClr val="002060"/>
                </a:solidFill>
              </a:rPr>
              <a:t>1</a:t>
            </a:r>
          </a:p>
        </p:txBody>
      </p:sp>
      <p:sp>
        <p:nvSpPr>
          <p:cNvPr id="105" name="Rounded Rectangle 38"/>
          <p:cNvSpPr/>
          <p:nvPr/>
        </p:nvSpPr>
        <p:spPr>
          <a:xfrm>
            <a:off x="705742" y="5136167"/>
            <a:ext cx="3132000" cy="170094"/>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Controles asociados al riesgo</a:t>
            </a:r>
          </a:p>
        </p:txBody>
      </p:sp>
      <p:sp>
        <p:nvSpPr>
          <p:cNvPr id="106" name="Rectangle 18"/>
          <p:cNvSpPr>
            <a:spLocks noChangeArrowheads="1"/>
          </p:cNvSpPr>
          <p:nvPr/>
        </p:nvSpPr>
        <p:spPr bwMode="auto">
          <a:xfrm>
            <a:off x="5102950" y="4685678"/>
            <a:ext cx="3780000" cy="469509"/>
          </a:xfrm>
          <a:prstGeom prst="rect">
            <a:avLst/>
          </a:prstGeom>
          <a:solidFill>
            <a:schemeClr val="bg1"/>
          </a:solidFill>
          <a:ln w="9525" algn="ctr">
            <a:solidFill>
              <a:schemeClr val="bg2"/>
            </a:solidFill>
            <a:miter lim="800000"/>
            <a:headEnd/>
            <a:tailEnd/>
          </a:ln>
          <a:effectLst/>
        </p:spPr>
        <p:txBody>
          <a:bodyPr anchor="ctr"/>
          <a:lstStyle/>
          <a:p>
            <a:pPr algn="just"/>
            <a:r>
              <a:rPr lang="es-ES" sz="1100" dirty="0"/>
              <a:t>El experto del riesgo ha considerado que el impacto patrimonial de la materialización de este riesgo, en la parte del proceso que se indica, es nula.</a:t>
            </a:r>
          </a:p>
        </p:txBody>
      </p:sp>
      <p:sp>
        <p:nvSpPr>
          <p:cNvPr id="107" name="Rectangle 18"/>
          <p:cNvSpPr>
            <a:spLocks noChangeArrowheads="1"/>
          </p:cNvSpPr>
          <p:nvPr/>
        </p:nvSpPr>
        <p:spPr bwMode="auto">
          <a:xfrm>
            <a:off x="705742" y="5357175"/>
            <a:ext cx="3780000" cy="469509"/>
          </a:xfrm>
          <a:prstGeom prst="rect">
            <a:avLst/>
          </a:prstGeom>
          <a:solidFill>
            <a:schemeClr val="bg1"/>
          </a:solidFill>
          <a:ln w="9525" algn="ctr">
            <a:solidFill>
              <a:schemeClr val="bg2"/>
            </a:solidFill>
            <a:miter lim="800000"/>
            <a:headEnd/>
            <a:tailEnd/>
          </a:ln>
          <a:effectLst/>
        </p:spPr>
        <p:txBody>
          <a:bodyPr anchor="ctr"/>
          <a:lstStyle/>
          <a:p>
            <a:r>
              <a:rPr lang="es-ES" sz="1100" dirty="0">
                <a:solidFill>
                  <a:srgbClr val="000000"/>
                </a:solidFill>
              </a:rPr>
              <a:t>(NF) Existencia de validaciones por parte de la UN de Suscripción de la coherencia de los datos</a:t>
            </a:r>
          </a:p>
        </p:txBody>
      </p:sp>
      <p:sp>
        <p:nvSpPr>
          <p:cNvPr id="3" name="TextBox 2"/>
          <p:cNvSpPr txBox="1"/>
          <p:nvPr/>
        </p:nvSpPr>
        <p:spPr>
          <a:xfrm>
            <a:off x="705742" y="5928012"/>
            <a:ext cx="1819944" cy="261610"/>
          </a:xfrm>
          <a:prstGeom prst="rect">
            <a:avLst/>
          </a:prstGeom>
          <a:noFill/>
        </p:spPr>
        <p:txBody>
          <a:bodyPr wrap="square" rtlCol="0">
            <a:spAutoFit/>
          </a:bodyPr>
          <a:lstStyle/>
          <a:p>
            <a:r>
              <a:rPr lang="es-ES" sz="1100" dirty="0"/>
              <a:t>(NF): No Formalizado</a:t>
            </a:r>
          </a:p>
        </p:txBody>
      </p:sp>
    </p:spTree>
    <p:extLst>
      <p:ext uri="{BB962C8B-B14F-4D97-AF65-F5344CB8AC3E}">
        <p14:creationId xmlns:p14="http://schemas.microsoft.com/office/powerpoint/2010/main" val="1115116112"/>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dirty="0"/>
              <a:t>Anexo: Ficha Individual Riesgos Operacionales</a:t>
            </a:r>
          </a:p>
        </p:txBody>
      </p:sp>
      <p:sp>
        <p:nvSpPr>
          <p:cNvPr id="4" name="Rounded Rectangle 3"/>
          <p:cNvSpPr/>
          <p:nvPr/>
        </p:nvSpPr>
        <p:spPr>
          <a:xfrm>
            <a:off x="214497" y="764704"/>
            <a:ext cx="397063" cy="274320"/>
          </a:xfrm>
          <a:prstGeom prst="roundRect">
            <a:avLst/>
          </a:prstGeom>
          <a:solidFill>
            <a:srgbClr val="DB0613"/>
          </a:solidFill>
          <a:ln w="9525" algn="ctr">
            <a:noFill/>
            <a:miter lim="800000"/>
            <a:headEnd/>
            <a:tailEnd/>
          </a:ln>
          <a:effectLst/>
        </p:spPr>
        <p:txBody>
          <a:bodyPr anchor="ctr"/>
          <a:lstStyle/>
          <a:p>
            <a:pPr algn="ctr">
              <a:lnSpc>
                <a:spcPct val="80000"/>
              </a:lnSpc>
            </a:pPr>
            <a:r>
              <a:rPr lang="es-CL" sz="1200" b="1" dirty="0">
                <a:solidFill>
                  <a:srgbClr val="FFFFFF"/>
                </a:solidFill>
                <a:cs typeface="Arial" pitchFamily="34" charset="0"/>
              </a:rPr>
              <a:t>3</a:t>
            </a:r>
          </a:p>
        </p:txBody>
      </p:sp>
      <p:sp>
        <p:nvSpPr>
          <p:cNvPr id="5" name="Rectangle 18"/>
          <p:cNvSpPr>
            <a:spLocks noChangeArrowheads="1"/>
          </p:cNvSpPr>
          <p:nvPr/>
        </p:nvSpPr>
        <p:spPr bwMode="auto">
          <a:xfrm>
            <a:off x="227770" y="2409552"/>
            <a:ext cx="6400800" cy="839807"/>
          </a:xfrm>
          <a:prstGeom prst="rect">
            <a:avLst/>
          </a:prstGeom>
          <a:noFill/>
          <a:ln w="9525" algn="ctr">
            <a:solidFill>
              <a:schemeClr val="bg2"/>
            </a:solidFill>
            <a:miter lim="800000"/>
            <a:headEnd/>
            <a:tailEnd/>
          </a:ln>
          <a:effectLst/>
        </p:spPr>
        <p:txBody>
          <a:bodyPr/>
          <a:lstStyle/>
          <a:p>
            <a:r>
              <a:rPr lang="es-ES" sz="1100" dirty="0"/>
              <a:t>Error en el entendimiento / revisión de las cláusulas que provoque que se emitan slip de cotización con condiciones contradictorias.</a:t>
            </a:r>
            <a:endParaRPr lang="es-ES" sz="1100" dirty="0">
              <a:solidFill>
                <a:srgbClr val="002060"/>
              </a:solidFill>
            </a:endParaRPr>
          </a:p>
          <a:p>
            <a:r>
              <a:rPr lang="es-ES" sz="1100" dirty="0"/>
              <a:t> </a:t>
            </a:r>
            <a:endParaRPr lang="es-ES" sz="1100" dirty="0">
              <a:solidFill>
                <a:srgbClr val="002060"/>
              </a:solidFill>
            </a:endParaRPr>
          </a:p>
        </p:txBody>
      </p:sp>
      <p:sp>
        <p:nvSpPr>
          <p:cNvPr id="8" name="Rounded Rectangle 7"/>
          <p:cNvSpPr/>
          <p:nvPr/>
        </p:nvSpPr>
        <p:spPr>
          <a:xfrm>
            <a:off x="652842" y="764704"/>
            <a:ext cx="8321040" cy="274320"/>
          </a:xfrm>
          <a:prstGeom prst="roundRect">
            <a:avLst/>
          </a:prstGeom>
          <a:solidFill>
            <a:srgbClr val="DB0613"/>
          </a:solidFill>
          <a:ln w="9525" algn="ctr">
            <a:noFill/>
            <a:miter lim="800000"/>
            <a:headEnd/>
            <a:tailEnd/>
          </a:ln>
          <a:effectLst/>
        </p:spPr>
        <p:txBody>
          <a:bodyPr anchor="ctr"/>
          <a:lstStyle/>
          <a:p>
            <a:pPr>
              <a:lnSpc>
                <a:spcPct val="80000"/>
              </a:lnSpc>
            </a:pPr>
            <a:r>
              <a:rPr lang="es-ES" sz="1200" dirty="0">
                <a:solidFill>
                  <a:schemeClr val="bg1"/>
                </a:solidFill>
              </a:rPr>
              <a:t>Error en la revisión de las cláusulas del slip de cotización.</a:t>
            </a:r>
            <a:endParaRPr lang="es-CL" sz="1200" b="1" dirty="0">
              <a:solidFill>
                <a:schemeClr val="bg1"/>
              </a:solidFill>
              <a:cs typeface="Arial" pitchFamily="34" charset="0"/>
            </a:endParaRPr>
          </a:p>
        </p:txBody>
      </p:sp>
      <p:sp>
        <p:nvSpPr>
          <p:cNvPr id="9" name="Rounded Rectangle 8"/>
          <p:cNvSpPr/>
          <p:nvPr/>
        </p:nvSpPr>
        <p:spPr>
          <a:xfrm>
            <a:off x="227770" y="2202383"/>
            <a:ext cx="64008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Descripción</a:t>
            </a:r>
          </a:p>
        </p:txBody>
      </p:sp>
      <p:sp>
        <p:nvSpPr>
          <p:cNvPr id="10" name="Rounded Rectangle 9"/>
          <p:cNvSpPr/>
          <p:nvPr/>
        </p:nvSpPr>
        <p:spPr>
          <a:xfrm>
            <a:off x="6716066" y="1089119"/>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Categoría  de Riesgo Nivel I</a:t>
            </a:r>
          </a:p>
        </p:txBody>
      </p:sp>
      <p:sp>
        <p:nvSpPr>
          <p:cNvPr id="11" name="Rectangle 18"/>
          <p:cNvSpPr>
            <a:spLocks noChangeArrowheads="1"/>
          </p:cNvSpPr>
          <p:nvPr/>
        </p:nvSpPr>
        <p:spPr bwMode="auto">
          <a:xfrm>
            <a:off x="6716066" y="1316374"/>
            <a:ext cx="2286000" cy="365760"/>
          </a:xfrm>
          <a:prstGeom prst="rect">
            <a:avLst/>
          </a:prstGeom>
          <a:noFill/>
          <a:ln w="9525" algn="ctr">
            <a:solidFill>
              <a:schemeClr val="bg2"/>
            </a:solidFill>
            <a:miter lim="800000"/>
            <a:headEnd/>
            <a:tailEnd/>
          </a:ln>
          <a:effectLst/>
        </p:spPr>
        <p:txBody>
          <a:bodyPr anchor="ctr"/>
          <a:lstStyle/>
          <a:p>
            <a:pPr>
              <a:lnSpc>
                <a:spcPts val="1000"/>
              </a:lnSpc>
            </a:pPr>
            <a:r>
              <a:rPr lang="es-ES" sz="1100" dirty="0"/>
              <a:t>Ejecución, entrega y gestión de procesos</a:t>
            </a:r>
          </a:p>
        </p:txBody>
      </p:sp>
      <p:sp>
        <p:nvSpPr>
          <p:cNvPr id="12" name="Rounded Rectangle 11"/>
          <p:cNvSpPr/>
          <p:nvPr/>
        </p:nvSpPr>
        <p:spPr>
          <a:xfrm>
            <a:off x="6716066" y="1725169"/>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Categoría de Riesgo Nivel II</a:t>
            </a:r>
          </a:p>
        </p:txBody>
      </p:sp>
      <p:sp>
        <p:nvSpPr>
          <p:cNvPr id="13" name="Rectangle 18"/>
          <p:cNvSpPr>
            <a:spLocks noChangeArrowheads="1"/>
          </p:cNvSpPr>
          <p:nvPr/>
        </p:nvSpPr>
        <p:spPr bwMode="auto">
          <a:xfrm>
            <a:off x="6716066" y="1942710"/>
            <a:ext cx="2286000" cy="274320"/>
          </a:xfrm>
          <a:prstGeom prst="rect">
            <a:avLst/>
          </a:prstGeom>
          <a:noFill/>
          <a:ln w="9525" algn="ctr">
            <a:solidFill>
              <a:schemeClr val="bg2"/>
            </a:solidFill>
            <a:miter lim="800000"/>
            <a:headEnd/>
            <a:tailEnd/>
          </a:ln>
          <a:effectLst/>
        </p:spPr>
        <p:txBody>
          <a:bodyPr anchor="ctr"/>
          <a:lstStyle/>
          <a:p>
            <a:r>
              <a:rPr lang="es-ES" sz="1100" dirty="0"/>
              <a:t>Recepción, ejecución y mantenimiento de operaciones</a:t>
            </a:r>
          </a:p>
        </p:txBody>
      </p:sp>
      <p:grpSp>
        <p:nvGrpSpPr>
          <p:cNvPr id="3" name="Group 72"/>
          <p:cNvGrpSpPr/>
          <p:nvPr/>
        </p:nvGrpSpPr>
        <p:grpSpPr>
          <a:xfrm>
            <a:off x="6716066" y="2276457"/>
            <a:ext cx="2286000" cy="470912"/>
            <a:chOff x="6716066" y="3005588"/>
            <a:chExt cx="2286000" cy="470912"/>
          </a:xfrm>
        </p:grpSpPr>
        <p:sp>
          <p:nvSpPr>
            <p:cNvPr id="15" name="Rounded Rectangle 14"/>
            <p:cNvSpPr/>
            <p:nvPr/>
          </p:nvSpPr>
          <p:spPr>
            <a:xfrm>
              <a:off x="6716066" y="3005588"/>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Categoría de Riesgo Nivel III</a:t>
              </a:r>
            </a:p>
          </p:txBody>
        </p:sp>
        <p:sp>
          <p:nvSpPr>
            <p:cNvPr id="16" name="Rectangle 18"/>
            <p:cNvSpPr>
              <a:spLocks noChangeArrowheads="1"/>
            </p:cNvSpPr>
            <p:nvPr/>
          </p:nvSpPr>
          <p:spPr bwMode="auto">
            <a:xfrm>
              <a:off x="6716066" y="3202180"/>
              <a:ext cx="2286000" cy="274320"/>
            </a:xfrm>
            <a:prstGeom prst="rect">
              <a:avLst/>
            </a:prstGeom>
            <a:noFill/>
            <a:ln w="9525" algn="ctr">
              <a:solidFill>
                <a:schemeClr val="bg2"/>
              </a:solidFill>
              <a:miter lim="800000"/>
              <a:headEnd/>
              <a:tailEnd/>
            </a:ln>
            <a:effectLst/>
          </p:spPr>
          <p:txBody>
            <a:bodyPr anchor="ctr"/>
            <a:lstStyle/>
            <a:p>
              <a:r>
                <a:rPr lang="es-ES" sz="1100" dirty="0"/>
                <a:t>Capacitación y competencia </a:t>
              </a:r>
              <a:endParaRPr lang="es-ES" sz="1100" dirty="0">
                <a:solidFill>
                  <a:srgbClr val="002060"/>
                </a:solidFill>
              </a:endParaRPr>
            </a:p>
          </p:txBody>
        </p:sp>
      </p:grpSp>
      <p:sp>
        <p:nvSpPr>
          <p:cNvPr id="17" name="Rounded Rectangle 16"/>
          <p:cNvSpPr/>
          <p:nvPr/>
        </p:nvSpPr>
        <p:spPr>
          <a:xfrm>
            <a:off x="227770" y="1110038"/>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Macroproceso</a:t>
            </a:r>
          </a:p>
        </p:txBody>
      </p:sp>
      <p:sp>
        <p:nvSpPr>
          <p:cNvPr id="18" name="Rectangle 18"/>
          <p:cNvSpPr>
            <a:spLocks noChangeArrowheads="1"/>
          </p:cNvSpPr>
          <p:nvPr/>
        </p:nvSpPr>
        <p:spPr bwMode="auto">
          <a:xfrm>
            <a:off x="2568409" y="1110038"/>
            <a:ext cx="4060161" cy="182880"/>
          </a:xfrm>
          <a:prstGeom prst="rect">
            <a:avLst/>
          </a:prstGeom>
          <a:noFill/>
          <a:ln w="9525" algn="ctr">
            <a:solidFill>
              <a:schemeClr val="bg2"/>
            </a:solidFill>
            <a:miter lim="800000"/>
            <a:headEnd/>
            <a:tailEnd/>
          </a:ln>
          <a:effectLst/>
        </p:spPr>
        <p:txBody>
          <a:bodyPr anchor="ctr"/>
          <a:lstStyle/>
          <a:p>
            <a:r>
              <a:rPr lang="es-ES" sz="1100" dirty="0"/>
              <a:t>Generación de Negocio</a:t>
            </a:r>
          </a:p>
        </p:txBody>
      </p:sp>
      <p:sp>
        <p:nvSpPr>
          <p:cNvPr id="19" name="Rounded Rectangle 18"/>
          <p:cNvSpPr/>
          <p:nvPr/>
        </p:nvSpPr>
        <p:spPr>
          <a:xfrm>
            <a:off x="227770" y="1339045"/>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Proceso</a:t>
            </a:r>
          </a:p>
        </p:txBody>
      </p:sp>
      <p:sp>
        <p:nvSpPr>
          <p:cNvPr id="20" name="Rectangle 18"/>
          <p:cNvSpPr>
            <a:spLocks noChangeArrowheads="1"/>
          </p:cNvSpPr>
          <p:nvPr/>
        </p:nvSpPr>
        <p:spPr bwMode="auto">
          <a:xfrm>
            <a:off x="2568409" y="1339045"/>
            <a:ext cx="4060161" cy="182880"/>
          </a:xfrm>
          <a:prstGeom prst="rect">
            <a:avLst/>
          </a:prstGeom>
          <a:noFill/>
          <a:ln w="9525" algn="ctr">
            <a:solidFill>
              <a:schemeClr val="bg2"/>
            </a:solidFill>
            <a:miter lim="800000"/>
            <a:headEnd/>
            <a:tailEnd/>
          </a:ln>
          <a:effectLst/>
        </p:spPr>
        <p:txBody>
          <a:bodyPr anchor="ctr"/>
          <a:lstStyle/>
          <a:p>
            <a:r>
              <a:rPr lang="es-ES" sz="1100" dirty="0"/>
              <a:t>Suscripción</a:t>
            </a:r>
          </a:p>
        </p:txBody>
      </p:sp>
      <p:sp>
        <p:nvSpPr>
          <p:cNvPr id="21" name="Rectangle 29"/>
          <p:cNvSpPr>
            <a:spLocks noChangeArrowheads="1"/>
          </p:cNvSpPr>
          <p:nvPr/>
        </p:nvSpPr>
        <p:spPr bwMode="auto">
          <a:xfrm>
            <a:off x="107504" y="3256716"/>
            <a:ext cx="8961120" cy="1607926"/>
          </a:xfrm>
          <a:prstGeom prst="rect">
            <a:avLst/>
          </a:prstGeom>
          <a:noFill/>
          <a:ln w="19050" cap="rnd" algn="ctr">
            <a:solidFill>
              <a:schemeClr val="bg2"/>
            </a:solidFill>
            <a:prstDash val="sysDot"/>
            <a:miter lim="800000"/>
            <a:headEnd/>
            <a:tailEnd/>
          </a:ln>
          <a:effectLst/>
        </p:spPr>
        <p:txBody>
          <a:bodyPr wrap="none" anchor="ctr"/>
          <a:lstStyle/>
          <a:p>
            <a:endParaRPr lang="en-US">
              <a:solidFill>
                <a:srgbClr val="002060"/>
              </a:solidFill>
            </a:endParaRPr>
          </a:p>
        </p:txBody>
      </p:sp>
      <p:sp>
        <p:nvSpPr>
          <p:cNvPr id="59" name="Rounded Rectangle 58"/>
          <p:cNvSpPr/>
          <p:nvPr/>
        </p:nvSpPr>
        <p:spPr>
          <a:xfrm>
            <a:off x="223049" y="1554311"/>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Subproceso</a:t>
            </a:r>
          </a:p>
        </p:txBody>
      </p:sp>
      <p:sp>
        <p:nvSpPr>
          <p:cNvPr id="60" name="Rectangle 18"/>
          <p:cNvSpPr>
            <a:spLocks noChangeArrowheads="1"/>
          </p:cNvSpPr>
          <p:nvPr/>
        </p:nvSpPr>
        <p:spPr bwMode="auto">
          <a:xfrm>
            <a:off x="2563688" y="1554311"/>
            <a:ext cx="4064882" cy="182880"/>
          </a:xfrm>
          <a:prstGeom prst="rect">
            <a:avLst/>
          </a:prstGeom>
          <a:noFill/>
          <a:ln w="9525" algn="ctr">
            <a:solidFill>
              <a:schemeClr val="bg2"/>
            </a:solidFill>
            <a:miter lim="800000"/>
            <a:headEnd/>
            <a:tailEnd/>
          </a:ln>
          <a:effectLst/>
        </p:spPr>
        <p:txBody>
          <a:bodyPr anchor="ctr"/>
          <a:lstStyle/>
          <a:p>
            <a:r>
              <a:rPr lang="es-ES" sz="1100" dirty="0"/>
              <a:t>Evaluación de solicitudes de cotización</a:t>
            </a:r>
          </a:p>
        </p:txBody>
      </p:sp>
      <p:sp>
        <p:nvSpPr>
          <p:cNvPr id="57" name="Rounded Rectangle 56"/>
          <p:cNvSpPr/>
          <p:nvPr/>
        </p:nvSpPr>
        <p:spPr>
          <a:xfrm>
            <a:off x="223049" y="1771093"/>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Línea de Negocio</a:t>
            </a:r>
          </a:p>
        </p:txBody>
      </p:sp>
      <p:sp>
        <p:nvSpPr>
          <p:cNvPr id="58" name="Rectangle 18"/>
          <p:cNvSpPr>
            <a:spLocks noChangeArrowheads="1"/>
          </p:cNvSpPr>
          <p:nvPr/>
        </p:nvSpPr>
        <p:spPr bwMode="auto">
          <a:xfrm>
            <a:off x="2563688" y="1771093"/>
            <a:ext cx="4064882" cy="182880"/>
          </a:xfrm>
          <a:prstGeom prst="rect">
            <a:avLst/>
          </a:prstGeom>
          <a:noFill/>
          <a:ln w="9525" algn="ctr">
            <a:solidFill>
              <a:schemeClr val="bg2"/>
            </a:solidFill>
            <a:miter lim="800000"/>
            <a:headEnd/>
            <a:tailEnd/>
          </a:ln>
          <a:effectLst/>
        </p:spPr>
        <p:txBody>
          <a:bodyPr anchor="ctr"/>
          <a:lstStyle/>
          <a:p>
            <a:r>
              <a:rPr lang="es-ES" sz="1100" dirty="0"/>
              <a:t>Ramos Generales</a:t>
            </a:r>
          </a:p>
        </p:txBody>
      </p:sp>
      <p:sp>
        <p:nvSpPr>
          <p:cNvPr id="61" name="Rounded Rectangle 60"/>
          <p:cNvSpPr/>
          <p:nvPr/>
        </p:nvSpPr>
        <p:spPr>
          <a:xfrm>
            <a:off x="223049" y="1986359"/>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Responsable</a:t>
            </a:r>
          </a:p>
        </p:txBody>
      </p:sp>
      <p:sp>
        <p:nvSpPr>
          <p:cNvPr id="62" name="Rectangle 18"/>
          <p:cNvSpPr>
            <a:spLocks noChangeArrowheads="1"/>
          </p:cNvSpPr>
          <p:nvPr/>
        </p:nvSpPr>
        <p:spPr bwMode="auto">
          <a:xfrm>
            <a:off x="2558967" y="1986359"/>
            <a:ext cx="4069603" cy="182880"/>
          </a:xfrm>
          <a:prstGeom prst="rect">
            <a:avLst/>
          </a:prstGeom>
          <a:noFill/>
          <a:ln w="9525" algn="ctr">
            <a:solidFill>
              <a:schemeClr val="bg2"/>
            </a:solidFill>
            <a:miter lim="800000"/>
            <a:headEnd/>
            <a:tailEnd/>
          </a:ln>
          <a:effectLst/>
        </p:spPr>
        <p:txBody>
          <a:bodyPr anchor="ctr"/>
          <a:lstStyle/>
          <a:p>
            <a:r>
              <a:rPr lang="es-ES" sz="1100" dirty="0"/>
              <a:t>Analista de Control de Calidad </a:t>
            </a:r>
          </a:p>
        </p:txBody>
      </p:sp>
      <p:sp>
        <p:nvSpPr>
          <p:cNvPr id="63" name="AutoShape 179"/>
          <p:cNvSpPr>
            <a:spLocks noChangeArrowheads="1"/>
          </p:cNvSpPr>
          <p:nvPr/>
        </p:nvSpPr>
        <p:spPr bwMode="auto">
          <a:xfrm>
            <a:off x="4932039" y="3496242"/>
            <a:ext cx="4037169" cy="864000"/>
          </a:xfrm>
          <a:prstGeom prst="roundRect">
            <a:avLst>
              <a:gd name="adj" fmla="val 9481"/>
            </a:avLst>
          </a:prstGeom>
          <a:solidFill>
            <a:schemeClr val="accent1">
              <a:lumMod val="20000"/>
              <a:lumOff val="80000"/>
            </a:schemeClr>
          </a:solidFill>
          <a:ln w="9525" algn="ctr">
            <a:noFill/>
            <a:round/>
            <a:headEnd/>
            <a:tailEnd/>
          </a:ln>
          <a:effectLst/>
        </p:spPr>
        <p:txBody>
          <a:bodyPr wrap="none" anchor="ctr"/>
          <a:lstStyle/>
          <a:p>
            <a:endParaRPr lang="es-CL">
              <a:solidFill>
                <a:srgbClr val="002060"/>
              </a:solidFill>
            </a:endParaRPr>
          </a:p>
        </p:txBody>
      </p:sp>
      <p:sp>
        <p:nvSpPr>
          <p:cNvPr id="64" name="AutoShape 47"/>
          <p:cNvSpPr>
            <a:spLocks noChangeArrowheads="1"/>
          </p:cNvSpPr>
          <p:nvPr/>
        </p:nvSpPr>
        <p:spPr bwMode="blackWhite">
          <a:xfrm>
            <a:off x="4678512" y="3497744"/>
            <a:ext cx="353942" cy="864000"/>
          </a:xfrm>
          <a:prstGeom prst="rightArrow">
            <a:avLst>
              <a:gd name="adj1" fmla="val 100000"/>
              <a:gd name="adj2" fmla="val 11009"/>
            </a:avLst>
          </a:prstGeom>
          <a:solidFill>
            <a:srgbClr val="969696"/>
          </a:solidFill>
          <a:ln w="12700">
            <a:noFill/>
            <a:miter lim="800000"/>
            <a:headEnd/>
            <a:tailEnd/>
          </a:ln>
          <a:effectLst>
            <a:outerShdw dist="35921" dir="2700000" algn="ctr" rotWithShape="0">
              <a:schemeClr val="bg2"/>
            </a:outerShdw>
          </a:effectLst>
        </p:spPr>
        <p:txBody>
          <a:bodyPr vert="vert270" anchor="ctr"/>
          <a:lstStyle/>
          <a:p>
            <a:pPr algn="ctr">
              <a:lnSpc>
                <a:spcPts val="1000"/>
              </a:lnSpc>
            </a:pPr>
            <a:r>
              <a:rPr lang="es-ES" sz="1100" b="1" noProof="1">
                <a:solidFill>
                  <a:srgbClr val="FFFFFF"/>
                </a:solidFill>
                <a:cs typeface="Arial" charset="0"/>
              </a:rPr>
              <a:t>Impacto Reputacional</a:t>
            </a:r>
          </a:p>
        </p:txBody>
      </p:sp>
      <p:sp>
        <p:nvSpPr>
          <p:cNvPr id="65" name="Rectangle 18"/>
          <p:cNvSpPr>
            <a:spLocks noChangeArrowheads="1"/>
          </p:cNvSpPr>
          <p:nvPr/>
        </p:nvSpPr>
        <p:spPr bwMode="auto">
          <a:xfrm>
            <a:off x="8334310" y="3571509"/>
            <a:ext cx="548640" cy="170094"/>
          </a:xfrm>
          <a:prstGeom prst="rect">
            <a:avLst/>
          </a:prstGeom>
          <a:solidFill>
            <a:schemeClr val="bg1"/>
          </a:solidFill>
          <a:ln w="9525" algn="ctr">
            <a:solidFill>
              <a:schemeClr val="bg2"/>
            </a:solidFill>
            <a:miter lim="800000"/>
            <a:headEnd/>
            <a:tailEnd/>
          </a:ln>
          <a:effectLst/>
        </p:spPr>
        <p:txBody>
          <a:bodyPr anchor="ctr"/>
          <a:lstStyle/>
          <a:p>
            <a:pPr algn="ctr"/>
            <a:r>
              <a:rPr lang="es-ES" sz="1100" dirty="0">
                <a:solidFill>
                  <a:srgbClr val="002060"/>
                </a:solidFill>
              </a:rPr>
              <a:t>2</a:t>
            </a:r>
          </a:p>
        </p:txBody>
      </p:sp>
      <p:sp>
        <p:nvSpPr>
          <p:cNvPr id="66" name="Rounded Rectangle 65"/>
          <p:cNvSpPr/>
          <p:nvPr/>
        </p:nvSpPr>
        <p:spPr>
          <a:xfrm>
            <a:off x="5102950" y="3571509"/>
            <a:ext cx="3132000" cy="170094"/>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Afectación a Clientes</a:t>
            </a:r>
          </a:p>
        </p:txBody>
      </p:sp>
      <p:sp>
        <p:nvSpPr>
          <p:cNvPr id="67" name="Rectangle 18"/>
          <p:cNvSpPr>
            <a:spLocks noChangeArrowheads="1"/>
          </p:cNvSpPr>
          <p:nvPr/>
        </p:nvSpPr>
        <p:spPr bwMode="auto">
          <a:xfrm>
            <a:off x="5102950" y="3789666"/>
            <a:ext cx="3780000" cy="469509"/>
          </a:xfrm>
          <a:prstGeom prst="rect">
            <a:avLst/>
          </a:prstGeom>
          <a:solidFill>
            <a:schemeClr val="bg1"/>
          </a:solidFill>
          <a:ln w="9525" algn="ctr">
            <a:solidFill>
              <a:schemeClr val="bg2"/>
            </a:solidFill>
            <a:miter lim="800000"/>
            <a:headEnd/>
            <a:tailEnd/>
          </a:ln>
          <a:effectLst/>
        </p:spPr>
        <p:txBody>
          <a:bodyPr anchor="ctr"/>
          <a:lstStyle/>
          <a:p>
            <a:r>
              <a:rPr lang="es-ES" sz="1100" dirty="0">
                <a:solidFill>
                  <a:srgbClr val="000000"/>
                </a:solidFill>
              </a:rPr>
              <a:t>La exposición de la imagen es interna pero no limitada.</a:t>
            </a:r>
          </a:p>
        </p:txBody>
      </p:sp>
      <p:sp>
        <p:nvSpPr>
          <p:cNvPr id="71" name="AutoShape 179"/>
          <p:cNvSpPr>
            <a:spLocks noChangeArrowheads="1"/>
          </p:cNvSpPr>
          <p:nvPr/>
        </p:nvSpPr>
        <p:spPr bwMode="auto">
          <a:xfrm>
            <a:off x="4927319" y="4400459"/>
            <a:ext cx="4037169" cy="892800"/>
          </a:xfrm>
          <a:prstGeom prst="roundRect">
            <a:avLst>
              <a:gd name="adj" fmla="val 9481"/>
            </a:avLst>
          </a:prstGeom>
          <a:solidFill>
            <a:schemeClr val="accent1">
              <a:lumMod val="20000"/>
              <a:lumOff val="80000"/>
            </a:schemeClr>
          </a:solidFill>
          <a:ln w="9525" algn="ctr">
            <a:noFill/>
            <a:round/>
            <a:headEnd/>
            <a:tailEnd/>
          </a:ln>
          <a:effectLst/>
        </p:spPr>
        <p:txBody>
          <a:bodyPr wrap="none" anchor="ctr"/>
          <a:lstStyle/>
          <a:p>
            <a:endParaRPr lang="es-CL">
              <a:solidFill>
                <a:srgbClr val="002060"/>
              </a:solidFill>
            </a:endParaRPr>
          </a:p>
        </p:txBody>
      </p:sp>
      <p:sp>
        <p:nvSpPr>
          <p:cNvPr id="72" name="AutoShape 47"/>
          <p:cNvSpPr>
            <a:spLocks noChangeArrowheads="1"/>
          </p:cNvSpPr>
          <p:nvPr/>
        </p:nvSpPr>
        <p:spPr bwMode="blackWhite">
          <a:xfrm>
            <a:off x="4673792" y="4401961"/>
            <a:ext cx="352800" cy="892800"/>
          </a:xfrm>
          <a:prstGeom prst="rightArrow">
            <a:avLst>
              <a:gd name="adj1" fmla="val 100000"/>
              <a:gd name="adj2" fmla="val 11009"/>
            </a:avLst>
          </a:prstGeom>
          <a:solidFill>
            <a:srgbClr val="969696"/>
          </a:solidFill>
          <a:ln w="12700">
            <a:noFill/>
            <a:miter lim="800000"/>
            <a:headEnd/>
            <a:tailEnd/>
          </a:ln>
          <a:effectLst>
            <a:outerShdw dist="35921" dir="2700000" algn="ctr" rotWithShape="0">
              <a:schemeClr val="bg2"/>
            </a:outerShdw>
          </a:effectLst>
        </p:spPr>
        <p:txBody>
          <a:bodyPr vert="vert270" anchor="ctr"/>
          <a:lstStyle/>
          <a:p>
            <a:pPr algn="ctr">
              <a:lnSpc>
                <a:spcPts val="1000"/>
              </a:lnSpc>
            </a:pPr>
            <a:r>
              <a:rPr lang="es-ES" sz="1100" b="1" noProof="1">
                <a:solidFill>
                  <a:srgbClr val="FFFFFF"/>
                </a:solidFill>
                <a:cs typeface="Arial" charset="0"/>
              </a:rPr>
              <a:t>Cuestionarios</a:t>
            </a:r>
          </a:p>
        </p:txBody>
      </p:sp>
      <p:sp>
        <p:nvSpPr>
          <p:cNvPr id="74" name="Rounded Rectangle 38"/>
          <p:cNvSpPr/>
          <p:nvPr/>
        </p:nvSpPr>
        <p:spPr>
          <a:xfrm>
            <a:off x="5098230" y="4475726"/>
            <a:ext cx="3132000" cy="170094"/>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Criterios de Evaluación</a:t>
            </a:r>
          </a:p>
        </p:txBody>
      </p:sp>
      <p:sp>
        <p:nvSpPr>
          <p:cNvPr id="75" name="Rectangle 18"/>
          <p:cNvSpPr>
            <a:spLocks noChangeArrowheads="1"/>
          </p:cNvSpPr>
          <p:nvPr/>
        </p:nvSpPr>
        <p:spPr bwMode="auto">
          <a:xfrm>
            <a:off x="5102950" y="4688899"/>
            <a:ext cx="3780000" cy="469509"/>
          </a:xfrm>
          <a:prstGeom prst="rect">
            <a:avLst/>
          </a:prstGeom>
          <a:solidFill>
            <a:schemeClr val="bg1"/>
          </a:solidFill>
          <a:ln w="9525" algn="ctr">
            <a:solidFill>
              <a:schemeClr val="bg2"/>
            </a:solidFill>
            <a:miter lim="800000"/>
            <a:headEnd/>
            <a:tailEnd/>
          </a:ln>
          <a:effectLst/>
        </p:spPr>
        <p:txBody>
          <a:bodyPr anchor="ctr"/>
          <a:lstStyle/>
          <a:p>
            <a:pPr algn="just"/>
            <a:r>
              <a:rPr lang="es-ES" sz="1100" dirty="0"/>
              <a:t>Se </a:t>
            </a:r>
            <a:r>
              <a:rPr lang="es-ES" sz="1100" dirty="0">
                <a:solidFill>
                  <a:srgbClr val="FF0000"/>
                </a:solidFill>
              </a:rPr>
              <a:t>ha tomado como valor de referencia un siniestro medio de $50,000 y como peor escenario  un siniestro de $200,000.</a:t>
            </a:r>
          </a:p>
        </p:txBody>
      </p:sp>
      <p:sp>
        <p:nvSpPr>
          <p:cNvPr id="76" name="AutoShape 179"/>
          <p:cNvSpPr>
            <a:spLocks noChangeArrowheads="1"/>
          </p:cNvSpPr>
          <p:nvPr/>
        </p:nvSpPr>
        <p:spPr bwMode="auto">
          <a:xfrm>
            <a:off x="611560" y="3485637"/>
            <a:ext cx="3960812" cy="1275707"/>
          </a:xfrm>
          <a:prstGeom prst="roundRect">
            <a:avLst>
              <a:gd name="adj" fmla="val 9481"/>
            </a:avLst>
          </a:prstGeom>
          <a:solidFill>
            <a:schemeClr val="accent1">
              <a:lumMod val="20000"/>
              <a:lumOff val="80000"/>
            </a:schemeClr>
          </a:solidFill>
          <a:ln w="9525" algn="ctr">
            <a:noFill/>
            <a:round/>
            <a:headEnd/>
            <a:tailEnd/>
          </a:ln>
          <a:effectLst/>
        </p:spPr>
        <p:txBody>
          <a:bodyPr wrap="none" anchor="ctr"/>
          <a:lstStyle/>
          <a:p>
            <a:endParaRPr lang="es-CL">
              <a:solidFill>
                <a:srgbClr val="002060"/>
              </a:solidFill>
            </a:endParaRPr>
          </a:p>
        </p:txBody>
      </p:sp>
      <p:sp>
        <p:nvSpPr>
          <p:cNvPr id="77" name="Text Box 30"/>
          <p:cNvSpPr txBox="1">
            <a:spLocks noChangeArrowheads="1"/>
          </p:cNvSpPr>
          <p:nvPr/>
        </p:nvSpPr>
        <p:spPr bwMode="auto">
          <a:xfrm>
            <a:off x="190747" y="3262594"/>
            <a:ext cx="3671888" cy="276999"/>
          </a:xfrm>
          <a:prstGeom prst="rect">
            <a:avLst/>
          </a:prstGeom>
          <a:noFill/>
          <a:ln w="9525" algn="ctr">
            <a:noFill/>
            <a:miter lim="800000"/>
            <a:headEnd/>
            <a:tailEnd/>
          </a:ln>
          <a:effectLst/>
        </p:spPr>
        <p:txBody>
          <a:bodyPr>
            <a:spAutoFit/>
          </a:bodyPr>
          <a:lstStyle/>
          <a:p>
            <a:pPr>
              <a:spcBef>
                <a:spcPct val="50000"/>
              </a:spcBef>
            </a:pPr>
            <a:r>
              <a:rPr lang="es-CL" sz="1200" b="1" i="1" dirty="0">
                <a:solidFill>
                  <a:srgbClr val="A3A3E0"/>
                </a:solidFill>
              </a:rPr>
              <a:t>Resultados valoración de riesgos</a:t>
            </a:r>
            <a:endParaRPr lang="es-ES" sz="1200" b="1" i="1" dirty="0">
              <a:solidFill>
                <a:srgbClr val="A3A3E0"/>
              </a:solidFill>
            </a:endParaRPr>
          </a:p>
        </p:txBody>
      </p:sp>
      <p:sp>
        <p:nvSpPr>
          <p:cNvPr id="78" name="Rounded Rectangle 77"/>
          <p:cNvSpPr/>
          <p:nvPr/>
        </p:nvSpPr>
        <p:spPr>
          <a:xfrm>
            <a:off x="902959" y="4259176"/>
            <a:ext cx="1920240" cy="170094"/>
          </a:xfrm>
          <a:prstGeom prst="roundRect">
            <a:avLst/>
          </a:prstGeom>
          <a:solidFill>
            <a:srgbClr val="DB0613"/>
          </a:solidFill>
          <a:ln w="9525" algn="ctr">
            <a:noFill/>
            <a:miter lim="800000"/>
            <a:headEnd/>
            <a:tailEnd/>
          </a:ln>
          <a:effectLst/>
        </p:spPr>
        <p:txBody>
          <a:bodyPr tIns="91440" anchor="ctr"/>
          <a:lstStyle/>
          <a:p>
            <a:pPr>
              <a:lnSpc>
                <a:spcPct val="80000"/>
              </a:lnSpc>
            </a:pPr>
            <a:r>
              <a:rPr lang="es-CL" sz="1100" b="1" dirty="0">
                <a:solidFill>
                  <a:srgbClr val="FFFFFF"/>
                </a:solidFill>
                <a:cs typeface="Arial" pitchFamily="34" charset="0"/>
              </a:rPr>
              <a:t>Pérdida Esperada Anual</a:t>
            </a:r>
          </a:p>
        </p:txBody>
      </p:sp>
      <p:sp>
        <p:nvSpPr>
          <p:cNvPr id="79" name="Rectangle 18"/>
          <p:cNvSpPr>
            <a:spLocks noChangeArrowheads="1"/>
          </p:cNvSpPr>
          <p:nvPr/>
        </p:nvSpPr>
        <p:spPr bwMode="auto">
          <a:xfrm>
            <a:off x="2859920" y="4259176"/>
            <a:ext cx="1554480" cy="170094"/>
          </a:xfrm>
          <a:prstGeom prst="rect">
            <a:avLst/>
          </a:prstGeom>
          <a:solidFill>
            <a:schemeClr val="bg1"/>
          </a:solidFill>
          <a:ln w="9525" algn="ctr">
            <a:solidFill>
              <a:schemeClr val="bg2"/>
            </a:solidFill>
            <a:miter lim="800000"/>
            <a:headEnd/>
            <a:tailEnd/>
          </a:ln>
          <a:effectLst/>
        </p:spPr>
        <p:txBody>
          <a:bodyPr anchor="ctr"/>
          <a:lstStyle/>
          <a:p>
            <a:pPr algn="ctr"/>
            <a:r>
              <a:rPr lang="es-PE" sz="1100" dirty="0">
                <a:solidFill>
                  <a:srgbClr val="000000"/>
                </a:solidFill>
              </a:rPr>
              <a:t>S/. 127,500.00</a:t>
            </a:r>
            <a:endParaRPr lang="es-ES" sz="1100" dirty="0">
              <a:solidFill>
                <a:srgbClr val="000000"/>
              </a:solidFill>
            </a:endParaRPr>
          </a:p>
        </p:txBody>
      </p:sp>
      <p:sp>
        <p:nvSpPr>
          <p:cNvPr id="80" name="Rounded Rectangle 79"/>
          <p:cNvSpPr/>
          <p:nvPr/>
        </p:nvSpPr>
        <p:spPr>
          <a:xfrm>
            <a:off x="902959" y="4488788"/>
            <a:ext cx="1920240" cy="170094"/>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VaR Cualitativo Anual</a:t>
            </a:r>
          </a:p>
        </p:txBody>
      </p:sp>
      <p:sp>
        <p:nvSpPr>
          <p:cNvPr id="81" name="Rectangle 18"/>
          <p:cNvSpPr>
            <a:spLocks noChangeArrowheads="1"/>
          </p:cNvSpPr>
          <p:nvPr/>
        </p:nvSpPr>
        <p:spPr bwMode="auto">
          <a:xfrm>
            <a:off x="2859920" y="4488788"/>
            <a:ext cx="1554480" cy="170094"/>
          </a:xfrm>
          <a:prstGeom prst="rect">
            <a:avLst/>
          </a:prstGeom>
          <a:solidFill>
            <a:schemeClr val="bg1"/>
          </a:solidFill>
          <a:ln w="9525" algn="ctr">
            <a:solidFill>
              <a:schemeClr val="bg2"/>
            </a:solidFill>
            <a:miter lim="800000"/>
            <a:headEnd/>
            <a:tailEnd/>
          </a:ln>
          <a:effectLst/>
        </p:spPr>
        <p:txBody>
          <a:bodyPr anchor="ctr"/>
          <a:lstStyle/>
          <a:p>
            <a:pPr algn="ctr"/>
            <a:r>
              <a:rPr lang="es-ES" sz="1100" dirty="0"/>
              <a:t>S/. </a:t>
            </a:r>
            <a:endParaRPr lang="es-ES" sz="1100" dirty="0">
              <a:solidFill>
                <a:srgbClr val="000000"/>
              </a:solidFill>
            </a:endParaRPr>
          </a:p>
        </p:txBody>
      </p:sp>
      <p:sp>
        <p:nvSpPr>
          <p:cNvPr id="82" name="Rounded Rectangle 81"/>
          <p:cNvSpPr/>
          <p:nvPr/>
        </p:nvSpPr>
        <p:spPr>
          <a:xfrm>
            <a:off x="891084" y="3557137"/>
            <a:ext cx="1920240" cy="170094"/>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Frecuencia  Evento Pérdida</a:t>
            </a:r>
          </a:p>
        </p:txBody>
      </p:sp>
      <p:sp>
        <p:nvSpPr>
          <p:cNvPr id="83" name="Rectangle 18"/>
          <p:cNvSpPr>
            <a:spLocks noChangeArrowheads="1"/>
          </p:cNvSpPr>
          <p:nvPr/>
        </p:nvSpPr>
        <p:spPr bwMode="auto">
          <a:xfrm>
            <a:off x="2859920" y="3557137"/>
            <a:ext cx="1554480" cy="170094"/>
          </a:xfrm>
          <a:prstGeom prst="rect">
            <a:avLst/>
          </a:prstGeom>
          <a:solidFill>
            <a:schemeClr val="bg1"/>
          </a:solidFill>
          <a:ln w="9525" algn="ctr">
            <a:solidFill>
              <a:schemeClr val="bg2"/>
            </a:solidFill>
            <a:miter lim="800000"/>
            <a:headEnd/>
            <a:tailEnd/>
          </a:ln>
          <a:effectLst/>
        </p:spPr>
        <p:txBody>
          <a:bodyPr anchor="ctr"/>
          <a:lstStyle/>
          <a:p>
            <a:pPr algn="ctr"/>
            <a:r>
              <a:rPr lang="es-PE" sz="1100" dirty="0">
                <a:solidFill>
                  <a:srgbClr val="000000"/>
                </a:solidFill>
              </a:rPr>
              <a:t>1 vez por año</a:t>
            </a:r>
            <a:endParaRPr lang="es-ES" sz="1100" dirty="0">
              <a:solidFill>
                <a:srgbClr val="000000"/>
              </a:solidFill>
            </a:endParaRPr>
          </a:p>
        </p:txBody>
      </p:sp>
      <p:sp>
        <p:nvSpPr>
          <p:cNvPr id="84" name="Rounded Rectangle 83"/>
          <p:cNvSpPr/>
          <p:nvPr/>
        </p:nvSpPr>
        <p:spPr>
          <a:xfrm>
            <a:off x="891084" y="3786749"/>
            <a:ext cx="1920240" cy="170094"/>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Impacto Medio Evento</a:t>
            </a:r>
          </a:p>
        </p:txBody>
      </p:sp>
      <p:sp>
        <p:nvSpPr>
          <p:cNvPr id="85" name="Rectangle 18"/>
          <p:cNvSpPr>
            <a:spLocks noChangeArrowheads="1"/>
          </p:cNvSpPr>
          <p:nvPr/>
        </p:nvSpPr>
        <p:spPr bwMode="auto">
          <a:xfrm>
            <a:off x="2859920" y="3786749"/>
            <a:ext cx="1554480" cy="170094"/>
          </a:xfrm>
          <a:prstGeom prst="rect">
            <a:avLst/>
          </a:prstGeom>
          <a:solidFill>
            <a:schemeClr val="bg1"/>
          </a:solidFill>
          <a:ln w="9525" algn="ctr">
            <a:solidFill>
              <a:schemeClr val="bg2"/>
            </a:solidFill>
            <a:miter lim="800000"/>
            <a:headEnd/>
            <a:tailEnd/>
          </a:ln>
          <a:effectLst/>
        </p:spPr>
        <p:txBody>
          <a:bodyPr anchor="ctr"/>
          <a:lstStyle/>
          <a:p>
            <a:pPr algn="ctr"/>
            <a:r>
              <a:rPr lang="es-PE" sz="1100" dirty="0">
                <a:solidFill>
                  <a:srgbClr val="000000"/>
                </a:solidFill>
              </a:rPr>
              <a:t>S/. 127,500.00</a:t>
            </a:r>
            <a:endParaRPr lang="es-ES" sz="1100" dirty="0">
              <a:solidFill>
                <a:srgbClr val="000000"/>
              </a:solidFill>
            </a:endParaRPr>
          </a:p>
        </p:txBody>
      </p:sp>
      <p:sp>
        <p:nvSpPr>
          <p:cNvPr id="86" name="Rounded Rectangle 85"/>
          <p:cNvSpPr/>
          <p:nvPr/>
        </p:nvSpPr>
        <p:spPr>
          <a:xfrm>
            <a:off x="891084" y="4022329"/>
            <a:ext cx="1920240" cy="170094"/>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Impacto Peor Escenario</a:t>
            </a:r>
          </a:p>
        </p:txBody>
      </p:sp>
      <p:sp>
        <p:nvSpPr>
          <p:cNvPr id="87" name="Rectangle 18"/>
          <p:cNvSpPr>
            <a:spLocks noChangeArrowheads="1"/>
          </p:cNvSpPr>
          <p:nvPr/>
        </p:nvSpPr>
        <p:spPr bwMode="auto">
          <a:xfrm>
            <a:off x="2859920" y="4022329"/>
            <a:ext cx="1554480" cy="170094"/>
          </a:xfrm>
          <a:prstGeom prst="rect">
            <a:avLst/>
          </a:prstGeom>
          <a:solidFill>
            <a:schemeClr val="bg1"/>
          </a:solidFill>
          <a:ln w="9525" algn="ctr">
            <a:solidFill>
              <a:schemeClr val="bg2"/>
            </a:solidFill>
            <a:miter lim="800000"/>
            <a:headEnd/>
            <a:tailEnd/>
          </a:ln>
          <a:effectLst/>
        </p:spPr>
        <p:txBody>
          <a:bodyPr anchor="ctr"/>
          <a:lstStyle/>
          <a:p>
            <a:pPr algn="ctr"/>
            <a:r>
              <a:rPr lang="es-PE" sz="1100" dirty="0">
                <a:solidFill>
                  <a:srgbClr val="000000"/>
                </a:solidFill>
              </a:rPr>
              <a:t>S/. 5</a:t>
            </a:r>
            <a:r>
              <a:rPr lang="es-ES" sz="1100" dirty="0"/>
              <a:t>10,500.00</a:t>
            </a:r>
            <a:endParaRPr lang="es-ES" sz="1100" dirty="0">
              <a:solidFill>
                <a:srgbClr val="000000"/>
              </a:solidFill>
            </a:endParaRPr>
          </a:p>
        </p:txBody>
      </p:sp>
      <p:sp>
        <p:nvSpPr>
          <p:cNvPr id="88" name="AutoShape 47"/>
          <p:cNvSpPr>
            <a:spLocks noChangeAspect="1" noChangeArrowheads="1"/>
          </p:cNvSpPr>
          <p:nvPr/>
        </p:nvSpPr>
        <p:spPr bwMode="blackWhite">
          <a:xfrm>
            <a:off x="263032" y="3485637"/>
            <a:ext cx="503986" cy="1274400"/>
          </a:xfrm>
          <a:prstGeom prst="rightArrow">
            <a:avLst>
              <a:gd name="adj1" fmla="val 100000"/>
              <a:gd name="adj2" fmla="val 11009"/>
            </a:avLst>
          </a:prstGeom>
          <a:solidFill>
            <a:srgbClr val="969696"/>
          </a:solidFill>
          <a:ln w="12700">
            <a:noFill/>
            <a:miter lim="800000"/>
            <a:headEnd/>
            <a:tailEnd/>
          </a:ln>
          <a:effectLst>
            <a:outerShdw dist="35921" dir="2700000" algn="ctr" rotWithShape="0">
              <a:schemeClr val="bg2"/>
            </a:outerShdw>
          </a:effectLst>
        </p:spPr>
        <p:txBody>
          <a:bodyPr vert="vert270" anchor="ctr"/>
          <a:lstStyle/>
          <a:p>
            <a:pPr algn="ctr">
              <a:lnSpc>
                <a:spcPts val="1000"/>
              </a:lnSpc>
            </a:pPr>
            <a:r>
              <a:rPr lang="es-ES" sz="1100" b="1" noProof="1">
                <a:solidFill>
                  <a:srgbClr val="FFFFFF"/>
                </a:solidFill>
                <a:cs typeface="Arial" charset="0"/>
              </a:rPr>
              <a:t>Evaluación Riesgo Operacional</a:t>
            </a:r>
          </a:p>
        </p:txBody>
      </p:sp>
      <p:sp>
        <p:nvSpPr>
          <p:cNvPr id="89" name="Text Box 30"/>
          <p:cNvSpPr txBox="1">
            <a:spLocks noChangeArrowheads="1"/>
          </p:cNvSpPr>
          <p:nvPr/>
        </p:nvSpPr>
        <p:spPr bwMode="auto">
          <a:xfrm>
            <a:off x="190746" y="4841640"/>
            <a:ext cx="3996000" cy="276999"/>
          </a:xfrm>
          <a:prstGeom prst="rect">
            <a:avLst/>
          </a:prstGeom>
          <a:noFill/>
          <a:ln w="9525" algn="ctr">
            <a:noFill/>
            <a:miter lim="800000"/>
            <a:headEnd/>
            <a:tailEnd/>
          </a:ln>
          <a:effectLst/>
        </p:spPr>
        <p:txBody>
          <a:bodyPr wrap="square">
            <a:spAutoFit/>
          </a:bodyPr>
          <a:lstStyle/>
          <a:p>
            <a:pPr>
              <a:spcBef>
                <a:spcPct val="50000"/>
              </a:spcBef>
            </a:pPr>
            <a:r>
              <a:rPr lang="es-CL" sz="1200" b="1" i="1" dirty="0">
                <a:solidFill>
                  <a:srgbClr val="A3A3E0"/>
                </a:solidFill>
              </a:rPr>
              <a:t>Resultados valoración de controles / factores mitigantes</a:t>
            </a:r>
            <a:endParaRPr lang="es-ES" sz="1200" b="1" i="1" dirty="0">
              <a:solidFill>
                <a:srgbClr val="A3A3E0"/>
              </a:solidFill>
            </a:endParaRPr>
          </a:p>
        </p:txBody>
      </p:sp>
      <p:sp>
        <p:nvSpPr>
          <p:cNvPr id="90" name="AutoShape 179"/>
          <p:cNvSpPr>
            <a:spLocks noChangeArrowheads="1"/>
          </p:cNvSpPr>
          <p:nvPr/>
        </p:nvSpPr>
        <p:spPr bwMode="auto">
          <a:xfrm>
            <a:off x="534831" y="5064121"/>
            <a:ext cx="4037169" cy="864000"/>
          </a:xfrm>
          <a:prstGeom prst="roundRect">
            <a:avLst>
              <a:gd name="adj" fmla="val 9481"/>
            </a:avLst>
          </a:prstGeom>
          <a:solidFill>
            <a:schemeClr val="accent1">
              <a:lumMod val="20000"/>
              <a:lumOff val="80000"/>
            </a:schemeClr>
          </a:solidFill>
          <a:ln w="9525" algn="ctr">
            <a:noFill/>
            <a:round/>
            <a:headEnd/>
            <a:tailEnd/>
          </a:ln>
          <a:effectLst/>
        </p:spPr>
        <p:txBody>
          <a:bodyPr wrap="none" anchor="ctr"/>
          <a:lstStyle/>
          <a:p>
            <a:endParaRPr lang="es-CL">
              <a:solidFill>
                <a:srgbClr val="002060"/>
              </a:solidFill>
            </a:endParaRPr>
          </a:p>
        </p:txBody>
      </p:sp>
      <p:sp>
        <p:nvSpPr>
          <p:cNvPr id="91" name="AutoShape 47"/>
          <p:cNvSpPr>
            <a:spLocks noChangeArrowheads="1"/>
          </p:cNvSpPr>
          <p:nvPr/>
        </p:nvSpPr>
        <p:spPr bwMode="blackWhite">
          <a:xfrm>
            <a:off x="281304" y="5065623"/>
            <a:ext cx="353942" cy="864000"/>
          </a:xfrm>
          <a:prstGeom prst="rightArrow">
            <a:avLst>
              <a:gd name="adj1" fmla="val 100000"/>
              <a:gd name="adj2" fmla="val 11009"/>
            </a:avLst>
          </a:prstGeom>
          <a:solidFill>
            <a:srgbClr val="969696"/>
          </a:solidFill>
          <a:ln w="12700">
            <a:noFill/>
            <a:miter lim="800000"/>
            <a:headEnd/>
            <a:tailEnd/>
          </a:ln>
          <a:effectLst>
            <a:outerShdw dist="35921" dir="2700000" algn="ctr" rotWithShape="0">
              <a:schemeClr val="bg2"/>
            </a:outerShdw>
          </a:effectLst>
        </p:spPr>
        <p:txBody>
          <a:bodyPr vert="vert270" anchor="ctr"/>
          <a:lstStyle/>
          <a:p>
            <a:pPr algn="ctr">
              <a:lnSpc>
                <a:spcPts val="1000"/>
              </a:lnSpc>
            </a:pPr>
            <a:r>
              <a:rPr lang="es-ES" sz="1100" b="1" noProof="1">
                <a:solidFill>
                  <a:srgbClr val="FFFFFF"/>
                </a:solidFill>
                <a:cs typeface="Arial" charset="0"/>
              </a:rPr>
              <a:t>Evaluación de Controles</a:t>
            </a:r>
          </a:p>
        </p:txBody>
      </p:sp>
      <p:sp>
        <p:nvSpPr>
          <p:cNvPr id="92" name="Rectangle 18"/>
          <p:cNvSpPr>
            <a:spLocks noChangeArrowheads="1"/>
          </p:cNvSpPr>
          <p:nvPr/>
        </p:nvSpPr>
        <p:spPr bwMode="auto">
          <a:xfrm>
            <a:off x="3937102" y="5139388"/>
            <a:ext cx="548640" cy="170094"/>
          </a:xfrm>
          <a:prstGeom prst="rect">
            <a:avLst/>
          </a:prstGeom>
          <a:solidFill>
            <a:schemeClr val="bg1"/>
          </a:solidFill>
          <a:ln w="9525" algn="ctr">
            <a:solidFill>
              <a:schemeClr val="bg2"/>
            </a:solidFill>
            <a:miter lim="800000"/>
            <a:headEnd/>
            <a:tailEnd/>
          </a:ln>
          <a:effectLst/>
        </p:spPr>
        <p:txBody>
          <a:bodyPr anchor="ctr"/>
          <a:lstStyle/>
          <a:p>
            <a:pPr algn="ctr"/>
            <a:r>
              <a:rPr lang="es-ES" sz="1100" dirty="0">
                <a:solidFill>
                  <a:srgbClr val="002060"/>
                </a:solidFill>
              </a:rPr>
              <a:t>1</a:t>
            </a:r>
          </a:p>
        </p:txBody>
      </p:sp>
      <p:sp>
        <p:nvSpPr>
          <p:cNvPr id="93" name="Rounded Rectangle 38"/>
          <p:cNvSpPr/>
          <p:nvPr/>
        </p:nvSpPr>
        <p:spPr>
          <a:xfrm>
            <a:off x="705742" y="5139388"/>
            <a:ext cx="3132000" cy="170094"/>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Controles asociados al riesgo</a:t>
            </a:r>
          </a:p>
        </p:txBody>
      </p:sp>
      <p:sp>
        <p:nvSpPr>
          <p:cNvPr id="94" name="Rectangle 18"/>
          <p:cNvSpPr>
            <a:spLocks noChangeArrowheads="1"/>
          </p:cNvSpPr>
          <p:nvPr/>
        </p:nvSpPr>
        <p:spPr bwMode="auto">
          <a:xfrm>
            <a:off x="705742" y="5360396"/>
            <a:ext cx="3780000" cy="469509"/>
          </a:xfrm>
          <a:prstGeom prst="rect">
            <a:avLst/>
          </a:prstGeom>
          <a:solidFill>
            <a:schemeClr val="bg1"/>
          </a:solidFill>
          <a:ln w="9525" algn="ctr">
            <a:solidFill>
              <a:schemeClr val="bg2"/>
            </a:solidFill>
            <a:miter lim="800000"/>
            <a:headEnd/>
            <a:tailEnd/>
          </a:ln>
          <a:effectLst/>
        </p:spPr>
        <p:txBody>
          <a:bodyPr anchor="ctr"/>
          <a:lstStyle/>
          <a:p>
            <a:r>
              <a:rPr lang="es-ES" sz="1100" dirty="0">
                <a:solidFill>
                  <a:srgbClr val="000000"/>
                </a:solidFill>
              </a:rPr>
              <a:t>(NF) Existencia de un Control de Calidad en el PRO- Emisión que hace una revisión de las condiciones contratadas.</a:t>
            </a:r>
          </a:p>
        </p:txBody>
      </p:sp>
      <p:sp>
        <p:nvSpPr>
          <p:cNvPr id="97" name="Rounded Rectangle 14"/>
          <p:cNvSpPr/>
          <p:nvPr/>
        </p:nvSpPr>
        <p:spPr>
          <a:xfrm>
            <a:off x="6716066" y="2817311"/>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Origen del Riesgo</a:t>
            </a:r>
          </a:p>
        </p:txBody>
      </p:sp>
      <p:sp>
        <p:nvSpPr>
          <p:cNvPr id="98" name="Rectangle 18"/>
          <p:cNvSpPr>
            <a:spLocks noChangeArrowheads="1"/>
          </p:cNvSpPr>
          <p:nvPr/>
        </p:nvSpPr>
        <p:spPr bwMode="auto">
          <a:xfrm>
            <a:off x="6716066" y="3032576"/>
            <a:ext cx="2286000" cy="270000"/>
          </a:xfrm>
          <a:prstGeom prst="rect">
            <a:avLst/>
          </a:prstGeom>
          <a:noFill/>
          <a:ln w="9525" algn="ctr">
            <a:solidFill>
              <a:schemeClr val="bg2"/>
            </a:solidFill>
            <a:miter lim="800000"/>
            <a:headEnd/>
            <a:tailEnd/>
          </a:ln>
          <a:effectLst/>
        </p:spPr>
        <p:txBody>
          <a:bodyPr anchor="ctr"/>
          <a:lstStyle/>
          <a:p>
            <a:r>
              <a:rPr lang="es-ES" sz="1100" dirty="0">
                <a:solidFill>
                  <a:srgbClr val="000000"/>
                </a:solidFill>
              </a:rPr>
              <a:t>Personas</a:t>
            </a:r>
          </a:p>
        </p:txBody>
      </p:sp>
      <p:sp>
        <p:nvSpPr>
          <p:cNvPr id="73" name="TextBox 72"/>
          <p:cNvSpPr txBox="1"/>
          <p:nvPr/>
        </p:nvSpPr>
        <p:spPr>
          <a:xfrm>
            <a:off x="705742" y="5928012"/>
            <a:ext cx="1819944" cy="261610"/>
          </a:xfrm>
          <a:prstGeom prst="rect">
            <a:avLst/>
          </a:prstGeom>
          <a:noFill/>
        </p:spPr>
        <p:txBody>
          <a:bodyPr wrap="square" rtlCol="0">
            <a:spAutoFit/>
          </a:bodyPr>
          <a:lstStyle/>
          <a:p>
            <a:r>
              <a:rPr lang="es-ES" sz="1100" dirty="0"/>
              <a:t>(NF): No Formalizado</a:t>
            </a: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dirty="0"/>
              <a:t>Anexo: Ficha Individual Riesgos Operacionales</a:t>
            </a:r>
          </a:p>
        </p:txBody>
      </p:sp>
      <p:sp>
        <p:nvSpPr>
          <p:cNvPr id="4" name="Rounded Rectangle 3"/>
          <p:cNvSpPr/>
          <p:nvPr/>
        </p:nvSpPr>
        <p:spPr>
          <a:xfrm>
            <a:off x="227770" y="764704"/>
            <a:ext cx="360040" cy="274320"/>
          </a:xfrm>
          <a:prstGeom prst="roundRect">
            <a:avLst/>
          </a:prstGeom>
          <a:solidFill>
            <a:srgbClr val="DB0613"/>
          </a:solidFill>
          <a:ln w="9525" algn="ctr">
            <a:noFill/>
            <a:miter lim="800000"/>
            <a:headEnd/>
            <a:tailEnd/>
          </a:ln>
          <a:effectLst/>
        </p:spPr>
        <p:txBody>
          <a:bodyPr anchor="ctr"/>
          <a:lstStyle/>
          <a:p>
            <a:pPr algn="ctr">
              <a:lnSpc>
                <a:spcPct val="80000"/>
              </a:lnSpc>
            </a:pPr>
            <a:r>
              <a:rPr lang="es-CL" sz="1200" b="1" dirty="0">
                <a:solidFill>
                  <a:srgbClr val="FFFFFF"/>
                </a:solidFill>
                <a:cs typeface="Arial" pitchFamily="34" charset="0"/>
              </a:rPr>
              <a:t>4</a:t>
            </a:r>
          </a:p>
        </p:txBody>
      </p:sp>
      <p:sp>
        <p:nvSpPr>
          <p:cNvPr id="5" name="Rectangle 18"/>
          <p:cNvSpPr>
            <a:spLocks noChangeArrowheads="1"/>
          </p:cNvSpPr>
          <p:nvPr/>
        </p:nvSpPr>
        <p:spPr bwMode="auto">
          <a:xfrm>
            <a:off x="227770" y="2548229"/>
            <a:ext cx="6400800" cy="708660"/>
          </a:xfrm>
          <a:prstGeom prst="rect">
            <a:avLst/>
          </a:prstGeom>
          <a:noFill/>
          <a:ln w="9525" algn="ctr">
            <a:solidFill>
              <a:schemeClr val="bg2"/>
            </a:solidFill>
            <a:miter lim="800000"/>
            <a:headEnd/>
            <a:tailEnd/>
          </a:ln>
          <a:effectLst/>
        </p:spPr>
        <p:txBody>
          <a:bodyPr/>
          <a:lstStyle/>
          <a:p>
            <a:r>
              <a:rPr lang="es-ES" sz="1100" dirty="0"/>
              <a:t>Esta situación se da  cuando el subgerente de vehículos / Suscriptor  no se encuentra disponible  para el análisis  y aprobación final de las cotizaciones lo que puede provocar un retraso en la emisión/formalización  de la póliza .</a:t>
            </a:r>
          </a:p>
        </p:txBody>
      </p:sp>
      <p:sp>
        <p:nvSpPr>
          <p:cNvPr id="8" name="Rounded Rectangle 7"/>
          <p:cNvSpPr/>
          <p:nvPr/>
        </p:nvSpPr>
        <p:spPr>
          <a:xfrm>
            <a:off x="652842" y="764704"/>
            <a:ext cx="8321040" cy="274320"/>
          </a:xfrm>
          <a:prstGeom prst="roundRect">
            <a:avLst/>
          </a:prstGeom>
          <a:solidFill>
            <a:srgbClr val="DB0613"/>
          </a:solidFill>
          <a:ln w="9525" algn="ctr">
            <a:noFill/>
            <a:miter lim="800000"/>
            <a:headEnd/>
            <a:tailEnd/>
          </a:ln>
          <a:effectLst/>
        </p:spPr>
        <p:txBody>
          <a:bodyPr anchor="ctr"/>
          <a:lstStyle/>
          <a:p>
            <a:pPr>
              <a:lnSpc>
                <a:spcPct val="80000"/>
              </a:lnSpc>
            </a:pPr>
            <a:r>
              <a:rPr lang="es-ES" sz="1200" dirty="0">
                <a:solidFill>
                  <a:schemeClr val="bg1"/>
                </a:solidFill>
              </a:rPr>
              <a:t>Riesgos de que no se den los vistos buenos necesarios para la suscripción de las pólizas.</a:t>
            </a:r>
          </a:p>
        </p:txBody>
      </p:sp>
      <p:sp>
        <p:nvSpPr>
          <p:cNvPr id="9" name="Rounded Rectangle 8"/>
          <p:cNvSpPr/>
          <p:nvPr/>
        </p:nvSpPr>
        <p:spPr>
          <a:xfrm>
            <a:off x="227770" y="2307916"/>
            <a:ext cx="64008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Descripción</a:t>
            </a:r>
          </a:p>
        </p:txBody>
      </p:sp>
      <p:sp>
        <p:nvSpPr>
          <p:cNvPr id="17" name="Rounded Rectangle 16"/>
          <p:cNvSpPr/>
          <p:nvPr/>
        </p:nvSpPr>
        <p:spPr>
          <a:xfrm>
            <a:off x="216583" y="1110038"/>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Macroproceso</a:t>
            </a:r>
          </a:p>
        </p:txBody>
      </p:sp>
      <p:sp>
        <p:nvSpPr>
          <p:cNvPr id="18" name="Rectangle 18"/>
          <p:cNvSpPr>
            <a:spLocks noChangeArrowheads="1"/>
          </p:cNvSpPr>
          <p:nvPr/>
        </p:nvSpPr>
        <p:spPr bwMode="auto">
          <a:xfrm>
            <a:off x="2568409" y="1110038"/>
            <a:ext cx="3877200" cy="182880"/>
          </a:xfrm>
          <a:prstGeom prst="rect">
            <a:avLst/>
          </a:prstGeom>
          <a:noFill/>
          <a:ln w="9525" algn="ctr">
            <a:solidFill>
              <a:schemeClr val="bg2"/>
            </a:solidFill>
            <a:miter lim="800000"/>
            <a:headEnd/>
            <a:tailEnd/>
          </a:ln>
          <a:effectLst/>
        </p:spPr>
        <p:txBody>
          <a:bodyPr anchor="ctr"/>
          <a:lstStyle/>
          <a:p>
            <a:r>
              <a:rPr lang="es-ES" sz="1100" dirty="0"/>
              <a:t>Generación de Negocio</a:t>
            </a:r>
            <a:endParaRPr lang="es-ES" sz="1100" dirty="0">
              <a:solidFill>
                <a:srgbClr val="000000"/>
              </a:solidFill>
            </a:endParaRPr>
          </a:p>
        </p:txBody>
      </p:sp>
      <p:sp>
        <p:nvSpPr>
          <p:cNvPr id="19" name="Rounded Rectangle 18"/>
          <p:cNvSpPr/>
          <p:nvPr/>
        </p:nvSpPr>
        <p:spPr>
          <a:xfrm>
            <a:off x="216583" y="1339045"/>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Proceso</a:t>
            </a:r>
          </a:p>
        </p:txBody>
      </p:sp>
      <p:sp>
        <p:nvSpPr>
          <p:cNvPr id="20" name="Rectangle 18"/>
          <p:cNvSpPr>
            <a:spLocks noChangeArrowheads="1"/>
          </p:cNvSpPr>
          <p:nvPr/>
        </p:nvSpPr>
        <p:spPr bwMode="auto">
          <a:xfrm>
            <a:off x="2568409" y="1339045"/>
            <a:ext cx="3877200" cy="182880"/>
          </a:xfrm>
          <a:prstGeom prst="rect">
            <a:avLst/>
          </a:prstGeom>
          <a:noFill/>
          <a:ln w="9525" algn="ctr">
            <a:solidFill>
              <a:schemeClr val="bg2"/>
            </a:solidFill>
            <a:miter lim="800000"/>
            <a:headEnd/>
            <a:tailEnd/>
          </a:ln>
          <a:effectLst/>
        </p:spPr>
        <p:txBody>
          <a:bodyPr anchor="ctr"/>
          <a:lstStyle/>
          <a:p>
            <a:r>
              <a:rPr lang="es-ES" sz="1100" dirty="0"/>
              <a:t>Suscripción</a:t>
            </a:r>
            <a:endParaRPr lang="es-ES" sz="1100" dirty="0">
              <a:solidFill>
                <a:srgbClr val="000000"/>
              </a:solidFill>
            </a:endParaRPr>
          </a:p>
        </p:txBody>
      </p:sp>
      <p:sp>
        <p:nvSpPr>
          <p:cNvPr id="59" name="Rounded Rectangle 58"/>
          <p:cNvSpPr/>
          <p:nvPr/>
        </p:nvSpPr>
        <p:spPr>
          <a:xfrm>
            <a:off x="216583" y="1579694"/>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Subproceso</a:t>
            </a:r>
          </a:p>
        </p:txBody>
      </p:sp>
      <p:sp>
        <p:nvSpPr>
          <p:cNvPr id="60" name="Rectangle 18"/>
          <p:cNvSpPr>
            <a:spLocks noChangeArrowheads="1"/>
          </p:cNvSpPr>
          <p:nvPr/>
        </p:nvSpPr>
        <p:spPr bwMode="auto">
          <a:xfrm>
            <a:off x="2568409" y="1579694"/>
            <a:ext cx="3875799" cy="182880"/>
          </a:xfrm>
          <a:prstGeom prst="rect">
            <a:avLst/>
          </a:prstGeom>
          <a:noFill/>
          <a:ln w="9525" algn="ctr">
            <a:solidFill>
              <a:schemeClr val="bg2"/>
            </a:solidFill>
            <a:miter lim="800000"/>
            <a:headEnd/>
            <a:tailEnd/>
          </a:ln>
          <a:effectLst/>
        </p:spPr>
        <p:txBody>
          <a:bodyPr anchor="ctr"/>
          <a:lstStyle/>
          <a:p>
            <a:r>
              <a:rPr lang="es-ES" sz="1100" dirty="0"/>
              <a:t>Cotización Fuera de Políticas</a:t>
            </a:r>
            <a:endParaRPr lang="es-ES" sz="1100" dirty="0">
              <a:solidFill>
                <a:srgbClr val="000000"/>
              </a:solidFill>
            </a:endParaRPr>
          </a:p>
        </p:txBody>
      </p:sp>
      <p:sp>
        <p:nvSpPr>
          <p:cNvPr id="61" name="Rounded Rectangle 60"/>
          <p:cNvSpPr/>
          <p:nvPr/>
        </p:nvSpPr>
        <p:spPr>
          <a:xfrm>
            <a:off x="226806" y="1826440"/>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Línea de Negocio</a:t>
            </a:r>
          </a:p>
        </p:txBody>
      </p:sp>
      <p:sp>
        <p:nvSpPr>
          <p:cNvPr id="63" name="Rounded Rectangle 62"/>
          <p:cNvSpPr/>
          <p:nvPr/>
        </p:nvSpPr>
        <p:spPr>
          <a:xfrm>
            <a:off x="226806" y="2079535"/>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Responsable</a:t>
            </a:r>
          </a:p>
        </p:txBody>
      </p:sp>
      <p:sp>
        <p:nvSpPr>
          <p:cNvPr id="65" name="Rectangle 18"/>
          <p:cNvSpPr>
            <a:spLocks noChangeArrowheads="1"/>
          </p:cNvSpPr>
          <p:nvPr/>
        </p:nvSpPr>
        <p:spPr bwMode="auto">
          <a:xfrm>
            <a:off x="2568409" y="1826440"/>
            <a:ext cx="3875799" cy="182880"/>
          </a:xfrm>
          <a:prstGeom prst="rect">
            <a:avLst/>
          </a:prstGeom>
          <a:noFill/>
          <a:ln w="9525" algn="ctr">
            <a:solidFill>
              <a:schemeClr val="bg2"/>
            </a:solidFill>
            <a:miter lim="800000"/>
            <a:headEnd/>
            <a:tailEnd/>
          </a:ln>
          <a:effectLst/>
        </p:spPr>
        <p:txBody>
          <a:bodyPr anchor="ctr"/>
          <a:lstStyle/>
          <a:p>
            <a:r>
              <a:rPr lang="es-ES" sz="1100" dirty="0">
                <a:solidFill>
                  <a:srgbClr val="000000"/>
                </a:solidFill>
              </a:rPr>
              <a:t>Vehículos</a:t>
            </a:r>
          </a:p>
        </p:txBody>
      </p:sp>
      <p:sp>
        <p:nvSpPr>
          <p:cNvPr id="66" name="Rectangle 18"/>
          <p:cNvSpPr>
            <a:spLocks noChangeArrowheads="1"/>
          </p:cNvSpPr>
          <p:nvPr/>
        </p:nvSpPr>
        <p:spPr bwMode="auto">
          <a:xfrm>
            <a:off x="2555776" y="2079535"/>
            <a:ext cx="3875799" cy="182880"/>
          </a:xfrm>
          <a:prstGeom prst="rect">
            <a:avLst/>
          </a:prstGeom>
          <a:noFill/>
          <a:ln w="9525" algn="ctr">
            <a:solidFill>
              <a:schemeClr val="bg2"/>
            </a:solidFill>
            <a:miter lim="800000"/>
            <a:headEnd/>
            <a:tailEnd/>
          </a:ln>
          <a:effectLst/>
        </p:spPr>
        <p:txBody>
          <a:bodyPr anchor="ctr"/>
          <a:lstStyle/>
          <a:p>
            <a:r>
              <a:rPr lang="es-ES" sz="1100" dirty="0">
                <a:solidFill>
                  <a:srgbClr val="000000"/>
                </a:solidFill>
              </a:rPr>
              <a:t>Suscriptor</a:t>
            </a:r>
          </a:p>
        </p:txBody>
      </p:sp>
      <p:sp>
        <p:nvSpPr>
          <p:cNvPr id="58" name="AutoShape 179"/>
          <p:cNvSpPr>
            <a:spLocks noChangeArrowheads="1"/>
          </p:cNvSpPr>
          <p:nvPr/>
        </p:nvSpPr>
        <p:spPr bwMode="auto">
          <a:xfrm>
            <a:off x="611560" y="3482416"/>
            <a:ext cx="3960812" cy="1275707"/>
          </a:xfrm>
          <a:prstGeom prst="roundRect">
            <a:avLst>
              <a:gd name="adj" fmla="val 9481"/>
            </a:avLst>
          </a:prstGeom>
          <a:solidFill>
            <a:schemeClr val="accent1">
              <a:lumMod val="20000"/>
              <a:lumOff val="80000"/>
            </a:schemeClr>
          </a:solidFill>
          <a:ln w="9525" algn="ctr">
            <a:noFill/>
            <a:round/>
            <a:headEnd/>
            <a:tailEnd/>
          </a:ln>
          <a:effectLst/>
        </p:spPr>
        <p:txBody>
          <a:bodyPr wrap="none" anchor="ctr"/>
          <a:lstStyle/>
          <a:p>
            <a:endParaRPr lang="es-CL">
              <a:solidFill>
                <a:srgbClr val="002060"/>
              </a:solidFill>
            </a:endParaRPr>
          </a:p>
        </p:txBody>
      </p:sp>
      <p:sp>
        <p:nvSpPr>
          <p:cNvPr id="62" name="Text Box 30"/>
          <p:cNvSpPr txBox="1">
            <a:spLocks noChangeArrowheads="1"/>
          </p:cNvSpPr>
          <p:nvPr/>
        </p:nvSpPr>
        <p:spPr bwMode="auto">
          <a:xfrm>
            <a:off x="190747" y="3259373"/>
            <a:ext cx="3671888" cy="276999"/>
          </a:xfrm>
          <a:prstGeom prst="rect">
            <a:avLst/>
          </a:prstGeom>
          <a:noFill/>
          <a:ln w="9525" algn="ctr">
            <a:noFill/>
            <a:miter lim="800000"/>
            <a:headEnd/>
            <a:tailEnd/>
          </a:ln>
          <a:effectLst/>
        </p:spPr>
        <p:txBody>
          <a:bodyPr>
            <a:spAutoFit/>
          </a:bodyPr>
          <a:lstStyle/>
          <a:p>
            <a:pPr>
              <a:spcBef>
                <a:spcPct val="50000"/>
              </a:spcBef>
            </a:pPr>
            <a:r>
              <a:rPr lang="es-CL" sz="1200" b="1" i="1" dirty="0">
                <a:solidFill>
                  <a:srgbClr val="A3A3E0"/>
                </a:solidFill>
              </a:rPr>
              <a:t>Resultados valoración de riesgos</a:t>
            </a:r>
            <a:endParaRPr lang="es-ES" sz="1200" b="1" i="1" dirty="0">
              <a:solidFill>
                <a:srgbClr val="A3A3E0"/>
              </a:solidFill>
            </a:endParaRPr>
          </a:p>
        </p:txBody>
      </p:sp>
      <p:sp>
        <p:nvSpPr>
          <p:cNvPr id="64" name="Rounded Rectangle 21"/>
          <p:cNvSpPr/>
          <p:nvPr/>
        </p:nvSpPr>
        <p:spPr>
          <a:xfrm>
            <a:off x="902959" y="4255955"/>
            <a:ext cx="1920240" cy="170094"/>
          </a:xfrm>
          <a:prstGeom prst="roundRect">
            <a:avLst/>
          </a:prstGeom>
          <a:solidFill>
            <a:srgbClr val="DB0613"/>
          </a:solidFill>
          <a:ln w="9525" algn="ctr">
            <a:noFill/>
            <a:miter lim="800000"/>
            <a:headEnd/>
            <a:tailEnd/>
          </a:ln>
          <a:effectLst/>
        </p:spPr>
        <p:txBody>
          <a:bodyPr tIns="91440" anchor="ctr"/>
          <a:lstStyle/>
          <a:p>
            <a:pPr>
              <a:lnSpc>
                <a:spcPct val="80000"/>
              </a:lnSpc>
            </a:pPr>
            <a:r>
              <a:rPr lang="es-CL" sz="1100" b="1" dirty="0">
                <a:solidFill>
                  <a:srgbClr val="FFFFFF"/>
                </a:solidFill>
                <a:cs typeface="Arial" pitchFamily="34" charset="0"/>
              </a:rPr>
              <a:t>Pérdida Esperada Anual</a:t>
            </a:r>
          </a:p>
        </p:txBody>
      </p:sp>
      <p:sp>
        <p:nvSpPr>
          <p:cNvPr id="67" name="Rectangle 18"/>
          <p:cNvSpPr>
            <a:spLocks noChangeArrowheads="1"/>
          </p:cNvSpPr>
          <p:nvPr/>
        </p:nvSpPr>
        <p:spPr bwMode="auto">
          <a:xfrm>
            <a:off x="2859920" y="4255955"/>
            <a:ext cx="1554480" cy="170094"/>
          </a:xfrm>
          <a:prstGeom prst="rect">
            <a:avLst/>
          </a:prstGeom>
          <a:solidFill>
            <a:schemeClr val="bg1"/>
          </a:solidFill>
          <a:ln w="9525" algn="ctr">
            <a:solidFill>
              <a:schemeClr val="bg2"/>
            </a:solidFill>
            <a:miter lim="800000"/>
            <a:headEnd/>
            <a:tailEnd/>
          </a:ln>
          <a:effectLst/>
        </p:spPr>
        <p:txBody>
          <a:bodyPr anchor="ctr"/>
          <a:lstStyle/>
          <a:p>
            <a:pPr algn="ctr"/>
            <a:r>
              <a:rPr lang="es-PE" sz="1100" dirty="0">
                <a:solidFill>
                  <a:srgbClr val="000000"/>
                </a:solidFill>
              </a:rPr>
              <a:t>s/. 1,224.00</a:t>
            </a:r>
            <a:endParaRPr lang="es-ES" sz="1100" dirty="0">
              <a:solidFill>
                <a:srgbClr val="000000"/>
              </a:solidFill>
            </a:endParaRPr>
          </a:p>
        </p:txBody>
      </p:sp>
      <p:sp>
        <p:nvSpPr>
          <p:cNvPr id="68" name="Rounded Rectangle 23"/>
          <p:cNvSpPr/>
          <p:nvPr/>
        </p:nvSpPr>
        <p:spPr>
          <a:xfrm>
            <a:off x="902959" y="4485567"/>
            <a:ext cx="1920240" cy="170094"/>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VaR Cualitativo Anual</a:t>
            </a:r>
          </a:p>
        </p:txBody>
      </p:sp>
      <p:sp>
        <p:nvSpPr>
          <p:cNvPr id="69" name="Rectangle 18"/>
          <p:cNvSpPr>
            <a:spLocks noChangeArrowheads="1"/>
          </p:cNvSpPr>
          <p:nvPr/>
        </p:nvSpPr>
        <p:spPr bwMode="auto">
          <a:xfrm>
            <a:off x="2859920" y="4485567"/>
            <a:ext cx="1554480" cy="170094"/>
          </a:xfrm>
          <a:prstGeom prst="rect">
            <a:avLst/>
          </a:prstGeom>
          <a:solidFill>
            <a:schemeClr val="bg1"/>
          </a:solidFill>
          <a:ln w="9525" algn="ctr">
            <a:solidFill>
              <a:schemeClr val="bg2"/>
            </a:solidFill>
            <a:miter lim="800000"/>
            <a:headEnd/>
            <a:tailEnd/>
          </a:ln>
          <a:effectLst/>
        </p:spPr>
        <p:txBody>
          <a:bodyPr anchor="ctr"/>
          <a:lstStyle/>
          <a:p>
            <a:pPr algn="ctr"/>
            <a:r>
              <a:rPr lang="es-PE" sz="1100" dirty="0">
                <a:solidFill>
                  <a:srgbClr val="000000"/>
                </a:solidFill>
              </a:rPr>
              <a:t>s/. 255,046.00</a:t>
            </a:r>
            <a:endParaRPr lang="es-ES" sz="1100" dirty="0">
              <a:solidFill>
                <a:srgbClr val="000000"/>
              </a:solidFill>
            </a:endParaRPr>
          </a:p>
        </p:txBody>
      </p:sp>
      <p:sp>
        <p:nvSpPr>
          <p:cNvPr id="70" name="Rounded Rectangle 25"/>
          <p:cNvSpPr/>
          <p:nvPr/>
        </p:nvSpPr>
        <p:spPr>
          <a:xfrm>
            <a:off x="891084" y="3553916"/>
            <a:ext cx="1920240" cy="170094"/>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Frecuencia  Evento Pérdida</a:t>
            </a:r>
          </a:p>
        </p:txBody>
      </p:sp>
      <p:sp>
        <p:nvSpPr>
          <p:cNvPr id="71" name="Rectangle 18"/>
          <p:cNvSpPr>
            <a:spLocks noChangeArrowheads="1"/>
          </p:cNvSpPr>
          <p:nvPr/>
        </p:nvSpPr>
        <p:spPr bwMode="auto">
          <a:xfrm>
            <a:off x="2859920" y="3553916"/>
            <a:ext cx="1554480" cy="170094"/>
          </a:xfrm>
          <a:prstGeom prst="rect">
            <a:avLst/>
          </a:prstGeom>
          <a:solidFill>
            <a:schemeClr val="bg1"/>
          </a:solidFill>
          <a:ln w="9525" algn="ctr">
            <a:solidFill>
              <a:schemeClr val="bg2"/>
            </a:solidFill>
            <a:miter lim="800000"/>
            <a:headEnd/>
            <a:tailEnd/>
          </a:ln>
          <a:effectLst/>
        </p:spPr>
        <p:txBody>
          <a:bodyPr anchor="ctr"/>
          <a:lstStyle/>
          <a:p>
            <a:pPr algn="ctr"/>
            <a:r>
              <a:rPr lang="es-PE" sz="1100" dirty="0">
                <a:solidFill>
                  <a:srgbClr val="000000"/>
                </a:solidFill>
              </a:rPr>
              <a:t>1 vez al siglo</a:t>
            </a:r>
            <a:endParaRPr lang="es-ES" sz="1100" dirty="0">
              <a:solidFill>
                <a:srgbClr val="000000"/>
              </a:solidFill>
            </a:endParaRPr>
          </a:p>
        </p:txBody>
      </p:sp>
      <p:sp>
        <p:nvSpPr>
          <p:cNvPr id="72" name="Rounded Rectangle 27"/>
          <p:cNvSpPr/>
          <p:nvPr/>
        </p:nvSpPr>
        <p:spPr>
          <a:xfrm>
            <a:off x="891084" y="3783528"/>
            <a:ext cx="1920240" cy="170094"/>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Impacto Medio Evento</a:t>
            </a:r>
          </a:p>
        </p:txBody>
      </p:sp>
      <p:sp>
        <p:nvSpPr>
          <p:cNvPr id="73" name="Rectangle 18"/>
          <p:cNvSpPr>
            <a:spLocks noChangeArrowheads="1"/>
          </p:cNvSpPr>
          <p:nvPr/>
        </p:nvSpPr>
        <p:spPr bwMode="auto">
          <a:xfrm>
            <a:off x="2859920" y="3783528"/>
            <a:ext cx="1554480" cy="170094"/>
          </a:xfrm>
          <a:prstGeom prst="rect">
            <a:avLst/>
          </a:prstGeom>
          <a:solidFill>
            <a:schemeClr val="bg1"/>
          </a:solidFill>
          <a:ln w="9525" algn="ctr">
            <a:solidFill>
              <a:schemeClr val="bg2"/>
            </a:solidFill>
            <a:miter lim="800000"/>
            <a:headEnd/>
            <a:tailEnd/>
          </a:ln>
          <a:effectLst/>
        </p:spPr>
        <p:txBody>
          <a:bodyPr anchor="ctr"/>
          <a:lstStyle/>
          <a:p>
            <a:pPr algn="ctr"/>
            <a:r>
              <a:rPr lang="es-PE" sz="1100" dirty="0">
                <a:solidFill>
                  <a:srgbClr val="000000"/>
                </a:solidFill>
              </a:rPr>
              <a:t>s/. 122,400.00</a:t>
            </a:r>
            <a:endParaRPr lang="es-ES" sz="1100" dirty="0">
              <a:solidFill>
                <a:srgbClr val="000000"/>
              </a:solidFill>
            </a:endParaRPr>
          </a:p>
        </p:txBody>
      </p:sp>
      <p:sp>
        <p:nvSpPr>
          <p:cNvPr id="74" name="Rounded Rectangle 29"/>
          <p:cNvSpPr/>
          <p:nvPr/>
        </p:nvSpPr>
        <p:spPr>
          <a:xfrm>
            <a:off x="891084" y="4019108"/>
            <a:ext cx="1920240" cy="170094"/>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Impacto Peor Escenario</a:t>
            </a:r>
          </a:p>
        </p:txBody>
      </p:sp>
      <p:sp>
        <p:nvSpPr>
          <p:cNvPr id="75" name="Rectangle 18"/>
          <p:cNvSpPr>
            <a:spLocks noChangeArrowheads="1"/>
          </p:cNvSpPr>
          <p:nvPr/>
        </p:nvSpPr>
        <p:spPr bwMode="auto">
          <a:xfrm>
            <a:off x="2859920" y="4019108"/>
            <a:ext cx="1554480" cy="170094"/>
          </a:xfrm>
          <a:prstGeom prst="rect">
            <a:avLst/>
          </a:prstGeom>
          <a:solidFill>
            <a:schemeClr val="bg1"/>
          </a:solidFill>
          <a:ln w="9525" algn="ctr">
            <a:solidFill>
              <a:schemeClr val="bg2"/>
            </a:solidFill>
            <a:miter lim="800000"/>
            <a:headEnd/>
            <a:tailEnd/>
          </a:ln>
          <a:effectLst/>
        </p:spPr>
        <p:txBody>
          <a:bodyPr anchor="ctr"/>
          <a:lstStyle/>
          <a:p>
            <a:pPr algn="ctr"/>
            <a:r>
              <a:rPr lang="es-PE" sz="1100" dirty="0">
                <a:solidFill>
                  <a:srgbClr val="000000"/>
                </a:solidFill>
              </a:rPr>
              <a:t>s/. 612,000.00</a:t>
            </a:r>
            <a:endParaRPr lang="es-ES" sz="1100" dirty="0">
              <a:solidFill>
                <a:srgbClr val="000000"/>
              </a:solidFill>
            </a:endParaRPr>
          </a:p>
        </p:txBody>
      </p:sp>
      <p:sp>
        <p:nvSpPr>
          <p:cNvPr id="76" name="AutoShape 47"/>
          <p:cNvSpPr>
            <a:spLocks noChangeAspect="1" noChangeArrowheads="1"/>
          </p:cNvSpPr>
          <p:nvPr/>
        </p:nvSpPr>
        <p:spPr bwMode="blackWhite">
          <a:xfrm>
            <a:off x="263032" y="3482416"/>
            <a:ext cx="503986" cy="1274400"/>
          </a:xfrm>
          <a:prstGeom prst="rightArrow">
            <a:avLst>
              <a:gd name="adj1" fmla="val 100000"/>
              <a:gd name="adj2" fmla="val 11009"/>
            </a:avLst>
          </a:prstGeom>
          <a:solidFill>
            <a:srgbClr val="969696"/>
          </a:solidFill>
          <a:ln w="12700">
            <a:noFill/>
            <a:miter lim="800000"/>
            <a:headEnd/>
            <a:tailEnd/>
          </a:ln>
          <a:effectLst>
            <a:outerShdw dist="35921" dir="2700000" algn="ctr" rotWithShape="0">
              <a:schemeClr val="bg2"/>
            </a:outerShdw>
          </a:effectLst>
        </p:spPr>
        <p:txBody>
          <a:bodyPr vert="vert270" anchor="ctr"/>
          <a:lstStyle/>
          <a:p>
            <a:pPr algn="ctr">
              <a:lnSpc>
                <a:spcPts val="1000"/>
              </a:lnSpc>
            </a:pPr>
            <a:r>
              <a:rPr lang="es-ES" sz="1100" b="1" noProof="1">
                <a:solidFill>
                  <a:srgbClr val="FFFFFF"/>
                </a:solidFill>
                <a:cs typeface="Arial" charset="0"/>
              </a:rPr>
              <a:t>Evaluación Riesgo Operacional</a:t>
            </a:r>
          </a:p>
        </p:txBody>
      </p:sp>
      <p:sp>
        <p:nvSpPr>
          <p:cNvPr id="77" name="AutoShape 179"/>
          <p:cNvSpPr>
            <a:spLocks noChangeArrowheads="1"/>
          </p:cNvSpPr>
          <p:nvPr/>
        </p:nvSpPr>
        <p:spPr bwMode="auto">
          <a:xfrm>
            <a:off x="4932039" y="3493021"/>
            <a:ext cx="4037169" cy="864000"/>
          </a:xfrm>
          <a:prstGeom prst="roundRect">
            <a:avLst>
              <a:gd name="adj" fmla="val 9481"/>
            </a:avLst>
          </a:prstGeom>
          <a:solidFill>
            <a:schemeClr val="accent1">
              <a:lumMod val="20000"/>
              <a:lumOff val="80000"/>
            </a:schemeClr>
          </a:solidFill>
          <a:ln w="9525" algn="ctr">
            <a:noFill/>
            <a:round/>
            <a:headEnd/>
            <a:tailEnd/>
          </a:ln>
          <a:effectLst/>
        </p:spPr>
        <p:txBody>
          <a:bodyPr wrap="none" anchor="ctr"/>
          <a:lstStyle/>
          <a:p>
            <a:endParaRPr lang="es-CL">
              <a:solidFill>
                <a:srgbClr val="002060"/>
              </a:solidFill>
            </a:endParaRPr>
          </a:p>
        </p:txBody>
      </p:sp>
      <p:sp>
        <p:nvSpPr>
          <p:cNvPr id="78" name="AutoShape 47"/>
          <p:cNvSpPr>
            <a:spLocks noChangeArrowheads="1"/>
          </p:cNvSpPr>
          <p:nvPr/>
        </p:nvSpPr>
        <p:spPr bwMode="blackWhite">
          <a:xfrm>
            <a:off x="4678512" y="3494523"/>
            <a:ext cx="353942" cy="864000"/>
          </a:xfrm>
          <a:prstGeom prst="rightArrow">
            <a:avLst>
              <a:gd name="adj1" fmla="val 100000"/>
              <a:gd name="adj2" fmla="val 11009"/>
            </a:avLst>
          </a:prstGeom>
          <a:solidFill>
            <a:srgbClr val="969696"/>
          </a:solidFill>
          <a:ln w="12700">
            <a:noFill/>
            <a:miter lim="800000"/>
            <a:headEnd/>
            <a:tailEnd/>
          </a:ln>
          <a:effectLst>
            <a:outerShdw dist="35921" dir="2700000" algn="ctr" rotWithShape="0">
              <a:schemeClr val="bg2"/>
            </a:outerShdw>
          </a:effectLst>
        </p:spPr>
        <p:txBody>
          <a:bodyPr vert="vert270" anchor="ctr"/>
          <a:lstStyle/>
          <a:p>
            <a:pPr algn="ctr">
              <a:lnSpc>
                <a:spcPts val="1000"/>
              </a:lnSpc>
            </a:pPr>
            <a:r>
              <a:rPr lang="es-ES" sz="1100" b="1" noProof="1">
                <a:solidFill>
                  <a:srgbClr val="FFFFFF"/>
                </a:solidFill>
                <a:cs typeface="Arial" charset="0"/>
              </a:rPr>
              <a:t>Impacto Reputacional</a:t>
            </a:r>
          </a:p>
        </p:txBody>
      </p:sp>
      <p:sp>
        <p:nvSpPr>
          <p:cNvPr id="79" name="Rectangle 18"/>
          <p:cNvSpPr>
            <a:spLocks noChangeArrowheads="1"/>
          </p:cNvSpPr>
          <p:nvPr/>
        </p:nvSpPr>
        <p:spPr bwMode="auto">
          <a:xfrm>
            <a:off x="8334310" y="3568288"/>
            <a:ext cx="548640" cy="170094"/>
          </a:xfrm>
          <a:prstGeom prst="rect">
            <a:avLst/>
          </a:prstGeom>
          <a:solidFill>
            <a:schemeClr val="bg1"/>
          </a:solidFill>
          <a:ln w="9525" algn="ctr">
            <a:solidFill>
              <a:schemeClr val="bg2"/>
            </a:solidFill>
            <a:miter lim="800000"/>
            <a:headEnd/>
            <a:tailEnd/>
          </a:ln>
          <a:effectLst/>
        </p:spPr>
        <p:txBody>
          <a:bodyPr anchor="ctr"/>
          <a:lstStyle/>
          <a:p>
            <a:pPr algn="ctr"/>
            <a:r>
              <a:rPr lang="es-PE" sz="1100" dirty="0"/>
              <a:t>1</a:t>
            </a:r>
            <a:endParaRPr lang="es-ES" sz="1100" dirty="0"/>
          </a:p>
        </p:txBody>
      </p:sp>
      <p:sp>
        <p:nvSpPr>
          <p:cNvPr id="80" name="Rounded Rectangle 38"/>
          <p:cNvSpPr/>
          <p:nvPr/>
        </p:nvSpPr>
        <p:spPr>
          <a:xfrm>
            <a:off x="5102950" y="3568288"/>
            <a:ext cx="3132000" cy="170094"/>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Afectación a Clientes</a:t>
            </a:r>
          </a:p>
        </p:txBody>
      </p:sp>
      <p:sp>
        <p:nvSpPr>
          <p:cNvPr id="81" name="Rectangle 18"/>
          <p:cNvSpPr>
            <a:spLocks noChangeArrowheads="1"/>
          </p:cNvSpPr>
          <p:nvPr/>
        </p:nvSpPr>
        <p:spPr bwMode="auto">
          <a:xfrm>
            <a:off x="5102950" y="3786445"/>
            <a:ext cx="3780000" cy="469509"/>
          </a:xfrm>
          <a:prstGeom prst="rect">
            <a:avLst/>
          </a:prstGeom>
          <a:solidFill>
            <a:schemeClr val="bg1"/>
          </a:solidFill>
          <a:ln w="9525" algn="ctr">
            <a:solidFill>
              <a:schemeClr val="bg2"/>
            </a:solidFill>
            <a:miter lim="800000"/>
            <a:headEnd/>
            <a:tailEnd/>
          </a:ln>
          <a:effectLst/>
        </p:spPr>
        <p:txBody>
          <a:bodyPr anchor="ctr"/>
          <a:lstStyle/>
          <a:p>
            <a:r>
              <a:rPr lang="es-ES" sz="1100" dirty="0">
                <a:solidFill>
                  <a:srgbClr val="000000"/>
                </a:solidFill>
              </a:rPr>
              <a:t>La exposición de la imagen es únicamente interna y limitada.</a:t>
            </a:r>
          </a:p>
        </p:txBody>
      </p:sp>
      <p:sp>
        <p:nvSpPr>
          <p:cNvPr id="82" name="Text Box 30"/>
          <p:cNvSpPr txBox="1">
            <a:spLocks noChangeArrowheads="1"/>
          </p:cNvSpPr>
          <p:nvPr/>
        </p:nvSpPr>
        <p:spPr bwMode="auto">
          <a:xfrm>
            <a:off x="190746" y="4838419"/>
            <a:ext cx="3996000" cy="276999"/>
          </a:xfrm>
          <a:prstGeom prst="rect">
            <a:avLst/>
          </a:prstGeom>
          <a:noFill/>
          <a:ln w="9525" algn="ctr">
            <a:noFill/>
            <a:miter lim="800000"/>
            <a:headEnd/>
            <a:tailEnd/>
          </a:ln>
          <a:effectLst/>
        </p:spPr>
        <p:txBody>
          <a:bodyPr wrap="square">
            <a:spAutoFit/>
          </a:bodyPr>
          <a:lstStyle/>
          <a:p>
            <a:pPr>
              <a:spcBef>
                <a:spcPct val="50000"/>
              </a:spcBef>
            </a:pPr>
            <a:r>
              <a:rPr lang="es-CL" sz="1200" b="1" i="1" dirty="0">
                <a:solidFill>
                  <a:srgbClr val="A3A3E0"/>
                </a:solidFill>
              </a:rPr>
              <a:t>Resultados valoración de controles / factores mitigantes</a:t>
            </a:r>
            <a:endParaRPr lang="es-ES" sz="1200" b="1" i="1" dirty="0">
              <a:solidFill>
                <a:srgbClr val="A3A3E0"/>
              </a:solidFill>
            </a:endParaRPr>
          </a:p>
        </p:txBody>
      </p:sp>
      <p:sp>
        <p:nvSpPr>
          <p:cNvPr id="86" name="AutoShape 179"/>
          <p:cNvSpPr>
            <a:spLocks noChangeArrowheads="1"/>
          </p:cNvSpPr>
          <p:nvPr/>
        </p:nvSpPr>
        <p:spPr bwMode="auto">
          <a:xfrm>
            <a:off x="4927319" y="4397238"/>
            <a:ext cx="4037169" cy="892800"/>
          </a:xfrm>
          <a:prstGeom prst="roundRect">
            <a:avLst>
              <a:gd name="adj" fmla="val 9481"/>
            </a:avLst>
          </a:prstGeom>
          <a:solidFill>
            <a:schemeClr val="accent1">
              <a:lumMod val="20000"/>
              <a:lumOff val="80000"/>
            </a:schemeClr>
          </a:solidFill>
          <a:ln w="9525" algn="ctr">
            <a:noFill/>
            <a:round/>
            <a:headEnd/>
            <a:tailEnd/>
          </a:ln>
          <a:effectLst/>
        </p:spPr>
        <p:txBody>
          <a:bodyPr wrap="none" anchor="ctr"/>
          <a:lstStyle/>
          <a:p>
            <a:endParaRPr lang="es-CL">
              <a:solidFill>
                <a:srgbClr val="002060"/>
              </a:solidFill>
            </a:endParaRPr>
          </a:p>
        </p:txBody>
      </p:sp>
      <p:sp>
        <p:nvSpPr>
          <p:cNvPr id="87" name="AutoShape 47"/>
          <p:cNvSpPr>
            <a:spLocks noChangeArrowheads="1"/>
          </p:cNvSpPr>
          <p:nvPr/>
        </p:nvSpPr>
        <p:spPr bwMode="blackWhite">
          <a:xfrm>
            <a:off x="4673792" y="4398740"/>
            <a:ext cx="352800" cy="892800"/>
          </a:xfrm>
          <a:prstGeom prst="rightArrow">
            <a:avLst>
              <a:gd name="adj1" fmla="val 100000"/>
              <a:gd name="adj2" fmla="val 11009"/>
            </a:avLst>
          </a:prstGeom>
          <a:solidFill>
            <a:srgbClr val="969696"/>
          </a:solidFill>
          <a:ln w="12700">
            <a:noFill/>
            <a:miter lim="800000"/>
            <a:headEnd/>
            <a:tailEnd/>
          </a:ln>
          <a:effectLst>
            <a:outerShdw dist="35921" dir="2700000" algn="ctr" rotWithShape="0">
              <a:schemeClr val="bg2"/>
            </a:outerShdw>
          </a:effectLst>
        </p:spPr>
        <p:txBody>
          <a:bodyPr vert="vert270" anchor="ctr"/>
          <a:lstStyle/>
          <a:p>
            <a:pPr algn="ctr">
              <a:lnSpc>
                <a:spcPts val="1000"/>
              </a:lnSpc>
            </a:pPr>
            <a:r>
              <a:rPr lang="es-ES" sz="1100" b="1" noProof="1">
                <a:solidFill>
                  <a:srgbClr val="FFFFFF"/>
                </a:solidFill>
                <a:cs typeface="Arial" charset="0"/>
              </a:rPr>
              <a:t>Cuestionarios</a:t>
            </a:r>
          </a:p>
        </p:txBody>
      </p:sp>
      <p:sp>
        <p:nvSpPr>
          <p:cNvPr id="89" name="Rounded Rectangle 38"/>
          <p:cNvSpPr/>
          <p:nvPr/>
        </p:nvSpPr>
        <p:spPr>
          <a:xfrm>
            <a:off x="5098230" y="4472505"/>
            <a:ext cx="3132000" cy="170094"/>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Criterios de Evaluación</a:t>
            </a:r>
          </a:p>
        </p:txBody>
      </p:sp>
      <p:sp>
        <p:nvSpPr>
          <p:cNvPr id="90" name="AutoShape 179"/>
          <p:cNvSpPr>
            <a:spLocks noChangeArrowheads="1"/>
          </p:cNvSpPr>
          <p:nvPr/>
        </p:nvSpPr>
        <p:spPr bwMode="auto">
          <a:xfrm>
            <a:off x="534831" y="5060900"/>
            <a:ext cx="4037169" cy="864000"/>
          </a:xfrm>
          <a:prstGeom prst="roundRect">
            <a:avLst>
              <a:gd name="adj" fmla="val 9481"/>
            </a:avLst>
          </a:prstGeom>
          <a:solidFill>
            <a:schemeClr val="accent1">
              <a:lumMod val="20000"/>
              <a:lumOff val="80000"/>
            </a:schemeClr>
          </a:solidFill>
          <a:ln w="9525" algn="ctr">
            <a:noFill/>
            <a:round/>
            <a:headEnd/>
            <a:tailEnd/>
          </a:ln>
          <a:effectLst/>
        </p:spPr>
        <p:txBody>
          <a:bodyPr wrap="none" anchor="ctr"/>
          <a:lstStyle/>
          <a:p>
            <a:endParaRPr lang="es-CL">
              <a:solidFill>
                <a:srgbClr val="002060"/>
              </a:solidFill>
            </a:endParaRPr>
          </a:p>
        </p:txBody>
      </p:sp>
      <p:sp>
        <p:nvSpPr>
          <p:cNvPr id="91" name="AutoShape 47"/>
          <p:cNvSpPr>
            <a:spLocks noChangeArrowheads="1"/>
          </p:cNvSpPr>
          <p:nvPr/>
        </p:nvSpPr>
        <p:spPr bwMode="blackWhite">
          <a:xfrm>
            <a:off x="281304" y="5062402"/>
            <a:ext cx="353942" cy="864000"/>
          </a:xfrm>
          <a:prstGeom prst="rightArrow">
            <a:avLst>
              <a:gd name="adj1" fmla="val 100000"/>
              <a:gd name="adj2" fmla="val 11009"/>
            </a:avLst>
          </a:prstGeom>
          <a:solidFill>
            <a:srgbClr val="969696"/>
          </a:solidFill>
          <a:ln w="12700">
            <a:noFill/>
            <a:miter lim="800000"/>
            <a:headEnd/>
            <a:tailEnd/>
          </a:ln>
          <a:effectLst>
            <a:outerShdw dist="35921" dir="2700000" algn="ctr" rotWithShape="0">
              <a:schemeClr val="bg2"/>
            </a:outerShdw>
          </a:effectLst>
        </p:spPr>
        <p:txBody>
          <a:bodyPr vert="vert270" anchor="ctr"/>
          <a:lstStyle/>
          <a:p>
            <a:pPr algn="ctr">
              <a:lnSpc>
                <a:spcPts val="1000"/>
              </a:lnSpc>
            </a:pPr>
            <a:r>
              <a:rPr lang="es-ES" sz="1100" b="1" noProof="1">
                <a:solidFill>
                  <a:srgbClr val="FFFFFF"/>
                </a:solidFill>
                <a:cs typeface="Arial" charset="0"/>
              </a:rPr>
              <a:t>Evaluación de Controles</a:t>
            </a:r>
          </a:p>
        </p:txBody>
      </p:sp>
      <p:sp>
        <p:nvSpPr>
          <p:cNvPr id="92" name="Rectangle 18"/>
          <p:cNvSpPr>
            <a:spLocks noChangeArrowheads="1"/>
          </p:cNvSpPr>
          <p:nvPr/>
        </p:nvSpPr>
        <p:spPr bwMode="auto">
          <a:xfrm>
            <a:off x="3937102" y="5136167"/>
            <a:ext cx="548640" cy="170094"/>
          </a:xfrm>
          <a:prstGeom prst="rect">
            <a:avLst/>
          </a:prstGeom>
          <a:solidFill>
            <a:schemeClr val="bg1"/>
          </a:solidFill>
          <a:ln w="9525" algn="ctr">
            <a:solidFill>
              <a:schemeClr val="bg2"/>
            </a:solidFill>
            <a:miter lim="800000"/>
            <a:headEnd/>
            <a:tailEnd/>
          </a:ln>
          <a:effectLst/>
        </p:spPr>
        <p:txBody>
          <a:bodyPr anchor="ctr"/>
          <a:lstStyle/>
          <a:p>
            <a:pPr algn="ctr"/>
            <a:r>
              <a:rPr lang="es-ES" sz="1100" dirty="0">
                <a:solidFill>
                  <a:srgbClr val="002060"/>
                </a:solidFill>
              </a:rPr>
              <a:t>1</a:t>
            </a:r>
          </a:p>
        </p:txBody>
      </p:sp>
      <p:sp>
        <p:nvSpPr>
          <p:cNvPr id="93" name="Rounded Rectangle 38"/>
          <p:cNvSpPr/>
          <p:nvPr/>
        </p:nvSpPr>
        <p:spPr>
          <a:xfrm>
            <a:off x="705742" y="5136167"/>
            <a:ext cx="3132000" cy="170094"/>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Controles asociados al riesgo</a:t>
            </a:r>
          </a:p>
        </p:txBody>
      </p:sp>
      <p:sp>
        <p:nvSpPr>
          <p:cNvPr id="94" name="Rectangle 18"/>
          <p:cNvSpPr>
            <a:spLocks noChangeArrowheads="1"/>
          </p:cNvSpPr>
          <p:nvPr/>
        </p:nvSpPr>
        <p:spPr bwMode="auto">
          <a:xfrm>
            <a:off x="5102950" y="4685678"/>
            <a:ext cx="3780000" cy="469509"/>
          </a:xfrm>
          <a:prstGeom prst="rect">
            <a:avLst/>
          </a:prstGeom>
          <a:solidFill>
            <a:schemeClr val="bg1"/>
          </a:solidFill>
          <a:ln w="9525" algn="ctr">
            <a:solidFill>
              <a:schemeClr val="bg2"/>
            </a:solidFill>
            <a:miter lim="800000"/>
            <a:headEnd/>
            <a:tailEnd/>
          </a:ln>
          <a:effectLst/>
        </p:spPr>
        <p:txBody>
          <a:bodyPr anchor="ctr"/>
          <a:lstStyle/>
          <a:p>
            <a:r>
              <a:rPr lang="es-ES" sz="1100" dirty="0"/>
              <a:t>Peor escenario: Se considera que 5 días seguidos no se han podido conseguir los vistos buenos.</a:t>
            </a:r>
            <a:endParaRPr lang="es-ES" sz="1100" dirty="0">
              <a:solidFill>
                <a:srgbClr val="000000"/>
              </a:solidFill>
            </a:endParaRPr>
          </a:p>
        </p:txBody>
      </p:sp>
      <p:sp>
        <p:nvSpPr>
          <p:cNvPr id="95" name="Rectangle 18"/>
          <p:cNvSpPr>
            <a:spLocks noChangeArrowheads="1"/>
          </p:cNvSpPr>
          <p:nvPr/>
        </p:nvSpPr>
        <p:spPr bwMode="auto">
          <a:xfrm>
            <a:off x="705742" y="5357175"/>
            <a:ext cx="3780000" cy="469509"/>
          </a:xfrm>
          <a:prstGeom prst="rect">
            <a:avLst/>
          </a:prstGeom>
          <a:solidFill>
            <a:schemeClr val="bg1"/>
          </a:solidFill>
          <a:ln w="9525" algn="ctr">
            <a:solidFill>
              <a:schemeClr val="bg2"/>
            </a:solidFill>
            <a:miter lim="800000"/>
            <a:headEnd/>
            <a:tailEnd/>
          </a:ln>
          <a:effectLst/>
        </p:spPr>
        <p:txBody>
          <a:bodyPr anchor="ctr"/>
          <a:lstStyle/>
          <a:p>
            <a:r>
              <a:rPr lang="es-ES" sz="1100" dirty="0">
                <a:solidFill>
                  <a:srgbClr val="000000"/>
                </a:solidFill>
              </a:rPr>
              <a:t>(NF) Existencia de un Back Up Interno en el área de UN de Suscripción vehicular.</a:t>
            </a:r>
          </a:p>
        </p:txBody>
      </p:sp>
      <p:sp>
        <p:nvSpPr>
          <p:cNvPr id="96" name="Rounded Rectangle 9"/>
          <p:cNvSpPr/>
          <p:nvPr/>
        </p:nvSpPr>
        <p:spPr>
          <a:xfrm>
            <a:off x="6716066" y="1111764"/>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Categoría  de Riesgo Nivel I</a:t>
            </a:r>
          </a:p>
        </p:txBody>
      </p:sp>
      <p:sp>
        <p:nvSpPr>
          <p:cNvPr id="97" name="Rectangle 18"/>
          <p:cNvSpPr>
            <a:spLocks noChangeArrowheads="1"/>
          </p:cNvSpPr>
          <p:nvPr/>
        </p:nvSpPr>
        <p:spPr bwMode="auto">
          <a:xfrm>
            <a:off x="6716066" y="1325572"/>
            <a:ext cx="2286000" cy="270000"/>
          </a:xfrm>
          <a:prstGeom prst="rect">
            <a:avLst/>
          </a:prstGeom>
          <a:noFill/>
          <a:ln w="9525" algn="ctr">
            <a:solidFill>
              <a:schemeClr val="bg2"/>
            </a:solidFill>
            <a:miter lim="800000"/>
            <a:headEnd/>
            <a:tailEnd/>
          </a:ln>
          <a:effectLst/>
        </p:spPr>
        <p:txBody>
          <a:bodyPr anchor="ctr"/>
          <a:lstStyle/>
          <a:p>
            <a:pPr>
              <a:lnSpc>
                <a:spcPts val="1000"/>
              </a:lnSpc>
            </a:pPr>
            <a:r>
              <a:rPr lang="es-ES" sz="1100" dirty="0">
                <a:solidFill>
                  <a:srgbClr val="000000"/>
                </a:solidFill>
              </a:rPr>
              <a:t>Ejecución, entrega y gestión de procesos</a:t>
            </a:r>
          </a:p>
        </p:txBody>
      </p:sp>
      <p:sp>
        <p:nvSpPr>
          <p:cNvPr id="98" name="Rounded Rectangle 11"/>
          <p:cNvSpPr/>
          <p:nvPr/>
        </p:nvSpPr>
        <p:spPr>
          <a:xfrm>
            <a:off x="6716066" y="1664503"/>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Categoría  de Riesgo Nivel II</a:t>
            </a:r>
          </a:p>
        </p:txBody>
      </p:sp>
      <p:sp>
        <p:nvSpPr>
          <p:cNvPr id="99" name="Rectangle 18"/>
          <p:cNvSpPr>
            <a:spLocks noChangeArrowheads="1"/>
          </p:cNvSpPr>
          <p:nvPr/>
        </p:nvSpPr>
        <p:spPr bwMode="auto">
          <a:xfrm>
            <a:off x="6716066" y="1877089"/>
            <a:ext cx="2286000" cy="270000"/>
          </a:xfrm>
          <a:prstGeom prst="rect">
            <a:avLst/>
          </a:prstGeom>
          <a:noFill/>
          <a:ln w="9525" algn="ctr">
            <a:solidFill>
              <a:schemeClr val="bg2"/>
            </a:solidFill>
            <a:miter lim="800000"/>
            <a:headEnd/>
            <a:tailEnd/>
          </a:ln>
          <a:effectLst/>
        </p:spPr>
        <p:txBody>
          <a:bodyPr anchor="ctr"/>
          <a:lstStyle/>
          <a:p>
            <a:r>
              <a:rPr lang="es-ES" sz="1100" dirty="0">
                <a:solidFill>
                  <a:srgbClr val="000000"/>
                </a:solidFill>
              </a:rPr>
              <a:t>Recepción, ejecución y mantenimiento de operaciones.</a:t>
            </a:r>
          </a:p>
        </p:txBody>
      </p:sp>
      <p:sp>
        <p:nvSpPr>
          <p:cNvPr id="100" name="Rounded Rectangle 14"/>
          <p:cNvSpPr/>
          <p:nvPr/>
        </p:nvSpPr>
        <p:spPr>
          <a:xfrm>
            <a:off x="6716066" y="2223551"/>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Categoría  de Riesgo Nivel III</a:t>
            </a:r>
          </a:p>
        </p:txBody>
      </p:sp>
      <p:sp>
        <p:nvSpPr>
          <p:cNvPr id="101" name="Rectangle 18"/>
          <p:cNvSpPr>
            <a:spLocks noChangeArrowheads="1"/>
          </p:cNvSpPr>
          <p:nvPr/>
        </p:nvSpPr>
        <p:spPr bwMode="auto">
          <a:xfrm>
            <a:off x="6716066" y="2434321"/>
            <a:ext cx="2286000" cy="270000"/>
          </a:xfrm>
          <a:prstGeom prst="rect">
            <a:avLst/>
          </a:prstGeom>
          <a:noFill/>
          <a:ln w="9525" algn="ctr">
            <a:solidFill>
              <a:schemeClr val="bg2"/>
            </a:solidFill>
            <a:miter lim="800000"/>
            <a:headEnd/>
            <a:tailEnd/>
          </a:ln>
          <a:effectLst/>
        </p:spPr>
        <p:txBody>
          <a:bodyPr anchor="ctr"/>
          <a:lstStyle/>
          <a:p>
            <a:r>
              <a:rPr lang="es-ES" sz="1100" dirty="0">
                <a:solidFill>
                  <a:srgbClr val="000000"/>
                </a:solidFill>
              </a:rPr>
              <a:t>Tareas incompletas o no ejecutadas</a:t>
            </a:r>
          </a:p>
        </p:txBody>
      </p:sp>
      <p:sp>
        <p:nvSpPr>
          <p:cNvPr id="102" name="Rounded Rectangle 14"/>
          <p:cNvSpPr/>
          <p:nvPr/>
        </p:nvSpPr>
        <p:spPr>
          <a:xfrm>
            <a:off x="6716066" y="2768330"/>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Origen del Riesgo</a:t>
            </a:r>
          </a:p>
        </p:txBody>
      </p:sp>
      <p:sp>
        <p:nvSpPr>
          <p:cNvPr id="103" name="Rectangle 18"/>
          <p:cNvSpPr>
            <a:spLocks noChangeArrowheads="1"/>
          </p:cNvSpPr>
          <p:nvPr/>
        </p:nvSpPr>
        <p:spPr bwMode="auto">
          <a:xfrm>
            <a:off x="6716066" y="2983595"/>
            <a:ext cx="2286000" cy="270000"/>
          </a:xfrm>
          <a:prstGeom prst="rect">
            <a:avLst/>
          </a:prstGeom>
          <a:noFill/>
          <a:ln w="9525" algn="ctr">
            <a:solidFill>
              <a:schemeClr val="bg2"/>
            </a:solidFill>
            <a:miter lim="800000"/>
            <a:headEnd/>
            <a:tailEnd/>
          </a:ln>
          <a:effectLst/>
        </p:spPr>
        <p:txBody>
          <a:bodyPr anchor="ctr"/>
          <a:lstStyle/>
          <a:p>
            <a:r>
              <a:rPr lang="es-PE" sz="1100" dirty="0">
                <a:solidFill>
                  <a:srgbClr val="000000"/>
                </a:solidFill>
              </a:rPr>
              <a:t>Personas</a:t>
            </a:r>
            <a:endParaRPr lang="es-ES" sz="1100" dirty="0">
              <a:solidFill>
                <a:srgbClr val="000000"/>
              </a:solidFill>
            </a:endParaRPr>
          </a:p>
        </p:txBody>
      </p:sp>
      <p:sp>
        <p:nvSpPr>
          <p:cNvPr id="57" name="TextBox 56"/>
          <p:cNvSpPr txBox="1"/>
          <p:nvPr/>
        </p:nvSpPr>
        <p:spPr>
          <a:xfrm>
            <a:off x="705742" y="5928012"/>
            <a:ext cx="1819944" cy="261610"/>
          </a:xfrm>
          <a:prstGeom prst="rect">
            <a:avLst/>
          </a:prstGeom>
          <a:noFill/>
        </p:spPr>
        <p:txBody>
          <a:bodyPr wrap="square" rtlCol="0">
            <a:spAutoFit/>
          </a:bodyPr>
          <a:lstStyle/>
          <a:p>
            <a:r>
              <a:rPr lang="es-ES" sz="1100" dirty="0"/>
              <a:t>(NF): No Formalizado</a:t>
            </a: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dirty="0"/>
              <a:t>Anexo: Ficha Individual Riesgos Operacionales</a:t>
            </a:r>
          </a:p>
        </p:txBody>
      </p:sp>
      <p:sp>
        <p:nvSpPr>
          <p:cNvPr id="4" name="Rounded Rectangle 3"/>
          <p:cNvSpPr/>
          <p:nvPr/>
        </p:nvSpPr>
        <p:spPr>
          <a:xfrm>
            <a:off x="227770" y="764704"/>
            <a:ext cx="360040" cy="274320"/>
          </a:xfrm>
          <a:prstGeom prst="roundRect">
            <a:avLst/>
          </a:prstGeom>
          <a:solidFill>
            <a:srgbClr val="DB0613"/>
          </a:solidFill>
          <a:ln w="9525" algn="ctr">
            <a:noFill/>
            <a:miter lim="800000"/>
            <a:headEnd/>
            <a:tailEnd/>
          </a:ln>
          <a:effectLst/>
        </p:spPr>
        <p:txBody>
          <a:bodyPr anchor="ctr"/>
          <a:lstStyle/>
          <a:p>
            <a:pPr algn="ctr">
              <a:lnSpc>
                <a:spcPct val="80000"/>
              </a:lnSpc>
            </a:pPr>
            <a:r>
              <a:rPr lang="es-CL" sz="1200" b="1" dirty="0">
                <a:solidFill>
                  <a:srgbClr val="FFFFFF"/>
                </a:solidFill>
                <a:cs typeface="Arial" pitchFamily="34" charset="0"/>
              </a:rPr>
              <a:t>5</a:t>
            </a:r>
          </a:p>
        </p:txBody>
      </p:sp>
      <p:sp>
        <p:nvSpPr>
          <p:cNvPr id="5" name="Rectangle 18"/>
          <p:cNvSpPr>
            <a:spLocks noChangeArrowheads="1"/>
          </p:cNvSpPr>
          <p:nvPr/>
        </p:nvSpPr>
        <p:spPr bwMode="auto">
          <a:xfrm>
            <a:off x="227770" y="2548229"/>
            <a:ext cx="6400800" cy="708660"/>
          </a:xfrm>
          <a:prstGeom prst="rect">
            <a:avLst/>
          </a:prstGeom>
          <a:noFill/>
          <a:ln w="9525" algn="ctr">
            <a:solidFill>
              <a:schemeClr val="bg2"/>
            </a:solidFill>
            <a:miter lim="800000"/>
            <a:headEnd/>
            <a:tailEnd/>
          </a:ln>
          <a:effectLst/>
        </p:spPr>
        <p:txBody>
          <a:bodyPr/>
          <a:lstStyle/>
          <a:p>
            <a:r>
              <a:rPr lang="es-ES" sz="1100" dirty="0"/>
              <a:t>Riesgo de que el comercial haciendo las veces de suscriptor autorice operaciones no alineadas con los objetivos definidos por la UN. Con motivo de la relación comercial que la compañía tiene con el BBVA Continental, se ha designado a un </a:t>
            </a:r>
            <a:r>
              <a:rPr lang="es-ES" sz="1100" dirty="0" err="1"/>
              <a:t>implant</a:t>
            </a:r>
            <a:r>
              <a:rPr lang="es-ES" sz="1100" dirty="0"/>
              <a:t> de la compañía en el BBVA para que autorice algunas operaciones sin necesidad de pasar al análisis de la UN.</a:t>
            </a:r>
          </a:p>
          <a:p>
            <a:endParaRPr lang="es-ES" sz="1100" dirty="0"/>
          </a:p>
        </p:txBody>
      </p:sp>
      <p:sp>
        <p:nvSpPr>
          <p:cNvPr id="8" name="Rounded Rectangle 7"/>
          <p:cNvSpPr/>
          <p:nvPr/>
        </p:nvSpPr>
        <p:spPr>
          <a:xfrm>
            <a:off x="652842" y="764704"/>
            <a:ext cx="8352000" cy="274320"/>
          </a:xfrm>
          <a:prstGeom prst="roundRect">
            <a:avLst/>
          </a:prstGeom>
          <a:solidFill>
            <a:srgbClr val="DB0613"/>
          </a:solidFill>
          <a:ln w="9525" algn="ctr">
            <a:noFill/>
            <a:miter lim="800000"/>
            <a:headEnd/>
            <a:tailEnd/>
          </a:ln>
          <a:effectLst/>
        </p:spPr>
        <p:txBody>
          <a:bodyPr anchor="ctr"/>
          <a:lstStyle/>
          <a:p>
            <a:pPr>
              <a:lnSpc>
                <a:spcPct val="80000"/>
              </a:lnSpc>
            </a:pPr>
            <a:r>
              <a:rPr lang="es-CL" sz="1200" b="1" dirty="0">
                <a:solidFill>
                  <a:srgbClr val="FFFFFF"/>
                </a:solidFill>
                <a:cs typeface="Arial" pitchFamily="34" charset="0"/>
              </a:rPr>
              <a:t>Riesgo de autorización de operaciones no alineadas con los objetivos de la UN </a:t>
            </a:r>
          </a:p>
        </p:txBody>
      </p:sp>
      <p:sp>
        <p:nvSpPr>
          <p:cNvPr id="9" name="Rounded Rectangle 8"/>
          <p:cNvSpPr/>
          <p:nvPr/>
        </p:nvSpPr>
        <p:spPr>
          <a:xfrm>
            <a:off x="227770" y="2307916"/>
            <a:ext cx="64008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Descripción</a:t>
            </a:r>
          </a:p>
        </p:txBody>
      </p:sp>
      <p:sp>
        <p:nvSpPr>
          <p:cNvPr id="10" name="Rounded Rectangle 9"/>
          <p:cNvSpPr/>
          <p:nvPr/>
        </p:nvSpPr>
        <p:spPr>
          <a:xfrm>
            <a:off x="6716066" y="1111764"/>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Categoría  de Riesgo Nivel I</a:t>
            </a:r>
          </a:p>
        </p:txBody>
      </p:sp>
      <p:sp>
        <p:nvSpPr>
          <p:cNvPr id="11" name="Rectangle 18"/>
          <p:cNvSpPr>
            <a:spLocks noChangeArrowheads="1"/>
          </p:cNvSpPr>
          <p:nvPr/>
        </p:nvSpPr>
        <p:spPr bwMode="auto">
          <a:xfrm>
            <a:off x="6716066" y="1340768"/>
            <a:ext cx="2286000" cy="270000"/>
          </a:xfrm>
          <a:prstGeom prst="rect">
            <a:avLst/>
          </a:prstGeom>
          <a:noFill/>
          <a:ln w="9525" algn="ctr">
            <a:solidFill>
              <a:schemeClr val="bg2"/>
            </a:solidFill>
            <a:miter lim="800000"/>
            <a:headEnd/>
            <a:tailEnd/>
          </a:ln>
          <a:effectLst/>
        </p:spPr>
        <p:txBody>
          <a:bodyPr anchor="ctr"/>
          <a:lstStyle/>
          <a:p>
            <a:pPr>
              <a:lnSpc>
                <a:spcPts val="1000"/>
              </a:lnSpc>
            </a:pPr>
            <a:r>
              <a:rPr lang="es-ES" sz="1100" dirty="0"/>
              <a:t>Fraude Interno</a:t>
            </a:r>
          </a:p>
        </p:txBody>
      </p:sp>
      <p:sp>
        <p:nvSpPr>
          <p:cNvPr id="12" name="Rounded Rectangle 11"/>
          <p:cNvSpPr/>
          <p:nvPr/>
        </p:nvSpPr>
        <p:spPr>
          <a:xfrm>
            <a:off x="6716066" y="1664503"/>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Categoría  de Riesgo Nivel II</a:t>
            </a:r>
          </a:p>
        </p:txBody>
      </p:sp>
      <p:sp>
        <p:nvSpPr>
          <p:cNvPr id="13" name="Rectangle 18"/>
          <p:cNvSpPr>
            <a:spLocks noChangeArrowheads="1"/>
          </p:cNvSpPr>
          <p:nvPr/>
        </p:nvSpPr>
        <p:spPr bwMode="auto">
          <a:xfrm>
            <a:off x="6716066" y="1877089"/>
            <a:ext cx="2286000" cy="270000"/>
          </a:xfrm>
          <a:prstGeom prst="rect">
            <a:avLst/>
          </a:prstGeom>
          <a:noFill/>
          <a:ln w="9525" algn="ctr">
            <a:solidFill>
              <a:schemeClr val="bg2"/>
            </a:solidFill>
            <a:miter lim="800000"/>
            <a:headEnd/>
            <a:tailEnd/>
          </a:ln>
          <a:effectLst/>
        </p:spPr>
        <p:txBody>
          <a:bodyPr anchor="ctr"/>
          <a:lstStyle/>
          <a:p>
            <a:r>
              <a:rPr lang="es-ES" sz="1100" dirty="0"/>
              <a:t>Actividades no autorizadas</a:t>
            </a:r>
          </a:p>
        </p:txBody>
      </p:sp>
      <p:sp>
        <p:nvSpPr>
          <p:cNvPr id="15" name="Rounded Rectangle 14"/>
          <p:cNvSpPr/>
          <p:nvPr/>
        </p:nvSpPr>
        <p:spPr>
          <a:xfrm>
            <a:off x="6716066" y="2223551"/>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Categoría  de Riesgo Nivel III</a:t>
            </a:r>
          </a:p>
        </p:txBody>
      </p:sp>
      <p:sp>
        <p:nvSpPr>
          <p:cNvPr id="16" name="Rectangle 18"/>
          <p:cNvSpPr>
            <a:spLocks noChangeArrowheads="1"/>
          </p:cNvSpPr>
          <p:nvPr/>
        </p:nvSpPr>
        <p:spPr bwMode="auto">
          <a:xfrm>
            <a:off x="6716066" y="2434321"/>
            <a:ext cx="2286000" cy="270000"/>
          </a:xfrm>
          <a:prstGeom prst="rect">
            <a:avLst/>
          </a:prstGeom>
          <a:noFill/>
          <a:ln w="9525" algn="ctr">
            <a:solidFill>
              <a:schemeClr val="bg2"/>
            </a:solidFill>
            <a:miter lim="800000"/>
            <a:headEnd/>
            <a:tailEnd/>
          </a:ln>
          <a:effectLst/>
        </p:spPr>
        <p:txBody>
          <a:bodyPr anchor="ctr"/>
          <a:lstStyle/>
          <a:p>
            <a:r>
              <a:rPr lang="es-ES" sz="1100" dirty="0"/>
              <a:t>Alteración de transacciones/operaciones</a:t>
            </a:r>
          </a:p>
        </p:txBody>
      </p:sp>
      <p:sp>
        <p:nvSpPr>
          <p:cNvPr id="17" name="Rounded Rectangle 16"/>
          <p:cNvSpPr/>
          <p:nvPr/>
        </p:nvSpPr>
        <p:spPr>
          <a:xfrm>
            <a:off x="216583" y="1110038"/>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Macroproceso</a:t>
            </a:r>
          </a:p>
        </p:txBody>
      </p:sp>
      <p:sp>
        <p:nvSpPr>
          <p:cNvPr id="18" name="Rectangle 18"/>
          <p:cNvSpPr>
            <a:spLocks noChangeArrowheads="1"/>
          </p:cNvSpPr>
          <p:nvPr/>
        </p:nvSpPr>
        <p:spPr bwMode="auto">
          <a:xfrm>
            <a:off x="2568409" y="1110038"/>
            <a:ext cx="3877200" cy="182880"/>
          </a:xfrm>
          <a:prstGeom prst="rect">
            <a:avLst/>
          </a:prstGeom>
          <a:noFill/>
          <a:ln w="9525" algn="ctr">
            <a:solidFill>
              <a:schemeClr val="bg2"/>
            </a:solidFill>
            <a:miter lim="800000"/>
            <a:headEnd/>
            <a:tailEnd/>
          </a:ln>
          <a:effectLst/>
        </p:spPr>
        <p:txBody>
          <a:bodyPr anchor="ctr"/>
          <a:lstStyle/>
          <a:p>
            <a:r>
              <a:rPr lang="es-ES" sz="1100" dirty="0"/>
              <a:t>Generación de Negocio</a:t>
            </a:r>
          </a:p>
        </p:txBody>
      </p:sp>
      <p:sp>
        <p:nvSpPr>
          <p:cNvPr id="19" name="Rounded Rectangle 18"/>
          <p:cNvSpPr/>
          <p:nvPr/>
        </p:nvSpPr>
        <p:spPr>
          <a:xfrm>
            <a:off x="216583" y="1339045"/>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Proceso</a:t>
            </a:r>
          </a:p>
        </p:txBody>
      </p:sp>
      <p:sp>
        <p:nvSpPr>
          <p:cNvPr id="20" name="Rectangle 18"/>
          <p:cNvSpPr>
            <a:spLocks noChangeArrowheads="1"/>
          </p:cNvSpPr>
          <p:nvPr/>
        </p:nvSpPr>
        <p:spPr bwMode="auto">
          <a:xfrm>
            <a:off x="2568409" y="1339045"/>
            <a:ext cx="3877200" cy="182880"/>
          </a:xfrm>
          <a:prstGeom prst="rect">
            <a:avLst/>
          </a:prstGeom>
          <a:noFill/>
          <a:ln w="9525" algn="ctr">
            <a:solidFill>
              <a:schemeClr val="bg2"/>
            </a:solidFill>
            <a:miter lim="800000"/>
            <a:headEnd/>
            <a:tailEnd/>
          </a:ln>
          <a:effectLst/>
        </p:spPr>
        <p:txBody>
          <a:bodyPr anchor="ctr"/>
          <a:lstStyle/>
          <a:p>
            <a:r>
              <a:rPr lang="es-ES" sz="1100" dirty="0"/>
              <a:t>Suscripción</a:t>
            </a:r>
          </a:p>
        </p:txBody>
      </p:sp>
      <p:sp>
        <p:nvSpPr>
          <p:cNvPr id="59" name="Rounded Rectangle 58"/>
          <p:cNvSpPr/>
          <p:nvPr/>
        </p:nvSpPr>
        <p:spPr>
          <a:xfrm>
            <a:off x="216583" y="1579694"/>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Subproceso</a:t>
            </a:r>
          </a:p>
        </p:txBody>
      </p:sp>
      <p:sp>
        <p:nvSpPr>
          <p:cNvPr id="60" name="Rectangle 18"/>
          <p:cNvSpPr>
            <a:spLocks noChangeArrowheads="1"/>
          </p:cNvSpPr>
          <p:nvPr/>
        </p:nvSpPr>
        <p:spPr bwMode="auto">
          <a:xfrm>
            <a:off x="2568409" y="1579694"/>
            <a:ext cx="3875799" cy="182880"/>
          </a:xfrm>
          <a:prstGeom prst="rect">
            <a:avLst/>
          </a:prstGeom>
          <a:noFill/>
          <a:ln w="9525" algn="ctr">
            <a:solidFill>
              <a:schemeClr val="bg2"/>
            </a:solidFill>
            <a:miter lim="800000"/>
            <a:headEnd/>
            <a:tailEnd/>
          </a:ln>
          <a:effectLst/>
        </p:spPr>
        <p:txBody>
          <a:bodyPr anchor="ctr"/>
          <a:lstStyle/>
          <a:p>
            <a:r>
              <a:rPr lang="es-ES" sz="1100" dirty="0"/>
              <a:t>Evaluación de solicitudes de cotización</a:t>
            </a:r>
          </a:p>
        </p:txBody>
      </p:sp>
      <p:sp>
        <p:nvSpPr>
          <p:cNvPr id="61" name="Rounded Rectangle 60"/>
          <p:cNvSpPr/>
          <p:nvPr/>
        </p:nvSpPr>
        <p:spPr>
          <a:xfrm>
            <a:off x="226806" y="1826440"/>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Línea de Negocio</a:t>
            </a:r>
          </a:p>
        </p:txBody>
      </p:sp>
      <p:sp>
        <p:nvSpPr>
          <p:cNvPr id="63" name="Rounded Rectangle 62"/>
          <p:cNvSpPr/>
          <p:nvPr/>
        </p:nvSpPr>
        <p:spPr>
          <a:xfrm>
            <a:off x="226806" y="2079535"/>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Responsable</a:t>
            </a:r>
          </a:p>
        </p:txBody>
      </p:sp>
      <p:sp>
        <p:nvSpPr>
          <p:cNvPr id="65" name="Rectangle 18"/>
          <p:cNvSpPr>
            <a:spLocks noChangeArrowheads="1"/>
          </p:cNvSpPr>
          <p:nvPr/>
        </p:nvSpPr>
        <p:spPr bwMode="auto">
          <a:xfrm>
            <a:off x="2568409" y="1826440"/>
            <a:ext cx="3875799" cy="182880"/>
          </a:xfrm>
          <a:prstGeom prst="rect">
            <a:avLst/>
          </a:prstGeom>
          <a:noFill/>
          <a:ln w="9525" algn="ctr">
            <a:solidFill>
              <a:schemeClr val="bg2"/>
            </a:solidFill>
            <a:miter lim="800000"/>
            <a:headEnd/>
            <a:tailEnd/>
          </a:ln>
          <a:effectLst/>
        </p:spPr>
        <p:txBody>
          <a:bodyPr anchor="ctr"/>
          <a:lstStyle/>
          <a:p>
            <a:r>
              <a:rPr lang="es-ES" sz="1100" dirty="0"/>
              <a:t>Ramos Generales</a:t>
            </a:r>
          </a:p>
        </p:txBody>
      </p:sp>
      <p:sp>
        <p:nvSpPr>
          <p:cNvPr id="66" name="Rectangle 18"/>
          <p:cNvSpPr>
            <a:spLocks noChangeArrowheads="1"/>
          </p:cNvSpPr>
          <p:nvPr/>
        </p:nvSpPr>
        <p:spPr bwMode="auto">
          <a:xfrm>
            <a:off x="2555776" y="2079535"/>
            <a:ext cx="3875799" cy="182880"/>
          </a:xfrm>
          <a:prstGeom prst="rect">
            <a:avLst/>
          </a:prstGeom>
          <a:noFill/>
          <a:ln w="9525" algn="ctr">
            <a:solidFill>
              <a:schemeClr val="bg2"/>
            </a:solidFill>
            <a:miter lim="800000"/>
            <a:headEnd/>
            <a:tailEnd/>
          </a:ln>
          <a:effectLst/>
        </p:spPr>
        <p:txBody>
          <a:bodyPr anchor="ctr"/>
          <a:lstStyle/>
          <a:p>
            <a:r>
              <a:rPr lang="es-ES" sz="1100" dirty="0"/>
              <a:t>Ejecutivo de Apoyo CNT</a:t>
            </a:r>
          </a:p>
        </p:txBody>
      </p:sp>
      <p:sp>
        <p:nvSpPr>
          <p:cNvPr id="78" name="Rounded Rectangle 14"/>
          <p:cNvSpPr/>
          <p:nvPr/>
        </p:nvSpPr>
        <p:spPr>
          <a:xfrm>
            <a:off x="6716066" y="2768330"/>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Origen del Riesgo</a:t>
            </a:r>
          </a:p>
        </p:txBody>
      </p:sp>
      <p:sp>
        <p:nvSpPr>
          <p:cNvPr id="79" name="Rectangle 18"/>
          <p:cNvSpPr>
            <a:spLocks noChangeArrowheads="1"/>
          </p:cNvSpPr>
          <p:nvPr/>
        </p:nvSpPr>
        <p:spPr bwMode="auto">
          <a:xfrm>
            <a:off x="6716066" y="2983595"/>
            <a:ext cx="2286000" cy="270000"/>
          </a:xfrm>
          <a:prstGeom prst="rect">
            <a:avLst/>
          </a:prstGeom>
          <a:noFill/>
          <a:ln w="9525" algn="ctr">
            <a:solidFill>
              <a:schemeClr val="bg2"/>
            </a:solidFill>
            <a:miter lim="800000"/>
            <a:headEnd/>
            <a:tailEnd/>
          </a:ln>
          <a:effectLst/>
        </p:spPr>
        <p:txBody>
          <a:bodyPr anchor="ctr"/>
          <a:lstStyle/>
          <a:p>
            <a:r>
              <a:rPr lang="es-ES" sz="1100" dirty="0">
                <a:solidFill>
                  <a:srgbClr val="000000"/>
                </a:solidFill>
              </a:rPr>
              <a:t>Personas</a:t>
            </a:r>
          </a:p>
        </p:txBody>
      </p:sp>
      <p:sp>
        <p:nvSpPr>
          <p:cNvPr id="68" name="AutoShape 179"/>
          <p:cNvSpPr>
            <a:spLocks noChangeArrowheads="1"/>
          </p:cNvSpPr>
          <p:nvPr/>
        </p:nvSpPr>
        <p:spPr bwMode="auto">
          <a:xfrm>
            <a:off x="611560" y="3482416"/>
            <a:ext cx="3960812" cy="1275707"/>
          </a:xfrm>
          <a:prstGeom prst="roundRect">
            <a:avLst>
              <a:gd name="adj" fmla="val 9481"/>
            </a:avLst>
          </a:prstGeom>
          <a:solidFill>
            <a:schemeClr val="accent1">
              <a:lumMod val="20000"/>
              <a:lumOff val="80000"/>
            </a:schemeClr>
          </a:solidFill>
          <a:ln w="9525" algn="ctr">
            <a:noFill/>
            <a:round/>
            <a:headEnd/>
            <a:tailEnd/>
          </a:ln>
          <a:effectLst/>
        </p:spPr>
        <p:txBody>
          <a:bodyPr wrap="none" anchor="ctr"/>
          <a:lstStyle/>
          <a:p>
            <a:endParaRPr lang="es-CL">
              <a:solidFill>
                <a:srgbClr val="002060"/>
              </a:solidFill>
            </a:endParaRPr>
          </a:p>
        </p:txBody>
      </p:sp>
      <p:sp>
        <p:nvSpPr>
          <p:cNvPr id="73" name="Text Box 30"/>
          <p:cNvSpPr txBox="1">
            <a:spLocks noChangeArrowheads="1"/>
          </p:cNvSpPr>
          <p:nvPr/>
        </p:nvSpPr>
        <p:spPr bwMode="auto">
          <a:xfrm>
            <a:off x="190747" y="3259373"/>
            <a:ext cx="3671888" cy="276999"/>
          </a:xfrm>
          <a:prstGeom prst="rect">
            <a:avLst/>
          </a:prstGeom>
          <a:noFill/>
          <a:ln w="9525" algn="ctr">
            <a:noFill/>
            <a:miter lim="800000"/>
            <a:headEnd/>
            <a:tailEnd/>
          </a:ln>
          <a:effectLst/>
        </p:spPr>
        <p:txBody>
          <a:bodyPr>
            <a:spAutoFit/>
          </a:bodyPr>
          <a:lstStyle/>
          <a:p>
            <a:pPr>
              <a:spcBef>
                <a:spcPct val="50000"/>
              </a:spcBef>
            </a:pPr>
            <a:r>
              <a:rPr lang="es-CL" sz="1200" b="1" i="1" dirty="0">
                <a:solidFill>
                  <a:srgbClr val="A3A3E0"/>
                </a:solidFill>
              </a:rPr>
              <a:t>Resultados valoración de riesgos</a:t>
            </a:r>
            <a:endParaRPr lang="es-ES" sz="1200" b="1" i="1" dirty="0">
              <a:solidFill>
                <a:srgbClr val="A3A3E0"/>
              </a:solidFill>
            </a:endParaRPr>
          </a:p>
        </p:txBody>
      </p:sp>
      <p:sp>
        <p:nvSpPr>
          <p:cNvPr id="76" name="Rounded Rectangle 75"/>
          <p:cNvSpPr/>
          <p:nvPr/>
        </p:nvSpPr>
        <p:spPr>
          <a:xfrm>
            <a:off x="902959" y="4255955"/>
            <a:ext cx="1920240" cy="170094"/>
          </a:xfrm>
          <a:prstGeom prst="roundRect">
            <a:avLst/>
          </a:prstGeom>
          <a:solidFill>
            <a:srgbClr val="DB0613"/>
          </a:solidFill>
          <a:ln w="9525" algn="ctr">
            <a:noFill/>
            <a:miter lim="800000"/>
            <a:headEnd/>
            <a:tailEnd/>
          </a:ln>
          <a:effectLst/>
        </p:spPr>
        <p:txBody>
          <a:bodyPr tIns="91440" anchor="ctr"/>
          <a:lstStyle/>
          <a:p>
            <a:pPr>
              <a:lnSpc>
                <a:spcPct val="80000"/>
              </a:lnSpc>
            </a:pPr>
            <a:r>
              <a:rPr lang="es-CL" sz="1100" b="1" dirty="0">
                <a:solidFill>
                  <a:srgbClr val="FFFFFF"/>
                </a:solidFill>
                <a:cs typeface="Arial" pitchFamily="34" charset="0"/>
              </a:rPr>
              <a:t>Pérdida Esperada Anual</a:t>
            </a:r>
          </a:p>
        </p:txBody>
      </p:sp>
      <p:sp>
        <p:nvSpPr>
          <p:cNvPr id="77" name="Rectangle 18"/>
          <p:cNvSpPr>
            <a:spLocks noChangeArrowheads="1"/>
          </p:cNvSpPr>
          <p:nvPr/>
        </p:nvSpPr>
        <p:spPr bwMode="auto">
          <a:xfrm>
            <a:off x="2859920" y="4255955"/>
            <a:ext cx="1554480" cy="170094"/>
          </a:xfrm>
          <a:prstGeom prst="rect">
            <a:avLst/>
          </a:prstGeom>
          <a:solidFill>
            <a:schemeClr val="bg1"/>
          </a:solidFill>
          <a:ln w="9525" algn="ctr">
            <a:solidFill>
              <a:schemeClr val="bg2"/>
            </a:solidFill>
            <a:miter lim="800000"/>
            <a:headEnd/>
            <a:tailEnd/>
          </a:ln>
          <a:effectLst/>
        </p:spPr>
        <p:txBody>
          <a:bodyPr anchor="ctr"/>
          <a:lstStyle/>
          <a:p>
            <a:pPr algn="ctr"/>
            <a:r>
              <a:rPr lang="es-ES" sz="1100" dirty="0"/>
              <a:t>s/. 27,540.00  </a:t>
            </a:r>
            <a:endParaRPr lang="es-ES" sz="1100" dirty="0">
              <a:solidFill>
                <a:srgbClr val="000000"/>
              </a:solidFill>
            </a:endParaRPr>
          </a:p>
        </p:txBody>
      </p:sp>
      <p:sp>
        <p:nvSpPr>
          <p:cNvPr id="80" name="Rounded Rectangle 79"/>
          <p:cNvSpPr/>
          <p:nvPr/>
        </p:nvSpPr>
        <p:spPr>
          <a:xfrm>
            <a:off x="902959" y="4485567"/>
            <a:ext cx="1920240" cy="170094"/>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VaR Cualitativo Anual</a:t>
            </a:r>
          </a:p>
        </p:txBody>
      </p:sp>
      <p:sp>
        <p:nvSpPr>
          <p:cNvPr id="81" name="Rectangle 18"/>
          <p:cNvSpPr>
            <a:spLocks noChangeArrowheads="1"/>
          </p:cNvSpPr>
          <p:nvPr/>
        </p:nvSpPr>
        <p:spPr bwMode="auto">
          <a:xfrm>
            <a:off x="2859920" y="4485567"/>
            <a:ext cx="1554480" cy="170094"/>
          </a:xfrm>
          <a:prstGeom prst="rect">
            <a:avLst/>
          </a:prstGeom>
          <a:solidFill>
            <a:schemeClr val="bg1"/>
          </a:solidFill>
          <a:ln w="9525" algn="ctr">
            <a:solidFill>
              <a:schemeClr val="bg2"/>
            </a:solidFill>
            <a:miter lim="800000"/>
            <a:headEnd/>
            <a:tailEnd/>
          </a:ln>
          <a:effectLst/>
        </p:spPr>
        <p:txBody>
          <a:bodyPr anchor="ctr"/>
          <a:lstStyle/>
          <a:p>
            <a:pPr algn="ctr"/>
            <a:r>
              <a:rPr lang="es-ES" sz="1100" dirty="0"/>
              <a:t>s/. 169,920.72 </a:t>
            </a:r>
            <a:endParaRPr lang="es-ES" sz="1100" dirty="0">
              <a:solidFill>
                <a:srgbClr val="000000"/>
              </a:solidFill>
            </a:endParaRPr>
          </a:p>
        </p:txBody>
      </p:sp>
      <p:sp>
        <p:nvSpPr>
          <p:cNvPr id="82" name="Rounded Rectangle 81"/>
          <p:cNvSpPr/>
          <p:nvPr/>
        </p:nvSpPr>
        <p:spPr>
          <a:xfrm>
            <a:off x="891084" y="3553916"/>
            <a:ext cx="1920240" cy="170094"/>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Frecuencia  Evento Pérdida</a:t>
            </a:r>
          </a:p>
        </p:txBody>
      </p:sp>
      <p:sp>
        <p:nvSpPr>
          <p:cNvPr id="83" name="Rectangle 18"/>
          <p:cNvSpPr>
            <a:spLocks noChangeArrowheads="1"/>
          </p:cNvSpPr>
          <p:nvPr/>
        </p:nvSpPr>
        <p:spPr bwMode="auto">
          <a:xfrm>
            <a:off x="2859920" y="3553916"/>
            <a:ext cx="1554480" cy="170094"/>
          </a:xfrm>
          <a:prstGeom prst="rect">
            <a:avLst/>
          </a:prstGeom>
          <a:solidFill>
            <a:schemeClr val="bg1"/>
          </a:solidFill>
          <a:ln w="9525" algn="ctr">
            <a:solidFill>
              <a:schemeClr val="bg2"/>
            </a:solidFill>
            <a:miter lim="800000"/>
            <a:headEnd/>
            <a:tailEnd/>
          </a:ln>
          <a:effectLst/>
        </p:spPr>
        <p:txBody>
          <a:bodyPr anchor="ctr"/>
          <a:lstStyle/>
          <a:p>
            <a:pPr algn="ctr"/>
            <a:r>
              <a:rPr lang="es-ES" sz="1100" dirty="0">
                <a:solidFill>
                  <a:srgbClr val="000000"/>
                </a:solidFill>
              </a:rPr>
              <a:t>1 vez por año</a:t>
            </a:r>
          </a:p>
        </p:txBody>
      </p:sp>
      <p:sp>
        <p:nvSpPr>
          <p:cNvPr id="84" name="Rounded Rectangle 83"/>
          <p:cNvSpPr/>
          <p:nvPr/>
        </p:nvSpPr>
        <p:spPr>
          <a:xfrm>
            <a:off x="891084" y="3783528"/>
            <a:ext cx="1920240" cy="170094"/>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Impacto Medio Evento</a:t>
            </a:r>
          </a:p>
        </p:txBody>
      </p:sp>
      <p:sp>
        <p:nvSpPr>
          <p:cNvPr id="85" name="Rectangle 18"/>
          <p:cNvSpPr>
            <a:spLocks noChangeArrowheads="1"/>
          </p:cNvSpPr>
          <p:nvPr/>
        </p:nvSpPr>
        <p:spPr bwMode="auto">
          <a:xfrm>
            <a:off x="2859920" y="3783528"/>
            <a:ext cx="1554480" cy="170094"/>
          </a:xfrm>
          <a:prstGeom prst="rect">
            <a:avLst/>
          </a:prstGeom>
          <a:solidFill>
            <a:schemeClr val="bg1"/>
          </a:solidFill>
          <a:ln w="9525" algn="ctr">
            <a:solidFill>
              <a:schemeClr val="bg2"/>
            </a:solidFill>
            <a:miter lim="800000"/>
            <a:headEnd/>
            <a:tailEnd/>
          </a:ln>
          <a:effectLst/>
        </p:spPr>
        <p:txBody>
          <a:bodyPr anchor="ctr"/>
          <a:lstStyle/>
          <a:p>
            <a:pPr algn="ctr"/>
            <a:r>
              <a:rPr lang="es-ES" sz="1100" dirty="0">
                <a:solidFill>
                  <a:srgbClr val="000000"/>
                </a:solidFill>
              </a:rPr>
              <a:t>s/. </a:t>
            </a:r>
            <a:r>
              <a:rPr lang="es-ES" sz="1100" dirty="0"/>
              <a:t>27,540 .00</a:t>
            </a:r>
            <a:endParaRPr lang="es-ES" sz="1100" dirty="0">
              <a:solidFill>
                <a:srgbClr val="000000"/>
              </a:solidFill>
            </a:endParaRPr>
          </a:p>
        </p:txBody>
      </p:sp>
      <p:sp>
        <p:nvSpPr>
          <p:cNvPr id="86" name="Rounded Rectangle 85"/>
          <p:cNvSpPr/>
          <p:nvPr/>
        </p:nvSpPr>
        <p:spPr>
          <a:xfrm>
            <a:off x="891084" y="4019108"/>
            <a:ext cx="1920240" cy="170094"/>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Impacto Peor Escenario</a:t>
            </a:r>
          </a:p>
        </p:txBody>
      </p:sp>
      <p:sp>
        <p:nvSpPr>
          <p:cNvPr id="87" name="Rectangle 18"/>
          <p:cNvSpPr>
            <a:spLocks noChangeArrowheads="1"/>
          </p:cNvSpPr>
          <p:nvPr/>
        </p:nvSpPr>
        <p:spPr bwMode="auto">
          <a:xfrm>
            <a:off x="2859920" y="4019108"/>
            <a:ext cx="1554480" cy="170094"/>
          </a:xfrm>
          <a:prstGeom prst="rect">
            <a:avLst/>
          </a:prstGeom>
          <a:solidFill>
            <a:schemeClr val="bg1"/>
          </a:solidFill>
          <a:ln w="9525" algn="ctr">
            <a:solidFill>
              <a:schemeClr val="bg2"/>
            </a:solidFill>
            <a:miter lim="800000"/>
            <a:headEnd/>
            <a:tailEnd/>
          </a:ln>
          <a:effectLst/>
        </p:spPr>
        <p:txBody>
          <a:bodyPr anchor="ctr"/>
          <a:lstStyle/>
          <a:p>
            <a:pPr algn="ctr"/>
            <a:r>
              <a:rPr lang="es-ES" sz="1100" dirty="0"/>
              <a:t>s/. 76,500 .00</a:t>
            </a:r>
            <a:endParaRPr lang="es-ES" sz="1100" dirty="0">
              <a:solidFill>
                <a:srgbClr val="000000"/>
              </a:solidFill>
            </a:endParaRPr>
          </a:p>
        </p:txBody>
      </p:sp>
      <p:sp>
        <p:nvSpPr>
          <p:cNvPr id="88" name="AutoShape 47"/>
          <p:cNvSpPr>
            <a:spLocks noChangeAspect="1" noChangeArrowheads="1"/>
          </p:cNvSpPr>
          <p:nvPr/>
        </p:nvSpPr>
        <p:spPr bwMode="blackWhite">
          <a:xfrm>
            <a:off x="263032" y="3482416"/>
            <a:ext cx="503986" cy="1274400"/>
          </a:xfrm>
          <a:prstGeom prst="rightArrow">
            <a:avLst>
              <a:gd name="adj1" fmla="val 100000"/>
              <a:gd name="adj2" fmla="val 11009"/>
            </a:avLst>
          </a:prstGeom>
          <a:solidFill>
            <a:srgbClr val="969696"/>
          </a:solidFill>
          <a:ln w="12700">
            <a:noFill/>
            <a:miter lim="800000"/>
            <a:headEnd/>
            <a:tailEnd/>
          </a:ln>
          <a:effectLst>
            <a:outerShdw dist="35921" dir="2700000" algn="ctr" rotWithShape="0">
              <a:schemeClr val="bg2"/>
            </a:outerShdw>
          </a:effectLst>
        </p:spPr>
        <p:txBody>
          <a:bodyPr vert="vert270" anchor="ctr"/>
          <a:lstStyle/>
          <a:p>
            <a:pPr algn="ctr">
              <a:lnSpc>
                <a:spcPts val="1000"/>
              </a:lnSpc>
            </a:pPr>
            <a:r>
              <a:rPr lang="es-ES" sz="1100" b="1" noProof="1">
                <a:solidFill>
                  <a:srgbClr val="FFFFFF"/>
                </a:solidFill>
                <a:cs typeface="Arial" charset="0"/>
              </a:rPr>
              <a:t>Evaluación Riesgo Operacional</a:t>
            </a:r>
          </a:p>
        </p:txBody>
      </p:sp>
      <p:sp>
        <p:nvSpPr>
          <p:cNvPr id="89" name="AutoShape 179"/>
          <p:cNvSpPr>
            <a:spLocks noChangeArrowheads="1"/>
          </p:cNvSpPr>
          <p:nvPr/>
        </p:nvSpPr>
        <p:spPr bwMode="auto">
          <a:xfrm>
            <a:off x="4932039" y="3493021"/>
            <a:ext cx="4037169" cy="864000"/>
          </a:xfrm>
          <a:prstGeom prst="roundRect">
            <a:avLst>
              <a:gd name="adj" fmla="val 9481"/>
            </a:avLst>
          </a:prstGeom>
          <a:solidFill>
            <a:schemeClr val="accent1">
              <a:lumMod val="20000"/>
              <a:lumOff val="80000"/>
            </a:schemeClr>
          </a:solidFill>
          <a:ln w="9525" algn="ctr">
            <a:noFill/>
            <a:round/>
            <a:headEnd/>
            <a:tailEnd/>
          </a:ln>
          <a:effectLst/>
        </p:spPr>
        <p:txBody>
          <a:bodyPr wrap="none" anchor="ctr"/>
          <a:lstStyle/>
          <a:p>
            <a:endParaRPr lang="es-CL">
              <a:solidFill>
                <a:srgbClr val="002060"/>
              </a:solidFill>
            </a:endParaRPr>
          </a:p>
        </p:txBody>
      </p:sp>
      <p:sp>
        <p:nvSpPr>
          <p:cNvPr id="90" name="AutoShape 47"/>
          <p:cNvSpPr>
            <a:spLocks noChangeArrowheads="1"/>
          </p:cNvSpPr>
          <p:nvPr/>
        </p:nvSpPr>
        <p:spPr bwMode="blackWhite">
          <a:xfrm>
            <a:off x="4678512" y="3494523"/>
            <a:ext cx="353942" cy="864000"/>
          </a:xfrm>
          <a:prstGeom prst="rightArrow">
            <a:avLst>
              <a:gd name="adj1" fmla="val 100000"/>
              <a:gd name="adj2" fmla="val 11009"/>
            </a:avLst>
          </a:prstGeom>
          <a:solidFill>
            <a:srgbClr val="969696"/>
          </a:solidFill>
          <a:ln w="12700">
            <a:noFill/>
            <a:miter lim="800000"/>
            <a:headEnd/>
            <a:tailEnd/>
          </a:ln>
          <a:effectLst>
            <a:outerShdw dist="35921" dir="2700000" algn="ctr" rotWithShape="0">
              <a:schemeClr val="bg2"/>
            </a:outerShdw>
          </a:effectLst>
        </p:spPr>
        <p:txBody>
          <a:bodyPr vert="vert270" anchor="ctr"/>
          <a:lstStyle/>
          <a:p>
            <a:pPr algn="ctr">
              <a:lnSpc>
                <a:spcPts val="1000"/>
              </a:lnSpc>
            </a:pPr>
            <a:r>
              <a:rPr lang="es-ES" sz="1100" b="1" noProof="1">
                <a:solidFill>
                  <a:srgbClr val="FFFFFF"/>
                </a:solidFill>
                <a:cs typeface="Arial" charset="0"/>
              </a:rPr>
              <a:t>Impacto Reputacional</a:t>
            </a:r>
          </a:p>
        </p:txBody>
      </p:sp>
      <p:sp>
        <p:nvSpPr>
          <p:cNvPr id="91" name="Rectangle 18"/>
          <p:cNvSpPr>
            <a:spLocks noChangeArrowheads="1"/>
          </p:cNvSpPr>
          <p:nvPr/>
        </p:nvSpPr>
        <p:spPr bwMode="auto">
          <a:xfrm>
            <a:off x="8334310" y="3568288"/>
            <a:ext cx="548640" cy="170094"/>
          </a:xfrm>
          <a:prstGeom prst="rect">
            <a:avLst/>
          </a:prstGeom>
          <a:solidFill>
            <a:schemeClr val="bg1"/>
          </a:solidFill>
          <a:ln w="9525" algn="ctr">
            <a:solidFill>
              <a:schemeClr val="bg2"/>
            </a:solidFill>
            <a:miter lim="800000"/>
            <a:headEnd/>
            <a:tailEnd/>
          </a:ln>
          <a:effectLst/>
        </p:spPr>
        <p:txBody>
          <a:bodyPr anchor="ctr"/>
          <a:lstStyle/>
          <a:p>
            <a:pPr algn="ctr"/>
            <a:r>
              <a:rPr lang="es-ES" sz="1100" dirty="0"/>
              <a:t>1</a:t>
            </a:r>
          </a:p>
        </p:txBody>
      </p:sp>
      <p:sp>
        <p:nvSpPr>
          <p:cNvPr id="92" name="Rounded Rectangle 91"/>
          <p:cNvSpPr/>
          <p:nvPr/>
        </p:nvSpPr>
        <p:spPr>
          <a:xfrm>
            <a:off x="5102950" y="3568288"/>
            <a:ext cx="3132000" cy="170094"/>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Afectación a Clientes</a:t>
            </a:r>
          </a:p>
        </p:txBody>
      </p:sp>
      <p:sp>
        <p:nvSpPr>
          <p:cNvPr id="93" name="Rectangle 18"/>
          <p:cNvSpPr>
            <a:spLocks noChangeArrowheads="1"/>
          </p:cNvSpPr>
          <p:nvPr/>
        </p:nvSpPr>
        <p:spPr bwMode="auto">
          <a:xfrm>
            <a:off x="5102950" y="3786445"/>
            <a:ext cx="3780000" cy="469509"/>
          </a:xfrm>
          <a:prstGeom prst="rect">
            <a:avLst/>
          </a:prstGeom>
          <a:solidFill>
            <a:schemeClr val="bg1"/>
          </a:solidFill>
          <a:ln w="9525" algn="ctr">
            <a:solidFill>
              <a:schemeClr val="bg2"/>
            </a:solidFill>
            <a:miter lim="800000"/>
            <a:headEnd/>
            <a:tailEnd/>
          </a:ln>
          <a:effectLst/>
        </p:spPr>
        <p:txBody>
          <a:bodyPr anchor="ctr"/>
          <a:lstStyle/>
          <a:p>
            <a:r>
              <a:rPr lang="es-ES" sz="1100" dirty="0">
                <a:solidFill>
                  <a:srgbClr val="000000"/>
                </a:solidFill>
              </a:rPr>
              <a:t>La exposición de la imagen es únicamente interna y limitada.</a:t>
            </a:r>
          </a:p>
        </p:txBody>
      </p:sp>
      <p:sp>
        <p:nvSpPr>
          <p:cNvPr id="94" name="Text Box 30"/>
          <p:cNvSpPr txBox="1">
            <a:spLocks noChangeArrowheads="1"/>
          </p:cNvSpPr>
          <p:nvPr/>
        </p:nvSpPr>
        <p:spPr bwMode="auto">
          <a:xfrm>
            <a:off x="190746" y="4838419"/>
            <a:ext cx="3996000" cy="276999"/>
          </a:xfrm>
          <a:prstGeom prst="rect">
            <a:avLst/>
          </a:prstGeom>
          <a:noFill/>
          <a:ln w="9525" algn="ctr">
            <a:noFill/>
            <a:miter lim="800000"/>
            <a:headEnd/>
            <a:tailEnd/>
          </a:ln>
          <a:effectLst/>
        </p:spPr>
        <p:txBody>
          <a:bodyPr wrap="square">
            <a:spAutoFit/>
          </a:bodyPr>
          <a:lstStyle/>
          <a:p>
            <a:pPr>
              <a:spcBef>
                <a:spcPct val="50000"/>
              </a:spcBef>
            </a:pPr>
            <a:r>
              <a:rPr lang="es-CL" sz="1200" b="1" i="1" dirty="0">
                <a:solidFill>
                  <a:srgbClr val="A3A3E0"/>
                </a:solidFill>
              </a:rPr>
              <a:t>Resultados valoración de controles / factores mitigantes</a:t>
            </a:r>
            <a:endParaRPr lang="es-ES" sz="1200" b="1" i="1" dirty="0">
              <a:solidFill>
                <a:srgbClr val="A3A3E0"/>
              </a:solidFill>
            </a:endParaRPr>
          </a:p>
        </p:txBody>
      </p:sp>
      <p:sp>
        <p:nvSpPr>
          <p:cNvPr id="98" name="AutoShape 179"/>
          <p:cNvSpPr>
            <a:spLocks noChangeArrowheads="1"/>
          </p:cNvSpPr>
          <p:nvPr/>
        </p:nvSpPr>
        <p:spPr bwMode="auto">
          <a:xfrm>
            <a:off x="4927319" y="4397238"/>
            <a:ext cx="4037169" cy="892800"/>
          </a:xfrm>
          <a:prstGeom prst="roundRect">
            <a:avLst>
              <a:gd name="adj" fmla="val 9481"/>
            </a:avLst>
          </a:prstGeom>
          <a:solidFill>
            <a:schemeClr val="accent1">
              <a:lumMod val="20000"/>
              <a:lumOff val="80000"/>
            </a:schemeClr>
          </a:solidFill>
          <a:ln w="9525" algn="ctr">
            <a:noFill/>
            <a:round/>
            <a:headEnd/>
            <a:tailEnd/>
          </a:ln>
          <a:effectLst/>
        </p:spPr>
        <p:txBody>
          <a:bodyPr wrap="none" anchor="ctr"/>
          <a:lstStyle/>
          <a:p>
            <a:endParaRPr lang="es-CL">
              <a:solidFill>
                <a:srgbClr val="002060"/>
              </a:solidFill>
            </a:endParaRPr>
          </a:p>
        </p:txBody>
      </p:sp>
      <p:sp>
        <p:nvSpPr>
          <p:cNvPr id="99" name="AutoShape 47"/>
          <p:cNvSpPr>
            <a:spLocks noChangeArrowheads="1"/>
          </p:cNvSpPr>
          <p:nvPr/>
        </p:nvSpPr>
        <p:spPr bwMode="blackWhite">
          <a:xfrm>
            <a:off x="4673792" y="4398740"/>
            <a:ext cx="352800" cy="892800"/>
          </a:xfrm>
          <a:prstGeom prst="rightArrow">
            <a:avLst>
              <a:gd name="adj1" fmla="val 100000"/>
              <a:gd name="adj2" fmla="val 11009"/>
            </a:avLst>
          </a:prstGeom>
          <a:solidFill>
            <a:srgbClr val="969696"/>
          </a:solidFill>
          <a:ln w="12700">
            <a:noFill/>
            <a:miter lim="800000"/>
            <a:headEnd/>
            <a:tailEnd/>
          </a:ln>
          <a:effectLst>
            <a:outerShdw dist="35921" dir="2700000" algn="ctr" rotWithShape="0">
              <a:schemeClr val="bg2"/>
            </a:outerShdw>
          </a:effectLst>
        </p:spPr>
        <p:txBody>
          <a:bodyPr vert="vert270" anchor="ctr"/>
          <a:lstStyle/>
          <a:p>
            <a:pPr algn="ctr">
              <a:lnSpc>
                <a:spcPts val="1000"/>
              </a:lnSpc>
            </a:pPr>
            <a:r>
              <a:rPr lang="es-ES" sz="1100" b="1" noProof="1">
                <a:solidFill>
                  <a:srgbClr val="FFFFFF"/>
                </a:solidFill>
                <a:cs typeface="Arial" charset="0"/>
              </a:rPr>
              <a:t>Cuestionarios</a:t>
            </a:r>
          </a:p>
        </p:txBody>
      </p:sp>
      <p:sp>
        <p:nvSpPr>
          <p:cNvPr id="101" name="Rounded Rectangle 38"/>
          <p:cNvSpPr/>
          <p:nvPr/>
        </p:nvSpPr>
        <p:spPr>
          <a:xfrm>
            <a:off x="5098230" y="4472505"/>
            <a:ext cx="3132000" cy="170094"/>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Criterios de Evaluación</a:t>
            </a:r>
          </a:p>
        </p:txBody>
      </p:sp>
      <p:sp>
        <p:nvSpPr>
          <p:cNvPr id="102" name="AutoShape 179"/>
          <p:cNvSpPr>
            <a:spLocks noChangeArrowheads="1"/>
          </p:cNvSpPr>
          <p:nvPr/>
        </p:nvSpPr>
        <p:spPr bwMode="auto">
          <a:xfrm>
            <a:off x="534831" y="5060900"/>
            <a:ext cx="4037169" cy="864000"/>
          </a:xfrm>
          <a:prstGeom prst="roundRect">
            <a:avLst>
              <a:gd name="adj" fmla="val 9481"/>
            </a:avLst>
          </a:prstGeom>
          <a:solidFill>
            <a:schemeClr val="accent1">
              <a:lumMod val="20000"/>
              <a:lumOff val="80000"/>
            </a:schemeClr>
          </a:solidFill>
          <a:ln w="9525" algn="ctr">
            <a:noFill/>
            <a:round/>
            <a:headEnd/>
            <a:tailEnd/>
          </a:ln>
          <a:effectLst/>
        </p:spPr>
        <p:txBody>
          <a:bodyPr wrap="none" anchor="ctr"/>
          <a:lstStyle/>
          <a:p>
            <a:endParaRPr lang="es-CL">
              <a:solidFill>
                <a:srgbClr val="002060"/>
              </a:solidFill>
            </a:endParaRPr>
          </a:p>
        </p:txBody>
      </p:sp>
      <p:sp>
        <p:nvSpPr>
          <p:cNvPr id="103" name="AutoShape 47"/>
          <p:cNvSpPr>
            <a:spLocks noChangeArrowheads="1"/>
          </p:cNvSpPr>
          <p:nvPr/>
        </p:nvSpPr>
        <p:spPr bwMode="blackWhite">
          <a:xfrm>
            <a:off x="281304" y="5062402"/>
            <a:ext cx="353942" cy="864000"/>
          </a:xfrm>
          <a:prstGeom prst="rightArrow">
            <a:avLst>
              <a:gd name="adj1" fmla="val 100000"/>
              <a:gd name="adj2" fmla="val 11009"/>
            </a:avLst>
          </a:prstGeom>
          <a:solidFill>
            <a:srgbClr val="969696"/>
          </a:solidFill>
          <a:ln w="12700">
            <a:noFill/>
            <a:miter lim="800000"/>
            <a:headEnd/>
            <a:tailEnd/>
          </a:ln>
          <a:effectLst>
            <a:outerShdw dist="35921" dir="2700000" algn="ctr" rotWithShape="0">
              <a:schemeClr val="bg2"/>
            </a:outerShdw>
          </a:effectLst>
        </p:spPr>
        <p:txBody>
          <a:bodyPr vert="vert270" anchor="ctr"/>
          <a:lstStyle/>
          <a:p>
            <a:pPr algn="ctr">
              <a:lnSpc>
                <a:spcPts val="1000"/>
              </a:lnSpc>
            </a:pPr>
            <a:r>
              <a:rPr lang="es-ES" sz="1100" b="1" noProof="1">
                <a:solidFill>
                  <a:srgbClr val="FFFFFF"/>
                </a:solidFill>
                <a:cs typeface="Arial" charset="0"/>
              </a:rPr>
              <a:t>Evaluación de Controles</a:t>
            </a:r>
          </a:p>
        </p:txBody>
      </p:sp>
      <p:sp>
        <p:nvSpPr>
          <p:cNvPr id="104" name="Rectangle 18"/>
          <p:cNvSpPr>
            <a:spLocks noChangeArrowheads="1"/>
          </p:cNvSpPr>
          <p:nvPr/>
        </p:nvSpPr>
        <p:spPr bwMode="auto">
          <a:xfrm>
            <a:off x="3937102" y="5136167"/>
            <a:ext cx="548640" cy="170094"/>
          </a:xfrm>
          <a:prstGeom prst="rect">
            <a:avLst/>
          </a:prstGeom>
          <a:solidFill>
            <a:schemeClr val="bg1"/>
          </a:solidFill>
          <a:ln w="9525" algn="ctr">
            <a:solidFill>
              <a:schemeClr val="bg2"/>
            </a:solidFill>
            <a:miter lim="800000"/>
            <a:headEnd/>
            <a:tailEnd/>
          </a:ln>
          <a:effectLst/>
        </p:spPr>
        <p:txBody>
          <a:bodyPr anchor="ctr"/>
          <a:lstStyle/>
          <a:p>
            <a:pPr algn="ctr"/>
            <a:r>
              <a:rPr lang="es-ES" sz="1100" dirty="0">
                <a:solidFill>
                  <a:srgbClr val="002060"/>
                </a:solidFill>
              </a:rPr>
              <a:t>2</a:t>
            </a:r>
          </a:p>
        </p:txBody>
      </p:sp>
      <p:sp>
        <p:nvSpPr>
          <p:cNvPr id="105" name="Rounded Rectangle 38"/>
          <p:cNvSpPr/>
          <p:nvPr/>
        </p:nvSpPr>
        <p:spPr>
          <a:xfrm>
            <a:off x="705742" y="5136167"/>
            <a:ext cx="3132000" cy="170094"/>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Controles asociados al riesgo</a:t>
            </a:r>
          </a:p>
        </p:txBody>
      </p:sp>
      <p:sp>
        <p:nvSpPr>
          <p:cNvPr id="106" name="Rectangle 18"/>
          <p:cNvSpPr>
            <a:spLocks noChangeArrowheads="1"/>
          </p:cNvSpPr>
          <p:nvPr/>
        </p:nvSpPr>
        <p:spPr bwMode="auto">
          <a:xfrm>
            <a:off x="5102950" y="4685678"/>
            <a:ext cx="3780000" cy="469509"/>
          </a:xfrm>
          <a:prstGeom prst="rect">
            <a:avLst/>
          </a:prstGeom>
          <a:solidFill>
            <a:schemeClr val="bg1"/>
          </a:solidFill>
          <a:ln w="9525" algn="ctr">
            <a:solidFill>
              <a:schemeClr val="bg2"/>
            </a:solidFill>
            <a:miter lim="800000"/>
            <a:headEnd/>
            <a:tailEnd/>
          </a:ln>
          <a:effectLst/>
        </p:spPr>
        <p:txBody>
          <a:bodyPr anchor="ctr"/>
          <a:lstStyle/>
          <a:p>
            <a:r>
              <a:rPr lang="es-ES" sz="1100" dirty="0">
                <a:solidFill>
                  <a:srgbClr val="000000"/>
                </a:solidFill>
              </a:rPr>
              <a:t>Para la evaluación del riesgo que se trata, el Experto consideró cuánto se dejaría de ingresar por primas en caso de materializare este riesgo.</a:t>
            </a:r>
          </a:p>
        </p:txBody>
      </p:sp>
      <p:sp>
        <p:nvSpPr>
          <p:cNvPr id="107" name="Rectangle 18"/>
          <p:cNvSpPr>
            <a:spLocks noChangeArrowheads="1"/>
          </p:cNvSpPr>
          <p:nvPr/>
        </p:nvSpPr>
        <p:spPr bwMode="auto">
          <a:xfrm>
            <a:off x="705742" y="5357175"/>
            <a:ext cx="3780000" cy="469509"/>
          </a:xfrm>
          <a:prstGeom prst="rect">
            <a:avLst/>
          </a:prstGeom>
          <a:solidFill>
            <a:schemeClr val="bg1"/>
          </a:solidFill>
          <a:ln w="9525" algn="ctr">
            <a:solidFill>
              <a:schemeClr val="bg2"/>
            </a:solidFill>
            <a:miter lim="800000"/>
            <a:headEnd/>
            <a:tailEnd/>
          </a:ln>
          <a:effectLst/>
        </p:spPr>
        <p:txBody>
          <a:bodyPr anchor="ctr"/>
          <a:lstStyle/>
          <a:p>
            <a:pPr marL="228600" indent="-228600">
              <a:buFont typeface="+mj-lt"/>
              <a:buAutoNum type="arabicPeriod"/>
            </a:pPr>
            <a:r>
              <a:rPr lang="es-ES" sz="1100" dirty="0">
                <a:solidFill>
                  <a:srgbClr val="000000"/>
                </a:solidFill>
              </a:rPr>
              <a:t>Se requiere el sustento de la decisión </a:t>
            </a:r>
          </a:p>
          <a:p>
            <a:pPr marL="228600" indent="-228600">
              <a:buFont typeface="+mj-lt"/>
              <a:buAutoNum type="arabicPeriod"/>
            </a:pPr>
            <a:r>
              <a:rPr lang="es-ES" sz="1100" dirty="0">
                <a:solidFill>
                  <a:srgbClr val="000000"/>
                </a:solidFill>
              </a:rPr>
              <a:t>Existencia de unos límites sin formalizar en las políticas </a:t>
            </a:r>
          </a:p>
        </p:txBody>
      </p:sp>
    </p:spTree>
    <p:extLst>
      <p:ext uri="{BB962C8B-B14F-4D97-AF65-F5344CB8AC3E}">
        <p14:creationId xmlns:p14="http://schemas.microsoft.com/office/powerpoint/2010/main" val="1115116112"/>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dirty="0"/>
              <a:t>Anexo: Ficha Individual Riesgos Operacionales</a:t>
            </a:r>
          </a:p>
        </p:txBody>
      </p:sp>
      <p:sp>
        <p:nvSpPr>
          <p:cNvPr id="4" name="Rounded Rectangle 3"/>
          <p:cNvSpPr/>
          <p:nvPr/>
        </p:nvSpPr>
        <p:spPr>
          <a:xfrm>
            <a:off x="227770" y="764704"/>
            <a:ext cx="360040" cy="274320"/>
          </a:xfrm>
          <a:prstGeom prst="roundRect">
            <a:avLst/>
          </a:prstGeom>
          <a:solidFill>
            <a:srgbClr val="DB0613"/>
          </a:solidFill>
          <a:ln w="9525" algn="ctr">
            <a:noFill/>
            <a:miter lim="800000"/>
            <a:headEnd/>
            <a:tailEnd/>
          </a:ln>
          <a:effectLst/>
        </p:spPr>
        <p:txBody>
          <a:bodyPr anchor="ctr"/>
          <a:lstStyle/>
          <a:p>
            <a:pPr algn="ctr">
              <a:lnSpc>
                <a:spcPct val="80000"/>
              </a:lnSpc>
            </a:pPr>
            <a:r>
              <a:rPr lang="es-CL" sz="1200" b="1" dirty="0">
                <a:solidFill>
                  <a:srgbClr val="FFFFFF"/>
                </a:solidFill>
                <a:cs typeface="Arial" pitchFamily="34" charset="0"/>
              </a:rPr>
              <a:t>6</a:t>
            </a:r>
          </a:p>
        </p:txBody>
      </p:sp>
      <p:sp>
        <p:nvSpPr>
          <p:cNvPr id="5" name="Rectangle 18"/>
          <p:cNvSpPr>
            <a:spLocks noChangeArrowheads="1"/>
          </p:cNvSpPr>
          <p:nvPr/>
        </p:nvSpPr>
        <p:spPr bwMode="auto">
          <a:xfrm>
            <a:off x="227770" y="2548229"/>
            <a:ext cx="6400800" cy="708660"/>
          </a:xfrm>
          <a:prstGeom prst="rect">
            <a:avLst/>
          </a:prstGeom>
          <a:noFill/>
          <a:ln w="9525" algn="ctr">
            <a:solidFill>
              <a:schemeClr val="bg2"/>
            </a:solidFill>
            <a:miter lim="800000"/>
            <a:headEnd/>
            <a:tailEnd/>
          </a:ln>
          <a:effectLst/>
        </p:spPr>
        <p:txBody>
          <a:bodyPr/>
          <a:lstStyle/>
          <a:p>
            <a:pPr>
              <a:lnSpc>
                <a:spcPct val="80000"/>
              </a:lnSpc>
            </a:pPr>
            <a:r>
              <a:rPr lang="es-ES" sz="1100" dirty="0">
                <a:solidFill>
                  <a:srgbClr val="000000"/>
                </a:solidFill>
              </a:rPr>
              <a:t>Riesgo de que los suscriptores autoricen cotizaciones no alineadas con los objetivos definidos por la UN por la inexistencia de límites para estos.</a:t>
            </a:r>
          </a:p>
        </p:txBody>
      </p:sp>
      <p:sp>
        <p:nvSpPr>
          <p:cNvPr id="8" name="Rounded Rectangle 7"/>
          <p:cNvSpPr/>
          <p:nvPr/>
        </p:nvSpPr>
        <p:spPr>
          <a:xfrm>
            <a:off x="652842" y="764704"/>
            <a:ext cx="8321040" cy="274320"/>
          </a:xfrm>
          <a:prstGeom prst="roundRect">
            <a:avLst/>
          </a:prstGeom>
          <a:solidFill>
            <a:srgbClr val="DB0613"/>
          </a:solidFill>
          <a:ln w="9525" algn="ctr">
            <a:noFill/>
            <a:miter lim="800000"/>
            <a:headEnd/>
            <a:tailEnd/>
          </a:ln>
          <a:effectLst/>
        </p:spPr>
        <p:txBody>
          <a:bodyPr anchor="ctr"/>
          <a:lstStyle/>
          <a:p>
            <a:pPr>
              <a:lnSpc>
                <a:spcPct val="80000"/>
              </a:lnSpc>
            </a:pPr>
            <a:r>
              <a:rPr lang="es-ES" sz="1200" dirty="0">
                <a:solidFill>
                  <a:schemeClr val="bg1"/>
                </a:solidFill>
              </a:rPr>
              <a:t>Riesgo de autorización de cotizaciones no alineadas con los objetivos de la UN por la inexistencia de límites.</a:t>
            </a:r>
          </a:p>
        </p:txBody>
      </p:sp>
      <p:sp>
        <p:nvSpPr>
          <p:cNvPr id="9" name="Rounded Rectangle 8"/>
          <p:cNvSpPr/>
          <p:nvPr/>
        </p:nvSpPr>
        <p:spPr>
          <a:xfrm>
            <a:off x="227770" y="2307916"/>
            <a:ext cx="64008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Descripción</a:t>
            </a:r>
          </a:p>
        </p:txBody>
      </p:sp>
      <p:sp>
        <p:nvSpPr>
          <p:cNvPr id="17" name="Rounded Rectangle 16"/>
          <p:cNvSpPr/>
          <p:nvPr/>
        </p:nvSpPr>
        <p:spPr>
          <a:xfrm>
            <a:off x="216583" y="1110038"/>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Macroproceso</a:t>
            </a:r>
          </a:p>
        </p:txBody>
      </p:sp>
      <p:sp>
        <p:nvSpPr>
          <p:cNvPr id="18" name="Rectangle 18"/>
          <p:cNvSpPr>
            <a:spLocks noChangeArrowheads="1"/>
          </p:cNvSpPr>
          <p:nvPr/>
        </p:nvSpPr>
        <p:spPr bwMode="auto">
          <a:xfrm>
            <a:off x="2568409" y="1110038"/>
            <a:ext cx="3877200" cy="182880"/>
          </a:xfrm>
          <a:prstGeom prst="rect">
            <a:avLst/>
          </a:prstGeom>
          <a:noFill/>
          <a:ln w="9525" algn="ctr">
            <a:solidFill>
              <a:schemeClr val="bg2"/>
            </a:solidFill>
            <a:miter lim="800000"/>
            <a:headEnd/>
            <a:tailEnd/>
          </a:ln>
          <a:effectLst/>
        </p:spPr>
        <p:txBody>
          <a:bodyPr anchor="ctr"/>
          <a:lstStyle/>
          <a:p>
            <a:r>
              <a:rPr lang="es-ES" sz="1100" dirty="0"/>
              <a:t>Generación de Negocio</a:t>
            </a:r>
            <a:endParaRPr lang="es-ES" sz="1100" dirty="0">
              <a:solidFill>
                <a:srgbClr val="000000"/>
              </a:solidFill>
            </a:endParaRPr>
          </a:p>
        </p:txBody>
      </p:sp>
      <p:sp>
        <p:nvSpPr>
          <p:cNvPr id="19" name="Rounded Rectangle 18"/>
          <p:cNvSpPr/>
          <p:nvPr/>
        </p:nvSpPr>
        <p:spPr>
          <a:xfrm>
            <a:off x="216583" y="1339045"/>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Proceso</a:t>
            </a:r>
          </a:p>
        </p:txBody>
      </p:sp>
      <p:sp>
        <p:nvSpPr>
          <p:cNvPr id="20" name="Rectangle 18"/>
          <p:cNvSpPr>
            <a:spLocks noChangeArrowheads="1"/>
          </p:cNvSpPr>
          <p:nvPr/>
        </p:nvSpPr>
        <p:spPr bwMode="auto">
          <a:xfrm>
            <a:off x="2568409" y="1339045"/>
            <a:ext cx="3877200" cy="182880"/>
          </a:xfrm>
          <a:prstGeom prst="rect">
            <a:avLst/>
          </a:prstGeom>
          <a:noFill/>
          <a:ln w="9525" algn="ctr">
            <a:solidFill>
              <a:schemeClr val="bg2"/>
            </a:solidFill>
            <a:miter lim="800000"/>
            <a:headEnd/>
            <a:tailEnd/>
          </a:ln>
          <a:effectLst/>
        </p:spPr>
        <p:txBody>
          <a:bodyPr anchor="ctr"/>
          <a:lstStyle/>
          <a:p>
            <a:r>
              <a:rPr lang="es-ES" sz="1100" dirty="0"/>
              <a:t>Suscripción</a:t>
            </a:r>
            <a:endParaRPr lang="es-ES" sz="1100" dirty="0">
              <a:solidFill>
                <a:srgbClr val="000000"/>
              </a:solidFill>
            </a:endParaRPr>
          </a:p>
        </p:txBody>
      </p:sp>
      <p:sp>
        <p:nvSpPr>
          <p:cNvPr id="59" name="Rounded Rectangle 58"/>
          <p:cNvSpPr/>
          <p:nvPr/>
        </p:nvSpPr>
        <p:spPr>
          <a:xfrm>
            <a:off x="216583" y="1579694"/>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Subproceso</a:t>
            </a:r>
          </a:p>
        </p:txBody>
      </p:sp>
      <p:sp>
        <p:nvSpPr>
          <p:cNvPr id="60" name="Rectangle 18"/>
          <p:cNvSpPr>
            <a:spLocks noChangeArrowheads="1"/>
          </p:cNvSpPr>
          <p:nvPr/>
        </p:nvSpPr>
        <p:spPr bwMode="auto">
          <a:xfrm>
            <a:off x="2568409" y="1579694"/>
            <a:ext cx="3875799" cy="182880"/>
          </a:xfrm>
          <a:prstGeom prst="rect">
            <a:avLst/>
          </a:prstGeom>
          <a:noFill/>
          <a:ln w="9525" algn="ctr">
            <a:solidFill>
              <a:schemeClr val="bg2"/>
            </a:solidFill>
            <a:miter lim="800000"/>
            <a:headEnd/>
            <a:tailEnd/>
          </a:ln>
          <a:effectLst/>
        </p:spPr>
        <p:txBody>
          <a:bodyPr anchor="ctr"/>
          <a:lstStyle/>
          <a:p>
            <a:r>
              <a:rPr lang="es-ES" sz="1100" dirty="0"/>
              <a:t>Cotización Fuera de Políticas</a:t>
            </a:r>
            <a:endParaRPr lang="es-ES" sz="1100" dirty="0">
              <a:solidFill>
                <a:srgbClr val="000000"/>
              </a:solidFill>
            </a:endParaRPr>
          </a:p>
        </p:txBody>
      </p:sp>
      <p:sp>
        <p:nvSpPr>
          <p:cNvPr id="61" name="Rounded Rectangle 60"/>
          <p:cNvSpPr/>
          <p:nvPr/>
        </p:nvSpPr>
        <p:spPr>
          <a:xfrm>
            <a:off x="226806" y="1826440"/>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Línea de Negocio</a:t>
            </a:r>
          </a:p>
        </p:txBody>
      </p:sp>
      <p:sp>
        <p:nvSpPr>
          <p:cNvPr id="63" name="Rounded Rectangle 62"/>
          <p:cNvSpPr/>
          <p:nvPr/>
        </p:nvSpPr>
        <p:spPr>
          <a:xfrm>
            <a:off x="226806" y="2079535"/>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Responsable</a:t>
            </a:r>
          </a:p>
        </p:txBody>
      </p:sp>
      <p:sp>
        <p:nvSpPr>
          <p:cNvPr id="65" name="Rectangle 18"/>
          <p:cNvSpPr>
            <a:spLocks noChangeArrowheads="1"/>
          </p:cNvSpPr>
          <p:nvPr/>
        </p:nvSpPr>
        <p:spPr bwMode="auto">
          <a:xfrm>
            <a:off x="2568409" y="1826440"/>
            <a:ext cx="3875799" cy="182880"/>
          </a:xfrm>
          <a:prstGeom prst="rect">
            <a:avLst/>
          </a:prstGeom>
          <a:noFill/>
          <a:ln w="9525" algn="ctr">
            <a:solidFill>
              <a:schemeClr val="bg2"/>
            </a:solidFill>
            <a:miter lim="800000"/>
            <a:headEnd/>
            <a:tailEnd/>
          </a:ln>
          <a:effectLst/>
        </p:spPr>
        <p:txBody>
          <a:bodyPr anchor="ctr"/>
          <a:lstStyle/>
          <a:p>
            <a:r>
              <a:rPr lang="es-ES" sz="1100" dirty="0">
                <a:solidFill>
                  <a:srgbClr val="000000"/>
                </a:solidFill>
              </a:rPr>
              <a:t>Vehículos</a:t>
            </a:r>
          </a:p>
        </p:txBody>
      </p:sp>
      <p:sp>
        <p:nvSpPr>
          <p:cNvPr id="66" name="Rectangle 18"/>
          <p:cNvSpPr>
            <a:spLocks noChangeArrowheads="1"/>
          </p:cNvSpPr>
          <p:nvPr/>
        </p:nvSpPr>
        <p:spPr bwMode="auto">
          <a:xfrm>
            <a:off x="2555776" y="2079535"/>
            <a:ext cx="3875799" cy="182880"/>
          </a:xfrm>
          <a:prstGeom prst="rect">
            <a:avLst/>
          </a:prstGeom>
          <a:noFill/>
          <a:ln w="9525" algn="ctr">
            <a:solidFill>
              <a:schemeClr val="bg2"/>
            </a:solidFill>
            <a:miter lim="800000"/>
            <a:headEnd/>
            <a:tailEnd/>
          </a:ln>
          <a:effectLst/>
        </p:spPr>
        <p:txBody>
          <a:bodyPr anchor="ctr"/>
          <a:lstStyle/>
          <a:p>
            <a:r>
              <a:rPr lang="es-ES" sz="1100" dirty="0">
                <a:solidFill>
                  <a:srgbClr val="000000"/>
                </a:solidFill>
              </a:rPr>
              <a:t>Suscriptor</a:t>
            </a:r>
          </a:p>
        </p:txBody>
      </p:sp>
      <p:sp>
        <p:nvSpPr>
          <p:cNvPr id="58" name="AutoShape 179"/>
          <p:cNvSpPr>
            <a:spLocks noChangeArrowheads="1"/>
          </p:cNvSpPr>
          <p:nvPr/>
        </p:nvSpPr>
        <p:spPr bwMode="auto">
          <a:xfrm>
            <a:off x="611560" y="3482416"/>
            <a:ext cx="3960812" cy="1275707"/>
          </a:xfrm>
          <a:prstGeom prst="roundRect">
            <a:avLst>
              <a:gd name="adj" fmla="val 9481"/>
            </a:avLst>
          </a:prstGeom>
          <a:solidFill>
            <a:schemeClr val="accent1">
              <a:lumMod val="20000"/>
              <a:lumOff val="80000"/>
            </a:schemeClr>
          </a:solidFill>
          <a:ln w="9525" algn="ctr">
            <a:noFill/>
            <a:round/>
            <a:headEnd/>
            <a:tailEnd/>
          </a:ln>
          <a:effectLst/>
        </p:spPr>
        <p:txBody>
          <a:bodyPr wrap="none" anchor="ctr"/>
          <a:lstStyle/>
          <a:p>
            <a:endParaRPr lang="es-CL">
              <a:solidFill>
                <a:srgbClr val="002060"/>
              </a:solidFill>
            </a:endParaRPr>
          </a:p>
        </p:txBody>
      </p:sp>
      <p:sp>
        <p:nvSpPr>
          <p:cNvPr id="62" name="Text Box 30"/>
          <p:cNvSpPr txBox="1">
            <a:spLocks noChangeArrowheads="1"/>
          </p:cNvSpPr>
          <p:nvPr/>
        </p:nvSpPr>
        <p:spPr bwMode="auto">
          <a:xfrm>
            <a:off x="190747" y="3259373"/>
            <a:ext cx="3671888" cy="276999"/>
          </a:xfrm>
          <a:prstGeom prst="rect">
            <a:avLst/>
          </a:prstGeom>
          <a:noFill/>
          <a:ln w="9525" algn="ctr">
            <a:noFill/>
            <a:miter lim="800000"/>
            <a:headEnd/>
            <a:tailEnd/>
          </a:ln>
          <a:effectLst/>
        </p:spPr>
        <p:txBody>
          <a:bodyPr>
            <a:spAutoFit/>
          </a:bodyPr>
          <a:lstStyle/>
          <a:p>
            <a:pPr>
              <a:spcBef>
                <a:spcPct val="50000"/>
              </a:spcBef>
            </a:pPr>
            <a:r>
              <a:rPr lang="es-CL" sz="1200" b="1" i="1" dirty="0">
                <a:solidFill>
                  <a:srgbClr val="A3A3E0"/>
                </a:solidFill>
              </a:rPr>
              <a:t>Resultados valoración de riesgos</a:t>
            </a:r>
            <a:endParaRPr lang="es-ES" sz="1200" b="1" i="1" dirty="0">
              <a:solidFill>
                <a:srgbClr val="A3A3E0"/>
              </a:solidFill>
            </a:endParaRPr>
          </a:p>
        </p:txBody>
      </p:sp>
      <p:sp>
        <p:nvSpPr>
          <p:cNvPr id="64" name="Rounded Rectangle 21"/>
          <p:cNvSpPr/>
          <p:nvPr/>
        </p:nvSpPr>
        <p:spPr>
          <a:xfrm>
            <a:off x="902959" y="4255955"/>
            <a:ext cx="1920240" cy="170094"/>
          </a:xfrm>
          <a:prstGeom prst="roundRect">
            <a:avLst/>
          </a:prstGeom>
          <a:solidFill>
            <a:srgbClr val="DB0613"/>
          </a:solidFill>
          <a:ln w="9525" algn="ctr">
            <a:noFill/>
            <a:miter lim="800000"/>
            <a:headEnd/>
            <a:tailEnd/>
          </a:ln>
          <a:effectLst/>
        </p:spPr>
        <p:txBody>
          <a:bodyPr tIns="91440" anchor="ctr"/>
          <a:lstStyle/>
          <a:p>
            <a:pPr>
              <a:lnSpc>
                <a:spcPct val="80000"/>
              </a:lnSpc>
            </a:pPr>
            <a:r>
              <a:rPr lang="es-CL" sz="1100" b="1" dirty="0">
                <a:solidFill>
                  <a:srgbClr val="FFFFFF"/>
                </a:solidFill>
                <a:cs typeface="Arial" pitchFamily="34" charset="0"/>
              </a:rPr>
              <a:t>Pérdida Esperada Anual</a:t>
            </a:r>
          </a:p>
        </p:txBody>
      </p:sp>
      <p:sp>
        <p:nvSpPr>
          <p:cNvPr id="67" name="Rectangle 18"/>
          <p:cNvSpPr>
            <a:spLocks noChangeArrowheads="1"/>
          </p:cNvSpPr>
          <p:nvPr/>
        </p:nvSpPr>
        <p:spPr bwMode="auto">
          <a:xfrm>
            <a:off x="2859920" y="4255955"/>
            <a:ext cx="1554480" cy="170094"/>
          </a:xfrm>
          <a:prstGeom prst="rect">
            <a:avLst/>
          </a:prstGeom>
          <a:solidFill>
            <a:schemeClr val="bg1"/>
          </a:solidFill>
          <a:ln w="9525" algn="ctr">
            <a:solidFill>
              <a:schemeClr val="bg2"/>
            </a:solidFill>
            <a:miter lim="800000"/>
            <a:headEnd/>
            <a:tailEnd/>
          </a:ln>
          <a:effectLst/>
        </p:spPr>
        <p:txBody>
          <a:bodyPr anchor="ctr"/>
          <a:lstStyle/>
          <a:p>
            <a:pPr algn="ctr"/>
            <a:r>
              <a:rPr lang="es-PE" sz="1100" dirty="0">
                <a:solidFill>
                  <a:srgbClr val="000000"/>
                </a:solidFill>
              </a:rPr>
              <a:t>s/. 0.00</a:t>
            </a:r>
            <a:endParaRPr lang="es-ES" sz="1100" dirty="0">
              <a:solidFill>
                <a:srgbClr val="000000"/>
              </a:solidFill>
            </a:endParaRPr>
          </a:p>
        </p:txBody>
      </p:sp>
      <p:sp>
        <p:nvSpPr>
          <p:cNvPr id="68" name="Rounded Rectangle 23"/>
          <p:cNvSpPr/>
          <p:nvPr/>
        </p:nvSpPr>
        <p:spPr>
          <a:xfrm>
            <a:off x="902959" y="4485567"/>
            <a:ext cx="1920240" cy="170094"/>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VaR Cualitativo Anual</a:t>
            </a:r>
          </a:p>
        </p:txBody>
      </p:sp>
      <p:sp>
        <p:nvSpPr>
          <p:cNvPr id="69" name="Rectangle 18"/>
          <p:cNvSpPr>
            <a:spLocks noChangeArrowheads="1"/>
          </p:cNvSpPr>
          <p:nvPr/>
        </p:nvSpPr>
        <p:spPr bwMode="auto">
          <a:xfrm>
            <a:off x="2859920" y="4485567"/>
            <a:ext cx="1554480" cy="170094"/>
          </a:xfrm>
          <a:prstGeom prst="rect">
            <a:avLst/>
          </a:prstGeom>
          <a:solidFill>
            <a:schemeClr val="bg1"/>
          </a:solidFill>
          <a:ln w="9525" algn="ctr">
            <a:solidFill>
              <a:schemeClr val="bg2"/>
            </a:solidFill>
            <a:miter lim="800000"/>
            <a:headEnd/>
            <a:tailEnd/>
          </a:ln>
          <a:effectLst/>
        </p:spPr>
        <p:txBody>
          <a:bodyPr anchor="ctr"/>
          <a:lstStyle/>
          <a:p>
            <a:pPr algn="ctr"/>
            <a:r>
              <a:rPr lang="es-PE" sz="1100" dirty="0">
                <a:solidFill>
                  <a:srgbClr val="000000"/>
                </a:solidFill>
              </a:rPr>
              <a:t>s/. 0.00</a:t>
            </a:r>
            <a:endParaRPr lang="es-ES" sz="1100" dirty="0">
              <a:solidFill>
                <a:srgbClr val="000000"/>
              </a:solidFill>
            </a:endParaRPr>
          </a:p>
        </p:txBody>
      </p:sp>
      <p:sp>
        <p:nvSpPr>
          <p:cNvPr id="70" name="Rounded Rectangle 25"/>
          <p:cNvSpPr/>
          <p:nvPr/>
        </p:nvSpPr>
        <p:spPr>
          <a:xfrm>
            <a:off x="891084" y="3553916"/>
            <a:ext cx="1920240" cy="170094"/>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Frecuencia  Evento Pérdida</a:t>
            </a:r>
          </a:p>
        </p:txBody>
      </p:sp>
      <p:sp>
        <p:nvSpPr>
          <p:cNvPr id="71" name="Rectangle 18"/>
          <p:cNvSpPr>
            <a:spLocks noChangeArrowheads="1"/>
          </p:cNvSpPr>
          <p:nvPr/>
        </p:nvSpPr>
        <p:spPr bwMode="auto">
          <a:xfrm>
            <a:off x="2859920" y="3553916"/>
            <a:ext cx="1554480" cy="170094"/>
          </a:xfrm>
          <a:prstGeom prst="rect">
            <a:avLst/>
          </a:prstGeom>
          <a:solidFill>
            <a:schemeClr val="bg1"/>
          </a:solidFill>
          <a:ln w="9525" algn="ctr">
            <a:solidFill>
              <a:schemeClr val="bg2"/>
            </a:solidFill>
            <a:miter lim="800000"/>
            <a:headEnd/>
            <a:tailEnd/>
          </a:ln>
          <a:effectLst/>
        </p:spPr>
        <p:txBody>
          <a:bodyPr anchor="ctr"/>
          <a:lstStyle/>
          <a:p>
            <a:pPr algn="ctr"/>
            <a:r>
              <a:rPr lang="es-PE" sz="1100" dirty="0">
                <a:solidFill>
                  <a:srgbClr val="000000"/>
                </a:solidFill>
              </a:rPr>
              <a:t>20 veces por año</a:t>
            </a:r>
            <a:endParaRPr lang="es-ES" sz="1100" dirty="0">
              <a:solidFill>
                <a:srgbClr val="000000"/>
              </a:solidFill>
            </a:endParaRPr>
          </a:p>
        </p:txBody>
      </p:sp>
      <p:sp>
        <p:nvSpPr>
          <p:cNvPr id="72" name="Rounded Rectangle 27"/>
          <p:cNvSpPr/>
          <p:nvPr/>
        </p:nvSpPr>
        <p:spPr>
          <a:xfrm>
            <a:off x="891084" y="3783528"/>
            <a:ext cx="1920240" cy="170094"/>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Impacto Medio Evento</a:t>
            </a:r>
          </a:p>
        </p:txBody>
      </p:sp>
      <p:sp>
        <p:nvSpPr>
          <p:cNvPr id="73" name="Rectangle 18"/>
          <p:cNvSpPr>
            <a:spLocks noChangeArrowheads="1"/>
          </p:cNvSpPr>
          <p:nvPr/>
        </p:nvSpPr>
        <p:spPr bwMode="auto">
          <a:xfrm>
            <a:off x="2859920" y="3783528"/>
            <a:ext cx="1554480" cy="170094"/>
          </a:xfrm>
          <a:prstGeom prst="rect">
            <a:avLst/>
          </a:prstGeom>
          <a:solidFill>
            <a:schemeClr val="bg1"/>
          </a:solidFill>
          <a:ln w="9525" algn="ctr">
            <a:solidFill>
              <a:schemeClr val="bg2"/>
            </a:solidFill>
            <a:miter lim="800000"/>
            <a:headEnd/>
            <a:tailEnd/>
          </a:ln>
          <a:effectLst/>
        </p:spPr>
        <p:txBody>
          <a:bodyPr anchor="ctr"/>
          <a:lstStyle/>
          <a:p>
            <a:pPr algn="ctr"/>
            <a:r>
              <a:rPr lang="es-PE" sz="1100" dirty="0">
                <a:solidFill>
                  <a:srgbClr val="000000"/>
                </a:solidFill>
              </a:rPr>
              <a:t>s/. 0.00</a:t>
            </a:r>
            <a:endParaRPr lang="es-ES" sz="1100" dirty="0">
              <a:solidFill>
                <a:srgbClr val="000000"/>
              </a:solidFill>
            </a:endParaRPr>
          </a:p>
        </p:txBody>
      </p:sp>
      <p:sp>
        <p:nvSpPr>
          <p:cNvPr id="74" name="Rounded Rectangle 29"/>
          <p:cNvSpPr/>
          <p:nvPr/>
        </p:nvSpPr>
        <p:spPr>
          <a:xfrm>
            <a:off x="891084" y="4019108"/>
            <a:ext cx="1920240" cy="170094"/>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Impacto Peor Escenario</a:t>
            </a:r>
          </a:p>
        </p:txBody>
      </p:sp>
      <p:sp>
        <p:nvSpPr>
          <p:cNvPr id="75" name="Rectangle 18"/>
          <p:cNvSpPr>
            <a:spLocks noChangeArrowheads="1"/>
          </p:cNvSpPr>
          <p:nvPr/>
        </p:nvSpPr>
        <p:spPr bwMode="auto">
          <a:xfrm>
            <a:off x="2859920" y="4019108"/>
            <a:ext cx="1554480" cy="170094"/>
          </a:xfrm>
          <a:prstGeom prst="rect">
            <a:avLst/>
          </a:prstGeom>
          <a:solidFill>
            <a:schemeClr val="bg1"/>
          </a:solidFill>
          <a:ln w="9525" algn="ctr">
            <a:solidFill>
              <a:schemeClr val="bg2"/>
            </a:solidFill>
            <a:miter lim="800000"/>
            <a:headEnd/>
            <a:tailEnd/>
          </a:ln>
          <a:effectLst/>
        </p:spPr>
        <p:txBody>
          <a:bodyPr anchor="ctr"/>
          <a:lstStyle/>
          <a:p>
            <a:pPr algn="ctr"/>
            <a:r>
              <a:rPr lang="es-PE" sz="1100" dirty="0">
                <a:solidFill>
                  <a:srgbClr val="000000"/>
                </a:solidFill>
              </a:rPr>
              <a:t>s/. 0.00</a:t>
            </a:r>
            <a:endParaRPr lang="es-ES" sz="1100" dirty="0">
              <a:solidFill>
                <a:srgbClr val="000000"/>
              </a:solidFill>
            </a:endParaRPr>
          </a:p>
        </p:txBody>
      </p:sp>
      <p:sp>
        <p:nvSpPr>
          <p:cNvPr id="76" name="AutoShape 47"/>
          <p:cNvSpPr>
            <a:spLocks noChangeAspect="1" noChangeArrowheads="1"/>
          </p:cNvSpPr>
          <p:nvPr/>
        </p:nvSpPr>
        <p:spPr bwMode="blackWhite">
          <a:xfrm>
            <a:off x="263032" y="3482416"/>
            <a:ext cx="503986" cy="1274400"/>
          </a:xfrm>
          <a:prstGeom prst="rightArrow">
            <a:avLst>
              <a:gd name="adj1" fmla="val 100000"/>
              <a:gd name="adj2" fmla="val 11009"/>
            </a:avLst>
          </a:prstGeom>
          <a:solidFill>
            <a:srgbClr val="969696"/>
          </a:solidFill>
          <a:ln w="12700">
            <a:noFill/>
            <a:miter lim="800000"/>
            <a:headEnd/>
            <a:tailEnd/>
          </a:ln>
          <a:effectLst>
            <a:outerShdw dist="35921" dir="2700000" algn="ctr" rotWithShape="0">
              <a:schemeClr val="bg2"/>
            </a:outerShdw>
          </a:effectLst>
        </p:spPr>
        <p:txBody>
          <a:bodyPr vert="vert270" anchor="ctr"/>
          <a:lstStyle/>
          <a:p>
            <a:pPr algn="ctr">
              <a:lnSpc>
                <a:spcPts val="1000"/>
              </a:lnSpc>
            </a:pPr>
            <a:r>
              <a:rPr lang="es-ES" sz="1100" b="1" noProof="1">
                <a:solidFill>
                  <a:srgbClr val="FFFFFF"/>
                </a:solidFill>
                <a:cs typeface="Arial" charset="0"/>
              </a:rPr>
              <a:t>Evaluación Riesgo Operacional</a:t>
            </a:r>
          </a:p>
        </p:txBody>
      </p:sp>
      <p:sp>
        <p:nvSpPr>
          <p:cNvPr id="77" name="AutoShape 179"/>
          <p:cNvSpPr>
            <a:spLocks noChangeArrowheads="1"/>
          </p:cNvSpPr>
          <p:nvPr/>
        </p:nvSpPr>
        <p:spPr bwMode="auto">
          <a:xfrm>
            <a:off x="4932039" y="3493021"/>
            <a:ext cx="4037169" cy="864000"/>
          </a:xfrm>
          <a:prstGeom prst="roundRect">
            <a:avLst>
              <a:gd name="adj" fmla="val 9481"/>
            </a:avLst>
          </a:prstGeom>
          <a:solidFill>
            <a:schemeClr val="accent1">
              <a:lumMod val="20000"/>
              <a:lumOff val="80000"/>
            </a:schemeClr>
          </a:solidFill>
          <a:ln w="9525" algn="ctr">
            <a:noFill/>
            <a:round/>
            <a:headEnd/>
            <a:tailEnd/>
          </a:ln>
          <a:effectLst/>
        </p:spPr>
        <p:txBody>
          <a:bodyPr wrap="none" anchor="ctr"/>
          <a:lstStyle/>
          <a:p>
            <a:endParaRPr lang="es-CL">
              <a:solidFill>
                <a:srgbClr val="002060"/>
              </a:solidFill>
            </a:endParaRPr>
          </a:p>
        </p:txBody>
      </p:sp>
      <p:sp>
        <p:nvSpPr>
          <p:cNvPr id="78" name="AutoShape 47"/>
          <p:cNvSpPr>
            <a:spLocks noChangeArrowheads="1"/>
          </p:cNvSpPr>
          <p:nvPr/>
        </p:nvSpPr>
        <p:spPr bwMode="blackWhite">
          <a:xfrm>
            <a:off x="4678512" y="3494523"/>
            <a:ext cx="353942" cy="864000"/>
          </a:xfrm>
          <a:prstGeom prst="rightArrow">
            <a:avLst>
              <a:gd name="adj1" fmla="val 100000"/>
              <a:gd name="adj2" fmla="val 11009"/>
            </a:avLst>
          </a:prstGeom>
          <a:solidFill>
            <a:srgbClr val="969696"/>
          </a:solidFill>
          <a:ln w="12700">
            <a:noFill/>
            <a:miter lim="800000"/>
            <a:headEnd/>
            <a:tailEnd/>
          </a:ln>
          <a:effectLst>
            <a:outerShdw dist="35921" dir="2700000" algn="ctr" rotWithShape="0">
              <a:schemeClr val="bg2"/>
            </a:outerShdw>
          </a:effectLst>
        </p:spPr>
        <p:txBody>
          <a:bodyPr vert="vert270" anchor="ctr"/>
          <a:lstStyle/>
          <a:p>
            <a:pPr algn="ctr">
              <a:lnSpc>
                <a:spcPts val="1000"/>
              </a:lnSpc>
            </a:pPr>
            <a:r>
              <a:rPr lang="es-ES" sz="1100" b="1" noProof="1">
                <a:solidFill>
                  <a:srgbClr val="FFFFFF"/>
                </a:solidFill>
                <a:cs typeface="Arial" charset="0"/>
              </a:rPr>
              <a:t>Impacto Reputacional</a:t>
            </a:r>
          </a:p>
        </p:txBody>
      </p:sp>
      <p:sp>
        <p:nvSpPr>
          <p:cNvPr id="79" name="Rectangle 18"/>
          <p:cNvSpPr>
            <a:spLocks noChangeArrowheads="1"/>
          </p:cNvSpPr>
          <p:nvPr/>
        </p:nvSpPr>
        <p:spPr bwMode="auto">
          <a:xfrm>
            <a:off x="8334310" y="3568288"/>
            <a:ext cx="548640" cy="170094"/>
          </a:xfrm>
          <a:prstGeom prst="rect">
            <a:avLst/>
          </a:prstGeom>
          <a:solidFill>
            <a:schemeClr val="bg1"/>
          </a:solidFill>
          <a:ln w="9525" algn="ctr">
            <a:solidFill>
              <a:schemeClr val="bg2"/>
            </a:solidFill>
            <a:miter lim="800000"/>
            <a:headEnd/>
            <a:tailEnd/>
          </a:ln>
          <a:effectLst/>
        </p:spPr>
        <p:txBody>
          <a:bodyPr anchor="ctr"/>
          <a:lstStyle/>
          <a:p>
            <a:pPr algn="ctr"/>
            <a:r>
              <a:rPr lang="es-PE" sz="1100" dirty="0"/>
              <a:t>1</a:t>
            </a:r>
            <a:endParaRPr lang="es-ES" sz="1100" dirty="0"/>
          </a:p>
        </p:txBody>
      </p:sp>
      <p:sp>
        <p:nvSpPr>
          <p:cNvPr id="80" name="Rounded Rectangle 38"/>
          <p:cNvSpPr/>
          <p:nvPr/>
        </p:nvSpPr>
        <p:spPr>
          <a:xfrm>
            <a:off x="5102950" y="3568288"/>
            <a:ext cx="3132000" cy="170094"/>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Afectación a Clientes</a:t>
            </a:r>
          </a:p>
        </p:txBody>
      </p:sp>
      <p:sp>
        <p:nvSpPr>
          <p:cNvPr id="81" name="Rectangle 18"/>
          <p:cNvSpPr>
            <a:spLocks noChangeArrowheads="1"/>
          </p:cNvSpPr>
          <p:nvPr/>
        </p:nvSpPr>
        <p:spPr bwMode="auto">
          <a:xfrm>
            <a:off x="5102950" y="3786445"/>
            <a:ext cx="3780000" cy="469509"/>
          </a:xfrm>
          <a:prstGeom prst="rect">
            <a:avLst/>
          </a:prstGeom>
          <a:solidFill>
            <a:schemeClr val="bg1"/>
          </a:solidFill>
          <a:ln w="9525" algn="ctr">
            <a:solidFill>
              <a:schemeClr val="bg2"/>
            </a:solidFill>
            <a:miter lim="800000"/>
            <a:headEnd/>
            <a:tailEnd/>
          </a:ln>
          <a:effectLst/>
        </p:spPr>
        <p:txBody>
          <a:bodyPr anchor="ctr"/>
          <a:lstStyle/>
          <a:p>
            <a:r>
              <a:rPr lang="es-ES" sz="1100" dirty="0">
                <a:solidFill>
                  <a:srgbClr val="000000"/>
                </a:solidFill>
              </a:rPr>
              <a:t>La exposición de la imagen es únicamente interna y limitada.</a:t>
            </a:r>
          </a:p>
        </p:txBody>
      </p:sp>
      <p:sp>
        <p:nvSpPr>
          <p:cNvPr id="82" name="Text Box 30"/>
          <p:cNvSpPr txBox="1">
            <a:spLocks noChangeArrowheads="1"/>
          </p:cNvSpPr>
          <p:nvPr/>
        </p:nvSpPr>
        <p:spPr bwMode="auto">
          <a:xfrm>
            <a:off x="190746" y="4838419"/>
            <a:ext cx="3996000" cy="276999"/>
          </a:xfrm>
          <a:prstGeom prst="rect">
            <a:avLst/>
          </a:prstGeom>
          <a:noFill/>
          <a:ln w="9525" algn="ctr">
            <a:noFill/>
            <a:miter lim="800000"/>
            <a:headEnd/>
            <a:tailEnd/>
          </a:ln>
          <a:effectLst/>
        </p:spPr>
        <p:txBody>
          <a:bodyPr wrap="square">
            <a:spAutoFit/>
          </a:bodyPr>
          <a:lstStyle/>
          <a:p>
            <a:pPr>
              <a:spcBef>
                <a:spcPct val="50000"/>
              </a:spcBef>
            </a:pPr>
            <a:r>
              <a:rPr lang="es-CL" sz="1200" b="1" i="1" dirty="0">
                <a:solidFill>
                  <a:srgbClr val="A3A3E0"/>
                </a:solidFill>
              </a:rPr>
              <a:t>Resultados valoración de controles / factores mitigantes</a:t>
            </a:r>
            <a:endParaRPr lang="es-ES" sz="1200" b="1" i="1" dirty="0">
              <a:solidFill>
                <a:srgbClr val="A3A3E0"/>
              </a:solidFill>
            </a:endParaRPr>
          </a:p>
        </p:txBody>
      </p:sp>
      <p:sp>
        <p:nvSpPr>
          <p:cNvPr id="86" name="AutoShape 179"/>
          <p:cNvSpPr>
            <a:spLocks noChangeArrowheads="1"/>
          </p:cNvSpPr>
          <p:nvPr/>
        </p:nvSpPr>
        <p:spPr bwMode="auto">
          <a:xfrm>
            <a:off x="4927319" y="4397238"/>
            <a:ext cx="4037169" cy="892800"/>
          </a:xfrm>
          <a:prstGeom prst="roundRect">
            <a:avLst>
              <a:gd name="adj" fmla="val 9481"/>
            </a:avLst>
          </a:prstGeom>
          <a:solidFill>
            <a:schemeClr val="accent1">
              <a:lumMod val="20000"/>
              <a:lumOff val="80000"/>
            </a:schemeClr>
          </a:solidFill>
          <a:ln w="9525" algn="ctr">
            <a:noFill/>
            <a:round/>
            <a:headEnd/>
            <a:tailEnd/>
          </a:ln>
          <a:effectLst/>
        </p:spPr>
        <p:txBody>
          <a:bodyPr wrap="none" anchor="ctr"/>
          <a:lstStyle/>
          <a:p>
            <a:endParaRPr lang="es-CL">
              <a:solidFill>
                <a:srgbClr val="002060"/>
              </a:solidFill>
            </a:endParaRPr>
          </a:p>
        </p:txBody>
      </p:sp>
      <p:sp>
        <p:nvSpPr>
          <p:cNvPr id="87" name="AutoShape 47"/>
          <p:cNvSpPr>
            <a:spLocks noChangeArrowheads="1"/>
          </p:cNvSpPr>
          <p:nvPr/>
        </p:nvSpPr>
        <p:spPr bwMode="blackWhite">
          <a:xfrm>
            <a:off x="4673792" y="4398740"/>
            <a:ext cx="352800" cy="892800"/>
          </a:xfrm>
          <a:prstGeom prst="rightArrow">
            <a:avLst>
              <a:gd name="adj1" fmla="val 100000"/>
              <a:gd name="adj2" fmla="val 11009"/>
            </a:avLst>
          </a:prstGeom>
          <a:solidFill>
            <a:srgbClr val="969696"/>
          </a:solidFill>
          <a:ln w="12700">
            <a:noFill/>
            <a:miter lim="800000"/>
            <a:headEnd/>
            <a:tailEnd/>
          </a:ln>
          <a:effectLst>
            <a:outerShdw dist="35921" dir="2700000" algn="ctr" rotWithShape="0">
              <a:schemeClr val="bg2"/>
            </a:outerShdw>
          </a:effectLst>
        </p:spPr>
        <p:txBody>
          <a:bodyPr vert="vert270" anchor="ctr"/>
          <a:lstStyle/>
          <a:p>
            <a:pPr algn="ctr">
              <a:lnSpc>
                <a:spcPts val="1000"/>
              </a:lnSpc>
            </a:pPr>
            <a:r>
              <a:rPr lang="es-ES" sz="1100" b="1" noProof="1">
                <a:solidFill>
                  <a:srgbClr val="FFFFFF"/>
                </a:solidFill>
                <a:cs typeface="Arial" charset="0"/>
              </a:rPr>
              <a:t>Cuestionarios</a:t>
            </a:r>
          </a:p>
        </p:txBody>
      </p:sp>
      <p:sp>
        <p:nvSpPr>
          <p:cNvPr id="89" name="Rounded Rectangle 38"/>
          <p:cNvSpPr/>
          <p:nvPr/>
        </p:nvSpPr>
        <p:spPr>
          <a:xfrm>
            <a:off x="5098230" y="4472505"/>
            <a:ext cx="3132000" cy="170094"/>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Criterios de Evaluación</a:t>
            </a:r>
          </a:p>
        </p:txBody>
      </p:sp>
      <p:sp>
        <p:nvSpPr>
          <p:cNvPr id="90" name="AutoShape 179"/>
          <p:cNvSpPr>
            <a:spLocks noChangeArrowheads="1"/>
          </p:cNvSpPr>
          <p:nvPr/>
        </p:nvSpPr>
        <p:spPr bwMode="auto">
          <a:xfrm>
            <a:off x="534831" y="5060900"/>
            <a:ext cx="4037169" cy="864000"/>
          </a:xfrm>
          <a:prstGeom prst="roundRect">
            <a:avLst>
              <a:gd name="adj" fmla="val 9481"/>
            </a:avLst>
          </a:prstGeom>
          <a:solidFill>
            <a:schemeClr val="accent1">
              <a:lumMod val="20000"/>
              <a:lumOff val="80000"/>
            </a:schemeClr>
          </a:solidFill>
          <a:ln w="9525" algn="ctr">
            <a:noFill/>
            <a:round/>
            <a:headEnd/>
            <a:tailEnd/>
          </a:ln>
          <a:effectLst/>
        </p:spPr>
        <p:txBody>
          <a:bodyPr wrap="none" anchor="ctr"/>
          <a:lstStyle/>
          <a:p>
            <a:endParaRPr lang="es-CL">
              <a:solidFill>
                <a:srgbClr val="002060"/>
              </a:solidFill>
            </a:endParaRPr>
          </a:p>
        </p:txBody>
      </p:sp>
      <p:sp>
        <p:nvSpPr>
          <p:cNvPr id="91" name="AutoShape 47"/>
          <p:cNvSpPr>
            <a:spLocks noChangeArrowheads="1"/>
          </p:cNvSpPr>
          <p:nvPr/>
        </p:nvSpPr>
        <p:spPr bwMode="blackWhite">
          <a:xfrm>
            <a:off x="281304" y="5062402"/>
            <a:ext cx="353942" cy="864000"/>
          </a:xfrm>
          <a:prstGeom prst="rightArrow">
            <a:avLst>
              <a:gd name="adj1" fmla="val 100000"/>
              <a:gd name="adj2" fmla="val 11009"/>
            </a:avLst>
          </a:prstGeom>
          <a:solidFill>
            <a:srgbClr val="969696"/>
          </a:solidFill>
          <a:ln w="12700">
            <a:noFill/>
            <a:miter lim="800000"/>
            <a:headEnd/>
            <a:tailEnd/>
          </a:ln>
          <a:effectLst>
            <a:outerShdw dist="35921" dir="2700000" algn="ctr" rotWithShape="0">
              <a:schemeClr val="bg2"/>
            </a:outerShdw>
          </a:effectLst>
        </p:spPr>
        <p:txBody>
          <a:bodyPr vert="vert270" anchor="ctr"/>
          <a:lstStyle/>
          <a:p>
            <a:pPr algn="ctr">
              <a:lnSpc>
                <a:spcPts val="1000"/>
              </a:lnSpc>
            </a:pPr>
            <a:r>
              <a:rPr lang="es-ES" sz="1100" b="1" noProof="1">
                <a:solidFill>
                  <a:srgbClr val="FFFFFF"/>
                </a:solidFill>
                <a:cs typeface="Arial" charset="0"/>
              </a:rPr>
              <a:t>Evaluación de Controles</a:t>
            </a:r>
          </a:p>
        </p:txBody>
      </p:sp>
      <p:sp>
        <p:nvSpPr>
          <p:cNvPr id="92" name="Rectangle 18"/>
          <p:cNvSpPr>
            <a:spLocks noChangeArrowheads="1"/>
          </p:cNvSpPr>
          <p:nvPr/>
        </p:nvSpPr>
        <p:spPr bwMode="auto">
          <a:xfrm>
            <a:off x="3937102" y="5136167"/>
            <a:ext cx="548640" cy="170094"/>
          </a:xfrm>
          <a:prstGeom prst="rect">
            <a:avLst/>
          </a:prstGeom>
          <a:solidFill>
            <a:schemeClr val="bg1"/>
          </a:solidFill>
          <a:ln w="9525" algn="ctr">
            <a:solidFill>
              <a:schemeClr val="bg2"/>
            </a:solidFill>
            <a:miter lim="800000"/>
            <a:headEnd/>
            <a:tailEnd/>
          </a:ln>
          <a:effectLst/>
        </p:spPr>
        <p:txBody>
          <a:bodyPr anchor="ctr"/>
          <a:lstStyle/>
          <a:p>
            <a:pPr algn="ctr"/>
            <a:r>
              <a:rPr lang="es-ES" sz="1100" dirty="0">
                <a:solidFill>
                  <a:srgbClr val="002060"/>
                </a:solidFill>
              </a:rPr>
              <a:t>1</a:t>
            </a:r>
          </a:p>
        </p:txBody>
      </p:sp>
      <p:sp>
        <p:nvSpPr>
          <p:cNvPr id="93" name="Rounded Rectangle 38"/>
          <p:cNvSpPr/>
          <p:nvPr/>
        </p:nvSpPr>
        <p:spPr>
          <a:xfrm>
            <a:off x="705742" y="5136167"/>
            <a:ext cx="3132000" cy="170094"/>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Controles asociados al riesgo</a:t>
            </a:r>
          </a:p>
        </p:txBody>
      </p:sp>
      <p:sp>
        <p:nvSpPr>
          <p:cNvPr id="94" name="Rectangle 18"/>
          <p:cNvSpPr>
            <a:spLocks noChangeArrowheads="1"/>
          </p:cNvSpPr>
          <p:nvPr/>
        </p:nvSpPr>
        <p:spPr bwMode="auto">
          <a:xfrm>
            <a:off x="5102950" y="4685678"/>
            <a:ext cx="3780000" cy="469509"/>
          </a:xfrm>
          <a:prstGeom prst="rect">
            <a:avLst/>
          </a:prstGeom>
          <a:solidFill>
            <a:schemeClr val="bg1"/>
          </a:solidFill>
          <a:ln w="9525" algn="ctr">
            <a:solidFill>
              <a:schemeClr val="bg2"/>
            </a:solidFill>
            <a:miter lim="800000"/>
            <a:headEnd/>
            <a:tailEnd/>
          </a:ln>
          <a:effectLst/>
        </p:spPr>
        <p:txBody>
          <a:bodyPr anchor="ctr"/>
          <a:lstStyle/>
          <a:p>
            <a:r>
              <a:rPr lang="es-ES" sz="1100" dirty="0"/>
              <a:t>Exceder el limite es posible pero poco probable. Lo que no es posible es aceptar riesgos no deseados que impacten en el ramo; no obstante, esto no significaría un impacto catastrófico.</a:t>
            </a:r>
            <a:endParaRPr lang="es-ES" sz="1100" dirty="0">
              <a:solidFill>
                <a:srgbClr val="000000"/>
              </a:solidFill>
            </a:endParaRPr>
          </a:p>
        </p:txBody>
      </p:sp>
      <p:sp>
        <p:nvSpPr>
          <p:cNvPr id="95" name="Rectangle 18"/>
          <p:cNvSpPr>
            <a:spLocks noChangeArrowheads="1"/>
          </p:cNvSpPr>
          <p:nvPr/>
        </p:nvSpPr>
        <p:spPr bwMode="auto">
          <a:xfrm>
            <a:off x="705742" y="5357175"/>
            <a:ext cx="3780000" cy="469509"/>
          </a:xfrm>
          <a:prstGeom prst="rect">
            <a:avLst/>
          </a:prstGeom>
          <a:solidFill>
            <a:schemeClr val="bg1"/>
          </a:solidFill>
          <a:ln w="9525" algn="ctr">
            <a:solidFill>
              <a:schemeClr val="bg2"/>
            </a:solidFill>
            <a:miter lim="800000"/>
            <a:headEnd/>
            <a:tailEnd/>
          </a:ln>
          <a:effectLst/>
        </p:spPr>
        <p:txBody>
          <a:bodyPr anchor="ctr"/>
          <a:lstStyle/>
          <a:p>
            <a:r>
              <a:rPr lang="es-ES" sz="1050" dirty="0">
                <a:solidFill>
                  <a:srgbClr val="000000"/>
                </a:solidFill>
              </a:rPr>
              <a:t>(NF) Existencia de un Control de Calidad en el PRO - Emisión donde se realiza una revisión de las condiciones contratadas así como de los vistos buenos necesarios para la emisión de la póliza.</a:t>
            </a:r>
          </a:p>
        </p:txBody>
      </p:sp>
      <p:sp>
        <p:nvSpPr>
          <p:cNvPr id="96" name="Rounded Rectangle 9"/>
          <p:cNvSpPr/>
          <p:nvPr/>
        </p:nvSpPr>
        <p:spPr>
          <a:xfrm>
            <a:off x="6716066" y="1111764"/>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Categoría  de Riesgo Nivel I</a:t>
            </a:r>
          </a:p>
        </p:txBody>
      </p:sp>
      <p:sp>
        <p:nvSpPr>
          <p:cNvPr id="97" name="Rectangle 18"/>
          <p:cNvSpPr>
            <a:spLocks noChangeArrowheads="1"/>
          </p:cNvSpPr>
          <p:nvPr/>
        </p:nvSpPr>
        <p:spPr bwMode="auto">
          <a:xfrm>
            <a:off x="6716066" y="1325572"/>
            <a:ext cx="2286000" cy="270000"/>
          </a:xfrm>
          <a:prstGeom prst="rect">
            <a:avLst/>
          </a:prstGeom>
          <a:noFill/>
          <a:ln w="9525" algn="ctr">
            <a:solidFill>
              <a:schemeClr val="bg2"/>
            </a:solidFill>
            <a:miter lim="800000"/>
            <a:headEnd/>
            <a:tailEnd/>
          </a:ln>
          <a:effectLst/>
        </p:spPr>
        <p:txBody>
          <a:bodyPr anchor="ctr"/>
          <a:lstStyle/>
          <a:p>
            <a:pPr>
              <a:lnSpc>
                <a:spcPts val="1000"/>
              </a:lnSpc>
            </a:pPr>
            <a:r>
              <a:rPr lang="es-ES" sz="1100" dirty="0">
                <a:solidFill>
                  <a:srgbClr val="000000"/>
                </a:solidFill>
              </a:rPr>
              <a:t>Fraude Interno</a:t>
            </a:r>
          </a:p>
        </p:txBody>
      </p:sp>
      <p:sp>
        <p:nvSpPr>
          <p:cNvPr id="98" name="Rounded Rectangle 11"/>
          <p:cNvSpPr/>
          <p:nvPr/>
        </p:nvSpPr>
        <p:spPr>
          <a:xfrm>
            <a:off x="6716066" y="1664503"/>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Categoría  de Riesgo Nivel II</a:t>
            </a:r>
          </a:p>
        </p:txBody>
      </p:sp>
      <p:sp>
        <p:nvSpPr>
          <p:cNvPr id="99" name="Rectangle 18"/>
          <p:cNvSpPr>
            <a:spLocks noChangeArrowheads="1"/>
          </p:cNvSpPr>
          <p:nvPr/>
        </p:nvSpPr>
        <p:spPr bwMode="auto">
          <a:xfrm>
            <a:off x="6716066" y="1877089"/>
            <a:ext cx="2286000" cy="270000"/>
          </a:xfrm>
          <a:prstGeom prst="rect">
            <a:avLst/>
          </a:prstGeom>
          <a:noFill/>
          <a:ln w="9525" algn="ctr">
            <a:solidFill>
              <a:schemeClr val="bg2"/>
            </a:solidFill>
            <a:miter lim="800000"/>
            <a:headEnd/>
            <a:tailEnd/>
          </a:ln>
          <a:effectLst/>
        </p:spPr>
        <p:txBody>
          <a:bodyPr anchor="ctr"/>
          <a:lstStyle/>
          <a:p>
            <a:r>
              <a:rPr lang="es-ES" sz="1100" dirty="0">
                <a:solidFill>
                  <a:srgbClr val="000000"/>
                </a:solidFill>
              </a:rPr>
              <a:t>Actividades no autorizadas</a:t>
            </a:r>
          </a:p>
        </p:txBody>
      </p:sp>
      <p:sp>
        <p:nvSpPr>
          <p:cNvPr id="100" name="Rounded Rectangle 14"/>
          <p:cNvSpPr/>
          <p:nvPr/>
        </p:nvSpPr>
        <p:spPr>
          <a:xfrm>
            <a:off x="6716066" y="2223551"/>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Categoría  de Riesgo Nivel III</a:t>
            </a:r>
          </a:p>
        </p:txBody>
      </p:sp>
      <p:sp>
        <p:nvSpPr>
          <p:cNvPr id="101" name="Rectangle 18"/>
          <p:cNvSpPr>
            <a:spLocks noChangeArrowheads="1"/>
          </p:cNvSpPr>
          <p:nvPr/>
        </p:nvSpPr>
        <p:spPr bwMode="auto">
          <a:xfrm>
            <a:off x="6716066" y="2434321"/>
            <a:ext cx="2286000" cy="270000"/>
          </a:xfrm>
          <a:prstGeom prst="rect">
            <a:avLst/>
          </a:prstGeom>
          <a:noFill/>
          <a:ln w="9525" algn="ctr">
            <a:solidFill>
              <a:schemeClr val="bg2"/>
            </a:solidFill>
            <a:miter lim="800000"/>
            <a:headEnd/>
            <a:tailEnd/>
          </a:ln>
          <a:effectLst/>
        </p:spPr>
        <p:txBody>
          <a:bodyPr anchor="ctr"/>
          <a:lstStyle/>
          <a:p>
            <a:r>
              <a:rPr lang="es-ES" sz="1100" dirty="0"/>
              <a:t>Transacciones no autorizadas</a:t>
            </a:r>
            <a:endParaRPr lang="es-ES" sz="1100" dirty="0">
              <a:solidFill>
                <a:srgbClr val="000000"/>
              </a:solidFill>
            </a:endParaRPr>
          </a:p>
        </p:txBody>
      </p:sp>
      <p:sp>
        <p:nvSpPr>
          <p:cNvPr id="102" name="Rounded Rectangle 14"/>
          <p:cNvSpPr/>
          <p:nvPr/>
        </p:nvSpPr>
        <p:spPr>
          <a:xfrm>
            <a:off x="6716066" y="2768330"/>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Origen del Riesgo</a:t>
            </a:r>
          </a:p>
        </p:txBody>
      </p:sp>
      <p:sp>
        <p:nvSpPr>
          <p:cNvPr id="103" name="Rectangle 18"/>
          <p:cNvSpPr>
            <a:spLocks noChangeArrowheads="1"/>
          </p:cNvSpPr>
          <p:nvPr/>
        </p:nvSpPr>
        <p:spPr bwMode="auto">
          <a:xfrm>
            <a:off x="6716066" y="2983595"/>
            <a:ext cx="2286000" cy="270000"/>
          </a:xfrm>
          <a:prstGeom prst="rect">
            <a:avLst/>
          </a:prstGeom>
          <a:noFill/>
          <a:ln w="9525" algn="ctr">
            <a:solidFill>
              <a:schemeClr val="bg2"/>
            </a:solidFill>
            <a:miter lim="800000"/>
            <a:headEnd/>
            <a:tailEnd/>
          </a:ln>
          <a:effectLst/>
        </p:spPr>
        <p:txBody>
          <a:bodyPr anchor="ctr"/>
          <a:lstStyle/>
          <a:p>
            <a:r>
              <a:rPr lang="es-PE" sz="1100" dirty="0">
                <a:solidFill>
                  <a:srgbClr val="000000"/>
                </a:solidFill>
              </a:rPr>
              <a:t>Personas</a:t>
            </a:r>
            <a:endParaRPr lang="es-ES" sz="1100" dirty="0">
              <a:solidFill>
                <a:srgbClr val="000000"/>
              </a:solidFill>
            </a:endParaRPr>
          </a:p>
        </p:txBody>
      </p:sp>
      <p:sp>
        <p:nvSpPr>
          <p:cNvPr id="57" name="TextBox 56"/>
          <p:cNvSpPr txBox="1"/>
          <p:nvPr/>
        </p:nvSpPr>
        <p:spPr>
          <a:xfrm>
            <a:off x="705742" y="5928012"/>
            <a:ext cx="1819944" cy="261610"/>
          </a:xfrm>
          <a:prstGeom prst="rect">
            <a:avLst/>
          </a:prstGeom>
          <a:noFill/>
        </p:spPr>
        <p:txBody>
          <a:bodyPr wrap="square" rtlCol="0">
            <a:spAutoFit/>
          </a:bodyPr>
          <a:lstStyle/>
          <a:p>
            <a:r>
              <a:rPr lang="es-ES" sz="1100" dirty="0"/>
              <a:t>(NF): No Formalizado</a:t>
            </a: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dirty="0"/>
              <a:t>Anexo: Ficha Individual Riesgos Operacionales</a:t>
            </a:r>
          </a:p>
        </p:txBody>
      </p:sp>
      <p:sp>
        <p:nvSpPr>
          <p:cNvPr id="4" name="Rounded Rectangle 3"/>
          <p:cNvSpPr/>
          <p:nvPr/>
        </p:nvSpPr>
        <p:spPr>
          <a:xfrm>
            <a:off x="227770" y="787582"/>
            <a:ext cx="360040" cy="274320"/>
          </a:xfrm>
          <a:prstGeom prst="roundRect">
            <a:avLst/>
          </a:prstGeom>
          <a:solidFill>
            <a:srgbClr val="DB0613"/>
          </a:solidFill>
          <a:ln w="9525" algn="ctr">
            <a:noFill/>
            <a:miter lim="800000"/>
            <a:headEnd/>
            <a:tailEnd/>
          </a:ln>
          <a:effectLst/>
        </p:spPr>
        <p:txBody>
          <a:bodyPr anchor="ctr"/>
          <a:lstStyle/>
          <a:p>
            <a:pPr algn="ctr">
              <a:lnSpc>
                <a:spcPct val="80000"/>
              </a:lnSpc>
            </a:pPr>
            <a:r>
              <a:rPr lang="es-CL" sz="1200" b="1" dirty="0">
                <a:solidFill>
                  <a:srgbClr val="FFFFFF"/>
                </a:solidFill>
                <a:cs typeface="Arial" pitchFamily="34" charset="0"/>
              </a:rPr>
              <a:t>7</a:t>
            </a:r>
          </a:p>
        </p:txBody>
      </p:sp>
      <p:sp>
        <p:nvSpPr>
          <p:cNvPr id="5" name="Rectangle 18"/>
          <p:cNvSpPr>
            <a:spLocks noChangeArrowheads="1"/>
          </p:cNvSpPr>
          <p:nvPr/>
        </p:nvSpPr>
        <p:spPr bwMode="auto">
          <a:xfrm>
            <a:off x="227770" y="2571107"/>
            <a:ext cx="6400800" cy="708660"/>
          </a:xfrm>
          <a:prstGeom prst="rect">
            <a:avLst/>
          </a:prstGeom>
          <a:noFill/>
          <a:ln w="9525" algn="ctr">
            <a:solidFill>
              <a:schemeClr val="bg2"/>
            </a:solidFill>
            <a:miter lim="800000"/>
            <a:headEnd/>
            <a:tailEnd/>
          </a:ln>
          <a:effectLst/>
        </p:spPr>
        <p:txBody>
          <a:bodyPr/>
          <a:lstStyle/>
          <a:p>
            <a:r>
              <a:rPr lang="es-ES" sz="1100" dirty="0"/>
              <a:t>Esta situación se da  cuando el subgerente de vehículos / Suscriptor se ven imposibilitados de realizar sus tareas diarias a causa de la caída del sistema, en mayor grado de incidencia en el proceso de análisis del riesgo .</a:t>
            </a:r>
          </a:p>
        </p:txBody>
      </p:sp>
      <p:sp>
        <p:nvSpPr>
          <p:cNvPr id="8" name="Rounded Rectangle 7"/>
          <p:cNvSpPr/>
          <p:nvPr/>
        </p:nvSpPr>
        <p:spPr>
          <a:xfrm>
            <a:off x="652842" y="787582"/>
            <a:ext cx="8321040" cy="274320"/>
          </a:xfrm>
          <a:prstGeom prst="roundRect">
            <a:avLst/>
          </a:prstGeom>
          <a:solidFill>
            <a:srgbClr val="DB0613"/>
          </a:solidFill>
          <a:ln w="9525" algn="ctr">
            <a:noFill/>
            <a:miter lim="800000"/>
            <a:headEnd/>
            <a:tailEnd/>
          </a:ln>
          <a:effectLst/>
        </p:spPr>
        <p:txBody>
          <a:bodyPr anchor="ctr"/>
          <a:lstStyle/>
          <a:p>
            <a:pPr>
              <a:lnSpc>
                <a:spcPct val="80000"/>
              </a:lnSpc>
            </a:pPr>
            <a:r>
              <a:rPr lang="es-ES" sz="1200" dirty="0">
                <a:solidFill>
                  <a:schemeClr val="bg1"/>
                </a:solidFill>
              </a:rPr>
              <a:t>Falla en los equipos de IT / telecomunicaciones con tiempo de inactividad de los mismos. Falla en equipos de software.</a:t>
            </a:r>
          </a:p>
        </p:txBody>
      </p:sp>
      <p:sp>
        <p:nvSpPr>
          <p:cNvPr id="9" name="Rounded Rectangle 8"/>
          <p:cNvSpPr/>
          <p:nvPr/>
        </p:nvSpPr>
        <p:spPr>
          <a:xfrm>
            <a:off x="227770" y="2330794"/>
            <a:ext cx="64008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Descripción</a:t>
            </a:r>
          </a:p>
        </p:txBody>
      </p:sp>
      <p:sp>
        <p:nvSpPr>
          <p:cNvPr id="17" name="Rounded Rectangle 16"/>
          <p:cNvSpPr/>
          <p:nvPr/>
        </p:nvSpPr>
        <p:spPr>
          <a:xfrm>
            <a:off x="216583" y="1132916"/>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Macroproceso</a:t>
            </a:r>
          </a:p>
        </p:txBody>
      </p:sp>
      <p:sp>
        <p:nvSpPr>
          <p:cNvPr id="18" name="Rectangle 18"/>
          <p:cNvSpPr>
            <a:spLocks noChangeArrowheads="1"/>
          </p:cNvSpPr>
          <p:nvPr/>
        </p:nvSpPr>
        <p:spPr bwMode="auto">
          <a:xfrm>
            <a:off x="2568409" y="1132916"/>
            <a:ext cx="3877200" cy="182880"/>
          </a:xfrm>
          <a:prstGeom prst="rect">
            <a:avLst/>
          </a:prstGeom>
          <a:noFill/>
          <a:ln w="9525" algn="ctr">
            <a:solidFill>
              <a:schemeClr val="bg2"/>
            </a:solidFill>
            <a:miter lim="800000"/>
            <a:headEnd/>
            <a:tailEnd/>
          </a:ln>
          <a:effectLst/>
        </p:spPr>
        <p:txBody>
          <a:bodyPr anchor="ctr"/>
          <a:lstStyle/>
          <a:p>
            <a:r>
              <a:rPr lang="es-ES" sz="1100" dirty="0"/>
              <a:t>Generación de Negocio</a:t>
            </a:r>
            <a:endParaRPr lang="es-ES" sz="1100" dirty="0">
              <a:solidFill>
                <a:srgbClr val="000000"/>
              </a:solidFill>
            </a:endParaRPr>
          </a:p>
        </p:txBody>
      </p:sp>
      <p:sp>
        <p:nvSpPr>
          <p:cNvPr id="19" name="Rounded Rectangle 18"/>
          <p:cNvSpPr/>
          <p:nvPr/>
        </p:nvSpPr>
        <p:spPr>
          <a:xfrm>
            <a:off x="216583" y="1361923"/>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Proceso</a:t>
            </a:r>
          </a:p>
        </p:txBody>
      </p:sp>
      <p:sp>
        <p:nvSpPr>
          <p:cNvPr id="20" name="Rectangle 18"/>
          <p:cNvSpPr>
            <a:spLocks noChangeArrowheads="1"/>
          </p:cNvSpPr>
          <p:nvPr/>
        </p:nvSpPr>
        <p:spPr bwMode="auto">
          <a:xfrm>
            <a:off x="2568409" y="1361923"/>
            <a:ext cx="3877200" cy="182880"/>
          </a:xfrm>
          <a:prstGeom prst="rect">
            <a:avLst/>
          </a:prstGeom>
          <a:noFill/>
          <a:ln w="9525" algn="ctr">
            <a:solidFill>
              <a:schemeClr val="bg2"/>
            </a:solidFill>
            <a:miter lim="800000"/>
            <a:headEnd/>
            <a:tailEnd/>
          </a:ln>
          <a:effectLst/>
        </p:spPr>
        <p:txBody>
          <a:bodyPr anchor="ctr"/>
          <a:lstStyle/>
          <a:p>
            <a:r>
              <a:rPr lang="es-ES" sz="1100" dirty="0"/>
              <a:t>Suscripción</a:t>
            </a:r>
            <a:endParaRPr lang="es-ES" sz="1100" dirty="0">
              <a:solidFill>
                <a:srgbClr val="000000"/>
              </a:solidFill>
            </a:endParaRPr>
          </a:p>
        </p:txBody>
      </p:sp>
      <p:sp>
        <p:nvSpPr>
          <p:cNvPr id="59" name="Rounded Rectangle 58"/>
          <p:cNvSpPr/>
          <p:nvPr/>
        </p:nvSpPr>
        <p:spPr>
          <a:xfrm>
            <a:off x="216583" y="1602572"/>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Subproceso</a:t>
            </a:r>
          </a:p>
        </p:txBody>
      </p:sp>
      <p:sp>
        <p:nvSpPr>
          <p:cNvPr id="60" name="Rectangle 18"/>
          <p:cNvSpPr>
            <a:spLocks noChangeArrowheads="1"/>
          </p:cNvSpPr>
          <p:nvPr/>
        </p:nvSpPr>
        <p:spPr bwMode="auto">
          <a:xfrm>
            <a:off x="2568409" y="1602572"/>
            <a:ext cx="3875799" cy="182880"/>
          </a:xfrm>
          <a:prstGeom prst="rect">
            <a:avLst/>
          </a:prstGeom>
          <a:noFill/>
          <a:ln w="9525" algn="ctr">
            <a:solidFill>
              <a:schemeClr val="bg2"/>
            </a:solidFill>
            <a:miter lim="800000"/>
            <a:headEnd/>
            <a:tailEnd/>
          </a:ln>
          <a:effectLst/>
        </p:spPr>
        <p:txBody>
          <a:bodyPr anchor="ctr"/>
          <a:lstStyle/>
          <a:p>
            <a:r>
              <a:rPr lang="es-ES" sz="1100" dirty="0"/>
              <a:t>Cotización Fuera de Políticas</a:t>
            </a:r>
            <a:endParaRPr lang="es-ES" sz="1100" dirty="0">
              <a:solidFill>
                <a:srgbClr val="000000"/>
              </a:solidFill>
            </a:endParaRPr>
          </a:p>
        </p:txBody>
      </p:sp>
      <p:sp>
        <p:nvSpPr>
          <p:cNvPr id="61" name="Rounded Rectangle 60"/>
          <p:cNvSpPr/>
          <p:nvPr/>
        </p:nvSpPr>
        <p:spPr>
          <a:xfrm>
            <a:off x="226806" y="1849318"/>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Línea de Negocio</a:t>
            </a:r>
          </a:p>
        </p:txBody>
      </p:sp>
      <p:sp>
        <p:nvSpPr>
          <p:cNvPr id="63" name="Rounded Rectangle 62"/>
          <p:cNvSpPr/>
          <p:nvPr/>
        </p:nvSpPr>
        <p:spPr>
          <a:xfrm>
            <a:off x="226806" y="2102413"/>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Responsable</a:t>
            </a:r>
          </a:p>
        </p:txBody>
      </p:sp>
      <p:sp>
        <p:nvSpPr>
          <p:cNvPr id="65" name="Rectangle 18"/>
          <p:cNvSpPr>
            <a:spLocks noChangeArrowheads="1"/>
          </p:cNvSpPr>
          <p:nvPr/>
        </p:nvSpPr>
        <p:spPr bwMode="auto">
          <a:xfrm>
            <a:off x="2568409" y="1849318"/>
            <a:ext cx="3875799" cy="182880"/>
          </a:xfrm>
          <a:prstGeom prst="rect">
            <a:avLst/>
          </a:prstGeom>
          <a:noFill/>
          <a:ln w="9525" algn="ctr">
            <a:solidFill>
              <a:schemeClr val="bg2"/>
            </a:solidFill>
            <a:miter lim="800000"/>
            <a:headEnd/>
            <a:tailEnd/>
          </a:ln>
          <a:effectLst/>
        </p:spPr>
        <p:txBody>
          <a:bodyPr anchor="ctr"/>
          <a:lstStyle/>
          <a:p>
            <a:r>
              <a:rPr lang="es-ES" sz="1100" dirty="0">
                <a:solidFill>
                  <a:srgbClr val="000000"/>
                </a:solidFill>
              </a:rPr>
              <a:t>Vehículos</a:t>
            </a:r>
          </a:p>
        </p:txBody>
      </p:sp>
      <p:sp>
        <p:nvSpPr>
          <p:cNvPr id="66" name="Rectangle 18"/>
          <p:cNvSpPr>
            <a:spLocks noChangeArrowheads="1"/>
          </p:cNvSpPr>
          <p:nvPr/>
        </p:nvSpPr>
        <p:spPr bwMode="auto">
          <a:xfrm>
            <a:off x="2555776" y="2102413"/>
            <a:ext cx="3875799" cy="182880"/>
          </a:xfrm>
          <a:prstGeom prst="rect">
            <a:avLst/>
          </a:prstGeom>
          <a:noFill/>
          <a:ln w="9525" algn="ctr">
            <a:solidFill>
              <a:schemeClr val="bg2"/>
            </a:solidFill>
            <a:miter lim="800000"/>
            <a:headEnd/>
            <a:tailEnd/>
          </a:ln>
          <a:effectLst/>
        </p:spPr>
        <p:txBody>
          <a:bodyPr anchor="ctr"/>
          <a:lstStyle/>
          <a:p>
            <a:r>
              <a:rPr lang="es-ES" sz="1100" dirty="0">
                <a:solidFill>
                  <a:srgbClr val="000000"/>
                </a:solidFill>
              </a:rPr>
              <a:t>Suscriptor</a:t>
            </a:r>
          </a:p>
        </p:txBody>
      </p:sp>
      <p:sp>
        <p:nvSpPr>
          <p:cNvPr id="58" name="AutoShape 179"/>
          <p:cNvSpPr>
            <a:spLocks noChangeArrowheads="1"/>
          </p:cNvSpPr>
          <p:nvPr/>
        </p:nvSpPr>
        <p:spPr bwMode="auto">
          <a:xfrm>
            <a:off x="611560" y="3505294"/>
            <a:ext cx="3960812" cy="1275707"/>
          </a:xfrm>
          <a:prstGeom prst="roundRect">
            <a:avLst>
              <a:gd name="adj" fmla="val 9481"/>
            </a:avLst>
          </a:prstGeom>
          <a:solidFill>
            <a:schemeClr val="accent1">
              <a:lumMod val="20000"/>
              <a:lumOff val="80000"/>
            </a:schemeClr>
          </a:solidFill>
          <a:ln w="9525" algn="ctr">
            <a:noFill/>
            <a:round/>
            <a:headEnd/>
            <a:tailEnd/>
          </a:ln>
          <a:effectLst/>
        </p:spPr>
        <p:txBody>
          <a:bodyPr wrap="none" anchor="ctr"/>
          <a:lstStyle/>
          <a:p>
            <a:endParaRPr lang="es-CL">
              <a:solidFill>
                <a:srgbClr val="002060"/>
              </a:solidFill>
            </a:endParaRPr>
          </a:p>
        </p:txBody>
      </p:sp>
      <p:sp>
        <p:nvSpPr>
          <p:cNvPr id="62" name="Text Box 30"/>
          <p:cNvSpPr txBox="1">
            <a:spLocks noChangeArrowheads="1"/>
          </p:cNvSpPr>
          <p:nvPr/>
        </p:nvSpPr>
        <p:spPr bwMode="auto">
          <a:xfrm>
            <a:off x="190747" y="3282251"/>
            <a:ext cx="3671888" cy="276999"/>
          </a:xfrm>
          <a:prstGeom prst="rect">
            <a:avLst/>
          </a:prstGeom>
          <a:noFill/>
          <a:ln w="9525" algn="ctr">
            <a:noFill/>
            <a:miter lim="800000"/>
            <a:headEnd/>
            <a:tailEnd/>
          </a:ln>
          <a:effectLst/>
        </p:spPr>
        <p:txBody>
          <a:bodyPr>
            <a:spAutoFit/>
          </a:bodyPr>
          <a:lstStyle/>
          <a:p>
            <a:pPr>
              <a:spcBef>
                <a:spcPct val="50000"/>
              </a:spcBef>
            </a:pPr>
            <a:r>
              <a:rPr lang="es-CL" sz="1200" b="1" i="1" dirty="0">
                <a:solidFill>
                  <a:srgbClr val="A3A3E0"/>
                </a:solidFill>
              </a:rPr>
              <a:t>Resultados valoración de riesgos</a:t>
            </a:r>
            <a:endParaRPr lang="es-ES" sz="1200" b="1" i="1" dirty="0">
              <a:solidFill>
                <a:srgbClr val="A3A3E0"/>
              </a:solidFill>
            </a:endParaRPr>
          </a:p>
        </p:txBody>
      </p:sp>
      <p:sp>
        <p:nvSpPr>
          <p:cNvPr id="64" name="Rounded Rectangle 21"/>
          <p:cNvSpPr/>
          <p:nvPr/>
        </p:nvSpPr>
        <p:spPr>
          <a:xfrm>
            <a:off x="902959" y="4278833"/>
            <a:ext cx="1920240" cy="170094"/>
          </a:xfrm>
          <a:prstGeom prst="roundRect">
            <a:avLst/>
          </a:prstGeom>
          <a:solidFill>
            <a:srgbClr val="DB0613"/>
          </a:solidFill>
          <a:ln w="9525" algn="ctr">
            <a:noFill/>
            <a:miter lim="800000"/>
            <a:headEnd/>
            <a:tailEnd/>
          </a:ln>
          <a:effectLst/>
        </p:spPr>
        <p:txBody>
          <a:bodyPr tIns="91440" anchor="ctr"/>
          <a:lstStyle/>
          <a:p>
            <a:pPr>
              <a:lnSpc>
                <a:spcPct val="80000"/>
              </a:lnSpc>
            </a:pPr>
            <a:r>
              <a:rPr lang="es-CL" sz="1100" b="1" dirty="0">
                <a:solidFill>
                  <a:srgbClr val="FFFFFF"/>
                </a:solidFill>
                <a:cs typeface="Arial" pitchFamily="34" charset="0"/>
              </a:rPr>
              <a:t>Pérdida Esperada Anual</a:t>
            </a:r>
          </a:p>
        </p:txBody>
      </p:sp>
      <p:sp>
        <p:nvSpPr>
          <p:cNvPr id="67" name="Rectangle 18"/>
          <p:cNvSpPr>
            <a:spLocks noChangeArrowheads="1"/>
          </p:cNvSpPr>
          <p:nvPr/>
        </p:nvSpPr>
        <p:spPr bwMode="auto">
          <a:xfrm>
            <a:off x="2859920" y="4278833"/>
            <a:ext cx="1554480" cy="170094"/>
          </a:xfrm>
          <a:prstGeom prst="rect">
            <a:avLst/>
          </a:prstGeom>
          <a:solidFill>
            <a:schemeClr val="bg1"/>
          </a:solidFill>
          <a:ln w="9525" algn="ctr">
            <a:solidFill>
              <a:schemeClr val="bg2"/>
            </a:solidFill>
            <a:miter lim="800000"/>
            <a:headEnd/>
            <a:tailEnd/>
          </a:ln>
          <a:effectLst/>
        </p:spPr>
        <p:txBody>
          <a:bodyPr anchor="ctr"/>
          <a:lstStyle/>
          <a:p>
            <a:pPr algn="ctr"/>
            <a:r>
              <a:rPr lang="es-PE" sz="1100" dirty="0">
                <a:solidFill>
                  <a:srgbClr val="000000"/>
                </a:solidFill>
              </a:rPr>
              <a:t>s/. 25,500.00</a:t>
            </a:r>
            <a:endParaRPr lang="es-ES" sz="1100" dirty="0">
              <a:solidFill>
                <a:srgbClr val="000000"/>
              </a:solidFill>
            </a:endParaRPr>
          </a:p>
        </p:txBody>
      </p:sp>
      <p:sp>
        <p:nvSpPr>
          <p:cNvPr id="68" name="Rounded Rectangle 23"/>
          <p:cNvSpPr/>
          <p:nvPr/>
        </p:nvSpPr>
        <p:spPr>
          <a:xfrm>
            <a:off x="902959" y="4508445"/>
            <a:ext cx="1920240" cy="170094"/>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VaR Cualitativo Anual</a:t>
            </a:r>
          </a:p>
        </p:txBody>
      </p:sp>
      <p:sp>
        <p:nvSpPr>
          <p:cNvPr id="69" name="Rectangle 18"/>
          <p:cNvSpPr>
            <a:spLocks noChangeArrowheads="1"/>
          </p:cNvSpPr>
          <p:nvPr/>
        </p:nvSpPr>
        <p:spPr bwMode="auto">
          <a:xfrm>
            <a:off x="2859920" y="4508445"/>
            <a:ext cx="1554480" cy="170094"/>
          </a:xfrm>
          <a:prstGeom prst="rect">
            <a:avLst/>
          </a:prstGeom>
          <a:solidFill>
            <a:schemeClr val="bg1"/>
          </a:solidFill>
          <a:ln w="9525" algn="ctr">
            <a:solidFill>
              <a:schemeClr val="bg2"/>
            </a:solidFill>
            <a:miter lim="800000"/>
            <a:headEnd/>
            <a:tailEnd/>
          </a:ln>
          <a:effectLst/>
        </p:spPr>
        <p:txBody>
          <a:bodyPr anchor="ctr"/>
          <a:lstStyle/>
          <a:p>
            <a:pPr algn="ctr"/>
            <a:r>
              <a:rPr lang="es-PE" sz="1100" dirty="0">
                <a:solidFill>
                  <a:srgbClr val="000000"/>
                </a:solidFill>
              </a:rPr>
              <a:t>s/. 283,378.61</a:t>
            </a:r>
            <a:endParaRPr lang="es-ES" sz="1100" dirty="0">
              <a:solidFill>
                <a:srgbClr val="000000"/>
              </a:solidFill>
            </a:endParaRPr>
          </a:p>
        </p:txBody>
      </p:sp>
      <p:sp>
        <p:nvSpPr>
          <p:cNvPr id="70" name="Rounded Rectangle 25"/>
          <p:cNvSpPr/>
          <p:nvPr/>
        </p:nvSpPr>
        <p:spPr>
          <a:xfrm>
            <a:off x="891084" y="3576794"/>
            <a:ext cx="1920240" cy="170094"/>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Frecuencia  Evento Pérdida</a:t>
            </a:r>
          </a:p>
        </p:txBody>
      </p:sp>
      <p:sp>
        <p:nvSpPr>
          <p:cNvPr id="71" name="Rectangle 18"/>
          <p:cNvSpPr>
            <a:spLocks noChangeArrowheads="1"/>
          </p:cNvSpPr>
          <p:nvPr/>
        </p:nvSpPr>
        <p:spPr bwMode="auto">
          <a:xfrm>
            <a:off x="2859920" y="3576794"/>
            <a:ext cx="1554480" cy="170094"/>
          </a:xfrm>
          <a:prstGeom prst="rect">
            <a:avLst/>
          </a:prstGeom>
          <a:solidFill>
            <a:schemeClr val="bg1"/>
          </a:solidFill>
          <a:ln w="9525" algn="ctr">
            <a:solidFill>
              <a:schemeClr val="bg2"/>
            </a:solidFill>
            <a:miter lim="800000"/>
            <a:headEnd/>
            <a:tailEnd/>
          </a:ln>
          <a:effectLst/>
        </p:spPr>
        <p:txBody>
          <a:bodyPr anchor="ctr"/>
          <a:lstStyle/>
          <a:p>
            <a:pPr algn="ctr"/>
            <a:r>
              <a:rPr lang="es-PE" sz="1100" dirty="0">
                <a:solidFill>
                  <a:srgbClr val="000000"/>
                </a:solidFill>
              </a:rPr>
              <a:t>1 vez al año</a:t>
            </a:r>
            <a:endParaRPr lang="es-ES" sz="1100" dirty="0">
              <a:solidFill>
                <a:srgbClr val="000000"/>
              </a:solidFill>
            </a:endParaRPr>
          </a:p>
        </p:txBody>
      </p:sp>
      <p:sp>
        <p:nvSpPr>
          <p:cNvPr id="72" name="Rounded Rectangle 27"/>
          <p:cNvSpPr/>
          <p:nvPr/>
        </p:nvSpPr>
        <p:spPr>
          <a:xfrm>
            <a:off x="891084" y="3806406"/>
            <a:ext cx="1920240" cy="170094"/>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Impacto Medio Evento</a:t>
            </a:r>
          </a:p>
        </p:txBody>
      </p:sp>
      <p:sp>
        <p:nvSpPr>
          <p:cNvPr id="73" name="Rectangle 18"/>
          <p:cNvSpPr>
            <a:spLocks noChangeArrowheads="1"/>
          </p:cNvSpPr>
          <p:nvPr/>
        </p:nvSpPr>
        <p:spPr bwMode="auto">
          <a:xfrm>
            <a:off x="2859920" y="3806406"/>
            <a:ext cx="1554480" cy="170094"/>
          </a:xfrm>
          <a:prstGeom prst="rect">
            <a:avLst/>
          </a:prstGeom>
          <a:solidFill>
            <a:schemeClr val="bg1"/>
          </a:solidFill>
          <a:ln w="9525" algn="ctr">
            <a:solidFill>
              <a:schemeClr val="bg2"/>
            </a:solidFill>
            <a:miter lim="800000"/>
            <a:headEnd/>
            <a:tailEnd/>
          </a:ln>
          <a:effectLst/>
        </p:spPr>
        <p:txBody>
          <a:bodyPr anchor="ctr"/>
          <a:lstStyle/>
          <a:p>
            <a:pPr algn="ctr"/>
            <a:r>
              <a:rPr lang="es-PE" sz="1100" dirty="0">
                <a:solidFill>
                  <a:srgbClr val="000000"/>
                </a:solidFill>
              </a:rPr>
              <a:t>s/. 25,500.00</a:t>
            </a:r>
            <a:endParaRPr lang="es-ES" sz="1100" dirty="0">
              <a:solidFill>
                <a:srgbClr val="000000"/>
              </a:solidFill>
            </a:endParaRPr>
          </a:p>
        </p:txBody>
      </p:sp>
      <p:sp>
        <p:nvSpPr>
          <p:cNvPr id="74" name="Rounded Rectangle 29"/>
          <p:cNvSpPr/>
          <p:nvPr/>
        </p:nvSpPr>
        <p:spPr>
          <a:xfrm>
            <a:off x="891084" y="4041986"/>
            <a:ext cx="1920240" cy="170094"/>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Impacto Peor Escenario</a:t>
            </a:r>
          </a:p>
        </p:txBody>
      </p:sp>
      <p:sp>
        <p:nvSpPr>
          <p:cNvPr id="75" name="Rectangle 18"/>
          <p:cNvSpPr>
            <a:spLocks noChangeArrowheads="1"/>
          </p:cNvSpPr>
          <p:nvPr/>
        </p:nvSpPr>
        <p:spPr bwMode="auto">
          <a:xfrm>
            <a:off x="2859920" y="4041986"/>
            <a:ext cx="1554480" cy="170094"/>
          </a:xfrm>
          <a:prstGeom prst="rect">
            <a:avLst/>
          </a:prstGeom>
          <a:solidFill>
            <a:schemeClr val="bg1"/>
          </a:solidFill>
          <a:ln w="9525" algn="ctr">
            <a:solidFill>
              <a:schemeClr val="bg2"/>
            </a:solidFill>
            <a:miter lim="800000"/>
            <a:headEnd/>
            <a:tailEnd/>
          </a:ln>
          <a:effectLst/>
        </p:spPr>
        <p:txBody>
          <a:bodyPr anchor="ctr"/>
          <a:lstStyle/>
          <a:p>
            <a:pPr algn="ctr"/>
            <a:r>
              <a:rPr lang="es-PE" sz="1100" dirty="0">
                <a:solidFill>
                  <a:srgbClr val="000000"/>
                </a:solidFill>
              </a:rPr>
              <a:t>s/. 255,000.00</a:t>
            </a:r>
            <a:endParaRPr lang="es-ES" sz="1100" dirty="0">
              <a:solidFill>
                <a:srgbClr val="000000"/>
              </a:solidFill>
            </a:endParaRPr>
          </a:p>
        </p:txBody>
      </p:sp>
      <p:sp>
        <p:nvSpPr>
          <p:cNvPr id="76" name="AutoShape 47"/>
          <p:cNvSpPr>
            <a:spLocks noChangeAspect="1" noChangeArrowheads="1"/>
          </p:cNvSpPr>
          <p:nvPr/>
        </p:nvSpPr>
        <p:spPr bwMode="blackWhite">
          <a:xfrm>
            <a:off x="263032" y="3505294"/>
            <a:ext cx="503986" cy="1274400"/>
          </a:xfrm>
          <a:prstGeom prst="rightArrow">
            <a:avLst>
              <a:gd name="adj1" fmla="val 100000"/>
              <a:gd name="adj2" fmla="val 11009"/>
            </a:avLst>
          </a:prstGeom>
          <a:solidFill>
            <a:srgbClr val="969696"/>
          </a:solidFill>
          <a:ln w="12700">
            <a:noFill/>
            <a:miter lim="800000"/>
            <a:headEnd/>
            <a:tailEnd/>
          </a:ln>
          <a:effectLst>
            <a:outerShdw dist="35921" dir="2700000" algn="ctr" rotWithShape="0">
              <a:schemeClr val="bg2"/>
            </a:outerShdw>
          </a:effectLst>
        </p:spPr>
        <p:txBody>
          <a:bodyPr vert="vert270" anchor="ctr"/>
          <a:lstStyle/>
          <a:p>
            <a:pPr algn="ctr">
              <a:lnSpc>
                <a:spcPts val="1000"/>
              </a:lnSpc>
            </a:pPr>
            <a:r>
              <a:rPr lang="es-ES" sz="1100" b="1" noProof="1">
                <a:solidFill>
                  <a:srgbClr val="FFFFFF"/>
                </a:solidFill>
                <a:cs typeface="Arial" charset="0"/>
              </a:rPr>
              <a:t>Evaluación Riesgo Operacional</a:t>
            </a:r>
          </a:p>
        </p:txBody>
      </p:sp>
      <p:sp>
        <p:nvSpPr>
          <p:cNvPr id="77" name="AutoShape 179"/>
          <p:cNvSpPr>
            <a:spLocks noChangeArrowheads="1"/>
          </p:cNvSpPr>
          <p:nvPr/>
        </p:nvSpPr>
        <p:spPr bwMode="auto">
          <a:xfrm>
            <a:off x="4932039" y="3515899"/>
            <a:ext cx="4037169" cy="864000"/>
          </a:xfrm>
          <a:prstGeom prst="roundRect">
            <a:avLst>
              <a:gd name="adj" fmla="val 9481"/>
            </a:avLst>
          </a:prstGeom>
          <a:solidFill>
            <a:schemeClr val="accent1">
              <a:lumMod val="20000"/>
              <a:lumOff val="80000"/>
            </a:schemeClr>
          </a:solidFill>
          <a:ln w="9525" algn="ctr">
            <a:noFill/>
            <a:round/>
            <a:headEnd/>
            <a:tailEnd/>
          </a:ln>
          <a:effectLst/>
        </p:spPr>
        <p:txBody>
          <a:bodyPr wrap="none" anchor="ctr"/>
          <a:lstStyle/>
          <a:p>
            <a:endParaRPr lang="es-CL">
              <a:solidFill>
                <a:srgbClr val="002060"/>
              </a:solidFill>
            </a:endParaRPr>
          </a:p>
        </p:txBody>
      </p:sp>
      <p:sp>
        <p:nvSpPr>
          <p:cNvPr id="78" name="AutoShape 47"/>
          <p:cNvSpPr>
            <a:spLocks noChangeArrowheads="1"/>
          </p:cNvSpPr>
          <p:nvPr/>
        </p:nvSpPr>
        <p:spPr bwMode="blackWhite">
          <a:xfrm>
            <a:off x="4678512" y="3517401"/>
            <a:ext cx="353942" cy="864000"/>
          </a:xfrm>
          <a:prstGeom prst="rightArrow">
            <a:avLst>
              <a:gd name="adj1" fmla="val 100000"/>
              <a:gd name="adj2" fmla="val 11009"/>
            </a:avLst>
          </a:prstGeom>
          <a:solidFill>
            <a:srgbClr val="969696"/>
          </a:solidFill>
          <a:ln w="12700">
            <a:noFill/>
            <a:miter lim="800000"/>
            <a:headEnd/>
            <a:tailEnd/>
          </a:ln>
          <a:effectLst>
            <a:outerShdw dist="35921" dir="2700000" algn="ctr" rotWithShape="0">
              <a:schemeClr val="bg2"/>
            </a:outerShdw>
          </a:effectLst>
        </p:spPr>
        <p:txBody>
          <a:bodyPr vert="vert270" anchor="ctr"/>
          <a:lstStyle/>
          <a:p>
            <a:pPr algn="ctr">
              <a:lnSpc>
                <a:spcPts val="1000"/>
              </a:lnSpc>
            </a:pPr>
            <a:r>
              <a:rPr lang="es-ES" sz="1100" b="1" noProof="1">
                <a:solidFill>
                  <a:srgbClr val="FFFFFF"/>
                </a:solidFill>
                <a:cs typeface="Arial" charset="0"/>
              </a:rPr>
              <a:t>Impacto Reputacional</a:t>
            </a:r>
          </a:p>
        </p:txBody>
      </p:sp>
      <p:sp>
        <p:nvSpPr>
          <p:cNvPr id="79" name="Rectangle 18"/>
          <p:cNvSpPr>
            <a:spLocks noChangeArrowheads="1"/>
          </p:cNvSpPr>
          <p:nvPr/>
        </p:nvSpPr>
        <p:spPr bwMode="auto">
          <a:xfrm>
            <a:off x="8334310" y="3591166"/>
            <a:ext cx="548640" cy="170094"/>
          </a:xfrm>
          <a:prstGeom prst="rect">
            <a:avLst/>
          </a:prstGeom>
          <a:solidFill>
            <a:schemeClr val="bg1"/>
          </a:solidFill>
          <a:ln w="9525" algn="ctr">
            <a:solidFill>
              <a:schemeClr val="bg2"/>
            </a:solidFill>
            <a:miter lim="800000"/>
            <a:headEnd/>
            <a:tailEnd/>
          </a:ln>
          <a:effectLst/>
        </p:spPr>
        <p:txBody>
          <a:bodyPr anchor="ctr"/>
          <a:lstStyle/>
          <a:p>
            <a:pPr algn="ctr"/>
            <a:r>
              <a:rPr lang="es-PE" sz="1100" dirty="0"/>
              <a:t>3</a:t>
            </a:r>
            <a:endParaRPr lang="es-ES" sz="1100" dirty="0"/>
          </a:p>
        </p:txBody>
      </p:sp>
      <p:sp>
        <p:nvSpPr>
          <p:cNvPr id="80" name="Rounded Rectangle 38"/>
          <p:cNvSpPr/>
          <p:nvPr/>
        </p:nvSpPr>
        <p:spPr>
          <a:xfrm>
            <a:off x="5102950" y="3591166"/>
            <a:ext cx="3132000" cy="170094"/>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Afectación a Clientes</a:t>
            </a:r>
          </a:p>
        </p:txBody>
      </p:sp>
      <p:sp>
        <p:nvSpPr>
          <p:cNvPr id="81" name="Rectangle 18"/>
          <p:cNvSpPr>
            <a:spLocks noChangeArrowheads="1"/>
          </p:cNvSpPr>
          <p:nvPr/>
        </p:nvSpPr>
        <p:spPr bwMode="auto">
          <a:xfrm>
            <a:off x="5102950" y="3809323"/>
            <a:ext cx="3780000" cy="469509"/>
          </a:xfrm>
          <a:prstGeom prst="rect">
            <a:avLst/>
          </a:prstGeom>
          <a:solidFill>
            <a:schemeClr val="bg1"/>
          </a:solidFill>
          <a:ln w="9525" algn="ctr">
            <a:solidFill>
              <a:schemeClr val="bg2"/>
            </a:solidFill>
            <a:miter lim="800000"/>
            <a:headEnd/>
            <a:tailEnd/>
          </a:ln>
          <a:effectLst/>
        </p:spPr>
        <p:txBody>
          <a:bodyPr anchor="ctr"/>
          <a:lstStyle/>
          <a:p>
            <a:r>
              <a:rPr lang="es-ES" sz="1100" dirty="0">
                <a:solidFill>
                  <a:srgbClr val="000000"/>
                </a:solidFill>
              </a:rPr>
              <a:t>La exposición de la imagen es interna y externa con un nivel de impacto medio.</a:t>
            </a:r>
          </a:p>
        </p:txBody>
      </p:sp>
      <p:sp>
        <p:nvSpPr>
          <p:cNvPr id="82" name="Text Box 30"/>
          <p:cNvSpPr txBox="1">
            <a:spLocks noChangeArrowheads="1"/>
          </p:cNvSpPr>
          <p:nvPr/>
        </p:nvSpPr>
        <p:spPr bwMode="auto">
          <a:xfrm>
            <a:off x="190746" y="4861297"/>
            <a:ext cx="3996000" cy="276999"/>
          </a:xfrm>
          <a:prstGeom prst="rect">
            <a:avLst/>
          </a:prstGeom>
          <a:noFill/>
          <a:ln w="9525" algn="ctr">
            <a:noFill/>
            <a:miter lim="800000"/>
            <a:headEnd/>
            <a:tailEnd/>
          </a:ln>
          <a:effectLst/>
        </p:spPr>
        <p:txBody>
          <a:bodyPr wrap="square">
            <a:spAutoFit/>
          </a:bodyPr>
          <a:lstStyle/>
          <a:p>
            <a:pPr>
              <a:spcBef>
                <a:spcPct val="50000"/>
              </a:spcBef>
            </a:pPr>
            <a:r>
              <a:rPr lang="es-CL" sz="1200" b="1" i="1" dirty="0">
                <a:solidFill>
                  <a:srgbClr val="A3A3E0"/>
                </a:solidFill>
              </a:rPr>
              <a:t>Resultados valoración de controles / factores mitigantes</a:t>
            </a:r>
            <a:endParaRPr lang="es-ES" sz="1200" b="1" i="1" dirty="0">
              <a:solidFill>
                <a:srgbClr val="A3A3E0"/>
              </a:solidFill>
            </a:endParaRPr>
          </a:p>
        </p:txBody>
      </p:sp>
      <p:sp>
        <p:nvSpPr>
          <p:cNvPr id="86" name="AutoShape 179"/>
          <p:cNvSpPr>
            <a:spLocks noChangeArrowheads="1"/>
          </p:cNvSpPr>
          <p:nvPr/>
        </p:nvSpPr>
        <p:spPr bwMode="auto">
          <a:xfrm>
            <a:off x="4927319" y="4420116"/>
            <a:ext cx="4037169" cy="892800"/>
          </a:xfrm>
          <a:prstGeom prst="roundRect">
            <a:avLst>
              <a:gd name="adj" fmla="val 9481"/>
            </a:avLst>
          </a:prstGeom>
          <a:solidFill>
            <a:schemeClr val="accent1">
              <a:lumMod val="20000"/>
              <a:lumOff val="80000"/>
            </a:schemeClr>
          </a:solidFill>
          <a:ln w="9525" algn="ctr">
            <a:noFill/>
            <a:round/>
            <a:headEnd/>
            <a:tailEnd/>
          </a:ln>
          <a:effectLst/>
        </p:spPr>
        <p:txBody>
          <a:bodyPr wrap="none" anchor="ctr"/>
          <a:lstStyle/>
          <a:p>
            <a:endParaRPr lang="es-CL">
              <a:solidFill>
                <a:srgbClr val="002060"/>
              </a:solidFill>
            </a:endParaRPr>
          </a:p>
        </p:txBody>
      </p:sp>
      <p:sp>
        <p:nvSpPr>
          <p:cNvPr id="87" name="AutoShape 47"/>
          <p:cNvSpPr>
            <a:spLocks noChangeArrowheads="1"/>
          </p:cNvSpPr>
          <p:nvPr/>
        </p:nvSpPr>
        <p:spPr bwMode="blackWhite">
          <a:xfrm>
            <a:off x="4673792" y="4421618"/>
            <a:ext cx="352800" cy="892800"/>
          </a:xfrm>
          <a:prstGeom prst="rightArrow">
            <a:avLst>
              <a:gd name="adj1" fmla="val 100000"/>
              <a:gd name="adj2" fmla="val 11009"/>
            </a:avLst>
          </a:prstGeom>
          <a:solidFill>
            <a:srgbClr val="969696"/>
          </a:solidFill>
          <a:ln w="12700">
            <a:noFill/>
            <a:miter lim="800000"/>
            <a:headEnd/>
            <a:tailEnd/>
          </a:ln>
          <a:effectLst>
            <a:outerShdw dist="35921" dir="2700000" algn="ctr" rotWithShape="0">
              <a:schemeClr val="bg2"/>
            </a:outerShdw>
          </a:effectLst>
        </p:spPr>
        <p:txBody>
          <a:bodyPr vert="vert270" anchor="ctr"/>
          <a:lstStyle/>
          <a:p>
            <a:pPr algn="ctr">
              <a:lnSpc>
                <a:spcPts val="1000"/>
              </a:lnSpc>
            </a:pPr>
            <a:r>
              <a:rPr lang="es-ES" sz="1100" b="1" noProof="1">
                <a:solidFill>
                  <a:srgbClr val="FFFFFF"/>
                </a:solidFill>
                <a:cs typeface="Arial" charset="0"/>
              </a:rPr>
              <a:t>Cuestionarios</a:t>
            </a:r>
          </a:p>
        </p:txBody>
      </p:sp>
      <p:sp>
        <p:nvSpPr>
          <p:cNvPr id="89" name="Rounded Rectangle 38"/>
          <p:cNvSpPr/>
          <p:nvPr/>
        </p:nvSpPr>
        <p:spPr>
          <a:xfrm>
            <a:off x="5098230" y="4495383"/>
            <a:ext cx="3132000" cy="170094"/>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Criterios de Evaluación</a:t>
            </a:r>
          </a:p>
        </p:txBody>
      </p:sp>
      <p:sp>
        <p:nvSpPr>
          <p:cNvPr id="90" name="AutoShape 179"/>
          <p:cNvSpPr>
            <a:spLocks noChangeArrowheads="1"/>
          </p:cNvSpPr>
          <p:nvPr/>
        </p:nvSpPr>
        <p:spPr bwMode="auto">
          <a:xfrm>
            <a:off x="534831" y="5083778"/>
            <a:ext cx="4037169" cy="864000"/>
          </a:xfrm>
          <a:prstGeom prst="roundRect">
            <a:avLst>
              <a:gd name="adj" fmla="val 9481"/>
            </a:avLst>
          </a:prstGeom>
          <a:solidFill>
            <a:schemeClr val="accent1">
              <a:lumMod val="20000"/>
              <a:lumOff val="80000"/>
            </a:schemeClr>
          </a:solidFill>
          <a:ln w="9525" algn="ctr">
            <a:noFill/>
            <a:round/>
            <a:headEnd/>
            <a:tailEnd/>
          </a:ln>
          <a:effectLst/>
        </p:spPr>
        <p:txBody>
          <a:bodyPr wrap="none" anchor="ctr"/>
          <a:lstStyle/>
          <a:p>
            <a:endParaRPr lang="es-CL">
              <a:solidFill>
                <a:srgbClr val="002060"/>
              </a:solidFill>
            </a:endParaRPr>
          </a:p>
        </p:txBody>
      </p:sp>
      <p:sp>
        <p:nvSpPr>
          <p:cNvPr id="91" name="AutoShape 47"/>
          <p:cNvSpPr>
            <a:spLocks noChangeArrowheads="1"/>
          </p:cNvSpPr>
          <p:nvPr/>
        </p:nvSpPr>
        <p:spPr bwMode="blackWhite">
          <a:xfrm>
            <a:off x="281304" y="5085280"/>
            <a:ext cx="353942" cy="864000"/>
          </a:xfrm>
          <a:prstGeom prst="rightArrow">
            <a:avLst>
              <a:gd name="adj1" fmla="val 100000"/>
              <a:gd name="adj2" fmla="val 11009"/>
            </a:avLst>
          </a:prstGeom>
          <a:solidFill>
            <a:srgbClr val="969696"/>
          </a:solidFill>
          <a:ln w="12700">
            <a:noFill/>
            <a:miter lim="800000"/>
            <a:headEnd/>
            <a:tailEnd/>
          </a:ln>
          <a:effectLst>
            <a:outerShdw dist="35921" dir="2700000" algn="ctr" rotWithShape="0">
              <a:schemeClr val="bg2"/>
            </a:outerShdw>
          </a:effectLst>
        </p:spPr>
        <p:txBody>
          <a:bodyPr vert="vert270" anchor="ctr"/>
          <a:lstStyle/>
          <a:p>
            <a:pPr algn="ctr">
              <a:lnSpc>
                <a:spcPts val="1000"/>
              </a:lnSpc>
            </a:pPr>
            <a:r>
              <a:rPr lang="es-ES" sz="1100" b="1" noProof="1">
                <a:solidFill>
                  <a:srgbClr val="FFFFFF"/>
                </a:solidFill>
                <a:cs typeface="Arial" charset="0"/>
              </a:rPr>
              <a:t>Evaluación de Controles</a:t>
            </a:r>
          </a:p>
        </p:txBody>
      </p:sp>
      <p:sp>
        <p:nvSpPr>
          <p:cNvPr id="92" name="Rectangle 18"/>
          <p:cNvSpPr>
            <a:spLocks noChangeArrowheads="1"/>
          </p:cNvSpPr>
          <p:nvPr/>
        </p:nvSpPr>
        <p:spPr bwMode="auto">
          <a:xfrm>
            <a:off x="3937102" y="5159045"/>
            <a:ext cx="548640" cy="170094"/>
          </a:xfrm>
          <a:prstGeom prst="rect">
            <a:avLst/>
          </a:prstGeom>
          <a:solidFill>
            <a:schemeClr val="bg1"/>
          </a:solidFill>
          <a:ln w="9525" algn="ctr">
            <a:solidFill>
              <a:schemeClr val="bg2"/>
            </a:solidFill>
            <a:miter lim="800000"/>
            <a:headEnd/>
            <a:tailEnd/>
          </a:ln>
          <a:effectLst/>
        </p:spPr>
        <p:txBody>
          <a:bodyPr anchor="ctr"/>
          <a:lstStyle/>
          <a:p>
            <a:pPr algn="ctr"/>
            <a:r>
              <a:rPr lang="es-ES" sz="1100" dirty="0">
                <a:solidFill>
                  <a:srgbClr val="002060"/>
                </a:solidFill>
              </a:rPr>
              <a:t>1</a:t>
            </a:r>
          </a:p>
        </p:txBody>
      </p:sp>
      <p:sp>
        <p:nvSpPr>
          <p:cNvPr id="93" name="Rounded Rectangle 38"/>
          <p:cNvSpPr/>
          <p:nvPr/>
        </p:nvSpPr>
        <p:spPr>
          <a:xfrm>
            <a:off x="705742" y="5159045"/>
            <a:ext cx="3132000" cy="170094"/>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Controles asociados al riesgo</a:t>
            </a:r>
          </a:p>
        </p:txBody>
      </p:sp>
      <p:sp>
        <p:nvSpPr>
          <p:cNvPr id="94" name="Rectangle 18"/>
          <p:cNvSpPr>
            <a:spLocks noChangeArrowheads="1"/>
          </p:cNvSpPr>
          <p:nvPr/>
        </p:nvSpPr>
        <p:spPr bwMode="auto">
          <a:xfrm>
            <a:off x="5102950" y="4708556"/>
            <a:ext cx="3780000" cy="469509"/>
          </a:xfrm>
          <a:prstGeom prst="rect">
            <a:avLst/>
          </a:prstGeom>
          <a:solidFill>
            <a:schemeClr val="bg1"/>
          </a:solidFill>
          <a:ln w="9525" algn="ctr">
            <a:solidFill>
              <a:schemeClr val="bg2"/>
            </a:solidFill>
            <a:miter lim="800000"/>
            <a:headEnd/>
            <a:tailEnd/>
          </a:ln>
          <a:effectLst/>
        </p:spPr>
        <p:txBody>
          <a:bodyPr anchor="ctr"/>
          <a:lstStyle/>
          <a:p>
            <a:r>
              <a:rPr lang="es-ES" sz="1100" dirty="0"/>
              <a:t>El proceso se ve afectado en el análisis del riesgo. Debido a no contar con herramientas tecnológicas no se podría generar información para la evaluación y suscripción de ciertos riesgos.</a:t>
            </a:r>
            <a:endParaRPr lang="es-ES" sz="1100" dirty="0">
              <a:solidFill>
                <a:srgbClr val="000000"/>
              </a:solidFill>
            </a:endParaRPr>
          </a:p>
        </p:txBody>
      </p:sp>
      <p:sp>
        <p:nvSpPr>
          <p:cNvPr id="95" name="Rectangle 18"/>
          <p:cNvSpPr>
            <a:spLocks noChangeArrowheads="1"/>
          </p:cNvSpPr>
          <p:nvPr/>
        </p:nvSpPr>
        <p:spPr bwMode="auto">
          <a:xfrm>
            <a:off x="705742" y="5380053"/>
            <a:ext cx="3780000" cy="469509"/>
          </a:xfrm>
          <a:prstGeom prst="rect">
            <a:avLst/>
          </a:prstGeom>
          <a:solidFill>
            <a:schemeClr val="bg1"/>
          </a:solidFill>
          <a:ln w="9525" algn="ctr">
            <a:solidFill>
              <a:schemeClr val="bg2"/>
            </a:solidFill>
            <a:miter lim="800000"/>
            <a:headEnd/>
            <a:tailEnd/>
          </a:ln>
          <a:effectLst/>
        </p:spPr>
        <p:txBody>
          <a:bodyPr anchor="ctr"/>
          <a:lstStyle/>
          <a:p>
            <a:r>
              <a:rPr lang="es-ES" sz="1100" dirty="0">
                <a:solidFill>
                  <a:srgbClr val="000000"/>
                </a:solidFill>
              </a:rPr>
              <a:t>(NF) Controles por Tecnología para la prevención de falla de los aplicativos.</a:t>
            </a:r>
          </a:p>
        </p:txBody>
      </p:sp>
      <p:sp>
        <p:nvSpPr>
          <p:cNvPr id="96" name="Rounded Rectangle 9"/>
          <p:cNvSpPr/>
          <p:nvPr/>
        </p:nvSpPr>
        <p:spPr>
          <a:xfrm>
            <a:off x="6716066" y="1134642"/>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Categoría  de Riesgo Nivel I</a:t>
            </a:r>
          </a:p>
        </p:txBody>
      </p:sp>
      <p:sp>
        <p:nvSpPr>
          <p:cNvPr id="97" name="Rectangle 18"/>
          <p:cNvSpPr>
            <a:spLocks noChangeArrowheads="1"/>
          </p:cNvSpPr>
          <p:nvPr/>
        </p:nvSpPr>
        <p:spPr bwMode="auto">
          <a:xfrm>
            <a:off x="6716066" y="1348450"/>
            <a:ext cx="2286000" cy="270000"/>
          </a:xfrm>
          <a:prstGeom prst="rect">
            <a:avLst/>
          </a:prstGeom>
          <a:noFill/>
          <a:ln w="9525" algn="ctr">
            <a:solidFill>
              <a:schemeClr val="bg2"/>
            </a:solidFill>
            <a:miter lim="800000"/>
            <a:headEnd/>
            <a:tailEnd/>
          </a:ln>
          <a:effectLst/>
        </p:spPr>
        <p:txBody>
          <a:bodyPr anchor="ctr"/>
          <a:lstStyle/>
          <a:p>
            <a:pPr>
              <a:lnSpc>
                <a:spcPts val="1000"/>
              </a:lnSpc>
            </a:pPr>
            <a:r>
              <a:rPr lang="es-ES" sz="1100" dirty="0">
                <a:solidFill>
                  <a:srgbClr val="000000"/>
                </a:solidFill>
              </a:rPr>
              <a:t>Interrupción del negocio y fallos en los sistemas.</a:t>
            </a:r>
          </a:p>
        </p:txBody>
      </p:sp>
      <p:sp>
        <p:nvSpPr>
          <p:cNvPr id="98" name="Rounded Rectangle 11"/>
          <p:cNvSpPr/>
          <p:nvPr/>
        </p:nvSpPr>
        <p:spPr>
          <a:xfrm>
            <a:off x="6716066" y="1687381"/>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Categoría  de Riesgo Nivel II</a:t>
            </a:r>
          </a:p>
        </p:txBody>
      </p:sp>
      <p:sp>
        <p:nvSpPr>
          <p:cNvPr id="99" name="Rectangle 18"/>
          <p:cNvSpPr>
            <a:spLocks noChangeArrowheads="1"/>
          </p:cNvSpPr>
          <p:nvPr/>
        </p:nvSpPr>
        <p:spPr bwMode="auto">
          <a:xfrm>
            <a:off x="6716066" y="1899967"/>
            <a:ext cx="2286000" cy="270000"/>
          </a:xfrm>
          <a:prstGeom prst="rect">
            <a:avLst/>
          </a:prstGeom>
          <a:noFill/>
          <a:ln w="9525" algn="ctr">
            <a:solidFill>
              <a:schemeClr val="bg2"/>
            </a:solidFill>
            <a:miter lim="800000"/>
            <a:headEnd/>
            <a:tailEnd/>
          </a:ln>
          <a:effectLst/>
        </p:spPr>
        <p:txBody>
          <a:bodyPr anchor="ctr"/>
          <a:lstStyle/>
          <a:p>
            <a:pPr>
              <a:lnSpc>
                <a:spcPts val="1000"/>
              </a:lnSpc>
            </a:pPr>
            <a:r>
              <a:rPr lang="es-ES" sz="1100" dirty="0">
                <a:solidFill>
                  <a:srgbClr val="000000"/>
                </a:solidFill>
              </a:rPr>
              <a:t>Interrupción del negocio y fallos en los sistemas.</a:t>
            </a:r>
          </a:p>
        </p:txBody>
      </p:sp>
      <p:sp>
        <p:nvSpPr>
          <p:cNvPr id="100" name="Rounded Rectangle 14"/>
          <p:cNvSpPr/>
          <p:nvPr/>
        </p:nvSpPr>
        <p:spPr>
          <a:xfrm>
            <a:off x="6716066" y="2246429"/>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Categoría  de Riesgo Nivel III</a:t>
            </a:r>
          </a:p>
        </p:txBody>
      </p:sp>
      <p:sp>
        <p:nvSpPr>
          <p:cNvPr id="101" name="Rectangle 18"/>
          <p:cNvSpPr>
            <a:spLocks noChangeArrowheads="1"/>
          </p:cNvSpPr>
          <p:nvPr/>
        </p:nvSpPr>
        <p:spPr bwMode="auto">
          <a:xfrm>
            <a:off x="6716066" y="2457199"/>
            <a:ext cx="2286000" cy="270000"/>
          </a:xfrm>
          <a:prstGeom prst="rect">
            <a:avLst/>
          </a:prstGeom>
          <a:noFill/>
          <a:ln w="9525" algn="ctr">
            <a:solidFill>
              <a:schemeClr val="bg2"/>
            </a:solidFill>
            <a:miter lim="800000"/>
            <a:headEnd/>
            <a:tailEnd/>
          </a:ln>
          <a:effectLst/>
        </p:spPr>
        <p:txBody>
          <a:bodyPr anchor="ctr"/>
          <a:lstStyle/>
          <a:p>
            <a:r>
              <a:rPr lang="es-ES" sz="1100" dirty="0"/>
              <a:t>Cortes en los servicios/Interrupción de las aplicaciones </a:t>
            </a:r>
            <a:endParaRPr lang="es-ES" sz="1100" dirty="0">
              <a:solidFill>
                <a:srgbClr val="000000"/>
              </a:solidFill>
            </a:endParaRPr>
          </a:p>
        </p:txBody>
      </p:sp>
      <p:sp>
        <p:nvSpPr>
          <p:cNvPr id="102" name="Rounded Rectangle 14"/>
          <p:cNvSpPr/>
          <p:nvPr/>
        </p:nvSpPr>
        <p:spPr>
          <a:xfrm>
            <a:off x="6716066" y="2791208"/>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Origen del Riesgo</a:t>
            </a:r>
          </a:p>
        </p:txBody>
      </p:sp>
      <p:sp>
        <p:nvSpPr>
          <p:cNvPr id="103" name="Rectangle 18"/>
          <p:cNvSpPr>
            <a:spLocks noChangeArrowheads="1"/>
          </p:cNvSpPr>
          <p:nvPr/>
        </p:nvSpPr>
        <p:spPr bwMode="auto">
          <a:xfrm>
            <a:off x="6716066" y="3006473"/>
            <a:ext cx="2286000" cy="270000"/>
          </a:xfrm>
          <a:prstGeom prst="rect">
            <a:avLst/>
          </a:prstGeom>
          <a:noFill/>
          <a:ln w="9525" algn="ctr">
            <a:solidFill>
              <a:schemeClr val="bg2"/>
            </a:solidFill>
            <a:miter lim="800000"/>
            <a:headEnd/>
            <a:tailEnd/>
          </a:ln>
          <a:effectLst/>
        </p:spPr>
        <p:txBody>
          <a:bodyPr anchor="ctr"/>
          <a:lstStyle/>
          <a:p>
            <a:r>
              <a:rPr lang="es-PE" sz="1100" dirty="0">
                <a:solidFill>
                  <a:srgbClr val="000000"/>
                </a:solidFill>
              </a:rPr>
              <a:t>Tecnología</a:t>
            </a:r>
            <a:endParaRPr lang="es-ES" sz="1100" dirty="0">
              <a:solidFill>
                <a:srgbClr val="000000"/>
              </a:solidFill>
            </a:endParaRPr>
          </a:p>
        </p:txBody>
      </p:sp>
      <p:sp>
        <p:nvSpPr>
          <p:cNvPr id="57" name="TextBox 56"/>
          <p:cNvSpPr txBox="1"/>
          <p:nvPr/>
        </p:nvSpPr>
        <p:spPr>
          <a:xfrm>
            <a:off x="705742" y="5928012"/>
            <a:ext cx="1819944" cy="261610"/>
          </a:xfrm>
          <a:prstGeom prst="rect">
            <a:avLst/>
          </a:prstGeom>
          <a:noFill/>
        </p:spPr>
        <p:txBody>
          <a:bodyPr wrap="square" rtlCol="0">
            <a:spAutoFit/>
          </a:bodyPr>
          <a:lstStyle/>
          <a:p>
            <a:r>
              <a:rPr lang="es-ES" sz="1100" dirty="0"/>
              <a:t>(NF): No Formalizado</a:t>
            </a: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dirty="0"/>
              <a:t>Anexo: Ficha Individual Riesgos Operacionales</a:t>
            </a:r>
          </a:p>
        </p:txBody>
      </p:sp>
      <p:sp>
        <p:nvSpPr>
          <p:cNvPr id="3" name="AutoShape 179"/>
          <p:cNvSpPr>
            <a:spLocks noChangeArrowheads="1"/>
          </p:cNvSpPr>
          <p:nvPr/>
        </p:nvSpPr>
        <p:spPr bwMode="auto">
          <a:xfrm>
            <a:off x="611560" y="3535397"/>
            <a:ext cx="3960812" cy="1371600"/>
          </a:xfrm>
          <a:prstGeom prst="roundRect">
            <a:avLst>
              <a:gd name="adj" fmla="val 9481"/>
            </a:avLst>
          </a:prstGeom>
          <a:solidFill>
            <a:schemeClr val="accent1">
              <a:lumMod val="20000"/>
              <a:lumOff val="80000"/>
            </a:schemeClr>
          </a:solidFill>
          <a:ln w="9525" algn="ctr">
            <a:noFill/>
            <a:round/>
            <a:headEnd/>
            <a:tailEnd/>
          </a:ln>
          <a:effectLst/>
        </p:spPr>
        <p:txBody>
          <a:bodyPr wrap="none" anchor="ctr"/>
          <a:lstStyle/>
          <a:p>
            <a:endParaRPr lang="es-CL">
              <a:solidFill>
                <a:srgbClr val="002060"/>
              </a:solidFill>
            </a:endParaRPr>
          </a:p>
        </p:txBody>
      </p:sp>
      <p:sp>
        <p:nvSpPr>
          <p:cNvPr id="4" name="Rounded Rectangle 3"/>
          <p:cNvSpPr/>
          <p:nvPr/>
        </p:nvSpPr>
        <p:spPr>
          <a:xfrm>
            <a:off x="214497" y="764704"/>
            <a:ext cx="397063" cy="274320"/>
          </a:xfrm>
          <a:prstGeom prst="roundRect">
            <a:avLst/>
          </a:prstGeom>
          <a:solidFill>
            <a:srgbClr val="DB0613"/>
          </a:solidFill>
          <a:ln w="9525" algn="ctr">
            <a:noFill/>
            <a:miter lim="800000"/>
            <a:headEnd/>
            <a:tailEnd/>
          </a:ln>
          <a:effectLst/>
        </p:spPr>
        <p:txBody>
          <a:bodyPr anchor="ctr"/>
          <a:lstStyle/>
          <a:p>
            <a:pPr algn="ctr">
              <a:lnSpc>
                <a:spcPct val="80000"/>
              </a:lnSpc>
            </a:pPr>
            <a:r>
              <a:rPr lang="es-CL" sz="1200" b="1" dirty="0">
                <a:solidFill>
                  <a:srgbClr val="FFFFFF"/>
                </a:solidFill>
                <a:cs typeface="Arial" pitchFamily="34" charset="0"/>
              </a:rPr>
              <a:t>8</a:t>
            </a:r>
          </a:p>
        </p:txBody>
      </p:sp>
      <p:sp>
        <p:nvSpPr>
          <p:cNvPr id="5" name="Rectangle 18"/>
          <p:cNvSpPr>
            <a:spLocks noChangeArrowheads="1"/>
          </p:cNvSpPr>
          <p:nvPr/>
        </p:nvSpPr>
        <p:spPr bwMode="auto">
          <a:xfrm>
            <a:off x="227770" y="2409552"/>
            <a:ext cx="6400800" cy="839807"/>
          </a:xfrm>
          <a:prstGeom prst="rect">
            <a:avLst/>
          </a:prstGeom>
          <a:noFill/>
          <a:ln w="9525" algn="ctr">
            <a:solidFill>
              <a:schemeClr val="bg2"/>
            </a:solidFill>
            <a:miter lim="800000"/>
            <a:headEnd/>
            <a:tailEnd/>
          </a:ln>
          <a:effectLst/>
        </p:spPr>
        <p:txBody>
          <a:bodyPr/>
          <a:lstStyle/>
          <a:p>
            <a:r>
              <a:rPr lang="es-ES" sz="1100" dirty="0"/>
              <a:t>Retraso en las actividades del Coordinador de Procesos de Emisión debido a incumplientos en plazos por parte de CGS (proveedor).</a:t>
            </a:r>
            <a:endParaRPr lang="es-ES" sz="1100" dirty="0">
              <a:solidFill>
                <a:srgbClr val="002060"/>
              </a:solidFill>
            </a:endParaRPr>
          </a:p>
        </p:txBody>
      </p:sp>
      <p:sp>
        <p:nvSpPr>
          <p:cNvPr id="7" name="Text Box 30"/>
          <p:cNvSpPr txBox="1">
            <a:spLocks noChangeArrowheads="1"/>
          </p:cNvSpPr>
          <p:nvPr/>
        </p:nvSpPr>
        <p:spPr bwMode="auto">
          <a:xfrm>
            <a:off x="190747" y="3299257"/>
            <a:ext cx="3671888" cy="276999"/>
          </a:xfrm>
          <a:prstGeom prst="rect">
            <a:avLst/>
          </a:prstGeom>
          <a:noFill/>
          <a:ln w="9525" algn="ctr">
            <a:noFill/>
            <a:miter lim="800000"/>
            <a:headEnd/>
            <a:tailEnd/>
          </a:ln>
          <a:effectLst/>
        </p:spPr>
        <p:txBody>
          <a:bodyPr>
            <a:spAutoFit/>
          </a:bodyPr>
          <a:lstStyle/>
          <a:p>
            <a:pPr>
              <a:spcBef>
                <a:spcPct val="50000"/>
              </a:spcBef>
            </a:pPr>
            <a:r>
              <a:rPr lang="es-CL" sz="1200" b="1" i="1" dirty="0">
                <a:solidFill>
                  <a:srgbClr val="A3A3E0"/>
                </a:solidFill>
              </a:rPr>
              <a:t>Resultados valoración de riesgos</a:t>
            </a:r>
            <a:endParaRPr lang="es-ES" sz="1200" b="1" i="1" dirty="0">
              <a:solidFill>
                <a:srgbClr val="A3A3E0"/>
              </a:solidFill>
            </a:endParaRPr>
          </a:p>
        </p:txBody>
      </p:sp>
      <p:sp>
        <p:nvSpPr>
          <p:cNvPr id="8" name="Rounded Rectangle 7"/>
          <p:cNvSpPr/>
          <p:nvPr/>
        </p:nvSpPr>
        <p:spPr>
          <a:xfrm>
            <a:off x="652842" y="764704"/>
            <a:ext cx="8321040" cy="274320"/>
          </a:xfrm>
          <a:prstGeom prst="roundRect">
            <a:avLst/>
          </a:prstGeom>
          <a:solidFill>
            <a:srgbClr val="DB0613"/>
          </a:solidFill>
          <a:ln w="9525" algn="ctr">
            <a:noFill/>
            <a:miter lim="800000"/>
            <a:headEnd/>
            <a:tailEnd/>
          </a:ln>
          <a:effectLst/>
        </p:spPr>
        <p:txBody>
          <a:bodyPr anchor="ctr"/>
          <a:lstStyle/>
          <a:p>
            <a:pPr>
              <a:lnSpc>
                <a:spcPct val="80000"/>
              </a:lnSpc>
            </a:pPr>
            <a:r>
              <a:rPr lang="es-ES" sz="1200" dirty="0">
                <a:solidFill>
                  <a:schemeClr val="bg1"/>
                </a:solidFill>
              </a:rPr>
              <a:t>Incumplimiento de los servicios de un tercero a causa de eventos de interrupción significativa de sus operaciones. </a:t>
            </a:r>
            <a:endParaRPr lang="es-CL" sz="1200" b="1" dirty="0">
              <a:solidFill>
                <a:schemeClr val="bg1"/>
              </a:solidFill>
              <a:cs typeface="Arial" pitchFamily="34" charset="0"/>
            </a:endParaRPr>
          </a:p>
        </p:txBody>
      </p:sp>
      <p:sp>
        <p:nvSpPr>
          <p:cNvPr id="9" name="Rounded Rectangle 8"/>
          <p:cNvSpPr/>
          <p:nvPr/>
        </p:nvSpPr>
        <p:spPr>
          <a:xfrm>
            <a:off x="227770" y="2202383"/>
            <a:ext cx="64008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Descripción</a:t>
            </a:r>
          </a:p>
        </p:txBody>
      </p:sp>
      <p:sp>
        <p:nvSpPr>
          <p:cNvPr id="10" name="Rounded Rectangle 9"/>
          <p:cNvSpPr/>
          <p:nvPr/>
        </p:nvSpPr>
        <p:spPr>
          <a:xfrm>
            <a:off x="6716066" y="1089119"/>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Categoría  de Riesgo Nivel I</a:t>
            </a:r>
          </a:p>
        </p:txBody>
      </p:sp>
      <p:sp>
        <p:nvSpPr>
          <p:cNvPr id="11" name="Rectangle 18"/>
          <p:cNvSpPr>
            <a:spLocks noChangeArrowheads="1"/>
          </p:cNvSpPr>
          <p:nvPr/>
        </p:nvSpPr>
        <p:spPr bwMode="auto">
          <a:xfrm>
            <a:off x="6716066" y="1316374"/>
            <a:ext cx="2286000" cy="365760"/>
          </a:xfrm>
          <a:prstGeom prst="rect">
            <a:avLst/>
          </a:prstGeom>
          <a:noFill/>
          <a:ln w="9525" algn="ctr">
            <a:solidFill>
              <a:schemeClr val="bg2"/>
            </a:solidFill>
            <a:miter lim="800000"/>
            <a:headEnd/>
            <a:tailEnd/>
          </a:ln>
          <a:effectLst/>
        </p:spPr>
        <p:txBody>
          <a:bodyPr anchor="ctr"/>
          <a:lstStyle/>
          <a:p>
            <a:pPr>
              <a:lnSpc>
                <a:spcPts val="1000"/>
              </a:lnSpc>
            </a:pPr>
            <a:r>
              <a:rPr lang="es-ES" sz="1100" dirty="0"/>
              <a:t>Ejecución, entrega y gestión de procesos</a:t>
            </a:r>
          </a:p>
        </p:txBody>
      </p:sp>
      <p:sp>
        <p:nvSpPr>
          <p:cNvPr id="12" name="Rounded Rectangle 11"/>
          <p:cNvSpPr/>
          <p:nvPr/>
        </p:nvSpPr>
        <p:spPr>
          <a:xfrm>
            <a:off x="6716066" y="1725169"/>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Categoría de Riesgo Nivel II</a:t>
            </a:r>
          </a:p>
        </p:txBody>
      </p:sp>
      <p:sp>
        <p:nvSpPr>
          <p:cNvPr id="13" name="Rectangle 18"/>
          <p:cNvSpPr>
            <a:spLocks noChangeArrowheads="1"/>
          </p:cNvSpPr>
          <p:nvPr/>
        </p:nvSpPr>
        <p:spPr bwMode="auto">
          <a:xfrm>
            <a:off x="6716066" y="1942710"/>
            <a:ext cx="2286000" cy="274320"/>
          </a:xfrm>
          <a:prstGeom prst="rect">
            <a:avLst/>
          </a:prstGeom>
          <a:noFill/>
          <a:ln w="9525" algn="ctr">
            <a:solidFill>
              <a:schemeClr val="bg2"/>
            </a:solidFill>
            <a:miter lim="800000"/>
            <a:headEnd/>
            <a:tailEnd/>
          </a:ln>
          <a:effectLst/>
        </p:spPr>
        <p:txBody>
          <a:bodyPr anchor="ctr"/>
          <a:lstStyle/>
          <a:p>
            <a:r>
              <a:rPr lang="es-ES" sz="1100" dirty="0"/>
              <a:t>Distribuidores y Proveedores</a:t>
            </a:r>
          </a:p>
        </p:txBody>
      </p:sp>
      <p:grpSp>
        <p:nvGrpSpPr>
          <p:cNvPr id="6" name="Group 72"/>
          <p:cNvGrpSpPr/>
          <p:nvPr/>
        </p:nvGrpSpPr>
        <p:grpSpPr>
          <a:xfrm>
            <a:off x="6716066" y="2243313"/>
            <a:ext cx="2286000" cy="504056"/>
            <a:chOff x="6716066" y="2972444"/>
            <a:chExt cx="2286000" cy="504056"/>
          </a:xfrm>
        </p:grpSpPr>
        <p:sp>
          <p:nvSpPr>
            <p:cNvPr id="15" name="Rounded Rectangle 14"/>
            <p:cNvSpPr/>
            <p:nvPr/>
          </p:nvSpPr>
          <p:spPr>
            <a:xfrm>
              <a:off x="6716066" y="2972444"/>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Categoría de Riesgo Nivel III</a:t>
              </a:r>
            </a:p>
          </p:txBody>
        </p:sp>
        <p:sp>
          <p:nvSpPr>
            <p:cNvPr id="16" name="Rectangle 18"/>
            <p:cNvSpPr>
              <a:spLocks noChangeArrowheads="1"/>
            </p:cNvSpPr>
            <p:nvPr/>
          </p:nvSpPr>
          <p:spPr bwMode="auto">
            <a:xfrm>
              <a:off x="6716066" y="3202180"/>
              <a:ext cx="2286000" cy="274320"/>
            </a:xfrm>
            <a:prstGeom prst="rect">
              <a:avLst/>
            </a:prstGeom>
            <a:noFill/>
            <a:ln w="9525" algn="ctr">
              <a:solidFill>
                <a:schemeClr val="bg2"/>
              </a:solidFill>
              <a:miter lim="800000"/>
              <a:headEnd/>
              <a:tailEnd/>
            </a:ln>
            <a:effectLst/>
          </p:spPr>
          <p:txBody>
            <a:bodyPr anchor="ctr"/>
            <a:lstStyle/>
            <a:p>
              <a:r>
                <a:rPr lang="es-ES" sz="1100" dirty="0"/>
                <a:t>Errores en entrega realizada por distribuidores y proveedores.</a:t>
              </a:r>
            </a:p>
          </p:txBody>
        </p:sp>
      </p:grpSp>
      <p:sp>
        <p:nvSpPr>
          <p:cNvPr id="17" name="Rounded Rectangle 16"/>
          <p:cNvSpPr/>
          <p:nvPr/>
        </p:nvSpPr>
        <p:spPr>
          <a:xfrm>
            <a:off x="227770" y="1110038"/>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Macroproceso</a:t>
            </a:r>
          </a:p>
        </p:txBody>
      </p:sp>
      <p:sp>
        <p:nvSpPr>
          <p:cNvPr id="18" name="Rectangle 18"/>
          <p:cNvSpPr>
            <a:spLocks noChangeArrowheads="1"/>
          </p:cNvSpPr>
          <p:nvPr/>
        </p:nvSpPr>
        <p:spPr bwMode="auto">
          <a:xfrm>
            <a:off x="2568409" y="1110038"/>
            <a:ext cx="4060161" cy="182880"/>
          </a:xfrm>
          <a:prstGeom prst="rect">
            <a:avLst/>
          </a:prstGeom>
          <a:noFill/>
          <a:ln w="9525" algn="ctr">
            <a:solidFill>
              <a:schemeClr val="bg2"/>
            </a:solidFill>
            <a:miter lim="800000"/>
            <a:headEnd/>
            <a:tailEnd/>
          </a:ln>
          <a:effectLst/>
        </p:spPr>
        <p:txBody>
          <a:bodyPr anchor="ctr"/>
          <a:lstStyle/>
          <a:p>
            <a:r>
              <a:rPr lang="es-ES" sz="1100" dirty="0"/>
              <a:t>Generación de Negocio</a:t>
            </a:r>
          </a:p>
        </p:txBody>
      </p:sp>
      <p:sp>
        <p:nvSpPr>
          <p:cNvPr id="19" name="Rounded Rectangle 18"/>
          <p:cNvSpPr/>
          <p:nvPr/>
        </p:nvSpPr>
        <p:spPr>
          <a:xfrm>
            <a:off x="227770" y="1339045"/>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Proceso</a:t>
            </a:r>
          </a:p>
        </p:txBody>
      </p:sp>
      <p:sp>
        <p:nvSpPr>
          <p:cNvPr id="20" name="Rectangle 18"/>
          <p:cNvSpPr>
            <a:spLocks noChangeArrowheads="1"/>
          </p:cNvSpPr>
          <p:nvPr/>
        </p:nvSpPr>
        <p:spPr bwMode="auto">
          <a:xfrm>
            <a:off x="2568409" y="1339045"/>
            <a:ext cx="4060161" cy="182880"/>
          </a:xfrm>
          <a:prstGeom prst="rect">
            <a:avLst/>
          </a:prstGeom>
          <a:noFill/>
          <a:ln w="9525" algn="ctr">
            <a:solidFill>
              <a:schemeClr val="bg2"/>
            </a:solidFill>
            <a:miter lim="800000"/>
            <a:headEnd/>
            <a:tailEnd/>
          </a:ln>
          <a:effectLst/>
        </p:spPr>
        <p:txBody>
          <a:bodyPr anchor="ctr"/>
          <a:lstStyle/>
          <a:p>
            <a:r>
              <a:rPr lang="es-ES" sz="1100" dirty="0"/>
              <a:t>Suscripción</a:t>
            </a:r>
          </a:p>
        </p:txBody>
      </p:sp>
      <p:sp>
        <p:nvSpPr>
          <p:cNvPr id="21" name="Rectangle 29"/>
          <p:cNvSpPr>
            <a:spLocks noChangeArrowheads="1"/>
          </p:cNvSpPr>
          <p:nvPr/>
        </p:nvSpPr>
        <p:spPr bwMode="auto">
          <a:xfrm>
            <a:off x="107504" y="3423715"/>
            <a:ext cx="8961120" cy="1607926"/>
          </a:xfrm>
          <a:prstGeom prst="rect">
            <a:avLst/>
          </a:prstGeom>
          <a:noFill/>
          <a:ln w="19050" cap="rnd" algn="ctr">
            <a:solidFill>
              <a:schemeClr val="bg2"/>
            </a:solidFill>
            <a:prstDash val="sysDot"/>
            <a:miter lim="800000"/>
            <a:headEnd/>
            <a:tailEnd/>
          </a:ln>
          <a:effectLst/>
        </p:spPr>
        <p:txBody>
          <a:bodyPr wrap="none" anchor="ctr"/>
          <a:lstStyle/>
          <a:p>
            <a:endParaRPr lang="en-US">
              <a:solidFill>
                <a:srgbClr val="002060"/>
              </a:solidFill>
            </a:endParaRPr>
          </a:p>
        </p:txBody>
      </p:sp>
      <p:sp>
        <p:nvSpPr>
          <p:cNvPr id="22" name="Rounded Rectangle 21"/>
          <p:cNvSpPr/>
          <p:nvPr/>
        </p:nvSpPr>
        <p:spPr>
          <a:xfrm>
            <a:off x="902959" y="4382163"/>
            <a:ext cx="1920240" cy="182880"/>
          </a:xfrm>
          <a:prstGeom prst="roundRect">
            <a:avLst/>
          </a:prstGeom>
          <a:solidFill>
            <a:srgbClr val="DB0613"/>
          </a:solidFill>
          <a:ln w="9525" algn="ctr">
            <a:noFill/>
            <a:miter lim="800000"/>
            <a:headEnd/>
            <a:tailEnd/>
          </a:ln>
          <a:effectLst/>
        </p:spPr>
        <p:txBody>
          <a:bodyPr tIns="91440" anchor="ctr"/>
          <a:lstStyle/>
          <a:p>
            <a:pPr>
              <a:lnSpc>
                <a:spcPct val="80000"/>
              </a:lnSpc>
            </a:pPr>
            <a:r>
              <a:rPr lang="es-CL" sz="1100" b="1" dirty="0">
                <a:solidFill>
                  <a:srgbClr val="FFFFFF"/>
                </a:solidFill>
                <a:cs typeface="Arial" pitchFamily="34" charset="0"/>
              </a:rPr>
              <a:t>Pérdida Esperada Anual</a:t>
            </a:r>
          </a:p>
        </p:txBody>
      </p:sp>
      <p:sp>
        <p:nvSpPr>
          <p:cNvPr id="23" name="Rectangle 18"/>
          <p:cNvSpPr>
            <a:spLocks noChangeArrowheads="1"/>
          </p:cNvSpPr>
          <p:nvPr/>
        </p:nvSpPr>
        <p:spPr bwMode="auto">
          <a:xfrm>
            <a:off x="2859920" y="4382163"/>
            <a:ext cx="1554480" cy="182880"/>
          </a:xfrm>
          <a:prstGeom prst="rect">
            <a:avLst/>
          </a:prstGeom>
          <a:solidFill>
            <a:schemeClr val="bg1"/>
          </a:solidFill>
          <a:ln w="9525" algn="ctr">
            <a:solidFill>
              <a:schemeClr val="bg2"/>
            </a:solidFill>
            <a:miter lim="800000"/>
            <a:headEnd/>
            <a:tailEnd/>
          </a:ln>
          <a:effectLst/>
        </p:spPr>
        <p:txBody>
          <a:bodyPr anchor="ctr"/>
          <a:lstStyle/>
          <a:p>
            <a:pPr algn="ctr"/>
            <a:r>
              <a:rPr lang="es-ES" sz="1100" dirty="0"/>
              <a:t>S/.124,311.00</a:t>
            </a:r>
            <a:endParaRPr lang="es-ES" sz="1100" dirty="0">
              <a:solidFill>
                <a:srgbClr val="002060"/>
              </a:solidFill>
            </a:endParaRPr>
          </a:p>
        </p:txBody>
      </p:sp>
      <p:sp>
        <p:nvSpPr>
          <p:cNvPr id="24" name="Rounded Rectangle 23"/>
          <p:cNvSpPr/>
          <p:nvPr/>
        </p:nvSpPr>
        <p:spPr>
          <a:xfrm>
            <a:off x="902959" y="4611775"/>
            <a:ext cx="192024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VaR Cualitativo Anual</a:t>
            </a:r>
          </a:p>
        </p:txBody>
      </p:sp>
      <p:sp>
        <p:nvSpPr>
          <p:cNvPr id="25" name="Rectangle 18"/>
          <p:cNvSpPr>
            <a:spLocks noChangeArrowheads="1"/>
          </p:cNvSpPr>
          <p:nvPr/>
        </p:nvSpPr>
        <p:spPr bwMode="auto">
          <a:xfrm>
            <a:off x="2859920" y="4611775"/>
            <a:ext cx="1554480" cy="182880"/>
          </a:xfrm>
          <a:prstGeom prst="rect">
            <a:avLst/>
          </a:prstGeom>
          <a:solidFill>
            <a:schemeClr val="bg1"/>
          </a:solidFill>
          <a:ln w="9525" algn="ctr">
            <a:solidFill>
              <a:schemeClr val="bg2"/>
            </a:solidFill>
            <a:miter lim="800000"/>
            <a:headEnd/>
            <a:tailEnd/>
          </a:ln>
          <a:effectLst/>
        </p:spPr>
        <p:txBody>
          <a:bodyPr anchor="ctr"/>
          <a:lstStyle/>
          <a:p>
            <a:pPr algn="ctr"/>
            <a:r>
              <a:rPr lang="es-ES" sz="1100" dirty="0"/>
              <a:t>S/. 1,114,838.58</a:t>
            </a:r>
            <a:endParaRPr lang="es-ES" sz="1100" dirty="0">
              <a:solidFill>
                <a:srgbClr val="002060"/>
              </a:solidFill>
            </a:endParaRPr>
          </a:p>
        </p:txBody>
      </p:sp>
      <p:sp>
        <p:nvSpPr>
          <p:cNvPr id="26" name="Rounded Rectangle 25"/>
          <p:cNvSpPr/>
          <p:nvPr/>
        </p:nvSpPr>
        <p:spPr>
          <a:xfrm>
            <a:off x="891084" y="3618777"/>
            <a:ext cx="192024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Frecuencia  Evento Pérdida</a:t>
            </a:r>
          </a:p>
        </p:txBody>
      </p:sp>
      <p:sp>
        <p:nvSpPr>
          <p:cNvPr id="27" name="Rectangle 18"/>
          <p:cNvSpPr>
            <a:spLocks noChangeArrowheads="1"/>
          </p:cNvSpPr>
          <p:nvPr/>
        </p:nvSpPr>
        <p:spPr bwMode="auto">
          <a:xfrm>
            <a:off x="2859920" y="3618777"/>
            <a:ext cx="1554480" cy="182880"/>
          </a:xfrm>
          <a:prstGeom prst="rect">
            <a:avLst/>
          </a:prstGeom>
          <a:solidFill>
            <a:schemeClr val="bg1"/>
          </a:solidFill>
          <a:ln w="9525" algn="ctr">
            <a:solidFill>
              <a:schemeClr val="bg2"/>
            </a:solidFill>
            <a:miter lim="800000"/>
            <a:headEnd/>
            <a:tailEnd/>
          </a:ln>
          <a:effectLst/>
        </p:spPr>
        <p:txBody>
          <a:bodyPr anchor="ctr"/>
          <a:lstStyle/>
          <a:p>
            <a:pPr algn="ctr"/>
            <a:r>
              <a:rPr lang="es-ES" sz="1100" dirty="0"/>
              <a:t>3 veces por año</a:t>
            </a:r>
          </a:p>
        </p:txBody>
      </p:sp>
      <p:sp>
        <p:nvSpPr>
          <p:cNvPr id="28" name="Rounded Rectangle 27"/>
          <p:cNvSpPr/>
          <p:nvPr/>
        </p:nvSpPr>
        <p:spPr>
          <a:xfrm>
            <a:off x="891084" y="3848389"/>
            <a:ext cx="192024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Impacto Medio Evento</a:t>
            </a:r>
          </a:p>
        </p:txBody>
      </p:sp>
      <p:sp>
        <p:nvSpPr>
          <p:cNvPr id="29" name="Rectangle 18"/>
          <p:cNvSpPr>
            <a:spLocks noChangeArrowheads="1"/>
          </p:cNvSpPr>
          <p:nvPr/>
        </p:nvSpPr>
        <p:spPr bwMode="auto">
          <a:xfrm>
            <a:off x="2859920" y="3848389"/>
            <a:ext cx="1554480" cy="182880"/>
          </a:xfrm>
          <a:prstGeom prst="rect">
            <a:avLst/>
          </a:prstGeom>
          <a:solidFill>
            <a:schemeClr val="bg1"/>
          </a:solidFill>
          <a:ln w="9525" algn="ctr">
            <a:solidFill>
              <a:schemeClr val="bg2"/>
            </a:solidFill>
            <a:miter lim="800000"/>
            <a:headEnd/>
            <a:tailEnd/>
          </a:ln>
          <a:effectLst/>
        </p:spPr>
        <p:txBody>
          <a:bodyPr anchor="ctr"/>
          <a:lstStyle/>
          <a:p>
            <a:pPr algn="ctr"/>
            <a:r>
              <a:rPr lang="es-ES" sz="1100" dirty="0"/>
              <a:t>S/. 41,437.00</a:t>
            </a:r>
            <a:endParaRPr lang="es-ES" sz="1100" dirty="0">
              <a:solidFill>
                <a:srgbClr val="002060"/>
              </a:solidFill>
            </a:endParaRPr>
          </a:p>
        </p:txBody>
      </p:sp>
      <p:sp>
        <p:nvSpPr>
          <p:cNvPr id="30" name="Rounded Rectangle 29"/>
          <p:cNvSpPr/>
          <p:nvPr/>
        </p:nvSpPr>
        <p:spPr>
          <a:xfrm>
            <a:off x="891084" y="4083969"/>
            <a:ext cx="192024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Impacto Peor Escenario</a:t>
            </a:r>
          </a:p>
        </p:txBody>
      </p:sp>
      <p:sp>
        <p:nvSpPr>
          <p:cNvPr id="31" name="Rectangle 18"/>
          <p:cNvSpPr>
            <a:spLocks noChangeArrowheads="1"/>
          </p:cNvSpPr>
          <p:nvPr/>
        </p:nvSpPr>
        <p:spPr bwMode="auto">
          <a:xfrm>
            <a:off x="2859920" y="4083969"/>
            <a:ext cx="1554480" cy="182880"/>
          </a:xfrm>
          <a:prstGeom prst="rect">
            <a:avLst/>
          </a:prstGeom>
          <a:solidFill>
            <a:schemeClr val="bg1"/>
          </a:solidFill>
          <a:ln w="9525" algn="ctr">
            <a:solidFill>
              <a:schemeClr val="bg2"/>
            </a:solidFill>
            <a:miter lim="800000"/>
            <a:headEnd/>
            <a:tailEnd/>
          </a:ln>
          <a:effectLst/>
        </p:spPr>
        <p:txBody>
          <a:bodyPr anchor="ctr"/>
          <a:lstStyle/>
          <a:p>
            <a:pPr algn="ctr"/>
            <a:r>
              <a:rPr lang="es-ES" sz="1100" dirty="0"/>
              <a:t>S/. 828,750.00</a:t>
            </a:r>
            <a:endParaRPr lang="es-ES" sz="1100" dirty="0">
              <a:solidFill>
                <a:srgbClr val="002060"/>
              </a:solidFill>
            </a:endParaRPr>
          </a:p>
        </p:txBody>
      </p:sp>
      <p:sp>
        <p:nvSpPr>
          <p:cNvPr id="32" name="AutoShape 47"/>
          <p:cNvSpPr>
            <a:spLocks noChangeAspect="1" noChangeArrowheads="1"/>
          </p:cNvSpPr>
          <p:nvPr/>
        </p:nvSpPr>
        <p:spPr bwMode="blackWhite">
          <a:xfrm>
            <a:off x="263033" y="3533122"/>
            <a:ext cx="492543" cy="1339083"/>
          </a:xfrm>
          <a:prstGeom prst="rightArrow">
            <a:avLst>
              <a:gd name="adj1" fmla="val 100000"/>
              <a:gd name="adj2" fmla="val 11009"/>
            </a:avLst>
          </a:prstGeom>
          <a:solidFill>
            <a:srgbClr val="969696"/>
          </a:solidFill>
          <a:ln w="12700">
            <a:noFill/>
            <a:miter lim="800000"/>
            <a:headEnd/>
            <a:tailEnd/>
          </a:ln>
          <a:effectLst>
            <a:outerShdw dist="35921" dir="2700000" algn="ctr" rotWithShape="0">
              <a:schemeClr val="bg2"/>
            </a:outerShdw>
          </a:effectLst>
        </p:spPr>
        <p:txBody>
          <a:bodyPr vert="vert270" anchor="ctr"/>
          <a:lstStyle/>
          <a:p>
            <a:pPr algn="ctr">
              <a:lnSpc>
                <a:spcPts val="1000"/>
              </a:lnSpc>
            </a:pPr>
            <a:r>
              <a:rPr lang="es-ES" sz="1200" b="1" noProof="1">
                <a:solidFill>
                  <a:srgbClr val="FFFFFF"/>
                </a:solidFill>
                <a:cs typeface="Arial" charset="0"/>
              </a:rPr>
              <a:t>Evaluación Riesgo Operacional</a:t>
            </a:r>
          </a:p>
        </p:txBody>
      </p:sp>
      <p:sp>
        <p:nvSpPr>
          <p:cNvPr id="59" name="Rounded Rectangle 58"/>
          <p:cNvSpPr/>
          <p:nvPr/>
        </p:nvSpPr>
        <p:spPr>
          <a:xfrm>
            <a:off x="223049" y="1554311"/>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Subproceso</a:t>
            </a:r>
          </a:p>
        </p:txBody>
      </p:sp>
      <p:sp>
        <p:nvSpPr>
          <p:cNvPr id="60" name="Rectangle 18"/>
          <p:cNvSpPr>
            <a:spLocks noChangeArrowheads="1"/>
          </p:cNvSpPr>
          <p:nvPr/>
        </p:nvSpPr>
        <p:spPr bwMode="auto">
          <a:xfrm>
            <a:off x="2563688" y="1554311"/>
            <a:ext cx="4064882" cy="182880"/>
          </a:xfrm>
          <a:prstGeom prst="rect">
            <a:avLst/>
          </a:prstGeom>
          <a:noFill/>
          <a:ln w="9525" algn="ctr">
            <a:solidFill>
              <a:schemeClr val="bg2"/>
            </a:solidFill>
            <a:miter lim="800000"/>
            <a:headEnd/>
            <a:tailEnd/>
          </a:ln>
          <a:effectLst/>
        </p:spPr>
        <p:txBody>
          <a:bodyPr anchor="ctr"/>
          <a:lstStyle/>
          <a:p>
            <a:r>
              <a:rPr lang="es-ES" sz="1100" dirty="0"/>
              <a:t>Inspección Técnica</a:t>
            </a:r>
          </a:p>
        </p:txBody>
      </p:sp>
      <p:sp>
        <p:nvSpPr>
          <p:cNvPr id="57" name="Rounded Rectangle 56"/>
          <p:cNvSpPr/>
          <p:nvPr/>
        </p:nvSpPr>
        <p:spPr>
          <a:xfrm>
            <a:off x="223049" y="1771093"/>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Línea de Negocio</a:t>
            </a:r>
          </a:p>
        </p:txBody>
      </p:sp>
      <p:sp>
        <p:nvSpPr>
          <p:cNvPr id="58" name="Rectangle 18"/>
          <p:cNvSpPr>
            <a:spLocks noChangeArrowheads="1"/>
          </p:cNvSpPr>
          <p:nvPr/>
        </p:nvSpPr>
        <p:spPr bwMode="auto">
          <a:xfrm>
            <a:off x="2563688" y="1771093"/>
            <a:ext cx="4064882" cy="182880"/>
          </a:xfrm>
          <a:prstGeom prst="rect">
            <a:avLst/>
          </a:prstGeom>
          <a:noFill/>
          <a:ln w="9525" algn="ctr">
            <a:solidFill>
              <a:schemeClr val="bg2"/>
            </a:solidFill>
            <a:miter lim="800000"/>
            <a:headEnd/>
            <a:tailEnd/>
          </a:ln>
          <a:effectLst/>
        </p:spPr>
        <p:txBody>
          <a:bodyPr anchor="ctr"/>
          <a:lstStyle/>
          <a:p>
            <a:r>
              <a:rPr lang="es-ES" sz="1100" dirty="0"/>
              <a:t>Ramos Generales</a:t>
            </a:r>
          </a:p>
        </p:txBody>
      </p:sp>
      <p:sp>
        <p:nvSpPr>
          <p:cNvPr id="61" name="Rounded Rectangle 60"/>
          <p:cNvSpPr/>
          <p:nvPr/>
        </p:nvSpPr>
        <p:spPr>
          <a:xfrm>
            <a:off x="223049" y="1986359"/>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Responsable</a:t>
            </a:r>
          </a:p>
        </p:txBody>
      </p:sp>
      <p:sp>
        <p:nvSpPr>
          <p:cNvPr id="62" name="Rectangle 18"/>
          <p:cNvSpPr>
            <a:spLocks noChangeArrowheads="1"/>
          </p:cNvSpPr>
          <p:nvPr/>
        </p:nvSpPr>
        <p:spPr bwMode="auto">
          <a:xfrm>
            <a:off x="2558967" y="1986359"/>
            <a:ext cx="4069603" cy="182880"/>
          </a:xfrm>
          <a:prstGeom prst="rect">
            <a:avLst/>
          </a:prstGeom>
          <a:noFill/>
          <a:ln w="9525" algn="ctr">
            <a:solidFill>
              <a:schemeClr val="bg2"/>
            </a:solidFill>
            <a:miter lim="800000"/>
            <a:headEnd/>
            <a:tailEnd/>
          </a:ln>
          <a:effectLst/>
        </p:spPr>
        <p:txBody>
          <a:bodyPr anchor="ctr"/>
          <a:lstStyle/>
          <a:p>
            <a:r>
              <a:rPr lang="es-ES" sz="1100" dirty="0"/>
              <a:t>Coordinador de Procesos  de Emisión</a:t>
            </a:r>
          </a:p>
        </p:txBody>
      </p:sp>
      <p:sp>
        <p:nvSpPr>
          <p:cNvPr id="63" name="Rounded Rectangle 14"/>
          <p:cNvSpPr/>
          <p:nvPr/>
        </p:nvSpPr>
        <p:spPr>
          <a:xfrm>
            <a:off x="6716066" y="2817311"/>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Origen del Riesgo</a:t>
            </a:r>
          </a:p>
        </p:txBody>
      </p:sp>
      <p:sp>
        <p:nvSpPr>
          <p:cNvPr id="64" name="Rectangle 18"/>
          <p:cNvSpPr>
            <a:spLocks noChangeArrowheads="1"/>
          </p:cNvSpPr>
          <p:nvPr/>
        </p:nvSpPr>
        <p:spPr bwMode="auto">
          <a:xfrm>
            <a:off x="6716066" y="3032576"/>
            <a:ext cx="2286000" cy="270000"/>
          </a:xfrm>
          <a:prstGeom prst="rect">
            <a:avLst/>
          </a:prstGeom>
          <a:noFill/>
          <a:ln w="9525" algn="ctr">
            <a:solidFill>
              <a:schemeClr val="bg2"/>
            </a:solidFill>
            <a:miter lim="800000"/>
            <a:headEnd/>
            <a:tailEnd/>
          </a:ln>
          <a:effectLst/>
        </p:spPr>
        <p:txBody>
          <a:bodyPr anchor="ctr"/>
          <a:lstStyle/>
          <a:p>
            <a:r>
              <a:rPr lang="es-ES" sz="1100" dirty="0">
                <a:solidFill>
                  <a:srgbClr val="000000"/>
                </a:solidFill>
              </a:rPr>
              <a:t>Relaciones con terceros</a:t>
            </a:r>
          </a:p>
        </p:txBody>
      </p:sp>
      <p:sp>
        <p:nvSpPr>
          <p:cNvPr id="66" name="AutoShape 179"/>
          <p:cNvSpPr>
            <a:spLocks noChangeArrowheads="1"/>
          </p:cNvSpPr>
          <p:nvPr/>
        </p:nvSpPr>
        <p:spPr bwMode="auto">
          <a:xfrm>
            <a:off x="4932039" y="3537391"/>
            <a:ext cx="4037169" cy="864000"/>
          </a:xfrm>
          <a:prstGeom prst="roundRect">
            <a:avLst>
              <a:gd name="adj" fmla="val 9481"/>
            </a:avLst>
          </a:prstGeom>
          <a:solidFill>
            <a:schemeClr val="accent1">
              <a:lumMod val="20000"/>
              <a:lumOff val="80000"/>
            </a:schemeClr>
          </a:solidFill>
          <a:ln w="9525" algn="ctr">
            <a:noFill/>
            <a:round/>
            <a:headEnd/>
            <a:tailEnd/>
          </a:ln>
          <a:effectLst/>
        </p:spPr>
        <p:txBody>
          <a:bodyPr wrap="none" anchor="ctr"/>
          <a:lstStyle/>
          <a:p>
            <a:endParaRPr lang="es-CL">
              <a:solidFill>
                <a:srgbClr val="002060"/>
              </a:solidFill>
            </a:endParaRPr>
          </a:p>
        </p:txBody>
      </p:sp>
      <p:sp>
        <p:nvSpPr>
          <p:cNvPr id="67" name="AutoShape 47"/>
          <p:cNvSpPr>
            <a:spLocks noChangeArrowheads="1"/>
          </p:cNvSpPr>
          <p:nvPr/>
        </p:nvSpPr>
        <p:spPr bwMode="blackWhite">
          <a:xfrm>
            <a:off x="4678512" y="3538893"/>
            <a:ext cx="353942" cy="864000"/>
          </a:xfrm>
          <a:prstGeom prst="rightArrow">
            <a:avLst>
              <a:gd name="adj1" fmla="val 100000"/>
              <a:gd name="adj2" fmla="val 11009"/>
            </a:avLst>
          </a:prstGeom>
          <a:solidFill>
            <a:srgbClr val="969696"/>
          </a:solidFill>
          <a:ln w="12700">
            <a:noFill/>
            <a:miter lim="800000"/>
            <a:headEnd/>
            <a:tailEnd/>
          </a:ln>
          <a:effectLst>
            <a:outerShdw dist="35921" dir="2700000" algn="ctr" rotWithShape="0">
              <a:schemeClr val="bg2"/>
            </a:outerShdw>
          </a:effectLst>
        </p:spPr>
        <p:txBody>
          <a:bodyPr vert="vert270" anchor="ctr"/>
          <a:lstStyle/>
          <a:p>
            <a:pPr algn="ctr">
              <a:lnSpc>
                <a:spcPts val="1000"/>
              </a:lnSpc>
            </a:pPr>
            <a:r>
              <a:rPr lang="es-ES" sz="1100" b="1" noProof="1">
                <a:solidFill>
                  <a:srgbClr val="FFFFFF"/>
                </a:solidFill>
                <a:cs typeface="Arial" charset="0"/>
              </a:rPr>
              <a:t>Impacto Reputacional</a:t>
            </a:r>
          </a:p>
        </p:txBody>
      </p:sp>
      <p:sp>
        <p:nvSpPr>
          <p:cNvPr id="68" name="Rectangle 18"/>
          <p:cNvSpPr>
            <a:spLocks noChangeArrowheads="1"/>
          </p:cNvSpPr>
          <p:nvPr/>
        </p:nvSpPr>
        <p:spPr bwMode="auto">
          <a:xfrm>
            <a:off x="8334310" y="3612658"/>
            <a:ext cx="548640" cy="170094"/>
          </a:xfrm>
          <a:prstGeom prst="rect">
            <a:avLst/>
          </a:prstGeom>
          <a:solidFill>
            <a:schemeClr val="bg1"/>
          </a:solidFill>
          <a:ln w="9525" algn="ctr">
            <a:solidFill>
              <a:schemeClr val="bg2"/>
            </a:solidFill>
            <a:miter lim="800000"/>
            <a:headEnd/>
            <a:tailEnd/>
          </a:ln>
          <a:effectLst/>
        </p:spPr>
        <p:txBody>
          <a:bodyPr anchor="ctr"/>
          <a:lstStyle/>
          <a:p>
            <a:pPr algn="ctr"/>
            <a:r>
              <a:rPr lang="es-ES" sz="1100" dirty="0"/>
              <a:t>4</a:t>
            </a:r>
          </a:p>
        </p:txBody>
      </p:sp>
      <p:sp>
        <p:nvSpPr>
          <p:cNvPr id="69" name="Rounded Rectangle 68"/>
          <p:cNvSpPr/>
          <p:nvPr/>
        </p:nvSpPr>
        <p:spPr>
          <a:xfrm>
            <a:off x="5102950" y="3612658"/>
            <a:ext cx="3132000" cy="170094"/>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Afectación a Clientes</a:t>
            </a:r>
          </a:p>
        </p:txBody>
      </p:sp>
      <p:sp>
        <p:nvSpPr>
          <p:cNvPr id="70" name="Rectangle 18"/>
          <p:cNvSpPr>
            <a:spLocks noChangeArrowheads="1"/>
          </p:cNvSpPr>
          <p:nvPr/>
        </p:nvSpPr>
        <p:spPr bwMode="auto">
          <a:xfrm>
            <a:off x="5102950" y="3830815"/>
            <a:ext cx="3780000" cy="469509"/>
          </a:xfrm>
          <a:prstGeom prst="rect">
            <a:avLst/>
          </a:prstGeom>
          <a:solidFill>
            <a:schemeClr val="bg1"/>
          </a:solidFill>
          <a:ln w="9525" algn="ctr">
            <a:solidFill>
              <a:schemeClr val="bg2"/>
            </a:solidFill>
            <a:miter lim="800000"/>
            <a:headEnd/>
            <a:tailEnd/>
          </a:ln>
          <a:effectLst/>
        </p:spPr>
        <p:txBody>
          <a:bodyPr anchor="ctr"/>
          <a:lstStyle/>
          <a:p>
            <a:r>
              <a:rPr lang="es-ES" sz="1100" dirty="0">
                <a:solidFill>
                  <a:srgbClr val="000000"/>
                </a:solidFill>
              </a:rPr>
              <a:t>La exposición de la imagen es interna y externa con un nivel de impacto alto.</a:t>
            </a:r>
          </a:p>
        </p:txBody>
      </p:sp>
      <p:sp>
        <p:nvSpPr>
          <p:cNvPr id="74" name="AutoShape 179"/>
          <p:cNvSpPr>
            <a:spLocks noChangeArrowheads="1"/>
          </p:cNvSpPr>
          <p:nvPr/>
        </p:nvSpPr>
        <p:spPr bwMode="auto">
          <a:xfrm>
            <a:off x="4927319" y="4441608"/>
            <a:ext cx="4037169" cy="892800"/>
          </a:xfrm>
          <a:prstGeom prst="roundRect">
            <a:avLst>
              <a:gd name="adj" fmla="val 9481"/>
            </a:avLst>
          </a:prstGeom>
          <a:solidFill>
            <a:schemeClr val="accent1">
              <a:lumMod val="20000"/>
              <a:lumOff val="80000"/>
            </a:schemeClr>
          </a:solidFill>
          <a:ln w="9525" algn="ctr">
            <a:noFill/>
            <a:round/>
            <a:headEnd/>
            <a:tailEnd/>
          </a:ln>
          <a:effectLst/>
        </p:spPr>
        <p:txBody>
          <a:bodyPr wrap="none" anchor="ctr"/>
          <a:lstStyle/>
          <a:p>
            <a:endParaRPr lang="es-CL">
              <a:solidFill>
                <a:srgbClr val="002060"/>
              </a:solidFill>
            </a:endParaRPr>
          </a:p>
        </p:txBody>
      </p:sp>
      <p:sp>
        <p:nvSpPr>
          <p:cNvPr id="75" name="AutoShape 47"/>
          <p:cNvSpPr>
            <a:spLocks noChangeArrowheads="1"/>
          </p:cNvSpPr>
          <p:nvPr/>
        </p:nvSpPr>
        <p:spPr bwMode="blackWhite">
          <a:xfrm>
            <a:off x="4673792" y="4443110"/>
            <a:ext cx="352800" cy="892800"/>
          </a:xfrm>
          <a:prstGeom prst="rightArrow">
            <a:avLst>
              <a:gd name="adj1" fmla="val 100000"/>
              <a:gd name="adj2" fmla="val 11009"/>
            </a:avLst>
          </a:prstGeom>
          <a:solidFill>
            <a:srgbClr val="969696"/>
          </a:solidFill>
          <a:ln w="12700">
            <a:noFill/>
            <a:miter lim="800000"/>
            <a:headEnd/>
            <a:tailEnd/>
          </a:ln>
          <a:effectLst>
            <a:outerShdw dist="35921" dir="2700000" algn="ctr" rotWithShape="0">
              <a:schemeClr val="bg2"/>
            </a:outerShdw>
          </a:effectLst>
        </p:spPr>
        <p:txBody>
          <a:bodyPr vert="vert270" anchor="ctr"/>
          <a:lstStyle/>
          <a:p>
            <a:pPr algn="ctr">
              <a:lnSpc>
                <a:spcPts val="1000"/>
              </a:lnSpc>
            </a:pPr>
            <a:r>
              <a:rPr lang="es-ES" sz="1100" b="1" noProof="1">
                <a:solidFill>
                  <a:srgbClr val="FFFFFF"/>
                </a:solidFill>
                <a:cs typeface="Arial" charset="0"/>
              </a:rPr>
              <a:t>Cuestionarios</a:t>
            </a:r>
          </a:p>
        </p:txBody>
      </p:sp>
      <p:sp>
        <p:nvSpPr>
          <p:cNvPr id="77" name="Rounded Rectangle 38"/>
          <p:cNvSpPr/>
          <p:nvPr/>
        </p:nvSpPr>
        <p:spPr>
          <a:xfrm>
            <a:off x="5098230" y="4516875"/>
            <a:ext cx="3132000" cy="170094"/>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Criterios de Evaluación</a:t>
            </a:r>
          </a:p>
        </p:txBody>
      </p:sp>
      <p:sp>
        <p:nvSpPr>
          <p:cNvPr id="78" name="Rectangle 18"/>
          <p:cNvSpPr>
            <a:spLocks noChangeArrowheads="1"/>
          </p:cNvSpPr>
          <p:nvPr/>
        </p:nvSpPr>
        <p:spPr bwMode="auto">
          <a:xfrm>
            <a:off x="5102950" y="4730048"/>
            <a:ext cx="3780000" cy="469509"/>
          </a:xfrm>
          <a:prstGeom prst="rect">
            <a:avLst/>
          </a:prstGeom>
          <a:solidFill>
            <a:schemeClr val="bg1"/>
          </a:solidFill>
          <a:ln w="9525" algn="ctr">
            <a:solidFill>
              <a:schemeClr val="bg2"/>
            </a:solidFill>
            <a:miter lim="800000"/>
            <a:headEnd/>
            <a:tailEnd/>
          </a:ln>
          <a:effectLst/>
        </p:spPr>
        <p:txBody>
          <a:bodyPr anchor="ctr"/>
          <a:lstStyle/>
          <a:p>
            <a:r>
              <a:rPr lang="es-ES" sz="1100" dirty="0"/>
              <a:t>Impacto patrimonial: Nº trámites al mes (50.000), el 1% tiene error (500), 5% de éstos podrían convertirse en pólizas fallidas (25) . Póliza media $650,  Impacto: $650 * 25 * 2,55 </a:t>
            </a:r>
            <a:endParaRPr lang="es-ES" sz="1100" dirty="0">
              <a:solidFill>
                <a:srgbClr val="000000"/>
              </a:solidFill>
            </a:endParaRPr>
          </a:p>
        </p:txBody>
      </p:sp>
      <p:sp>
        <p:nvSpPr>
          <p:cNvPr id="79" name="Text Box 30"/>
          <p:cNvSpPr txBox="1">
            <a:spLocks noChangeArrowheads="1"/>
          </p:cNvSpPr>
          <p:nvPr/>
        </p:nvSpPr>
        <p:spPr bwMode="auto">
          <a:xfrm>
            <a:off x="190746" y="4977551"/>
            <a:ext cx="3996000" cy="276999"/>
          </a:xfrm>
          <a:prstGeom prst="rect">
            <a:avLst/>
          </a:prstGeom>
          <a:noFill/>
          <a:ln w="9525" algn="ctr">
            <a:noFill/>
            <a:miter lim="800000"/>
            <a:headEnd/>
            <a:tailEnd/>
          </a:ln>
          <a:effectLst/>
        </p:spPr>
        <p:txBody>
          <a:bodyPr wrap="square">
            <a:spAutoFit/>
          </a:bodyPr>
          <a:lstStyle/>
          <a:p>
            <a:pPr>
              <a:spcBef>
                <a:spcPct val="50000"/>
              </a:spcBef>
            </a:pPr>
            <a:r>
              <a:rPr lang="es-CL" sz="1200" b="1" i="1" dirty="0">
                <a:solidFill>
                  <a:srgbClr val="A3A3E0"/>
                </a:solidFill>
              </a:rPr>
              <a:t>Resultados valoración de controles / factores mitigantes</a:t>
            </a:r>
            <a:endParaRPr lang="es-ES" sz="1200" b="1" i="1" dirty="0">
              <a:solidFill>
                <a:srgbClr val="A3A3E0"/>
              </a:solidFill>
            </a:endParaRPr>
          </a:p>
        </p:txBody>
      </p:sp>
      <p:sp>
        <p:nvSpPr>
          <p:cNvPr id="80" name="AutoShape 179"/>
          <p:cNvSpPr>
            <a:spLocks noChangeArrowheads="1"/>
          </p:cNvSpPr>
          <p:nvPr/>
        </p:nvSpPr>
        <p:spPr bwMode="auto">
          <a:xfrm>
            <a:off x="534831" y="5200032"/>
            <a:ext cx="4037169" cy="864000"/>
          </a:xfrm>
          <a:prstGeom prst="roundRect">
            <a:avLst>
              <a:gd name="adj" fmla="val 9481"/>
            </a:avLst>
          </a:prstGeom>
          <a:solidFill>
            <a:schemeClr val="accent1">
              <a:lumMod val="20000"/>
              <a:lumOff val="80000"/>
            </a:schemeClr>
          </a:solidFill>
          <a:ln w="9525" algn="ctr">
            <a:noFill/>
            <a:round/>
            <a:headEnd/>
            <a:tailEnd/>
          </a:ln>
          <a:effectLst/>
        </p:spPr>
        <p:txBody>
          <a:bodyPr wrap="none" anchor="ctr"/>
          <a:lstStyle/>
          <a:p>
            <a:endParaRPr lang="es-CL">
              <a:solidFill>
                <a:srgbClr val="002060"/>
              </a:solidFill>
            </a:endParaRPr>
          </a:p>
        </p:txBody>
      </p:sp>
      <p:sp>
        <p:nvSpPr>
          <p:cNvPr id="81" name="AutoShape 47"/>
          <p:cNvSpPr>
            <a:spLocks noChangeArrowheads="1"/>
          </p:cNvSpPr>
          <p:nvPr/>
        </p:nvSpPr>
        <p:spPr bwMode="blackWhite">
          <a:xfrm>
            <a:off x="281304" y="5201534"/>
            <a:ext cx="353942" cy="864000"/>
          </a:xfrm>
          <a:prstGeom prst="rightArrow">
            <a:avLst>
              <a:gd name="adj1" fmla="val 100000"/>
              <a:gd name="adj2" fmla="val 11009"/>
            </a:avLst>
          </a:prstGeom>
          <a:solidFill>
            <a:srgbClr val="969696"/>
          </a:solidFill>
          <a:ln w="12700">
            <a:noFill/>
            <a:miter lim="800000"/>
            <a:headEnd/>
            <a:tailEnd/>
          </a:ln>
          <a:effectLst>
            <a:outerShdw dist="35921" dir="2700000" algn="ctr" rotWithShape="0">
              <a:schemeClr val="bg2"/>
            </a:outerShdw>
          </a:effectLst>
        </p:spPr>
        <p:txBody>
          <a:bodyPr vert="vert270" anchor="ctr"/>
          <a:lstStyle/>
          <a:p>
            <a:pPr algn="ctr">
              <a:lnSpc>
                <a:spcPts val="1000"/>
              </a:lnSpc>
            </a:pPr>
            <a:r>
              <a:rPr lang="es-ES" sz="1100" b="1" noProof="1">
                <a:solidFill>
                  <a:srgbClr val="FFFFFF"/>
                </a:solidFill>
                <a:cs typeface="Arial" charset="0"/>
              </a:rPr>
              <a:t>Evaluación de Controles</a:t>
            </a:r>
          </a:p>
        </p:txBody>
      </p:sp>
      <p:sp>
        <p:nvSpPr>
          <p:cNvPr id="82" name="Rectangle 18"/>
          <p:cNvSpPr>
            <a:spLocks noChangeArrowheads="1"/>
          </p:cNvSpPr>
          <p:nvPr/>
        </p:nvSpPr>
        <p:spPr bwMode="auto">
          <a:xfrm>
            <a:off x="3937102" y="5275299"/>
            <a:ext cx="548640" cy="170094"/>
          </a:xfrm>
          <a:prstGeom prst="rect">
            <a:avLst/>
          </a:prstGeom>
          <a:solidFill>
            <a:schemeClr val="bg1"/>
          </a:solidFill>
          <a:ln w="9525" algn="ctr">
            <a:solidFill>
              <a:schemeClr val="bg2"/>
            </a:solidFill>
            <a:miter lim="800000"/>
            <a:headEnd/>
            <a:tailEnd/>
          </a:ln>
          <a:effectLst/>
        </p:spPr>
        <p:txBody>
          <a:bodyPr anchor="ctr"/>
          <a:lstStyle/>
          <a:p>
            <a:pPr algn="ctr"/>
            <a:r>
              <a:rPr lang="es-ES" sz="1100" dirty="0">
                <a:solidFill>
                  <a:srgbClr val="002060"/>
                </a:solidFill>
              </a:rPr>
              <a:t>0</a:t>
            </a:r>
          </a:p>
        </p:txBody>
      </p:sp>
      <p:sp>
        <p:nvSpPr>
          <p:cNvPr id="83" name="Rounded Rectangle 38"/>
          <p:cNvSpPr/>
          <p:nvPr/>
        </p:nvSpPr>
        <p:spPr>
          <a:xfrm>
            <a:off x="705742" y="5275299"/>
            <a:ext cx="3132000" cy="170094"/>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Controles asociados al riesgo</a:t>
            </a:r>
          </a:p>
        </p:txBody>
      </p:sp>
      <p:sp>
        <p:nvSpPr>
          <p:cNvPr id="84" name="Rectangle 18"/>
          <p:cNvSpPr>
            <a:spLocks noChangeArrowheads="1"/>
          </p:cNvSpPr>
          <p:nvPr/>
        </p:nvSpPr>
        <p:spPr bwMode="auto">
          <a:xfrm>
            <a:off x="705742" y="5496307"/>
            <a:ext cx="3780000" cy="469509"/>
          </a:xfrm>
          <a:prstGeom prst="rect">
            <a:avLst/>
          </a:prstGeom>
          <a:solidFill>
            <a:schemeClr val="bg1"/>
          </a:solidFill>
          <a:ln w="9525" algn="ctr">
            <a:solidFill>
              <a:schemeClr val="bg2"/>
            </a:solidFill>
            <a:miter lim="800000"/>
            <a:headEnd/>
            <a:tailEnd/>
          </a:ln>
          <a:effectLst/>
        </p:spPr>
        <p:txBody>
          <a:bodyPr anchor="ctr"/>
          <a:lstStyle/>
          <a:p>
            <a:r>
              <a:rPr lang="es-PE" sz="1100" dirty="0">
                <a:solidFill>
                  <a:srgbClr val="000000"/>
                </a:solidFill>
              </a:rPr>
              <a:t>No existe un control definido</a:t>
            </a:r>
            <a:endParaRPr lang="es-ES" sz="1100" dirty="0">
              <a:solidFill>
                <a:srgbClr val="000000"/>
              </a:solidFill>
            </a:endParaRP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dirty="0"/>
              <a:t>Anexo: Ficha Individual Riesgos Operacionales</a:t>
            </a:r>
          </a:p>
        </p:txBody>
      </p:sp>
      <p:sp>
        <p:nvSpPr>
          <p:cNvPr id="3" name="AutoShape 179"/>
          <p:cNvSpPr>
            <a:spLocks noChangeArrowheads="1"/>
          </p:cNvSpPr>
          <p:nvPr/>
        </p:nvSpPr>
        <p:spPr bwMode="auto">
          <a:xfrm>
            <a:off x="611560" y="3535397"/>
            <a:ext cx="3960812" cy="1371600"/>
          </a:xfrm>
          <a:prstGeom prst="roundRect">
            <a:avLst>
              <a:gd name="adj" fmla="val 9481"/>
            </a:avLst>
          </a:prstGeom>
          <a:solidFill>
            <a:schemeClr val="accent1">
              <a:lumMod val="20000"/>
              <a:lumOff val="80000"/>
            </a:schemeClr>
          </a:solidFill>
          <a:ln w="9525" algn="ctr">
            <a:noFill/>
            <a:round/>
            <a:headEnd/>
            <a:tailEnd/>
          </a:ln>
          <a:effectLst/>
        </p:spPr>
        <p:txBody>
          <a:bodyPr wrap="none" anchor="ctr"/>
          <a:lstStyle/>
          <a:p>
            <a:endParaRPr lang="es-CL">
              <a:solidFill>
                <a:srgbClr val="002060"/>
              </a:solidFill>
            </a:endParaRPr>
          </a:p>
        </p:txBody>
      </p:sp>
      <p:sp>
        <p:nvSpPr>
          <p:cNvPr id="4" name="Rounded Rectangle 3"/>
          <p:cNvSpPr/>
          <p:nvPr/>
        </p:nvSpPr>
        <p:spPr>
          <a:xfrm>
            <a:off x="214497" y="764704"/>
            <a:ext cx="397063" cy="274320"/>
          </a:xfrm>
          <a:prstGeom prst="roundRect">
            <a:avLst/>
          </a:prstGeom>
          <a:solidFill>
            <a:srgbClr val="DB0613"/>
          </a:solidFill>
          <a:ln w="9525" algn="ctr">
            <a:noFill/>
            <a:miter lim="800000"/>
            <a:headEnd/>
            <a:tailEnd/>
          </a:ln>
          <a:effectLst/>
        </p:spPr>
        <p:txBody>
          <a:bodyPr anchor="ctr"/>
          <a:lstStyle/>
          <a:p>
            <a:pPr algn="ctr">
              <a:lnSpc>
                <a:spcPct val="80000"/>
              </a:lnSpc>
            </a:pPr>
            <a:r>
              <a:rPr lang="es-CL" sz="1200" b="1" dirty="0">
                <a:solidFill>
                  <a:srgbClr val="FFFFFF"/>
                </a:solidFill>
                <a:cs typeface="Arial" pitchFamily="34" charset="0"/>
              </a:rPr>
              <a:t>9</a:t>
            </a:r>
          </a:p>
        </p:txBody>
      </p:sp>
      <p:sp>
        <p:nvSpPr>
          <p:cNvPr id="5" name="Rectangle 18"/>
          <p:cNvSpPr>
            <a:spLocks noChangeArrowheads="1"/>
          </p:cNvSpPr>
          <p:nvPr/>
        </p:nvSpPr>
        <p:spPr bwMode="auto">
          <a:xfrm>
            <a:off x="227770" y="2409552"/>
            <a:ext cx="6400800" cy="839807"/>
          </a:xfrm>
          <a:prstGeom prst="rect">
            <a:avLst/>
          </a:prstGeom>
          <a:noFill/>
          <a:ln w="9525" algn="ctr">
            <a:solidFill>
              <a:schemeClr val="bg2"/>
            </a:solidFill>
            <a:miter lim="800000"/>
            <a:headEnd/>
            <a:tailEnd/>
          </a:ln>
          <a:effectLst/>
        </p:spPr>
        <p:txBody>
          <a:bodyPr/>
          <a:lstStyle/>
          <a:p>
            <a:r>
              <a:rPr lang="es-ES" sz="1100" dirty="0"/>
              <a:t>Incumplimiento de los servicios de un tercero por huelga. El proveedor que se encarga de crear el trámite de emisión es SGS.</a:t>
            </a:r>
            <a:endParaRPr lang="es-ES" sz="1100" dirty="0">
              <a:solidFill>
                <a:srgbClr val="002060"/>
              </a:solidFill>
            </a:endParaRPr>
          </a:p>
        </p:txBody>
      </p:sp>
      <p:sp>
        <p:nvSpPr>
          <p:cNvPr id="7" name="Text Box 30"/>
          <p:cNvSpPr txBox="1">
            <a:spLocks noChangeArrowheads="1"/>
          </p:cNvSpPr>
          <p:nvPr/>
        </p:nvSpPr>
        <p:spPr bwMode="auto">
          <a:xfrm>
            <a:off x="190747" y="3299257"/>
            <a:ext cx="3671888" cy="276999"/>
          </a:xfrm>
          <a:prstGeom prst="rect">
            <a:avLst/>
          </a:prstGeom>
          <a:noFill/>
          <a:ln w="9525" algn="ctr">
            <a:noFill/>
            <a:miter lim="800000"/>
            <a:headEnd/>
            <a:tailEnd/>
          </a:ln>
          <a:effectLst/>
        </p:spPr>
        <p:txBody>
          <a:bodyPr>
            <a:spAutoFit/>
          </a:bodyPr>
          <a:lstStyle/>
          <a:p>
            <a:pPr>
              <a:spcBef>
                <a:spcPct val="50000"/>
              </a:spcBef>
            </a:pPr>
            <a:r>
              <a:rPr lang="es-CL" sz="1200" b="1" i="1" dirty="0">
                <a:solidFill>
                  <a:srgbClr val="A3A3E0"/>
                </a:solidFill>
              </a:rPr>
              <a:t>Resultados valoración de riesgos</a:t>
            </a:r>
            <a:endParaRPr lang="es-ES" sz="1200" b="1" i="1" dirty="0">
              <a:solidFill>
                <a:srgbClr val="A3A3E0"/>
              </a:solidFill>
            </a:endParaRPr>
          </a:p>
        </p:txBody>
      </p:sp>
      <p:sp>
        <p:nvSpPr>
          <p:cNvPr id="8" name="Rounded Rectangle 7"/>
          <p:cNvSpPr/>
          <p:nvPr/>
        </p:nvSpPr>
        <p:spPr>
          <a:xfrm>
            <a:off x="652842" y="764704"/>
            <a:ext cx="8321040" cy="274320"/>
          </a:xfrm>
          <a:prstGeom prst="roundRect">
            <a:avLst/>
          </a:prstGeom>
          <a:solidFill>
            <a:srgbClr val="DB0613"/>
          </a:solidFill>
          <a:ln w="9525" algn="ctr">
            <a:noFill/>
            <a:miter lim="800000"/>
            <a:headEnd/>
            <a:tailEnd/>
          </a:ln>
          <a:effectLst/>
        </p:spPr>
        <p:txBody>
          <a:bodyPr anchor="ctr"/>
          <a:lstStyle/>
          <a:p>
            <a:pPr>
              <a:lnSpc>
                <a:spcPct val="80000"/>
              </a:lnSpc>
            </a:pPr>
            <a:r>
              <a:rPr lang="es-ES" sz="1200" dirty="0">
                <a:solidFill>
                  <a:schemeClr val="bg1"/>
                </a:solidFill>
              </a:rPr>
              <a:t>Incumplimiento de los servicios de un tercero por huelga. </a:t>
            </a:r>
            <a:endParaRPr lang="es-CL" sz="1200" b="1" dirty="0">
              <a:solidFill>
                <a:schemeClr val="bg1"/>
              </a:solidFill>
              <a:cs typeface="Arial" pitchFamily="34" charset="0"/>
            </a:endParaRPr>
          </a:p>
        </p:txBody>
      </p:sp>
      <p:sp>
        <p:nvSpPr>
          <p:cNvPr id="9" name="Rounded Rectangle 8"/>
          <p:cNvSpPr/>
          <p:nvPr/>
        </p:nvSpPr>
        <p:spPr>
          <a:xfrm>
            <a:off x="227770" y="2202383"/>
            <a:ext cx="64008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Descripción</a:t>
            </a:r>
          </a:p>
        </p:txBody>
      </p:sp>
      <p:sp>
        <p:nvSpPr>
          <p:cNvPr id="10" name="Rounded Rectangle 9"/>
          <p:cNvSpPr/>
          <p:nvPr/>
        </p:nvSpPr>
        <p:spPr>
          <a:xfrm>
            <a:off x="6716066" y="1089119"/>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Categoría  de Riesgo Nivel I</a:t>
            </a:r>
          </a:p>
        </p:txBody>
      </p:sp>
      <p:sp>
        <p:nvSpPr>
          <p:cNvPr id="11" name="Rectangle 18"/>
          <p:cNvSpPr>
            <a:spLocks noChangeArrowheads="1"/>
          </p:cNvSpPr>
          <p:nvPr/>
        </p:nvSpPr>
        <p:spPr bwMode="auto">
          <a:xfrm>
            <a:off x="6716066" y="1316374"/>
            <a:ext cx="2286000" cy="365760"/>
          </a:xfrm>
          <a:prstGeom prst="rect">
            <a:avLst/>
          </a:prstGeom>
          <a:noFill/>
          <a:ln w="9525" algn="ctr">
            <a:solidFill>
              <a:schemeClr val="bg2"/>
            </a:solidFill>
            <a:miter lim="800000"/>
            <a:headEnd/>
            <a:tailEnd/>
          </a:ln>
          <a:effectLst/>
        </p:spPr>
        <p:txBody>
          <a:bodyPr anchor="ctr"/>
          <a:lstStyle/>
          <a:p>
            <a:pPr>
              <a:lnSpc>
                <a:spcPts val="1000"/>
              </a:lnSpc>
            </a:pPr>
            <a:r>
              <a:rPr lang="es-ES" sz="1100" dirty="0"/>
              <a:t>Ejecución, entrega y gestión de procesos</a:t>
            </a:r>
          </a:p>
        </p:txBody>
      </p:sp>
      <p:sp>
        <p:nvSpPr>
          <p:cNvPr id="12" name="Rounded Rectangle 11"/>
          <p:cNvSpPr/>
          <p:nvPr/>
        </p:nvSpPr>
        <p:spPr>
          <a:xfrm>
            <a:off x="6716066" y="1725169"/>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Categoría de Riesgo Nivel II</a:t>
            </a:r>
          </a:p>
        </p:txBody>
      </p:sp>
      <p:sp>
        <p:nvSpPr>
          <p:cNvPr id="13" name="Rectangle 18"/>
          <p:cNvSpPr>
            <a:spLocks noChangeArrowheads="1"/>
          </p:cNvSpPr>
          <p:nvPr/>
        </p:nvSpPr>
        <p:spPr bwMode="auto">
          <a:xfrm>
            <a:off x="6716066" y="1942710"/>
            <a:ext cx="2286000" cy="274320"/>
          </a:xfrm>
          <a:prstGeom prst="rect">
            <a:avLst/>
          </a:prstGeom>
          <a:noFill/>
          <a:ln w="9525" algn="ctr">
            <a:solidFill>
              <a:schemeClr val="bg2"/>
            </a:solidFill>
            <a:miter lim="800000"/>
            <a:headEnd/>
            <a:tailEnd/>
          </a:ln>
          <a:effectLst/>
        </p:spPr>
        <p:txBody>
          <a:bodyPr anchor="ctr"/>
          <a:lstStyle/>
          <a:p>
            <a:r>
              <a:rPr lang="es-ES" sz="1100" dirty="0"/>
              <a:t>Distribuidores y Proveedores</a:t>
            </a:r>
          </a:p>
        </p:txBody>
      </p:sp>
      <p:grpSp>
        <p:nvGrpSpPr>
          <p:cNvPr id="6" name="Group 72"/>
          <p:cNvGrpSpPr/>
          <p:nvPr/>
        </p:nvGrpSpPr>
        <p:grpSpPr>
          <a:xfrm>
            <a:off x="6716066" y="2243313"/>
            <a:ext cx="2286000" cy="504056"/>
            <a:chOff x="6716066" y="2972444"/>
            <a:chExt cx="2286000" cy="504056"/>
          </a:xfrm>
        </p:grpSpPr>
        <p:sp>
          <p:nvSpPr>
            <p:cNvPr id="15" name="Rounded Rectangle 14"/>
            <p:cNvSpPr/>
            <p:nvPr/>
          </p:nvSpPr>
          <p:spPr>
            <a:xfrm>
              <a:off x="6716066" y="2972444"/>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Categoría de Riesgo Nivel III</a:t>
              </a:r>
            </a:p>
          </p:txBody>
        </p:sp>
        <p:sp>
          <p:nvSpPr>
            <p:cNvPr id="16" name="Rectangle 18"/>
            <p:cNvSpPr>
              <a:spLocks noChangeArrowheads="1"/>
            </p:cNvSpPr>
            <p:nvPr/>
          </p:nvSpPr>
          <p:spPr bwMode="auto">
            <a:xfrm>
              <a:off x="6716066" y="3202180"/>
              <a:ext cx="2286000" cy="274320"/>
            </a:xfrm>
            <a:prstGeom prst="rect">
              <a:avLst/>
            </a:prstGeom>
            <a:noFill/>
            <a:ln w="9525" algn="ctr">
              <a:solidFill>
                <a:schemeClr val="bg2"/>
              </a:solidFill>
              <a:miter lim="800000"/>
              <a:headEnd/>
              <a:tailEnd/>
            </a:ln>
            <a:effectLst/>
          </p:spPr>
          <p:txBody>
            <a:bodyPr anchor="ctr"/>
            <a:lstStyle/>
            <a:p>
              <a:r>
                <a:rPr lang="es-ES" sz="1100" dirty="0"/>
                <a:t>Errores en entrega realizada por distribuidores y proveedores</a:t>
              </a:r>
            </a:p>
          </p:txBody>
        </p:sp>
      </p:grpSp>
      <p:sp>
        <p:nvSpPr>
          <p:cNvPr id="17" name="Rounded Rectangle 16"/>
          <p:cNvSpPr/>
          <p:nvPr/>
        </p:nvSpPr>
        <p:spPr>
          <a:xfrm>
            <a:off x="227770" y="1110038"/>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Macroproceso</a:t>
            </a:r>
          </a:p>
        </p:txBody>
      </p:sp>
      <p:sp>
        <p:nvSpPr>
          <p:cNvPr id="18" name="Rectangle 18"/>
          <p:cNvSpPr>
            <a:spLocks noChangeArrowheads="1"/>
          </p:cNvSpPr>
          <p:nvPr/>
        </p:nvSpPr>
        <p:spPr bwMode="auto">
          <a:xfrm>
            <a:off x="2568409" y="1110038"/>
            <a:ext cx="4060161" cy="182880"/>
          </a:xfrm>
          <a:prstGeom prst="rect">
            <a:avLst/>
          </a:prstGeom>
          <a:noFill/>
          <a:ln w="9525" algn="ctr">
            <a:solidFill>
              <a:schemeClr val="bg2"/>
            </a:solidFill>
            <a:miter lim="800000"/>
            <a:headEnd/>
            <a:tailEnd/>
          </a:ln>
          <a:effectLst/>
        </p:spPr>
        <p:txBody>
          <a:bodyPr anchor="ctr"/>
          <a:lstStyle/>
          <a:p>
            <a:r>
              <a:rPr lang="es-ES" sz="1100" dirty="0"/>
              <a:t>Generación de Negocio</a:t>
            </a:r>
          </a:p>
        </p:txBody>
      </p:sp>
      <p:sp>
        <p:nvSpPr>
          <p:cNvPr id="19" name="Rounded Rectangle 18"/>
          <p:cNvSpPr/>
          <p:nvPr/>
        </p:nvSpPr>
        <p:spPr>
          <a:xfrm>
            <a:off x="227770" y="1339045"/>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Proceso</a:t>
            </a:r>
          </a:p>
        </p:txBody>
      </p:sp>
      <p:sp>
        <p:nvSpPr>
          <p:cNvPr id="20" name="Rectangle 18"/>
          <p:cNvSpPr>
            <a:spLocks noChangeArrowheads="1"/>
          </p:cNvSpPr>
          <p:nvPr/>
        </p:nvSpPr>
        <p:spPr bwMode="auto">
          <a:xfrm>
            <a:off x="2568409" y="1339045"/>
            <a:ext cx="4060161" cy="182880"/>
          </a:xfrm>
          <a:prstGeom prst="rect">
            <a:avLst/>
          </a:prstGeom>
          <a:noFill/>
          <a:ln w="9525" algn="ctr">
            <a:solidFill>
              <a:schemeClr val="bg2"/>
            </a:solidFill>
            <a:miter lim="800000"/>
            <a:headEnd/>
            <a:tailEnd/>
          </a:ln>
          <a:effectLst/>
        </p:spPr>
        <p:txBody>
          <a:bodyPr anchor="ctr"/>
          <a:lstStyle/>
          <a:p>
            <a:r>
              <a:rPr lang="es-ES" sz="1100" dirty="0"/>
              <a:t>Suscripción</a:t>
            </a:r>
          </a:p>
        </p:txBody>
      </p:sp>
      <p:sp>
        <p:nvSpPr>
          <p:cNvPr id="21" name="Rectangle 29"/>
          <p:cNvSpPr>
            <a:spLocks noChangeArrowheads="1"/>
          </p:cNvSpPr>
          <p:nvPr/>
        </p:nvSpPr>
        <p:spPr bwMode="auto">
          <a:xfrm>
            <a:off x="107504" y="3423715"/>
            <a:ext cx="8961120" cy="1607926"/>
          </a:xfrm>
          <a:prstGeom prst="rect">
            <a:avLst/>
          </a:prstGeom>
          <a:noFill/>
          <a:ln w="19050" cap="rnd" algn="ctr">
            <a:solidFill>
              <a:schemeClr val="bg2"/>
            </a:solidFill>
            <a:prstDash val="sysDot"/>
            <a:miter lim="800000"/>
            <a:headEnd/>
            <a:tailEnd/>
          </a:ln>
          <a:effectLst/>
        </p:spPr>
        <p:txBody>
          <a:bodyPr wrap="none" anchor="ctr"/>
          <a:lstStyle/>
          <a:p>
            <a:endParaRPr lang="en-US">
              <a:solidFill>
                <a:srgbClr val="002060"/>
              </a:solidFill>
            </a:endParaRPr>
          </a:p>
        </p:txBody>
      </p:sp>
      <p:sp>
        <p:nvSpPr>
          <p:cNvPr id="22" name="Rounded Rectangle 21"/>
          <p:cNvSpPr/>
          <p:nvPr/>
        </p:nvSpPr>
        <p:spPr>
          <a:xfrm>
            <a:off x="902959" y="4382163"/>
            <a:ext cx="1920240" cy="182880"/>
          </a:xfrm>
          <a:prstGeom prst="roundRect">
            <a:avLst/>
          </a:prstGeom>
          <a:solidFill>
            <a:srgbClr val="DB0613"/>
          </a:solidFill>
          <a:ln w="9525" algn="ctr">
            <a:noFill/>
            <a:miter lim="800000"/>
            <a:headEnd/>
            <a:tailEnd/>
          </a:ln>
          <a:effectLst/>
        </p:spPr>
        <p:txBody>
          <a:bodyPr tIns="91440" anchor="ctr"/>
          <a:lstStyle/>
          <a:p>
            <a:pPr>
              <a:lnSpc>
                <a:spcPct val="80000"/>
              </a:lnSpc>
            </a:pPr>
            <a:r>
              <a:rPr lang="es-CL" sz="1100" b="1" dirty="0">
                <a:solidFill>
                  <a:srgbClr val="FFFFFF"/>
                </a:solidFill>
                <a:cs typeface="Arial" pitchFamily="34" charset="0"/>
              </a:rPr>
              <a:t>Pérdida Esperada Anual</a:t>
            </a:r>
          </a:p>
        </p:txBody>
      </p:sp>
      <p:sp>
        <p:nvSpPr>
          <p:cNvPr id="23" name="Rectangle 18"/>
          <p:cNvSpPr>
            <a:spLocks noChangeArrowheads="1"/>
          </p:cNvSpPr>
          <p:nvPr/>
        </p:nvSpPr>
        <p:spPr bwMode="auto">
          <a:xfrm>
            <a:off x="2859920" y="4382163"/>
            <a:ext cx="1554480" cy="182880"/>
          </a:xfrm>
          <a:prstGeom prst="rect">
            <a:avLst/>
          </a:prstGeom>
          <a:solidFill>
            <a:schemeClr val="bg1"/>
          </a:solidFill>
          <a:ln w="9525" algn="ctr">
            <a:solidFill>
              <a:schemeClr val="bg2"/>
            </a:solidFill>
            <a:miter lim="800000"/>
            <a:headEnd/>
            <a:tailEnd/>
          </a:ln>
          <a:effectLst/>
        </p:spPr>
        <p:txBody>
          <a:bodyPr anchor="ctr"/>
          <a:lstStyle/>
          <a:p>
            <a:pPr algn="ctr"/>
            <a:r>
              <a:rPr lang="es-ES" sz="1100" dirty="0"/>
              <a:t>S/. 50,000.00</a:t>
            </a:r>
            <a:endParaRPr lang="es-ES" sz="1100" dirty="0">
              <a:solidFill>
                <a:srgbClr val="002060"/>
              </a:solidFill>
            </a:endParaRPr>
          </a:p>
        </p:txBody>
      </p:sp>
      <p:sp>
        <p:nvSpPr>
          <p:cNvPr id="24" name="Rounded Rectangle 23"/>
          <p:cNvSpPr/>
          <p:nvPr/>
        </p:nvSpPr>
        <p:spPr>
          <a:xfrm>
            <a:off x="902959" y="4611775"/>
            <a:ext cx="192024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VaR Cualitativo Anual</a:t>
            </a:r>
          </a:p>
        </p:txBody>
      </p:sp>
      <p:sp>
        <p:nvSpPr>
          <p:cNvPr id="25" name="Rectangle 18"/>
          <p:cNvSpPr>
            <a:spLocks noChangeArrowheads="1"/>
          </p:cNvSpPr>
          <p:nvPr/>
        </p:nvSpPr>
        <p:spPr bwMode="auto">
          <a:xfrm>
            <a:off x="2859920" y="4611775"/>
            <a:ext cx="1554480" cy="182880"/>
          </a:xfrm>
          <a:prstGeom prst="rect">
            <a:avLst/>
          </a:prstGeom>
          <a:solidFill>
            <a:schemeClr val="bg1"/>
          </a:solidFill>
          <a:ln w="9525" algn="ctr">
            <a:solidFill>
              <a:schemeClr val="bg2"/>
            </a:solidFill>
            <a:miter lim="800000"/>
            <a:headEnd/>
            <a:tailEnd/>
          </a:ln>
          <a:effectLst/>
        </p:spPr>
        <p:txBody>
          <a:bodyPr anchor="ctr"/>
          <a:lstStyle/>
          <a:p>
            <a:pPr algn="ctr"/>
            <a:r>
              <a:rPr lang="es-ES" sz="1100" dirty="0"/>
              <a:t>S/. 6,995,212.12</a:t>
            </a:r>
            <a:endParaRPr lang="es-ES" sz="1100" dirty="0">
              <a:solidFill>
                <a:srgbClr val="002060"/>
              </a:solidFill>
            </a:endParaRPr>
          </a:p>
        </p:txBody>
      </p:sp>
      <p:sp>
        <p:nvSpPr>
          <p:cNvPr id="26" name="Rounded Rectangle 25"/>
          <p:cNvSpPr/>
          <p:nvPr/>
        </p:nvSpPr>
        <p:spPr>
          <a:xfrm>
            <a:off x="891084" y="3618777"/>
            <a:ext cx="192024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Frecuencia  Evento Pérdida</a:t>
            </a:r>
          </a:p>
        </p:txBody>
      </p:sp>
      <p:sp>
        <p:nvSpPr>
          <p:cNvPr id="27" name="Rectangle 18"/>
          <p:cNvSpPr>
            <a:spLocks noChangeArrowheads="1"/>
          </p:cNvSpPr>
          <p:nvPr/>
        </p:nvSpPr>
        <p:spPr bwMode="auto">
          <a:xfrm>
            <a:off x="2859920" y="3618777"/>
            <a:ext cx="1554480" cy="182880"/>
          </a:xfrm>
          <a:prstGeom prst="rect">
            <a:avLst/>
          </a:prstGeom>
          <a:solidFill>
            <a:schemeClr val="bg1"/>
          </a:solidFill>
          <a:ln w="9525" algn="ctr">
            <a:solidFill>
              <a:schemeClr val="bg2"/>
            </a:solidFill>
            <a:miter lim="800000"/>
            <a:headEnd/>
            <a:tailEnd/>
          </a:ln>
          <a:effectLst/>
        </p:spPr>
        <p:txBody>
          <a:bodyPr anchor="ctr"/>
          <a:lstStyle/>
          <a:p>
            <a:pPr algn="ctr"/>
            <a:r>
              <a:rPr lang="es-ES" sz="1100" dirty="0"/>
              <a:t>1 al siglo</a:t>
            </a:r>
          </a:p>
        </p:txBody>
      </p:sp>
      <p:sp>
        <p:nvSpPr>
          <p:cNvPr id="28" name="Rounded Rectangle 27"/>
          <p:cNvSpPr/>
          <p:nvPr/>
        </p:nvSpPr>
        <p:spPr>
          <a:xfrm>
            <a:off x="891084" y="3848389"/>
            <a:ext cx="192024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Impacto Medio Evento</a:t>
            </a:r>
          </a:p>
        </p:txBody>
      </p:sp>
      <p:sp>
        <p:nvSpPr>
          <p:cNvPr id="29" name="Rectangle 18"/>
          <p:cNvSpPr>
            <a:spLocks noChangeArrowheads="1"/>
          </p:cNvSpPr>
          <p:nvPr/>
        </p:nvSpPr>
        <p:spPr bwMode="auto">
          <a:xfrm>
            <a:off x="2859920" y="3848389"/>
            <a:ext cx="1554480" cy="182880"/>
          </a:xfrm>
          <a:prstGeom prst="rect">
            <a:avLst/>
          </a:prstGeom>
          <a:solidFill>
            <a:schemeClr val="bg1"/>
          </a:solidFill>
          <a:ln w="9525" algn="ctr">
            <a:solidFill>
              <a:schemeClr val="bg2"/>
            </a:solidFill>
            <a:miter lim="800000"/>
            <a:headEnd/>
            <a:tailEnd/>
          </a:ln>
          <a:effectLst/>
        </p:spPr>
        <p:txBody>
          <a:bodyPr anchor="ctr"/>
          <a:lstStyle/>
          <a:p>
            <a:pPr algn="ctr"/>
            <a:r>
              <a:rPr lang="es-ES" sz="1100" dirty="0"/>
              <a:t>S/. 5,000,000.00</a:t>
            </a:r>
            <a:endParaRPr lang="es-ES" sz="1100" dirty="0">
              <a:solidFill>
                <a:srgbClr val="002060"/>
              </a:solidFill>
            </a:endParaRPr>
          </a:p>
        </p:txBody>
      </p:sp>
      <p:sp>
        <p:nvSpPr>
          <p:cNvPr id="30" name="Rounded Rectangle 29"/>
          <p:cNvSpPr/>
          <p:nvPr/>
        </p:nvSpPr>
        <p:spPr>
          <a:xfrm>
            <a:off x="891084" y="4083969"/>
            <a:ext cx="192024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Impacto Peor Escenario</a:t>
            </a:r>
          </a:p>
        </p:txBody>
      </p:sp>
      <p:sp>
        <p:nvSpPr>
          <p:cNvPr id="31" name="Rectangle 18"/>
          <p:cNvSpPr>
            <a:spLocks noChangeArrowheads="1"/>
          </p:cNvSpPr>
          <p:nvPr/>
        </p:nvSpPr>
        <p:spPr bwMode="auto">
          <a:xfrm>
            <a:off x="2859920" y="4083969"/>
            <a:ext cx="1554480" cy="182880"/>
          </a:xfrm>
          <a:prstGeom prst="rect">
            <a:avLst/>
          </a:prstGeom>
          <a:solidFill>
            <a:schemeClr val="bg1"/>
          </a:solidFill>
          <a:ln w="9525" algn="ctr">
            <a:solidFill>
              <a:schemeClr val="bg2"/>
            </a:solidFill>
            <a:miter lim="800000"/>
            <a:headEnd/>
            <a:tailEnd/>
          </a:ln>
          <a:effectLst/>
        </p:spPr>
        <p:txBody>
          <a:bodyPr anchor="ctr"/>
          <a:lstStyle/>
          <a:p>
            <a:pPr algn="ctr"/>
            <a:r>
              <a:rPr lang="es-ES" sz="1100" dirty="0"/>
              <a:t>S/. 10,000,000.00</a:t>
            </a:r>
            <a:endParaRPr lang="es-ES" sz="1100" dirty="0">
              <a:solidFill>
                <a:srgbClr val="002060"/>
              </a:solidFill>
            </a:endParaRPr>
          </a:p>
        </p:txBody>
      </p:sp>
      <p:sp>
        <p:nvSpPr>
          <p:cNvPr id="32" name="AutoShape 47"/>
          <p:cNvSpPr>
            <a:spLocks noChangeAspect="1" noChangeArrowheads="1"/>
          </p:cNvSpPr>
          <p:nvPr/>
        </p:nvSpPr>
        <p:spPr bwMode="blackWhite">
          <a:xfrm>
            <a:off x="263033" y="3533122"/>
            <a:ext cx="492543" cy="1339083"/>
          </a:xfrm>
          <a:prstGeom prst="rightArrow">
            <a:avLst>
              <a:gd name="adj1" fmla="val 100000"/>
              <a:gd name="adj2" fmla="val 11009"/>
            </a:avLst>
          </a:prstGeom>
          <a:solidFill>
            <a:srgbClr val="969696"/>
          </a:solidFill>
          <a:ln w="12700">
            <a:noFill/>
            <a:miter lim="800000"/>
            <a:headEnd/>
            <a:tailEnd/>
          </a:ln>
          <a:effectLst>
            <a:outerShdw dist="35921" dir="2700000" algn="ctr" rotWithShape="0">
              <a:schemeClr val="bg2"/>
            </a:outerShdw>
          </a:effectLst>
        </p:spPr>
        <p:txBody>
          <a:bodyPr vert="vert270" anchor="ctr"/>
          <a:lstStyle/>
          <a:p>
            <a:pPr algn="ctr">
              <a:lnSpc>
                <a:spcPts val="1000"/>
              </a:lnSpc>
            </a:pPr>
            <a:r>
              <a:rPr lang="es-ES" sz="1200" b="1" noProof="1">
                <a:solidFill>
                  <a:srgbClr val="FFFFFF"/>
                </a:solidFill>
                <a:cs typeface="Arial" charset="0"/>
              </a:rPr>
              <a:t>Evaluación Riesgo Operacional</a:t>
            </a:r>
          </a:p>
        </p:txBody>
      </p:sp>
      <p:sp>
        <p:nvSpPr>
          <p:cNvPr id="59" name="Rounded Rectangle 58"/>
          <p:cNvSpPr/>
          <p:nvPr/>
        </p:nvSpPr>
        <p:spPr>
          <a:xfrm>
            <a:off x="223049" y="1554311"/>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Subproceso</a:t>
            </a:r>
          </a:p>
        </p:txBody>
      </p:sp>
      <p:sp>
        <p:nvSpPr>
          <p:cNvPr id="60" name="Rectangle 18"/>
          <p:cNvSpPr>
            <a:spLocks noChangeArrowheads="1"/>
          </p:cNvSpPr>
          <p:nvPr/>
        </p:nvSpPr>
        <p:spPr bwMode="auto">
          <a:xfrm>
            <a:off x="2563688" y="1554311"/>
            <a:ext cx="4064882" cy="182880"/>
          </a:xfrm>
          <a:prstGeom prst="rect">
            <a:avLst/>
          </a:prstGeom>
          <a:noFill/>
          <a:ln w="9525" algn="ctr">
            <a:solidFill>
              <a:schemeClr val="bg2"/>
            </a:solidFill>
            <a:miter lim="800000"/>
            <a:headEnd/>
            <a:tailEnd/>
          </a:ln>
          <a:effectLst/>
        </p:spPr>
        <p:txBody>
          <a:bodyPr anchor="ctr"/>
          <a:lstStyle/>
          <a:p>
            <a:r>
              <a:rPr lang="es-ES" sz="1100" dirty="0"/>
              <a:t>Inspección Técnica</a:t>
            </a:r>
          </a:p>
        </p:txBody>
      </p:sp>
      <p:sp>
        <p:nvSpPr>
          <p:cNvPr id="57" name="Rounded Rectangle 56"/>
          <p:cNvSpPr/>
          <p:nvPr/>
        </p:nvSpPr>
        <p:spPr>
          <a:xfrm>
            <a:off x="223049" y="1771093"/>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Línea de Negocio</a:t>
            </a:r>
          </a:p>
        </p:txBody>
      </p:sp>
      <p:sp>
        <p:nvSpPr>
          <p:cNvPr id="58" name="Rectangle 18"/>
          <p:cNvSpPr>
            <a:spLocks noChangeArrowheads="1"/>
          </p:cNvSpPr>
          <p:nvPr/>
        </p:nvSpPr>
        <p:spPr bwMode="auto">
          <a:xfrm>
            <a:off x="2563688" y="1771093"/>
            <a:ext cx="4064882" cy="182880"/>
          </a:xfrm>
          <a:prstGeom prst="rect">
            <a:avLst/>
          </a:prstGeom>
          <a:noFill/>
          <a:ln w="9525" algn="ctr">
            <a:solidFill>
              <a:schemeClr val="bg2"/>
            </a:solidFill>
            <a:miter lim="800000"/>
            <a:headEnd/>
            <a:tailEnd/>
          </a:ln>
          <a:effectLst/>
        </p:spPr>
        <p:txBody>
          <a:bodyPr anchor="ctr"/>
          <a:lstStyle/>
          <a:p>
            <a:r>
              <a:rPr lang="es-ES" sz="1100" dirty="0"/>
              <a:t>Ramos Generales</a:t>
            </a:r>
          </a:p>
        </p:txBody>
      </p:sp>
      <p:sp>
        <p:nvSpPr>
          <p:cNvPr id="61" name="Rounded Rectangle 60"/>
          <p:cNvSpPr/>
          <p:nvPr/>
        </p:nvSpPr>
        <p:spPr>
          <a:xfrm>
            <a:off x="223049" y="1986359"/>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Responsable</a:t>
            </a:r>
          </a:p>
        </p:txBody>
      </p:sp>
      <p:sp>
        <p:nvSpPr>
          <p:cNvPr id="62" name="Rectangle 18"/>
          <p:cNvSpPr>
            <a:spLocks noChangeArrowheads="1"/>
          </p:cNvSpPr>
          <p:nvPr/>
        </p:nvSpPr>
        <p:spPr bwMode="auto">
          <a:xfrm>
            <a:off x="2558967" y="1986359"/>
            <a:ext cx="4069603" cy="182880"/>
          </a:xfrm>
          <a:prstGeom prst="rect">
            <a:avLst/>
          </a:prstGeom>
          <a:noFill/>
          <a:ln w="9525" algn="ctr">
            <a:solidFill>
              <a:schemeClr val="bg2"/>
            </a:solidFill>
            <a:miter lim="800000"/>
            <a:headEnd/>
            <a:tailEnd/>
          </a:ln>
          <a:effectLst/>
        </p:spPr>
        <p:txBody>
          <a:bodyPr anchor="ctr"/>
          <a:lstStyle/>
          <a:p>
            <a:r>
              <a:rPr lang="es-ES" sz="1100" dirty="0"/>
              <a:t>Coordinador de procesos  de emisión</a:t>
            </a:r>
          </a:p>
        </p:txBody>
      </p:sp>
      <p:sp>
        <p:nvSpPr>
          <p:cNvPr id="64" name="AutoShape 179"/>
          <p:cNvSpPr>
            <a:spLocks noChangeArrowheads="1"/>
          </p:cNvSpPr>
          <p:nvPr/>
        </p:nvSpPr>
        <p:spPr bwMode="auto">
          <a:xfrm>
            <a:off x="4932039" y="3537391"/>
            <a:ext cx="4037169" cy="864000"/>
          </a:xfrm>
          <a:prstGeom prst="roundRect">
            <a:avLst>
              <a:gd name="adj" fmla="val 9481"/>
            </a:avLst>
          </a:prstGeom>
          <a:solidFill>
            <a:schemeClr val="accent1">
              <a:lumMod val="20000"/>
              <a:lumOff val="80000"/>
            </a:schemeClr>
          </a:solidFill>
          <a:ln w="9525" algn="ctr">
            <a:noFill/>
            <a:round/>
            <a:headEnd/>
            <a:tailEnd/>
          </a:ln>
          <a:effectLst/>
        </p:spPr>
        <p:txBody>
          <a:bodyPr wrap="none" anchor="ctr"/>
          <a:lstStyle/>
          <a:p>
            <a:endParaRPr lang="es-CL">
              <a:solidFill>
                <a:srgbClr val="002060"/>
              </a:solidFill>
            </a:endParaRPr>
          </a:p>
        </p:txBody>
      </p:sp>
      <p:sp>
        <p:nvSpPr>
          <p:cNvPr id="65" name="AutoShape 47"/>
          <p:cNvSpPr>
            <a:spLocks noChangeArrowheads="1"/>
          </p:cNvSpPr>
          <p:nvPr/>
        </p:nvSpPr>
        <p:spPr bwMode="blackWhite">
          <a:xfrm>
            <a:off x="4678512" y="3538893"/>
            <a:ext cx="353942" cy="864000"/>
          </a:xfrm>
          <a:prstGeom prst="rightArrow">
            <a:avLst>
              <a:gd name="adj1" fmla="val 100000"/>
              <a:gd name="adj2" fmla="val 11009"/>
            </a:avLst>
          </a:prstGeom>
          <a:solidFill>
            <a:srgbClr val="969696"/>
          </a:solidFill>
          <a:ln w="12700">
            <a:noFill/>
            <a:miter lim="800000"/>
            <a:headEnd/>
            <a:tailEnd/>
          </a:ln>
          <a:effectLst>
            <a:outerShdw dist="35921" dir="2700000" algn="ctr" rotWithShape="0">
              <a:schemeClr val="bg2"/>
            </a:outerShdw>
          </a:effectLst>
        </p:spPr>
        <p:txBody>
          <a:bodyPr vert="vert270" anchor="ctr"/>
          <a:lstStyle/>
          <a:p>
            <a:pPr algn="ctr">
              <a:lnSpc>
                <a:spcPts val="1000"/>
              </a:lnSpc>
            </a:pPr>
            <a:r>
              <a:rPr lang="es-ES" sz="1100" b="1" noProof="1">
                <a:solidFill>
                  <a:srgbClr val="FFFFFF"/>
                </a:solidFill>
                <a:cs typeface="Arial" charset="0"/>
              </a:rPr>
              <a:t>Impacto Reputacional</a:t>
            </a:r>
          </a:p>
        </p:txBody>
      </p:sp>
      <p:sp>
        <p:nvSpPr>
          <p:cNvPr id="66" name="Rectangle 18"/>
          <p:cNvSpPr>
            <a:spLocks noChangeArrowheads="1"/>
          </p:cNvSpPr>
          <p:nvPr/>
        </p:nvSpPr>
        <p:spPr bwMode="auto">
          <a:xfrm>
            <a:off x="8334310" y="3612658"/>
            <a:ext cx="548640" cy="170094"/>
          </a:xfrm>
          <a:prstGeom prst="rect">
            <a:avLst/>
          </a:prstGeom>
          <a:solidFill>
            <a:schemeClr val="bg1"/>
          </a:solidFill>
          <a:ln w="9525" algn="ctr">
            <a:solidFill>
              <a:schemeClr val="bg2"/>
            </a:solidFill>
            <a:miter lim="800000"/>
            <a:headEnd/>
            <a:tailEnd/>
          </a:ln>
          <a:effectLst/>
        </p:spPr>
        <p:txBody>
          <a:bodyPr anchor="ctr"/>
          <a:lstStyle/>
          <a:p>
            <a:pPr algn="ctr"/>
            <a:r>
              <a:rPr lang="es-ES" sz="1100" dirty="0"/>
              <a:t>5</a:t>
            </a:r>
          </a:p>
        </p:txBody>
      </p:sp>
      <p:sp>
        <p:nvSpPr>
          <p:cNvPr id="67" name="Rounded Rectangle 66"/>
          <p:cNvSpPr/>
          <p:nvPr/>
        </p:nvSpPr>
        <p:spPr>
          <a:xfrm>
            <a:off x="5102950" y="3612658"/>
            <a:ext cx="3132000" cy="170094"/>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Afectación a Clientes</a:t>
            </a:r>
          </a:p>
        </p:txBody>
      </p:sp>
      <p:sp>
        <p:nvSpPr>
          <p:cNvPr id="68" name="Rectangle 18"/>
          <p:cNvSpPr>
            <a:spLocks noChangeArrowheads="1"/>
          </p:cNvSpPr>
          <p:nvPr/>
        </p:nvSpPr>
        <p:spPr bwMode="auto">
          <a:xfrm>
            <a:off x="5102950" y="3830815"/>
            <a:ext cx="3780000" cy="469509"/>
          </a:xfrm>
          <a:prstGeom prst="rect">
            <a:avLst/>
          </a:prstGeom>
          <a:solidFill>
            <a:schemeClr val="bg1"/>
          </a:solidFill>
          <a:ln w="9525" algn="ctr">
            <a:solidFill>
              <a:schemeClr val="bg2"/>
            </a:solidFill>
            <a:miter lim="800000"/>
            <a:headEnd/>
            <a:tailEnd/>
          </a:ln>
          <a:effectLst/>
        </p:spPr>
        <p:txBody>
          <a:bodyPr anchor="ctr"/>
          <a:lstStyle/>
          <a:p>
            <a:r>
              <a:rPr lang="es-ES" sz="1100" dirty="0">
                <a:solidFill>
                  <a:srgbClr val="000000"/>
                </a:solidFill>
              </a:rPr>
              <a:t>Mal manejo de los medios que podría tener un impacto negativo en la imagen de Rímac por un tiempo prolongado.</a:t>
            </a:r>
          </a:p>
        </p:txBody>
      </p:sp>
      <p:sp>
        <p:nvSpPr>
          <p:cNvPr id="72" name="AutoShape 179"/>
          <p:cNvSpPr>
            <a:spLocks noChangeArrowheads="1"/>
          </p:cNvSpPr>
          <p:nvPr/>
        </p:nvSpPr>
        <p:spPr bwMode="auto">
          <a:xfrm>
            <a:off x="4927319" y="4441607"/>
            <a:ext cx="4037169" cy="1056202"/>
          </a:xfrm>
          <a:prstGeom prst="roundRect">
            <a:avLst>
              <a:gd name="adj" fmla="val 9481"/>
            </a:avLst>
          </a:prstGeom>
          <a:solidFill>
            <a:schemeClr val="accent1">
              <a:lumMod val="20000"/>
              <a:lumOff val="80000"/>
            </a:schemeClr>
          </a:solidFill>
          <a:ln w="9525" algn="ctr">
            <a:noFill/>
            <a:round/>
            <a:headEnd/>
            <a:tailEnd/>
          </a:ln>
          <a:effectLst/>
        </p:spPr>
        <p:txBody>
          <a:bodyPr wrap="none" anchor="ctr"/>
          <a:lstStyle/>
          <a:p>
            <a:endParaRPr lang="es-CL">
              <a:solidFill>
                <a:srgbClr val="002060"/>
              </a:solidFill>
            </a:endParaRPr>
          </a:p>
        </p:txBody>
      </p:sp>
      <p:sp>
        <p:nvSpPr>
          <p:cNvPr id="73" name="AutoShape 47"/>
          <p:cNvSpPr>
            <a:spLocks noChangeArrowheads="1"/>
          </p:cNvSpPr>
          <p:nvPr/>
        </p:nvSpPr>
        <p:spPr bwMode="blackWhite">
          <a:xfrm>
            <a:off x="4673792" y="4443109"/>
            <a:ext cx="352800" cy="1056202"/>
          </a:xfrm>
          <a:prstGeom prst="rightArrow">
            <a:avLst>
              <a:gd name="adj1" fmla="val 100000"/>
              <a:gd name="adj2" fmla="val 11009"/>
            </a:avLst>
          </a:prstGeom>
          <a:solidFill>
            <a:srgbClr val="969696"/>
          </a:solidFill>
          <a:ln w="12700">
            <a:noFill/>
            <a:miter lim="800000"/>
            <a:headEnd/>
            <a:tailEnd/>
          </a:ln>
          <a:effectLst>
            <a:outerShdw dist="35921" dir="2700000" algn="ctr" rotWithShape="0">
              <a:schemeClr val="bg2"/>
            </a:outerShdw>
          </a:effectLst>
        </p:spPr>
        <p:txBody>
          <a:bodyPr vert="vert270" anchor="ctr"/>
          <a:lstStyle/>
          <a:p>
            <a:pPr algn="ctr">
              <a:lnSpc>
                <a:spcPts val="1000"/>
              </a:lnSpc>
            </a:pPr>
            <a:r>
              <a:rPr lang="es-ES" sz="1100" b="1" noProof="1">
                <a:solidFill>
                  <a:srgbClr val="FFFFFF"/>
                </a:solidFill>
                <a:cs typeface="Arial" charset="0"/>
              </a:rPr>
              <a:t>Cuestionarios</a:t>
            </a:r>
          </a:p>
        </p:txBody>
      </p:sp>
      <p:sp>
        <p:nvSpPr>
          <p:cNvPr id="75" name="Rounded Rectangle 38"/>
          <p:cNvSpPr/>
          <p:nvPr/>
        </p:nvSpPr>
        <p:spPr>
          <a:xfrm>
            <a:off x="5098230" y="4516875"/>
            <a:ext cx="3132000" cy="170094"/>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Criterios de Evaluación</a:t>
            </a:r>
          </a:p>
        </p:txBody>
      </p:sp>
      <p:sp>
        <p:nvSpPr>
          <p:cNvPr id="76" name="Rectangle 18"/>
          <p:cNvSpPr>
            <a:spLocks noChangeArrowheads="1"/>
          </p:cNvSpPr>
          <p:nvPr/>
        </p:nvSpPr>
        <p:spPr bwMode="auto">
          <a:xfrm>
            <a:off x="5102950" y="4730047"/>
            <a:ext cx="3780000" cy="648000"/>
          </a:xfrm>
          <a:prstGeom prst="rect">
            <a:avLst/>
          </a:prstGeom>
          <a:solidFill>
            <a:schemeClr val="bg1"/>
          </a:solidFill>
          <a:ln w="9525" algn="ctr">
            <a:solidFill>
              <a:schemeClr val="bg2"/>
            </a:solidFill>
            <a:miter lim="800000"/>
            <a:headEnd/>
            <a:tailEnd/>
          </a:ln>
          <a:effectLst/>
        </p:spPr>
        <p:txBody>
          <a:bodyPr anchor="ctr"/>
          <a:lstStyle/>
          <a:p>
            <a:pPr algn="just"/>
            <a:r>
              <a:rPr lang="es-ES" sz="1100" dirty="0"/>
              <a:t>Se ha considerado para el monto de Impacto s/.30,000,000.00 como las posibles primas captadas al mes. Por un aproximado de 5 días de huelga: s./ 5,000,000.00. Suponemos el peor escenario: 10 días de huelga. </a:t>
            </a:r>
            <a:endParaRPr lang="es-ES" sz="1100" dirty="0">
              <a:solidFill>
                <a:srgbClr val="000000"/>
              </a:solidFill>
            </a:endParaRPr>
          </a:p>
        </p:txBody>
      </p:sp>
      <p:sp>
        <p:nvSpPr>
          <p:cNvPr id="77" name="Text Box 30"/>
          <p:cNvSpPr txBox="1">
            <a:spLocks noChangeArrowheads="1"/>
          </p:cNvSpPr>
          <p:nvPr/>
        </p:nvSpPr>
        <p:spPr bwMode="auto">
          <a:xfrm>
            <a:off x="190746" y="4977551"/>
            <a:ext cx="3996000" cy="276999"/>
          </a:xfrm>
          <a:prstGeom prst="rect">
            <a:avLst/>
          </a:prstGeom>
          <a:noFill/>
          <a:ln w="9525" algn="ctr">
            <a:noFill/>
            <a:miter lim="800000"/>
            <a:headEnd/>
            <a:tailEnd/>
          </a:ln>
          <a:effectLst/>
        </p:spPr>
        <p:txBody>
          <a:bodyPr wrap="square">
            <a:spAutoFit/>
          </a:bodyPr>
          <a:lstStyle/>
          <a:p>
            <a:pPr>
              <a:spcBef>
                <a:spcPct val="50000"/>
              </a:spcBef>
            </a:pPr>
            <a:r>
              <a:rPr lang="es-CL" sz="1200" b="1" i="1" dirty="0">
                <a:solidFill>
                  <a:srgbClr val="A3A3E0"/>
                </a:solidFill>
              </a:rPr>
              <a:t>Resultados valoración de controles / factores mitigantes</a:t>
            </a:r>
            <a:endParaRPr lang="es-ES" sz="1200" b="1" i="1" dirty="0">
              <a:solidFill>
                <a:srgbClr val="A3A3E0"/>
              </a:solidFill>
            </a:endParaRPr>
          </a:p>
        </p:txBody>
      </p:sp>
      <p:sp>
        <p:nvSpPr>
          <p:cNvPr id="78" name="AutoShape 179"/>
          <p:cNvSpPr>
            <a:spLocks noChangeArrowheads="1"/>
          </p:cNvSpPr>
          <p:nvPr/>
        </p:nvSpPr>
        <p:spPr bwMode="auto">
          <a:xfrm>
            <a:off x="534831" y="5200032"/>
            <a:ext cx="4037169" cy="864000"/>
          </a:xfrm>
          <a:prstGeom prst="roundRect">
            <a:avLst>
              <a:gd name="adj" fmla="val 9481"/>
            </a:avLst>
          </a:prstGeom>
          <a:solidFill>
            <a:schemeClr val="accent1">
              <a:lumMod val="20000"/>
              <a:lumOff val="80000"/>
            </a:schemeClr>
          </a:solidFill>
          <a:ln w="9525" algn="ctr">
            <a:noFill/>
            <a:round/>
            <a:headEnd/>
            <a:tailEnd/>
          </a:ln>
          <a:effectLst/>
        </p:spPr>
        <p:txBody>
          <a:bodyPr wrap="none" anchor="ctr"/>
          <a:lstStyle/>
          <a:p>
            <a:endParaRPr lang="es-CL">
              <a:solidFill>
                <a:srgbClr val="002060"/>
              </a:solidFill>
            </a:endParaRPr>
          </a:p>
        </p:txBody>
      </p:sp>
      <p:sp>
        <p:nvSpPr>
          <p:cNvPr id="79" name="AutoShape 47"/>
          <p:cNvSpPr>
            <a:spLocks noChangeArrowheads="1"/>
          </p:cNvSpPr>
          <p:nvPr/>
        </p:nvSpPr>
        <p:spPr bwMode="blackWhite">
          <a:xfrm>
            <a:off x="281304" y="5201534"/>
            <a:ext cx="353942" cy="864000"/>
          </a:xfrm>
          <a:prstGeom prst="rightArrow">
            <a:avLst>
              <a:gd name="adj1" fmla="val 100000"/>
              <a:gd name="adj2" fmla="val 11009"/>
            </a:avLst>
          </a:prstGeom>
          <a:solidFill>
            <a:srgbClr val="969696"/>
          </a:solidFill>
          <a:ln w="12700">
            <a:noFill/>
            <a:miter lim="800000"/>
            <a:headEnd/>
            <a:tailEnd/>
          </a:ln>
          <a:effectLst>
            <a:outerShdw dist="35921" dir="2700000" algn="ctr" rotWithShape="0">
              <a:schemeClr val="bg2"/>
            </a:outerShdw>
          </a:effectLst>
        </p:spPr>
        <p:txBody>
          <a:bodyPr vert="vert270" anchor="ctr"/>
          <a:lstStyle/>
          <a:p>
            <a:pPr algn="ctr">
              <a:lnSpc>
                <a:spcPts val="1000"/>
              </a:lnSpc>
            </a:pPr>
            <a:r>
              <a:rPr lang="es-ES" sz="1100" b="1" noProof="1">
                <a:solidFill>
                  <a:srgbClr val="FFFFFF"/>
                </a:solidFill>
                <a:cs typeface="Arial" charset="0"/>
              </a:rPr>
              <a:t>Evaluación de Controles</a:t>
            </a:r>
          </a:p>
        </p:txBody>
      </p:sp>
      <p:sp>
        <p:nvSpPr>
          <p:cNvPr id="80" name="Rectangle 18"/>
          <p:cNvSpPr>
            <a:spLocks noChangeArrowheads="1"/>
          </p:cNvSpPr>
          <p:nvPr/>
        </p:nvSpPr>
        <p:spPr bwMode="auto">
          <a:xfrm>
            <a:off x="3937102" y="5275299"/>
            <a:ext cx="548640" cy="170094"/>
          </a:xfrm>
          <a:prstGeom prst="rect">
            <a:avLst/>
          </a:prstGeom>
          <a:solidFill>
            <a:schemeClr val="bg1"/>
          </a:solidFill>
          <a:ln w="9525" algn="ctr">
            <a:solidFill>
              <a:schemeClr val="bg2"/>
            </a:solidFill>
            <a:miter lim="800000"/>
            <a:headEnd/>
            <a:tailEnd/>
          </a:ln>
          <a:effectLst/>
        </p:spPr>
        <p:txBody>
          <a:bodyPr anchor="ctr"/>
          <a:lstStyle/>
          <a:p>
            <a:pPr algn="ctr"/>
            <a:r>
              <a:rPr lang="es-ES" sz="1100" dirty="0">
                <a:solidFill>
                  <a:srgbClr val="002060"/>
                </a:solidFill>
              </a:rPr>
              <a:t>0</a:t>
            </a:r>
          </a:p>
        </p:txBody>
      </p:sp>
      <p:sp>
        <p:nvSpPr>
          <p:cNvPr id="81" name="Rounded Rectangle 38"/>
          <p:cNvSpPr/>
          <p:nvPr/>
        </p:nvSpPr>
        <p:spPr>
          <a:xfrm>
            <a:off x="705742" y="5275299"/>
            <a:ext cx="3132000" cy="170094"/>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Controles asociados al riesgo</a:t>
            </a:r>
          </a:p>
        </p:txBody>
      </p:sp>
      <p:sp>
        <p:nvSpPr>
          <p:cNvPr id="82" name="Rectangle 18"/>
          <p:cNvSpPr>
            <a:spLocks noChangeArrowheads="1"/>
          </p:cNvSpPr>
          <p:nvPr/>
        </p:nvSpPr>
        <p:spPr bwMode="auto">
          <a:xfrm>
            <a:off x="705742" y="5496307"/>
            <a:ext cx="3780000" cy="469509"/>
          </a:xfrm>
          <a:prstGeom prst="rect">
            <a:avLst/>
          </a:prstGeom>
          <a:solidFill>
            <a:schemeClr val="bg1"/>
          </a:solidFill>
          <a:ln w="9525" algn="ctr">
            <a:solidFill>
              <a:schemeClr val="bg2"/>
            </a:solidFill>
            <a:miter lim="800000"/>
            <a:headEnd/>
            <a:tailEnd/>
          </a:ln>
          <a:effectLst/>
        </p:spPr>
        <p:txBody>
          <a:bodyPr anchor="ctr"/>
          <a:lstStyle/>
          <a:p>
            <a:r>
              <a:rPr lang="es-PE" sz="1100" dirty="0">
                <a:solidFill>
                  <a:srgbClr val="000000"/>
                </a:solidFill>
              </a:rPr>
              <a:t>No existe un control definido</a:t>
            </a:r>
            <a:endParaRPr lang="es-ES" sz="1100" dirty="0">
              <a:solidFill>
                <a:srgbClr val="000000"/>
              </a:solidFill>
            </a:endParaRPr>
          </a:p>
        </p:txBody>
      </p:sp>
      <p:sp>
        <p:nvSpPr>
          <p:cNvPr id="83" name="Rounded Rectangle 14"/>
          <p:cNvSpPr/>
          <p:nvPr/>
        </p:nvSpPr>
        <p:spPr>
          <a:xfrm>
            <a:off x="6716066" y="2817311"/>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Origen del Riesgo</a:t>
            </a:r>
          </a:p>
        </p:txBody>
      </p:sp>
      <p:sp>
        <p:nvSpPr>
          <p:cNvPr id="84" name="Rectangle 18"/>
          <p:cNvSpPr>
            <a:spLocks noChangeArrowheads="1"/>
          </p:cNvSpPr>
          <p:nvPr/>
        </p:nvSpPr>
        <p:spPr bwMode="auto">
          <a:xfrm>
            <a:off x="6716066" y="3032576"/>
            <a:ext cx="2286000" cy="270000"/>
          </a:xfrm>
          <a:prstGeom prst="rect">
            <a:avLst/>
          </a:prstGeom>
          <a:noFill/>
          <a:ln w="9525" algn="ctr">
            <a:solidFill>
              <a:schemeClr val="bg2"/>
            </a:solidFill>
            <a:miter lim="800000"/>
            <a:headEnd/>
            <a:tailEnd/>
          </a:ln>
          <a:effectLst/>
        </p:spPr>
        <p:txBody>
          <a:bodyPr anchor="ctr"/>
          <a:lstStyle/>
          <a:p>
            <a:r>
              <a:rPr lang="es-ES" sz="1100" dirty="0">
                <a:solidFill>
                  <a:srgbClr val="000000"/>
                </a:solidFill>
              </a:rPr>
              <a:t>Relaciones con terceros</a:t>
            </a: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dirty="0"/>
              <a:t>Anexo: Ficha Individual Riesgos Operacionales</a:t>
            </a:r>
          </a:p>
        </p:txBody>
      </p:sp>
      <p:sp>
        <p:nvSpPr>
          <p:cNvPr id="3" name="AutoShape 179"/>
          <p:cNvSpPr>
            <a:spLocks noChangeArrowheads="1"/>
          </p:cNvSpPr>
          <p:nvPr/>
        </p:nvSpPr>
        <p:spPr bwMode="auto">
          <a:xfrm>
            <a:off x="611560" y="3535397"/>
            <a:ext cx="3960812" cy="1371600"/>
          </a:xfrm>
          <a:prstGeom prst="roundRect">
            <a:avLst>
              <a:gd name="adj" fmla="val 9481"/>
            </a:avLst>
          </a:prstGeom>
          <a:solidFill>
            <a:schemeClr val="accent1">
              <a:lumMod val="20000"/>
              <a:lumOff val="80000"/>
            </a:schemeClr>
          </a:solidFill>
          <a:ln w="9525" algn="ctr">
            <a:noFill/>
            <a:round/>
            <a:headEnd/>
            <a:tailEnd/>
          </a:ln>
          <a:effectLst/>
        </p:spPr>
        <p:txBody>
          <a:bodyPr wrap="none" anchor="ctr"/>
          <a:lstStyle/>
          <a:p>
            <a:endParaRPr lang="es-CL">
              <a:solidFill>
                <a:srgbClr val="002060"/>
              </a:solidFill>
            </a:endParaRPr>
          </a:p>
        </p:txBody>
      </p:sp>
      <p:sp>
        <p:nvSpPr>
          <p:cNvPr id="4" name="Rounded Rectangle 3"/>
          <p:cNvSpPr/>
          <p:nvPr/>
        </p:nvSpPr>
        <p:spPr>
          <a:xfrm>
            <a:off x="214497" y="764704"/>
            <a:ext cx="397063" cy="274320"/>
          </a:xfrm>
          <a:prstGeom prst="roundRect">
            <a:avLst/>
          </a:prstGeom>
          <a:solidFill>
            <a:srgbClr val="DB0613"/>
          </a:solidFill>
          <a:ln w="9525" algn="ctr">
            <a:noFill/>
            <a:miter lim="800000"/>
            <a:headEnd/>
            <a:tailEnd/>
          </a:ln>
          <a:effectLst/>
        </p:spPr>
        <p:txBody>
          <a:bodyPr anchor="ctr"/>
          <a:lstStyle/>
          <a:p>
            <a:pPr algn="ctr">
              <a:lnSpc>
                <a:spcPct val="80000"/>
              </a:lnSpc>
            </a:pPr>
            <a:r>
              <a:rPr lang="es-CL" sz="1200" b="1" dirty="0">
                <a:solidFill>
                  <a:srgbClr val="FFFFFF"/>
                </a:solidFill>
                <a:cs typeface="Arial" pitchFamily="34" charset="0"/>
              </a:rPr>
              <a:t>10</a:t>
            </a:r>
          </a:p>
        </p:txBody>
      </p:sp>
      <p:sp>
        <p:nvSpPr>
          <p:cNvPr id="5" name="Rectangle 18"/>
          <p:cNvSpPr>
            <a:spLocks noChangeArrowheads="1"/>
          </p:cNvSpPr>
          <p:nvPr/>
        </p:nvSpPr>
        <p:spPr bwMode="auto">
          <a:xfrm>
            <a:off x="227770" y="2409552"/>
            <a:ext cx="6400800" cy="839807"/>
          </a:xfrm>
          <a:prstGeom prst="rect">
            <a:avLst/>
          </a:prstGeom>
          <a:noFill/>
          <a:ln w="9525" algn="ctr">
            <a:solidFill>
              <a:schemeClr val="bg2"/>
            </a:solidFill>
            <a:miter lim="800000"/>
            <a:headEnd/>
            <a:tailEnd/>
          </a:ln>
          <a:effectLst/>
        </p:spPr>
        <p:txBody>
          <a:bodyPr/>
          <a:lstStyle/>
          <a:p>
            <a:r>
              <a:rPr lang="es-ES" sz="1100" dirty="0"/>
              <a:t>Incumplimiento de los servicios de un tercero por incumplimiento de la normativa.</a:t>
            </a:r>
            <a:endParaRPr lang="es-ES" sz="1100" dirty="0">
              <a:solidFill>
                <a:srgbClr val="002060"/>
              </a:solidFill>
            </a:endParaRPr>
          </a:p>
        </p:txBody>
      </p:sp>
      <p:sp>
        <p:nvSpPr>
          <p:cNvPr id="7" name="Text Box 30"/>
          <p:cNvSpPr txBox="1">
            <a:spLocks noChangeArrowheads="1"/>
          </p:cNvSpPr>
          <p:nvPr/>
        </p:nvSpPr>
        <p:spPr bwMode="auto">
          <a:xfrm>
            <a:off x="190747" y="3299257"/>
            <a:ext cx="3671888" cy="276999"/>
          </a:xfrm>
          <a:prstGeom prst="rect">
            <a:avLst/>
          </a:prstGeom>
          <a:noFill/>
          <a:ln w="9525" algn="ctr">
            <a:noFill/>
            <a:miter lim="800000"/>
            <a:headEnd/>
            <a:tailEnd/>
          </a:ln>
          <a:effectLst/>
        </p:spPr>
        <p:txBody>
          <a:bodyPr>
            <a:spAutoFit/>
          </a:bodyPr>
          <a:lstStyle/>
          <a:p>
            <a:pPr>
              <a:spcBef>
                <a:spcPct val="50000"/>
              </a:spcBef>
            </a:pPr>
            <a:r>
              <a:rPr lang="es-CL" sz="1200" b="1" i="1" dirty="0">
                <a:solidFill>
                  <a:srgbClr val="A3A3E0"/>
                </a:solidFill>
              </a:rPr>
              <a:t>Resultados valoración de riesgos</a:t>
            </a:r>
            <a:endParaRPr lang="es-ES" sz="1200" b="1" i="1" dirty="0">
              <a:solidFill>
                <a:srgbClr val="A3A3E0"/>
              </a:solidFill>
            </a:endParaRPr>
          </a:p>
        </p:txBody>
      </p:sp>
      <p:sp>
        <p:nvSpPr>
          <p:cNvPr id="8" name="Rounded Rectangle 7"/>
          <p:cNvSpPr/>
          <p:nvPr/>
        </p:nvSpPr>
        <p:spPr>
          <a:xfrm>
            <a:off x="652842" y="764704"/>
            <a:ext cx="8321040" cy="274320"/>
          </a:xfrm>
          <a:prstGeom prst="roundRect">
            <a:avLst/>
          </a:prstGeom>
          <a:solidFill>
            <a:srgbClr val="DB0613"/>
          </a:solidFill>
          <a:ln w="9525" algn="ctr">
            <a:noFill/>
            <a:miter lim="800000"/>
            <a:headEnd/>
            <a:tailEnd/>
          </a:ln>
          <a:effectLst/>
        </p:spPr>
        <p:txBody>
          <a:bodyPr anchor="ctr"/>
          <a:lstStyle/>
          <a:p>
            <a:pPr>
              <a:lnSpc>
                <a:spcPct val="80000"/>
              </a:lnSpc>
            </a:pPr>
            <a:r>
              <a:rPr lang="es-ES" sz="1200" dirty="0">
                <a:solidFill>
                  <a:schemeClr val="bg1"/>
                </a:solidFill>
              </a:rPr>
              <a:t>Incumplimiento de los servicios de un tercero por incumplimiento de la normativa.</a:t>
            </a:r>
            <a:endParaRPr lang="es-CL" sz="1200" b="1" dirty="0">
              <a:solidFill>
                <a:schemeClr val="bg1"/>
              </a:solidFill>
              <a:cs typeface="Arial" pitchFamily="34" charset="0"/>
            </a:endParaRPr>
          </a:p>
        </p:txBody>
      </p:sp>
      <p:sp>
        <p:nvSpPr>
          <p:cNvPr id="9" name="Rounded Rectangle 8"/>
          <p:cNvSpPr/>
          <p:nvPr/>
        </p:nvSpPr>
        <p:spPr>
          <a:xfrm>
            <a:off x="227770" y="2202383"/>
            <a:ext cx="64008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Descripción</a:t>
            </a:r>
          </a:p>
        </p:txBody>
      </p:sp>
      <p:sp>
        <p:nvSpPr>
          <p:cNvPr id="10" name="Rounded Rectangle 9"/>
          <p:cNvSpPr/>
          <p:nvPr/>
        </p:nvSpPr>
        <p:spPr>
          <a:xfrm>
            <a:off x="6716066" y="1089119"/>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Categoría  de Riesgo Nivel I</a:t>
            </a:r>
          </a:p>
        </p:txBody>
      </p:sp>
      <p:sp>
        <p:nvSpPr>
          <p:cNvPr id="11" name="Rectangle 18"/>
          <p:cNvSpPr>
            <a:spLocks noChangeArrowheads="1"/>
          </p:cNvSpPr>
          <p:nvPr/>
        </p:nvSpPr>
        <p:spPr bwMode="auto">
          <a:xfrm>
            <a:off x="6716066" y="1316374"/>
            <a:ext cx="2286000" cy="365760"/>
          </a:xfrm>
          <a:prstGeom prst="rect">
            <a:avLst/>
          </a:prstGeom>
          <a:noFill/>
          <a:ln w="9525" algn="ctr">
            <a:solidFill>
              <a:schemeClr val="bg2"/>
            </a:solidFill>
            <a:miter lim="800000"/>
            <a:headEnd/>
            <a:tailEnd/>
          </a:ln>
          <a:effectLst/>
        </p:spPr>
        <p:txBody>
          <a:bodyPr anchor="ctr"/>
          <a:lstStyle/>
          <a:p>
            <a:pPr>
              <a:lnSpc>
                <a:spcPts val="1000"/>
              </a:lnSpc>
            </a:pPr>
            <a:r>
              <a:rPr lang="es-ES" sz="1100" dirty="0"/>
              <a:t>Ejecución, entrega y gestión de procesos</a:t>
            </a:r>
          </a:p>
        </p:txBody>
      </p:sp>
      <p:sp>
        <p:nvSpPr>
          <p:cNvPr id="12" name="Rounded Rectangle 11"/>
          <p:cNvSpPr/>
          <p:nvPr/>
        </p:nvSpPr>
        <p:spPr>
          <a:xfrm>
            <a:off x="6716066" y="1725169"/>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Categoría de Riesgo Nivel II</a:t>
            </a:r>
          </a:p>
        </p:txBody>
      </p:sp>
      <p:sp>
        <p:nvSpPr>
          <p:cNvPr id="13" name="Rectangle 18"/>
          <p:cNvSpPr>
            <a:spLocks noChangeArrowheads="1"/>
          </p:cNvSpPr>
          <p:nvPr/>
        </p:nvSpPr>
        <p:spPr bwMode="auto">
          <a:xfrm>
            <a:off x="6716066" y="1942710"/>
            <a:ext cx="2286000" cy="274320"/>
          </a:xfrm>
          <a:prstGeom prst="rect">
            <a:avLst/>
          </a:prstGeom>
          <a:noFill/>
          <a:ln w="9525" algn="ctr">
            <a:solidFill>
              <a:schemeClr val="bg2"/>
            </a:solidFill>
            <a:miter lim="800000"/>
            <a:headEnd/>
            <a:tailEnd/>
          </a:ln>
          <a:effectLst/>
        </p:spPr>
        <p:txBody>
          <a:bodyPr anchor="ctr"/>
          <a:lstStyle/>
          <a:p>
            <a:r>
              <a:rPr lang="es-ES" sz="1100" dirty="0"/>
              <a:t>Distribuidores y Proveedores</a:t>
            </a:r>
          </a:p>
        </p:txBody>
      </p:sp>
      <p:grpSp>
        <p:nvGrpSpPr>
          <p:cNvPr id="6" name="Group 72"/>
          <p:cNvGrpSpPr/>
          <p:nvPr/>
        </p:nvGrpSpPr>
        <p:grpSpPr>
          <a:xfrm>
            <a:off x="6716066" y="2243313"/>
            <a:ext cx="2286000" cy="504056"/>
            <a:chOff x="6716066" y="2972444"/>
            <a:chExt cx="2286000" cy="504056"/>
          </a:xfrm>
        </p:grpSpPr>
        <p:sp>
          <p:nvSpPr>
            <p:cNvPr id="15" name="Rounded Rectangle 14"/>
            <p:cNvSpPr/>
            <p:nvPr/>
          </p:nvSpPr>
          <p:spPr>
            <a:xfrm>
              <a:off x="6716066" y="2972444"/>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Categoría de Riesgo Nivel III</a:t>
              </a:r>
            </a:p>
          </p:txBody>
        </p:sp>
        <p:sp>
          <p:nvSpPr>
            <p:cNvPr id="16" name="Rectangle 18"/>
            <p:cNvSpPr>
              <a:spLocks noChangeArrowheads="1"/>
            </p:cNvSpPr>
            <p:nvPr/>
          </p:nvSpPr>
          <p:spPr bwMode="auto">
            <a:xfrm>
              <a:off x="6716066" y="3202180"/>
              <a:ext cx="2286000" cy="274320"/>
            </a:xfrm>
            <a:prstGeom prst="rect">
              <a:avLst/>
            </a:prstGeom>
            <a:noFill/>
            <a:ln w="9525" algn="ctr">
              <a:solidFill>
                <a:schemeClr val="bg2"/>
              </a:solidFill>
              <a:miter lim="800000"/>
              <a:headEnd/>
              <a:tailEnd/>
            </a:ln>
            <a:effectLst/>
          </p:spPr>
          <p:txBody>
            <a:bodyPr anchor="ctr"/>
            <a:lstStyle/>
            <a:p>
              <a:r>
                <a:rPr lang="es-ES" sz="1100" dirty="0"/>
                <a:t>Errores en entrega realizada por distribuidores y proveedores</a:t>
              </a:r>
            </a:p>
          </p:txBody>
        </p:sp>
      </p:grpSp>
      <p:sp>
        <p:nvSpPr>
          <p:cNvPr id="17" name="Rounded Rectangle 16"/>
          <p:cNvSpPr/>
          <p:nvPr/>
        </p:nvSpPr>
        <p:spPr>
          <a:xfrm>
            <a:off x="227770" y="1110038"/>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Macroproceso</a:t>
            </a:r>
          </a:p>
        </p:txBody>
      </p:sp>
      <p:sp>
        <p:nvSpPr>
          <p:cNvPr id="18" name="Rectangle 18"/>
          <p:cNvSpPr>
            <a:spLocks noChangeArrowheads="1"/>
          </p:cNvSpPr>
          <p:nvPr/>
        </p:nvSpPr>
        <p:spPr bwMode="auto">
          <a:xfrm>
            <a:off x="2568409" y="1110038"/>
            <a:ext cx="4060161" cy="182880"/>
          </a:xfrm>
          <a:prstGeom prst="rect">
            <a:avLst/>
          </a:prstGeom>
          <a:noFill/>
          <a:ln w="9525" algn="ctr">
            <a:solidFill>
              <a:schemeClr val="bg2"/>
            </a:solidFill>
            <a:miter lim="800000"/>
            <a:headEnd/>
            <a:tailEnd/>
          </a:ln>
          <a:effectLst/>
        </p:spPr>
        <p:txBody>
          <a:bodyPr anchor="ctr"/>
          <a:lstStyle/>
          <a:p>
            <a:r>
              <a:rPr lang="es-ES" sz="1100" dirty="0"/>
              <a:t>Generación de Negocio</a:t>
            </a:r>
          </a:p>
        </p:txBody>
      </p:sp>
      <p:sp>
        <p:nvSpPr>
          <p:cNvPr id="19" name="Rounded Rectangle 18"/>
          <p:cNvSpPr/>
          <p:nvPr/>
        </p:nvSpPr>
        <p:spPr>
          <a:xfrm>
            <a:off x="227770" y="1339045"/>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Proceso</a:t>
            </a:r>
          </a:p>
        </p:txBody>
      </p:sp>
      <p:sp>
        <p:nvSpPr>
          <p:cNvPr id="20" name="Rectangle 18"/>
          <p:cNvSpPr>
            <a:spLocks noChangeArrowheads="1"/>
          </p:cNvSpPr>
          <p:nvPr/>
        </p:nvSpPr>
        <p:spPr bwMode="auto">
          <a:xfrm>
            <a:off x="2568409" y="1339045"/>
            <a:ext cx="4060161" cy="182880"/>
          </a:xfrm>
          <a:prstGeom prst="rect">
            <a:avLst/>
          </a:prstGeom>
          <a:noFill/>
          <a:ln w="9525" algn="ctr">
            <a:solidFill>
              <a:schemeClr val="bg2"/>
            </a:solidFill>
            <a:miter lim="800000"/>
            <a:headEnd/>
            <a:tailEnd/>
          </a:ln>
          <a:effectLst/>
        </p:spPr>
        <p:txBody>
          <a:bodyPr anchor="ctr"/>
          <a:lstStyle/>
          <a:p>
            <a:r>
              <a:rPr lang="es-ES" sz="1100" dirty="0"/>
              <a:t>Suscripción</a:t>
            </a:r>
          </a:p>
        </p:txBody>
      </p:sp>
      <p:sp>
        <p:nvSpPr>
          <p:cNvPr id="21" name="Rectangle 29"/>
          <p:cNvSpPr>
            <a:spLocks noChangeArrowheads="1"/>
          </p:cNvSpPr>
          <p:nvPr/>
        </p:nvSpPr>
        <p:spPr bwMode="auto">
          <a:xfrm>
            <a:off x="107504" y="3423715"/>
            <a:ext cx="8961120" cy="1607926"/>
          </a:xfrm>
          <a:prstGeom prst="rect">
            <a:avLst/>
          </a:prstGeom>
          <a:noFill/>
          <a:ln w="19050" cap="rnd" algn="ctr">
            <a:solidFill>
              <a:schemeClr val="bg2"/>
            </a:solidFill>
            <a:prstDash val="sysDot"/>
            <a:miter lim="800000"/>
            <a:headEnd/>
            <a:tailEnd/>
          </a:ln>
          <a:effectLst/>
        </p:spPr>
        <p:txBody>
          <a:bodyPr wrap="none" anchor="ctr"/>
          <a:lstStyle/>
          <a:p>
            <a:endParaRPr lang="en-US">
              <a:solidFill>
                <a:srgbClr val="002060"/>
              </a:solidFill>
            </a:endParaRPr>
          </a:p>
        </p:txBody>
      </p:sp>
      <p:sp>
        <p:nvSpPr>
          <p:cNvPr id="22" name="Rounded Rectangle 21"/>
          <p:cNvSpPr/>
          <p:nvPr/>
        </p:nvSpPr>
        <p:spPr>
          <a:xfrm>
            <a:off x="902959" y="4382163"/>
            <a:ext cx="1920240" cy="182880"/>
          </a:xfrm>
          <a:prstGeom prst="roundRect">
            <a:avLst/>
          </a:prstGeom>
          <a:solidFill>
            <a:srgbClr val="DB0613"/>
          </a:solidFill>
          <a:ln w="9525" algn="ctr">
            <a:noFill/>
            <a:miter lim="800000"/>
            <a:headEnd/>
            <a:tailEnd/>
          </a:ln>
          <a:effectLst/>
        </p:spPr>
        <p:txBody>
          <a:bodyPr tIns="91440" anchor="ctr"/>
          <a:lstStyle/>
          <a:p>
            <a:pPr>
              <a:lnSpc>
                <a:spcPct val="80000"/>
              </a:lnSpc>
            </a:pPr>
            <a:r>
              <a:rPr lang="es-CL" sz="1100" b="1" dirty="0">
                <a:solidFill>
                  <a:srgbClr val="FFFFFF"/>
                </a:solidFill>
                <a:cs typeface="Arial" pitchFamily="34" charset="0"/>
              </a:rPr>
              <a:t>Pérdida Esperada Anual</a:t>
            </a:r>
          </a:p>
        </p:txBody>
      </p:sp>
      <p:sp>
        <p:nvSpPr>
          <p:cNvPr id="23" name="Rectangle 18"/>
          <p:cNvSpPr>
            <a:spLocks noChangeArrowheads="1"/>
          </p:cNvSpPr>
          <p:nvPr/>
        </p:nvSpPr>
        <p:spPr bwMode="auto">
          <a:xfrm>
            <a:off x="2859920" y="4382163"/>
            <a:ext cx="1554480" cy="182880"/>
          </a:xfrm>
          <a:prstGeom prst="rect">
            <a:avLst/>
          </a:prstGeom>
          <a:solidFill>
            <a:schemeClr val="bg1"/>
          </a:solidFill>
          <a:ln w="9525" algn="ctr">
            <a:solidFill>
              <a:schemeClr val="bg2"/>
            </a:solidFill>
            <a:miter lim="800000"/>
            <a:headEnd/>
            <a:tailEnd/>
          </a:ln>
          <a:effectLst/>
        </p:spPr>
        <p:txBody>
          <a:bodyPr anchor="ctr"/>
          <a:lstStyle/>
          <a:p>
            <a:pPr algn="ctr"/>
            <a:r>
              <a:rPr lang="es-ES" sz="1100" dirty="0"/>
              <a:t>S/. 497,244.00 </a:t>
            </a:r>
            <a:endParaRPr lang="es-ES" sz="1100" dirty="0">
              <a:solidFill>
                <a:srgbClr val="002060"/>
              </a:solidFill>
            </a:endParaRPr>
          </a:p>
        </p:txBody>
      </p:sp>
      <p:sp>
        <p:nvSpPr>
          <p:cNvPr id="24" name="Rounded Rectangle 23"/>
          <p:cNvSpPr/>
          <p:nvPr/>
        </p:nvSpPr>
        <p:spPr>
          <a:xfrm>
            <a:off x="902959" y="4611775"/>
            <a:ext cx="192024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VaR Cualitativo Anual</a:t>
            </a:r>
          </a:p>
        </p:txBody>
      </p:sp>
      <p:sp>
        <p:nvSpPr>
          <p:cNvPr id="25" name="Rectangle 18"/>
          <p:cNvSpPr>
            <a:spLocks noChangeArrowheads="1"/>
          </p:cNvSpPr>
          <p:nvPr/>
        </p:nvSpPr>
        <p:spPr bwMode="auto">
          <a:xfrm>
            <a:off x="2859920" y="4611775"/>
            <a:ext cx="1554480" cy="182880"/>
          </a:xfrm>
          <a:prstGeom prst="rect">
            <a:avLst/>
          </a:prstGeom>
          <a:solidFill>
            <a:schemeClr val="bg1"/>
          </a:solidFill>
          <a:ln w="9525" algn="ctr">
            <a:solidFill>
              <a:schemeClr val="bg2"/>
            </a:solidFill>
            <a:miter lim="800000"/>
            <a:headEnd/>
            <a:tailEnd/>
          </a:ln>
          <a:effectLst/>
        </p:spPr>
        <p:txBody>
          <a:bodyPr anchor="ctr"/>
          <a:lstStyle/>
          <a:p>
            <a:pPr algn="ctr"/>
            <a:r>
              <a:rPr lang="es-ES" sz="1100" dirty="0"/>
              <a:t>S/. 1,975,159.97</a:t>
            </a:r>
            <a:endParaRPr lang="es-ES" sz="1100" dirty="0">
              <a:solidFill>
                <a:srgbClr val="002060"/>
              </a:solidFill>
            </a:endParaRPr>
          </a:p>
        </p:txBody>
      </p:sp>
      <p:sp>
        <p:nvSpPr>
          <p:cNvPr id="26" name="Rounded Rectangle 25"/>
          <p:cNvSpPr/>
          <p:nvPr/>
        </p:nvSpPr>
        <p:spPr>
          <a:xfrm>
            <a:off x="891084" y="3618777"/>
            <a:ext cx="192024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Frecuencia  Evento Pérdida</a:t>
            </a:r>
          </a:p>
        </p:txBody>
      </p:sp>
      <p:sp>
        <p:nvSpPr>
          <p:cNvPr id="27" name="Rectangle 18"/>
          <p:cNvSpPr>
            <a:spLocks noChangeArrowheads="1"/>
          </p:cNvSpPr>
          <p:nvPr/>
        </p:nvSpPr>
        <p:spPr bwMode="auto">
          <a:xfrm>
            <a:off x="2859920" y="3618777"/>
            <a:ext cx="1554480" cy="182880"/>
          </a:xfrm>
          <a:prstGeom prst="rect">
            <a:avLst/>
          </a:prstGeom>
          <a:solidFill>
            <a:schemeClr val="bg1"/>
          </a:solidFill>
          <a:ln w="9525" algn="ctr">
            <a:solidFill>
              <a:schemeClr val="bg2"/>
            </a:solidFill>
            <a:miter lim="800000"/>
            <a:headEnd/>
            <a:tailEnd/>
          </a:ln>
          <a:effectLst/>
        </p:spPr>
        <p:txBody>
          <a:bodyPr anchor="ctr"/>
          <a:lstStyle/>
          <a:p>
            <a:pPr algn="ctr"/>
            <a:r>
              <a:rPr lang="es-ES" sz="1100" dirty="0"/>
              <a:t>1 vez por mes</a:t>
            </a:r>
          </a:p>
        </p:txBody>
      </p:sp>
      <p:sp>
        <p:nvSpPr>
          <p:cNvPr id="28" name="Rounded Rectangle 27"/>
          <p:cNvSpPr/>
          <p:nvPr/>
        </p:nvSpPr>
        <p:spPr>
          <a:xfrm>
            <a:off x="891084" y="3848389"/>
            <a:ext cx="192024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Impacto Medio Evento</a:t>
            </a:r>
          </a:p>
        </p:txBody>
      </p:sp>
      <p:sp>
        <p:nvSpPr>
          <p:cNvPr id="29" name="Rectangle 18"/>
          <p:cNvSpPr>
            <a:spLocks noChangeArrowheads="1"/>
          </p:cNvSpPr>
          <p:nvPr/>
        </p:nvSpPr>
        <p:spPr bwMode="auto">
          <a:xfrm>
            <a:off x="2859920" y="3848389"/>
            <a:ext cx="1554480" cy="182880"/>
          </a:xfrm>
          <a:prstGeom prst="rect">
            <a:avLst/>
          </a:prstGeom>
          <a:solidFill>
            <a:schemeClr val="bg1"/>
          </a:solidFill>
          <a:ln w="9525" algn="ctr">
            <a:solidFill>
              <a:schemeClr val="bg2"/>
            </a:solidFill>
            <a:miter lim="800000"/>
            <a:headEnd/>
            <a:tailEnd/>
          </a:ln>
          <a:effectLst/>
        </p:spPr>
        <p:txBody>
          <a:bodyPr anchor="ctr"/>
          <a:lstStyle/>
          <a:p>
            <a:pPr algn="ctr"/>
            <a:r>
              <a:rPr lang="es-ES" sz="1100" dirty="0"/>
              <a:t>S/. 41,437.00</a:t>
            </a:r>
            <a:endParaRPr lang="es-ES" sz="1100" dirty="0">
              <a:solidFill>
                <a:srgbClr val="002060"/>
              </a:solidFill>
            </a:endParaRPr>
          </a:p>
        </p:txBody>
      </p:sp>
      <p:sp>
        <p:nvSpPr>
          <p:cNvPr id="30" name="Rounded Rectangle 29"/>
          <p:cNvSpPr/>
          <p:nvPr/>
        </p:nvSpPr>
        <p:spPr>
          <a:xfrm>
            <a:off x="891084" y="4083969"/>
            <a:ext cx="192024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Impacto Peor Escenario</a:t>
            </a:r>
          </a:p>
        </p:txBody>
      </p:sp>
      <p:sp>
        <p:nvSpPr>
          <p:cNvPr id="31" name="Rectangle 18"/>
          <p:cNvSpPr>
            <a:spLocks noChangeArrowheads="1"/>
          </p:cNvSpPr>
          <p:nvPr/>
        </p:nvSpPr>
        <p:spPr bwMode="auto">
          <a:xfrm>
            <a:off x="2859920" y="4083969"/>
            <a:ext cx="1554480" cy="182880"/>
          </a:xfrm>
          <a:prstGeom prst="rect">
            <a:avLst/>
          </a:prstGeom>
          <a:solidFill>
            <a:schemeClr val="bg1"/>
          </a:solidFill>
          <a:ln w="9525" algn="ctr">
            <a:solidFill>
              <a:schemeClr val="bg2"/>
            </a:solidFill>
            <a:miter lim="800000"/>
            <a:headEnd/>
            <a:tailEnd/>
          </a:ln>
          <a:effectLst/>
        </p:spPr>
        <p:txBody>
          <a:bodyPr anchor="ctr"/>
          <a:lstStyle/>
          <a:p>
            <a:pPr algn="ctr"/>
            <a:r>
              <a:rPr lang="es-ES" sz="1100" dirty="0"/>
              <a:t>S/. 828,750.00</a:t>
            </a:r>
            <a:endParaRPr lang="es-ES" sz="1100" dirty="0">
              <a:solidFill>
                <a:srgbClr val="002060"/>
              </a:solidFill>
            </a:endParaRPr>
          </a:p>
        </p:txBody>
      </p:sp>
      <p:sp>
        <p:nvSpPr>
          <p:cNvPr id="32" name="AutoShape 47"/>
          <p:cNvSpPr>
            <a:spLocks noChangeAspect="1" noChangeArrowheads="1"/>
          </p:cNvSpPr>
          <p:nvPr/>
        </p:nvSpPr>
        <p:spPr bwMode="blackWhite">
          <a:xfrm>
            <a:off x="263033" y="3533122"/>
            <a:ext cx="492543" cy="1339083"/>
          </a:xfrm>
          <a:prstGeom prst="rightArrow">
            <a:avLst>
              <a:gd name="adj1" fmla="val 100000"/>
              <a:gd name="adj2" fmla="val 11009"/>
            </a:avLst>
          </a:prstGeom>
          <a:solidFill>
            <a:srgbClr val="969696"/>
          </a:solidFill>
          <a:ln w="12700">
            <a:noFill/>
            <a:miter lim="800000"/>
            <a:headEnd/>
            <a:tailEnd/>
          </a:ln>
          <a:effectLst>
            <a:outerShdw dist="35921" dir="2700000" algn="ctr" rotWithShape="0">
              <a:schemeClr val="bg2"/>
            </a:outerShdw>
          </a:effectLst>
        </p:spPr>
        <p:txBody>
          <a:bodyPr vert="vert270" anchor="ctr"/>
          <a:lstStyle/>
          <a:p>
            <a:pPr algn="ctr">
              <a:lnSpc>
                <a:spcPts val="1000"/>
              </a:lnSpc>
            </a:pPr>
            <a:r>
              <a:rPr lang="es-ES" sz="1200" b="1" noProof="1">
                <a:solidFill>
                  <a:srgbClr val="FFFFFF"/>
                </a:solidFill>
                <a:cs typeface="Arial" charset="0"/>
              </a:rPr>
              <a:t>Evaluación Riesgo Operacional</a:t>
            </a:r>
          </a:p>
        </p:txBody>
      </p:sp>
      <p:sp>
        <p:nvSpPr>
          <p:cNvPr id="59" name="Rounded Rectangle 58"/>
          <p:cNvSpPr/>
          <p:nvPr/>
        </p:nvSpPr>
        <p:spPr>
          <a:xfrm>
            <a:off x="223049" y="1554311"/>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Subproceso</a:t>
            </a:r>
          </a:p>
        </p:txBody>
      </p:sp>
      <p:sp>
        <p:nvSpPr>
          <p:cNvPr id="60" name="Rectangle 18"/>
          <p:cNvSpPr>
            <a:spLocks noChangeArrowheads="1"/>
          </p:cNvSpPr>
          <p:nvPr/>
        </p:nvSpPr>
        <p:spPr bwMode="auto">
          <a:xfrm>
            <a:off x="2563688" y="1554311"/>
            <a:ext cx="4064882" cy="182880"/>
          </a:xfrm>
          <a:prstGeom prst="rect">
            <a:avLst/>
          </a:prstGeom>
          <a:noFill/>
          <a:ln w="9525" algn="ctr">
            <a:solidFill>
              <a:schemeClr val="bg2"/>
            </a:solidFill>
            <a:miter lim="800000"/>
            <a:headEnd/>
            <a:tailEnd/>
          </a:ln>
          <a:effectLst/>
        </p:spPr>
        <p:txBody>
          <a:bodyPr anchor="ctr"/>
          <a:lstStyle/>
          <a:p>
            <a:r>
              <a:rPr lang="es-ES" sz="1100" dirty="0"/>
              <a:t>Inspección Técnica</a:t>
            </a:r>
          </a:p>
        </p:txBody>
      </p:sp>
      <p:sp>
        <p:nvSpPr>
          <p:cNvPr id="57" name="Rounded Rectangle 56"/>
          <p:cNvSpPr/>
          <p:nvPr/>
        </p:nvSpPr>
        <p:spPr>
          <a:xfrm>
            <a:off x="223049" y="1771093"/>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Línea de Negocio</a:t>
            </a:r>
          </a:p>
        </p:txBody>
      </p:sp>
      <p:sp>
        <p:nvSpPr>
          <p:cNvPr id="58" name="Rectangle 18"/>
          <p:cNvSpPr>
            <a:spLocks noChangeArrowheads="1"/>
          </p:cNvSpPr>
          <p:nvPr/>
        </p:nvSpPr>
        <p:spPr bwMode="auto">
          <a:xfrm>
            <a:off x="2563688" y="1771093"/>
            <a:ext cx="4064882" cy="182880"/>
          </a:xfrm>
          <a:prstGeom prst="rect">
            <a:avLst/>
          </a:prstGeom>
          <a:noFill/>
          <a:ln w="9525" algn="ctr">
            <a:solidFill>
              <a:schemeClr val="bg2"/>
            </a:solidFill>
            <a:miter lim="800000"/>
            <a:headEnd/>
            <a:tailEnd/>
          </a:ln>
          <a:effectLst/>
        </p:spPr>
        <p:txBody>
          <a:bodyPr anchor="ctr"/>
          <a:lstStyle/>
          <a:p>
            <a:r>
              <a:rPr lang="es-ES" sz="1100" dirty="0"/>
              <a:t>Ramos Generales</a:t>
            </a:r>
          </a:p>
        </p:txBody>
      </p:sp>
      <p:sp>
        <p:nvSpPr>
          <p:cNvPr id="61" name="Rounded Rectangle 60"/>
          <p:cNvSpPr/>
          <p:nvPr/>
        </p:nvSpPr>
        <p:spPr>
          <a:xfrm>
            <a:off x="223049" y="1986359"/>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Responsable</a:t>
            </a:r>
          </a:p>
        </p:txBody>
      </p:sp>
      <p:sp>
        <p:nvSpPr>
          <p:cNvPr id="62" name="Rectangle 18"/>
          <p:cNvSpPr>
            <a:spLocks noChangeArrowheads="1"/>
          </p:cNvSpPr>
          <p:nvPr/>
        </p:nvSpPr>
        <p:spPr bwMode="auto">
          <a:xfrm>
            <a:off x="2558967" y="1986359"/>
            <a:ext cx="4069603" cy="182880"/>
          </a:xfrm>
          <a:prstGeom prst="rect">
            <a:avLst/>
          </a:prstGeom>
          <a:noFill/>
          <a:ln w="9525" algn="ctr">
            <a:solidFill>
              <a:schemeClr val="bg2"/>
            </a:solidFill>
            <a:miter lim="800000"/>
            <a:headEnd/>
            <a:tailEnd/>
          </a:ln>
          <a:effectLst/>
        </p:spPr>
        <p:txBody>
          <a:bodyPr anchor="ctr"/>
          <a:lstStyle/>
          <a:p>
            <a:r>
              <a:rPr lang="es-ES" sz="1100" dirty="0"/>
              <a:t>Coordinador de procesos  de emisión</a:t>
            </a:r>
          </a:p>
        </p:txBody>
      </p:sp>
      <p:sp>
        <p:nvSpPr>
          <p:cNvPr id="63" name="Rounded Rectangle 14"/>
          <p:cNvSpPr/>
          <p:nvPr/>
        </p:nvSpPr>
        <p:spPr>
          <a:xfrm>
            <a:off x="6716066" y="2817311"/>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Origen del Riesgo</a:t>
            </a:r>
          </a:p>
        </p:txBody>
      </p:sp>
      <p:sp>
        <p:nvSpPr>
          <p:cNvPr id="64" name="Rectangle 18"/>
          <p:cNvSpPr>
            <a:spLocks noChangeArrowheads="1"/>
          </p:cNvSpPr>
          <p:nvPr/>
        </p:nvSpPr>
        <p:spPr bwMode="auto">
          <a:xfrm>
            <a:off x="6716066" y="3032576"/>
            <a:ext cx="2286000" cy="270000"/>
          </a:xfrm>
          <a:prstGeom prst="rect">
            <a:avLst/>
          </a:prstGeom>
          <a:noFill/>
          <a:ln w="9525" algn="ctr">
            <a:solidFill>
              <a:schemeClr val="bg2"/>
            </a:solidFill>
            <a:miter lim="800000"/>
            <a:headEnd/>
            <a:tailEnd/>
          </a:ln>
          <a:effectLst/>
        </p:spPr>
        <p:txBody>
          <a:bodyPr anchor="ctr"/>
          <a:lstStyle/>
          <a:p>
            <a:r>
              <a:rPr lang="es-ES" sz="1100" dirty="0">
                <a:solidFill>
                  <a:srgbClr val="000000"/>
                </a:solidFill>
              </a:rPr>
              <a:t>Relaciones con Terceros</a:t>
            </a:r>
          </a:p>
        </p:txBody>
      </p:sp>
      <p:sp>
        <p:nvSpPr>
          <p:cNvPr id="65" name="AutoShape 179"/>
          <p:cNvSpPr>
            <a:spLocks noChangeArrowheads="1"/>
          </p:cNvSpPr>
          <p:nvPr/>
        </p:nvSpPr>
        <p:spPr bwMode="auto">
          <a:xfrm>
            <a:off x="4932039" y="3537391"/>
            <a:ext cx="4037169" cy="864000"/>
          </a:xfrm>
          <a:prstGeom prst="roundRect">
            <a:avLst>
              <a:gd name="adj" fmla="val 9481"/>
            </a:avLst>
          </a:prstGeom>
          <a:solidFill>
            <a:schemeClr val="accent1">
              <a:lumMod val="20000"/>
              <a:lumOff val="80000"/>
            </a:schemeClr>
          </a:solidFill>
          <a:ln w="9525" algn="ctr">
            <a:noFill/>
            <a:round/>
            <a:headEnd/>
            <a:tailEnd/>
          </a:ln>
          <a:effectLst/>
        </p:spPr>
        <p:txBody>
          <a:bodyPr wrap="none" anchor="ctr"/>
          <a:lstStyle/>
          <a:p>
            <a:endParaRPr lang="es-CL">
              <a:solidFill>
                <a:srgbClr val="002060"/>
              </a:solidFill>
            </a:endParaRPr>
          </a:p>
        </p:txBody>
      </p:sp>
      <p:sp>
        <p:nvSpPr>
          <p:cNvPr id="66" name="AutoShape 47"/>
          <p:cNvSpPr>
            <a:spLocks noChangeArrowheads="1"/>
          </p:cNvSpPr>
          <p:nvPr/>
        </p:nvSpPr>
        <p:spPr bwMode="blackWhite">
          <a:xfrm>
            <a:off x="4678512" y="3538893"/>
            <a:ext cx="353942" cy="864000"/>
          </a:xfrm>
          <a:prstGeom prst="rightArrow">
            <a:avLst>
              <a:gd name="adj1" fmla="val 100000"/>
              <a:gd name="adj2" fmla="val 11009"/>
            </a:avLst>
          </a:prstGeom>
          <a:solidFill>
            <a:srgbClr val="969696"/>
          </a:solidFill>
          <a:ln w="12700">
            <a:noFill/>
            <a:miter lim="800000"/>
            <a:headEnd/>
            <a:tailEnd/>
          </a:ln>
          <a:effectLst>
            <a:outerShdw dist="35921" dir="2700000" algn="ctr" rotWithShape="0">
              <a:schemeClr val="bg2"/>
            </a:outerShdw>
          </a:effectLst>
        </p:spPr>
        <p:txBody>
          <a:bodyPr vert="vert270" anchor="ctr"/>
          <a:lstStyle/>
          <a:p>
            <a:pPr algn="ctr">
              <a:lnSpc>
                <a:spcPts val="1000"/>
              </a:lnSpc>
            </a:pPr>
            <a:r>
              <a:rPr lang="es-ES" sz="1100" b="1" noProof="1">
                <a:solidFill>
                  <a:srgbClr val="FFFFFF"/>
                </a:solidFill>
                <a:cs typeface="Arial" charset="0"/>
              </a:rPr>
              <a:t>Impacto Reputacional</a:t>
            </a:r>
          </a:p>
        </p:txBody>
      </p:sp>
      <p:sp>
        <p:nvSpPr>
          <p:cNvPr id="67" name="Rectangle 18"/>
          <p:cNvSpPr>
            <a:spLocks noChangeArrowheads="1"/>
          </p:cNvSpPr>
          <p:nvPr/>
        </p:nvSpPr>
        <p:spPr bwMode="auto">
          <a:xfrm>
            <a:off x="8334310" y="3612658"/>
            <a:ext cx="548640" cy="170094"/>
          </a:xfrm>
          <a:prstGeom prst="rect">
            <a:avLst/>
          </a:prstGeom>
          <a:solidFill>
            <a:schemeClr val="bg1"/>
          </a:solidFill>
          <a:ln w="9525" algn="ctr">
            <a:solidFill>
              <a:schemeClr val="bg2"/>
            </a:solidFill>
            <a:miter lim="800000"/>
            <a:headEnd/>
            <a:tailEnd/>
          </a:ln>
          <a:effectLst/>
        </p:spPr>
        <p:txBody>
          <a:bodyPr anchor="ctr"/>
          <a:lstStyle/>
          <a:p>
            <a:pPr algn="ctr"/>
            <a:r>
              <a:rPr lang="es-ES" sz="1100" dirty="0"/>
              <a:t>3</a:t>
            </a:r>
          </a:p>
        </p:txBody>
      </p:sp>
      <p:sp>
        <p:nvSpPr>
          <p:cNvPr id="68" name="Rounded Rectangle 67"/>
          <p:cNvSpPr/>
          <p:nvPr/>
        </p:nvSpPr>
        <p:spPr>
          <a:xfrm>
            <a:off x="5102950" y="3612658"/>
            <a:ext cx="3132000" cy="170094"/>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Afectación a Clientes</a:t>
            </a:r>
          </a:p>
        </p:txBody>
      </p:sp>
      <p:sp>
        <p:nvSpPr>
          <p:cNvPr id="69" name="Rectangle 18"/>
          <p:cNvSpPr>
            <a:spLocks noChangeArrowheads="1"/>
          </p:cNvSpPr>
          <p:nvPr/>
        </p:nvSpPr>
        <p:spPr bwMode="auto">
          <a:xfrm>
            <a:off x="5102950" y="3830815"/>
            <a:ext cx="3780000" cy="469509"/>
          </a:xfrm>
          <a:prstGeom prst="rect">
            <a:avLst/>
          </a:prstGeom>
          <a:solidFill>
            <a:schemeClr val="bg1"/>
          </a:solidFill>
          <a:ln w="9525" algn="ctr">
            <a:solidFill>
              <a:schemeClr val="bg2"/>
            </a:solidFill>
            <a:miter lim="800000"/>
            <a:headEnd/>
            <a:tailEnd/>
          </a:ln>
          <a:effectLst/>
        </p:spPr>
        <p:txBody>
          <a:bodyPr anchor="ctr"/>
          <a:lstStyle/>
          <a:p>
            <a:r>
              <a:rPr lang="es-ES" sz="1100" dirty="0">
                <a:solidFill>
                  <a:srgbClr val="000000"/>
                </a:solidFill>
              </a:rPr>
              <a:t>La exposición de la imagen es interna y externa con un nivel de impacto medio.</a:t>
            </a:r>
          </a:p>
        </p:txBody>
      </p:sp>
      <p:sp>
        <p:nvSpPr>
          <p:cNvPr id="73" name="AutoShape 179"/>
          <p:cNvSpPr>
            <a:spLocks noChangeArrowheads="1"/>
          </p:cNvSpPr>
          <p:nvPr/>
        </p:nvSpPr>
        <p:spPr bwMode="auto">
          <a:xfrm>
            <a:off x="4927319" y="4441608"/>
            <a:ext cx="4037169" cy="892800"/>
          </a:xfrm>
          <a:prstGeom prst="roundRect">
            <a:avLst>
              <a:gd name="adj" fmla="val 9481"/>
            </a:avLst>
          </a:prstGeom>
          <a:solidFill>
            <a:schemeClr val="accent1">
              <a:lumMod val="20000"/>
              <a:lumOff val="80000"/>
            </a:schemeClr>
          </a:solidFill>
          <a:ln w="9525" algn="ctr">
            <a:noFill/>
            <a:round/>
            <a:headEnd/>
            <a:tailEnd/>
          </a:ln>
          <a:effectLst/>
        </p:spPr>
        <p:txBody>
          <a:bodyPr wrap="none" anchor="ctr"/>
          <a:lstStyle/>
          <a:p>
            <a:endParaRPr lang="es-CL">
              <a:solidFill>
                <a:srgbClr val="002060"/>
              </a:solidFill>
            </a:endParaRPr>
          </a:p>
        </p:txBody>
      </p:sp>
      <p:sp>
        <p:nvSpPr>
          <p:cNvPr id="74" name="AutoShape 47"/>
          <p:cNvSpPr>
            <a:spLocks noChangeArrowheads="1"/>
          </p:cNvSpPr>
          <p:nvPr/>
        </p:nvSpPr>
        <p:spPr bwMode="blackWhite">
          <a:xfrm>
            <a:off x="4673792" y="4443110"/>
            <a:ext cx="352800" cy="892800"/>
          </a:xfrm>
          <a:prstGeom prst="rightArrow">
            <a:avLst>
              <a:gd name="adj1" fmla="val 100000"/>
              <a:gd name="adj2" fmla="val 11009"/>
            </a:avLst>
          </a:prstGeom>
          <a:solidFill>
            <a:srgbClr val="969696"/>
          </a:solidFill>
          <a:ln w="12700">
            <a:noFill/>
            <a:miter lim="800000"/>
            <a:headEnd/>
            <a:tailEnd/>
          </a:ln>
          <a:effectLst>
            <a:outerShdw dist="35921" dir="2700000" algn="ctr" rotWithShape="0">
              <a:schemeClr val="bg2"/>
            </a:outerShdw>
          </a:effectLst>
        </p:spPr>
        <p:txBody>
          <a:bodyPr vert="vert270" anchor="ctr"/>
          <a:lstStyle/>
          <a:p>
            <a:pPr algn="ctr">
              <a:lnSpc>
                <a:spcPts val="1000"/>
              </a:lnSpc>
            </a:pPr>
            <a:r>
              <a:rPr lang="es-ES" sz="1100" b="1" noProof="1">
                <a:solidFill>
                  <a:srgbClr val="FFFFFF"/>
                </a:solidFill>
                <a:cs typeface="Arial" charset="0"/>
              </a:rPr>
              <a:t>Cuestionarios</a:t>
            </a:r>
          </a:p>
        </p:txBody>
      </p:sp>
      <p:sp>
        <p:nvSpPr>
          <p:cNvPr id="76" name="Rounded Rectangle 38"/>
          <p:cNvSpPr/>
          <p:nvPr/>
        </p:nvSpPr>
        <p:spPr>
          <a:xfrm>
            <a:off x="5098230" y="4516875"/>
            <a:ext cx="3132000" cy="170094"/>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Criterios de Evaluación</a:t>
            </a:r>
          </a:p>
        </p:txBody>
      </p:sp>
      <p:sp>
        <p:nvSpPr>
          <p:cNvPr id="78" name="Text Box 30"/>
          <p:cNvSpPr txBox="1">
            <a:spLocks noChangeArrowheads="1"/>
          </p:cNvSpPr>
          <p:nvPr/>
        </p:nvSpPr>
        <p:spPr bwMode="auto">
          <a:xfrm>
            <a:off x="190746" y="4977551"/>
            <a:ext cx="3996000" cy="276999"/>
          </a:xfrm>
          <a:prstGeom prst="rect">
            <a:avLst/>
          </a:prstGeom>
          <a:noFill/>
          <a:ln w="9525" algn="ctr">
            <a:noFill/>
            <a:miter lim="800000"/>
            <a:headEnd/>
            <a:tailEnd/>
          </a:ln>
          <a:effectLst/>
        </p:spPr>
        <p:txBody>
          <a:bodyPr wrap="square">
            <a:spAutoFit/>
          </a:bodyPr>
          <a:lstStyle/>
          <a:p>
            <a:pPr>
              <a:spcBef>
                <a:spcPct val="50000"/>
              </a:spcBef>
            </a:pPr>
            <a:r>
              <a:rPr lang="es-CL" sz="1200" b="1" i="1" dirty="0">
                <a:solidFill>
                  <a:srgbClr val="A3A3E0"/>
                </a:solidFill>
              </a:rPr>
              <a:t>Resultados valoración de controles / factores mitigantes</a:t>
            </a:r>
            <a:endParaRPr lang="es-ES" sz="1200" b="1" i="1" dirty="0">
              <a:solidFill>
                <a:srgbClr val="A3A3E0"/>
              </a:solidFill>
            </a:endParaRPr>
          </a:p>
        </p:txBody>
      </p:sp>
      <p:sp>
        <p:nvSpPr>
          <p:cNvPr id="79" name="AutoShape 179"/>
          <p:cNvSpPr>
            <a:spLocks noChangeArrowheads="1"/>
          </p:cNvSpPr>
          <p:nvPr/>
        </p:nvSpPr>
        <p:spPr bwMode="auto">
          <a:xfrm>
            <a:off x="534831" y="5200032"/>
            <a:ext cx="4037169" cy="864000"/>
          </a:xfrm>
          <a:prstGeom prst="roundRect">
            <a:avLst>
              <a:gd name="adj" fmla="val 9481"/>
            </a:avLst>
          </a:prstGeom>
          <a:solidFill>
            <a:schemeClr val="accent1">
              <a:lumMod val="20000"/>
              <a:lumOff val="80000"/>
            </a:schemeClr>
          </a:solidFill>
          <a:ln w="9525" algn="ctr">
            <a:noFill/>
            <a:round/>
            <a:headEnd/>
            <a:tailEnd/>
          </a:ln>
          <a:effectLst/>
        </p:spPr>
        <p:txBody>
          <a:bodyPr wrap="none" anchor="ctr"/>
          <a:lstStyle/>
          <a:p>
            <a:endParaRPr lang="es-CL">
              <a:solidFill>
                <a:srgbClr val="002060"/>
              </a:solidFill>
            </a:endParaRPr>
          </a:p>
        </p:txBody>
      </p:sp>
      <p:sp>
        <p:nvSpPr>
          <p:cNvPr id="80" name="AutoShape 47"/>
          <p:cNvSpPr>
            <a:spLocks noChangeArrowheads="1"/>
          </p:cNvSpPr>
          <p:nvPr/>
        </p:nvSpPr>
        <p:spPr bwMode="blackWhite">
          <a:xfrm>
            <a:off x="281304" y="5201534"/>
            <a:ext cx="353942" cy="864000"/>
          </a:xfrm>
          <a:prstGeom prst="rightArrow">
            <a:avLst>
              <a:gd name="adj1" fmla="val 100000"/>
              <a:gd name="adj2" fmla="val 11009"/>
            </a:avLst>
          </a:prstGeom>
          <a:solidFill>
            <a:srgbClr val="969696"/>
          </a:solidFill>
          <a:ln w="12700">
            <a:noFill/>
            <a:miter lim="800000"/>
            <a:headEnd/>
            <a:tailEnd/>
          </a:ln>
          <a:effectLst>
            <a:outerShdw dist="35921" dir="2700000" algn="ctr" rotWithShape="0">
              <a:schemeClr val="bg2"/>
            </a:outerShdw>
          </a:effectLst>
        </p:spPr>
        <p:txBody>
          <a:bodyPr vert="vert270" anchor="ctr"/>
          <a:lstStyle/>
          <a:p>
            <a:pPr algn="ctr">
              <a:lnSpc>
                <a:spcPts val="1000"/>
              </a:lnSpc>
            </a:pPr>
            <a:r>
              <a:rPr lang="es-ES" sz="1100" b="1" noProof="1">
                <a:solidFill>
                  <a:srgbClr val="FFFFFF"/>
                </a:solidFill>
                <a:cs typeface="Arial" charset="0"/>
              </a:rPr>
              <a:t>Evaluación de Controles</a:t>
            </a:r>
          </a:p>
        </p:txBody>
      </p:sp>
      <p:sp>
        <p:nvSpPr>
          <p:cNvPr id="81" name="Rectangle 18"/>
          <p:cNvSpPr>
            <a:spLocks noChangeArrowheads="1"/>
          </p:cNvSpPr>
          <p:nvPr/>
        </p:nvSpPr>
        <p:spPr bwMode="auto">
          <a:xfrm>
            <a:off x="3937102" y="5275299"/>
            <a:ext cx="548640" cy="170094"/>
          </a:xfrm>
          <a:prstGeom prst="rect">
            <a:avLst/>
          </a:prstGeom>
          <a:solidFill>
            <a:schemeClr val="bg1"/>
          </a:solidFill>
          <a:ln w="9525" algn="ctr">
            <a:solidFill>
              <a:schemeClr val="bg2"/>
            </a:solidFill>
            <a:miter lim="800000"/>
            <a:headEnd/>
            <a:tailEnd/>
          </a:ln>
          <a:effectLst/>
        </p:spPr>
        <p:txBody>
          <a:bodyPr anchor="ctr"/>
          <a:lstStyle/>
          <a:p>
            <a:pPr algn="ctr"/>
            <a:r>
              <a:rPr lang="es-ES" sz="1100" dirty="0">
                <a:solidFill>
                  <a:srgbClr val="002060"/>
                </a:solidFill>
              </a:rPr>
              <a:t>0</a:t>
            </a:r>
          </a:p>
        </p:txBody>
      </p:sp>
      <p:sp>
        <p:nvSpPr>
          <p:cNvPr id="82" name="Rounded Rectangle 38"/>
          <p:cNvSpPr/>
          <p:nvPr/>
        </p:nvSpPr>
        <p:spPr>
          <a:xfrm>
            <a:off x="705742" y="5275299"/>
            <a:ext cx="3132000" cy="170094"/>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Controles asociados al riesgo</a:t>
            </a:r>
          </a:p>
        </p:txBody>
      </p:sp>
      <p:sp>
        <p:nvSpPr>
          <p:cNvPr id="83" name="Rectangle 18"/>
          <p:cNvSpPr>
            <a:spLocks noChangeArrowheads="1"/>
          </p:cNvSpPr>
          <p:nvPr/>
        </p:nvSpPr>
        <p:spPr bwMode="auto">
          <a:xfrm>
            <a:off x="705742" y="5496307"/>
            <a:ext cx="3780000" cy="469509"/>
          </a:xfrm>
          <a:prstGeom prst="rect">
            <a:avLst/>
          </a:prstGeom>
          <a:solidFill>
            <a:schemeClr val="bg1"/>
          </a:solidFill>
          <a:ln w="9525" algn="ctr">
            <a:solidFill>
              <a:schemeClr val="bg2"/>
            </a:solidFill>
            <a:miter lim="800000"/>
            <a:headEnd/>
            <a:tailEnd/>
          </a:ln>
          <a:effectLst/>
        </p:spPr>
        <p:txBody>
          <a:bodyPr anchor="ctr"/>
          <a:lstStyle/>
          <a:p>
            <a:r>
              <a:rPr lang="es-PE" sz="1100" dirty="0">
                <a:solidFill>
                  <a:srgbClr val="000000"/>
                </a:solidFill>
              </a:rPr>
              <a:t>No existe un control definido</a:t>
            </a:r>
            <a:endParaRPr lang="es-ES" sz="1100" dirty="0">
              <a:solidFill>
                <a:srgbClr val="000000"/>
              </a:solidFill>
            </a:endParaRPr>
          </a:p>
        </p:txBody>
      </p:sp>
      <p:sp>
        <p:nvSpPr>
          <p:cNvPr id="84" name="Rectangle 18"/>
          <p:cNvSpPr>
            <a:spLocks noChangeArrowheads="1"/>
          </p:cNvSpPr>
          <p:nvPr/>
        </p:nvSpPr>
        <p:spPr bwMode="auto">
          <a:xfrm>
            <a:off x="5102950" y="4730048"/>
            <a:ext cx="3780000" cy="469509"/>
          </a:xfrm>
          <a:prstGeom prst="rect">
            <a:avLst/>
          </a:prstGeom>
          <a:solidFill>
            <a:schemeClr val="bg1"/>
          </a:solidFill>
          <a:ln w="9525" algn="ctr">
            <a:solidFill>
              <a:schemeClr val="bg2"/>
            </a:solidFill>
            <a:miter lim="800000"/>
            <a:headEnd/>
            <a:tailEnd/>
          </a:ln>
          <a:effectLst/>
        </p:spPr>
        <p:txBody>
          <a:bodyPr anchor="ctr"/>
          <a:lstStyle/>
          <a:p>
            <a:r>
              <a:rPr lang="es-ES" sz="1100" dirty="0"/>
              <a:t>Impacto patrimonial: Nº trámites al mes (50.000), el 1% tiene error (500), 5% de éstos podrían convertirse en pólizas fallidas (25) . Póliza media $650,  Impacto: $650 * 25 * 2,55 </a:t>
            </a:r>
            <a:endParaRPr lang="es-ES" sz="1100" dirty="0">
              <a:solidFill>
                <a:srgbClr val="000000"/>
              </a:solidFill>
            </a:endParaRP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dirty="0"/>
              <a:t>Anexo: Ficha Individual Riesgos Operacionales</a:t>
            </a:r>
          </a:p>
        </p:txBody>
      </p:sp>
      <p:sp>
        <p:nvSpPr>
          <p:cNvPr id="3" name="AutoShape 179"/>
          <p:cNvSpPr>
            <a:spLocks noChangeArrowheads="1"/>
          </p:cNvSpPr>
          <p:nvPr/>
        </p:nvSpPr>
        <p:spPr bwMode="auto">
          <a:xfrm>
            <a:off x="611560" y="3535397"/>
            <a:ext cx="3960812" cy="1371600"/>
          </a:xfrm>
          <a:prstGeom prst="roundRect">
            <a:avLst>
              <a:gd name="adj" fmla="val 9481"/>
            </a:avLst>
          </a:prstGeom>
          <a:solidFill>
            <a:schemeClr val="accent1">
              <a:lumMod val="20000"/>
              <a:lumOff val="80000"/>
            </a:schemeClr>
          </a:solidFill>
          <a:ln w="9525" algn="ctr">
            <a:noFill/>
            <a:round/>
            <a:headEnd/>
            <a:tailEnd/>
          </a:ln>
          <a:effectLst/>
        </p:spPr>
        <p:txBody>
          <a:bodyPr wrap="none" anchor="ctr"/>
          <a:lstStyle/>
          <a:p>
            <a:endParaRPr lang="es-CL">
              <a:solidFill>
                <a:srgbClr val="002060"/>
              </a:solidFill>
            </a:endParaRPr>
          </a:p>
        </p:txBody>
      </p:sp>
      <p:sp>
        <p:nvSpPr>
          <p:cNvPr id="4" name="Rounded Rectangle 3"/>
          <p:cNvSpPr/>
          <p:nvPr/>
        </p:nvSpPr>
        <p:spPr>
          <a:xfrm>
            <a:off x="214497" y="764704"/>
            <a:ext cx="397063" cy="274320"/>
          </a:xfrm>
          <a:prstGeom prst="roundRect">
            <a:avLst/>
          </a:prstGeom>
          <a:solidFill>
            <a:srgbClr val="DB0613"/>
          </a:solidFill>
          <a:ln w="9525" algn="ctr">
            <a:noFill/>
            <a:miter lim="800000"/>
            <a:headEnd/>
            <a:tailEnd/>
          </a:ln>
          <a:effectLst/>
        </p:spPr>
        <p:txBody>
          <a:bodyPr anchor="ctr"/>
          <a:lstStyle/>
          <a:p>
            <a:pPr algn="ctr">
              <a:lnSpc>
                <a:spcPct val="80000"/>
              </a:lnSpc>
            </a:pPr>
            <a:r>
              <a:rPr lang="es-CL" sz="1200" b="1" dirty="0">
                <a:solidFill>
                  <a:srgbClr val="FFFFFF"/>
                </a:solidFill>
                <a:cs typeface="Arial" pitchFamily="34" charset="0"/>
              </a:rPr>
              <a:t>11</a:t>
            </a:r>
          </a:p>
        </p:txBody>
      </p:sp>
      <p:sp>
        <p:nvSpPr>
          <p:cNvPr id="5" name="Rectangle 18"/>
          <p:cNvSpPr>
            <a:spLocks noChangeArrowheads="1"/>
          </p:cNvSpPr>
          <p:nvPr/>
        </p:nvSpPr>
        <p:spPr bwMode="auto">
          <a:xfrm>
            <a:off x="227770" y="2409552"/>
            <a:ext cx="6400800" cy="839807"/>
          </a:xfrm>
          <a:prstGeom prst="rect">
            <a:avLst/>
          </a:prstGeom>
          <a:noFill/>
          <a:ln w="9525" algn="ctr">
            <a:solidFill>
              <a:schemeClr val="bg2"/>
            </a:solidFill>
            <a:miter lim="800000"/>
            <a:headEnd/>
            <a:tailEnd/>
          </a:ln>
          <a:effectLst/>
        </p:spPr>
        <p:txBody>
          <a:bodyPr/>
          <a:lstStyle/>
          <a:p>
            <a:r>
              <a:rPr lang="es-ES" sz="1100" dirty="0"/>
              <a:t>Riesgo de que el proveedor de creación de trámites de emisión no esté prestando el servicio en las condiciones contratadas. Por ejemplo: Continuos errores en la creación de trámites.</a:t>
            </a:r>
            <a:endParaRPr lang="es-ES" sz="1100" dirty="0">
              <a:solidFill>
                <a:srgbClr val="002060"/>
              </a:solidFill>
            </a:endParaRPr>
          </a:p>
        </p:txBody>
      </p:sp>
      <p:sp>
        <p:nvSpPr>
          <p:cNvPr id="7" name="Text Box 30"/>
          <p:cNvSpPr txBox="1">
            <a:spLocks noChangeArrowheads="1"/>
          </p:cNvSpPr>
          <p:nvPr/>
        </p:nvSpPr>
        <p:spPr bwMode="auto">
          <a:xfrm>
            <a:off x="190747" y="3299257"/>
            <a:ext cx="3671888" cy="276999"/>
          </a:xfrm>
          <a:prstGeom prst="rect">
            <a:avLst/>
          </a:prstGeom>
          <a:noFill/>
          <a:ln w="9525" algn="ctr">
            <a:noFill/>
            <a:miter lim="800000"/>
            <a:headEnd/>
            <a:tailEnd/>
          </a:ln>
          <a:effectLst/>
        </p:spPr>
        <p:txBody>
          <a:bodyPr>
            <a:spAutoFit/>
          </a:bodyPr>
          <a:lstStyle/>
          <a:p>
            <a:pPr>
              <a:spcBef>
                <a:spcPct val="50000"/>
              </a:spcBef>
            </a:pPr>
            <a:r>
              <a:rPr lang="es-CL" sz="1200" b="1" i="1" dirty="0">
                <a:solidFill>
                  <a:srgbClr val="A3A3E0"/>
                </a:solidFill>
              </a:rPr>
              <a:t>Resultados valoración de riesgos</a:t>
            </a:r>
            <a:endParaRPr lang="es-ES" sz="1200" b="1" i="1" dirty="0">
              <a:solidFill>
                <a:srgbClr val="A3A3E0"/>
              </a:solidFill>
            </a:endParaRPr>
          </a:p>
        </p:txBody>
      </p:sp>
      <p:sp>
        <p:nvSpPr>
          <p:cNvPr id="8" name="Rounded Rectangle 7"/>
          <p:cNvSpPr/>
          <p:nvPr/>
        </p:nvSpPr>
        <p:spPr>
          <a:xfrm>
            <a:off x="652842" y="764704"/>
            <a:ext cx="8321040" cy="274320"/>
          </a:xfrm>
          <a:prstGeom prst="roundRect">
            <a:avLst/>
          </a:prstGeom>
          <a:solidFill>
            <a:srgbClr val="DB0613"/>
          </a:solidFill>
          <a:ln w="9525" algn="ctr">
            <a:noFill/>
            <a:miter lim="800000"/>
            <a:headEnd/>
            <a:tailEnd/>
          </a:ln>
          <a:effectLst/>
        </p:spPr>
        <p:txBody>
          <a:bodyPr anchor="ctr"/>
          <a:lstStyle/>
          <a:p>
            <a:pPr>
              <a:lnSpc>
                <a:spcPct val="80000"/>
              </a:lnSpc>
            </a:pPr>
            <a:r>
              <a:rPr lang="es-ES" sz="1200" dirty="0">
                <a:solidFill>
                  <a:schemeClr val="bg1"/>
                </a:solidFill>
              </a:rPr>
              <a:t>Riesgo de que el proveedor de creación de trámites de emisión no esté prestando el servicio en las condiciones contratadas. </a:t>
            </a:r>
            <a:endParaRPr lang="es-CL" sz="1200" b="1" dirty="0">
              <a:solidFill>
                <a:schemeClr val="bg1"/>
              </a:solidFill>
              <a:cs typeface="Arial" pitchFamily="34" charset="0"/>
            </a:endParaRPr>
          </a:p>
        </p:txBody>
      </p:sp>
      <p:sp>
        <p:nvSpPr>
          <p:cNvPr id="9" name="Rounded Rectangle 8"/>
          <p:cNvSpPr/>
          <p:nvPr/>
        </p:nvSpPr>
        <p:spPr>
          <a:xfrm>
            <a:off x="227770" y="2202383"/>
            <a:ext cx="64008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Descripción</a:t>
            </a:r>
          </a:p>
        </p:txBody>
      </p:sp>
      <p:sp>
        <p:nvSpPr>
          <p:cNvPr id="10" name="Rounded Rectangle 9"/>
          <p:cNvSpPr/>
          <p:nvPr/>
        </p:nvSpPr>
        <p:spPr>
          <a:xfrm>
            <a:off x="6716066" y="1089119"/>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Categoría  de Riesgo Nivel I</a:t>
            </a:r>
          </a:p>
        </p:txBody>
      </p:sp>
      <p:sp>
        <p:nvSpPr>
          <p:cNvPr id="11" name="Rectangle 18"/>
          <p:cNvSpPr>
            <a:spLocks noChangeArrowheads="1"/>
          </p:cNvSpPr>
          <p:nvPr/>
        </p:nvSpPr>
        <p:spPr bwMode="auto">
          <a:xfrm>
            <a:off x="6716066" y="1316374"/>
            <a:ext cx="2286000" cy="365760"/>
          </a:xfrm>
          <a:prstGeom prst="rect">
            <a:avLst/>
          </a:prstGeom>
          <a:noFill/>
          <a:ln w="9525" algn="ctr">
            <a:solidFill>
              <a:schemeClr val="bg2"/>
            </a:solidFill>
            <a:miter lim="800000"/>
            <a:headEnd/>
            <a:tailEnd/>
          </a:ln>
          <a:effectLst/>
        </p:spPr>
        <p:txBody>
          <a:bodyPr anchor="ctr"/>
          <a:lstStyle/>
          <a:p>
            <a:pPr>
              <a:lnSpc>
                <a:spcPts val="1000"/>
              </a:lnSpc>
            </a:pPr>
            <a:r>
              <a:rPr lang="es-ES" sz="1100" dirty="0"/>
              <a:t>Ejecución, entrega y gestión de procesos</a:t>
            </a:r>
          </a:p>
        </p:txBody>
      </p:sp>
      <p:sp>
        <p:nvSpPr>
          <p:cNvPr id="12" name="Rounded Rectangle 11"/>
          <p:cNvSpPr/>
          <p:nvPr/>
        </p:nvSpPr>
        <p:spPr>
          <a:xfrm>
            <a:off x="6716066" y="1725169"/>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Categoría de Riesgo Nivel II</a:t>
            </a:r>
          </a:p>
        </p:txBody>
      </p:sp>
      <p:sp>
        <p:nvSpPr>
          <p:cNvPr id="13" name="Rectangle 18"/>
          <p:cNvSpPr>
            <a:spLocks noChangeArrowheads="1"/>
          </p:cNvSpPr>
          <p:nvPr/>
        </p:nvSpPr>
        <p:spPr bwMode="auto">
          <a:xfrm>
            <a:off x="6716066" y="1942710"/>
            <a:ext cx="2286000" cy="274320"/>
          </a:xfrm>
          <a:prstGeom prst="rect">
            <a:avLst/>
          </a:prstGeom>
          <a:noFill/>
          <a:ln w="9525" algn="ctr">
            <a:solidFill>
              <a:schemeClr val="bg2"/>
            </a:solidFill>
            <a:miter lim="800000"/>
            <a:headEnd/>
            <a:tailEnd/>
          </a:ln>
          <a:effectLst/>
        </p:spPr>
        <p:txBody>
          <a:bodyPr anchor="ctr"/>
          <a:lstStyle/>
          <a:p>
            <a:r>
              <a:rPr lang="es-ES" sz="1100" dirty="0"/>
              <a:t>Distribuidores y Proveedores</a:t>
            </a:r>
          </a:p>
        </p:txBody>
      </p:sp>
      <p:grpSp>
        <p:nvGrpSpPr>
          <p:cNvPr id="6" name="Group 72"/>
          <p:cNvGrpSpPr/>
          <p:nvPr/>
        </p:nvGrpSpPr>
        <p:grpSpPr>
          <a:xfrm>
            <a:off x="6716066" y="2243313"/>
            <a:ext cx="2286000" cy="504056"/>
            <a:chOff x="6716066" y="2972444"/>
            <a:chExt cx="2286000" cy="504056"/>
          </a:xfrm>
        </p:grpSpPr>
        <p:sp>
          <p:nvSpPr>
            <p:cNvPr id="15" name="Rounded Rectangle 14"/>
            <p:cNvSpPr/>
            <p:nvPr/>
          </p:nvSpPr>
          <p:spPr>
            <a:xfrm>
              <a:off x="6716066" y="2972444"/>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Categoría de Riesgo Nivel III</a:t>
              </a:r>
            </a:p>
          </p:txBody>
        </p:sp>
        <p:sp>
          <p:nvSpPr>
            <p:cNvPr id="16" name="Rectangle 18"/>
            <p:cNvSpPr>
              <a:spLocks noChangeArrowheads="1"/>
            </p:cNvSpPr>
            <p:nvPr/>
          </p:nvSpPr>
          <p:spPr bwMode="auto">
            <a:xfrm>
              <a:off x="6716066" y="3202180"/>
              <a:ext cx="2286000" cy="274320"/>
            </a:xfrm>
            <a:prstGeom prst="rect">
              <a:avLst/>
            </a:prstGeom>
            <a:noFill/>
            <a:ln w="9525" algn="ctr">
              <a:solidFill>
                <a:schemeClr val="bg2"/>
              </a:solidFill>
              <a:miter lim="800000"/>
              <a:headEnd/>
              <a:tailEnd/>
            </a:ln>
            <a:effectLst/>
          </p:spPr>
          <p:txBody>
            <a:bodyPr anchor="ctr"/>
            <a:lstStyle/>
            <a:p>
              <a:r>
                <a:rPr lang="es-ES" sz="1100" dirty="0"/>
                <a:t>Errores en entrega realizada por distribuidores y proveedores</a:t>
              </a:r>
            </a:p>
          </p:txBody>
        </p:sp>
      </p:grpSp>
      <p:sp>
        <p:nvSpPr>
          <p:cNvPr id="17" name="Rounded Rectangle 16"/>
          <p:cNvSpPr/>
          <p:nvPr/>
        </p:nvSpPr>
        <p:spPr>
          <a:xfrm>
            <a:off x="227770" y="1110038"/>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Macroproceso</a:t>
            </a:r>
          </a:p>
        </p:txBody>
      </p:sp>
      <p:sp>
        <p:nvSpPr>
          <p:cNvPr id="18" name="Rectangle 18"/>
          <p:cNvSpPr>
            <a:spLocks noChangeArrowheads="1"/>
          </p:cNvSpPr>
          <p:nvPr/>
        </p:nvSpPr>
        <p:spPr bwMode="auto">
          <a:xfrm>
            <a:off x="2568409" y="1110038"/>
            <a:ext cx="4060161" cy="182880"/>
          </a:xfrm>
          <a:prstGeom prst="rect">
            <a:avLst/>
          </a:prstGeom>
          <a:noFill/>
          <a:ln w="9525" algn="ctr">
            <a:solidFill>
              <a:schemeClr val="bg2"/>
            </a:solidFill>
            <a:miter lim="800000"/>
            <a:headEnd/>
            <a:tailEnd/>
          </a:ln>
          <a:effectLst/>
        </p:spPr>
        <p:txBody>
          <a:bodyPr anchor="ctr"/>
          <a:lstStyle/>
          <a:p>
            <a:r>
              <a:rPr lang="es-ES" sz="1100" dirty="0"/>
              <a:t>Generación de Negocio</a:t>
            </a:r>
          </a:p>
        </p:txBody>
      </p:sp>
      <p:sp>
        <p:nvSpPr>
          <p:cNvPr id="19" name="Rounded Rectangle 18"/>
          <p:cNvSpPr/>
          <p:nvPr/>
        </p:nvSpPr>
        <p:spPr>
          <a:xfrm>
            <a:off x="227770" y="1339045"/>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Proceso</a:t>
            </a:r>
          </a:p>
        </p:txBody>
      </p:sp>
      <p:sp>
        <p:nvSpPr>
          <p:cNvPr id="20" name="Rectangle 18"/>
          <p:cNvSpPr>
            <a:spLocks noChangeArrowheads="1"/>
          </p:cNvSpPr>
          <p:nvPr/>
        </p:nvSpPr>
        <p:spPr bwMode="auto">
          <a:xfrm>
            <a:off x="2568409" y="1339045"/>
            <a:ext cx="4060161" cy="182880"/>
          </a:xfrm>
          <a:prstGeom prst="rect">
            <a:avLst/>
          </a:prstGeom>
          <a:noFill/>
          <a:ln w="9525" algn="ctr">
            <a:solidFill>
              <a:schemeClr val="bg2"/>
            </a:solidFill>
            <a:miter lim="800000"/>
            <a:headEnd/>
            <a:tailEnd/>
          </a:ln>
          <a:effectLst/>
        </p:spPr>
        <p:txBody>
          <a:bodyPr anchor="ctr"/>
          <a:lstStyle/>
          <a:p>
            <a:r>
              <a:rPr lang="es-ES" sz="1100" dirty="0"/>
              <a:t>Suscripción</a:t>
            </a:r>
          </a:p>
        </p:txBody>
      </p:sp>
      <p:sp>
        <p:nvSpPr>
          <p:cNvPr id="21" name="Rectangle 29"/>
          <p:cNvSpPr>
            <a:spLocks noChangeArrowheads="1"/>
          </p:cNvSpPr>
          <p:nvPr/>
        </p:nvSpPr>
        <p:spPr bwMode="auto">
          <a:xfrm>
            <a:off x="107504" y="3423715"/>
            <a:ext cx="8961120" cy="1607926"/>
          </a:xfrm>
          <a:prstGeom prst="rect">
            <a:avLst/>
          </a:prstGeom>
          <a:noFill/>
          <a:ln w="19050" cap="rnd" algn="ctr">
            <a:solidFill>
              <a:schemeClr val="bg2"/>
            </a:solidFill>
            <a:prstDash val="sysDot"/>
            <a:miter lim="800000"/>
            <a:headEnd/>
            <a:tailEnd/>
          </a:ln>
          <a:effectLst/>
        </p:spPr>
        <p:txBody>
          <a:bodyPr wrap="none" anchor="ctr"/>
          <a:lstStyle/>
          <a:p>
            <a:endParaRPr lang="en-US">
              <a:solidFill>
                <a:srgbClr val="002060"/>
              </a:solidFill>
            </a:endParaRPr>
          </a:p>
        </p:txBody>
      </p:sp>
      <p:sp>
        <p:nvSpPr>
          <p:cNvPr id="22" name="Rounded Rectangle 21"/>
          <p:cNvSpPr/>
          <p:nvPr/>
        </p:nvSpPr>
        <p:spPr>
          <a:xfrm>
            <a:off x="902959" y="4382163"/>
            <a:ext cx="1920240" cy="182880"/>
          </a:xfrm>
          <a:prstGeom prst="roundRect">
            <a:avLst/>
          </a:prstGeom>
          <a:solidFill>
            <a:srgbClr val="DB0613"/>
          </a:solidFill>
          <a:ln w="9525" algn="ctr">
            <a:noFill/>
            <a:miter lim="800000"/>
            <a:headEnd/>
            <a:tailEnd/>
          </a:ln>
          <a:effectLst/>
        </p:spPr>
        <p:txBody>
          <a:bodyPr tIns="91440" anchor="ctr"/>
          <a:lstStyle/>
          <a:p>
            <a:pPr>
              <a:lnSpc>
                <a:spcPct val="80000"/>
              </a:lnSpc>
            </a:pPr>
            <a:r>
              <a:rPr lang="es-CL" sz="1100" b="1" dirty="0">
                <a:solidFill>
                  <a:srgbClr val="FFFFFF"/>
                </a:solidFill>
                <a:cs typeface="Arial" pitchFamily="34" charset="0"/>
              </a:rPr>
              <a:t>Pérdida Esperada Anual</a:t>
            </a:r>
          </a:p>
        </p:txBody>
      </p:sp>
      <p:sp>
        <p:nvSpPr>
          <p:cNvPr id="23" name="Rectangle 18"/>
          <p:cNvSpPr>
            <a:spLocks noChangeArrowheads="1"/>
          </p:cNvSpPr>
          <p:nvPr/>
        </p:nvSpPr>
        <p:spPr bwMode="auto">
          <a:xfrm>
            <a:off x="2859920" y="4382163"/>
            <a:ext cx="1554480" cy="182880"/>
          </a:xfrm>
          <a:prstGeom prst="rect">
            <a:avLst/>
          </a:prstGeom>
          <a:solidFill>
            <a:schemeClr val="bg1"/>
          </a:solidFill>
          <a:ln w="9525" algn="ctr">
            <a:solidFill>
              <a:schemeClr val="bg2"/>
            </a:solidFill>
            <a:miter lim="800000"/>
            <a:headEnd/>
            <a:tailEnd/>
          </a:ln>
          <a:effectLst/>
        </p:spPr>
        <p:txBody>
          <a:bodyPr anchor="ctr"/>
          <a:lstStyle/>
          <a:p>
            <a:pPr algn="ctr"/>
            <a:r>
              <a:rPr lang="es-ES" sz="1100" dirty="0"/>
              <a:t>S/. 497,244.00</a:t>
            </a:r>
            <a:endParaRPr lang="es-ES" sz="1100" dirty="0">
              <a:solidFill>
                <a:srgbClr val="002060"/>
              </a:solidFill>
            </a:endParaRPr>
          </a:p>
        </p:txBody>
      </p:sp>
      <p:sp>
        <p:nvSpPr>
          <p:cNvPr id="24" name="Rounded Rectangle 23"/>
          <p:cNvSpPr/>
          <p:nvPr/>
        </p:nvSpPr>
        <p:spPr>
          <a:xfrm>
            <a:off x="902959" y="4611775"/>
            <a:ext cx="192024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VaR Cualitativo Anual</a:t>
            </a:r>
          </a:p>
        </p:txBody>
      </p:sp>
      <p:sp>
        <p:nvSpPr>
          <p:cNvPr id="25" name="Rectangle 18"/>
          <p:cNvSpPr>
            <a:spLocks noChangeArrowheads="1"/>
          </p:cNvSpPr>
          <p:nvPr/>
        </p:nvSpPr>
        <p:spPr bwMode="auto">
          <a:xfrm>
            <a:off x="2859920" y="4611775"/>
            <a:ext cx="1554480" cy="182880"/>
          </a:xfrm>
          <a:prstGeom prst="rect">
            <a:avLst/>
          </a:prstGeom>
          <a:solidFill>
            <a:schemeClr val="bg1"/>
          </a:solidFill>
          <a:ln w="9525" algn="ctr">
            <a:solidFill>
              <a:schemeClr val="bg2"/>
            </a:solidFill>
            <a:miter lim="800000"/>
            <a:headEnd/>
            <a:tailEnd/>
          </a:ln>
          <a:effectLst/>
        </p:spPr>
        <p:txBody>
          <a:bodyPr anchor="ctr"/>
          <a:lstStyle/>
          <a:p>
            <a:pPr algn="ctr"/>
            <a:r>
              <a:rPr lang="es-ES" sz="1100" dirty="0"/>
              <a:t>S/. 1,944,333.70</a:t>
            </a:r>
            <a:endParaRPr lang="es-ES" sz="1100" dirty="0">
              <a:solidFill>
                <a:srgbClr val="002060"/>
              </a:solidFill>
            </a:endParaRPr>
          </a:p>
        </p:txBody>
      </p:sp>
      <p:sp>
        <p:nvSpPr>
          <p:cNvPr id="26" name="Rounded Rectangle 25"/>
          <p:cNvSpPr/>
          <p:nvPr/>
        </p:nvSpPr>
        <p:spPr>
          <a:xfrm>
            <a:off x="891084" y="3618777"/>
            <a:ext cx="192024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Frecuencia  Evento Pérdida</a:t>
            </a:r>
          </a:p>
        </p:txBody>
      </p:sp>
      <p:sp>
        <p:nvSpPr>
          <p:cNvPr id="27" name="Rectangle 18"/>
          <p:cNvSpPr>
            <a:spLocks noChangeArrowheads="1"/>
          </p:cNvSpPr>
          <p:nvPr/>
        </p:nvSpPr>
        <p:spPr bwMode="auto">
          <a:xfrm>
            <a:off x="2859920" y="3618777"/>
            <a:ext cx="1554480" cy="182880"/>
          </a:xfrm>
          <a:prstGeom prst="rect">
            <a:avLst/>
          </a:prstGeom>
          <a:solidFill>
            <a:schemeClr val="bg1"/>
          </a:solidFill>
          <a:ln w="9525" algn="ctr">
            <a:solidFill>
              <a:schemeClr val="bg2"/>
            </a:solidFill>
            <a:miter lim="800000"/>
            <a:headEnd/>
            <a:tailEnd/>
          </a:ln>
          <a:effectLst/>
        </p:spPr>
        <p:txBody>
          <a:bodyPr anchor="ctr"/>
          <a:lstStyle/>
          <a:p>
            <a:pPr algn="ctr"/>
            <a:r>
              <a:rPr lang="es-ES" sz="1100" dirty="0"/>
              <a:t>1 vez por mes</a:t>
            </a:r>
          </a:p>
        </p:txBody>
      </p:sp>
      <p:sp>
        <p:nvSpPr>
          <p:cNvPr id="28" name="Rounded Rectangle 27"/>
          <p:cNvSpPr/>
          <p:nvPr/>
        </p:nvSpPr>
        <p:spPr>
          <a:xfrm>
            <a:off x="891084" y="3848389"/>
            <a:ext cx="192024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Impacto Medio Evento</a:t>
            </a:r>
          </a:p>
        </p:txBody>
      </p:sp>
      <p:sp>
        <p:nvSpPr>
          <p:cNvPr id="29" name="Rectangle 18"/>
          <p:cNvSpPr>
            <a:spLocks noChangeArrowheads="1"/>
          </p:cNvSpPr>
          <p:nvPr/>
        </p:nvSpPr>
        <p:spPr bwMode="auto">
          <a:xfrm>
            <a:off x="2859920" y="3848389"/>
            <a:ext cx="1554480" cy="182880"/>
          </a:xfrm>
          <a:prstGeom prst="rect">
            <a:avLst/>
          </a:prstGeom>
          <a:solidFill>
            <a:schemeClr val="bg1"/>
          </a:solidFill>
          <a:ln w="9525" algn="ctr">
            <a:solidFill>
              <a:schemeClr val="bg2"/>
            </a:solidFill>
            <a:miter lim="800000"/>
            <a:headEnd/>
            <a:tailEnd/>
          </a:ln>
          <a:effectLst/>
        </p:spPr>
        <p:txBody>
          <a:bodyPr anchor="ctr"/>
          <a:lstStyle/>
          <a:p>
            <a:pPr algn="ctr"/>
            <a:r>
              <a:rPr lang="es-ES" sz="1100" dirty="0"/>
              <a:t>S/. 41,437.00</a:t>
            </a:r>
            <a:endParaRPr lang="es-ES" sz="1100" dirty="0">
              <a:solidFill>
                <a:srgbClr val="002060"/>
              </a:solidFill>
            </a:endParaRPr>
          </a:p>
        </p:txBody>
      </p:sp>
      <p:sp>
        <p:nvSpPr>
          <p:cNvPr id="30" name="Rounded Rectangle 29"/>
          <p:cNvSpPr/>
          <p:nvPr/>
        </p:nvSpPr>
        <p:spPr>
          <a:xfrm>
            <a:off x="891084" y="4083969"/>
            <a:ext cx="192024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Impacto Peor Escenario</a:t>
            </a:r>
          </a:p>
        </p:txBody>
      </p:sp>
      <p:sp>
        <p:nvSpPr>
          <p:cNvPr id="31" name="Rectangle 18"/>
          <p:cNvSpPr>
            <a:spLocks noChangeArrowheads="1"/>
          </p:cNvSpPr>
          <p:nvPr/>
        </p:nvSpPr>
        <p:spPr bwMode="auto">
          <a:xfrm>
            <a:off x="2859920" y="4083969"/>
            <a:ext cx="1554480" cy="182880"/>
          </a:xfrm>
          <a:prstGeom prst="rect">
            <a:avLst/>
          </a:prstGeom>
          <a:solidFill>
            <a:schemeClr val="bg1"/>
          </a:solidFill>
          <a:ln w="9525" algn="ctr">
            <a:solidFill>
              <a:schemeClr val="bg2"/>
            </a:solidFill>
            <a:miter lim="800000"/>
            <a:headEnd/>
            <a:tailEnd/>
          </a:ln>
          <a:effectLst/>
        </p:spPr>
        <p:txBody>
          <a:bodyPr anchor="ctr"/>
          <a:lstStyle/>
          <a:p>
            <a:pPr algn="ctr"/>
            <a:r>
              <a:rPr lang="es-ES" sz="1100" dirty="0"/>
              <a:t>S/. 828,750.00</a:t>
            </a:r>
            <a:endParaRPr lang="es-ES" sz="1100" dirty="0">
              <a:solidFill>
                <a:srgbClr val="002060"/>
              </a:solidFill>
            </a:endParaRPr>
          </a:p>
        </p:txBody>
      </p:sp>
      <p:sp>
        <p:nvSpPr>
          <p:cNvPr id="32" name="AutoShape 47"/>
          <p:cNvSpPr>
            <a:spLocks noChangeAspect="1" noChangeArrowheads="1"/>
          </p:cNvSpPr>
          <p:nvPr/>
        </p:nvSpPr>
        <p:spPr bwMode="blackWhite">
          <a:xfrm>
            <a:off x="263033" y="3533122"/>
            <a:ext cx="492543" cy="1339083"/>
          </a:xfrm>
          <a:prstGeom prst="rightArrow">
            <a:avLst>
              <a:gd name="adj1" fmla="val 100000"/>
              <a:gd name="adj2" fmla="val 11009"/>
            </a:avLst>
          </a:prstGeom>
          <a:solidFill>
            <a:srgbClr val="969696"/>
          </a:solidFill>
          <a:ln w="12700">
            <a:noFill/>
            <a:miter lim="800000"/>
            <a:headEnd/>
            <a:tailEnd/>
          </a:ln>
          <a:effectLst>
            <a:outerShdw dist="35921" dir="2700000" algn="ctr" rotWithShape="0">
              <a:schemeClr val="bg2"/>
            </a:outerShdw>
          </a:effectLst>
        </p:spPr>
        <p:txBody>
          <a:bodyPr vert="vert270" anchor="ctr"/>
          <a:lstStyle/>
          <a:p>
            <a:pPr algn="ctr">
              <a:lnSpc>
                <a:spcPts val="1000"/>
              </a:lnSpc>
            </a:pPr>
            <a:r>
              <a:rPr lang="es-ES" sz="1200" b="1" noProof="1">
                <a:solidFill>
                  <a:srgbClr val="FFFFFF"/>
                </a:solidFill>
                <a:cs typeface="Arial" charset="0"/>
              </a:rPr>
              <a:t>Evaluación Riesgo Operacional</a:t>
            </a:r>
          </a:p>
        </p:txBody>
      </p:sp>
      <p:sp>
        <p:nvSpPr>
          <p:cNvPr id="59" name="Rounded Rectangle 58"/>
          <p:cNvSpPr/>
          <p:nvPr/>
        </p:nvSpPr>
        <p:spPr>
          <a:xfrm>
            <a:off x="223049" y="1554311"/>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Subproceso</a:t>
            </a:r>
          </a:p>
        </p:txBody>
      </p:sp>
      <p:sp>
        <p:nvSpPr>
          <p:cNvPr id="60" name="Rectangle 18"/>
          <p:cNvSpPr>
            <a:spLocks noChangeArrowheads="1"/>
          </p:cNvSpPr>
          <p:nvPr/>
        </p:nvSpPr>
        <p:spPr bwMode="auto">
          <a:xfrm>
            <a:off x="2563688" y="1554311"/>
            <a:ext cx="4064882" cy="182880"/>
          </a:xfrm>
          <a:prstGeom prst="rect">
            <a:avLst/>
          </a:prstGeom>
          <a:noFill/>
          <a:ln w="9525" algn="ctr">
            <a:solidFill>
              <a:schemeClr val="bg2"/>
            </a:solidFill>
            <a:miter lim="800000"/>
            <a:headEnd/>
            <a:tailEnd/>
          </a:ln>
          <a:effectLst/>
        </p:spPr>
        <p:txBody>
          <a:bodyPr anchor="ctr"/>
          <a:lstStyle/>
          <a:p>
            <a:r>
              <a:rPr lang="es-ES" sz="1100" dirty="0"/>
              <a:t>Inspección Técnica</a:t>
            </a:r>
          </a:p>
        </p:txBody>
      </p:sp>
      <p:sp>
        <p:nvSpPr>
          <p:cNvPr id="57" name="Rounded Rectangle 56"/>
          <p:cNvSpPr/>
          <p:nvPr/>
        </p:nvSpPr>
        <p:spPr>
          <a:xfrm>
            <a:off x="223049" y="1771093"/>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Línea de Negocio</a:t>
            </a:r>
          </a:p>
        </p:txBody>
      </p:sp>
      <p:sp>
        <p:nvSpPr>
          <p:cNvPr id="58" name="Rectangle 18"/>
          <p:cNvSpPr>
            <a:spLocks noChangeArrowheads="1"/>
          </p:cNvSpPr>
          <p:nvPr/>
        </p:nvSpPr>
        <p:spPr bwMode="auto">
          <a:xfrm>
            <a:off x="2563688" y="1771093"/>
            <a:ext cx="4064882" cy="182880"/>
          </a:xfrm>
          <a:prstGeom prst="rect">
            <a:avLst/>
          </a:prstGeom>
          <a:noFill/>
          <a:ln w="9525" algn="ctr">
            <a:solidFill>
              <a:schemeClr val="bg2"/>
            </a:solidFill>
            <a:miter lim="800000"/>
            <a:headEnd/>
            <a:tailEnd/>
          </a:ln>
          <a:effectLst/>
        </p:spPr>
        <p:txBody>
          <a:bodyPr anchor="ctr"/>
          <a:lstStyle/>
          <a:p>
            <a:r>
              <a:rPr lang="es-ES" sz="1100" dirty="0"/>
              <a:t>Ramos Generales</a:t>
            </a:r>
          </a:p>
        </p:txBody>
      </p:sp>
      <p:sp>
        <p:nvSpPr>
          <p:cNvPr id="61" name="Rounded Rectangle 60"/>
          <p:cNvSpPr/>
          <p:nvPr/>
        </p:nvSpPr>
        <p:spPr>
          <a:xfrm>
            <a:off x="223049" y="1986359"/>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Responsable</a:t>
            </a:r>
          </a:p>
        </p:txBody>
      </p:sp>
      <p:sp>
        <p:nvSpPr>
          <p:cNvPr id="62" name="Rectangle 18"/>
          <p:cNvSpPr>
            <a:spLocks noChangeArrowheads="1"/>
          </p:cNvSpPr>
          <p:nvPr/>
        </p:nvSpPr>
        <p:spPr bwMode="auto">
          <a:xfrm>
            <a:off x="2558967" y="1986359"/>
            <a:ext cx="4069603" cy="182880"/>
          </a:xfrm>
          <a:prstGeom prst="rect">
            <a:avLst/>
          </a:prstGeom>
          <a:noFill/>
          <a:ln w="9525" algn="ctr">
            <a:solidFill>
              <a:schemeClr val="bg2"/>
            </a:solidFill>
            <a:miter lim="800000"/>
            <a:headEnd/>
            <a:tailEnd/>
          </a:ln>
          <a:effectLst/>
        </p:spPr>
        <p:txBody>
          <a:bodyPr anchor="ctr"/>
          <a:lstStyle/>
          <a:p>
            <a:r>
              <a:rPr lang="es-ES" sz="1100" dirty="0"/>
              <a:t>Coordinador de procesos  de emisión</a:t>
            </a:r>
          </a:p>
        </p:txBody>
      </p:sp>
      <p:sp>
        <p:nvSpPr>
          <p:cNvPr id="63" name="Rounded Rectangle 14"/>
          <p:cNvSpPr/>
          <p:nvPr/>
        </p:nvSpPr>
        <p:spPr>
          <a:xfrm>
            <a:off x="6716066" y="2817311"/>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Origen del Riesgo</a:t>
            </a:r>
          </a:p>
        </p:txBody>
      </p:sp>
      <p:sp>
        <p:nvSpPr>
          <p:cNvPr id="64" name="Rectangle 18"/>
          <p:cNvSpPr>
            <a:spLocks noChangeArrowheads="1"/>
          </p:cNvSpPr>
          <p:nvPr/>
        </p:nvSpPr>
        <p:spPr bwMode="auto">
          <a:xfrm>
            <a:off x="6716066" y="3032576"/>
            <a:ext cx="2286000" cy="270000"/>
          </a:xfrm>
          <a:prstGeom prst="rect">
            <a:avLst/>
          </a:prstGeom>
          <a:noFill/>
          <a:ln w="9525" algn="ctr">
            <a:solidFill>
              <a:schemeClr val="bg2"/>
            </a:solidFill>
            <a:miter lim="800000"/>
            <a:headEnd/>
            <a:tailEnd/>
          </a:ln>
          <a:effectLst/>
        </p:spPr>
        <p:txBody>
          <a:bodyPr anchor="ctr"/>
          <a:lstStyle/>
          <a:p>
            <a:r>
              <a:rPr lang="es-ES" sz="1100" dirty="0">
                <a:solidFill>
                  <a:srgbClr val="000000"/>
                </a:solidFill>
              </a:rPr>
              <a:t>Relaciones con Terceros</a:t>
            </a:r>
          </a:p>
        </p:txBody>
      </p:sp>
      <p:sp>
        <p:nvSpPr>
          <p:cNvPr id="65" name="AutoShape 179"/>
          <p:cNvSpPr>
            <a:spLocks noChangeArrowheads="1"/>
          </p:cNvSpPr>
          <p:nvPr/>
        </p:nvSpPr>
        <p:spPr bwMode="auto">
          <a:xfrm>
            <a:off x="4932039" y="3537391"/>
            <a:ext cx="4037169" cy="864000"/>
          </a:xfrm>
          <a:prstGeom prst="roundRect">
            <a:avLst>
              <a:gd name="adj" fmla="val 9481"/>
            </a:avLst>
          </a:prstGeom>
          <a:solidFill>
            <a:schemeClr val="accent1">
              <a:lumMod val="20000"/>
              <a:lumOff val="80000"/>
            </a:schemeClr>
          </a:solidFill>
          <a:ln w="9525" algn="ctr">
            <a:noFill/>
            <a:round/>
            <a:headEnd/>
            <a:tailEnd/>
          </a:ln>
          <a:effectLst/>
        </p:spPr>
        <p:txBody>
          <a:bodyPr wrap="none" anchor="ctr"/>
          <a:lstStyle/>
          <a:p>
            <a:endParaRPr lang="es-CL">
              <a:solidFill>
                <a:srgbClr val="002060"/>
              </a:solidFill>
            </a:endParaRPr>
          </a:p>
        </p:txBody>
      </p:sp>
      <p:sp>
        <p:nvSpPr>
          <p:cNvPr id="66" name="AutoShape 47"/>
          <p:cNvSpPr>
            <a:spLocks noChangeArrowheads="1"/>
          </p:cNvSpPr>
          <p:nvPr/>
        </p:nvSpPr>
        <p:spPr bwMode="blackWhite">
          <a:xfrm>
            <a:off x="4678512" y="3538893"/>
            <a:ext cx="353942" cy="864000"/>
          </a:xfrm>
          <a:prstGeom prst="rightArrow">
            <a:avLst>
              <a:gd name="adj1" fmla="val 100000"/>
              <a:gd name="adj2" fmla="val 11009"/>
            </a:avLst>
          </a:prstGeom>
          <a:solidFill>
            <a:srgbClr val="969696"/>
          </a:solidFill>
          <a:ln w="12700">
            <a:noFill/>
            <a:miter lim="800000"/>
            <a:headEnd/>
            <a:tailEnd/>
          </a:ln>
          <a:effectLst>
            <a:outerShdw dist="35921" dir="2700000" algn="ctr" rotWithShape="0">
              <a:schemeClr val="bg2"/>
            </a:outerShdw>
          </a:effectLst>
        </p:spPr>
        <p:txBody>
          <a:bodyPr vert="vert270" anchor="ctr"/>
          <a:lstStyle/>
          <a:p>
            <a:pPr algn="ctr">
              <a:lnSpc>
                <a:spcPts val="1000"/>
              </a:lnSpc>
            </a:pPr>
            <a:r>
              <a:rPr lang="es-ES" sz="1100" b="1" noProof="1">
                <a:solidFill>
                  <a:srgbClr val="FFFFFF"/>
                </a:solidFill>
                <a:cs typeface="Arial" charset="0"/>
              </a:rPr>
              <a:t>Impacto Reputacional</a:t>
            </a:r>
          </a:p>
        </p:txBody>
      </p:sp>
      <p:sp>
        <p:nvSpPr>
          <p:cNvPr id="67" name="Rectangle 18"/>
          <p:cNvSpPr>
            <a:spLocks noChangeArrowheads="1"/>
          </p:cNvSpPr>
          <p:nvPr/>
        </p:nvSpPr>
        <p:spPr bwMode="auto">
          <a:xfrm>
            <a:off x="8334310" y="3612658"/>
            <a:ext cx="548640" cy="170094"/>
          </a:xfrm>
          <a:prstGeom prst="rect">
            <a:avLst/>
          </a:prstGeom>
          <a:solidFill>
            <a:schemeClr val="bg1"/>
          </a:solidFill>
          <a:ln w="9525" algn="ctr">
            <a:solidFill>
              <a:schemeClr val="bg2"/>
            </a:solidFill>
            <a:miter lim="800000"/>
            <a:headEnd/>
            <a:tailEnd/>
          </a:ln>
          <a:effectLst/>
        </p:spPr>
        <p:txBody>
          <a:bodyPr anchor="ctr"/>
          <a:lstStyle/>
          <a:p>
            <a:pPr algn="ctr"/>
            <a:r>
              <a:rPr lang="es-ES" sz="1100" dirty="0"/>
              <a:t>4</a:t>
            </a:r>
          </a:p>
        </p:txBody>
      </p:sp>
      <p:sp>
        <p:nvSpPr>
          <p:cNvPr id="68" name="Rounded Rectangle 67"/>
          <p:cNvSpPr/>
          <p:nvPr/>
        </p:nvSpPr>
        <p:spPr>
          <a:xfrm>
            <a:off x="5102950" y="3612658"/>
            <a:ext cx="3132000" cy="170094"/>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Afectación a Clientes</a:t>
            </a:r>
          </a:p>
        </p:txBody>
      </p:sp>
      <p:sp>
        <p:nvSpPr>
          <p:cNvPr id="69" name="Rectangle 18"/>
          <p:cNvSpPr>
            <a:spLocks noChangeArrowheads="1"/>
          </p:cNvSpPr>
          <p:nvPr/>
        </p:nvSpPr>
        <p:spPr bwMode="auto">
          <a:xfrm>
            <a:off x="5102950" y="3830815"/>
            <a:ext cx="3780000" cy="469509"/>
          </a:xfrm>
          <a:prstGeom prst="rect">
            <a:avLst/>
          </a:prstGeom>
          <a:solidFill>
            <a:schemeClr val="bg1"/>
          </a:solidFill>
          <a:ln w="9525" algn="ctr">
            <a:solidFill>
              <a:schemeClr val="bg2"/>
            </a:solidFill>
            <a:miter lim="800000"/>
            <a:headEnd/>
            <a:tailEnd/>
          </a:ln>
          <a:effectLst/>
        </p:spPr>
        <p:txBody>
          <a:bodyPr anchor="ctr"/>
          <a:lstStyle/>
          <a:p>
            <a:r>
              <a:rPr lang="es-ES" sz="1100" dirty="0">
                <a:solidFill>
                  <a:srgbClr val="000000"/>
                </a:solidFill>
              </a:rPr>
              <a:t>La exposición de la imagen es interna y externa con un nivel de impacto alto.</a:t>
            </a:r>
          </a:p>
        </p:txBody>
      </p:sp>
      <p:sp>
        <p:nvSpPr>
          <p:cNvPr id="73" name="AutoShape 179"/>
          <p:cNvSpPr>
            <a:spLocks noChangeArrowheads="1"/>
          </p:cNvSpPr>
          <p:nvPr/>
        </p:nvSpPr>
        <p:spPr bwMode="auto">
          <a:xfrm>
            <a:off x="4927319" y="4441608"/>
            <a:ext cx="4037169" cy="892800"/>
          </a:xfrm>
          <a:prstGeom prst="roundRect">
            <a:avLst>
              <a:gd name="adj" fmla="val 9481"/>
            </a:avLst>
          </a:prstGeom>
          <a:solidFill>
            <a:schemeClr val="accent1">
              <a:lumMod val="20000"/>
              <a:lumOff val="80000"/>
            </a:schemeClr>
          </a:solidFill>
          <a:ln w="9525" algn="ctr">
            <a:noFill/>
            <a:round/>
            <a:headEnd/>
            <a:tailEnd/>
          </a:ln>
          <a:effectLst/>
        </p:spPr>
        <p:txBody>
          <a:bodyPr wrap="none" anchor="ctr"/>
          <a:lstStyle/>
          <a:p>
            <a:endParaRPr lang="es-CL">
              <a:solidFill>
                <a:srgbClr val="002060"/>
              </a:solidFill>
            </a:endParaRPr>
          </a:p>
        </p:txBody>
      </p:sp>
      <p:sp>
        <p:nvSpPr>
          <p:cNvPr id="74" name="AutoShape 47"/>
          <p:cNvSpPr>
            <a:spLocks noChangeArrowheads="1"/>
          </p:cNvSpPr>
          <p:nvPr/>
        </p:nvSpPr>
        <p:spPr bwMode="blackWhite">
          <a:xfrm>
            <a:off x="4673792" y="4443110"/>
            <a:ext cx="352800" cy="892800"/>
          </a:xfrm>
          <a:prstGeom prst="rightArrow">
            <a:avLst>
              <a:gd name="adj1" fmla="val 100000"/>
              <a:gd name="adj2" fmla="val 11009"/>
            </a:avLst>
          </a:prstGeom>
          <a:solidFill>
            <a:srgbClr val="969696"/>
          </a:solidFill>
          <a:ln w="12700">
            <a:noFill/>
            <a:miter lim="800000"/>
            <a:headEnd/>
            <a:tailEnd/>
          </a:ln>
          <a:effectLst>
            <a:outerShdw dist="35921" dir="2700000" algn="ctr" rotWithShape="0">
              <a:schemeClr val="bg2"/>
            </a:outerShdw>
          </a:effectLst>
        </p:spPr>
        <p:txBody>
          <a:bodyPr vert="vert270" anchor="ctr"/>
          <a:lstStyle/>
          <a:p>
            <a:pPr algn="ctr">
              <a:lnSpc>
                <a:spcPts val="1000"/>
              </a:lnSpc>
            </a:pPr>
            <a:r>
              <a:rPr lang="es-ES" sz="1100" b="1" noProof="1">
                <a:solidFill>
                  <a:srgbClr val="FFFFFF"/>
                </a:solidFill>
                <a:cs typeface="Arial" charset="0"/>
              </a:rPr>
              <a:t>Cuestionarios</a:t>
            </a:r>
          </a:p>
        </p:txBody>
      </p:sp>
      <p:sp>
        <p:nvSpPr>
          <p:cNvPr id="76" name="Rounded Rectangle 38"/>
          <p:cNvSpPr/>
          <p:nvPr/>
        </p:nvSpPr>
        <p:spPr>
          <a:xfrm>
            <a:off x="5098230" y="4516875"/>
            <a:ext cx="3132000" cy="170094"/>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Criterios de Evaluación</a:t>
            </a:r>
          </a:p>
        </p:txBody>
      </p:sp>
      <p:sp>
        <p:nvSpPr>
          <p:cNvPr id="78" name="Text Box 30"/>
          <p:cNvSpPr txBox="1">
            <a:spLocks noChangeArrowheads="1"/>
          </p:cNvSpPr>
          <p:nvPr/>
        </p:nvSpPr>
        <p:spPr bwMode="auto">
          <a:xfrm>
            <a:off x="190746" y="4977551"/>
            <a:ext cx="3996000" cy="276999"/>
          </a:xfrm>
          <a:prstGeom prst="rect">
            <a:avLst/>
          </a:prstGeom>
          <a:noFill/>
          <a:ln w="9525" algn="ctr">
            <a:noFill/>
            <a:miter lim="800000"/>
            <a:headEnd/>
            <a:tailEnd/>
          </a:ln>
          <a:effectLst/>
        </p:spPr>
        <p:txBody>
          <a:bodyPr wrap="square">
            <a:spAutoFit/>
          </a:bodyPr>
          <a:lstStyle/>
          <a:p>
            <a:pPr>
              <a:spcBef>
                <a:spcPct val="50000"/>
              </a:spcBef>
            </a:pPr>
            <a:r>
              <a:rPr lang="es-CL" sz="1200" b="1" i="1" dirty="0">
                <a:solidFill>
                  <a:srgbClr val="A3A3E0"/>
                </a:solidFill>
              </a:rPr>
              <a:t>Resultados valoración de controles / factores mitigantes</a:t>
            </a:r>
            <a:endParaRPr lang="es-ES" sz="1200" b="1" i="1" dirty="0">
              <a:solidFill>
                <a:srgbClr val="A3A3E0"/>
              </a:solidFill>
            </a:endParaRPr>
          </a:p>
        </p:txBody>
      </p:sp>
      <p:sp>
        <p:nvSpPr>
          <p:cNvPr id="79" name="AutoShape 179"/>
          <p:cNvSpPr>
            <a:spLocks noChangeArrowheads="1"/>
          </p:cNvSpPr>
          <p:nvPr/>
        </p:nvSpPr>
        <p:spPr bwMode="auto">
          <a:xfrm>
            <a:off x="534831" y="5200032"/>
            <a:ext cx="4037169" cy="864000"/>
          </a:xfrm>
          <a:prstGeom prst="roundRect">
            <a:avLst>
              <a:gd name="adj" fmla="val 9481"/>
            </a:avLst>
          </a:prstGeom>
          <a:solidFill>
            <a:schemeClr val="accent1">
              <a:lumMod val="20000"/>
              <a:lumOff val="80000"/>
            </a:schemeClr>
          </a:solidFill>
          <a:ln w="9525" algn="ctr">
            <a:noFill/>
            <a:round/>
            <a:headEnd/>
            <a:tailEnd/>
          </a:ln>
          <a:effectLst/>
        </p:spPr>
        <p:txBody>
          <a:bodyPr wrap="none" anchor="ctr"/>
          <a:lstStyle/>
          <a:p>
            <a:endParaRPr lang="es-CL">
              <a:solidFill>
                <a:srgbClr val="002060"/>
              </a:solidFill>
            </a:endParaRPr>
          </a:p>
        </p:txBody>
      </p:sp>
      <p:sp>
        <p:nvSpPr>
          <p:cNvPr id="80" name="AutoShape 47"/>
          <p:cNvSpPr>
            <a:spLocks noChangeArrowheads="1"/>
          </p:cNvSpPr>
          <p:nvPr/>
        </p:nvSpPr>
        <p:spPr bwMode="blackWhite">
          <a:xfrm>
            <a:off x="281304" y="5201534"/>
            <a:ext cx="353942" cy="864000"/>
          </a:xfrm>
          <a:prstGeom prst="rightArrow">
            <a:avLst>
              <a:gd name="adj1" fmla="val 100000"/>
              <a:gd name="adj2" fmla="val 11009"/>
            </a:avLst>
          </a:prstGeom>
          <a:solidFill>
            <a:srgbClr val="969696"/>
          </a:solidFill>
          <a:ln w="12700">
            <a:noFill/>
            <a:miter lim="800000"/>
            <a:headEnd/>
            <a:tailEnd/>
          </a:ln>
          <a:effectLst>
            <a:outerShdw dist="35921" dir="2700000" algn="ctr" rotWithShape="0">
              <a:schemeClr val="bg2"/>
            </a:outerShdw>
          </a:effectLst>
        </p:spPr>
        <p:txBody>
          <a:bodyPr vert="vert270" anchor="ctr"/>
          <a:lstStyle/>
          <a:p>
            <a:pPr algn="ctr">
              <a:lnSpc>
                <a:spcPts val="1000"/>
              </a:lnSpc>
            </a:pPr>
            <a:r>
              <a:rPr lang="es-ES" sz="1100" b="1" noProof="1">
                <a:solidFill>
                  <a:srgbClr val="FFFFFF"/>
                </a:solidFill>
                <a:cs typeface="Arial" charset="0"/>
              </a:rPr>
              <a:t>Evaluación de Controles</a:t>
            </a:r>
          </a:p>
        </p:txBody>
      </p:sp>
      <p:sp>
        <p:nvSpPr>
          <p:cNvPr id="81" name="Rectangle 18"/>
          <p:cNvSpPr>
            <a:spLocks noChangeArrowheads="1"/>
          </p:cNvSpPr>
          <p:nvPr/>
        </p:nvSpPr>
        <p:spPr bwMode="auto">
          <a:xfrm>
            <a:off x="3937102" y="5275299"/>
            <a:ext cx="548640" cy="170094"/>
          </a:xfrm>
          <a:prstGeom prst="rect">
            <a:avLst/>
          </a:prstGeom>
          <a:solidFill>
            <a:schemeClr val="bg1"/>
          </a:solidFill>
          <a:ln w="9525" algn="ctr">
            <a:solidFill>
              <a:schemeClr val="bg2"/>
            </a:solidFill>
            <a:miter lim="800000"/>
            <a:headEnd/>
            <a:tailEnd/>
          </a:ln>
          <a:effectLst/>
        </p:spPr>
        <p:txBody>
          <a:bodyPr anchor="ctr"/>
          <a:lstStyle/>
          <a:p>
            <a:pPr algn="ctr"/>
            <a:r>
              <a:rPr lang="es-ES" sz="1100" dirty="0">
                <a:solidFill>
                  <a:srgbClr val="002060"/>
                </a:solidFill>
              </a:rPr>
              <a:t>0</a:t>
            </a:r>
          </a:p>
        </p:txBody>
      </p:sp>
      <p:sp>
        <p:nvSpPr>
          <p:cNvPr id="82" name="Rounded Rectangle 38"/>
          <p:cNvSpPr/>
          <p:nvPr/>
        </p:nvSpPr>
        <p:spPr>
          <a:xfrm>
            <a:off x="705742" y="5275299"/>
            <a:ext cx="3132000" cy="170094"/>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Controles asociados al riesgo</a:t>
            </a:r>
          </a:p>
        </p:txBody>
      </p:sp>
      <p:sp>
        <p:nvSpPr>
          <p:cNvPr id="83" name="Rectangle 18"/>
          <p:cNvSpPr>
            <a:spLocks noChangeArrowheads="1"/>
          </p:cNvSpPr>
          <p:nvPr/>
        </p:nvSpPr>
        <p:spPr bwMode="auto">
          <a:xfrm>
            <a:off x="705742" y="5496307"/>
            <a:ext cx="3780000" cy="469509"/>
          </a:xfrm>
          <a:prstGeom prst="rect">
            <a:avLst/>
          </a:prstGeom>
          <a:solidFill>
            <a:schemeClr val="bg1"/>
          </a:solidFill>
          <a:ln w="9525" algn="ctr">
            <a:solidFill>
              <a:schemeClr val="bg2"/>
            </a:solidFill>
            <a:miter lim="800000"/>
            <a:headEnd/>
            <a:tailEnd/>
          </a:ln>
          <a:effectLst/>
        </p:spPr>
        <p:txBody>
          <a:bodyPr anchor="ctr"/>
          <a:lstStyle/>
          <a:p>
            <a:r>
              <a:rPr lang="es-PE" sz="1100" dirty="0">
                <a:solidFill>
                  <a:srgbClr val="000000"/>
                </a:solidFill>
              </a:rPr>
              <a:t>No existe un control definido</a:t>
            </a:r>
            <a:endParaRPr lang="es-ES" sz="1100" dirty="0">
              <a:solidFill>
                <a:srgbClr val="000000"/>
              </a:solidFill>
            </a:endParaRPr>
          </a:p>
        </p:txBody>
      </p:sp>
      <p:sp>
        <p:nvSpPr>
          <p:cNvPr id="84" name="Rectangle 18"/>
          <p:cNvSpPr>
            <a:spLocks noChangeArrowheads="1"/>
          </p:cNvSpPr>
          <p:nvPr/>
        </p:nvSpPr>
        <p:spPr bwMode="auto">
          <a:xfrm>
            <a:off x="5102950" y="4730048"/>
            <a:ext cx="3780000" cy="469509"/>
          </a:xfrm>
          <a:prstGeom prst="rect">
            <a:avLst/>
          </a:prstGeom>
          <a:solidFill>
            <a:schemeClr val="bg1"/>
          </a:solidFill>
          <a:ln w="9525" algn="ctr">
            <a:solidFill>
              <a:schemeClr val="bg2"/>
            </a:solidFill>
            <a:miter lim="800000"/>
            <a:headEnd/>
            <a:tailEnd/>
          </a:ln>
          <a:effectLst/>
        </p:spPr>
        <p:txBody>
          <a:bodyPr anchor="ctr"/>
          <a:lstStyle/>
          <a:p>
            <a:r>
              <a:rPr lang="es-ES" sz="1100" dirty="0"/>
              <a:t>Impacto patrimonial: Nº trámites al mes (50.000), el 1% tiene error (500), 5% de éstos podrían convertirse en pólizas fallidas (25) . Póliza media $650,  Impacto: $650 * 25 * 2,55 </a:t>
            </a:r>
            <a:endParaRPr lang="es-ES" sz="1100" dirty="0">
              <a:solidFill>
                <a:srgbClr val="000000"/>
              </a:solidFill>
            </a:endParaRP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dirty="0"/>
              <a:t>Anexo: Ficha Individual Riesgos Operacionales</a:t>
            </a:r>
          </a:p>
        </p:txBody>
      </p:sp>
      <p:sp>
        <p:nvSpPr>
          <p:cNvPr id="4" name="Rounded Rectangle 3"/>
          <p:cNvSpPr/>
          <p:nvPr/>
        </p:nvSpPr>
        <p:spPr>
          <a:xfrm>
            <a:off x="214496" y="764704"/>
            <a:ext cx="397064" cy="274320"/>
          </a:xfrm>
          <a:prstGeom prst="roundRect">
            <a:avLst/>
          </a:prstGeom>
          <a:solidFill>
            <a:srgbClr val="DB0613"/>
          </a:solidFill>
          <a:ln w="9525" algn="ctr">
            <a:noFill/>
            <a:miter lim="800000"/>
            <a:headEnd/>
            <a:tailEnd/>
          </a:ln>
          <a:effectLst/>
        </p:spPr>
        <p:txBody>
          <a:bodyPr anchor="ctr"/>
          <a:lstStyle/>
          <a:p>
            <a:pPr algn="ctr">
              <a:lnSpc>
                <a:spcPct val="80000"/>
              </a:lnSpc>
            </a:pPr>
            <a:r>
              <a:rPr lang="es-CL" sz="1200" b="1" dirty="0">
                <a:solidFill>
                  <a:srgbClr val="FFFFFF"/>
                </a:solidFill>
                <a:cs typeface="Arial" pitchFamily="34" charset="0"/>
              </a:rPr>
              <a:t>12</a:t>
            </a:r>
          </a:p>
        </p:txBody>
      </p:sp>
      <p:sp>
        <p:nvSpPr>
          <p:cNvPr id="5" name="Rectangle 18"/>
          <p:cNvSpPr>
            <a:spLocks noChangeArrowheads="1"/>
          </p:cNvSpPr>
          <p:nvPr/>
        </p:nvSpPr>
        <p:spPr bwMode="auto">
          <a:xfrm>
            <a:off x="227770" y="2548229"/>
            <a:ext cx="6400800" cy="708660"/>
          </a:xfrm>
          <a:prstGeom prst="rect">
            <a:avLst/>
          </a:prstGeom>
          <a:noFill/>
          <a:ln w="9525" algn="ctr">
            <a:solidFill>
              <a:schemeClr val="bg2"/>
            </a:solidFill>
            <a:miter lim="800000"/>
            <a:headEnd/>
            <a:tailEnd/>
          </a:ln>
          <a:effectLst/>
        </p:spPr>
        <p:txBody>
          <a:bodyPr/>
          <a:lstStyle/>
          <a:p>
            <a:pPr>
              <a:lnSpc>
                <a:spcPct val="80000"/>
              </a:lnSpc>
            </a:pPr>
            <a:r>
              <a:rPr lang="es-ES" sz="1100" dirty="0">
                <a:solidFill>
                  <a:srgbClr val="000000"/>
                </a:solidFill>
              </a:rPr>
              <a:t>Los estados del trámite del sistema Rímac no coinciden con los estados del trámite del sistema del proveedor, esto ocasiona la generación de un nuevo número de trámite que es asignado al original. De cara al cliente existe un único número, de cara a Rímac dos (el original y el nuevo).</a:t>
            </a:r>
          </a:p>
        </p:txBody>
      </p:sp>
      <p:sp>
        <p:nvSpPr>
          <p:cNvPr id="8" name="Rounded Rectangle 7"/>
          <p:cNvSpPr/>
          <p:nvPr/>
        </p:nvSpPr>
        <p:spPr>
          <a:xfrm>
            <a:off x="652842" y="764704"/>
            <a:ext cx="8321040" cy="274320"/>
          </a:xfrm>
          <a:prstGeom prst="roundRect">
            <a:avLst/>
          </a:prstGeom>
          <a:solidFill>
            <a:srgbClr val="DB0613"/>
          </a:solidFill>
          <a:ln w="9525" algn="ctr">
            <a:noFill/>
            <a:miter lim="800000"/>
            <a:headEnd/>
            <a:tailEnd/>
          </a:ln>
          <a:effectLst/>
        </p:spPr>
        <p:txBody>
          <a:bodyPr anchor="ctr"/>
          <a:lstStyle/>
          <a:p>
            <a:pPr>
              <a:lnSpc>
                <a:spcPct val="80000"/>
              </a:lnSpc>
            </a:pPr>
            <a:r>
              <a:rPr lang="es-ES" sz="1200" dirty="0">
                <a:solidFill>
                  <a:schemeClr val="bg1"/>
                </a:solidFill>
              </a:rPr>
              <a:t>Los estados del trámite del sistema Rímac no coinciden con los estados del trámite del sistema del proveedor.</a:t>
            </a:r>
          </a:p>
        </p:txBody>
      </p:sp>
      <p:sp>
        <p:nvSpPr>
          <p:cNvPr id="9" name="Rounded Rectangle 8"/>
          <p:cNvSpPr/>
          <p:nvPr/>
        </p:nvSpPr>
        <p:spPr>
          <a:xfrm>
            <a:off x="227770" y="2307916"/>
            <a:ext cx="64008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Descripción</a:t>
            </a:r>
          </a:p>
        </p:txBody>
      </p:sp>
      <p:sp>
        <p:nvSpPr>
          <p:cNvPr id="17" name="Rounded Rectangle 16"/>
          <p:cNvSpPr/>
          <p:nvPr/>
        </p:nvSpPr>
        <p:spPr>
          <a:xfrm>
            <a:off x="216583" y="1110038"/>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Macroproceso</a:t>
            </a:r>
          </a:p>
        </p:txBody>
      </p:sp>
      <p:sp>
        <p:nvSpPr>
          <p:cNvPr id="18" name="Rectangle 18"/>
          <p:cNvSpPr>
            <a:spLocks noChangeArrowheads="1"/>
          </p:cNvSpPr>
          <p:nvPr/>
        </p:nvSpPr>
        <p:spPr bwMode="auto">
          <a:xfrm>
            <a:off x="2568409" y="1110038"/>
            <a:ext cx="3877200" cy="182880"/>
          </a:xfrm>
          <a:prstGeom prst="rect">
            <a:avLst/>
          </a:prstGeom>
          <a:noFill/>
          <a:ln w="9525" algn="ctr">
            <a:solidFill>
              <a:schemeClr val="bg2"/>
            </a:solidFill>
            <a:miter lim="800000"/>
            <a:headEnd/>
            <a:tailEnd/>
          </a:ln>
          <a:effectLst/>
        </p:spPr>
        <p:txBody>
          <a:bodyPr anchor="ctr"/>
          <a:lstStyle/>
          <a:p>
            <a:r>
              <a:rPr lang="es-ES" sz="1100" dirty="0"/>
              <a:t>Generación de Negocio</a:t>
            </a:r>
            <a:endParaRPr lang="es-ES" sz="1100" dirty="0">
              <a:solidFill>
                <a:srgbClr val="000000"/>
              </a:solidFill>
            </a:endParaRPr>
          </a:p>
        </p:txBody>
      </p:sp>
      <p:sp>
        <p:nvSpPr>
          <p:cNvPr id="19" name="Rounded Rectangle 18"/>
          <p:cNvSpPr/>
          <p:nvPr/>
        </p:nvSpPr>
        <p:spPr>
          <a:xfrm>
            <a:off x="216583" y="1339045"/>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Proceso</a:t>
            </a:r>
          </a:p>
        </p:txBody>
      </p:sp>
      <p:sp>
        <p:nvSpPr>
          <p:cNvPr id="20" name="Rectangle 18"/>
          <p:cNvSpPr>
            <a:spLocks noChangeArrowheads="1"/>
          </p:cNvSpPr>
          <p:nvPr/>
        </p:nvSpPr>
        <p:spPr bwMode="auto">
          <a:xfrm>
            <a:off x="2568409" y="1339045"/>
            <a:ext cx="3877200" cy="182880"/>
          </a:xfrm>
          <a:prstGeom prst="rect">
            <a:avLst/>
          </a:prstGeom>
          <a:noFill/>
          <a:ln w="9525" algn="ctr">
            <a:solidFill>
              <a:schemeClr val="bg2"/>
            </a:solidFill>
            <a:miter lim="800000"/>
            <a:headEnd/>
            <a:tailEnd/>
          </a:ln>
          <a:effectLst/>
        </p:spPr>
        <p:txBody>
          <a:bodyPr anchor="ctr"/>
          <a:lstStyle/>
          <a:p>
            <a:r>
              <a:rPr lang="es-ES" sz="1100" dirty="0"/>
              <a:t>Suscripción</a:t>
            </a:r>
            <a:endParaRPr lang="es-ES" sz="1100" dirty="0">
              <a:solidFill>
                <a:srgbClr val="000000"/>
              </a:solidFill>
            </a:endParaRPr>
          </a:p>
        </p:txBody>
      </p:sp>
      <p:sp>
        <p:nvSpPr>
          <p:cNvPr id="59" name="Rounded Rectangle 58"/>
          <p:cNvSpPr/>
          <p:nvPr/>
        </p:nvSpPr>
        <p:spPr>
          <a:xfrm>
            <a:off x="216583" y="1579694"/>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Subproceso</a:t>
            </a:r>
          </a:p>
        </p:txBody>
      </p:sp>
      <p:sp>
        <p:nvSpPr>
          <p:cNvPr id="60" name="Rectangle 18"/>
          <p:cNvSpPr>
            <a:spLocks noChangeArrowheads="1"/>
          </p:cNvSpPr>
          <p:nvPr/>
        </p:nvSpPr>
        <p:spPr bwMode="auto">
          <a:xfrm>
            <a:off x="2568409" y="1579694"/>
            <a:ext cx="3875799" cy="182880"/>
          </a:xfrm>
          <a:prstGeom prst="rect">
            <a:avLst/>
          </a:prstGeom>
          <a:noFill/>
          <a:ln w="9525" algn="ctr">
            <a:solidFill>
              <a:schemeClr val="bg2"/>
            </a:solidFill>
            <a:miter lim="800000"/>
            <a:headEnd/>
            <a:tailEnd/>
          </a:ln>
          <a:effectLst/>
        </p:spPr>
        <p:txBody>
          <a:bodyPr anchor="ctr"/>
          <a:lstStyle/>
          <a:p>
            <a:r>
              <a:rPr lang="es-ES" sz="1100" dirty="0"/>
              <a:t>Inspección Técnica</a:t>
            </a:r>
            <a:endParaRPr lang="es-ES" sz="1100" dirty="0">
              <a:solidFill>
                <a:srgbClr val="000000"/>
              </a:solidFill>
            </a:endParaRPr>
          </a:p>
        </p:txBody>
      </p:sp>
      <p:sp>
        <p:nvSpPr>
          <p:cNvPr id="61" name="Rounded Rectangle 60"/>
          <p:cNvSpPr/>
          <p:nvPr/>
        </p:nvSpPr>
        <p:spPr>
          <a:xfrm>
            <a:off x="226806" y="1826440"/>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Línea de Negocio</a:t>
            </a:r>
          </a:p>
        </p:txBody>
      </p:sp>
      <p:sp>
        <p:nvSpPr>
          <p:cNvPr id="63" name="Rounded Rectangle 62"/>
          <p:cNvSpPr/>
          <p:nvPr/>
        </p:nvSpPr>
        <p:spPr>
          <a:xfrm>
            <a:off x="226806" y="2079535"/>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Responsable</a:t>
            </a:r>
          </a:p>
        </p:txBody>
      </p:sp>
      <p:sp>
        <p:nvSpPr>
          <p:cNvPr id="65" name="Rectangle 18"/>
          <p:cNvSpPr>
            <a:spLocks noChangeArrowheads="1"/>
          </p:cNvSpPr>
          <p:nvPr/>
        </p:nvSpPr>
        <p:spPr bwMode="auto">
          <a:xfrm>
            <a:off x="2568409" y="1826440"/>
            <a:ext cx="3875799" cy="182880"/>
          </a:xfrm>
          <a:prstGeom prst="rect">
            <a:avLst/>
          </a:prstGeom>
          <a:noFill/>
          <a:ln w="9525" algn="ctr">
            <a:solidFill>
              <a:schemeClr val="bg2"/>
            </a:solidFill>
            <a:miter lim="800000"/>
            <a:headEnd/>
            <a:tailEnd/>
          </a:ln>
          <a:effectLst/>
        </p:spPr>
        <p:txBody>
          <a:bodyPr anchor="ctr"/>
          <a:lstStyle/>
          <a:p>
            <a:r>
              <a:rPr lang="es-ES" sz="1100" dirty="0">
                <a:solidFill>
                  <a:srgbClr val="000000"/>
                </a:solidFill>
              </a:rPr>
              <a:t>Vehículos</a:t>
            </a:r>
          </a:p>
        </p:txBody>
      </p:sp>
      <p:sp>
        <p:nvSpPr>
          <p:cNvPr id="66" name="Rectangle 18"/>
          <p:cNvSpPr>
            <a:spLocks noChangeArrowheads="1"/>
          </p:cNvSpPr>
          <p:nvPr/>
        </p:nvSpPr>
        <p:spPr bwMode="auto">
          <a:xfrm>
            <a:off x="2555776" y="2079535"/>
            <a:ext cx="3875799" cy="182880"/>
          </a:xfrm>
          <a:prstGeom prst="rect">
            <a:avLst/>
          </a:prstGeom>
          <a:noFill/>
          <a:ln w="9525" algn="ctr">
            <a:solidFill>
              <a:schemeClr val="bg2"/>
            </a:solidFill>
            <a:miter lim="800000"/>
            <a:headEnd/>
            <a:tailEnd/>
          </a:ln>
          <a:effectLst/>
        </p:spPr>
        <p:txBody>
          <a:bodyPr anchor="ctr"/>
          <a:lstStyle/>
          <a:p>
            <a:r>
              <a:rPr lang="es-ES" sz="1100" dirty="0">
                <a:solidFill>
                  <a:srgbClr val="000000"/>
                </a:solidFill>
              </a:rPr>
              <a:t>Supervisor de Inspección</a:t>
            </a:r>
          </a:p>
        </p:txBody>
      </p:sp>
      <p:sp>
        <p:nvSpPr>
          <p:cNvPr id="96" name="AutoShape 179"/>
          <p:cNvSpPr>
            <a:spLocks noChangeArrowheads="1"/>
          </p:cNvSpPr>
          <p:nvPr/>
        </p:nvSpPr>
        <p:spPr bwMode="auto">
          <a:xfrm>
            <a:off x="611560" y="3482416"/>
            <a:ext cx="3960812" cy="1275707"/>
          </a:xfrm>
          <a:prstGeom prst="roundRect">
            <a:avLst>
              <a:gd name="adj" fmla="val 9481"/>
            </a:avLst>
          </a:prstGeom>
          <a:solidFill>
            <a:schemeClr val="accent1">
              <a:lumMod val="20000"/>
              <a:lumOff val="80000"/>
            </a:schemeClr>
          </a:solidFill>
          <a:ln w="9525" algn="ctr">
            <a:noFill/>
            <a:round/>
            <a:headEnd/>
            <a:tailEnd/>
          </a:ln>
          <a:effectLst/>
        </p:spPr>
        <p:txBody>
          <a:bodyPr wrap="none" anchor="ctr"/>
          <a:lstStyle/>
          <a:p>
            <a:endParaRPr lang="es-CL">
              <a:solidFill>
                <a:srgbClr val="002060"/>
              </a:solidFill>
            </a:endParaRPr>
          </a:p>
        </p:txBody>
      </p:sp>
      <p:sp>
        <p:nvSpPr>
          <p:cNvPr id="97" name="Text Box 30"/>
          <p:cNvSpPr txBox="1">
            <a:spLocks noChangeArrowheads="1"/>
          </p:cNvSpPr>
          <p:nvPr/>
        </p:nvSpPr>
        <p:spPr bwMode="auto">
          <a:xfrm>
            <a:off x="190747" y="3259373"/>
            <a:ext cx="3671888" cy="276999"/>
          </a:xfrm>
          <a:prstGeom prst="rect">
            <a:avLst/>
          </a:prstGeom>
          <a:noFill/>
          <a:ln w="9525" algn="ctr">
            <a:noFill/>
            <a:miter lim="800000"/>
            <a:headEnd/>
            <a:tailEnd/>
          </a:ln>
          <a:effectLst/>
        </p:spPr>
        <p:txBody>
          <a:bodyPr>
            <a:spAutoFit/>
          </a:bodyPr>
          <a:lstStyle/>
          <a:p>
            <a:pPr>
              <a:spcBef>
                <a:spcPct val="50000"/>
              </a:spcBef>
            </a:pPr>
            <a:r>
              <a:rPr lang="es-CL" sz="1200" b="1" i="1" dirty="0">
                <a:solidFill>
                  <a:srgbClr val="A3A3E0"/>
                </a:solidFill>
              </a:rPr>
              <a:t>Resultados valoración de riesgos</a:t>
            </a:r>
            <a:endParaRPr lang="es-ES" sz="1200" b="1" i="1" dirty="0">
              <a:solidFill>
                <a:srgbClr val="A3A3E0"/>
              </a:solidFill>
            </a:endParaRPr>
          </a:p>
        </p:txBody>
      </p:sp>
      <p:sp>
        <p:nvSpPr>
          <p:cNvPr id="98" name="Rounded Rectangle 21"/>
          <p:cNvSpPr/>
          <p:nvPr/>
        </p:nvSpPr>
        <p:spPr>
          <a:xfrm>
            <a:off x="902959" y="4255955"/>
            <a:ext cx="1920240" cy="170094"/>
          </a:xfrm>
          <a:prstGeom prst="roundRect">
            <a:avLst/>
          </a:prstGeom>
          <a:solidFill>
            <a:srgbClr val="DB0613"/>
          </a:solidFill>
          <a:ln w="9525" algn="ctr">
            <a:noFill/>
            <a:miter lim="800000"/>
            <a:headEnd/>
            <a:tailEnd/>
          </a:ln>
          <a:effectLst/>
        </p:spPr>
        <p:txBody>
          <a:bodyPr tIns="91440" anchor="ctr"/>
          <a:lstStyle/>
          <a:p>
            <a:pPr>
              <a:lnSpc>
                <a:spcPct val="80000"/>
              </a:lnSpc>
            </a:pPr>
            <a:r>
              <a:rPr lang="es-CL" sz="1100" b="1" dirty="0">
                <a:solidFill>
                  <a:srgbClr val="FFFFFF"/>
                </a:solidFill>
                <a:cs typeface="Arial" pitchFamily="34" charset="0"/>
              </a:rPr>
              <a:t>Pérdida Esperada Anual</a:t>
            </a:r>
          </a:p>
        </p:txBody>
      </p:sp>
      <p:sp>
        <p:nvSpPr>
          <p:cNvPr id="99" name="Rectangle 18"/>
          <p:cNvSpPr>
            <a:spLocks noChangeArrowheads="1"/>
          </p:cNvSpPr>
          <p:nvPr/>
        </p:nvSpPr>
        <p:spPr bwMode="auto">
          <a:xfrm>
            <a:off x="2859920" y="4255955"/>
            <a:ext cx="1554480" cy="170094"/>
          </a:xfrm>
          <a:prstGeom prst="rect">
            <a:avLst/>
          </a:prstGeom>
          <a:solidFill>
            <a:schemeClr val="bg1"/>
          </a:solidFill>
          <a:ln w="9525" algn="ctr">
            <a:solidFill>
              <a:schemeClr val="bg2"/>
            </a:solidFill>
            <a:miter lim="800000"/>
            <a:headEnd/>
            <a:tailEnd/>
          </a:ln>
          <a:effectLst/>
        </p:spPr>
        <p:txBody>
          <a:bodyPr anchor="ctr"/>
          <a:lstStyle/>
          <a:p>
            <a:pPr algn="ctr"/>
            <a:r>
              <a:rPr lang="es-PE" sz="1100" dirty="0">
                <a:solidFill>
                  <a:srgbClr val="000000"/>
                </a:solidFill>
              </a:rPr>
              <a:t>S/. 5,000.00</a:t>
            </a:r>
            <a:endParaRPr lang="es-ES" sz="1100" dirty="0">
              <a:solidFill>
                <a:srgbClr val="000000"/>
              </a:solidFill>
            </a:endParaRPr>
          </a:p>
        </p:txBody>
      </p:sp>
      <p:sp>
        <p:nvSpPr>
          <p:cNvPr id="100" name="Rounded Rectangle 23"/>
          <p:cNvSpPr/>
          <p:nvPr/>
        </p:nvSpPr>
        <p:spPr>
          <a:xfrm>
            <a:off x="902959" y="4485567"/>
            <a:ext cx="1920240" cy="170094"/>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VaR Cualitativo Anual</a:t>
            </a:r>
          </a:p>
        </p:txBody>
      </p:sp>
      <p:sp>
        <p:nvSpPr>
          <p:cNvPr id="101" name="Rectangle 18"/>
          <p:cNvSpPr>
            <a:spLocks noChangeArrowheads="1"/>
          </p:cNvSpPr>
          <p:nvPr/>
        </p:nvSpPr>
        <p:spPr bwMode="auto">
          <a:xfrm>
            <a:off x="2859920" y="4485567"/>
            <a:ext cx="1554480" cy="170094"/>
          </a:xfrm>
          <a:prstGeom prst="rect">
            <a:avLst/>
          </a:prstGeom>
          <a:solidFill>
            <a:schemeClr val="bg1"/>
          </a:solidFill>
          <a:ln w="9525" algn="ctr">
            <a:solidFill>
              <a:schemeClr val="bg2"/>
            </a:solidFill>
            <a:miter lim="800000"/>
            <a:headEnd/>
            <a:tailEnd/>
          </a:ln>
          <a:effectLst/>
        </p:spPr>
        <p:txBody>
          <a:bodyPr anchor="ctr"/>
          <a:lstStyle/>
          <a:p>
            <a:pPr algn="ctr"/>
            <a:r>
              <a:rPr lang="es-PE" sz="1100" dirty="0">
                <a:solidFill>
                  <a:srgbClr val="000000"/>
                </a:solidFill>
              </a:rPr>
              <a:t>S/. 6,591.94</a:t>
            </a:r>
            <a:endParaRPr lang="es-ES" sz="1100" dirty="0">
              <a:solidFill>
                <a:srgbClr val="000000"/>
              </a:solidFill>
            </a:endParaRPr>
          </a:p>
        </p:txBody>
      </p:sp>
      <p:sp>
        <p:nvSpPr>
          <p:cNvPr id="102" name="Rounded Rectangle 25"/>
          <p:cNvSpPr/>
          <p:nvPr/>
        </p:nvSpPr>
        <p:spPr>
          <a:xfrm>
            <a:off x="891084" y="3553916"/>
            <a:ext cx="1920240" cy="170094"/>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Frecuencia  Evento Pérdida</a:t>
            </a:r>
          </a:p>
        </p:txBody>
      </p:sp>
      <p:sp>
        <p:nvSpPr>
          <p:cNvPr id="103" name="Rectangle 18"/>
          <p:cNvSpPr>
            <a:spLocks noChangeArrowheads="1"/>
          </p:cNvSpPr>
          <p:nvPr/>
        </p:nvSpPr>
        <p:spPr bwMode="auto">
          <a:xfrm>
            <a:off x="2859920" y="3553916"/>
            <a:ext cx="1554480" cy="170094"/>
          </a:xfrm>
          <a:prstGeom prst="rect">
            <a:avLst/>
          </a:prstGeom>
          <a:solidFill>
            <a:schemeClr val="bg1"/>
          </a:solidFill>
          <a:ln w="9525" algn="ctr">
            <a:solidFill>
              <a:schemeClr val="bg2"/>
            </a:solidFill>
            <a:miter lim="800000"/>
            <a:headEnd/>
            <a:tailEnd/>
          </a:ln>
          <a:effectLst/>
        </p:spPr>
        <p:txBody>
          <a:bodyPr anchor="ctr"/>
          <a:lstStyle/>
          <a:p>
            <a:pPr algn="ctr"/>
            <a:r>
              <a:rPr lang="es-PE" sz="1100" dirty="0">
                <a:solidFill>
                  <a:srgbClr val="000000"/>
                </a:solidFill>
              </a:rPr>
              <a:t>1 vez por día</a:t>
            </a:r>
            <a:endParaRPr lang="es-ES" sz="1100" dirty="0">
              <a:solidFill>
                <a:srgbClr val="000000"/>
              </a:solidFill>
            </a:endParaRPr>
          </a:p>
        </p:txBody>
      </p:sp>
      <p:sp>
        <p:nvSpPr>
          <p:cNvPr id="104" name="Rounded Rectangle 27"/>
          <p:cNvSpPr/>
          <p:nvPr/>
        </p:nvSpPr>
        <p:spPr>
          <a:xfrm>
            <a:off x="891084" y="3783528"/>
            <a:ext cx="1920240" cy="170094"/>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Impacto Medio Evento</a:t>
            </a:r>
          </a:p>
        </p:txBody>
      </p:sp>
      <p:sp>
        <p:nvSpPr>
          <p:cNvPr id="105" name="Rectangle 18"/>
          <p:cNvSpPr>
            <a:spLocks noChangeArrowheads="1"/>
          </p:cNvSpPr>
          <p:nvPr/>
        </p:nvSpPr>
        <p:spPr bwMode="auto">
          <a:xfrm>
            <a:off x="2859920" y="3783528"/>
            <a:ext cx="1554480" cy="170094"/>
          </a:xfrm>
          <a:prstGeom prst="rect">
            <a:avLst/>
          </a:prstGeom>
          <a:solidFill>
            <a:schemeClr val="bg1"/>
          </a:solidFill>
          <a:ln w="9525" algn="ctr">
            <a:solidFill>
              <a:schemeClr val="bg2"/>
            </a:solidFill>
            <a:miter lim="800000"/>
            <a:headEnd/>
            <a:tailEnd/>
          </a:ln>
          <a:effectLst/>
        </p:spPr>
        <p:txBody>
          <a:bodyPr anchor="ctr"/>
          <a:lstStyle/>
          <a:p>
            <a:pPr algn="ctr"/>
            <a:r>
              <a:rPr lang="es-PE" sz="1100" dirty="0">
                <a:solidFill>
                  <a:srgbClr val="000000"/>
                </a:solidFill>
              </a:rPr>
              <a:t>S/. 20.00</a:t>
            </a:r>
            <a:endParaRPr lang="es-ES" sz="1100" dirty="0">
              <a:solidFill>
                <a:srgbClr val="000000"/>
              </a:solidFill>
            </a:endParaRPr>
          </a:p>
        </p:txBody>
      </p:sp>
      <p:sp>
        <p:nvSpPr>
          <p:cNvPr id="106" name="Rounded Rectangle 29"/>
          <p:cNvSpPr/>
          <p:nvPr/>
        </p:nvSpPr>
        <p:spPr>
          <a:xfrm>
            <a:off x="891084" y="4019108"/>
            <a:ext cx="1920240" cy="170094"/>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Impacto Peor Escenario</a:t>
            </a:r>
          </a:p>
        </p:txBody>
      </p:sp>
      <p:sp>
        <p:nvSpPr>
          <p:cNvPr id="107" name="Rectangle 18"/>
          <p:cNvSpPr>
            <a:spLocks noChangeArrowheads="1"/>
          </p:cNvSpPr>
          <p:nvPr/>
        </p:nvSpPr>
        <p:spPr bwMode="auto">
          <a:xfrm>
            <a:off x="2859920" y="4019108"/>
            <a:ext cx="1554480" cy="170094"/>
          </a:xfrm>
          <a:prstGeom prst="rect">
            <a:avLst/>
          </a:prstGeom>
          <a:solidFill>
            <a:schemeClr val="bg1"/>
          </a:solidFill>
          <a:ln w="9525" algn="ctr">
            <a:solidFill>
              <a:schemeClr val="bg2"/>
            </a:solidFill>
            <a:miter lim="800000"/>
            <a:headEnd/>
            <a:tailEnd/>
          </a:ln>
          <a:effectLst/>
        </p:spPr>
        <p:txBody>
          <a:bodyPr anchor="ctr"/>
          <a:lstStyle/>
          <a:p>
            <a:pPr algn="ctr"/>
            <a:r>
              <a:rPr lang="es-PE" sz="1100" dirty="0">
                <a:solidFill>
                  <a:srgbClr val="000000"/>
                </a:solidFill>
              </a:rPr>
              <a:t>S/. 160.00</a:t>
            </a:r>
            <a:endParaRPr lang="es-ES" sz="1100" dirty="0">
              <a:solidFill>
                <a:srgbClr val="000000"/>
              </a:solidFill>
            </a:endParaRPr>
          </a:p>
        </p:txBody>
      </p:sp>
      <p:sp>
        <p:nvSpPr>
          <p:cNvPr id="108" name="AutoShape 47"/>
          <p:cNvSpPr>
            <a:spLocks noChangeAspect="1" noChangeArrowheads="1"/>
          </p:cNvSpPr>
          <p:nvPr/>
        </p:nvSpPr>
        <p:spPr bwMode="blackWhite">
          <a:xfrm>
            <a:off x="263032" y="3482416"/>
            <a:ext cx="503986" cy="1274400"/>
          </a:xfrm>
          <a:prstGeom prst="rightArrow">
            <a:avLst>
              <a:gd name="adj1" fmla="val 100000"/>
              <a:gd name="adj2" fmla="val 11009"/>
            </a:avLst>
          </a:prstGeom>
          <a:solidFill>
            <a:srgbClr val="969696"/>
          </a:solidFill>
          <a:ln w="12700">
            <a:noFill/>
            <a:miter lim="800000"/>
            <a:headEnd/>
            <a:tailEnd/>
          </a:ln>
          <a:effectLst>
            <a:outerShdw dist="35921" dir="2700000" algn="ctr" rotWithShape="0">
              <a:schemeClr val="bg2"/>
            </a:outerShdw>
          </a:effectLst>
        </p:spPr>
        <p:txBody>
          <a:bodyPr vert="vert270" anchor="ctr"/>
          <a:lstStyle/>
          <a:p>
            <a:pPr algn="ctr">
              <a:lnSpc>
                <a:spcPts val="1000"/>
              </a:lnSpc>
            </a:pPr>
            <a:r>
              <a:rPr lang="es-ES" sz="1100" b="1" noProof="1">
                <a:solidFill>
                  <a:srgbClr val="FFFFFF"/>
                </a:solidFill>
                <a:cs typeface="Arial" charset="0"/>
              </a:rPr>
              <a:t>Evaluación Riesgo Operacional</a:t>
            </a:r>
          </a:p>
        </p:txBody>
      </p:sp>
      <p:sp>
        <p:nvSpPr>
          <p:cNvPr id="109" name="AutoShape 179"/>
          <p:cNvSpPr>
            <a:spLocks noChangeArrowheads="1"/>
          </p:cNvSpPr>
          <p:nvPr/>
        </p:nvSpPr>
        <p:spPr bwMode="auto">
          <a:xfrm>
            <a:off x="4932039" y="3493021"/>
            <a:ext cx="4037169" cy="864000"/>
          </a:xfrm>
          <a:prstGeom prst="roundRect">
            <a:avLst>
              <a:gd name="adj" fmla="val 9481"/>
            </a:avLst>
          </a:prstGeom>
          <a:solidFill>
            <a:schemeClr val="accent1">
              <a:lumMod val="20000"/>
              <a:lumOff val="80000"/>
            </a:schemeClr>
          </a:solidFill>
          <a:ln w="9525" algn="ctr">
            <a:noFill/>
            <a:round/>
            <a:headEnd/>
            <a:tailEnd/>
          </a:ln>
          <a:effectLst/>
        </p:spPr>
        <p:txBody>
          <a:bodyPr wrap="none" anchor="ctr"/>
          <a:lstStyle/>
          <a:p>
            <a:endParaRPr lang="es-CL">
              <a:solidFill>
                <a:srgbClr val="002060"/>
              </a:solidFill>
            </a:endParaRPr>
          </a:p>
        </p:txBody>
      </p:sp>
      <p:sp>
        <p:nvSpPr>
          <p:cNvPr id="110" name="AutoShape 47"/>
          <p:cNvSpPr>
            <a:spLocks noChangeArrowheads="1"/>
          </p:cNvSpPr>
          <p:nvPr/>
        </p:nvSpPr>
        <p:spPr bwMode="blackWhite">
          <a:xfrm>
            <a:off x="4678512" y="3494523"/>
            <a:ext cx="353942" cy="864000"/>
          </a:xfrm>
          <a:prstGeom prst="rightArrow">
            <a:avLst>
              <a:gd name="adj1" fmla="val 100000"/>
              <a:gd name="adj2" fmla="val 11009"/>
            </a:avLst>
          </a:prstGeom>
          <a:solidFill>
            <a:srgbClr val="969696"/>
          </a:solidFill>
          <a:ln w="12700">
            <a:noFill/>
            <a:miter lim="800000"/>
            <a:headEnd/>
            <a:tailEnd/>
          </a:ln>
          <a:effectLst>
            <a:outerShdw dist="35921" dir="2700000" algn="ctr" rotWithShape="0">
              <a:schemeClr val="bg2"/>
            </a:outerShdw>
          </a:effectLst>
        </p:spPr>
        <p:txBody>
          <a:bodyPr vert="vert270" anchor="ctr"/>
          <a:lstStyle/>
          <a:p>
            <a:pPr algn="ctr">
              <a:lnSpc>
                <a:spcPts val="1000"/>
              </a:lnSpc>
            </a:pPr>
            <a:r>
              <a:rPr lang="es-ES" sz="1100" b="1" noProof="1">
                <a:solidFill>
                  <a:srgbClr val="FFFFFF"/>
                </a:solidFill>
                <a:cs typeface="Arial" charset="0"/>
              </a:rPr>
              <a:t>Impacto Reputacional</a:t>
            </a:r>
          </a:p>
        </p:txBody>
      </p:sp>
      <p:sp>
        <p:nvSpPr>
          <p:cNvPr id="111" name="Rectangle 18"/>
          <p:cNvSpPr>
            <a:spLocks noChangeArrowheads="1"/>
          </p:cNvSpPr>
          <p:nvPr/>
        </p:nvSpPr>
        <p:spPr bwMode="auto">
          <a:xfrm>
            <a:off x="8334310" y="3568288"/>
            <a:ext cx="548640" cy="170094"/>
          </a:xfrm>
          <a:prstGeom prst="rect">
            <a:avLst/>
          </a:prstGeom>
          <a:solidFill>
            <a:schemeClr val="bg1"/>
          </a:solidFill>
          <a:ln w="9525" algn="ctr">
            <a:solidFill>
              <a:schemeClr val="bg2"/>
            </a:solidFill>
            <a:miter lim="800000"/>
            <a:headEnd/>
            <a:tailEnd/>
          </a:ln>
          <a:effectLst/>
        </p:spPr>
        <p:txBody>
          <a:bodyPr anchor="ctr"/>
          <a:lstStyle/>
          <a:p>
            <a:pPr algn="ctr"/>
            <a:r>
              <a:rPr lang="es-PE" sz="1100" dirty="0"/>
              <a:t>1</a:t>
            </a:r>
            <a:endParaRPr lang="es-ES" sz="1100" dirty="0"/>
          </a:p>
        </p:txBody>
      </p:sp>
      <p:sp>
        <p:nvSpPr>
          <p:cNvPr id="112" name="Rounded Rectangle 38"/>
          <p:cNvSpPr/>
          <p:nvPr/>
        </p:nvSpPr>
        <p:spPr>
          <a:xfrm>
            <a:off x="5102950" y="3568288"/>
            <a:ext cx="3132000" cy="170094"/>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Afectación a Clientes</a:t>
            </a:r>
          </a:p>
        </p:txBody>
      </p:sp>
      <p:sp>
        <p:nvSpPr>
          <p:cNvPr id="113" name="Rectangle 18"/>
          <p:cNvSpPr>
            <a:spLocks noChangeArrowheads="1"/>
          </p:cNvSpPr>
          <p:nvPr/>
        </p:nvSpPr>
        <p:spPr bwMode="auto">
          <a:xfrm>
            <a:off x="5102950" y="3786445"/>
            <a:ext cx="3780000" cy="469509"/>
          </a:xfrm>
          <a:prstGeom prst="rect">
            <a:avLst/>
          </a:prstGeom>
          <a:solidFill>
            <a:schemeClr val="bg1"/>
          </a:solidFill>
          <a:ln w="9525" algn="ctr">
            <a:solidFill>
              <a:schemeClr val="bg2"/>
            </a:solidFill>
            <a:miter lim="800000"/>
            <a:headEnd/>
            <a:tailEnd/>
          </a:ln>
          <a:effectLst/>
        </p:spPr>
        <p:txBody>
          <a:bodyPr anchor="ctr"/>
          <a:lstStyle/>
          <a:p>
            <a:r>
              <a:rPr lang="es-ES" sz="1100" dirty="0">
                <a:solidFill>
                  <a:srgbClr val="000000"/>
                </a:solidFill>
              </a:rPr>
              <a:t>La exposición de la imagen es únicamente interna y limitada.</a:t>
            </a:r>
          </a:p>
        </p:txBody>
      </p:sp>
      <p:sp>
        <p:nvSpPr>
          <p:cNvPr id="114" name="Text Box 30"/>
          <p:cNvSpPr txBox="1">
            <a:spLocks noChangeArrowheads="1"/>
          </p:cNvSpPr>
          <p:nvPr/>
        </p:nvSpPr>
        <p:spPr bwMode="auto">
          <a:xfrm>
            <a:off x="190746" y="4838419"/>
            <a:ext cx="3996000" cy="276999"/>
          </a:xfrm>
          <a:prstGeom prst="rect">
            <a:avLst/>
          </a:prstGeom>
          <a:noFill/>
          <a:ln w="9525" algn="ctr">
            <a:noFill/>
            <a:miter lim="800000"/>
            <a:headEnd/>
            <a:tailEnd/>
          </a:ln>
          <a:effectLst/>
        </p:spPr>
        <p:txBody>
          <a:bodyPr wrap="square">
            <a:spAutoFit/>
          </a:bodyPr>
          <a:lstStyle/>
          <a:p>
            <a:pPr>
              <a:spcBef>
                <a:spcPct val="50000"/>
              </a:spcBef>
            </a:pPr>
            <a:r>
              <a:rPr lang="es-CL" sz="1200" b="1" i="1" dirty="0">
                <a:solidFill>
                  <a:srgbClr val="A3A3E0"/>
                </a:solidFill>
              </a:rPr>
              <a:t>Resultados valoración de controles / factores mitigantes</a:t>
            </a:r>
            <a:endParaRPr lang="es-ES" sz="1200" b="1" i="1" dirty="0">
              <a:solidFill>
                <a:srgbClr val="A3A3E0"/>
              </a:solidFill>
            </a:endParaRPr>
          </a:p>
        </p:txBody>
      </p:sp>
      <p:sp>
        <p:nvSpPr>
          <p:cNvPr id="118" name="AutoShape 179"/>
          <p:cNvSpPr>
            <a:spLocks noChangeArrowheads="1"/>
          </p:cNvSpPr>
          <p:nvPr/>
        </p:nvSpPr>
        <p:spPr bwMode="auto">
          <a:xfrm>
            <a:off x="4927319" y="4397238"/>
            <a:ext cx="4037169" cy="892800"/>
          </a:xfrm>
          <a:prstGeom prst="roundRect">
            <a:avLst>
              <a:gd name="adj" fmla="val 9481"/>
            </a:avLst>
          </a:prstGeom>
          <a:solidFill>
            <a:schemeClr val="accent1">
              <a:lumMod val="20000"/>
              <a:lumOff val="80000"/>
            </a:schemeClr>
          </a:solidFill>
          <a:ln w="9525" algn="ctr">
            <a:noFill/>
            <a:round/>
            <a:headEnd/>
            <a:tailEnd/>
          </a:ln>
          <a:effectLst/>
        </p:spPr>
        <p:txBody>
          <a:bodyPr wrap="none" anchor="ctr"/>
          <a:lstStyle/>
          <a:p>
            <a:endParaRPr lang="es-CL">
              <a:solidFill>
                <a:srgbClr val="002060"/>
              </a:solidFill>
            </a:endParaRPr>
          </a:p>
        </p:txBody>
      </p:sp>
      <p:sp>
        <p:nvSpPr>
          <p:cNvPr id="119" name="AutoShape 47"/>
          <p:cNvSpPr>
            <a:spLocks noChangeArrowheads="1"/>
          </p:cNvSpPr>
          <p:nvPr/>
        </p:nvSpPr>
        <p:spPr bwMode="blackWhite">
          <a:xfrm>
            <a:off x="4673792" y="4398740"/>
            <a:ext cx="352800" cy="892800"/>
          </a:xfrm>
          <a:prstGeom prst="rightArrow">
            <a:avLst>
              <a:gd name="adj1" fmla="val 100000"/>
              <a:gd name="adj2" fmla="val 11009"/>
            </a:avLst>
          </a:prstGeom>
          <a:solidFill>
            <a:srgbClr val="969696"/>
          </a:solidFill>
          <a:ln w="12700">
            <a:noFill/>
            <a:miter lim="800000"/>
            <a:headEnd/>
            <a:tailEnd/>
          </a:ln>
          <a:effectLst>
            <a:outerShdw dist="35921" dir="2700000" algn="ctr" rotWithShape="0">
              <a:schemeClr val="bg2"/>
            </a:outerShdw>
          </a:effectLst>
        </p:spPr>
        <p:txBody>
          <a:bodyPr vert="vert270" anchor="ctr"/>
          <a:lstStyle/>
          <a:p>
            <a:pPr algn="ctr">
              <a:lnSpc>
                <a:spcPts val="1000"/>
              </a:lnSpc>
            </a:pPr>
            <a:r>
              <a:rPr lang="es-ES" sz="1100" b="1" noProof="1">
                <a:solidFill>
                  <a:srgbClr val="FFFFFF"/>
                </a:solidFill>
                <a:cs typeface="Arial" charset="0"/>
              </a:rPr>
              <a:t>Cuestionarios</a:t>
            </a:r>
          </a:p>
        </p:txBody>
      </p:sp>
      <p:sp>
        <p:nvSpPr>
          <p:cNvPr id="121" name="Rounded Rectangle 38"/>
          <p:cNvSpPr/>
          <p:nvPr/>
        </p:nvSpPr>
        <p:spPr>
          <a:xfrm>
            <a:off x="5098230" y="4472505"/>
            <a:ext cx="3132000" cy="170094"/>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Criterios de Evaluación</a:t>
            </a:r>
          </a:p>
        </p:txBody>
      </p:sp>
      <p:sp>
        <p:nvSpPr>
          <p:cNvPr id="122" name="AutoShape 179"/>
          <p:cNvSpPr>
            <a:spLocks noChangeArrowheads="1"/>
          </p:cNvSpPr>
          <p:nvPr/>
        </p:nvSpPr>
        <p:spPr bwMode="auto">
          <a:xfrm>
            <a:off x="534831" y="5060900"/>
            <a:ext cx="4037169" cy="864000"/>
          </a:xfrm>
          <a:prstGeom prst="roundRect">
            <a:avLst>
              <a:gd name="adj" fmla="val 9481"/>
            </a:avLst>
          </a:prstGeom>
          <a:solidFill>
            <a:schemeClr val="accent1">
              <a:lumMod val="20000"/>
              <a:lumOff val="80000"/>
            </a:schemeClr>
          </a:solidFill>
          <a:ln w="9525" algn="ctr">
            <a:noFill/>
            <a:round/>
            <a:headEnd/>
            <a:tailEnd/>
          </a:ln>
          <a:effectLst/>
        </p:spPr>
        <p:txBody>
          <a:bodyPr wrap="none" anchor="ctr"/>
          <a:lstStyle/>
          <a:p>
            <a:endParaRPr lang="es-CL">
              <a:solidFill>
                <a:srgbClr val="002060"/>
              </a:solidFill>
            </a:endParaRPr>
          </a:p>
        </p:txBody>
      </p:sp>
      <p:sp>
        <p:nvSpPr>
          <p:cNvPr id="123" name="AutoShape 47"/>
          <p:cNvSpPr>
            <a:spLocks noChangeArrowheads="1"/>
          </p:cNvSpPr>
          <p:nvPr/>
        </p:nvSpPr>
        <p:spPr bwMode="blackWhite">
          <a:xfrm>
            <a:off x="281304" y="5062402"/>
            <a:ext cx="353942" cy="864000"/>
          </a:xfrm>
          <a:prstGeom prst="rightArrow">
            <a:avLst>
              <a:gd name="adj1" fmla="val 100000"/>
              <a:gd name="adj2" fmla="val 11009"/>
            </a:avLst>
          </a:prstGeom>
          <a:solidFill>
            <a:srgbClr val="969696"/>
          </a:solidFill>
          <a:ln w="12700">
            <a:noFill/>
            <a:miter lim="800000"/>
            <a:headEnd/>
            <a:tailEnd/>
          </a:ln>
          <a:effectLst>
            <a:outerShdw dist="35921" dir="2700000" algn="ctr" rotWithShape="0">
              <a:schemeClr val="bg2"/>
            </a:outerShdw>
          </a:effectLst>
        </p:spPr>
        <p:txBody>
          <a:bodyPr vert="vert270" anchor="ctr"/>
          <a:lstStyle/>
          <a:p>
            <a:pPr algn="ctr">
              <a:lnSpc>
                <a:spcPts val="1000"/>
              </a:lnSpc>
            </a:pPr>
            <a:r>
              <a:rPr lang="es-ES" sz="1100" b="1" noProof="1">
                <a:solidFill>
                  <a:srgbClr val="FFFFFF"/>
                </a:solidFill>
                <a:cs typeface="Arial" charset="0"/>
              </a:rPr>
              <a:t>Evaluación de Controles</a:t>
            </a:r>
          </a:p>
        </p:txBody>
      </p:sp>
      <p:sp>
        <p:nvSpPr>
          <p:cNvPr id="124" name="Rectangle 18"/>
          <p:cNvSpPr>
            <a:spLocks noChangeArrowheads="1"/>
          </p:cNvSpPr>
          <p:nvPr/>
        </p:nvSpPr>
        <p:spPr bwMode="auto">
          <a:xfrm>
            <a:off x="3937102" y="5136167"/>
            <a:ext cx="548640" cy="170094"/>
          </a:xfrm>
          <a:prstGeom prst="rect">
            <a:avLst/>
          </a:prstGeom>
          <a:solidFill>
            <a:schemeClr val="bg1"/>
          </a:solidFill>
          <a:ln w="9525" algn="ctr">
            <a:solidFill>
              <a:schemeClr val="bg2"/>
            </a:solidFill>
            <a:miter lim="800000"/>
            <a:headEnd/>
            <a:tailEnd/>
          </a:ln>
          <a:effectLst/>
        </p:spPr>
        <p:txBody>
          <a:bodyPr anchor="ctr"/>
          <a:lstStyle/>
          <a:p>
            <a:pPr algn="ctr"/>
            <a:r>
              <a:rPr lang="es-PE" sz="1100" dirty="0">
                <a:solidFill>
                  <a:srgbClr val="002060"/>
                </a:solidFill>
              </a:rPr>
              <a:t>0</a:t>
            </a:r>
            <a:endParaRPr lang="es-ES" sz="1100" dirty="0">
              <a:solidFill>
                <a:srgbClr val="002060"/>
              </a:solidFill>
            </a:endParaRPr>
          </a:p>
        </p:txBody>
      </p:sp>
      <p:sp>
        <p:nvSpPr>
          <p:cNvPr id="125" name="Rounded Rectangle 38"/>
          <p:cNvSpPr/>
          <p:nvPr/>
        </p:nvSpPr>
        <p:spPr>
          <a:xfrm>
            <a:off x="705742" y="5136167"/>
            <a:ext cx="3132000" cy="170094"/>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Controles asociados al riesgo</a:t>
            </a:r>
          </a:p>
        </p:txBody>
      </p:sp>
      <p:sp>
        <p:nvSpPr>
          <p:cNvPr id="126" name="Rectangle 18"/>
          <p:cNvSpPr>
            <a:spLocks noChangeArrowheads="1"/>
          </p:cNvSpPr>
          <p:nvPr/>
        </p:nvSpPr>
        <p:spPr bwMode="auto">
          <a:xfrm>
            <a:off x="5102950" y="4685678"/>
            <a:ext cx="3780000" cy="469509"/>
          </a:xfrm>
          <a:prstGeom prst="rect">
            <a:avLst/>
          </a:prstGeom>
          <a:solidFill>
            <a:schemeClr val="bg1"/>
          </a:solidFill>
          <a:ln w="9525" algn="ctr">
            <a:solidFill>
              <a:schemeClr val="bg2"/>
            </a:solidFill>
            <a:miter lim="800000"/>
            <a:headEnd/>
            <a:tailEnd/>
          </a:ln>
          <a:effectLst/>
        </p:spPr>
        <p:txBody>
          <a:bodyPr anchor="ctr"/>
          <a:lstStyle/>
          <a:p>
            <a:r>
              <a:rPr lang="es-ES" sz="1100" dirty="0"/>
              <a:t>Impacto: al día esta actividad supone 1h del tiempo por una persona (s/.20). En el peor de los casos, toda la jornada de trabajo (8h), supondría s/.160.</a:t>
            </a:r>
            <a:endParaRPr lang="es-ES" sz="1100" dirty="0">
              <a:solidFill>
                <a:srgbClr val="000000"/>
              </a:solidFill>
            </a:endParaRPr>
          </a:p>
        </p:txBody>
      </p:sp>
      <p:sp>
        <p:nvSpPr>
          <p:cNvPr id="127" name="Rectangle 18"/>
          <p:cNvSpPr>
            <a:spLocks noChangeArrowheads="1"/>
          </p:cNvSpPr>
          <p:nvPr/>
        </p:nvSpPr>
        <p:spPr bwMode="auto">
          <a:xfrm>
            <a:off x="705742" y="5357175"/>
            <a:ext cx="3780000" cy="469509"/>
          </a:xfrm>
          <a:prstGeom prst="rect">
            <a:avLst/>
          </a:prstGeom>
          <a:solidFill>
            <a:schemeClr val="bg1"/>
          </a:solidFill>
          <a:ln w="9525" algn="ctr">
            <a:solidFill>
              <a:schemeClr val="bg2"/>
            </a:solidFill>
            <a:miter lim="800000"/>
            <a:headEnd/>
            <a:tailEnd/>
          </a:ln>
          <a:effectLst/>
        </p:spPr>
        <p:txBody>
          <a:bodyPr anchor="ctr"/>
          <a:lstStyle/>
          <a:p>
            <a:r>
              <a:rPr lang="es-PE" sz="1100" dirty="0">
                <a:solidFill>
                  <a:srgbClr val="000000"/>
                </a:solidFill>
              </a:rPr>
              <a:t>No existen controles para evitar la duplicidad de números de trámite.</a:t>
            </a:r>
            <a:endParaRPr lang="es-ES" sz="1100" dirty="0">
              <a:solidFill>
                <a:srgbClr val="000000"/>
              </a:solidFill>
            </a:endParaRPr>
          </a:p>
        </p:txBody>
      </p:sp>
      <p:sp>
        <p:nvSpPr>
          <p:cNvPr id="128" name="Rounded Rectangle 9"/>
          <p:cNvSpPr/>
          <p:nvPr/>
        </p:nvSpPr>
        <p:spPr>
          <a:xfrm>
            <a:off x="6716066" y="1111764"/>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Categoría  de Riesgo Nivel I</a:t>
            </a:r>
          </a:p>
        </p:txBody>
      </p:sp>
      <p:sp>
        <p:nvSpPr>
          <p:cNvPr id="129" name="Rectangle 18"/>
          <p:cNvSpPr>
            <a:spLocks noChangeArrowheads="1"/>
          </p:cNvSpPr>
          <p:nvPr/>
        </p:nvSpPr>
        <p:spPr bwMode="auto">
          <a:xfrm>
            <a:off x="6716066" y="1325572"/>
            <a:ext cx="2286000" cy="270000"/>
          </a:xfrm>
          <a:prstGeom prst="rect">
            <a:avLst/>
          </a:prstGeom>
          <a:noFill/>
          <a:ln w="9525" algn="ctr">
            <a:solidFill>
              <a:schemeClr val="bg2"/>
            </a:solidFill>
            <a:miter lim="800000"/>
            <a:headEnd/>
            <a:tailEnd/>
          </a:ln>
          <a:effectLst/>
        </p:spPr>
        <p:txBody>
          <a:bodyPr anchor="ctr"/>
          <a:lstStyle/>
          <a:p>
            <a:pPr>
              <a:lnSpc>
                <a:spcPts val="1000"/>
              </a:lnSpc>
            </a:pPr>
            <a:r>
              <a:rPr lang="es-ES" sz="1100" dirty="0">
                <a:solidFill>
                  <a:srgbClr val="000000"/>
                </a:solidFill>
              </a:rPr>
              <a:t>Interrupción del negocio y fallos en los sistemas.</a:t>
            </a:r>
          </a:p>
        </p:txBody>
      </p:sp>
      <p:sp>
        <p:nvSpPr>
          <p:cNvPr id="130" name="Rounded Rectangle 11"/>
          <p:cNvSpPr/>
          <p:nvPr/>
        </p:nvSpPr>
        <p:spPr>
          <a:xfrm>
            <a:off x="6716066" y="1664503"/>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Categoría  de Riesgo Nivel II</a:t>
            </a:r>
          </a:p>
        </p:txBody>
      </p:sp>
      <p:sp>
        <p:nvSpPr>
          <p:cNvPr id="131" name="Rectangle 18"/>
          <p:cNvSpPr>
            <a:spLocks noChangeArrowheads="1"/>
          </p:cNvSpPr>
          <p:nvPr/>
        </p:nvSpPr>
        <p:spPr bwMode="auto">
          <a:xfrm>
            <a:off x="6716066" y="1877089"/>
            <a:ext cx="2286000" cy="270000"/>
          </a:xfrm>
          <a:prstGeom prst="rect">
            <a:avLst/>
          </a:prstGeom>
          <a:noFill/>
          <a:ln w="9525" algn="ctr">
            <a:solidFill>
              <a:schemeClr val="bg2"/>
            </a:solidFill>
            <a:miter lim="800000"/>
            <a:headEnd/>
            <a:tailEnd/>
          </a:ln>
          <a:effectLst/>
        </p:spPr>
        <p:txBody>
          <a:bodyPr anchor="ctr"/>
          <a:lstStyle/>
          <a:p>
            <a:r>
              <a:rPr lang="es-ES" sz="1100" dirty="0">
                <a:solidFill>
                  <a:srgbClr val="000000"/>
                </a:solidFill>
              </a:rPr>
              <a:t>Interrupción del negocio y fallos en los sistemas.</a:t>
            </a:r>
          </a:p>
        </p:txBody>
      </p:sp>
      <p:sp>
        <p:nvSpPr>
          <p:cNvPr id="132" name="Rounded Rectangle 14"/>
          <p:cNvSpPr/>
          <p:nvPr/>
        </p:nvSpPr>
        <p:spPr>
          <a:xfrm>
            <a:off x="6716066" y="2223551"/>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Categoría  de Riesgo Nivel III</a:t>
            </a:r>
          </a:p>
        </p:txBody>
      </p:sp>
      <p:sp>
        <p:nvSpPr>
          <p:cNvPr id="133" name="Rectangle 18"/>
          <p:cNvSpPr>
            <a:spLocks noChangeArrowheads="1"/>
          </p:cNvSpPr>
          <p:nvPr/>
        </p:nvSpPr>
        <p:spPr bwMode="auto">
          <a:xfrm>
            <a:off x="6716066" y="2434321"/>
            <a:ext cx="2286000" cy="270000"/>
          </a:xfrm>
          <a:prstGeom prst="rect">
            <a:avLst/>
          </a:prstGeom>
          <a:noFill/>
          <a:ln w="9525" algn="ctr">
            <a:solidFill>
              <a:schemeClr val="bg2"/>
            </a:solidFill>
            <a:miter lim="800000"/>
            <a:headEnd/>
            <a:tailEnd/>
          </a:ln>
          <a:effectLst/>
        </p:spPr>
        <p:txBody>
          <a:bodyPr anchor="ctr"/>
          <a:lstStyle/>
          <a:p>
            <a:r>
              <a:rPr lang="es-ES" sz="1100" dirty="0"/>
              <a:t>Cortes en los servicios/Interrupción de las aplicaciones </a:t>
            </a:r>
            <a:endParaRPr lang="es-ES" sz="1100" dirty="0">
              <a:solidFill>
                <a:srgbClr val="000000"/>
              </a:solidFill>
            </a:endParaRPr>
          </a:p>
        </p:txBody>
      </p:sp>
      <p:sp>
        <p:nvSpPr>
          <p:cNvPr id="134" name="Rounded Rectangle 14"/>
          <p:cNvSpPr/>
          <p:nvPr/>
        </p:nvSpPr>
        <p:spPr>
          <a:xfrm>
            <a:off x="6716066" y="2768330"/>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Origen del Riesgo</a:t>
            </a:r>
          </a:p>
        </p:txBody>
      </p:sp>
      <p:sp>
        <p:nvSpPr>
          <p:cNvPr id="135" name="Rectangle 18"/>
          <p:cNvSpPr>
            <a:spLocks noChangeArrowheads="1"/>
          </p:cNvSpPr>
          <p:nvPr/>
        </p:nvSpPr>
        <p:spPr bwMode="auto">
          <a:xfrm>
            <a:off x="6716066" y="2983595"/>
            <a:ext cx="2286000" cy="270000"/>
          </a:xfrm>
          <a:prstGeom prst="rect">
            <a:avLst/>
          </a:prstGeom>
          <a:noFill/>
          <a:ln w="9525" algn="ctr">
            <a:solidFill>
              <a:schemeClr val="bg2"/>
            </a:solidFill>
            <a:miter lim="800000"/>
            <a:headEnd/>
            <a:tailEnd/>
          </a:ln>
          <a:effectLst/>
        </p:spPr>
        <p:txBody>
          <a:bodyPr anchor="ctr"/>
          <a:lstStyle/>
          <a:p>
            <a:r>
              <a:rPr lang="es-PE" sz="1100" dirty="0">
                <a:solidFill>
                  <a:srgbClr val="000000"/>
                </a:solidFill>
              </a:rPr>
              <a:t>Tecnología</a:t>
            </a:r>
            <a:endParaRPr lang="es-ES" sz="1100" dirty="0">
              <a:solidFill>
                <a:srgbClr val="000000"/>
              </a:solidFill>
            </a:endParaRP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dirty="0"/>
              <a:t>Anexo: Ficha Individual Riesgos Operacionales</a:t>
            </a:r>
          </a:p>
        </p:txBody>
      </p:sp>
      <p:sp>
        <p:nvSpPr>
          <p:cNvPr id="3" name="AutoShape 179"/>
          <p:cNvSpPr>
            <a:spLocks noChangeArrowheads="1"/>
          </p:cNvSpPr>
          <p:nvPr/>
        </p:nvSpPr>
        <p:spPr bwMode="auto">
          <a:xfrm>
            <a:off x="611560" y="3535397"/>
            <a:ext cx="3960812" cy="1371600"/>
          </a:xfrm>
          <a:prstGeom prst="roundRect">
            <a:avLst>
              <a:gd name="adj" fmla="val 9481"/>
            </a:avLst>
          </a:prstGeom>
          <a:solidFill>
            <a:schemeClr val="accent1">
              <a:lumMod val="20000"/>
              <a:lumOff val="80000"/>
            </a:schemeClr>
          </a:solidFill>
          <a:ln w="9525" algn="ctr">
            <a:noFill/>
            <a:round/>
            <a:headEnd/>
            <a:tailEnd/>
          </a:ln>
          <a:effectLst/>
        </p:spPr>
        <p:txBody>
          <a:bodyPr wrap="none" anchor="ctr"/>
          <a:lstStyle/>
          <a:p>
            <a:endParaRPr lang="es-CL">
              <a:solidFill>
                <a:srgbClr val="002060"/>
              </a:solidFill>
            </a:endParaRPr>
          </a:p>
        </p:txBody>
      </p:sp>
      <p:sp>
        <p:nvSpPr>
          <p:cNvPr id="4" name="Rounded Rectangle 3"/>
          <p:cNvSpPr/>
          <p:nvPr/>
        </p:nvSpPr>
        <p:spPr>
          <a:xfrm>
            <a:off x="214497" y="764704"/>
            <a:ext cx="397063" cy="274320"/>
          </a:xfrm>
          <a:prstGeom prst="roundRect">
            <a:avLst/>
          </a:prstGeom>
          <a:solidFill>
            <a:srgbClr val="DB0613"/>
          </a:solidFill>
          <a:ln w="9525" algn="ctr">
            <a:noFill/>
            <a:miter lim="800000"/>
            <a:headEnd/>
            <a:tailEnd/>
          </a:ln>
          <a:effectLst/>
        </p:spPr>
        <p:txBody>
          <a:bodyPr anchor="ctr"/>
          <a:lstStyle/>
          <a:p>
            <a:pPr algn="ctr">
              <a:lnSpc>
                <a:spcPct val="80000"/>
              </a:lnSpc>
            </a:pPr>
            <a:r>
              <a:rPr lang="es-CL" sz="1200" b="1" dirty="0">
                <a:solidFill>
                  <a:srgbClr val="FFFFFF"/>
                </a:solidFill>
                <a:cs typeface="Arial" pitchFamily="34" charset="0"/>
              </a:rPr>
              <a:t>13</a:t>
            </a:r>
          </a:p>
        </p:txBody>
      </p:sp>
      <p:sp>
        <p:nvSpPr>
          <p:cNvPr id="5" name="Rectangle 18"/>
          <p:cNvSpPr>
            <a:spLocks noChangeArrowheads="1"/>
          </p:cNvSpPr>
          <p:nvPr/>
        </p:nvSpPr>
        <p:spPr bwMode="auto">
          <a:xfrm>
            <a:off x="227770" y="2409552"/>
            <a:ext cx="6400800" cy="839807"/>
          </a:xfrm>
          <a:prstGeom prst="rect">
            <a:avLst/>
          </a:prstGeom>
          <a:noFill/>
          <a:ln w="9525" algn="ctr">
            <a:solidFill>
              <a:schemeClr val="bg2"/>
            </a:solidFill>
            <a:miter lim="800000"/>
            <a:headEnd/>
            <a:tailEnd/>
          </a:ln>
          <a:effectLst/>
        </p:spPr>
        <p:txBody>
          <a:bodyPr/>
          <a:lstStyle/>
          <a:p>
            <a:r>
              <a:rPr lang="es-ES" sz="1100" dirty="0"/>
              <a:t>Riesgo de que el proveedor no esté prestando el servicio en las condiciones contratadas dado que sabe que no existe plan de contingencia  interno (</a:t>
            </a:r>
            <a:r>
              <a:rPr lang="es-ES" sz="1100" dirty="0" err="1"/>
              <a:t>Rimac</a:t>
            </a:r>
            <a:r>
              <a:rPr lang="es-ES" sz="1100" dirty="0"/>
              <a:t>) en caso  se decida cesar el contrato. Por ejemplo: Que no realice todas las llamadas requeridas para concertar la inspección.</a:t>
            </a:r>
            <a:endParaRPr lang="es-ES" sz="1100" dirty="0">
              <a:solidFill>
                <a:srgbClr val="002060"/>
              </a:solidFill>
            </a:endParaRPr>
          </a:p>
        </p:txBody>
      </p:sp>
      <p:sp>
        <p:nvSpPr>
          <p:cNvPr id="7" name="Text Box 30"/>
          <p:cNvSpPr txBox="1">
            <a:spLocks noChangeArrowheads="1"/>
          </p:cNvSpPr>
          <p:nvPr/>
        </p:nvSpPr>
        <p:spPr bwMode="auto">
          <a:xfrm>
            <a:off x="190747" y="3299257"/>
            <a:ext cx="3671888" cy="276999"/>
          </a:xfrm>
          <a:prstGeom prst="rect">
            <a:avLst/>
          </a:prstGeom>
          <a:noFill/>
          <a:ln w="9525" algn="ctr">
            <a:noFill/>
            <a:miter lim="800000"/>
            <a:headEnd/>
            <a:tailEnd/>
          </a:ln>
          <a:effectLst/>
        </p:spPr>
        <p:txBody>
          <a:bodyPr>
            <a:spAutoFit/>
          </a:bodyPr>
          <a:lstStyle/>
          <a:p>
            <a:pPr>
              <a:spcBef>
                <a:spcPct val="50000"/>
              </a:spcBef>
            </a:pPr>
            <a:r>
              <a:rPr lang="es-CL" sz="1200" b="1" i="1" dirty="0">
                <a:solidFill>
                  <a:srgbClr val="A3A3E0"/>
                </a:solidFill>
              </a:rPr>
              <a:t>Resultados valoración de riesgos</a:t>
            </a:r>
            <a:endParaRPr lang="es-ES" sz="1200" b="1" i="1" dirty="0">
              <a:solidFill>
                <a:srgbClr val="A3A3E0"/>
              </a:solidFill>
            </a:endParaRPr>
          </a:p>
        </p:txBody>
      </p:sp>
      <p:sp>
        <p:nvSpPr>
          <p:cNvPr id="8" name="Rounded Rectangle 7"/>
          <p:cNvSpPr/>
          <p:nvPr/>
        </p:nvSpPr>
        <p:spPr>
          <a:xfrm>
            <a:off x="652842" y="764704"/>
            <a:ext cx="8321040" cy="274320"/>
          </a:xfrm>
          <a:prstGeom prst="roundRect">
            <a:avLst/>
          </a:prstGeom>
          <a:solidFill>
            <a:srgbClr val="DB0613"/>
          </a:solidFill>
          <a:ln w="9525" algn="ctr">
            <a:noFill/>
            <a:miter lim="800000"/>
            <a:headEnd/>
            <a:tailEnd/>
          </a:ln>
          <a:effectLst/>
        </p:spPr>
        <p:txBody>
          <a:bodyPr anchor="ctr"/>
          <a:lstStyle/>
          <a:p>
            <a:pPr>
              <a:lnSpc>
                <a:spcPct val="80000"/>
              </a:lnSpc>
            </a:pPr>
            <a:r>
              <a:rPr lang="es-ES" sz="1200" dirty="0">
                <a:solidFill>
                  <a:schemeClr val="bg1"/>
                </a:solidFill>
              </a:rPr>
              <a:t>Riesgo de que el proveedor que realiza las inspecciones técnicas no esté prestando el servicio en las condiciones contratadas.</a:t>
            </a:r>
            <a:endParaRPr lang="es-CL" sz="1200" b="1" dirty="0">
              <a:solidFill>
                <a:schemeClr val="bg1"/>
              </a:solidFill>
              <a:cs typeface="Arial" pitchFamily="34" charset="0"/>
            </a:endParaRPr>
          </a:p>
        </p:txBody>
      </p:sp>
      <p:sp>
        <p:nvSpPr>
          <p:cNvPr id="9" name="Rounded Rectangle 8"/>
          <p:cNvSpPr/>
          <p:nvPr/>
        </p:nvSpPr>
        <p:spPr>
          <a:xfrm>
            <a:off x="227770" y="2202383"/>
            <a:ext cx="64008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Descripción</a:t>
            </a:r>
          </a:p>
        </p:txBody>
      </p:sp>
      <p:sp>
        <p:nvSpPr>
          <p:cNvPr id="10" name="Rounded Rectangle 9"/>
          <p:cNvSpPr/>
          <p:nvPr/>
        </p:nvSpPr>
        <p:spPr>
          <a:xfrm>
            <a:off x="6716066" y="1089119"/>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Categoría  de Riesgo Nivel I</a:t>
            </a:r>
          </a:p>
        </p:txBody>
      </p:sp>
      <p:sp>
        <p:nvSpPr>
          <p:cNvPr id="11" name="Rectangle 18"/>
          <p:cNvSpPr>
            <a:spLocks noChangeArrowheads="1"/>
          </p:cNvSpPr>
          <p:nvPr/>
        </p:nvSpPr>
        <p:spPr bwMode="auto">
          <a:xfrm>
            <a:off x="6716066" y="1316374"/>
            <a:ext cx="2286000" cy="365760"/>
          </a:xfrm>
          <a:prstGeom prst="rect">
            <a:avLst/>
          </a:prstGeom>
          <a:noFill/>
          <a:ln w="9525" algn="ctr">
            <a:solidFill>
              <a:schemeClr val="bg2"/>
            </a:solidFill>
            <a:miter lim="800000"/>
            <a:headEnd/>
            <a:tailEnd/>
          </a:ln>
          <a:effectLst/>
        </p:spPr>
        <p:txBody>
          <a:bodyPr anchor="ctr"/>
          <a:lstStyle/>
          <a:p>
            <a:pPr>
              <a:lnSpc>
                <a:spcPts val="1000"/>
              </a:lnSpc>
            </a:pPr>
            <a:r>
              <a:rPr lang="es-ES" sz="1100" dirty="0"/>
              <a:t>Ejecución, entrega y gestión de procesos</a:t>
            </a:r>
          </a:p>
        </p:txBody>
      </p:sp>
      <p:sp>
        <p:nvSpPr>
          <p:cNvPr id="12" name="Rounded Rectangle 11"/>
          <p:cNvSpPr/>
          <p:nvPr/>
        </p:nvSpPr>
        <p:spPr>
          <a:xfrm>
            <a:off x="6716066" y="1725169"/>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Categoría de Riesgo Nivel II</a:t>
            </a:r>
          </a:p>
        </p:txBody>
      </p:sp>
      <p:sp>
        <p:nvSpPr>
          <p:cNvPr id="13" name="Rectangle 18"/>
          <p:cNvSpPr>
            <a:spLocks noChangeArrowheads="1"/>
          </p:cNvSpPr>
          <p:nvPr/>
        </p:nvSpPr>
        <p:spPr bwMode="auto">
          <a:xfrm>
            <a:off x="6716066" y="1942710"/>
            <a:ext cx="2286000" cy="274320"/>
          </a:xfrm>
          <a:prstGeom prst="rect">
            <a:avLst/>
          </a:prstGeom>
          <a:noFill/>
          <a:ln w="9525" algn="ctr">
            <a:solidFill>
              <a:schemeClr val="bg2"/>
            </a:solidFill>
            <a:miter lim="800000"/>
            <a:headEnd/>
            <a:tailEnd/>
          </a:ln>
          <a:effectLst/>
        </p:spPr>
        <p:txBody>
          <a:bodyPr anchor="ctr"/>
          <a:lstStyle/>
          <a:p>
            <a:r>
              <a:rPr lang="es-ES" sz="1100" dirty="0"/>
              <a:t>Distribuidores y proveedores</a:t>
            </a:r>
          </a:p>
        </p:txBody>
      </p:sp>
      <p:sp>
        <p:nvSpPr>
          <p:cNvPr id="16" name="Rectangle 18"/>
          <p:cNvSpPr>
            <a:spLocks noChangeArrowheads="1"/>
          </p:cNvSpPr>
          <p:nvPr/>
        </p:nvSpPr>
        <p:spPr bwMode="auto">
          <a:xfrm>
            <a:off x="6716066" y="2459337"/>
            <a:ext cx="2286000" cy="506469"/>
          </a:xfrm>
          <a:prstGeom prst="rect">
            <a:avLst/>
          </a:prstGeom>
          <a:noFill/>
          <a:ln w="9525" algn="ctr">
            <a:solidFill>
              <a:schemeClr val="bg2"/>
            </a:solidFill>
            <a:miter lim="800000"/>
            <a:headEnd/>
            <a:tailEnd/>
          </a:ln>
          <a:effectLst/>
        </p:spPr>
        <p:txBody>
          <a:bodyPr anchor="ctr"/>
          <a:lstStyle/>
          <a:p>
            <a:r>
              <a:rPr lang="es-ES" sz="1100" dirty="0"/>
              <a:t>Errores en entrega realizada por distribuidores y proveedores</a:t>
            </a:r>
          </a:p>
        </p:txBody>
      </p:sp>
      <p:sp>
        <p:nvSpPr>
          <p:cNvPr id="17" name="Rounded Rectangle 16"/>
          <p:cNvSpPr/>
          <p:nvPr/>
        </p:nvSpPr>
        <p:spPr>
          <a:xfrm>
            <a:off x="227770" y="1110038"/>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Macroproceso</a:t>
            </a:r>
          </a:p>
        </p:txBody>
      </p:sp>
      <p:sp>
        <p:nvSpPr>
          <p:cNvPr id="18" name="Rectangle 18"/>
          <p:cNvSpPr>
            <a:spLocks noChangeArrowheads="1"/>
          </p:cNvSpPr>
          <p:nvPr/>
        </p:nvSpPr>
        <p:spPr bwMode="auto">
          <a:xfrm>
            <a:off x="2568409" y="1110038"/>
            <a:ext cx="4060161" cy="182880"/>
          </a:xfrm>
          <a:prstGeom prst="rect">
            <a:avLst/>
          </a:prstGeom>
          <a:noFill/>
          <a:ln w="9525" algn="ctr">
            <a:solidFill>
              <a:schemeClr val="bg2"/>
            </a:solidFill>
            <a:miter lim="800000"/>
            <a:headEnd/>
            <a:tailEnd/>
          </a:ln>
          <a:effectLst/>
        </p:spPr>
        <p:txBody>
          <a:bodyPr anchor="ctr"/>
          <a:lstStyle/>
          <a:p>
            <a:r>
              <a:rPr lang="es-ES" sz="1100" dirty="0"/>
              <a:t>Generación de Negocio</a:t>
            </a:r>
          </a:p>
        </p:txBody>
      </p:sp>
      <p:sp>
        <p:nvSpPr>
          <p:cNvPr id="19" name="Rounded Rectangle 18"/>
          <p:cNvSpPr/>
          <p:nvPr/>
        </p:nvSpPr>
        <p:spPr>
          <a:xfrm>
            <a:off x="227770" y="1339045"/>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Proceso</a:t>
            </a:r>
          </a:p>
        </p:txBody>
      </p:sp>
      <p:sp>
        <p:nvSpPr>
          <p:cNvPr id="20" name="Rectangle 18"/>
          <p:cNvSpPr>
            <a:spLocks noChangeArrowheads="1"/>
          </p:cNvSpPr>
          <p:nvPr/>
        </p:nvSpPr>
        <p:spPr bwMode="auto">
          <a:xfrm>
            <a:off x="2568409" y="1339045"/>
            <a:ext cx="4060161" cy="182880"/>
          </a:xfrm>
          <a:prstGeom prst="rect">
            <a:avLst/>
          </a:prstGeom>
          <a:noFill/>
          <a:ln w="9525" algn="ctr">
            <a:solidFill>
              <a:schemeClr val="bg2"/>
            </a:solidFill>
            <a:miter lim="800000"/>
            <a:headEnd/>
            <a:tailEnd/>
          </a:ln>
          <a:effectLst/>
        </p:spPr>
        <p:txBody>
          <a:bodyPr anchor="ctr"/>
          <a:lstStyle/>
          <a:p>
            <a:r>
              <a:rPr lang="es-ES" sz="1100" dirty="0"/>
              <a:t>Suscripción</a:t>
            </a:r>
          </a:p>
        </p:txBody>
      </p:sp>
      <p:sp>
        <p:nvSpPr>
          <p:cNvPr id="21" name="Rectangle 29"/>
          <p:cNvSpPr>
            <a:spLocks noChangeArrowheads="1"/>
          </p:cNvSpPr>
          <p:nvPr/>
        </p:nvSpPr>
        <p:spPr bwMode="auto">
          <a:xfrm>
            <a:off x="107504" y="3423715"/>
            <a:ext cx="8961120" cy="1607926"/>
          </a:xfrm>
          <a:prstGeom prst="rect">
            <a:avLst/>
          </a:prstGeom>
          <a:noFill/>
          <a:ln w="19050" cap="rnd" algn="ctr">
            <a:solidFill>
              <a:schemeClr val="bg2"/>
            </a:solidFill>
            <a:prstDash val="sysDot"/>
            <a:miter lim="800000"/>
            <a:headEnd/>
            <a:tailEnd/>
          </a:ln>
          <a:effectLst/>
        </p:spPr>
        <p:txBody>
          <a:bodyPr wrap="none" anchor="ctr"/>
          <a:lstStyle/>
          <a:p>
            <a:endParaRPr lang="en-US">
              <a:solidFill>
                <a:srgbClr val="002060"/>
              </a:solidFill>
            </a:endParaRPr>
          </a:p>
        </p:txBody>
      </p:sp>
      <p:sp>
        <p:nvSpPr>
          <p:cNvPr id="22" name="Rounded Rectangle 21"/>
          <p:cNvSpPr/>
          <p:nvPr/>
        </p:nvSpPr>
        <p:spPr>
          <a:xfrm>
            <a:off x="902959" y="4382163"/>
            <a:ext cx="1920240" cy="182880"/>
          </a:xfrm>
          <a:prstGeom prst="roundRect">
            <a:avLst/>
          </a:prstGeom>
          <a:solidFill>
            <a:srgbClr val="DB0613"/>
          </a:solidFill>
          <a:ln w="9525" algn="ctr">
            <a:noFill/>
            <a:miter lim="800000"/>
            <a:headEnd/>
            <a:tailEnd/>
          </a:ln>
          <a:effectLst/>
        </p:spPr>
        <p:txBody>
          <a:bodyPr tIns="91440" anchor="ctr"/>
          <a:lstStyle/>
          <a:p>
            <a:pPr>
              <a:lnSpc>
                <a:spcPct val="80000"/>
              </a:lnSpc>
            </a:pPr>
            <a:r>
              <a:rPr lang="es-CL" sz="1100" b="1" dirty="0">
                <a:solidFill>
                  <a:srgbClr val="FFFFFF"/>
                </a:solidFill>
                <a:cs typeface="Arial" pitchFamily="34" charset="0"/>
              </a:rPr>
              <a:t>Pérdida Esperada Anual</a:t>
            </a:r>
          </a:p>
        </p:txBody>
      </p:sp>
      <p:sp>
        <p:nvSpPr>
          <p:cNvPr id="23" name="Rectangle 18"/>
          <p:cNvSpPr>
            <a:spLocks noChangeArrowheads="1"/>
          </p:cNvSpPr>
          <p:nvPr/>
        </p:nvSpPr>
        <p:spPr bwMode="auto">
          <a:xfrm>
            <a:off x="2859920" y="4382163"/>
            <a:ext cx="1554480" cy="182880"/>
          </a:xfrm>
          <a:prstGeom prst="rect">
            <a:avLst/>
          </a:prstGeom>
          <a:solidFill>
            <a:schemeClr val="bg1"/>
          </a:solidFill>
          <a:ln w="9525" algn="ctr">
            <a:solidFill>
              <a:schemeClr val="bg2"/>
            </a:solidFill>
            <a:miter lim="800000"/>
            <a:headEnd/>
            <a:tailEnd/>
          </a:ln>
          <a:effectLst/>
        </p:spPr>
        <p:txBody>
          <a:bodyPr anchor="ctr"/>
          <a:lstStyle/>
          <a:p>
            <a:pPr algn="ctr"/>
            <a:r>
              <a:rPr lang="es-ES" sz="1100" dirty="0"/>
              <a:t>S/. 119,304.00</a:t>
            </a:r>
          </a:p>
        </p:txBody>
      </p:sp>
      <p:sp>
        <p:nvSpPr>
          <p:cNvPr id="24" name="Rounded Rectangle 23"/>
          <p:cNvSpPr/>
          <p:nvPr/>
        </p:nvSpPr>
        <p:spPr>
          <a:xfrm>
            <a:off x="902959" y="4611775"/>
            <a:ext cx="192024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VaR Cualitativo Anual</a:t>
            </a:r>
          </a:p>
        </p:txBody>
      </p:sp>
      <p:sp>
        <p:nvSpPr>
          <p:cNvPr id="25" name="Rectangle 18"/>
          <p:cNvSpPr>
            <a:spLocks noChangeArrowheads="1"/>
          </p:cNvSpPr>
          <p:nvPr/>
        </p:nvSpPr>
        <p:spPr bwMode="auto">
          <a:xfrm>
            <a:off x="2859920" y="4611775"/>
            <a:ext cx="1554480" cy="182880"/>
          </a:xfrm>
          <a:prstGeom prst="rect">
            <a:avLst/>
          </a:prstGeom>
          <a:solidFill>
            <a:schemeClr val="bg1"/>
          </a:solidFill>
          <a:ln w="9525" algn="ctr">
            <a:solidFill>
              <a:schemeClr val="bg2"/>
            </a:solidFill>
            <a:miter lim="800000"/>
            <a:headEnd/>
            <a:tailEnd/>
          </a:ln>
          <a:effectLst/>
        </p:spPr>
        <p:txBody>
          <a:bodyPr anchor="ctr"/>
          <a:lstStyle/>
          <a:p>
            <a:pPr algn="ctr"/>
            <a:r>
              <a:rPr lang="es-ES" sz="1100" dirty="0"/>
              <a:t>S/. 1,663,878.79</a:t>
            </a:r>
          </a:p>
        </p:txBody>
      </p:sp>
      <p:sp>
        <p:nvSpPr>
          <p:cNvPr id="26" name="Rounded Rectangle 25"/>
          <p:cNvSpPr/>
          <p:nvPr/>
        </p:nvSpPr>
        <p:spPr>
          <a:xfrm>
            <a:off x="891084" y="3618777"/>
            <a:ext cx="192024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Frecuencia  Evento Pérdida</a:t>
            </a:r>
          </a:p>
        </p:txBody>
      </p:sp>
      <p:sp>
        <p:nvSpPr>
          <p:cNvPr id="27" name="Rectangle 18"/>
          <p:cNvSpPr>
            <a:spLocks noChangeArrowheads="1"/>
          </p:cNvSpPr>
          <p:nvPr/>
        </p:nvSpPr>
        <p:spPr bwMode="auto">
          <a:xfrm>
            <a:off x="2859920" y="3618777"/>
            <a:ext cx="1554480" cy="182880"/>
          </a:xfrm>
          <a:prstGeom prst="rect">
            <a:avLst/>
          </a:prstGeom>
          <a:solidFill>
            <a:schemeClr val="bg1"/>
          </a:solidFill>
          <a:ln w="9525" algn="ctr">
            <a:solidFill>
              <a:schemeClr val="bg2"/>
            </a:solidFill>
            <a:miter lim="800000"/>
            <a:headEnd/>
            <a:tailEnd/>
          </a:ln>
          <a:effectLst/>
        </p:spPr>
        <p:txBody>
          <a:bodyPr anchor="ctr"/>
          <a:lstStyle/>
          <a:p>
            <a:pPr algn="ctr"/>
            <a:r>
              <a:rPr lang="es-ES" sz="1100" dirty="0"/>
              <a:t>6 veces por mes</a:t>
            </a:r>
          </a:p>
        </p:txBody>
      </p:sp>
      <p:sp>
        <p:nvSpPr>
          <p:cNvPr id="28" name="Rounded Rectangle 27"/>
          <p:cNvSpPr/>
          <p:nvPr/>
        </p:nvSpPr>
        <p:spPr>
          <a:xfrm>
            <a:off x="891084" y="3848389"/>
            <a:ext cx="192024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Impacto Medio Evento</a:t>
            </a:r>
          </a:p>
        </p:txBody>
      </p:sp>
      <p:sp>
        <p:nvSpPr>
          <p:cNvPr id="29" name="Rectangle 18"/>
          <p:cNvSpPr>
            <a:spLocks noChangeArrowheads="1"/>
          </p:cNvSpPr>
          <p:nvPr/>
        </p:nvSpPr>
        <p:spPr bwMode="auto">
          <a:xfrm>
            <a:off x="2859920" y="3848389"/>
            <a:ext cx="1554480" cy="182880"/>
          </a:xfrm>
          <a:prstGeom prst="rect">
            <a:avLst/>
          </a:prstGeom>
          <a:solidFill>
            <a:schemeClr val="bg1"/>
          </a:solidFill>
          <a:ln w="9525" algn="ctr">
            <a:solidFill>
              <a:schemeClr val="bg2"/>
            </a:solidFill>
            <a:miter lim="800000"/>
            <a:headEnd/>
            <a:tailEnd/>
          </a:ln>
          <a:effectLst/>
        </p:spPr>
        <p:txBody>
          <a:bodyPr anchor="ctr"/>
          <a:lstStyle/>
          <a:p>
            <a:pPr algn="ctr"/>
            <a:r>
              <a:rPr lang="es-ES" sz="1100" dirty="0"/>
              <a:t>S/. 1,657.00</a:t>
            </a:r>
            <a:endParaRPr lang="es-ES" sz="1100" dirty="0">
              <a:solidFill>
                <a:srgbClr val="002060"/>
              </a:solidFill>
            </a:endParaRPr>
          </a:p>
        </p:txBody>
      </p:sp>
      <p:sp>
        <p:nvSpPr>
          <p:cNvPr id="30" name="Rounded Rectangle 29"/>
          <p:cNvSpPr/>
          <p:nvPr/>
        </p:nvSpPr>
        <p:spPr>
          <a:xfrm>
            <a:off x="891084" y="4083969"/>
            <a:ext cx="192024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Impacto Peor Escenario</a:t>
            </a:r>
          </a:p>
        </p:txBody>
      </p:sp>
      <p:sp>
        <p:nvSpPr>
          <p:cNvPr id="31" name="Rectangle 18"/>
          <p:cNvSpPr>
            <a:spLocks noChangeArrowheads="1"/>
          </p:cNvSpPr>
          <p:nvPr/>
        </p:nvSpPr>
        <p:spPr bwMode="auto">
          <a:xfrm>
            <a:off x="2859920" y="4083969"/>
            <a:ext cx="1554480" cy="182880"/>
          </a:xfrm>
          <a:prstGeom prst="rect">
            <a:avLst/>
          </a:prstGeom>
          <a:solidFill>
            <a:schemeClr val="bg1"/>
          </a:solidFill>
          <a:ln w="9525" algn="ctr">
            <a:solidFill>
              <a:schemeClr val="bg2"/>
            </a:solidFill>
            <a:miter lim="800000"/>
            <a:headEnd/>
            <a:tailEnd/>
          </a:ln>
          <a:effectLst/>
        </p:spPr>
        <p:txBody>
          <a:bodyPr anchor="ctr"/>
          <a:lstStyle/>
          <a:p>
            <a:pPr algn="ctr"/>
            <a:r>
              <a:rPr lang="es-ES" sz="1100" dirty="0"/>
              <a:t>S/. 255,000.00</a:t>
            </a:r>
            <a:endParaRPr lang="es-ES" sz="1100" dirty="0">
              <a:solidFill>
                <a:srgbClr val="002060"/>
              </a:solidFill>
            </a:endParaRPr>
          </a:p>
        </p:txBody>
      </p:sp>
      <p:sp>
        <p:nvSpPr>
          <p:cNvPr id="32" name="AutoShape 47"/>
          <p:cNvSpPr>
            <a:spLocks noChangeAspect="1" noChangeArrowheads="1"/>
          </p:cNvSpPr>
          <p:nvPr/>
        </p:nvSpPr>
        <p:spPr bwMode="blackWhite">
          <a:xfrm>
            <a:off x="263033" y="3533122"/>
            <a:ext cx="492543" cy="1339083"/>
          </a:xfrm>
          <a:prstGeom prst="rightArrow">
            <a:avLst>
              <a:gd name="adj1" fmla="val 100000"/>
              <a:gd name="adj2" fmla="val 11009"/>
            </a:avLst>
          </a:prstGeom>
          <a:solidFill>
            <a:srgbClr val="969696"/>
          </a:solidFill>
          <a:ln w="12700">
            <a:noFill/>
            <a:miter lim="800000"/>
            <a:headEnd/>
            <a:tailEnd/>
          </a:ln>
          <a:effectLst>
            <a:outerShdw dist="35921" dir="2700000" algn="ctr" rotWithShape="0">
              <a:schemeClr val="bg2"/>
            </a:outerShdw>
          </a:effectLst>
        </p:spPr>
        <p:txBody>
          <a:bodyPr vert="vert270" anchor="ctr"/>
          <a:lstStyle/>
          <a:p>
            <a:pPr algn="ctr">
              <a:lnSpc>
                <a:spcPts val="1000"/>
              </a:lnSpc>
            </a:pPr>
            <a:r>
              <a:rPr lang="es-ES" sz="1200" b="1" noProof="1">
                <a:solidFill>
                  <a:srgbClr val="FFFFFF"/>
                </a:solidFill>
                <a:cs typeface="Arial" charset="0"/>
              </a:rPr>
              <a:t>Evaluación Riesgo Operacional</a:t>
            </a:r>
          </a:p>
        </p:txBody>
      </p:sp>
      <p:sp>
        <p:nvSpPr>
          <p:cNvPr id="59" name="Rounded Rectangle 58"/>
          <p:cNvSpPr/>
          <p:nvPr/>
        </p:nvSpPr>
        <p:spPr>
          <a:xfrm>
            <a:off x="223049" y="1554311"/>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Subproceso</a:t>
            </a:r>
          </a:p>
        </p:txBody>
      </p:sp>
      <p:sp>
        <p:nvSpPr>
          <p:cNvPr id="60" name="Rectangle 18"/>
          <p:cNvSpPr>
            <a:spLocks noChangeArrowheads="1"/>
          </p:cNvSpPr>
          <p:nvPr/>
        </p:nvSpPr>
        <p:spPr bwMode="auto">
          <a:xfrm>
            <a:off x="2563688" y="1554311"/>
            <a:ext cx="4064882" cy="182880"/>
          </a:xfrm>
          <a:prstGeom prst="rect">
            <a:avLst/>
          </a:prstGeom>
          <a:noFill/>
          <a:ln w="9525" algn="ctr">
            <a:solidFill>
              <a:schemeClr val="bg2"/>
            </a:solidFill>
            <a:miter lim="800000"/>
            <a:headEnd/>
            <a:tailEnd/>
          </a:ln>
          <a:effectLst/>
        </p:spPr>
        <p:txBody>
          <a:bodyPr anchor="ctr"/>
          <a:lstStyle/>
          <a:p>
            <a:r>
              <a:rPr lang="es-ES" sz="1100" dirty="0"/>
              <a:t>Inspección Técnica</a:t>
            </a:r>
          </a:p>
        </p:txBody>
      </p:sp>
      <p:sp>
        <p:nvSpPr>
          <p:cNvPr id="57" name="Rounded Rectangle 56"/>
          <p:cNvSpPr/>
          <p:nvPr/>
        </p:nvSpPr>
        <p:spPr>
          <a:xfrm>
            <a:off x="223049" y="1771093"/>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Línea de Negocio</a:t>
            </a:r>
          </a:p>
        </p:txBody>
      </p:sp>
      <p:sp>
        <p:nvSpPr>
          <p:cNvPr id="58" name="Rectangle 18"/>
          <p:cNvSpPr>
            <a:spLocks noChangeArrowheads="1"/>
          </p:cNvSpPr>
          <p:nvPr/>
        </p:nvSpPr>
        <p:spPr bwMode="auto">
          <a:xfrm>
            <a:off x="2563688" y="1771093"/>
            <a:ext cx="4064882" cy="182880"/>
          </a:xfrm>
          <a:prstGeom prst="rect">
            <a:avLst/>
          </a:prstGeom>
          <a:noFill/>
          <a:ln w="9525" algn="ctr">
            <a:solidFill>
              <a:schemeClr val="bg2"/>
            </a:solidFill>
            <a:miter lim="800000"/>
            <a:headEnd/>
            <a:tailEnd/>
          </a:ln>
          <a:effectLst/>
        </p:spPr>
        <p:txBody>
          <a:bodyPr anchor="ctr"/>
          <a:lstStyle/>
          <a:p>
            <a:r>
              <a:rPr lang="es-ES" sz="1100" dirty="0"/>
              <a:t>Ramos Generales</a:t>
            </a:r>
          </a:p>
        </p:txBody>
      </p:sp>
      <p:sp>
        <p:nvSpPr>
          <p:cNvPr id="61" name="Rounded Rectangle 60"/>
          <p:cNvSpPr/>
          <p:nvPr/>
        </p:nvSpPr>
        <p:spPr>
          <a:xfrm>
            <a:off x="223049" y="1986359"/>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Responsable</a:t>
            </a:r>
          </a:p>
        </p:txBody>
      </p:sp>
      <p:sp>
        <p:nvSpPr>
          <p:cNvPr id="62" name="Rectangle 18"/>
          <p:cNvSpPr>
            <a:spLocks noChangeArrowheads="1"/>
          </p:cNvSpPr>
          <p:nvPr/>
        </p:nvSpPr>
        <p:spPr bwMode="auto">
          <a:xfrm>
            <a:off x="2558967" y="1986359"/>
            <a:ext cx="4069603" cy="182880"/>
          </a:xfrm>
          <a:prstGeom prst="rect">
            <a:avLst/>
          </a:prstGeom>
          <a:noFill/>
          <a:ln w="9525" algn="ctr">
            <a:solidFill>
              <a:schemeClr val="bg2"/>
            </a:solidFill>
            <a:miter lim="800000"/>
            <a:headEnd/>
            <a:tailEnd/>
          </a:ln>
          <a:effectLst/>
        </p:spPr>
        <p:txBody>
          <a:bodyPr anchor="ctr"/>
          <a:lstStyle/>
          <a:p>
            <a:r>
              <a:rPr lang="es-ES" sz="1100" dirty="0"/>
              <a:t>Jefe de Gestión Operativa de Vehículos y Riesgos Generales</a:t>
            </a:r>
            <a:endParaRPr lang="es-ES" sz="1100" dirty="0">
              <a:solidFill>
                <a:srgbClr val="002060"/>
              </a:solidFill>
            </a:endParaRPr>
          </a:p>
        </p:txBody>
      </p:sp>
      <p:sp>
        <p:nvSpPr>
          <p:cNvPr id="63" name="Rounded Rectangle 62"/>
          <p:cNvSpPr/>
          <p:nvPr/>
        </p:nvSpPr>
        <p:spPr>
          <a:xfrm>
            <a:off x="6732240" y="2276457"/>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Categoría de Riesgo Nivel III</a:t>
            </a:r>
          </a:p>
        </p:txBody>
      </p:sp>
      <p:sp>
        <p:nvSpPr>
          <p:cNvPr id="64" name="Rounded Rectangle 14"/>
          <p:cNvSpPr/>
          <p:nvPr/>
        </p:nvSpPr>
        <p:spPr>
          <a:xfrm>
            <a:off x="6732240" y="2961327"/>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Origen del Riesgo</a:t>
            </a:r>
          </a:p>
        </p:txBody>
      </p:sp>
      <p:sp>
        <p:nvSpPr>
          <p:cNvPr id="65" name="Rectangle 18"/>
          <p:cNvSpPr>
            <a:spLocks noChangeArrowheads="1"/>
          </p:cNvSpPr>
          <p:nvPr/>
        </p:nvSpPr>
        <p:spPr bwMode="auto">
          <a:xfrm>
            <a:off x="6732240" y="3176592"/>
            <a:ext cx="2286000" cy="270000"/>
          </a:xfrm>
          <a:prstGeom prst="rect">
            <a:avLst/>
          </a:prstGeom>
          <a:noFill/>
          <a:ln w="9525" algn="ctr">
            <a:solidFill>
              <a:schemeClr val="bg2"/>
            </a:solidFill>
            <a:miter lim="800000"/>
            <a:headEnd/>
            <a:tailEnd/>
          </a:ln>
          <a:effectLst/>
        </p:spPr>
        <p:txBody>
          <a:bodyPr anchor="ctr"/>
          <a:lstStyle/>
          <a:p>
            <a:r>
              <a:rPr lang="es-ES" sz="1100" dirty="0">
                <a:solidFill>
                  <a:srgbClr val="000000"/>
                </a:solidFill>
              </a:rPr>
              <a:t>Relaciones con Terceros</a:t>
            </a:r>
          </a:p>
        </p:txBody>
      </p:sp>
      <p:sp>
        <p:nvSpPr>
          <p:cNvPr id="66" name="AutoShape 179"/>
          <p:cNvSpPr>
            <a:spLocks noChangeArrowheads="1"/>
          </p:cNvSpPr>
          <p:nvPr/>
        </p:nvSpPr>
        <p:spPr bwMode="auto">
          <a:xfrm>
            <a:off x="4932039" y="3590608"/>
            <a:ext cx="4037169" cy="864000"/>
          </a:xfrm>
          <a:prstGeom prst="roundRect">
            <a:avLst>
              <a:gd name="adj" fmla="val 9481"/>
            </a:avLst>
          </a:prstGeom>
          <a:solidFill>
            <a:schemeClr val="accent1">
              <a:lumMod val="20000"/>
              <a:lumOff val="80000"/>
            </a:schemeClr>
          </a:solidFill>
          <a:ln w="9525" algn="ctr">
            <a:noFill/>
            <a:round/>
            <a:headEnd/>
            <a:tailEnd/>
          </a:ln>
          <a:effectLst/>
        </p:spPr>
        <p:txBody>
          <a:bodyPr wrap="none" anchor="ctr"/>
          <a:lstStyle/>
          <a:p>
            <a:endParaRPr lang="es-CL">
              <a:solidFill>
                <a:srgbClr val="002060"/>
              </a:solidFill>
            </a:endParaRPr>
          </a:p>
        </p:txBody>
      </p:sp>
      <p:sp>
        <p:nvSpPr>
          <p:cNvPr id="67" name="AutoShape 47"/>
          <p:cNvSpPr>
            <a:spLocks noChangeArrowheads="1"/>
          </p:cNvSpPr>
          <p:nvPr/>
        </p:nvSpPr>
        <p:spPr bwMode="blackWhite">
          <a:xfrm>
            <a:off x="4678512" y="3592110"/>
            <a:ext cx="353942" cy="864000"/>
          </a:xfrm>
          <a:prstGeom prst="rightArrow">
            <a:avLst>
              <a:gd name="adj1" fmla="val 100000"/>
              <a:gd name="adj2" fmla="val 11009"/>
            </a:avLst>
          </a:prstGeom>
          <a:solidFill>
            <a:srgbClr val="969696"/>
          </a:solidFill>
          <a:ln w="12700">
            <a:noFill/>
            <a:miter lim="800000"/>
            <a:headEnd/>
            <a:tailEnd/>
          </a:ln>
          <a:effectLst>
            <a:outerShdw dist="35921" dir="2700000" algn="ctr" rotWithShape="0">
              <a:schemeClr val="bg2"/>
            </a:outerShdw>
          </a:effectLst>
        </p:spPr>
        <p:txBody>
          <a:bodyPr vert="vert270" anchor="ctr"/>
          <a:lstStyle/>
          <a:p>
            <a:pPr algn="ctr">
              <a:lnSpc>
                <a:spcPts val="1000"/>
              </a:lnSpc>
            </a:pPr>
            <a:r>
              <a:rPr lang="es-ES" sz="1100" b="1" noProof="1">
                <a:solidFill>
                  <a:srgbClr val="FFFFFF"/>
                </a:solidFill>
                <a:cs typeface="Arial" charset="0"/>
              </a:rPr>
              <a:t>Impacto Reputacional</a:t>
            </a:r>
          </a:p>
        </p:txBody>
      </p:sp>
      <p:sp>
        <p:nvSpPr>
          <p:cNvPr id="68" name="Rectangle 18"/>
          <p:cNvSpPr>
            <a:spLocks noChangeArrowheads="1"/>
          </p:cNvSpPr>
          <p:nvPr/>
        </p:nvSpPr>
        <p:spPr bwMode="auto">
          <a:xfrm>
            <a:off x="8334310" y="3665875"/>
            <a:ext cx="548640" cy="170094"/>
          </a:xfrm>
          <a:prstGeom prst="rect">
            <a:avLst/>
          </a:prstGeom>
          <a:solidFill>
            <a:schemeClr val="bg1"/>
          </a:solidFill>
          <a:ln w="9525" algn="ctr">
            <a:solidFill>
              <a:schemeClr val="bg2"/>
            </a:solidFill>
            <a:miter lim="800000"/>
            <a:headEnd/>
            <a:tailEnd/>
          </a:ln>
          <a:effectLst/>
        </p:spPr>
        <p:txBody>
          <a:bodyPr anchor="ctr"/>
          <a:lstStyle/>
          <a:p>
            <a:pPr algn="ctr"/>
            <a:r>
              <a:rPr lang="es-ES" sz="1100" dirty="0"/>
              <a:t>3</a:t>
            </a:r>
          </a:p>
        </p:txBody>
      </p:sp>
      <p:sp>
        <p:nvSpPr>
          <p:cNvPr id="69" name="Rounded Rectangle 68"/>
          <p:cNvSpPr/>
          <p:nvPr/>
        </p:nvSpPr>
        <p:spPr>
          <a:xfrm>
            <a:off x="5102950" y="3665875"/>
            <a:ext cx="3132000" cy="170094"/>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Afectación a Clientes</a:t>
            </a:r>
          </a:p>
        </p:txBody>
      </p:sp>
      <p:sp>
        <p:nvSpPr>
          <p:cNvPr id="70" name="Rectangle 18"/>
          <p:cNvSpPr>
            <a:spLocks noChangeArrowheads="1"/>
          </p:cNvSpPr>
          <p:nvPr/>
        </p:nvSpPr>
        <p:spPr bwMode="auto">
          <a:xfrm>
            <a:off x="5102950" y="3884032"/>
            <a:ext cx="3780000" cy="469509"/>
          </a:xfrm>
          <a:prstGeom prst="rect">
            <a:avLst/>
          </a:prstGeom>
          <a:solidFill>
            <a:schemeClr val="bg1"/>
          </a:solidFill>
          <a:ln w="9525" algn="ctr">
            <a:solidFill>
              <a:schemeClr val="bg2"/>
            </a:solidFill>
            <a:miter lim="800000"/>
            <a:headEnd/>
            <a:tailEnd/>
          </a:ln>
          <a:effectLst/>
        </p:spPr>
        <p:txBody>
          <a:bodyPr anchor="ctr"/>
          <a:lstStyle/>
          <a:p>
            <a:r>
              <a:rPr lang="es-ES" sz="1100" dirty="0">
                <a:solidFill>
                  <a:srgbClr val="000000"/>
                </a:solidFill>
              </a:rPr>
              <a:t>La exposición de la imagen es interna y externa con un nivel de impacto medio.</a:t>
            </a:r>
          </a:p>
        </p:txBody>
      </p:sp>
      <p:sp>
        <p:nvSpPr>
          <p:cNvPr id="73" name="AutoShape 179"/>
          <p:cNvSpPr>
            <a:spLocks noChangeArrowheads="1"/>
          </p:cNvSpPr>
          <p:nvPr/>
        </p:nvSpPr>
        <p:spPr bwMode="auto">
          <a:xfrm>
            <a:off x="4927319" y="4494825"/>
            <a:ext cx="4037169" cy="1001482"/>
          </a:xfrm>
          <a:prstGeom prst="roundRect">
            <a:avLst>
              <a:gd name="adj" fmla="val 9481"/>
            </a:avLst>
          </a:prstGeom>
          <a:solidFill>
            <a:schemeClr val="accent1">
              <a:lumMod val="20000"/>
              <a:lumOff val="80000"/>
            </a:schemeClr>
          </a:solidFill>
          <a:ln w="9525" algn="ctr">
            <a:noFill/>
            <a:round/>
            <a:headEnd/>
            <a:tailEnd/>
          </a:ln>
          <a:effectLst/>
        </p:spPr>
        <p:txBody>
          <a:bodyPr wrap="none" anchor="ctr"/>
          <a:lstStyle/>
          <a:p>
            <a:endParaRPr lang="es-CL">
              <a:solidFill>
                <a:srgbClr val="002060"/>
              </a:solidFill>
            </a:endParaRPr>
          </a:p>
        </p:txBody>
      </p:sp>
      <p:sp>
        <p:nvSpPr>
          <p:cNvPr id="74" name="AutoShape 47"/>
          <p:cNvSpPr>
            <a:spLocks noChangeArrowheads="1"/>
          </p:cNvSpPr>
          <p:nvPr/>
        </p:nvSpPr>
        <p:spPr bwMode="blackWhite">
          <a:xfrm>
            <a:off x="4673792" y="4496327"/>
            <a:ext cx="352800" cy="1001482"/>
          </a:xfrm>
          <a:prstGeom prst="rightArrow">
            <a:avLst>
              <a:gd name="adj1" fmla="val 100000"/>
              <a:gd name="adj2" fmla="val 11009"/>
            </a:avLst>
          </a:prstGeom>
          <a:solidFill>
            <a:srgbClr val="969696"/>
          </a:solidFill>
          <a:ln w="12700">
            <a:noFill/>
            <a:miter lim="800000"/>
            <a:headEnd/>
            <a:tailEnd/>
          </a:ln>
          <a:effectLst>
            <a:outerShdw dist="35921" dir="2700000" algn="ctr" rotWithShape="0">
              <a:schemeClr val="bg2"/>
            </a:outerShdw>
          </a:effectLst>
        </p:spPr>
        <p:txBody>
          <a:bodyPr vert="vert270" anchor="ctr"/>
          <a:lstStyle/>
          <a:p>
            <a:pPr algn="ctr">
              <a:lnSpc>
                <a:spcPts val="1000"/>
              </a:lnSpc>
            </a:pPr>
            <a:r>
              <a:rPr lang="es-ES" sz="1100" b="1" noProof="1">
                <a:solidFill>
                  <a:srgbClr val="FFFFFF"/>
                </a:solidFill>
                <a:cs typeface="Arial" charset="0"/>
              </a:rPr>
              <a:t>Cuestionarios</a:t>
            </a:r>
          </a:p>
        </p:txBody>
      </p:sp>
      <p:sp>
        <p:nvSpPr>
          <p:cNvPr id="76" name="Rounded Rectangle 38"/>
          <p:cNvSpPr/>
          <p:nvPr/>
        </p:nvSpPr>
        <p:spPr>
          <a:xfrm>
            <a:off x="5098230" y="4570092"/>
            <a:ext cx="3132000" cy="170094"/>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Criterios de Evaluación</a:t>
            </a:r>
          </a:p>
        </p:txBody>
      </p:sp>
      <p:sp>
        <p:nvSpPr>
          <p:cNvPr id="77" name="Rectangle 18"/>
          <p:cNvSpPr>
            <a:spLocks noChangeArrowheads="1"/>
          </p:cNvSpPr>
          <p:nvPr/>
        </p:nvSpPr>
        <p:spPr bwMode="auto">
          <a:xfrm>
            <a:off x="5102950" y="4783265"/>
            <a:ext cx="3780000" cy="526663"/>
          </a:xfrm>
          <a:prstGeom prst="rect">
            <a:avLst/>
          </a:prstGeom>
          <a:solidFill>
            <a:schemeClr val="bg1"/>
          </a:solidFill>
          <a:ln w="9525" algn="ctr">
            <a:solidFill>
              <a:schemeClr val="bg2"/>
            </a:solidFill>
            <a:miter lim="800000"/>
            <a:headEnd/>
            <a:tailEnd/>
          </a:ln>
          <a:effectLst/>
        </p:spPr>
        <p:txBody>
          <a:bodyPr anchor="ctr"/>
          <a:lstStyle/>
          <a:p>
            <a:pPr algn="just"/>
            <a:r>
              <a:rPr lang="es-ES" sz="1000" dirty="0"/>
              <a:t>El experto estima que 120 trámites resultan erróneos al mes , lo cual podría implicar que  podrías dejar de percibir el 5% de éstas. Para el Impacto Medio se utilizó la prima media y para el peor escenario se usó una prima cercana a las máximas.</a:t>
            </a:r>
            <a:endParaRPr lang="es-ES" sz="1000" dirty="0">
              <a:solidFill>
                <a:srgbClr val="000000"/>
              </a:solidFill>
            </a:endParaRPr>
          </a:p>
        </p:txBody>
      </p:sp>
      <p:sp>
        <p:nvSpPr>
          <p:cNvPr id="78" name="Text Box 30"/>
          <p:cNvSpPr txBox="1">
            <a:spLocks noChangeArrowheads="1"/>
          </p:cNvSpPr>
          <p:nvPr/>
        </p:nvSpPr>
        <p:spPr bwMode="auto">
          <a:xfrm>
            <a:off x="190746" y="4977551"/>
            <a:ext cx="3996000" cy="276999"/>
          </a:xfrm>
          <a:prstGeom prst="rect">
            <a:avLst/>
          </a:prstGeom>
          <a:noFill/>
          <a:ln w="9525" algn="ctr">
            <a:noFill/>
            <a:miter lim="800000"/>
            <a:headEnd/>
            <a:tailEnd/>
          </a:ln>
          <a:effectLst/>
        </p:spPr>
        <p:txBody>
          <a:bodyPr wrap="square">
            <a:spAutoFit/>
          </a:bodyPr>
          <a:lstStyle/>
          <a:p>
            <a:pPr>
              <a:spcBef>
                <a:spcPct val="50000"/>
              </a:spcBef>
            </a:pPr>
            <a:r>
              <a:rPr lang="es-CL" sz="1200" b="1" i="1" dirty="0">
                <a:solidFill>
                  <a:srgbClr val="A3A3E0"/>
                </a:solidFill>
              </a:rPr>
              <a:t>Resultados valoración de controles / factores mitigantes</a:t>
            </a:r>
            <a:endParaRPr lang="es-ES" sz="1200" b="1" i="1" dirty="0">
              <a:solidFill>
                <a:srgbClr val="A3A3E0"/>
              </a:solidFill>
            </a:endParaRPr>
          </a:p>
        </p:txBody>
      </p:sp>
      <p:sp>
        <p:nvSpPr>
          <p:cNvPr id="84" name="AutoShape 179"/>
          <p:cNvSpPr>
            <a:spLocks noChangeArrowheads="1"/>
          </p:cNvSpPr>
          <p:nvPr/>
        </p:nvSpPr>
        <p:spPr bwMode="auto">
          <a:xfrm>
            <a:off x="534831" y="5200032"/>
            <a:ext cx="4037169" cy="864000"/>
          </a:xfrm>
          <a:prstGeom prst="roundRect">
            <a:avLst>
              <a:gd name="adj" fmla="val 9481"/>
            </a:avLst>
          </a:prstGeom>
          <a:solidFill>
            <a:schemeClr val="accent1">
              <a:lumMod val="20000"/>
              <a:lumOff val="80000"/>
            </a:schemeClr>
          </a:solidFill>
          <a:ln w="9525" algn="ctr">
            <a:noFill/>
            <a:round/>
            <a:headEnd/>
            <a:tailEnd/>
          </a:ln>
          <a:effectLst/>
        </p:spPr>
        <p:txBody>
          <a:bodyPr wrap="none" anchor="ctr"/>
          <a:lstStyle/>
          <a:p>
            <a:endParaRPr lang="es-CL">
              <a:solidFill>
                <a:srgbClr val="002060"/>
              </a:solidFill>
            </a:endParaRPr>
          </a:p>
        </p:txBody>
      </p:sp>
      <p:sp>
        <p:nvSpPr>
          <p:cNvPr id="85" name="AutoShape 47"/>
          <p:cNvSpPr>
            <a:spLocks noChangeArrowheads="1"/>
          </p:cNvSpPr>
          <p:nvPr/>
        </p:nvSpPr>
        <p:spPr bwMode="blackWhite">
          <a:xfrm>
            <a:off x="281304" y="5201534"/>
            <a:ext cx="353942" cy="864000"/>
          </a:xfrm>
          <a:prstGeom prst="rightArrow">
            <a:avLst>
              <a:gd name="adj1" fmla="val 100000"/>
              <a:gd name="adj2" fmla="val 11009"/>
            </a:avLst>
          </a:prstGeom>
          <a:solidFill>
            <a:srgbClr val="969696"/>
          </a:solidFill>
          <a:ln w="12700">
            <a:noFill/>
            <a:miter lim="800000"/>
            <a:headEnd/>
            <a:tailEnd/>
          </a:ln>
          <a:effectLst>
            <a:outerShdw dist="35921" dir="2700000" algn="ctr" rotWithShape="0">
              <a:schemeClr val="bg2"/>
            </a:outerShdw>
          </a:effectLst>
        </p:spPr>
        <p:txBody>
          <a:bodyPr vert="vert270" anchor="ctr"/>
          <a:lstStyle/>
          <a:p>
            <a:pPr algn="ctr">
              <a:lnSpc>
                <a:spcPts val="1000"/>
              </a:lnSpc>
            </a:pPr>
            <a:r>
              <a:rPr lang="es-ES" sz="1100" b="1" noProof="1">
                <a:solidFill>
                  <a:srgbClr val="FFFFFF"/>
                </a:solidFill>
                <a:cs typeface="Arial" charset="0"/>
              </a:rPr>
              <a:t>Evaluación de Controles</a:t>
            </a:r>
          </a:p>
        </p:txBody>
      </p:sp>
      <p:sp>
        <p:nvSpPr>
          <p:cNvPr id="86" name="Rectangle 18"/>
          <p:cNvSpPr>
            <a:spLocks noChangeArrowheads="1"/>
          </p:cNvSpPr>
          <p:nvPr/>
        </p:nvSpPr>
        <p:spPr bwMode="auto">
          <a:xfrm>
            <a:off x="3937102" y="5275299"/>
            <a:ext cx="548640" cy="170094"/>
          </a:xfrm>
          <a:prstGeom prst="rect">
            <a:avLst/>
          </a:prstGeom>
          <a:solidFill>
            <a:schemeClr val="bg1"/>
          </a:solidFill>
          <a:ln w="9525" algn="ctr">
            <a:solidFill>
              <a:schemeClr val="bg2"/>
            </a:solidFill>
            <a:miter lim="800000"/>
            <a:headEnd/>
            <a:tailEnd/>
          </a:ln>
          <a:effectLst/>
        </p:spPr>
        <p:txBody>
          <a:bodyPr anchor="ctr"/>
          <a:lstStyle/>
          <a:p>
            <a:pPr algn="ctr"/>
            <a:r>
              <a:rPr lang="es-ES" sz="1100" dirty="0">
                <a:solidFill>
                  <a:srgbClr val="002060"/>
                </a:solidFill>
              </a:rPr>
              <a:t>0</a:t>
            </a:r>
          </a:p>
        </p:txBody>
      </p:sp>
      <p:sp>
        <p:nvSpPr>
          <p:cNvPr id="87" name="Rounded Rectangle 38"/>
          <p:cNvSpPr/>
          <p:nvPr/>
        </p:nvSpPr>
        <p:spPr>
          <a:xfrm>
            <a:off x="705742" y="5275299"/>
            <a:ext cx="3132000" cy="170094"/>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Controles asociados al riesgo</a:t>
            </a:r>
          </a:p>
        </p:txBody>
      </p:sp>
      <p:sp>
        <p:nvSpPr>
          <p:cNvPr id="88" name="Rectangle 18"/>
          <p:cNvSpPr>
            <a:spLocks noChangeArrowheads="1"/>
          </p:cNvSpPr>
          <p:nvPr/>
        </p:nvSpPr>
        <p:spPr bwMode="auto">
          <a:xfrm>
            <a:off x="705742" y="5496307"/>
            <a:ext cx="3780000" cy="469509"/>
          </a:xfrm>
          <a:prstGeom prst="rect">
            <a:avLst/>
          </a:prstGeom>
          <a:solidFill>
            <a:schemeClr val="bg1"/>
          </a:solidFill>
          <a:ln w="9525" algn="ctr">
            <a:solidFill>
              <a:schemeClr val="bg2"/>
            </a:solidFill>
            <a:miter lim="800000"/>
            <a:headEnd/>
            <a:tailEnd/>
          </a:ln>
          <a:effectLst/>
        </p:spPr>
        <p:txBody>
          <a:bodyPr anchor="ctr"/>
          <a:lstStyle/>
          <a:p>
            <a:r>
              <a:rPr lang="es-PE" sz="1100" dirty="0">
                <a:solidFill>
                  <a:srgbClr val="000000"/>
                </a:solidFill>
              </a:rPr>
              <a:t>No existe un control definido.</a:t>
            </a:r>
            <a:endParaRPr lang="es-ES" sz="1100" dirty="0">
              <a:solidFill>
                <a:srgbClr val="000000"/>
              </a:solidFill>
            </a:endParaRP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dirty="0"/>
              <a:t>Anexo: Ficha Individual Riesgos Operacionales</a:t>
            </a:r>
          </a:p>
        </p:txBody>
      </p:sp>
      <p:sp>
        <p:nvSpPr>
          <p:cNvPr id="3" name="AutoShape 179"/>
          <p:cNvSpPr>
            <a:spLocks noChangeArrowheads="1"/>
          </p:cNvSpPr>
          <p:nvPr/>
        </p:nvSpPr>
        <p:spPr bwMode="auto">
          <a:xfrm>
            <a:off x="611560" y="3535397"/>
            <a:ext cx="3960812" cy="1371600"/>
          </a:xfrm>
          <a:prstGeom prst="roundRect">
            <a:avLst>
              <a:gd name="adj" fmla="val 9481"/>
            </a:avLst>
          </a:prstGeom>
          <a:solidFill>
            <a:schemeClr val="accent1">
              <a:lumMod val="20000"/>
              <a:lumOff val="80000"/>
            </a:schemeClr>
          </a:solidFill>
          <a:ln w="9525" algn="ctr">
            <a:noFill/>
            <a:round/>
            <a:headEnd/>
            <a:tailEnd/>
          </a:ln>
          <a:effectLst/>
        </p:spPr>
        <p:txBody>
          <a:bodyPr wrap="none" anchor="ctr"/>
          <a:lstStyle/>
          <a:p>
            <a:endParaRPr lang="es-CL">
              <a:solidFill>
                <a:srgbClr val="002060"/>
              </a:solidFill>
            </a:endParaRPr>
          </a:p>
        </p:txBody>
      </p:sp>
      <p:sp>
        <p:nvSpPr>
          <p:cNvPr id="4" name="Rounded Rectangle 3"/>
          <p:cNvSpPr/>
          <p:nvPr/>
        </p:nvSpPr>
        <p:spPr>
          <a:xfrm>
            <a:off x="214497" y="764704"/>
            <a:ext cx="397063" cy="274320"/>
          </a:xfrm>
          <a:prstGeom prst="roundRect">
            <a:avLst/>
          </a:prstGeom>
          <a:solidFill>
            <a:srgbClr val="DB0613"/>
          </a:solidFill>
          <a:ln w="9525" algn="ctr">
            <a:noFill/>
            <a:miter lim="800000"/>
            <a:headEnd/>
            <a:tailEnd/>
          </a:ln>
          <a:effectLst/>
        </p:spPr>
        <p:txBody>
          <a:bodyPr anchor="ctr"/>
          <a:lstStyle/>
          <a:p>
            <a:pPr algn="ctr">
              <a:lnSpc>
                <a:spcPct val="80000"/>
              </a:lnSpc>
            </a:pPr>
            <a:r>
              <a:rPr lang="es-CL" sz="1200" b="1" dirty="0">
                <a:solidFill>
                  <a:srgbClr val="FFFFFF"/>
                </a:solidFill>
                <a:cs typeface="Arial" pitchFamily="34" charset="0"/>
              </a:rPr>
              <a:t>14</a:t>
            </a:r>
          </a:p>
        </p:txBody>
      </p:sp>
      <p:sp>
        <p:nvSpPr>
          <p:cNvPr id="5" name="Rectangle 18"/>
          <p:cNvSpPr>
            <a:spLocks noChangeArrowheads="1"/>
          </p:cNvSpPr>
          <p:nvPr/>
        </p:nvSpPr>
        <p:spPr bwMode="auto">
          <a:xfrm>
            <a:off x="227770" y="2409552"/>
            <a:ext cx="6400800" cy="839807"/>
          </a:xfrm>
          <a:prstGeom prst="rect">
            <a:avLst/>
          </a:prstGeom>
          <a:noFill/>
          <a:ln w="9525" algn="ctr">
            <a:solidFill>
              <a:schemeClr val="bg2"/>
            </a:solidFill>
            <a:miter lim="800000"/>
            <a:headEnd/>
            <a:tailEnd/>
          </a:ln>
          <a:effectLst/>
        </p:spPr>
        <p:txBody>
          <a:bodyPr/>
          <a:lstStyle/>
          <a:p>
            <a:r>
              <a:rPr lang="es-ES" sz="1100" dirty="0"/>
              <a:t>El riesgo se da cuando un inspector captura de manera errónea algún dato de su informe de inspección al momento de adjuntarlo al trámite. </a:t>
            </a:r>
            <a:endParaRPr lang="es-ES" sz="1100" dirty="0">
              <a:solidFill>
                <a:srgbClr val="002060"/>
              </a:solidFill>
            </a:endParaRPr>
          </a:p>
        </p:txBody>
      </p:sp>
      <p:sp>
        <p:nvSpPr>
          <p:cNvPr id="7" name="Text Box 30"/>
          <p:cNvSpPr txBox="1">
            <a:spLocks noChangeArrowheads="1"/>
          </p:cNvSpPr>
          <p:nvPr/>
        </p:nvSpPr>
        <p:spPr bwMode="auto">
          <a:xfrm>
            <a:off x="190747" y="3299257"/>
            <a:ext cx="3671888" cy="276999"/>
          </a:xfrm>
          <a:prstGeom prst="rect">
            <a:avLst/>
          </a:prstGeom>
          <a:noFill/>
          <a:ln w="9525" algn="ctr">
            <a:noFill/>
            <a:miter lim="800000"/>
            <a:headEnd/>
            <a:tailEnd/>
          </a:ln>
          <a:effectLst/>
        </p:spPr>
        <p:txBody>
          <a:bodyPr>
            <a:spAutoFit/>
          </a:bodyPr>
          <a:lstStyle/>
          <a:p>
            <a:pPr>
              <a:spcBef>
                <a:spcPct val="50000"/>
              </a:spcBef>
            </a:pPr>
            <a:r>
              <a:rPr lang="es-CL" sz="1200" b="1" i="1" dirty="0">
                <a:solidFill>
                  <a:srgbClr val="A3A3E0"/>
                </a:solidFill>
              </a:rPr>
              <a:t>Resultados valoración de riesgos</a:t>
            </a:r>
            <a:endParaRPr lang="es-ES" sz="1200" b="1" i="1" dirty="0">
              <a:solidFill>
                <a:srgbClr val="A3A3E0"/>
              </a:solidFill>
            </a:endParaRPr>
          </a:p>
        </p:txBody>
      </p:sp>
      <p:sp>
        <p:nvSpPr>
          <p:cNvPr id="8" name="Rounded Rectangle 7"/>
          <p:cNvSpPr/>
          <p:nvPr/>
        </p:nvSpPr>
        <p:spPr>
          <a:xfrm>
            <a:off x="652842" y="764704"/>
            <a:ext cx="8321040" cy="274320"/>
          </a:xfrm>
          <a:prstGeom prst="roundRect">
            <a:avLst/>
          </a:prstGeom>
          <a:solidFill>
            <a:srgbClr val="DB0613"/>
          </a:solidFill>
          <a:ln w="9525" algn="ctr">
            <a:noFill/>
            <a:miter lim="800000"/>
            <a:headEnd/>
            <a:tailEnd/>
          </a:ln>
          <a:effectLst/>
        </p:spPr>
        <p:txBody>
          <a:bodyPr anchor="ctr"/>
          <a:lstStyle/>
          <a:p>
            <a:pPr>
              <a:lnSpc>
                <a:spcPct val="80000"/>
              </a:lnSpc>
            </a:pPr>
            <a:r>
              <a:rPr lang="es-ES" sz="1200" dirty="0">
                <a:solidFill>
                  <a:schemeClr val="bg1"/>
                </a:solidFill>
              </a:rPr>
              <a:t>Error en la captura de datos en la Inspección Técnica. </a:t>
            </a:r>
            <a:endParaRPr lang="es-CL" sz="1200" b="1" dirty="0">
              <a:solidFill>
                <a:schemeClr val="bg1"/>
              </a:solidFill>
              <a:cs typeface="Arial" pitchFamily="34" charset="0"/>
            </a:endParaRPr>
          </a:p>
        </p:txBody>
      </p:sp>
      <p:sp>
        <p:nvSpPr>
          <p:cNvPr id="9" name="Rounded Rectangle 8"/>
          <p:cNvSpPr/>
          <p:nvPr/>
        </p:nvSpPr>
        <p:spPr>
          <a:xfrm>
            <a:off x="227770" y="2202383"/>
            <a:ext cx="64008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Descripción</a:t>
            </a:r>
          </a:p>
        </p:txBody>
      </p:sp>
      <p:sp>
        <p:nvSpPr>
          <p:cNvPr id="10" name="Rounded Rectangle 9"/>
          <p:cNvSpPr/>
          <p:nvPr/>
        </p:nvSpPr>
        <p:spPr>
          <a:xfrm>
            <a:off x="6716066" y="1089119"/>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Categoría  de Riesgo Nivel I</a:t>
            </a:r>
          </a:p>
        </p:txBody>
      </p:sp>
      <p:sp>
        <p:nvSpPr>
          <p:cNvPr id="11" name="Rectangle 18"/>
          <p:cNvSpPr>
            <a:spLocks noChangeArrowheads="1"/>
          </p:cNvSpPr>
          <p:nvPr/>
        </p:nvSpPr>
        <p:spPr bwMode="auto">
          <a:xfrm>
            <a:off x="6716066" y="1316374"/>
            <a:ext cx="2286000" cy="365760"/>
          </a:xfrm>
          <a:prstGeom prst="rect">
            <a:avLst/>
          </a:prstGeom>
          <a:noFill/>
          <a:ln w="9525" algn="ctr">
            <a:solidFill>
              <a:schemeClr val="bg2"/>
            </a:solidFill>
            <a:miter lim="800000"/>
            <a:headEnd/>
            <a:tailEnd/>
          </a:ln>
          <a:effectLst/>
        </p:spPr>
        <p:txBody>
          <a:bodyPr anchor="ctr"/>
          <a:lstStyle/>
          <a:p>
            <a:pPr>
              <a:lnSpc>
                <a:spcPts val="1000"/>
              </a:lnSpc>
            </a:pPr>
            <a:r>
              <a:rPr lang="es-ES" sz="1100" dirty="0"/>
              <a:t>Ejecución, entrega y gestión de procesos</a:t>
            </a:r>
          </a:p>
        </p:txBody>
      </p:sp>
      <p:sp>
        <p:nvSpPr>
          <p:cNvPr id="12" name="Rounded Rectangle 11"/>
          <p:cNvSpPr/>
          <p:nvPr/>
        </p:nvSpPr>
        <p:spPr>
          <a:xfrm>
            <a:off x="6716066" y="1725169"/>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Categoría de Riesgo Nivel II</a:t>
            </a:r>
          </a:p>
        </p:txBody>
      </p:sp>
      <p:sp>
        <p:nvSpPr>
          <p:cNvPr id="13" name="Rectangle 18"/>
          <p:cNvSpPr>
            <a:spLocks noChangeArrowheads="1"/>
          </p:cNvSpPr>
          <p:nvPr/>
        </p:nvSpPr>
        <p:spPr bwMode="auto">
          <a:xfrm>
            <a:off x="6716066" y="1942710"/>
            <a:ext cx="2286000" cy="274320"/>
          </a:xfrm>
          <a:prstGeom prst="rect">
            <a:avLst/>
          </a:prstGeom>
          <a:noFill/>
          <a:ln w="9525" algn="ctr">
            <a:solidFill>
              <a:schemeClr val="bg2"/>
            </a:solidFill>
            <a:miter lim="800000"/>
            <a:headEnd/>
            <a:tailEnd/>
          </a:ln>
          <a:effectLst/>
        </p:spPr>
        <p:txBody>
          <a:bodyPr anchor="ctr"/>
          <a:lstStyle/>
          <a:p>
            <a:r>
              <a:rPr lang="es-ES" sz="1100" dirty="0"/>
              <a:t>Captura e integridad de los datos</a:t>
            </a:r>
          </a:p>
        </p:txBody>
      </p:sp>
      <p:sp>
        <p:nvSpPr>
          <p:cNvPr id="16" name="Rectangle 18"/>
          <p:cNvSpPr>
            <a:spLocks noChangeArrowheads="1"/>
          </p:cNvSpPr>
          <p:nvPr/>
        </p:nvSpPr>
        <p:spPr bwMode="auto">
          <a:xfrm>
            <a:off x="6716066" y="2459338"/>
            <a:ext cx="2286000" cy="357974"/>
          </a:xfrm>
          <a:prstGeom prst="rect">
            <a:avLst/>
          </a:prstGeom>
          <a:noFill/>
          <a:ln w="9525" algn="ctr">
            <a:solidFill>
              <a:schemeClr val="bg2"/>
            </a:solidFill>
            <a:miter lim="800000"/>
            <a:headEnd/>
            <a:tailEnd/>
          </a:ln>
          <a:effectLst/>
        </p:spPr>
        <p:txBody>
          <a:bodyPr anchor="ctr"/>
          <a:lstStyle/>
          <a:p>
            <a:r>
              <a:rPr lang="es-ES" sz="1100" dirty="0"/>
              <a:t>Error en la entrada de datos</a:t>
            </a:r>
            <a:endParaRPr lang="es-ES" sz="1100" dirty="0">
              <a:solidFill>
                <a:srgbClr val="002060"/>
              </a:solidFill>
            </a:endParaRPr>
          </a:p>
        </p:txBody>
      </p:sp>
      <p:sp>
        <p:nvSpPr>
          <p:cNvPr id="17" name="Rounded Rectangle 16"/>
          <p:cNvSpPr/>
          <p:nvPr/>
        </p:nvSpPr>
        <p:spPr>
          <a:xfrm>
            <a:off x="227770" y="1110038"/>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Macroproceso</a:t>
            </a:r>
          </a:p>
        </p:txBody>
      </p:sp>
      <p:sp>
        <p:nvSpPr>
          <p:cNvPr id="18" name="Rectangle 18"/>
          <p:cNvSpPr>
            <a:spLocks noChangeArrowheads="1"/>
          </p:cNvSpPr>
          <p:nvPr/>
        </p:nvSpPr>
        <p:spPr bwMode="auto">
          <a:xfrm>
            <a:off x="2568409" y="1110038"/>
            <a:ext cx="4060161" cy="182880"/>
          </a:xfrm>
          <a:prstGeom prst="rect">
            <a:avLst/>
          </a:prstGeom>
          <a:noFill/>
          <a:ln w="9525" algn="ctr">
            <a:solidFill>
              <a:schemeClr val="bg2"/>
            </a:solidFill>
            <a:miter lim="800000"/>
            <a:headEnd/>
            <a:tailEnd/>
          </a:ln>
          <a:effectLst/>
        </p:spPr>
        <p:txBody>
          <a:bodyPr anchor="ctr"/>
          <a:lstStyle/>
          <a:p>
            <a:r>
              <a:rPr lang="es-ES" sz="1100" dirty="0"/>
              <a:t>Generación de Negocio</a:t>
            </a:r>
          </a:p>
        </p:txBody>
      </p:sp>
      <p:sp>
        <p:nvSpPr>
          <p:cNvPr id="19" name="Rounded Rectangle 18"/>
          <p:cNvSpPr/>
          <p:nvPr/>
        </p:nvSpPr>
        <p:spPr>
          <a:xfrm>
            <a:off x="227770" y="1339045"/>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Proceso</a:t>
            </a:r>
          </a:p>
        </p:txBody>
      </p:sp>
      <p:sp>
        <p:nvSpPr>
          <p:cNvPr id="20" name="Rectangle 18"/>
          <p:cNvSpPr>
            <a:spLocks noChangeArrowheads="1"/>
          </p:cNvSpPr>
          <p:nvPr/>
        </p:nvSpPr>
        <p:spPr bwMode="auto">
          <a:xfrm>
            <a:off x="2568409" y="1339045"/>
            <a:ext cx="4060161" cy="182880"/>
          </a:xfrm>
          <a:prstGeom prst="rect">
            <a:avLst/>
          </a:prstGeom>
          <a:noFill/>
          <a:ln w="9525" algn="ctr">
            <a:solidFill>
              <a:schemeClr val="bg2"/>
            </a:solidFill>
            <a:miter lim="800000"/>
            <a:headEnd/>
            <a:tailEnd/>
          </a:ln>
          <a:effectLst/>
        </p:spPr>
        <p:txBody>
          <a:bodyPr anchor="ctr"/>
          <a:lstStyle/>
          <a:p>
            <a:r>
              <a:rPr lang="es-ES" sz="1100" dirty="0"/>
              <a:t>Suscripción</a:t>
            </a:r>
          </a:p>
        </p:txBody>
      </p:sp>
      <p:sp>
        <p:nvSpPr>
          <p:cNvPr id="21" name="Rectangle 29"/>
          <p:cNvSpPr>
            <a:spLocks noChangeArrowheads="1"/>
          </p:cNvSpPr>
          <p:nvPr/>
        </p:nvSpPr>
        <p:spPr bwMode="auto">
          <a:xfrm>
            <a:off x="107504" y="3423715"/>
            <a:ext cx="8961120" cy="1607926"/>
          </a:xfrm>
          <a:prstGeom prst="rect">
            <a:avLst/>
          </a:prstGeom>
          <a:noFill/>
          <a:ln w="19050" cap="rnd" algn="ctr">
            <a:solidFill>
              <a:schemeClr val="bg2"/>
            </a:solidFill>
            <a:prstDash val="sysDot"/>
            <a:miter lim="800000"/>
            <a:headEnd/>
            <a:tailEnd/>
          </a:ln>
          <a:effectLst/>
        </p:spPr>
        <p:txBody>
          <a:bodyPr wrap="none" anchor="ctr"/>
          <a:lstStyle/>
          <a:p>
            <a:endParaRPr lang="en-US">
              <a:solidFill>
                <a:srgbClr val="002060"/>
              </a:solidFill>
            </a:endParaRPr>
          </a:p>
        </p:txBody>
      </p:sp>
      <p:sp>
        <p:nvSpPr>
          <p:cNvPr id="22" name="Rounded Rectangle 21"/>
          <p:cNvSpPr/>
          <p:nvPr/>
        </p:nvSpPr>
        <p:spPr>
          <a:xfrm>
            <a:off x="902959" y="4382163"/>
            <a:ext cx="1920240" cy="182880"/>
          </a:xfrm>
          <a:prstGeom prst="roundRect">
            <a:avLst/>
          </a:prstGeom>
          <a:solidFill>
            <a:srgbClr val="DB0613"/>
          </a:solidFill>
          <a:ln w="9525" algn="ctr">
            <a:noFill/>
            <a:miter lim="800000"/>
            <a:headEnd/>
            <a:tailEnd/>
          </a:ln>
          <a:effectLst/>
        </p:spPr>
        <p:txBody>
          <a:bodyPr tIns="91440" anchor="ctr"/>
          <a:lstStyle/>
          <a:p>
            <a:pPr>
              <a:lnSpc>
                <a:spcPct val="80000"/>
              </a:lnSpc>
            </a:pPr>
            <a:r>
              <a:rPr lang="es-CL" sz="1100" b="1" dirty="0">
                <a:solidFill>
                  <a:srgbClr val="FFFFFF"/>
                </a:solidFill>
                <a:cs typeface="Arial" pitchFamily="34" charset="0"/>
              </a:rPr>
              <a:t>Pérdida Esperada Anual</a:t>
            </a:r>
          </a:p>
        </p:txBody>
      </p:sp>
      <p:sp>
        <p:nvSpPr>
          <p:cNvPr id="23" name="Rectangle 18"/>
          <p:cNvSpPr>
            <a:spLocks noChangeArrowheads="1"/>
          </p:cNvSpPr>
          <p:nvPr/>
        </p:nvSpPr>
        <p:spPr bwMode="auto">
          <a:xfrm>
            <a:off x="2859920" y="4382163"/>
            <a:ext cx="1554480" cy="182880"/>
          </a:xfrm>
          <a:prstGeom prst="rect">
            <a:avLst/>
          </a:prstGeom>
          <a:solidFill>
            <a:schemeClr val="bg1"/>
          </a:solidFill>
          <a:ln w="9525" algn="ctr">
            <a:solidFill>
              <a:schemeClr val="bg2"/>
            </a:solidFill>
            <a:miter lim="800000"/>
            <a:headEnd/>
            <a:tailEnd/>
          </a:ln>
          <a:effectLst/>
        </p:spPr>
        <p:txBody>
          <a:bodyPr anchor="ctr"/>
          <a:lstStyle/>
          <a:p>
            <a:pPr algn="ctr"/>
            <a:r>
              <a:rPr lang="es-ES" sz="1100" dirty="0"/>
              <a:t>S/. 39,768.00</a:t>
            </a:r>
            <a:endParaRPr lang="es-ES" sz="1100" dirty="0">
              <a:solidFill>
                <a:srgbClr val="002060"/>
              </a:solidFill>
            </a:endParaRPr>
          </a:p>
        </p:txBody>
      </p:sp>
      <p:sp>
        <p:nvSpPr>
          <p:cNvPr id="24" name="Rounded Rectangle 23"/>
          <p:cNvSpPr/>
          <p:nvPr/>
        </p:nvSpPr>
        <p:spPr>
          <a:xfrm>
            <a:off x="902959" y="4611775"/>
            <a:ext cx="192024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VaR Cualitativo Anual</a:t>
            </a:r>
          </a:p>
        </p:txBody>
      </p:sp>
      <p:sp>
        <p:nvSpPr>
          <p:cNvPr id="25" name="Rectangle 18"/>
          <p:cNvSpPr>
            <a:spLocks noChangeArrowheads="1"/>
          </p:cNvSpPr>
          <p:nvPr/>
        </p:nvSpPr>
        <p:spPr bwMode="auto">
          <a:xfrm>
            <a:off x="2859920" y="4611775"/>
            <a:ext cx="1554480" cy="182880"/>
          </a:xfrm>
          <a:prstGeom prst="rect">
            <a:avLst/>
          </a:prstGeom>
          <a:solidFill>
            <a:schemeClr val="bg1"/>
          </a:solidFill>
          <a:ln w="9525" algn="ctr">
            <a:solidFill>
              <a:schemeClr val="bg2"/>
            </a:solidFill>
            <a:miter lim="800000"/>
            <a:headEnd/>
            <a:tailEnd/>
          </a:ln>
          <a:effectLst/>
        </p:spPr>
        <p:txBody>
          <a:bodyPr anchor="ctr"/>
          <a:lstStyle/>
          <a:p>
            <a:pPr algn="ctr"/>
            <a:r>
              <a:rPr lang="es-ES" sz="1100" dirty="0"/>
              <a:t>S/. 1,037,589.86</a:t>
            </a:r>
            <a:endParaRPr lang="es-ES" sz="1100" dirty="0">
              <a:solidFill>
                <a:srgbClr val="002060"/>
              </a:solidFill>
            </a:endParaRPr>
          </a:p>
        </p:txBody>
      </p:sp>
      <p:sp>
        <p:nvSpPr>
          <p:cNvPr id="26" name="Rounded Rectangle 25"/>
          <p:cNvSpPr/>
          <p:nvPr/>
        </p:nvSpPr>
        <p:spPr>
          <a:xfrm>
            <a:off x="891084" y="3618777"/>
            <a:ext cx="192024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Frecuencia  Evento Pérdida</a:t>
            </a:r>
          </a:p>
        </p:txBody>
      </p:sp>
      <p:sp>
        <p:nvSpPr>
          <p:cNvPr id="27" name="Rectangle 18"/>
          <p:cNvSpPr>
            <a:spLocks noChangeArrowheads="1"/>
          </p:cNvSpPr>
          <p:nvPr/>
        </p:nvSpPr>
        <p:spPr bwMode="auto">
          <a:xfrm>
            <a:off x="2859920" y="3618777"/>
            <a:ext cx="1554480" cy="182880"/>
          </a:xfrm>
          <a:prstGeom prst="rect">
            <a:avLst/>
          </a:prstGeom>
          <a:solidFill>
            <a:schemeClr val="bg1"/>
          </a:solidFill>
          <a:ln w="9525" algn="ctr">
            <a:solidFill>
              <a:schemeClr val="bg2"/>
            </a:solidFill>
            <a:miter lim="800000"/>
            <a:headEnd/>
            <a:tailEnd/>
          </a:ln>
          <a:effectLst/>
        </p:spPr>
        <p:txBody>
          <a:bodyPr anchor="ctr"/>
          <a:lstStyle/>
          <a:p>
            <a:pPr algn="ctr"/>
            <a:r>
              <a:rPr lang="es-ES" sz="1100" dirty="0"/>
              <a:t>2 veces por mes</a:t>
            </a:r>
          </a:p>
        </p:txBody>
      </p:sp>
      <p:sp>
        <p:nvSpPr>
          <p:cNvPr id="28" name="Rounded Rectangle 27"/>
          <p:cNvSpPr/>
          <p:nvPr/>
        </p:nvSpPr>
        <p:spPr>
          <a:xfrm>
            <a:off x="891084" y="3848389"/>
            <a:ext cx="192024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Impacto Medio Evento</a:t>
            </a:r>
          </a:p>
        </p:txBody>
      </p:sp>
      <p:sp>
        <p:nvSpPr>
          <p:cNvPr id="29" name="Rectangle 18"/>
          <p:cNvSpPr>
            <a:spLocks noChangeArrowheads="1"/>
          </p:cNvSpPr>
          <p:nvPr/>
        </p:nvSpPr>
        <p:spPr bwMode="auto">
          <a:xfrm>
            <a:off x="2859920" y="3848389"/>
            <a:ext cx="1554480" cy="182880"/>
          </a:xfrm>
          <a:prstGeom prst="rect">
            <a:avLst/>
          </a:prstGeom>
          <a:solidFill>
            <a:schemeClr val="bg1"/>
          </a:solidFill>
          <a:ln w="9525" algn="ctr">
            <a:solidFill>
              <a:schemeClr val="bg2"/>
            </a:solidFill>
            <a:miter lim="800000"/>
            <a:headEnd/>
            <a:tailEnd/>
          </a:ln>
          <a:effectLst/>
        </p:spPr>
        <p:txBody>
          <a:bodyPr anchor="ctr"/>
          <a:lstStyle/>
          <a:p>
            <a:pPr algn="ctr"/>
            <a:r>
              <a:rPr lang="es-ES" sz="1100" dirty="0"/>
              <a:t>S/. 1,657.00</a:t>
            </a:r>
            <a:endParaRPr lang="es-ES" sz="1100" dirty="0">
              <a:solidFill>
                <a:srgbClr val="002060"/>
              </a:solidFill>
            </a:endParaRPr>
          </a:p>
        </p:txBody>
      </p:sp>
      <p:sp>
        <p:nvSpPr>
          <p:cNvPr id="30" name="Rounded Rectangle 29"/>
          <p:cNvSpPr/>
          <p:nvPr/>
        </p:nvSpPr>
        <p:spPr>
          <a:xfrm>
            <a:off x="891084" y="4083969"/>
            <a:ext cx="192024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Impacto Peor Escenario</a:t>
            </a:r>
          </a:p>
        </p:txBody>
      </p:sp>
      <p:sp>
        <p:nvSpPr>
          <p:cNvPr id="31" name="Rectangle 18"/>
          <p:cNvSpPr>
            <a:spLocks noChangeArrowheads="1"/>
          </p:cNvSpPr>
          <p:nvPr/>
        </p:nvSpPr>
        <p:spPr bwMode="auto">
          <a:xfrm>
            <a:off x="2859920" y="4083969"/>
            <a:ext cx="1554480" cy="182880"/>
          </a:xfrm>
          <a:prstGeom prst="rect">
            <a:avLst/>
          </a:prstGeom>
          <a:solidFill>
            <a:schemeClr val="bg1"/>
          </a:solidFill>
          <a:ln w="9525" algn="ctr">
            <a:solidFill>
              <a:schemeClr val="bg2"/>
            </a:solidFill>
            <a:miter lim="800000"/>
            <a:headEnd/>
            <a:tailEnd/>
          </a:ln>
          <a:effectLst/>
        </p:spPr>
        <p:txBody>
          <a:bodyPr anchor="ctr"/>
          <a:lstStyle/>
          <a:p>
            <a:pPr algn="ctr"/>
            <a:r>
              <a:rPr lang="es-ES" sz="1100" dirty="0"/>
              <a:t>S/. 255,000.00</a:t>
            </a:r>
            <a:endParaRPr lang="es-ES" sz="1100" dirty="0">
              <a:solidFill>
                <a:srgbClr val="002060"/>
              </a:solidFill>
            </a:endParaRPr>
          </a:p>
        </p:txBody>
      </p:sp>
      <p:sp>
        <p:nvSpPr>
          <p:cNvPr id="32" name="AutoShape 47"/>
          <p:cNvSpPr>
            <a:spLocks noChangeAspect="1" noChangeArrowheads="1"/>
          </p:cNvSpPr>
          <p:nvPr/>
        </p:nvSpPr>
        <p:spPr bwMode="blackWhite">
          <a:xfrm>
            <a:off x="263033" y="3533122"/>
            <a:ext cx="492543" cy="1339083"/>
          </a:xfrm>
          <a:prstGeom prst="rightArrow">
            <a:avLst>
              <a:gd name="adj1" fmla="val 100000"/>
              <a:gd name="adj2" fmla="val 11009"/>
            </a:avLst>
          </a:prstGeom>
          <a:solidFill>
            <a:srgbClr val="969696"/>
          </a:solidFill>
          <a:ln w="12700">
            <a:noFill/>
            <a:miter lim="800000"/>
            <a:headEnd/>
            <a:tailEnd/>
          </a:ln>
          <a:effectLst>
            <a:outerShdw dist="35921" dir="2700000" algn="ctr" rotWithShape="0">
              <a:schemeClr val="bg2"/>
            </a:outerShdw>
          </a:effectLst>
        </p:spPr>
        <p:txBody>
          <a:bodyPr vert="vert270" anchor="ctr"/>
          <a:lstStyle/>
          <a:p>
            <a:pPr algn="ctr">
              <a:lnSpc>
                <a:spcPts val="1000"/>
              </a:lnSpc>
            </a:pPr>
            <a:r>
              <a:rPr lang="es-ES" sz="1200" b="1" noProof="1">
                <a:solidFill>
                  <a:srgbClr val="FFFFFF"/>
                </a:solidFill>
                <a:cs typeface="Arial" charset="0"/>
              </a:rPr>
              <a:t>Evaluación Riesgo Operacional</a:t>
            </a:r>
          </a:p>
        </p:txBody>
      </p:sp>
      <p:sp>
        <p:nvSpPr>
          <p:cNvPr id="43" name="Text Box 30"/>
          <p:cNvSpPr txBox="1">
            <a:spLocks noChangeArrowheads="1"/>
          </p:cNvSpPr>
          <p:nvPr/>
        </p:nvSpPr>
        <p:spPr bwMode="auto">
          <a:xfrm>
            <a:off x="190746" y="5007891"/>
            <a:ext cx="4741293" cy="276999"/>
          </a:xfrm>
          <a:prstGeom prst="rect">
            <a:avLst/>
          </a:prstGeom>
          <a:noFill/>
          <a:ln w="9525" algn="ctr">
            <a:noFill/>
            <a:miter lim="800000"/>
            <a:headEnd/>
            <a:tailEnd/>
          </a:ln>
          <a:effectLst/>
        </p:spPr>
        <p:txBody>
          <a:bodyPr wrap="square">
            <a:spAutoFit/>
          </a:bodyPr>
          <a:lstStyle/>
          <a:p>
            <a:pPr>
              <a:spcBef>
                <a:spcPct val="50000"/>
              </a:spcBef>
            </a:pPr>
            <a:r>
              <a:rPr lang="es-CL" sz="1200" b="1" i="1" dirty="0">
                <a:solidFill>
                  <a:srgbClr val="A3A3E0"/>
                </a:solidFill>
              </a:rPr>
              <a:t>Resultados valoración de controles / factores mitigantes</a:t>
            </a:r>
            <a:endParaRPr lang="es-ES" sz="1200" b="1" i="1" dirty="0">
              <a:solidFill>
                <a:srgbClr val="A3A3E0"/>
              </a:solidFill>
            </a:endParaRPr>
          </a:p>
        </p:txBody>
      </p:sp>
      <p:sp>
        <p:nvSpPr>
          <p:cNvPr id="59" name="Rounded Rectangle 58"/>
          <p:cNvSpPr/>
          <p:nvPr/>
        </p:nvSpPr>
        <p:spPr>
          <a:xfrm>
            <a:off x="223049" y="1554311"/>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Subproceso</a:t>
            </a:r>
          </a:p>
        </p:txBody>
      </p:sp>
      <p:sp>
        <p:nvSpPr>
          <p:cNvPr id="60" name="Rectangle 18"/>
          <p:cNvSpPr>
            <a:spLocks noChangeArrowheads="1"/>
          </p:cNvSpPr>
          <p:nvPr/>
        </p:nvSpPr>
        <p:spPr bwMode="auto">
          <a:xfrm>
            <a:off x="2563688" y="1554311"/>
            <a:ext cx="4064882" cy="182880"/>
          </a:xfrm>
          <a:prstGeom prst="rect">
            <a:avLst/>
          </a:prstGeom>
          <a:noFill/>
          <a:ln w="9525" algn="ctr">
            <a:solidFill>
              <a:schemeClr val="bg2"/>
            </a:solidFill>
            <a:miter lim="800000"/>
            <a:headEnd/>
            <a:tailEnd/>
          </a:ln>
          <a:effectLst/>
        </p:spPr>
        <p:txBody>
          <a:bodyPr anchor="ctr"/>
          <a:lstStyle/>
          <a:p>
            <a:r>
              <a:rPr lang="es-ES" sz="1100" dirty="0"/>
              <a:t>Inspección Técnica</a:t>
            </a:r>
          </a:p>
        </p:txBody>
      </p:sp>
      <p:sp>
        <p:nvSpPr>
          <p:cNvPr id="57" name="Rounded Rectangle 56"/>
          <p:cNvSpPr/>
          <p:nvPr/>
        </p:nvSpPr>
        <p:spPr>
          <a:xfrm>
            <a:off x="223049" y="1771093"/>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Línea de Negocio</a:t>
            </a:r>
          </a:p>
        </p:txBody>
      </p:sp>
      <p:sp>
        <p:nvSpPr>
          <p:cNvPr id="58" name="Rectangle 18"/>
          <p:cNvSpPr>
            <a:spLocks noChangeArrowheads="1"/>
          </p:cNvSpPr>
          <p:nvPr/>
        </p:nvSpPr>
        <p:spPr bwMode="auto">
          <a:xfrm>
            <a:off x="2563688" y="1771093"/>
            <a:ext cx="4064882" cy="182880"/>
          </a:xfrm>
          <a:prstGeom prst="rect">
            <a:avLst/>
          </a:prstGeom>
          <a:noFill/>
          <a:ln w="9525" algn="ctr">
            <a:solidFill>
              <a:schemeClr val="bg2"/>
            </a:solidFill>
            <a:miter lim="800000"/>
            <a:headEnd/>
            <a:tailEnd/>
          </a:ln>
          <a:effectLst/>
        </p:spPr>
        <p:txBody>
          <a:bodyPr anchor="ctr"/>
          <a:lstStyle/>
          <a:p>
            <a:r>
              <a:rPr lang="es-ES" sz="1100" dirty="0"/>
              <a:t>Ramos Generales</a:t>
            </a:r>
          </a:p>
        </p:txBody>
      </p:sp>
      <p:sp>
        <p:nvSpPr>
          <p:cNvPr id="61" name="Rounded Rectangle 60"/>
          <p:cNvSpPr/>
          <p:nvPr/>
        </p:nvSpPr>
        <p:spPr>
          <a:xfrm>
            <a:off x="223049" y="1986359"/>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Responsable</a:t>
            </a:r>
          </a:p>
        </p:txBody>
      </p:sp>
      <p:sp>
        <p:nvSpPr>
          <p:cNvPr id="62" name="Rectangle 18"/>
          <p:cNvSpPr>
            <a:spLocks noChangeArrowheads="1"/>
          </p:cNvSpPr>
          <p:nvPr/>
        </p:nvSpPr>
        <p:spPr bwMode="auto">
          <a:xfrm>
            <a:off x="2558967" y="1986359"/>
            <a:ext cx="4069603" cy="182880"/>
          </a:xfrm>
          <a:prstGeom prst="rect">
            <a:avLst/>
          </a:prstGeom>
          <a:noFill/>
          <a:ln w="9525" algn="ctr">
            <a:solidFill>
              <a:schemeClr val="bg2"/>
            </a:solidFill>
            <a:miter lim="800000"/>
            <a:headEnd/>
            <a:tailEnd/>
          </a:ln>
          <a:effectLst/>
        </p:spPr>
        <p:txBody>
          <a:bodyPr anchor="ctr"/>
          <a:lstStyle/>
          <a:p>
            <a:r>
              <a:rPr lang="es-ES" sz="1100" dirty="0"/>
              <a:t>Jefe de Gestión Operativa de Vehículos y Riesgos Generales</a:t>
            </a:r>
            <a:endParaRPr lang="es-ES" sz="1100" dirty="0">
              <a:solidFill>
                <a:srgbClr val="002060"/>
              </a:solidFill>
            </a:endParaRPr>
          </a:p>
        </p:txBody>
      </p:sp>
      <p:sp>
        <p:nvSpPr>
          <p:cNvPr id="63" name="Rounded Rectangle 62"/>
          <p:cNvSpPr/>
          <p:nvPr/>
        </p:nvSpPr>
        <p:spPr>
          <a:xfrm>
            <a:off x="6732240" y="2276457"/>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Categoría de Riesgo Nivel III</a:t>
            </a:r>
          </a:p>
        </p:txBody>
      </p:sp>
      <p:sp>
        <p:nvSpPr>
          <p:cNvPr id="64" name="Rounded Rectangle 14"/>
          <p:cNvSpPr/>
          <p:nvPr/>
        </p:nvSpPr>
        <p:spPr>
          <a:xfrm>
            <a:off x="6732240" y="2817311"/>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Origen del Riesgo</a:t>
            </a:r>
          </a:p>
        </p:txBody>
      </p:sp>
      <p:sp>
        <p:nvSpPr>
          <p:cNvPr id="65" name="Rectangle 18"/>
          <p:cNvSpPr>
            <a:spLocks noChangeArrowheads="1"/>
          </p:cNvSpPr>
          <p:nvPr/>
        </p:nvSpPr>
        <p:spPr bwMode="auto">
          <a:xfrm>
            <a:off x="6732240" y="3032576"/>
            <a:ext cx="2286000" cy="270000"/>
          </a:xfrm>
          <a:prstGeom prst="rect">
            <a:avLst/>
          </a:prstGeom>
          <a:noFill/>
          <a:ln w="9525" algn="ctr">
            <a:solidFill>
              <a:schemeClr val="bg2"/>
            </a:solidFill>
            <a:miter lim="800000"/>
            <a:headEnd/>
            <a:tailEnd/>
          </a:ln>
          <a:effectLst/>
        </p:spPr>
        <p:txBody>
          <a:bodyPr anchor="ctr"/>
          <a:lstStyle/>
          <a:p>
            <a:r>
              <a:rPr lang="es-ES" sz="1100" dirty="0">
                <a:solidFill>
                  <a:srgbClr val="000000"/>
                </a:solidFill>
              </a:rPr>
              <a:t>Relaciones con Terceros</a:t>
            </a:r>
          </a:p>
        </p:txBody>
      </p:sp>
      <p:sp>
        <p:nvSpPr>
          <p:cNvPr id="66" name="AutoShape 179"/>
          <p:cNvSpPr>
            <a:spLocks noChangeArrowheads="1"/>
          </p:cNvSpPr>
          <p:nvPr/>
        </p:nvSpPr>
        <p:spPr bwMode="auto">
          <a:xfrm>
            <a:off x="4932039" y="3590608"/>
            <a:ext cx="4037169" cy="864000"/>
          </a:xfrm>
          <a:prstGeom prst="roundRect">
            <a:avLst>
              <a:gd name="adj" fmla="val 9481"/>
            </a:avLst>
          </a:prstGeom>
          <a:solidFill>
            <a:schemeClr val="accent1">
              <a:lumMod val="20000"/>
              <a:lumOff val="80000"/>
            </a:schemeClr>
          </a:solidFill>
          <a:ln w="9525" algn="ctr">
            <a:noFill/>
            <a:round/>
            <a:headEnd/>
            <a:tailEnd/>
          </a:ln>
          <a:effectLst/>
        </p:spPr>
        <p:txBody>
          <a:bodyPr wrap="none" anchor="ctr"/>
          <a:lstStyle/>
          <a:p>
            <a:endParaRPr lang="es-CL">
              <a:solidFill>
                <a:srgbClr val="002060"/>
              </a:solidFill>
            </a:endParaRPr>
          </a:p>
        </p:txBody>
      </p:sp>
      <p:sp>
        <p:nvSpPr>
          <p:cNvPr id="67" name="AutoShape 47"/>
          <p:cNvSpPr>
            <a:spLocks noChangeArrowheads="1"/>
          </p:cNvSpPr>
          <p:nvPr/>
        </p:nvSpPr>
        <p:spPr bwMode="blackWhite">
          <a:xfrm>
            <a:off x="4678512" y="3592110"/>
            <a:ext cx="353942" cy="864000"/>
          </a:xfrm>
          <a:prstGeom prst="rightArrow">
            <a:avLst>
              <a:gd name="adj1" fmla="val 100000"/>
              <a:gd name="adj2" fmla="val 11009"/>
            </a:avLst>
          </a:prstGeom>
          <a:solidFill>
            <a:srgbClr val="969696"/>
          </a:solidFill>
          <a:ln w="12700">
            <a:noFill/>
            <a:miter lim="800000"/>
            <a:headEnd/>
            <a:tailEnd/>
          </a:ln>
          <a:effectLst>
            <a:outerShdw dist="35921" dir="2700000" algn="ctr" rotWithShape="0">
              <a:schemeClr val="bg2"/>
            </a:outerShdw>
          </a:effectLst>
        </p:spPr>
        <p:txBody>
          <a:bodyPr vert="vert270" anchor="ctr"/>
          <a:lstStyle/>
          <a:p>
            <a:pPr algn="ctr">
              <a:lnSpc>
                <a:spcPts val="1000"/>
              </a:lnSpc>
            </a:pPr>
            <a:r>
              <a:rPr lang="es-ES" sz="1100" b="1" noProof="1">
                <a:solidFill>
                  <a:srgbClr val="FFFFFF"/>
                </a:solidFill>
                <a:cs typeface="Arial" charset="0"/>
              </a:rPr>
              <a:t>Impacto Reputacional</a:t>
            </a:r>
          </a:p>
        </p:txBody>
      </p:sp>
      <p:sp>
        <p:nvSpPr>
          <p:cNvPr id="68" name="Rectangle 18"/>
          <p:cNvSpPr>
            <a:spLocks noChangeArrowheads="1"/>
          </p:cNvSpPr>
          <p:nvPr/>
        </p:nvSpPr>
        <p:spPr bwMode="auto">
          <a:xfrm>
            <a:off x="8334310" y="3665875"/>
            <a:ext cx="548640" cy="170094"/>
          </a:xfrm>
          <a:prstGeom prst="rect">
            <a:avLst/>
          </a:prstGeom>
          <a:solidFill>
            <a:schemeClr val="bg1"/>
          </a:solidFill>
          <a:ln w="9525" algn="ctr">
            <a:solidFill>
              <a:schemeClr val="bg2"/>
            </a:solidFill>
            <a:miter lim="800000"/>
            <a:headEnd/>
            <a:tailEnd/>
          </a:ln>
          <a:effectLst/>
        </p:spPr>
        <p:txBody>
          <a:bodyPr anchor="ctr"/>
          <a:lstStyle/>
          <a:p>
            <a:pPr algn="ctr"/>
            <a:r>
              <a:rPr lang="es-ES" sz="1100" dirty="0"/>
              <a:t>3</a:t>
            </a:r>
          </a:p>
        </p:txBody>
      </p:sp>
      <p:sp>
        <p:nvSpPr>
          <p:cNvPr id="69" name="Rounded Rectangle 68"/>
          <p:cNvSpPr/>
          <p:nvPr/>
        </p:nvSpPr>
        <p:spPr>
          <a:xfrm>
            <a:off x="5102950" y="3665875"/>
            <a:ext cx="3132000" cy="170094"/>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Afectación a Clientes</a:t>
            </a:r>
          </a:p>
        </p:txBody>
      </p:sp>
      <p:sp>
        <p:nvSpPr>
          <p:cNvPr id="70" name="Rectangle 18"/>
          <p:cNvSpPr>
            <a:spLocks noChangeArrowheads="1"/>
          </p:cNvSpPr>
          <p:nvPr/>
        </p:nvSpPr>
        <p:spPr bwMode="auto">
          <a:xfrm>
            <a:off x="5102950" y="3884032"/>
            <a:ext cx="3780000" cy="469509"/>
          </a:xfrm>
          <a:prstGeom prst="rect">
            <a:avLst/>
          </a:prstGeom>
          <a:solidFill>
            <a:schemeClr val="bg1"/>
          </a:solidFill>
          <a:ln w="9525" algn="ctr">
            <a:solidFill>
              <a:schemeClr val="bg2"/>
            </a:solidFill>
            <a:miter lim="800000"/>
            <a:headEnd/>
            <a:tailEnd/>
          </a:ln>
          <a:effectLst/>
        </p:spPr>
        <p:txBody>
          <a:bodyPr anchor="ctr"/>
          <a:lstStyle/>
          <a:p>
            <a:r>
              <a:rPr lang="es-ES" sz="1100" dirty="0">
                <a:solidFill>
                  <a:srgbClr val="000000"/>
                </a:solidFill>
              </a:rPr>
              <a:t>La exposición de la imagen es interna y externa con un nivel de impacto medio.</a:t>
            </a:r>
          </a:p>
        </p:txBody>
      </p:sp>
      <p:sp>
        <p:nvSpPr>
          <p:cNvPr id="73" name="AutoShape 179"/>
          <p:cNvSpPr>
            <a:spLocks noChangeArrowheads="1"/>
          </p:cNvSpPr>
          <p:nvPr/>
        </p:nvSpPr>
        <p:spPr bwMode="auto">
          <a:xfrm>
            <a:off x="4927319" y="4494825"/>
            <a:ext cx="4037169" cy="892800"/>
          </a:xfrm>
          <a:prstGeom prst="roundRect">
            <a:avLst>
              <a:gd name="adj" fmla="val 9481"/>
            </a:avLst>
          </a:prstGeom>
          <a:solidFill>
            <a:schemeClr val="accent1">
              <a:lumMod val="20000"/>
              <a:lumOff val="80000"/>
            </a:schemeClr>
          </a:solidFill>
          <a:ln w="9525" algn="ctr">
            <a:noFill/>
            <a:round/>
            <a:headEnd/>
            <a:tailEnd/>
          </a:ln>
          <a:effectLst/>
        </p:spPr>
        <p:txBody>
          <a:bodyPr wrap="none" anchor="ctr"/>
          <a:lstStyle/>
          <a:p>
            <a:endParaRPr lang="es-CL">
              <a:solidFill>
                <a:srgbClr val="002060"/>
              </a:solidFill>
            </a:endParaRPr>
          </a:p>
        </p:txBody>
      </p:sp>
      <p:sp>
        <p:nvSpPr>
          <p:cNvPr id="74" name="AutoShape 47"/>
          <p:cNvSpPr>
            <a:spLocks noChangeArrowheads="1"/>
          </p:cNvSpPr>
          <p:nvPr/>
        </p:nvSpPr>
        <p:spPr bwMode="blackWhite">
          <a:xfrm>
            <a:off x="4673792" y="4496327"/>
            <a:ext cx="352800" cy="892800"/>
          </a:xfrm>
          <a:prstGeom prst="rightArrow">
            <a:avLst>
              <a:gd name="adj1" fmla="val 100000"/>
              <a:gd name="adj2" fmla="val 11009"/>
            </a:avLst>
          </a:prstGeom>
          <a:solidFill>
            <a:srgbClr val="969696"/>
          </a:solidFill>
          <a:ln w="12700">
            <a:noFill/>
            <a:miter lim="800000"/>
            <a:headEnd/>
            <a:tailEnd/>
          </a:ln>
          <a:effectLst>
            <a:outerShdw dist="35921" dir="2700000" algn="ctr" rotWithShape="0">
              <a:schemeClr val="bg2"/>
            </a:outerShdw>
          </a:effectLst>
        </p:spPr>
        <p:txBody>
          <a:bodyPr vert="vert270" anchor="ctr"/>
          <a:lstStyle/>
          <a:p>
            <a:pPr algn="ctr">
              <a:lnSpc>
                <a:spcPts val="1000"/>
              </a:lnSpc>
            </a:pPr>
            <a:r>
              <a:rPr lang="es-ES" sz="1100" b="1" noProof="1">
                <a:solidFill>
                  <a:srgbClr val="FFFFFF"/>
                </a:solidFill>
                <a:cs typeface="Arial" charset="0"/>
              </a:rPr>
              <a:t>Cuestionarios</a:t>
            </a:r>
          </a:p>
        </p:txBody>
      </p:sp>
      <p:sp>
        <p:nvSpPr>
          <p:cNvPr id="76" name="Rounded Rectangle 38"/>
          <p:cNvSpPr/>
          <p:nvPr/>
        </p:nvSpPr>
        <p:spPr>
          <a:xfrm>
            <a:off x="5098230" y="4570092"/>
            <a:ext cx="3132000" cy="170094"/>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Criterios de Evaluación</a:t>
            </a:r>
          </a:p>
        </p:txBody>
      </p:sp>
      <p:sp>
        <p:nvSpPr>
          <p:cNvPr id="77" name="Rectangle 18"/>
          <p:cNvSpPr>
            <a:spLocks noChangeArrowheads="1"/>
          </p:cNvSpPr>
          <p:nvPr/>
        </p:nvSpPr>
        <p:spPr bwMode="auto">
          <a:xfrm>
            <a:off x="5102950" y="4783265"/>
            <a:ext cx="3780000" cy="469509"/>
          </a:xfrm>
          <a:prstGeom prst="rect">
            <a:avLst/>
          </a:prstGeom>
          <a:solidFill>
            <a:schemeClr val="bg1"/>
          </a:solidFill>
          <a:ln w="9525" algn="ctr">
            <a:solidFill>
              <a:schemeClr val="bg2"/>
            </a:solidFill>
            <a:miter lim="800000"/>
            <a:headEnd/>
            <a:tailEnd/>
          </a:ln>
          <a:effectLst/>
        </p:spPr>
        <p:txBody>
          <a:bodyPr anchor="ctr"/>
          <a:lstStyle/>
          <a:p>
            <a:r>
              <a:rPr lang="es-ES" sz="1100" dirty="0">
                <a:solidFill>
                  <a:srgbClr val="FF0000"/>
                </a:solidFill>
              </a:rPr>
              <a:t>Se está tomando como referencia una prima media de $650  y para el peor escenario se ha tomado una prima de  $100,000.</a:t>
            </a:r>
          </a:p>
        </p:txBody>
      </p:sp>
      <p:sp>
        <p:nvSpPr>
          <p:cNvPr id="78" name="AutoShape 179"/>
          <p:cNvSpPr>
            <a:spLocks noChangeArrowheads="1"/>
          </p:cNvSpPr>
          <p:nvPr/>
        </p:nvSpPr>
        <p:spPr bwMode="auto">
          <a:xfrm>
            <a:off x="534831" y="5264177"/>
            <a:ext cx="4037169" cy="864000"/>
          </a:xfrm>
          <a:prstGeom prst="roundRect">
            <a:avLst>
              <a:gd name="adj" fmla="val 9481"/>
            </a:avLst>
          </a:prstGeom>
          <a:solidFill>
            <a:schemeClr val="accent1">
              <a:lumMod val="20000"/>
              <a:lumOff val="80000"/>
            </a:schemeClr>
          </a:solidFill>
          <a:ln w="9525" algn="ctr">
            <a:noFill/>
            <a:round/>
            <a:headEnd/>
            <a:tailEnd/>
          </a:ln>
          <a:effectLst/>
        </p:spPr>
        <p:txBody>
          <a:bodyPr wrap="none" anchor="ctr"/>
          <a:lstStyle/>
          <a:p>
            <a:endParaRPr lang="es-CL">
              <a:solidFill>
                <a:srgbClr val="002060"/>
              </a:solidFill>
            </a:endParaRPr>
          </a:p>
        </p:txBody>
      </p:sp>
      <p:sp>
        <p:nvSpPr>
          <p:cNvPr id="79" name="AutoShape 47"/>
          <p:cNvSpPr>
            <a:spLocks noChangeArrowheads="1"/>
          </p:cNvSpPr>
          <p:nvPr/>
        </p:nvSpPr>
        <p:spPr bwMode="blackWhite">
          <a:xfrm>
            <a:off x="281304" y="5265679"/>
            <a:ext cx="353942" cy="864000"/>
          </a:xfrm>
          <a:prstGeom prst="rightArrow">
            <a:avLst>
              <a:gd name="adj1" fmla="val 100000"/>
              <a:gd name="adj2" fmla="val 11009"/>
            </a:avLst>
          </a:prstGeom>
          <a:solidFill>
            <a:srgbClr val="969696"/>
          </a:solidFill>
          <a:ln w="12700">
            <a:noFill/>
            <a:miter lim="800000"/>
            <a:headEnd/>
            <a:tailEnd/>
          </a:ln>
          <a:effectLst>
            <a:outerShdw dist="35921" dir="2700000" algn="ctr" rotWithShape="0">
              <a:schemeClr val="bg2"/>
            </a:outerShdw>
          </a:effectLst>
        </p:spPr>
        <p:txBody>
          <a:bodyPr vert="vert270" anchor="ctr"/>
          <a:lstStyle/>
          <a:p>
            <a:pPr algn="ctr">
              <a:lnSpc>
                <a:spcPts val="1000"/>
              </a:lnSpc>
            </a:pPr>
            <a:r>
              <a:rPr lang="es-ES" sz="1100" b="1" noProof="1">
                <a:solidFill>
                  <a:srgbClr val="FFFFFF"/>
                </a:solidFill>
                <a:cs typeface="Arial" charset="0"/>
              </a:rPr>
              <a:t>Evaluación de Controles</a:t>
            </a:r>
          </a:p>
        </p:txBody>
      </p:sp>
      <p:sp>
        <p:nvSpPr>
          <p:cNvPr id="80" name="Rectangle 18"/>
          <p:cNvSpPr>
            <a:spLocks noChangeArrowheads="1"/>
          </p:cNvSpPr>
          <p:nvPr/>
        </p:nvSpPr>
        <p:spPr bwMode="auto">
          <a:xfrm>
            <a:off x="3937102" y="5339444"/>
            <a:ext cx="548640" cy="170094"/>
          </a:xfrm>
          <a:prstGeom prst="rect">
            <a:avLst/>
          </a:prstGeom>
          <a:solidFill>
            <a:schemeClr val="bg1"/>
          </a:solidFill>
          <a:ln w="9525" algn="ctr">
            <a:solidFill>
              <a:schemeClr val="bg2"/>
            </a:solidFill>
            <a:miter lim="800000"/>
            <a:headEnd/>
            <a:tailEnd/>
          </a:ln>
          <a:effectLst/>
        </p:spPr>
        <p:txBody>
          <a:bodyPr anchor="ctr"/>
          <a:lstStyle/>
          <a:p>
            <a:pPr algn="ctr"/>
            <a:r>
              <a:rPr lang="es-ES" sz="1100" dirty="0">
                <a:solidFill>
                  <a:srgbClr val="002060"/>
                </a:solidFill>
              </a:rPr>
              <a:t>0</a:t>
            </a:r>
          </a:p>
        </p:txBody>
      </p:sp>
      <p:sp>
        <p:nvSpPr>
          <p:cNvPr id="81" name="Rounded Rectangle 38"/>
          <p:cNvSpPr/>
          <p:nvPr/>
        </p:nvSpPr>
        <p:spPr>
          <a:xfrm>
            <a:off x="705742" y="5339444"/>
            <a:ext cx="3132000" cy="170094"/>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Controles asociados al riesgo</a:t>
            </a:r>
          </a:p>
        </p:txBody>
      </p:sp>
      <p:sp>
        <p:nvSpPr>
          <p:cNvPr id="82" name="Rectangle 18"/>
          <p:cNvSpPr>
            <a:spLocks noChangeArrowheads="1"/>
          </p:cNvSpPr>
          <p:nvPr/>
        </p:nvSpPr>
        <p:spPr bwMode="auto">
          <a:xfrm>
            <a:off x="705742" y="5560452"/>
            <a:ext cx="3780000" cy="469509"/>
          </a:xfrm>
          <a:prstGeom prst="rect">
            <a:avLst/>
          </a:prstGeom>
          <a:solidFill>
            <a:schemeClr val="bg1"/>
          </a:solidFill>
          <a:ln w="9525" algn="ctr">
            <a:solidFill>
              <a:schemeClr val="bg2"/>
            </a:solidFill>
            <a:miter lim="800000"/>
            <a:headEnd/>
            <a:tailEnd/>
          </a:ln>
          <a:effectLst/>
        </p:spPr>
        <p:txBody>
          <a:bodyPr anchor="ctr"/>
          <a:lstStyle/>
          <a:p>
            <a:r>
              <a:rPr lang="es-ES" sz="1100" dirty="0"/>
              <a:t>No se lleva a cabo ningún control sobre la actividad del proveedor </a:t>
            </a:r>
            <a:r>
              <a:rPr lang="es-ES" sz="1100" dirty="0" err="1"/>
              <a:t>Legall</a:t>
            </a:r>
            <a:r>
              <a:rPr lang="es-ES" sz="1100" dirty="0"/>
              <a:t>.</a:t>
            </a: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dirty="0"/>
              <a:t>Anexo: Ficha Individual Riesgos Operacionales</a:t>
            </a:r>
          </a:p>
        </p:txBody>
      </p:sp>
      <p:sp>
        <p:nvSpPr>
          <p:cNvPr id="3" name="AutoShape 179"/>
          <p:cNvSpPr>
            <a:spLocks noChangeArrowheads="1"/>
          </p:cNvSpPr>
          <p:nvPr/>
        </p:nvSpPr>
        <p:spPr bwMode="auto">
          <a:xfrm>
            <a:off x="611560" y="3421097"/>
            <a:ext cx="3960812" cy="1371600"/>
          </a:xfrm>
          <a:prstGeom prst="roundRect">
            <a:avLst>
              <a:gd name="adj" fmla="val 9481"/>
            </a:avLst>
          </a:prstGeom>
          <a:solidFill>
            <a:schemeClr val="accent1">
              <a:lumMod val="20000"/>
              <a:lumOff val="80000"/>
            </a:schemeClr>
          </a:solidFill>
          <a:ln w="9525" algn="ctr">
            <a:noFill/>
            <a:round/>
            <a:headEnd/>
            <a:tailEnd/>
          </a:ln>
          <a:effectLst/>
        </p:spPr>
        <p:txBody>
          <a:bodyPr wrap="none" anchor="ctr"/>
          <a:lstStyle/>
          <a:p>
            <a:endParaRPr lang="es-CL">
              <a:solidFill>
                <a:srgbClr val="002060"/>
              </a:solidFill>
            </a:endParaRPr>
          </a:p>
        </p:txBody>
      </p:sp>
      <p:sp>
        <p:nvSpPr>
          <p:cNvPr id="4" name="Rounded Rectangle 3"/>
          <p:cNvSpPr/>
          <p:nvPr/>
        </p:nvSpPr>
        <p:spPr>
          <a:xfrm>
            <a:off x="214497" y="764704"/>
            <a:ext cx="397063" cy="274320"/>
          </a:xfrm>
          <a:prstGeom prst="roundRect">
            <a:avLst/>
          </a:prstGeom>
          <a:solidFill>
            <a:srgbClr val="DB0613"/>
          </a:solidFill>
          <a:ln w="9525" algn="ctr">
            <a:noFill/>
            <a:miter lim="800000"/>
            <a:headEnd/>
            <a:tailEnd/>
          </a:ln>
          <a:effectLst/>
        </p:spPr>
        <p:txBody>
          <a:bodyPr anchor="ctr"/>
          <a:lstStyle/>
          <a:p>
            <a:pPr algn="ctr">
              <a:lnSpc>
                <a:spcPct val="80000"/>
              </a:lnSpc>
            </a:pPr>
            <a:r>
              <a:rPr lang="es-CL" sz="1200" b="1" dirty="0">
                <a:solidFill>
                  <a:srgbClr val="FFFFFF"/>
                </a:solidFill>
                <a:cs typeface="Arial" pitchFamily="34" charset="0"/>
              </a:rPr>
              <a:t>15</a:t>
            </a:r>
          </a:p>
        </p:txBody>
      </p:sp>
      <p:sp>
        <p:nvSpPr>
          <p:cNvPr id="5" name="Rectangle 18"/>
          <p:cNvSpPr>
            <a:spLocks noChangeArrowheads="1"/>
          </p:cNvSpPr>
          <p:nvPr/>
        </p:nvSpPr>
        <p:spPr bwMode="auto">
          <a:xfrm>
            <a:off x="227770" y="2409552"/>
            <a:ext cx="6400800" cy="839807"/>
          </a:xfrm>
          <a:prstGeom prst="rect">
            <a:avLst/>
          </a:prstGeom>
          <a:noFill/>
          <a:ln w="9525" algn="ctr">
            <a:solidFill>
              <a:schemeClr val="bg2"/>
            </a:solidFill>
            <a:miter lim="800000"/>
            <a:headEnd/>
            <a:tailEnd/>
          </a:ln>
          <a:effectLst/>
        </p:spPr>
        <p:txBody>
          <a:bodyPr/>
          <a:lstStyle/>
          <a:p>
            <a:r>
              <a:rPr lang="es-ES" sz="1100" dirty="0"/>
              <a:t>El Jefe de Gestión Operativa de Vehículos y Riesgos Generales se ve imposibilitado en revisar los trámites o informes de inspección por alguna caída del sistema (WF).</a:t>
            </a:r>
            <a:endParaRPr lang="es-ES" sz="1100" dirty="0">
              <a:solidFill>
                <a:srgbClr val="002060"/>
              </a:solidFill>
            </a:endParaRPr>
          </a:p>
        </p:txBody>
      </p:sp>
      <p:sp>
        <p:nvSpPr>
          <p:cNvPr id="7" name="Text Box 30"/>
          <p:cNvSpPr txBox="1">
            <a:spLocks noChangeArrowheads="1"/>
          </p:cNvSpPr>
          <p:nvPr/>
        </p:nvSpPr>
        <p:spPr bwMode="auto">
          <a:xfrm>
            <a:off x="190747" y="3184957"/>
            <a:ext cx="3671888" cy="276999"/>
          </a:xfrm>
          <a:prstGeom prst="rect">
            <a:avLst/>
          </a:prstGeom>
          <a:noFill/>
          <a:ln w="9525" algn="ctr">
            <a:noFill/>
            <a:miter lim="800000"/>
            <a:headEnd/>
            <a:tailEnd/>
          </a:ln>
          <a:effectLst/>
        </p:spPr>
        <p:txBody>
          <a:bodyPr>
            <a:spAutoFit/>
          </a:bodyPr>
          <a:lstStyle/>
          <a:p>
            <a:pPr>
              <a:spcBef>
                <a:spcPct val="50000"/>
              </a:spcBef>
            </a:pPr>
            <a:r>
              <a:rPr lang="es-CL" sz="1200" b="1" i="1" dirty="0">
                <a:solidFill>
                  <a:srgbClr val="A3A3E0"/>
                </a:solidFill>
              </a:rPr>
              <a:t>Resultados valoración de riesgos</a:t>
            </a:r>
            <a:endParaRPr lang="es-ES" sz="1200" b="1" i="1" dirty="0">
              <a:solidFill>
                <a:srgbClr val="A3A3E0"/>
              </a:solidFill>
            </a:endParaRPr>
          </a:p>
        </p:txBody>
      </p:sp>
      <p:sp>
        <p:nvSpPr>
          <p:cNvPr id="8" name="Rounded Rectangle 7"/>
          <p:cNvSpPr/>
          <p:nvPr/>
        </p:nvSpPr>
        <p:spPr>
          <a:xfrm>
            <a:off x="652842" y="764704"/>
            <a:ext cx="8321040" cy="274320"/>
          </a:xfrm>
          <a:prstGeom prst="roundRect">
            <a:avLst/>
          </a:prstGeom>
          <a:solidFill>
            <a:srgbClr val="DB0613"/>
          </a:solidFill>
          <a:ln w="9525" algn="ctr">
            <a:noFill/>
            <a:miter lim="800000"/>
            <a:headEnd/>
            <a:tailEnd/>
          </a:ln>
          <a:effectLst/>
        </p:spPr>
        <p:txBody>
          <a:bodyPr anchor="ctr"/>
          <a:lstStyle/>
          <a:p>
            <a:pPr>
              <a:lnSpc>
                <a:spcPct val="80000"/>
              </a:lnSpc>
            </a:pPr>
            <a:r>
              <a:rPr lang="es-ES" sz="1200" dirty="0">
                <a:solidFill>
                  <a:schemeClr val="bg1"/>
                </a:solidFill>
              </a:rPr>
              <a:t>Falla en los equipos de IT / telecomunicaciones / software con tiempo de inactividad de los mismos.</a:t>
            </a:r>
            <a:endParaRPr lang="es-CL" sz="1200" b="1" dirty="0">
              <a:solidFill>
                <a:schemeClr val="bg1"/>
              </a:solidFill>
              <a:cs typeface="Arial" pitchFamily="34" charset="0"/>
            </a:endParaRPr>
          </a:p>
        </p:txBody>
      </p:sp>
      <p:sp>
        <p:nvSpPr>
          <p:cNvPr id="9" name="Rounded Rectangle 8"/>
          <p:cNvSpPr/>
          <p:nvPr/>
        </p:nvSpPr>
        <p:spPr>
          <a:xfrm>
            <a:off x="227770" y="2202383"/>
            <a:ext cx="64008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Descripción</a:t>
            </a:r>
          </a:p>
        </p:txBody>
      </p:sp>
      <p:sp>
        <p:nvSpPr>
          <p:cNvPr id="10" name="Rounded Rectangle 9"/>
          <p:cNvSpPr/>
          <p:nvPr/>
        </p:nvSpPr>
        <p:spPr>
          <a:xfrm>
            <a:off x="6716066" y="1089119"/>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Categoría  de Riesgo Nivel I</a:t>
            </a:r>
          </a:p>
        </p:txBody>
      </p:sp>
      <p:sp>
        <p:nvSpPr>
          <p:cNvPr id="11" name="Rectangle 18"/>
          <p:cNvSpPr>
            <a:spLocks noChangeArrowheads="1"/>
          </p:cNvSpPr>
          <p:nvPr/>
        </p:nvSpPr>
        <p:spPr bwMode="auto">
          <a:xfrm>
            <a:off x="6716066" y="1316374"/>
            <a:ext cx="2286000" cy="365760"/>
          </a:xfrm>
          <a:prstGeom prst="rect">
            <a:avLst/>
          </a:prstGeom>
          <a:noFill/>
          <a:ln w="9525" algn="ctr">
            <a:solidFill>
              <a:schemeClr val="bg2"/>
            </a:solidFill>
            <a:miter lim="800000"/>
            <a:headEnd/>
            <a:tailEnd/>
          </a:ln>
          <a:effectLst/>
        </p:spPr>
        <p:txBody>
          <a:bodyPr anchor="ctr"/>
          <a:lstStyle/>
          <a:p>
            <a:pPr>
              <a:lnSpc>
                <a:spcPts val="1000"/>
              </a:lnSpc>
            </a:pPr>
            <a:r>
              <a:rPr lang="es-ES" sz="1100" dirty="0"/>
              <a:t>Interrupción del negocio y fallos en los sistemas.</a:t>
            </a:r>
          </a:p>
        </p:txBody>
      </p:sp>
      <p:sp>
        <p:nvSpPr>
          <p:cNvPr id="12" name="Rounded Rectangle 11"/>
          <p:cNvSpPr/>
          <p:nvPr/>
        </p:nvSpPr>
        <p:spPr>
          <a:xfrm>
            <a:off x="6716066" y="1725169"/>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Categoría de Riesgo Nivel II</a:t>
            </a:r>
          </a:p>
        </p:txBody>
      </p:sp>
      <p:sp>
        <p:nvSpPr>
          <p:cNvPr id="13" name="Rectangle 18"/>
          <p:cNvSpPr>
            <a:spLocks noChangeArrowheads="1"/>
          </p:cNvSpPr>
          <p:nvPr/>
        </p:nvSpPr>
        <p:spPr bwMode="auto">
          <a:xfrm>
            <a:off x="6716066" y="1942710"/>
            <a:ext cx="2286000" cy="274320"/>
          </a:xfrm>
          <a:prstGeom prst="rect">
            <a:avLst/>
          </a:prstGeom>
          <a:noFill/>
          <a:ln w="9525" algn="ctr">
            <a:solidFill>
              <a:schemeClr val="bg2"/>
            </a:solidFill>
            <a:miter lim="800000"/>
            <a:headEnd/>
            <a:tailEnd/>
          </a:ln>
          <a:effectLst/>
        </p:spPr>
        <p:txBody>
          <a:bodyPr anchor="ctr"/>
          <a:lstStyle/>
          <a:p>
            <a:r>
              <a:rPr lang="es-ES" sz="1100" dirty="0"/>
              <a:t>Interrupción del negocio y fallos en los sistemas.</a:t>
            </a:r>
          </a:p>
        </p:txBody>
      </p:sp>
      <p:sp>
        <p:nvSpPr>
          <p:cNvPr id="16" name="Rectangle 18"/>
          <p:cNvSpPr>
            <a:spLocks noChangeArrowheads="1"/>
          </p:cNvSpPr>
          <p:nvPr/>
        </p:nvSpPr>
        <p:spPr bwMode="auto">
          <a:xfrm>
            <a:off x="6716066" y="2459337"/>
            <a:ext cx="2286000" cy="506469"/>
          </a:xfrm>
          <a:prstGeom prst="rect">
            <a:avLst/>
          </a:prstGeom>
          <a:noFill/>
          <a:ln w="9525" algn="ctr">
            <a:solidFill>
              <a:schemeClr val="bg2"/>
            </a:solidFill>
            <a:miter lim="800000"/>
            <a:headEnd/>
            <a:tailEnd/>
          </a:ln>
          <a:effectLst/>
        </p:spPr>
        <p:txBody>
          <a:bodyPr anchor="ctr"/>
          <a:lstStyle/>
          <a:p>
            <a:r>
              <a:rPr lang="es-ES" sz="1100" dirty="0"/>
              <a:t>Cortes en los servicios/Interrupción de las aplicaciones</a:t>
            </a:r>
            <a:endParaRPr lang="es-ES" sz="1100" dirty="0">
              <a:solidFill>
                <a:srgbClr val="002060"/>
              </a:solidFill>
            </a:endParaRPr>
          </a:p>
        </p:txBody>
      </p:sp>
      <p:sp>
        <p:nvSpPr>
          <p:cNvPr id="17" name="Rounded Rectangle 16"/>
          <p:cNvSpPr/>
          <p:nvPr/>
        </p:nvSpPr>
        <p:spPr>
          <a:xfrm>
            <a:off x="227770" y="1110038"/>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Macroproceso</a:t>
            </a:r>
          </a:p>
        </p:txBody>
      </p:sp>
      <p:sp>
        <p:nvSpPr>
          <p:cNvPr id="18" name="Rectangle 18"/>
          <p:cNvSpPr>
            <a:spLocks noChangeArrowheads="1"/>
          </p:cNvSpPr>
          <p:nvPr/>
        </p:nvSpPr>
        <p:spPr bwMode="auto">
          <a:xfrm>
            <a:off x="2568409" y="1110038"/>
            <a:ext cx="4060161" cy="182880"/>
          </a:xfrm>
          <a:prstGeom prst="rect">
            <a:avLst/>
          </a:prstGeom>
          <a:noFill/>
          <a:ln w="9525" algn="ctr">
            <a:solidFill>
              <a:schemeClr val="bg2"/>
            </a:solidFill>
            <a:miter lim="800000"/>
            <a:headEnd/>
            <a:tailEnd/>
          </a:ln>
          <a:effectLst/>
        </p:spPr>
        <p:txBody>
          <a:bodyPr anchor="ctr"/>
          <a:lstStyle/>
          <a:p>
            <a:r>
              <a:rPr lang="es-ES" sz="1100" dirty="0"/>
              <a:t>Generación de Negocio</a:t>
            </a:r>
          </a:p>
        </p:txBody>
      </p:sp>
      <p:sp>
        <p:nvSpPr>
          <p:cNvPr id="19" name="Rounded Rectangle 18"/>
          <p:cNvSpPr/>
          <p:nvPr/>
        </p:nvSpPr>
        <p:spPr>
          <a:xfrm>
            <a:off x="227770" y="1339045"/>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Proceso</a:t>
            </a:r>
          </a:p>
        </p:txBody>
      </p:sp>
      <p:sp>
        <p:nvSpPr>
          <p:cNvPr id="20" name="Rectangle 18"/>
          <p:cNvSpPr>
            <a:spLocks noChangeArrowheads="1"/>
          </p:cNvSpPr>
          <p:nvPr/>
        </p:nvSpPr>
        <p:spPr bwMode="auto">
          <a:xfrm>
            <a:off x="2568409" y="1339045"/>
            <a:ext cx="4060161" cy="182880"/>
          </a:xfrm>
          <a:prstGeom prst="rect">
            <a:avLst/>
          </a:prstGeom>
          <a:noFill/>
          <a:ln w="9525" algn="ctr">
            <a:solidFill>
              <a:schemeClr val="bg2"/>
            </a:solidFill>
            <a:miter lim="800000"/>
            <a:headEnd/>
            <a:tailEnd/>
          </a:ln>
          <a:effectLst/>
        </p:spPr>
        <p:txBody>
          <a:bodyPr anchor="ctr"/>
          <a:lstStyle/>
          <a:p>
            <a:r>
              <a:rPr lang="es-ES" sz="1100" dirty="0"/>
              <a:t>Suscripción</a:t>
            </a:r>
          </a:p>
        </p:txBody>
      </p:sp>
      <p:sp>
        <p:nvSpPr>
          <p:cNvPr id="21" name="Rectangle 29"/>
          <p:cNvSpPr>
            <a:spLocks noChangeArrowheads="1"/>
          </p:cNvSpPr>
          <p:nvPr/>
        </p:nvSpPr>
        <p:spPr bwMode="auto">
          <a:xfrm>
            <a:off x="107504" y="3309415"/>
            <a:ext cx="8961120" cy="1607926"/>
          </a:xfrm>
          <a:prstGeom prst="rect">
            <a:avLst/>
          </a:prstGeom>
          <a:noFill/>
          <a:ln w="19050" cap="rnd" algn="ctr">
            <a:solidFill>
              <a:schemeClr val="bg2"/>
            </a:solidFill>
            <a:prstDash val="sysDot"/>
            <a:miter lim="800000"/>
            <a:headEnd/>
            <a:tailEnd/>
          </a:ln>
          <a:effectLst/>
        </p:spPr>
        <p:txBody>
          <a:bodyPr wrap="none" anchor="ctr"/>
          <a:lstStyle/>
          <a:p>
            <a:endParaRPr lang="en-US">
              <a:solidFill>
                <a:srgbClr val="002060"/>
              </a:solidFill>
            </a:endParaRPr>
          </a:p>
        </p:txBody>
      </p:sp>
      <p:sp>
        <p:nvSpPr>
          <p:cNvPr id="22" name="Rounded Rectangle 21"/>
          <p:cNvSpPr/>
          <p:nvPr/>
        </p:nvSpPr>
        <p:spPr>
          <a:xfrm>
            <a:off x="902959" y="4267863"/>
            <a:ext cx="1920240" cy="182880"/>
          </a:xfrm>
          <a:prstGeom prst="roundRect">
            <a:avLst/>
          </a:prstGeom>
          <a:solidFill>
            <a:srgbClr val="DB0613"/>
          </a:solidFill>
          <a:ln w="9525" algn="ctr">
            <a:noFill/>
            <a:miter lim="800000"/>
            <a:headEnd/>
            <a:tailEnd/>
          </a:ln>
          <a:effectLst/>
        </p:spPr>
        <p:txBody>
          <a:bodyPr tIns="91440" anchor="ctr"/>
          <a:lstStyle/>
          <a:p>
            <a:pPr>
              <a:lnSpc>
                <a:spcPct val="80000"/>
              </a:lnSpc>
            </a:pPr>
            <a:r>
              <a:rPr lang="es-CL" sz="1100" b="1" dirty="0">
                <a:solidFill>
                  <a:srgbClr val="FFFFFF"/>
                </a:solidFill>
                <a:cs typeface="Arial" pitchFamily="34" charset="0"/>
              </a:rPr>
              <a:t>Pérdida Esperada Anual</a:t>
            </a:r>
          </a:p>
        </p:txBody>
      </p:sp>
      <p:sp>
        <p:nvSpPr>
          <p:cNvPr id="23" name="Rectangle 18"/>
          <p:cNvSpPr>
            <a:spLocks noChangeArrowheads="1"/>
          </p:cNvSpPr>
          <p:nvPr/>
        </p:nvSpPr>
        <p:spPr bwMode="auto">
          <a:xfrm>
            <a:off x="2859920" y="4267863"/>
            <a:ext cx="1554480" cy="182880"/>
          </a:xfrm>
          <a:prstGeom prst="rect">
            <a:avLst/>
          </a:prstGeom>
          <a:solidFill>
            <a:schemeClr val="bg1"/>
          </a:solidFill>
          <a:ln w="9525" algn="ctr">
            <a:solidFill>
              <a:schemeClr val="bg2"/>
            </a:solidFill>
            <a:miter lim="800000"/>
            <a:headEnd/>
            <a:tailEnd/>
          </a:ln>
          <a:effectLst/>
        </p:spPr>
        <p:txBody>
          <a:bodyPr anchor="ctr"/>
          <a:lstStyle/>
          <a:p>
            <a:pPr algn="ctr"/>
            <a:r>
              <a:rPr lang="es-ES" sz="1100" dirty="0"/>
              <a:t>S/. 3,181,440.00</a:t>
            </a:r>
            <a:endParaRPr lang="es-ES" sz="1100" dirty="0">
              <a:solidFill>
                <a:srgbClr val="002060"/>
              </a:solidFill>
            </a:endParaRPr>
          </a:p>
        </p:txBody>
      </p:sp>
      <p:sp>
        <p:nvSpPr>
          <p:cNvPr id="24" name="Rounded Rectangle 23"/>
          <p:cNvSpPr/>
          <p:nvPr/>
        </p:nvSpPr>
        <p:spPr>
          <a:xfrm>
            <a:off x="902959" y="4497475"/>
            <a:ext cx="192024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VaR Cualitativo Anual</a:t>
            </a:r>
          </a:p>
        </p:txBody>
      </p:sp>
      <p:sp>
        <p:nvSpPr>
          <p:cNvPr id="25" name="Rectangle 18"/>
          <p:cNvSpPr>
            <a:spLocks noChangeArrowheads="1"/>
          </p:cNvSpPr>
          <p:nvPr/>
        </p:nvSpPr>
        <p:spPr bwMode="auto">
          <a:xfrm>
            <a:off x="2859920" y="4497475"/>
            <a:ext cx="1554480" cy="182880"/>
          </a:xfrm>
          <a:prstGeom prst="rect">
            <a:avLst/>
          </a:prstGeom>
          <a:solidFill>
            <a:schemeClr val="bg1"/>
          </a:solidFill>
          <a:ln w="9525" algn="ctr">
            <a:solidFill>
              <a:schemeClr val="bg2"/>
            </a:solidFill>
            <a:miter lim="800000"/>
            <a:headEnd/>
            <a:tailEnd/>
          </a:ln>
          <a:effectLst/>
        </p:spPr>
        <p:txBody>
          <a:bodyPr anchor="ctr"/>
          <a:lstStyle/>
          <a:p>
            <a:pPr algn="ctr"/>
            <a:r>
              <a:rPr lang="es-ES" sz="1100" dirty="0"/>
              <a:t>S/. 8,600,203.35</a:t>
            </a:r>
            <a:endParaRPr lang="es-ES" sz="1100" dirty="0">
              <a:solidFill>
                <a:srgbClr val="002060"/>
              </a:solidFill>
            </a:endParaRPr>
          </a:p>
        </p:txBody>
      </p:sp>
      <p:sp>
        <p:nvSpPr>
          <p:cNvPr id="26" name="Rounded Rectangle 25"/>
          <p:cNvSpPr/>
          <p:nvPr/>
        </p:nvSpPr>
        <p:spPr>
          <a:xfrm>
            <a:off x="891084" y="3504477"/>
            <a:ext cx="192024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Frecuencia  Evento Pérdida</a:t>
            </a:r>
          </a:p>
        </p:txBody>
      </p:sp>
      <p:sp>
        <p:nvSpPr>
          <p:cNvPr id="27" name="Rectangle 18"/>
          <p:cNvSpPr>
            <a:spLocks noChangeArrowheads="1"/>
          </p:cNvSpPr>
          <p:nvPr/>
        </p:nvSpPr>
        <p:spPr bwMode="auto">
          <a:xfrm>
            <a:off x="2859920" y="3504477"/>
            <a:ext cx="1554480" cy="182880"/>
          </a:xfrm>
          <a:prstGeom prst="rect">
            <a:avLst/>
          </a:prstGeom>
          <a:solidFill>
            <a:schemeClr val="bg1"/>
          </a:solidFill>
          <a:ln w="9525" algn="ctr">
            <a:solidFill>
              <a:schemeClr val="bg2"/>
            </a:solidFill>
            <a:miter lim="800000"/>
            <a:headEnd/>
            <a:tailEnd/>
          </a:ln>
          <a:effectLst/>
        </p:spPr>
        <p:txBody>
          <a:bodyPr anchor="ctr"/>
          <a:lstStyle/>
          <a:p>
            <a:pPr algn="ctr"/>
            <a:r>
              <a:rPr lang="es-ES" sz="1100" dirty="0"/>
              <a:t>160 veces por mes</a:t>
            </a:r>
          </a:p>
        </p:txBody>
      </p:sp>
      <p:sp>
        <p:nvSpPr>
          <p:cNvPr id="28" name="Rounded Rectangle 27"/>
          <p:cNvSpPr/>
          <p:nvPr/>
        </p:nvSpPr>
        <p:spPr>
          <a:xfrm>
            <a:off x="891084" y="3734089"/>
            <a:ext cx="192024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Impacto Medio Evento</a:t>
            </a:r>
          </a:p>
        </p:txBody>
      </p:sp>
      <p:sp>
        <p:nvSpPr>
          <p:cNvPr id="29" name="Rectangle 18"/>
          <p:cNvSpPr>
            <a:spLocks noChangeArrowheads="1"/>
          </p:cNvSpPr>
          <p:nvPr/>
        </p:nvSpPr>
        <p:spPr bwMode="auto">
          <a:xfrm>
            <a:off x="2859920" y="3734089"/>
            <a:ext cx="1554480" cy="182880"/>
          </a:xfrm>
          <a:prstGeom prst="rect">
            <a:avLst/>
          </a:prstGeom>
          <a:solidFill>
            <a:schemeClr val="bg1"/>
          </a:solidFill>
          <a:ln w="9525" algn="ctr">
            <a:solidFill>
              <a:schemeClr val="bg2"/>
            </a:solidFill>
            <a:miter lim="800000"/>
            <a:headEnd/>
            <a:tailEnd/>
          </a:ln>
          <a:effectLst/>
        </p:spPr>
        <p:txBody>
          <a:bodyPr anchor="ctr"/>
          <a:lstStyle/>
          <a:p>
            <a:pPr algn="ctr"/>
            <a:r>
              <a:rPr lang="es-ES" sz="1100" dirty="0"/>
              <a:t>S/. 1,657.00</a:t>
            </a:r>
          </a:p>
        </p:txBody>
      </p:sp>
      <p:sp>
        <p:nvSpPr>
          <p:cNvPr id="30" name="Rounded Rectangle 29"/>
          <p:cNvSpPr/>
          <p:nvPr/>
        </p:nvSpPr>
        <p:spPr>
          <a:xfrm>
            <a:off x="891084" y="3969669"/>
            <a:ext cx="192024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Impacto Peor Escenario</a:t>
            </a:r>
          </a:p>
        </p:txBody>
      </p:sp>
      <p:sp>
        <p:nvSpPr>
          <p:cNvPr id="31" name="Rectangle 18"/>
          <p:cNvSpPr>
            <a:spLocks noChangeArrowheads="1"/>
          </p:cNvSpPr>
          <p:nvPr/>
        </p:nvSpPr>
        <p:spPr bwMode="auto">
          <a:xfrm>
            <a:off x="2859920" y="3969669"/>
            <a:ext cx="1554480" cy="182880"/>
          </a:xfrm>
          <a:prstGeom prst="rect">
            <a:avLst/>
          </a:prstGeom>
          <a:solidFill>
            <a:schemeClr val="bg1"/>
          </a:solidFill>
          <a:ln w="9525" algn="ctr">
            <a:solidFill>
              <a:schemeClr val="bg2"/>
            </a:solidFill>
            <a:miter lim="800000"/>
            <a:headEnd/>
            <a:tailEnd/>
          </a:ln>
          <a:effectLst/>
        </p:spPr>
        <p:txBody>
          <a:bodyPr anchor="ctr"/>
          <a:lstStyle/>
          <a:p>
            <a:pPr algn="ctr"/>
            <a:r>
              <a:rPr lang="es-ES" sz="1100" dirty="0"/>
              <a:t>S/. 255.000</a:t>
            </a:r>
            <a:endParaRPr lang="es-ES" sz="1100" dirty="0">
              <a:solidFill>
                <a:srgbClr val="002060"/>
              </a:solidFill>
            </a:endParaRPr>
          </a:p>
        </p:txBody>
      </p:sp>
      <p:sp>
        <p:nvSpPr>
          <p:cNvPr id="32" name="AutoShape 47"/>
          <p:cNvSpPr>
            <a:spLocks noChangeAspect="1" noChangeArrowheads="1"/>
          </p:cNvSpPr>
          <p:nvPr/>
        </p:nvSpPr>
        <p:spPr bwMode="blackWhite">
          <a:xfrm>
            <a:off x="263033" y="3418822"/>
            <a:ext cx="492543" cy="1339083"/>
          </a:xfrm>
          <a:prstGeom prst="rightArrow">
            <a:avLst>
              <a:gd name="adj1" fmla="val 100000"/>
              <a:gd name="adj2" fmla="val 11009"/>
            </a:avLst>
          </a:prstGeom>
          <a:solidFill>
            <a:srgbClr val="969696"/>
          </a:solidFill>
          <a:ln w="12700">
            <a:noFill/>
            <a:miter lim="800000"/>
            <a:headEnd/>
            <a:tailEnd/>
          </a:ln>
          <a:effectLst>
            <a:outerShdw dist="35921" dir="2700000" algn="ctr" rotWithShape="0">
              <a:schemeClr val="bg2"/>
            </a:outerShdw>
          </a:effectLst>
        </p:spPr>
        <p:txBody>
          <a:bodyPr vert="vert270" anchor="ctr"/>
          <a:lstStyle/>
          <a:p>
            <a:pPr algn="ctr">
              <a:lnSpc>
                <a:spcPts val="1000"/>
              </a:lnSpc>
            </a:pPr>
            <a:r>
              <a:rPr lang="es-ES" sz="1200" b="1" noProof="1">
                <a:solidFill>
                  <a:srgbClr val="FFFFFF"/>
                </a:solidFill>
                <a:cs typeface="Arial" charset="0"/>
              </a:rPr>
              <a:t>Evaluación Riesgo Operacional</a:t>
            </a:r>
          </a:p>
        </p:txBody>
      </p:sp>
      <p:sp>
        <p:nvSpPr>
          <p:cNvPr id="43" name="Text Box 30"/>
          <p:cNvSpPr txBox="1">
            <a:spLocks noChangeArrowheads="1"/>
          </p:cNvSpPr>
          <p:nvPr/>
        </p:nvSpPr>
        <p:spPr bwMode="auto">
          <a:xfrm>
            <a:off x="190746" y="4893591"/>
            <a:ext cx="4741293" cy="276999"/>
          </a:xfrm>
          <a:prstGeom prst="rect">
            <a:avLst/>
          </a:prstGeom>
          <a:noFill/>
          <a:ln w="9525" algn="ctr">
            <a:noFill/>
            <a:miter lim="800000"/>
            <a:headEnd/>
            <a:tailEnd/>
          </a:ln>
          <a:effectLst/>
        </p:spPr>
        <p:txBody>
          <a:bodyPr wrap="square">
            <a:spAutoFit/>
          </a:bodyPr>
          <a:lstStyle/>
          <a:p>
            <a:pPr>
              <a:spcBef>
                <a:spcPct val="50000"/>
              </a:spcBef>
            </a:pPr>
            <a:r>
              <a:rPr lang="es-CL" sz="1200" b="1" i="1" dirty="0">
                <a:solidFill>
                  <a:srgbClr val="A3A3E0"/>
                </a:solidFill>
              </a:rPr>
              <a:t>Resultados valoración de controles / factores mitigantes</a:t>
            </a:r>
            <a:endParaRPr lang="es-ES" sz="1200" b="1" i="1" dirty="0">
              <a:solidFill>
                <a:srgbClr val="A3A3E0"/>
              </a:solidFill>
            </a:endParaRPr>
          </a:p>
        </p:txBody>
      </p:sp>
      <p:sp>
        <p:nvSpPr>
          <p:cNvPr id="59" name="Rounded Rectangle 58"/>
          <p:cNvSpPr/>
          <p:nvPr/>
        </p:nvSpPr>
        <p:spPr>
          <a:xfrm>
            <a:off x="223049" y="1554311"/>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Subproceso</a:t>
            </a:r>
          </a:p>
        </p:txBody>
      </p:sp>
      <p:sp>
        <p:nvSpPr>
          <p:cNvPr id="60" name="Rectangle 18"/>
          <p:cNvSpPr>
            <a:spLocks noChangeArrowheads="1"/>
          </p:cNvSpPr>
          <p:nvPr/>
        </p:nvSpPr>
        <p:spPr bwMode="auto">
          <a:xfrm>
            <a:off x="2563688" y="1554311"/>
            <a:ext cx="4064882" cy="182880"/>
          </a:xfrm>
          <a:prstGeom prst="rect">
            <a:avLst/>
          </a:prstGeom>
          <a:noFill/>
          <a:ln w="9525" algn="ctr">
            <a:solidFill>
              <a:schemeClr val="bg2"/>
            </a:solidFill>
            <a:miter lim="800000"/>
            <a:headEnd/>
            <a:tailEnd/>
          </a:ln>
          <a:effectLst/>
        </p:spPr>
        <p:txBody>
          <a:bodyPr anchor="ctr"/>
          <a:lstStyle/>
          <a:p>
            <a:r>
              <a:rPr lang="es-ES" sz="1100" dirty="0"/>
              <a:t>Inspección Técnica</a:t>
            </a:r>
          </a:p>
        </p:txBody>
      </p:sp>
      <p:sp>
        <p:nvSpPr>
          <p:cNvPr id="57" name="Rounded Rectangle 56"/>
          <p:cNvSpPr/>
          <p:nvPr/>
        </p:nvSpPr>
        <p:spPr>
          <a:xfrm>
            <a:off x="223049" y="1771093"/>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Línea de Negocio</a:t>
            </a:r>
          </a:p>
        </p:txBody>
      </p:sp>
      <p:sp>
        <p:nvSpPr>
          <p:cNvPr id="58" name="Rectangle 18"/>
          <p:cNvSpPr>
            <a:spLocks noChangeArrowheads="1"/>
          </p:cNvSpPr>
          <p:nvPr/>
        </p:nvSpPr>
        <p:spPr bwMode="auto">
          <a:xfrm>
            <a:off x="2563688" y="1771093"/>
            <a:ext cx="4064882" cy="182880"/>
          </a:xfrm>
          <a:prstGeom prst="rect">
            <a:avLst/>
          </a:prstGeom>
          <a:noFill/>
          <a:ln w="9525" algn="ctr">
            <a:solidFill>
              <a:schemeClr val="bg2"/>
            </a:solidFill>
            <a:miter lim="800000"/>
            <a:headEnd/>
            <a:tailEnd/>
          </a:ln>
          <a:effectLst/>
        </p:spPr>
        <p:txBody>
          <a:bodyPr anchor="ctr"/>
          <a:lstStyle/>
          <a:p>
            <a:r>
              <a:rPr lang="es-ES" sz="1100" dirty="0"/>
              <a:t>Ramos Generales</a:t>
            </a:r>
          </a:p>
        </p:txBody>
      </p:sp>
      <p:sp>
        <p:nvSpPr>
          <p:cNvPr id="61" name="Rounded Rectangle 60"/>
          <p:cNvSpPr/>
          <p:nvPr/>
        </p:nvSpPr>
        <p:spPr>
          <a:xfrm>
            <a:off x="223049" y="1986359"/>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Responsable</a:t>
            </a:r>
          </a:p>
        </p:txBody>
      </p:sp>
      <p:sp>
        <p:nvSpPr>
          <p:cNvPr id="62" name="Rectangle 18"/>
          <p:cNvSpPr>
            <a:spLocks noChangeArrowheads="1"/>
          </p:cNvSpPr>
          <p:nvPr/>
        </p:nvSpPr>
        <p:spPr bwMode="auto">
          <a:xfrm>
            <a:off x="2558967" y="1986359"/>
            <a:ext cx="4069603" cy="182880"/>
          </a:xfrm>
          <a:prstGeom prst="rect">
            <a:avLst/>
          </a:prstGeom>
          <a:noFill/>
          <a:ln w="9525" algn="ctr">
            <a:solidFill>
              <a:schemeClr val="bg2"/>
            </a:solidFill>
            <a:miter lim="800000"/>
            <a:headEnd/>
            <a:tailEnd/>
          </a:ln>
          <a:effectLst/>
        </p:spPr>
        <p:txBody>
          <a:bodyPr anchor="ctr"/>
          <a:lstStyle/>
          <a:p>
            <a:r>
              <a:rPr lang="es-ES" sz="1100" dirty="0"/>
              <a:t>Jefe de Gestión Operativa de Vehículos y Riesgos Generales</a:t>
            </a:r>
            <a:endParaRPr lang="es-ES" sz="1100" dirty="0">
              <a:solidFill>
                <a:srgbClr val="002060"/>
              </a:solidFill>
            </a:endParaRPr>
          </a:p>
        </p:txBody>
      </p:sp>
      <p:sp>
        <p:nvSpPr>
          <p:cNvPr id="63" name="Rounded Rectangle 62"/>
          <p:cNvSpPr/>
          <p:nvPr/>
        </p:nvSpPr>
        <p:spPr>
          <a:xfrm>
            <a:off x="6732240" y="2276457"/>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Categoría de Riesgo Nivel III</a:t>
            </a:r>
          </a:p>
        </p:txBody>
      </p:sp>
      <p:sp>
        <p:nvSpPr>
          <p:cNvPr id="64" name="Rounded Rectangle 14"/>
          <p:cNvSpPr/>
          <p:nvPr/>
        </p:nvSpPr>
        <p:spPr>
          <a:xfrm>
            <a:off x="6732240" y="2908110"/>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Origen del Riesgo</a:t>
            </a:r>
          </a:p>
        </p:txBody>
      </p:sp>
      <p:sp>
        <p:nvSpPr>
          <p:cNvPr id="65" name="Rectangle 18"/>
          <p:cNvSpPr>
            <a:spLocks noChangeArrowheads="1"/>
          </p:cNvSpPr>
          <p:nvPr/>
        </p:nvSpPr>
        <p:spPr bwMode="auto">
          <a:xfrm>
            <a:off x="6732240" y="3123375"/>
            <a:ext cx="2286000" cy="270000"/>
          </a:xfrm>
          <a:prstGeom prst="rect">
            <a:avLst/>
          </a:prstGeom>
          <a:noFill/>
          <a:ln w="9525" algn="ctr">
            <a:solidFill>
              <a:schemeClr val="bg2"/>
            </a:solidFill>
            <a:miter lim="800000"/>
            <a:headEnd/>
            <a:tailEnd/>
          </a:ln>
          <a:effectLst/>
        </p:spPr>
        <p:txBody>
          <a:bodyPr anchor="ctr"/>
          <a:lstStyle/>
          <a:p>
            <a:r>
              <a:rPr lang="es-ES" sz="1100" dirty="0">
                <a:solidFill>
                  <a:srgbClr val="000000"/>
                </a:solidFill>
              </a:rPr>
              <a:t>Relaciones con Terceros</a:t>
            </a:r>
          </a:p>
        </p:txBody>
      </p:sp>
      <p:sp>
        <p:nvSpPr>
          <p:cNvPr id="66" name="AutoShape 179"/>
          <p:cNvSpPr>
            <a:spLocks noChangeArrowheads="1"/>
          </p:cNvSpPr>
          <p:nvPr/>
        </p:nvSpPr>
        <p:spPr bwMode="auto">
          <a:xfrm>
            <a:off x="4932039" y="3476308"/>
            <a:ext cx="4037169" cy="864000"/>
          </a:xfrm>
          <a:prstGeom prst="roundRect">
            <a:avLst>
              <a:gd name="adj" fmla="val 9481"/>
            </a:avLst>
          </a:prstGeom>
          <a:solidFill>
            <a:schemeClr val="accent1">
              <a:lumMod val="20000"/>
              <a:lumOff val="80000"/>
            </a:schemeClr>
          </a:solidFill>
          <a:ln w="9525" algn="ctr">
            <a:noFill/>
            <a:round/>
            <a:headEnd/>
            <a:tailEnd/>
          </a:ln>
          <a:effectLst/>
        </p:spPr>
        <p:txBody>
          <a:bodyPr wrap="none" anchor="ctr"/>
          <a:lstStyle/>
          <a:p>
            <a:endParaRPr lang="es-CL">
              <a:solidFill>
                <a:srgbClr val="002060"/>
              </a:solidFill>
            </a:endParaRPr>
          </a:p>
        </p:txBody>
      </p:sp>
      <p:sp>
        <p:nvSpPr>
          <p:cNvPr id="67" name="AutoShape 47"/>
          <p:cNvSpPr>
            <a:spLocks noChangeArrowheads="1"/>
          </p:cNvSpPr>
          <p:nvPr/>
        </p:nvSpPr>
        <p:spPr bwMode="blackWhite">
          <a:xfrm>
            <a:off x="4678512" y="3477810"/>
            <a:ext cx="353942" cy="864000"/>
          </a:xfrm>
          <a:prstGeom prst="rightArrow">
            <a:avLst>
              <a:gd name="adj1" fmla="val 100000"/>
              <a:gd name="adj2" fmla="val 11009"/>
            </a:avLst>
          </a:prstGeom>
          <a:solidFill>
            <a:srgbClr val="969696"/>
          </a:solidFill>
          <a:ln w="12700">
            <a:noFill/>
            <a:miter lim="800000"/>
            <a:headEnd/>
            <a:tailEnd/>
          </a:ln>
          <a:effectLst>
            <a:outerShdw dist="35921" dir="2700000" algn="ctr" rotWithShape="0">
              <a:schemeClr val="bg2"/>
            </a:outerShdw>
          </a:effectLst>
        </p:spPr>
        <p:txBody>
          <a:bodyPr vert="vert270" anchor="ctr"/>
          <a:lstStyle/>
          <a:p>
            <a:pPr algn="ctr">
              <a:lnSpc>
                <a:spcPts val="1000"/>
              </a:lnSpc>
            </a:pPr>
            <a:r>
              <a:rPr lang="es-ES" sz="1100" b="1" noProof="1">
                <a:solidFill>
                  <a:srgbClr val="FFFFFF"/>
                </a:solidFill>
                <a:cs typeface="Arial" charset="0"/>
              </a:rPr>
              <a:t>Impacto Reputacional</a:t>
            </a:r>
          </a:p>
        </p:txBody>
      </p:sp>
      <p:sp>
        <p:nvSpPr>
          <p:cNvPr id="68" name="Rectangle 18"/>
          <p:cNvSpPr>
            <a:spLocks noChangeArrowheads="1"/>
          </p:cNvSpPr>
          <p:nvPr/>
        </p:nvSpPr>
        <p:spPr bwMode="auto">
          <a:xfrm>
            <a:off x="8334310" y="3551575"/>
            <a:ext cx="548640" cy="170094"/>
          </a:xfrm>
          <a:prstGeom prst="rect">
            <a:avLst/>
          </a:prstGeom>
          <a:solidFill>
            <a:schemeClr val="bg1"/>
          </a:solidFill>
          <a:ln w="9525" algn="ctr">
            <a:solidFill>
              <a:schemeClr val="bg2"/>
            </a:solidFill>
            <a:miter lim="800000"/>
            <a:headEnd/>
            <a:tailEnd/>
          </a:ln>
          <a:effectLst/>
        </p:spPr>
        <p:txBody>
          <a:bodyPr anchor="ctr"/>
          <a:lstStyle/>
          <a:p>
            <a:pPr algn="ctr"/>
            <a:r>
              <a:rPr lang="es-ES" sz="1100" dirty="0"/>
              <a:t>4</a:t>
            </a:r>
          </a:p>
        </p:txBody>
      </p:sp>
      <p:sp>
        <p:nvSpPr>
          <p:cNvPr id="69" name="Rounded Rectangle 68"/>
          <p:cNvSpPr/>
          <p:nvPr/>
        </p:nvSpPr>
        <p:spPr>
          <a:xfrm>
            <a:off x="5102950" y="3551575"/>
            <a:ext cx="3132000" cy="170094"/>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Afectación a Clientes</a:t>
            </a:r>
          </a:p>
        </p:txBody>
      </p:sp>
      <p:sp>
        <p:nvSpPr>
          <p:cNvPr id="70" name="Rectangle 18"/>
          <p:cNvSpPr>
            <a:spLocks noChangeArrowheads="1"/>
          </p:cNvSpPr>
          <p:nvPr/>
        </p:nvSpPr>
        <p:spPr bwMode="auto">
          <a:xfrm>
            <a:off x="5102950" y="3769732"/>
            <a:ext cx="3780000" cy="469509"/>
          </a:xfrm>
          <a:prstGeom prst="rect">
            <a:avLst/>
          </a:prstGeom>
          <a:solidFill>
            <a:schemeClr val="bg1"/>
          </a:solidFill>
          <a:ln w="9525" algn="ctr">
            <a:solidFill>
              <a:schemeClr val="bg2"/>
            </a:solidFill>
            <a:miter lim="800000"/>
            <a:headEnd/>
            <a:tailEnd/>
          </a:ln>
          <a:effectLst/>
        </p:spPr>
        <p:txBody>
          <a:bodyPr anchor="ctr"/>
          <a:lstStyle/>
          <a:p>
            <a:r>
              <a:rPr lang="es-ES" sz="1100" dirty="0">
                <a:solidFill>
                  <a:srgbClr val="000000"/>
                </a:solidFill>
              </a:rPr>
              <a:t>La exposición de la imagen es interna y externa con un nivel de impacto alto.</a:t>
            </a:r>
          </a:p>
        </p:txBody>
      </p:sp>
      <p:sp>
        <p:nvSpPr>
          <p:cNvPr id="73" name="AutoShape 179"/>
          <p:cNvSpPr>
            <a:spLocks noChangeArrowheads="1"/>
          </p:cNvSpPr>
          <p:nvPr/>
        </p:nvSpPr>
        <p:spPr bwMode="auto">
          <a:xfrm>
            <a:off x="4927319" y="4380525"/>
            <a:ext cx="4037169" cy="892800"/>
          </a:xfrm>
          <a:prstGeom prst="roundRect">
            <a:avLst>
              <a:gd name="adj" fmla="val 9481"/>
            </a:avLst>
          </a:prstGeom>
          <a:solidFill>
            <a:schemeClr val="accent1">
              <a:lumMod val="20000"/>
              <a:lumOff val="80000"/>
            </a:schemeClr>
          </a:solidFill>
          <a:ln w="9525" algn="ctr">
            <a:noFill/>
            <a:round/>
            <a:headEnd/>
            <a:tailEnd/>
          </a:ln>
          <a:effectLst/>
        </p:spPr>
        <p:txBody>
          <a:bodyPr wrap="none" anchor="ctr"/>
          <a:lstStyle/>
          <a:p>
            <a:endParaRPr lang="es-CL">
              <a:solidFill>
                <a:srgbClr val="002060"/>
              </a:solidFill>
            </a:endParaRPr>
          </a:p>
        </p:txBody>
      </p:sp>
      <p:sp>
        <p:nvSpPr>
          <p:cNvPr id="74" name="AutoShape 47"/>
          <p:cNvSpPr>
            <a:spLocks noChangeArrowheads="1"/>
          </p:cNvSpPr>
          <p:nvPr/>
        </p:nvSpPr>
        <p:spPr bwMode="blackWhite">
          <a:xfrm>
            <a:off x="4673792" y="4382027"/>
            <a:ext cx="352800" cy="892800"/>
          </a:xfrm>
          <a:prstGeom prst="rightArrow">
            <a:avLst>
              <a:gd name="adj1" fmla="val 100000"/>
              <a:gd name="adj2" fmla="val 11009"/>
            </a:avLst>
          </a:prstGeom>
          <a:solidFill>
            <a:srgbClr val="969696"/>
          </a:solidFill>
          <a:ln w="12700">
            <a:noFill/>
            <a:miter lim="800000"/>
            <a:headEnd/>
            <a:tailEnd/>
          </a:ln>
          <a:effectLst>
            <a:outerShdw dist="35921" dir="2700000" algn="ctr" rotWithShape="0">
              <a:schemeClr val="bg2"/>
            </a:outerShdw>
          </a:effectLst>
        </p:spPr>
        <p:txBody>
          <a:bodyPr vert="vert270" anchor="ctr"/>
          <a:lstStyle/>
          <a:p>
            <a:pPr algn="ctr">
              <a:lnSpc>
                <a:spcPts val="1000"/>
              </a:lnSpc>
            </a:pPr>
            <a:r>
              <a:rPr lang="es-ES" sz="1100" b="1" noProof="1">
                <a:solidFill>
                  <a:srgbClr val="FFFFFF"/>
                </a:solidFill>
                <a:cs typeface="Arial" charset="0"/>
              </a:rPr>
              <a:t>Cuestionarios</a:t>
            </a:r>
          </a:p>
        </p:txBody>
      </p:sp>
      <p:sp>
        <p:nvSpPr>
          <p:cNvPr id="76" name="Rounded Rectangle 38"/>
          <p:cNvSpPr/>
          <p:nvPr/>
        </p:nvSpPr>
        <p:spPr>
          <a:xfrm>
            <a:off x="5098230" y="4455792"/>
            <a:ext cx="3132000" cy="170094"/>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Criterios de Evaluación</a:t>
            </a:r>
          </a:p>
        </p:txBody>
      </p:sp>
      <p:sp>
        <p:nvSpPr>
          <p:cNvPr id="77" name="Rectangle 18"/>
          <p:cNvSpPr>
            <a:spLocks noChangeArrowheads="1"/>
          </p:cNvSpPr>
          <p:nvPr/>
        </p:nvSpPr>
        <p:spPr bwMode="auto">
          <a:xfrm>
            <a:off x="5102950" y="4668965"/>
            <a:ext cx="3780000" cy="469509"/>
          </a:xfrm>
          <a:prstGeom prst="rect">
            <a:avLst/>
          </a:prstGeom>
          <a:solidFill>
            <a:schemeClr val="bg1"/>
          </a:solidFill>
          <a:ln w="9525" algn="ctr">
            <a:solidFill>
              <a:schemeClr val="bg2"/>
            </a:solidFill>
            <a:miter lim="800000"/>
            <a:headEnd/>
            <a:tailEnd/>
          </a:ln>
          <a:effectLst/>
        </p:spPr>
        <p:txBody>
          <a:bodyPr anchor="ctr"/>
          <a:lstStyle/>
          <a:p>
            <a:r>
              <a:rPr lang="es-ES" sz="1100" dirty="0"/>
              <a:t>1,800 inspecciones </a:t>
            </a:r>
            <a:r>
              <a:rPr lang="es-ES" sz="1100" dirty="0" err="1"/>
              <a:t>prom</a:t>
            </a:r>
            <a:r>
              <a:rPr lang="es-ES" sz="1100" dirty="0"/>
              <a:t> en 22 día útiles. 82 inspecciones </a:t>
            </a:r>
            <a:r>
              <a:rPr lang="es-ES" sz="1100" dirty="0" err="1"/>
              <a:t>prom</a:t>
            </a:r>
            <a:r>
              <a:rPr lang="es-ES" sz="1100" dirty="0"/>
              <a:t> al día. La caída del WF se da 1 vez al mes con 2 días </a:t>
            </a:r>
            <a:r>
              <a:rPr lang="es-ES" sz="1100" dirty="0" err="1"/>
              <a:t>prom</a:t>
            </a:r>
            <a:r>
              <a:rPr lang="es-ES" sz="1100" dirty="0"/>
              <a:t> de duración. Esto genera 164 trámites que se dejan de operar.</a:t>
            </a:r>
            <a:endParaRPr lang="es-ES" sz="1100" dirty="0">
              <a:solidFill>
                <a:srgbClr val="000000"/>
              </a:solidFill>
            </a:endParaRPr>
          </a:p>
        </p:txBody>
      </p:sp>
      <p:sp>
        <p:nvSpPr>
          <p:cNvPr id="78" name="AutoShape 179"/>
          <p:cNvSpPr>
            <a:spLocks noChangeArrowheads="1"/>
          </p:cNvSpPr>
          <p:nvPr/>
        </p:nvSpPr>
        <p:spPr bwMode="auto">
          <a:xfrm>
            <a:off x="534831" y="5149877"/>
            <a:ext cx="4037169" cy="864000"/>
          </a:xfrm>
          <a:prstGeom prst="roundRect">
            <a:avLst>
              <a:gd name="adj" fmla="val 9481"/>
            </a:avLst>
          </a:prstGeom>
          <a:solidFill>
            <a:schemeClr val="accent1">
              <a:lumMod val="20000"/>
              <a:lumOff val="80000"/>
            </a:schemeClr>
          </a:solidFill>
          <a:ln w="9525" algn="ctr">
            <a:noFill/>
            <a:round/>
            <a:headEnd/>
            <a:tailEnd/>
          </a:ln>
          <a:effectLst/>
        </p:spPr>
        <p:txBody>
          <a:bodyPr wrap="none" anchor="ctr"/>
          <a:lstStyle/>
          <a:p>
            <a:endParaRPr lang="es-CL">
              <a:solidFill>
                <a:srgbClr val="002060"/>
              </a:solidFill>
            </a:endParaRPr>
          </a:p>
        </p:txBody>
      </p:sp>
      <p:sp>
        <p:nvSpPr>
          <p:cNvPr id="79" name="AutoShape 47"/>
          <p:cNvSpPr>
            <a:spLocks noChangeArrowheads="1"/>
          </p:cNvSpPr>
          <p:nvPr/>
        </p:nvSpPr>
        <p:spPr bwMode="blackWhite">
          <a:xfrm>
            <a:off x="281304" y="5151379"/>
            <a:ext cx="353942" cy="864000"/>
          </a:xfrm>
          <a:prstGeom prst="rightArrow">
            <a:avLst>
              <a:gd name="adj1" fmla="val 100000"/>
              <a:gd name="adj2" fmla="val 11009"/>
            </a:avLst>
          </a:prstGeom>
          <a:solidFill>
            <a:srgbClr val="969696"/>
          </a:solidFill>
          <a:ln w="12700">
            <a:noFill/>
            <a:miter lim="800000"/>
            <a:headEnd/>
            <a:tailEnd/>
          </a:ln>
          <a:effectLst>
            <a:outerShdw dist="35921" dir="2700000" algn="ctr" rotWithShape="0">
              <a:schemeClr val="bg2"/>
            </a:outerShdw>
          </a:effectLst>
        </p:spPr>
        <p:txBody>
          <a:bodyPr vert="vert270" anchor="ctr"/>
          <a:lstStyle/>
          <a:p>
            <a:pPr algn="ctr">
              <a:lnSpc>
                <a:spcPts val="1000"/>
              </a:lnSpc>
            </a:pPr>
            <a:r>
              <a:rPr lang="es-ES" sz="1100" b="1" noProof="1">
                <a:solidFill>
                  <a:srgbClr val="FFFFFF"/>
                </a:solidFill>
                <a:cs typeface="Arial" charset="0"/>
              </a:rPr>
              <a:t>Evaluación de Controles</a:t>
            </a:r>
          </a:p>
        </p:txBody>
      </p:sp>
      <p:sp>
        <p:nvSpPr>
          <p:cNvPr id="80" name="Rectangle 18"/>
          <p:cNvSpPr>
            <a:spLocks noChangeArrowheads="1"/>
          </p:cNvSpPr>
          <p:nvPr/>
        </p:nvSpPr>
        <p:spPr bwMode="auto">
          <a:xfrm>
            <a:off x="3937102" y="5225144"/>
            <a:ext cx="548640" cy="170094"/>
          </a:xfrm>
          <a:prstGeom prst="rect">
            <a:avLst/>
          </a:prstGeom>
          <a:solidFill>
            <a:schemeClr val="bg1"/>
          </a:solidFill>
          <a:ln w="9525" algn="ctr">
            <a:solidFill>
              <a:schemeClr val="bg2"/>
            </a:solidFill>
            <a:miter lim="800000"/>
            <a:headEnd/>
            <a:tailEnd/>
          </a:ln>
          <a:effectLst/>
        </p:spPr>
        <p:txBody>
          <a:bodyPr anchor="ctr"/>
          <a:lstStyle/>
          <a:p>
            <a:pPr algn="ctr"/>
            <a:r>
              <a:rPr lang="es-ES" sz="1100" dirty="0">
                <a:solidFill>
                  <a:srgbClr val="002060"/>
                </a:solidFill>
              </a:rPr>
              <a:t>1</a:t>
            </a:r>
          </a:p>
        </p:txBody>
      </p:sp>
      <p:sp>
        <p:nvSpPr>
          <p:cNvPr id="81" name="Rounded Rectangle 38"/>
          <p:cNvSpPr/>
          <p:nvPr/>
        </p:nvSpPr>
        <p:spPr>
          <a:xfrm>
            <a:off x="705742" y="5225144"/>
            <a:ext cx="3132000" cy="170094"/>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Controles asociados al riesgo</a:t>
            </a:r>
          </a:p>
        </p:txBody>
      </p:sp>
      <p:sp>
        <p:nvSpPr>
          <p:cNvPr id="82" name="Rectangle 18"/>
          <p:cNvSpPr>
            <a:spLocks noChangeArrowheads="1"/>
          </p:cNvSpPr>
          <p:nvPr/>
        </p:nvSpPr>
        <p:spPr bwMode="auto">
          <a:xfrm>
            <a:off x="705742" y="5446152"/>
            <a:ext cx="3780000" cy="469509"/>
          </a:xfrm>
          <a:prstGeom prst="rect">
            <a:avLst/>
          </a:prstGeom>
          <a:solidFill>
            <a:schemeClr val="bg1"/>
          </a:solidFill>
          <a:ln w="9525" algn="ctr">
            <a:solidFill>
              <a:schemeClr val="bg2"/>
            </a:solidFill>
            <a:miter lim="800000"/>
            <a:headEnd/>
            <a:tailEnd/>
          </a:ln>
          <a:effectLst/>
        </p:spPr>
        <p:txBody>
          <a:bodyPr anchor="ctr"/>
          <a:lstStyle/>
          <a:p>
            <a:r>
              <a:rPr lang="es-ES" sz="1100" dirty="0">
                <a:solidFill>
                  <a:srgbClr val="000000"/>
                </a:solidFill>
              </a:rPr>
              <a:t>(NF) Controles por Tecnología para la prevención de falla de los aplicativos.</a:t>
            </a:r>
          </a:p>
        </p:txBody>
      </p:sp>
      <p:sp>
        <p:nvSpPr>
          <p:cNvPr id="75" name="TextBox 74"/>
          <p:cNvSpPr txBox="1"/>
          <p:nvPr/>
        </p:nvSpPr>
        <p:spPr>
          <a:xfrm>
            <a:off x="705742" y="5966112"/>
            <a:ext cx="1819944" cy="261610"/>
          </a:xfrm>
          <a:prstGeom prst="rect">
            <a:avLst/>
          </a:prstGeom>
          <a:noFill/>
        </p:spPr>
        <p:txBody>
          <a:bodyPr wrap="square" rtlCol="0">
            <a:spAutoFit/>
          </a:bodyPr>
          <a:lstStyle/>
          <a:p>
            <a:r>
              <a:rPr lang="es-ES" sz="1100" dirty="0"/>
              <a:t>(NF): No Formalizado</a:t>
            </a:r>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dirty="0"/>
              <a:t>Anexo: Ficha Individual Riesgos Operacionales</a:t>
            </a:r>
          </a:p>
        </p:txBody>
      </p:sp>
      <p:sp>
        <p:nvSpPr>
          <p:cNvPr id="3" name="AutoShape 179"/>
          <p:cNvSpPr>
            <a:spLocks noChangeArrowheads="1"/>
          </p:cNvSpPr>
          <p:nvPr/>
        </p:nvSpPr>
        <p:spPr bwMode="auto">
          <a:xfrm>
            <a:off x="611560" y="3421097"/>
            <a:ext cx="3960812" cy="1371600"/>
          </a:xfrm>
          <a:prstGeom prst="roundRect">
            <a:avLst>
              <a:gd name="adj" fmla="val 9481"/>
            </a:avLst>
          </a:prstGeom>
          <a:solidFill>
            <a:schemeClr val="accent1">
              <a:lumMod val="20000"/>
              <a:lumOff val="80000"/>
            </a:schemeClr>
          </a:solidFill>
          <a:ln w="9525" algn="ctr">
            <a:noFill/>
            <a:round/>
            <a:headEnd/>
            <a:tailEnd/>
          </a:ln>
          <a:effectLst/>
        </p:spPr>
        <p:txBody>
          <a:bodyPr wrap="none" anchor="ctr"/>
          <a:lstStyle/>
          <a:p>
            <a:endParaRPr lang="es-CL">
              <a:solidFill>
                <a:srgbClr val="002060"/>
              </a:solidFill>
            </a:endParaRPr>
          </a:p>
        </p:txBody>
      </p:sp>
      <p:sp>
        <p:nvSpPr>
          <p:cNvPr id="4" name="Rounded Rectangle 3"/>
          <p:cNvSpPr/>
          <p:nvPr/>
        </p:nvSpPr>
        <p:spPr>
          <a:xfrm>
            <a:off x="214497" y="764704"/>
            <a:ext cx="397063" cy="274320"/>
          </a:xfrm>
          <a:prstGeom prst="roundRect">
            <a:avLst/>
          </a:prstGeom>
          <a:solidFill>
            <a:srgbClr val="DB0613"/>
          </a:solidFill>
          <a:ln w="9525" algn="ctr">
            <a:noFill/>
            <a:miter lim="800000"/>
            <a:headEnd/>
            <a:tailEnd/>
          </a:ln>
          <a:effectLst/>
        </p:spPr>
        <p:txBody>
          <a:bodyPr anchor="ctr"/>
          <a:lstStyle/>
          <a:p>
            <a:pPr algn="ctr">
              <a:lnSpc>
                <a:spcPct val="80000"/>
              </a:lnSpc>
            </a:pPr>
            <a:r>
              <a:rPr lang="es-CL" sz="1200" b="1" dirty="0">
                <a:solidFill>
                  <a:srgbClr val="FFFFFF"/>
                </a:solidFill>
                <a:cs typeface="Arial" pitchFamily="34" charset="0"/>
              </a:rPr>
              <a:t>16</a:t>
            </a:r>
          </a:p>
        </p:txBody>
      </p:sp>
      <p:sp>
        <p:nvSpPr>
          <p:cNvPr id="5" name="Rectangle 18"/>
          <p:cNvSpPr>
            <a:spLocks noChangeArrowheads="1"/>
          </p:cNvSpPr>
          <p:nvPr/>
        </p:nvSpPr>
        <p:spPr bwMode="auto">
          <a:xfrm>
            <a:off x="227770" y="2409552"/>
            <a:ext cx="6400800" cy="839807"/>
          </a:xfrm>
          <a:prstGeom prst="rect">
            <a:avLst/>
          </a:prstGeom>
          <a:noFill/>
          <a:ln w="9525" algn="ctr">
            <a:solidFill>
              <a:schemeClr val="bg2"/>
            </a:solidFill>
            <a:miter lim="800000"/>
            <a:headEnd/>
            <a:tailEnd/>
          </a:ln>
          <a:effectLst/>
        </p:spPr>
        <p:txBody>
          <a:bodyPr/>
          <a:lstStyle/>
          <a:p>
            <a:r>
              <a:rPr lang="es-ES" sz="1100" dirty="0"/>
              <a:t>Fraude por declaración falsa del estado del vehículo (en los casos de "lugar inaccesible" cuando son requeridas las fotografías del vehículo)</a:t>
            </a:r>
            <a:endParaRPr lang="es-ES" sz="1100" dirty="0">
              <a:solidFill>
                <a:srgbClr val="002060"/>
              </a:solidFill>
            </a:endParaRPr>
          </a:p>
        </p:txBody>
      </p:sp>
      <p:sp>
        <p:nvSpPr>
          <p:cNvPr id="7" name="Text Box 30"/>
          <p:cNvSpPr txBox="1">
            <a:spLocks noChangeArrowheads="1"/>
          </p:cNvSpPr>
          <p:nvPr/>
        </p:nvSpPr>
        <p:spPr bwMode="auto">
          <a:xfrm>
            <a:off x="190747" y="3184957"/>
            <a:ext cx="3671888" cy="276999"/>
          </a:xfrm>
          <a:prstGeom prst="rect">
            <a:avLst/>
          </a:prstGeom>
          <a:noFill/>
          <a:ln w="9525" algn="ctr">
            <a:noFill/>
            <a:miter lim="800000"/>
            <a:headEnd/>
            <a:tailEnd/>
          </a:ln>
          <a:effectLst/>
        </p:spPr>
        <p:txBody>
          <a:bodyPr>
            <a:spAutoFit/>
          </a:bodyPr>
          <a:lstStyle/>
          <a:p>
            <a:pPr>
              <a:spcBef>
                <a:spcPct val="50000"/>
              </a:spcBef>
            </a:pPr>
            <a:r>
              <a:rPr lang="es-CL" sz="1200" b="1" i="1" dirty="0">
                <a:solidFill>
                  <a:srgbClr val="A3A3E0"/>
                </a:solidFill>
              </a:rPr>
              <a:t>Resultados valoración de riesgos</a:t>
            </a:r>
            <a:endParaRPr lang="es-ES" sz="1200" b="1" i="1" dirty="0">
              <a:solidFill>
                <a:srgbClr val="A3A3E0"/>
              </a:solidFill>
            </a:endParaRPr>
          </a:p>
        </p:txBody>
      </p:sp>
      <p:sp>
        <p:nvSpPr>
          <p:cNvPr id="8" name="Rounded Rectangle 7"/>
          <p:cNvSpPr/>
          <p:nvPr/>
        </p:nvSpPr>
        <p:spPr>
          <a:xfrm>
            <a:off x="652842" y="764704"/>
            <a:ext cx="8321040" cy="274320"/>
          </a:xfrm>
          <a:prstGeom prst="roundRect">
            <a:avLst/>
          </a:prstGeom>
          <a:solidFill>
            <a:srgbClr val="DB0613"/>
          </a:solidFill>
          <a:ln w="9525" algn="ctr">
            <a:noFill/>
            <a:miter lim="800000"/>
            <a:headEnd/>
            <a:tailEnd/>
          </a:ln>
          <a:effectLst/>
        </p:spPr>
        <p:txBody>
          <a:bodyPr anchor="ctr"/>
          <a:lstStyle/>
          <a:p>
            <a:pPr>
              <a:lnSpc>
                <a:spcPct val="80000"/>
              </a:lnSpc>
            </a:pPr>
            <a:r>
              <a:rPr lang="es-ES" sz="1200" dirty="0">
                <a:solidFill>
                  <a:schemeClr val="bg1"/>
                </a:solidFill>
              </a:rPr>
              <a:t>Fraude por declaración falsa del estado del vehículo.</a:t>
            </a:r>
            <a:endParaRPr lang="es-CL" sz="1200" b="1" dirty="0">
              <a:solidFill>
                <a:schemeClr val="bg1"/>
              </a:solidFill>
              <a:cs typeface="Arial" pitchFamily="34" charset="0"/>
            </a:endParaRPr>
          </a:p>
        </p:txBody>
      </p:sp>
      <p:sp>
        <p:nvSpPr>
          <p:cNvPr id="9" name="Rounded Rectangle 8"/>
          <p:cNvSpPr/>
          <p:nvPr/>
        </p:nvSpPr>
        <p:spPr>
          <a:xfrm>
            <a:off x="227770" y="2202383"/>
            <a:ext cx="64008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Descripción</a:t>
            </a:r>
          </a:p>
        </p:txBody>
      </p:sp>
      <p:sp>
        <p:nvSpPr>
          <p:cNvPr id="10" name="Rounded Rectangle 9"/>
          <p:cNvSpPr/>
          <p:nvPr/>
        </p:nvSpPr>
        <p:spPr>
          <a:xfrm>
            <a:off x="6716066" y="1089119"/>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Categoría  de Riesgo Nivel I</a:t>
            </a:r>
          </a:p>
        </p:txBody>
      </p:sp>
      <p:sp>
        <p:nvSpPr>
          <p:cNvPr id="11" name="Rectangle 18"/>
          <p:cNvSpPr>
            <a:spLocks noChangeArrowheads="1"/>
          </p:cNvSpPr>
          <p:nvPr/>
        </p:nvSpPr>
        <p:spPr bwMode="auto">
          <a:xfrm>
            <a:off x="6716066" y="1316374"/>
            <a:ext cx="2286000" cy="365760"/>
          </a:xfrm>
          <a:prstGeom prst="rect">
            <a:avLst/>
          </a:prstGeom>
          <a:noFill/>
          <a:ln w="9525" algn="ctr">
            <a:solidFill>
              <a:schemeClr val="bg2"/>
            </a:solidFill>
            <a:miter lim="800000"/>
            <a:headEnd/>
            <a:tailEnd/>
          </a:ln>
          <a:effectLst/>
        </p:spPr>
        <p:txBody>
          <a:bodyPr anchor="ctr"/>
          <a:lstStyle/>
          <a:p>
            <a:pPr>
              <a:lnSpc>
                <a:spcPts val="1000"/>
              </a:lnSpc>
            </a:pPr>
            <a:r>
              <a:rPr lang="es-ES" sz="1100" dirty="0"/>
              <a:t>Fraude Externo</a:t>
            </a:r>
          </a:p>
        </p:txBody>
      </p:sp>
      <p:sp>
        <p:nvSpPr>
          <p:cNvPr id="12" name="Rounded Rectangle 11"/>
          <p:cNvSpPr/>
          <p:nvPr/>
        </p:nvSpPr>
        <p:spPr>
          <a:xfrm>
            <a:off x="6716066" y="1725169"/>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Categoría de Riesgo Nivel II</a:t>
            </a:r>
          </a:p>
        </p:txBody>
      </p:sp>
      <p:sp>
        <p:nvSpPr>
          <p:cNvPr id="13" name="Rectangle 18"/>
          <p:cNvSpPr>
            <a:spLocks noChangeArrowheads="1"/>
          </p:cNvSpPr>
          <p:nvPr/>
        </p:nvSpPr>
        <p:spPr bwMode="auto">
          <a:xfrm>
            <a:off x="6716066" y="1942710"/>
            <a:ext cx="2286000" cy="274320"/>
          </a:xfrm>
          <a:prstGeom prst="rect">
            <a:avLst/>
          </a:prstGeom>
          <a:noFill/>
          <a:ln w="9525" algn="ctr">
            <a:solidFill>
              <a:schemeClr val="bg2"/>
            </a:solidFill>
            <a:miter lim="800000"/>
            <a:headEnd/>
            <a:tailEnd/>
          </a:ln>
          <a:effectLst/>
        </p:spPr>
        <p:txBody>
          <a:bodyPr anchor="ctr"/>
          <a:lstStyle/>
          <a:p>
            <a:r>
              <a:rPr lang="es-ES" sz="1100" dirty="0"/>
              <a:t>Robo y fraude</a:t>
            </a:r>
          </a:p>
        </p:txBody>
      </p:sp>
      <p:sp>
        <p:nvSpPr>
          <p:cNvPr id="16" name="Rectangle 18"/>
          <p:cNvSpPr>
            <a:spLocks noChangeArrowheads="1"/>
          </p:cNvSpPr>
          <p:nvPr/>
        </p:nvSpPr>
        <p:spPr bwMode="auto">
          <a:xfrm>
            <a:off x="6716066" y="2459337"/>
            <a:ext cx="2286000" cy="506469"/>
          </a:xfrm>
          <a:prstGeom prst="rect">
            <a:avLst/>
          </a:prstGeom>
          <a:noFill/>
          <a:ln w="9525" algn="ctr">
            <a:solidFill>
              <a:schemeClr val="bg2"/>
            </a:solidFill>
            <a:miter lim="800000"/>
            <a:headEnd/>
            <a:tailEnd/>
          </a:ln>
          <a:effectLst/>
        </p:spPr>
        <p:txBody>
          <a:bodyPr anchor="ctr"/>
          <a:lstStyle/>
          <a:p>
            <a:r>
              <a:rPr lang="es-ES" sz="1100" dirty="0"/>
              <a:t>Falsificación, suplantación de identidad</a:t>
            </a:r>
            <a:endParaRPr lang="es-ES" sz="1100" dirty="0">
              <a:solidFill>
                <a:srgbClr val="002060"/>
              </a:solidFill>
            </a:endParaRPr>
          </a:p>
        </p:txBody>
      </p:sp>
      <p:sp>
        <p:nvSpPr>
          <p:cNvPr id="17" name="Rounded Rectangle 16"/>
          <p:cNvSpPr/>
          <p:nvPr/>
        </p:nvSpPr>
        <p:spPr>
          <a:xfrm>
            <a:off x="227770" y="1110038"/>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Macroproceso</a:t>
            </a:r>
          </a:p>
        </p:txBody>
      </p:sp>
      <p:sp>
        <p:nvSpPr>
          <p:cNvPr id="18" name="Rectangle 18"/>
          <p:cNvSpPr>
            <a:spLocks noChangeArrowheads="1"/>
          </p:cNvSpPr>
          <p:nvPr/>
        </p:nvSpPr>
        <p:spPr bwMode="auto">
          <a:xfrm>
            <a:off x="2568409" y="1110038"/>
            <a:ext cx="4060161" cy="182880"/>
          </a:xfrm>
          <a:prstGeom prst="rect">
            <a:avLst/>
          </a:prstGeom>
          <a:noFill/>
          <a:ln w="9525" algn="ctr">
            <a:solidFill>
              <a:schemeClr val="bg2"/>
            </a:solidFill>
            <a:miter lim="800000"/>
            <a:headEnd/>
            <a:tailEnd/>
          </a:ln>
          <a:effectLst/>
        </p:spPr>
        <p:txBody>
          <a:bodyPr anchor="ctr"/>
          <a:lstStyle/>
          <a:p>
            <a:r>
              <a:rPr lang="es-ES" sz="1100" dirty="0"/>
              <a:t>Generación de Negocio</a:t>
            </a:r>
          </a:p>
        </p:txBody>
      </p:sp>
      <p:sp>
        <p:nvSpPr>
          <p:cNvPr id="19" name="Rounded Rectangle 18"/>
          <p:cNvSpPr/>
          <p:nvPr/>
        </p:nvSpPr>
        <p:spPr>
          <a:xfrm>
            <a:off x="227770" y="1339045"/>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Proceso</a:t>
            </a:r>
          </a:p>
        </p:txBody>
      </p:sp>
      <p:sp>
        <p:nvSpPr>
          <p:cNvPr id="20" name="Rectangle 18"/>
          <p:cNvSpPr>
            <a:spLocks noChangeArrowheads="1"/>
          </p:cNvSpPr>
          <p:nvPr/>
        </p:nvSpPr>
        <p:spPr bwMode="auto">
          <a:xfrm>
            <a:off x="2568409" y="1339045"/>
            <a:ext cx="4060161" cy="182880"/>
          </a:xfrm>
          <a:prstGeom prst="rect">
            <a:avLst/>
          </a:prstGeom>
          <a:noFill/>
          <a:ln w="9525" algn="ctr">
            <a:solidFill>
              <a:schemeClr val="bg2"/>
            </a:solidFill>
            <a:miter lim="800000"/>
            <a:headEnd/>
            <a:tailEnd/>
          </a:ln>
          <a:effectLst/>
        </p:spPr>
        <p:txBody>
          <a:bodyPr anchor="ctr"/>
          <a:lstStyle/>
          <a:p>
            <a:r>
              <a:rPr lang="es-ES" sz="1100" dirty="0"/>
              <a:t>Suscripción</a:t>
            </a:r>
          </a:p>
        </p:txBody>
      </p:sp>
      <p:sp>
        <p:nvSpPr>
          <p:cNvPr id="21" name="Rectangle 29"/>
          <p:cNvSpPr>
            <a:spLocks noChangeArrowheads="1"/>
          </p:cNvSpPr>
          <p:nvPr/>
        </p:nvSpPr>
        <p:spPr bwMode="auto">
          <a:xfrm>
            <a:off x="107504" y="3309415"/>
            <a:ext cx="8961120" cy="1607926"/>
          </a:xfrm>
          <a:prstGeom prst="rect">
            <a:avLst/>
          </a:prstGeom>
          <a:noFill/>
          <a:ln w="19050" cap="rnd" algn="ctr">
            <a:solidFill>
              <a:schemeClr val="bg2"/>
            </a:solidFill>
            <a:prstDash val="sysDot"/>
            <a:miter lim="800000"/>
            <a:headEnd/>
            <a:tailEnd/>
          </a:ln>
          <a:effectLst/>
        </p:spPr>
        <p:txBody>
          <a:bodyPr wrap="none" anchor="ctr"/>
          <a:lstStyle/>
          <a:p>
            <a:endParaRPr lang="en-US">
              <a:solidFill>
                <a:srgbClr val="002060"/>
              </a:solidFill>
            </a:endParaRPr>
          </a:p>
        </p:txBody>
      </p:sp>
      <p:sp>
        <p:nvSpPr>
          <p:cNvPr id="22" name="Rounded Rectangle 21"/>
          <p:cNvSpPr/>
          <p:nvPr/>
        </p:nvSpPr>
        <p:spPr>
          <a:xfrm>
            <a:off x="902959" y="4267863"/>
            <a:ext cx="1920240" cy="182880"/>
          </a:xfrm>
          <a:prstGeom prst="roundRect">
            <a:avLst/>
          </a:prstGeom>
          <a:solidFill>
            <a:srgbClr val="DB0613"/>
          </a:solidFill>
          <a:ln w="9525" algn="ctr">
            <a:noFill/>
            <a:miter lim="800000"/>
            <a:headEnd/>
            <a:tailEnd/>
          </a:ln>
          <a:effectLst/>
        </p:spPr>
        <p:txBody>
          <a:bodyPr tIns="91440" anchor="ctr"/>
          <a:lstStyle/>
          <a:p>
            <a:pPr>
              <a:lnSpc>
                <a:spcPct val="80000"/>
              </a:lnSpc>
            </a:pPr>
            <a:r>
              <a:rPr lang="es-CL" sz="1100" b="1" dirty="0">
                <a:solidFill>
                  <a:srgbClr val="FFFFFF"/>
                </a:solidFill>
                <a:cs typeface="Arial" pitchFamily="34" charset="0"/>
              </a:rPr>
              <a:t>Pérdida Esperada Anual</a:t>
            </a:r>
          </a:p>
        </p:txBody>
      </p:sp>
      <p:sp>
        <p:nvSpPr>
          <p:cNvPr id="23" name="Rectangle 18"/>
          <p:cNvSpPr>
            <a:spLocks noChangeArrowheads="1"/>
          </p:cNvSpPr>
          <p:nvPr/>
        </p:nvSpPr>
        <p:spPr bwMode="auto">
          <a:xfrm>
            <a:off x="2859920" y="4267863"/>
            <a:ext cx="1554480" cy="182880"/>
          </a:xfrm>
          <a:prstGeom prst="rect">
            <a:avLst/>
          </a:prstGeom>
          <a:solidFill>
            <a:schemeClr val="bg1"/>
          </a:solidFill>
          <a:ln w="9525" algn="ctr">
            <a:solidFill>
              <a:schemeClr val="bg2"/>
            </a:solidFill>
            <a:miter lim="800000"/>
            <a:headEnd/>
            <a:tailEnd/>
          </a:ln>
          <a:effectLst/>
        </p:spPr>
        <p:txBody>
          <a:bodyPr anchor="ctr"/>
          <a:lstStyle/>
          <a:p>
            <a:pPr algn="ctr"/>
            <a:r>
              <a:rPr lang="es-ES" sz="1100" dirty="0"/>
              <a:t>S/. 5,355,000.00</a:t>
            </a:r>
          </a:p>
        </p:txBody>
      </p:sp>
      <p:sp>
        <p:nvSpPr>
          <p:cNvPr id="24" name="Rounded Rectangle 23"/>
          <p:cNvSpPr/>
          <p:nvPr/>
        </p:nvSpPr>
        <p:spPr>
          <a:xfrm>
            <a:off x="902959" y="4497475"/>
            <a:ext cx="192024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VaR Cualitativo Anual</a:t>
            </a:r>
          </a:p>
        </p:txBody>
      </p:sp>
      <p:sp>
        <p:nvSpPr>
          <p:cNvPr id="25" name="Rectangle 18"/>
          <p:cNvSpPr>
            <a:spLocks noChangeArrowheads="1"/>
          </p:cNvSpPr>
          <p:nvPr/>
        </p:nvSpPr>
        <p:spPr bwMode="auto">
          <a:xfrm>
            <a:off x="2859920" y="4497475"/>
            <a:ext cx="1554480" cy="182880"/>
          </a:xfrm>
          <a:prstGeom prst="rect">
            <a:avLst/>
          </a:prstGeom>
          <a:solidFill>
            <a:schemeClr val="bg1"/>
          </a:solidFill>
          <a:ln w="9525" algn="ctr">
            <a:solidFill>
              <a:schemeClr val="bg2"/>
            </a:solidFill>
            <a:miter lim="800000"/>
            <a:headEnd/>
            <a:tailEnd/>
          </a:ln>
          <a:effectLst/>
        </p:spPr>
        <p:txBody>
          <a:bodyPr anchor="ctr"/>
          <a:lstStyle/>
          <a:p>
            <a:pPr algn="ctr"/>
            <a:r>
              <a:rPr lang="es-ES" sz="1100" dirty="0"/>
              <a:t>S/. 7,974,526.47</a:t>
            </a:r>
          </a:p>
        </p:txBody>
      </p:sp>
      <p:sp>
        <p:nvSpPr>
          <p:cNvPr id="26" name="Rounded Rectangle 25"/>
          <p:cNvSpPr/>
          <p:nvPr/>
        </p:nvSpPr>
        <p:spPr>
          <a:xfrm>
            <a:off x="891084" y="3504477"/>
            <a:ext cx="192024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Frecuencia  Evento Pérdida</a:t>
            </a:r>
          </a:p>
        </p:txBody>
      </p:sp>
      <p:sp>
        <p:nvSpPr>
          <p:cNvPr id="27" name="Rectangle 18"/>
          <p:cNvSpPr>
            <a:spLocks noChangeArrowheads="1"/>
          </p:cNvSpPr>
          <p:nvPr/>
        </p:nvSpPr>
        <p:spPr bwMode="auto">
          <a:xfrm>
            <a:off x="2859920" y="3504477"/>
            <a:ext cx="1554480" cy="182880"/>
          </a:xfrm>
          <a:prstGeom prst="rect">
            <a:avLst/>
          </a:prstGeom>
          <a:solidFill>
            <a:schemeClr val="bg1"/>
          </a:solidFill>
          <a:ln w="9525" algn="ctr">
            <a:solidFill>
              <a:schemeClr val="bg2"/>
            </a:solidFill>
            <a:miter lim="800000"/>
            <a:headEnd/>
            <a:tailEnd/>
          </a:ln>
          <a:effectLst/>
        </p:spPr>
        <p:txBody>
          <a:bodyPr anchor="ctr"/>
          <a:lstStyle/>
          <a:p>
            <a:pPr algn="ctr"/>
            <a:r>
              <a:rPr lang="es-ES" sz="1100" dirty="0">
                <a:solidFill>
                  <a:srgbClr val="002060"/>
                </a:solidFill>
              </a:rPr>
              <a:t>5 veces al mes</a:t>
            </a:r>
          </a:p>
        </p:txBody>
      </p:sp>
      <p:sp>
        <p:nvSpPr>
          <p:cNvPr id="28" name="Rounded Rectangle 27"/>
          <p:cNvSpPr/>
          <p:nvPr/>
        </p:nvSpPr>
        <p:spPr>
          <a:xfrm>
            <a:off x="891084" y="3734089"/>
            <a:ext cx="192024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Impacto Medio Evento</a:t>
            </a:r>
          </a:p>
        </p:txBody>
      </p:sp>
      <p:sp>
        <p:nvSpPr>
          <p:cNvPr id="29" name="Rectangle 18"/>
          <p:cNvSpPr>
            <a:spLocks noChangeArrowheads="1"/>
          </p:cNvSpPr>
          <p:nvPr/>
        </p:nvSpPr>
        <p:spPr bwMode="auto">
          <a:xfrm>
            <a:off x="2859920" y="3734089"/>
            <a:ext cx="1554480" cy="182880"/>
          </a:xfrm>
          <a:prstGeom prst="rect">
            <a:avLst/>
          </a:prstGeom>
          <a:solidFill>
            <a:schemeClr val="bg1"/>
          </a:solidFill>
          <a:ln w="9525" algn="ctr">
            <a:solidFill>
              <a:schemeClr val="bg2"/>
            </a:solidFill>
            <a:miter lim="800000"/>
            <a:headEnd/>
            <a:tailEnd/>
          </a:ln>
          <a:effectLst/>
        </p:spPr>
        <p:txBody>
          <a:bodyPr anchor="ctr"/>
          <a:lstStyle/>
          <a:p>
            <a:pPr algn="ctr"/>
            <a:r>
              <a:rPr lang="es-ES" sz="1100" dirty="0"/>
              <a:t>S/. 89,250.00</a:t>
            </a:r>
            <a:endParaRPr lang="es-ES" sz="1100" dirty="0">
              <a:solidFill>
                <a:srgbClr val="002060"/>
              </a:solidFill>
            </a:endParaRPr>
          </a:p>
        </p:txBody>
      </p:sp>
      <p:sp>
        <p:nvSpPr>
          <p:cNvPr id="30" name="Rounded Rectangle 29"/>
          <p:cNvSpPr/>
          <p:nvPr/>
        </p:nvSpPr>
        <p:spPr>
          <a:xfrm>
            <a:off x="891084" y="3969669"/>
            <a:ext cx="192024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Impacto Peor Escenario</a:t>
            </a:r>
          </a:p>
        </p:txBody>
      </p:sp>
      <p:sp>
        <p:nvSpPr>
          <p:cNvPr id="31" name="Rectangle 18"/>
          <p:cNvSpPr>
            <a:spLocks noChangeArrowheads="1"/>
          </p:cNvSpPr>
          <p:nvPr/>
        </p:nvSpPr>
        <p:spPr bwMode="auto">
          <a:xfrm>
            <a:off x="2859920" y="3969669"/>
            <a:ext cx="1554480" cy="182880"/>
          </a:xfrm>
          <a:prstGeom prst="rect">
            <a:avLst/>
          </a:prstGeom>
          <a:solidFill>
            <a:schemeClr val="bg1"/>
          </a:solidFill>
          <a:ln w="9525" algn="ctr">
            <a:solidFill>
              <a:schemeClr val="bg2"/>
            </a:solidFill>
            <a:miter lim="800000"/>
            <a:headEnd/>
            <a:tailEnd/>
          </a:ln>
          <a:effectLst/>
        </p:spPr>
        <p:txBody>
          <a:bodyPr anchor="ctr"/>
          <a:lstStyle/>
          <a:p>
            <a:pPr algn="ctr"/>
            <a:r>
              <a:rPr lang="es-ES" sz="1100" dirty="0"/>
              <a:t>S/. 255,000.00</a:t>
            </a:r>
            <a:endParaRPr lang="es-ES" sz="1100" dirty="0">
              <a:solidFill>
                <a:srgbClr val="002060"/>
              </a:solidFill>
            </a:endParaRPr>
          </a:p>
        </p:txBody>
      </p:sp>
      <p:sp>
        <p:nvSpPr>
          <p:cNvPr id="32" name="AutoShape 47"/>
          <p:cNvSpPr>
            <a:spLocks noChangeAspect="1" noChangeArrowheads="1"/>
          </p:cNvSpPr>
          <p:nvPr/>
        </p:nvSpPr>
        <p:spPr bwMode="blackWhite">
          <a:xfrm>
            <a:off x="263033" y="3418822"/>
            <a:ext cx="492543" cy="1339083"/>
          </a:xfrm>
          <a:prstGeom prst="rightArrow">
            <a:avLst>
              <a:gd name="adj1" fmla="val 100000"/>
              <a:gd name="adj2" fmla="val 11009"/>
            </a:avLst>
          </a:prstGeom>
          <a:solidFill>
            <a:srgbClr val="969696"/>
          </a:solidFill>
          <a:ln w="12700">
            <a:noFill/>
            <a:miter lim="800000"/>
            <a:headEnd/>
            <a:tailEnd/>
          </a:ln>
          <a:effectLst>
            <a:outerShdw dist="35921" dir="2700000" algn="ctr" rotWithShape="0">
              <a:schemeClr val="bg2"/>
            </a:outerShdw>
          </a:effectLst>
        </p:spPr>
        <p:txBody>
          <a:bodyPr vert="vert270" anchor="ctr"/>
          <a:lstStyle/>
          <a:p>
            <a:pPr algn="ctr">
              <a:lnSpc>
                <a:spcPts val="1000"/>
              </a:lnSpc>
            </a:pPr>
            <a:r>
              <a:rPr lang="es-ES" sz="1200" b="1" noProof="1">
                <a:solidFill>
                  <a:srgbClr val="FFFFFF"/>
                </a:solidFill>
                <a:cs typeface="Arial" charset="0"/>
              </a:rPr>
              <a:t>Evaluación Riesgo Operacional</a:t>
            </a:r>
          </a:p>
        </p:txBody>
      </p:sp>
      <p:sp>
        <p:nvSpPr>
          <p:cNvPr id="43" name="Text Box 30"/>
          <p:cNvSpPr txBox="1">
            <a:spLocks noChangeArrowheads="1"/>
          </p:cNvSpPr>
          <p:nvPr/>
        </p:nvSpPr>
        <p:spPr bwMode="auto">
          <a:xfrm>
            <a:off x="190746" y="4893591"/>
            <a:ext cx="4741293" cy="276999"/>
          </a:xfrm>
          <a:prstGeom prst="rect">
            <a:avLst/>
          </a:prstGeom>
          <a:noFill/>
          <a:ln w="9525" algn="ctr">
            <a:noFill/>
            <a:miter lim="800000"/>
            <a:headEnd/>
            <a:tailEnd/>
          </a:ln>
          <a:effectLst/>
        </p:spPr>
        <p:txBody>
          <a:bodyPr wrap="square">
            <a:spAutoFit/>
          </a:bodyPr>
          <a:lstStyle/>
          <a:p>
            <a:pPr>
              <a:spcBef>
                <a:spcPct val="50000"/>
              </a:spcBef>
            </a:pPr>
            <a:r>
              <a:rPr lang="es-CL" sz="1200" b="1" i="1" dirty="0">
                <a:solidFill>
                  <a:srgbClr val="A3A3E0"/>
                </a:solidFill>
              </a:rPr>
              <a:t>Resultados valoración de controles / factores mitigantes</a:t>
            </a:r>
            <a:endParaRPr lang="es-ES" sz="1200" b="1" i="1" dirty="0">
              <a:solidFill>
                <a:srgbClr val="A3A3E0"/>
              </a:solidFill>
            </a:endParaRPr>
          </a:p>
        </p:txBody>
      </p:sp>
      <p:sp>
        <p:nvSpPr>
          <p:cNvPr id="59" name="Rounded Rectangle 58"/>
          <p:cNvSpPr/>
          <p:nvPr/>
        </p:nvSpPr>
        <p:spPr>
          <a:xfrm>
            <a:off x="223049" y="1554311"/>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Subproceso</a:t>
            </a:r>
          </a:p>
        </p:txBody>
      </p:sp>
      <p:sp>
        <p:nvSpPr>
          <p:cNvPr id="60" name="Rectangle 18"/>
          <p:cNvSpPr>
            <a:spLocks noChangeArrowheads="1"/>
          </p:cNvSpPr>
          <p:nvPr/>
        </p:nvSpPr>
        <p:spPr bwMode="auto">
          <a:xfrm>
            <a:off x="2563688" y="1554311"/>
            <a:ext cx="4064882" cy="182880"/>
          </a:xfrm>
          <a:prstGeom prst="rect">
            <a:avLst/>
          </a:prstGeom>
          <a:noFill/>
          <a:ln w="9525" algn="ctr">
            <a:solidFill>
              <a:schemeClr val="bg2"/>
            </a:solidFill>
            <a:miter lim="800000"/>
            <a:headEnd/>
            <a:tailEnd/>
          </a:ln>
          <a:effectLst/>
        </p:spPr>
        <p:txBody>
          <a:bodyPr anchor="ctr"/>
          <a:lstStyle/>
          <a:p>
            <a:r>
              <a:rPr lang="es-ES" sz="1100" dirty="0"/>
              <a:t>Inspección Técnica</a:t>
            </a:r>
          </a:p>
        </p:txBody>
      </p:sp>
      <p:sp>
        <p:nvSpPr>
          <p:cNvPr id="57" name="Rounded Rectangle 56"/>
          <p:cNvSpPr/>
          <p:nvPr/>
        </p:nvSpPr>
        <p:spPr>
          <a:xfrm>
            <a:off x="223049" y="1771093"/>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Línea de Negocio</a:t>
            </a:r>
          </a:p>
        </p:txBody>
      </p:sp>
      <p:sp>
        <p:nvSpPr>
          <p:cNvPr id="58" name="Rectangle 18"/>
          <p:cNvSpPr>
            <a:spLocks noChangeArrowheads="1"/>
          </p:cNvSpPr>
          <p:nvPr/>
        </p:nvSpPr>
        <p:spPr bwMode="auto">
          <a:xfrm>
            <a:off x="2563688" y="1771093"/>
            <a:ext cx="4064882" cy="182880"/>
          </a:xfrm>
          <a:prstGeom prst="rect">
            <a:avLst/>
          </a:prstGeom>
          <a:noFill/>
          <a:ln w="9525" algn="ctr">
            <a:solidFill>
              <a:schemeClr val="bg2"/>
            </a:solidFill>
            <a:miter lim="800000"/>
            <a:headEnd/>
            <a:tailEnd/>
          </a:ln>
          <a:effectLst/>
        </p:spPr>
        <p:txBody>
          <a:bodyPr anchor="ctr"/>
          <a:lstStyle/>
          <a:p>
            <a:r>
              <a:rPr lang="es-ES" sz="1100" dirty="0"/>
              <a:t>Ramos Generales</a:t>
            </a:r>
          </a:p>
        </p:txBody>
      </p:sp>
      <p:sp>
        <p:nvSpPr>
          <p:cNvPr id="61" name="Rounded Rectangle 60"/>
          <p:cNvSpPr/>
          <p:nvPr/>
        </p:nvSpPr>
        <p:spPr>
          <a:xfrm>
            <a:off x="223049" y="1986359"/>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Responsable</a:t>
            </a:r>
          </a:p>
        </p:txBody>
      </p:sp>
      <p:sp>
        <p:nvSpPr>
          <p:cNvPr id="62" name="Rectangle 18"/>
          <p:cNvSpPr>
            <a:spLocks noChangeArrowheads="1"/>
          </p:cNvSpPr>
          <p:nvPr/>
        </p:nvSpPr>
        <p:spPr bwMode="auto">
          <a:xfrm>
            <a:off x="2558967" y="1986359"/>
            <a:ext cx="4069603" cy="182880"/>
          </a:xfrm>
          <a:prstGeom prst="rect">
            <a:avLst/>
          </a:prstGeom>
          <a:noFill/>
          <a:ln w="9525" algn="ctr">
            <a:solidFill>
              <a:schemeClr val="bg2"/>
            </a:solidFill>
            <a:miter lim="800000"/>
            <a:headEnd/>
            <a:tailEnd/>
          </a:ln>
          <a:effectLst/>
        </p:spPr>
        <p:txBody>
          <a:bodyPr anchor="ctr"/>
          <a:lstStyle/>
          <a:p>
            <a:r>
              <a:rPr lang="es-ES" sz="1100" dirty="0"/>
              <a:t>Jefe de Gestión Operativa de Vehículos y Riesgos Generales</a:t>
            </a:r>
            <a:endParaRPr lang="es-ES" sz="1100" dirty="0">
              <a:solidFill>
                <a:srgbClr val="002060"/>
              </a:solidFill>
            </a:endParaRPr>
          </a:p>
        </p:txBody>
      </p:sp>
      <p:sp>
        <p:nvSpPr>
          <p:cNvPr id="63" name="Rounded Rectangle 62"/>
          <p:cNvSpPr/>
          <p:nvPr/>
        </p:nvSpPr>
        <p:spPr>
          <a:xfrm>
            <a:off x="6732240" y="2276457"/>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Categoría de Riesgo Nivel III</a:t>
            </a:r>
          </a:p>
        </p:txBody>
      </p:sp>
      <p:sp>
        <p:nvSpPr>
          <p:cNvPr id="64" name="Rounded Rectangle 14"/>
          <p:cNvSpPr/>
          <p:nvPr/>
        </p:nvSpPr>
        <p:spPr>
          <a:xfrm>
            <a:off x="6732240" y="2908110"/>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Origen del Riesgo</a:t>
            </a:r>
          </a:p>
        </p:txBody>
      </p:sp>
      <p:sp>
        <p:nvSpPr>
          <p:cNvPr id="65" name="Rectangle 18"/>
          <p:cNvSpPr>
            <a:spLocks noChangeArrowheads="1"/>
          </p:cNvSpPr>
          <p:nvPr/>
        </p:nvSpPr>
        <p:spPr bwMode="auto">
          <a:xfrm>
            <a:off x="6732240" y="3097975"/>
            <a:ext cx="2286000" cy="270000"/>
          </a:xfrm>
          <a:prstGeom prst="rect">
            <a:avLst/>
          </a:prstGeom>
          <a:noFill/>
          <a:ln w="9525" algn="ctr">
            <a:solidFill>
              <a:schemeClr val="bg2"/>
            </a:solidFill>
            <a:miter lim="800000"/>
            <a:headEnd/>
            <a:tailEnd/>
          </a:ln>
          <a:effectLst/>
        </p:spPr>
        <p:txBody>
          <a:bodyPr anchor="ctr"/>
          <a:lstStyle/>
          <a:p>
            <a:r>
              <a:rPr lang="es-ES" sz="1100" dirty="0">
                <a:solidFill>
                  <a:srgbClr val="000000"/>
                </a:solidFill>
              </a:rPr>
              <a:t>Eventos Externos</a:t>
            </a:r>
          </a:p>
        </p:txBody>
      </p:sp>
      <p:sp>
        <p:nvSpPr>
          <p:cNvPr id="66" name="AutoShape 179"/>
          <p:cNvSpPr>
            <a:spLocks noChangeArrowheads="1"/>
          </p:cNvSpPr>
          <p:nvPr/>
        </p:nvSpPr>
        <p:spPr bwMode="auto">
          <a:xfrm>
            <a:off x="4932039" y="3476308"/>
            <a:ext cx="4037169" cy="864000"/>
          </a:xfrm>
          <a:prstGeom prst="roundRect">
            <a:avLst>
              <a:gd name="adj" fmla="val 9481"/>
            </a:avLst>
          </a:prstGeom>
          <a:solidFill>
            <a:schemeClr val="accent1">
              <a:lumMod val="20000"/>
              <a:lumOff val="80000"/>
            </a:schemeClr>
          </a:solidFill>
          <a:ln w="9525" algn="ctr">
            <a:noFill/>
            <a:round/>
            <a:headEnd/>
            <a:tailEnd/>
          </a:ln>
          <a:effectLst/>
        </p:spPr>
        <p:txBody>
          <a:bodyPr wrap="none" anchor="ctr"/>
          <a:lstStyle/>
          <a:p>
            <a:endParaRPr lang="es-CL">
              <a:solidFill>
                <a:srgbClr val="002060"/>
              </a:solidFill>
            </a:endParaRPr>
          </a:p>
        </p:txBody>
      </p:sp>
      <p:sp>
        <p:nvSpPr>
          <p:cNvPr id="67" name="AutoShape 47"/>
          <p:cNvSpPr>
            <a:spLocks noChangeArrowheads="1"/>
          </p:cNvSpPr>
          <p:nvPr/>
        </p:nvSpPr>
        <p:spPr bwMode="blackWhite">
          <a:xfrm>
            <a:off x="4678512" y="3477810"/>
            <a:ext cx="353942" cy="864000"/>
          </a:xfrm>
          <a:prstGeom prst="rightArrow">
            <a:avLst>
              <a:gd name="adj1" fmla="val 100000"/>
              <a:gd name="adj2" fmla="val 11009"/>
            </a:avLst>
          </a:prstGeom>
          <a:solidFill>
            <a:srgbClr val="969696"/>
          </a:solidFill>
          <a:ln w="12700">
            <a:noFill/>
            <a:miter lim="800000"/>
            <a:headEnd/>
            <a:tailEnd/>
          </a:ln>
          <a:effectLst>
            <a:outerShdw dist="35921" dir="2700000" algn="ctr" rotWithShape="0">
              <a:schemeClr val="bg2"/>
            </a:outerShdw>
          </a:effectLst>
        </p:spPr>
        <p:txBody>
          <a:bodyPr vert="vert270" anchor="ctr"/>
          <a:lstStyle/>
          <a:p>
            <a:pPr algn="ctr">
              <a:lnSpc>
                <a:spcPts val="1000"/>
              </a:lnSpc>
            </a:pPr>
            <a:r>
              <a:rPr lang="es-ES" sz="1100" b="1" noProof="1">
                <a:solidFill>
                  <a:srgbClr val="FFFFFF"/>
                </a:solidFill>
                <a:cs typeface="Arial" charset="0"/>
              </a:rPr>
              <a:t>Impacto Reputacional</a:t>
            </a:r>
          </a:p>
        </p:txBody>
      </p:sp>
      <p:sp>
        <p:nvSpPr>
          <p:cNvPr id="68" name="Rectangle 18"/>
          <p:cNvSpPr>
            <a:spLocks noChangeArrowheads="1"/>
          </p:cNvSpPr>
          <p:nvPr/>
        </p:nvSpPr>
        <p:spPr bwMode="auto">
          <a:xfrm>
            <a:off x="8334310" y="3551575"/>
            <a:ext cx="548640" cy="170094"/>
          </a:xfrm>
          <a:prstGeom prst="rect">
            <a:avLst/>
          </a:prstGeom>
          <a:solidFill>
            <a:schemeClr val="bg1"/>
          </a:solidFill>
          <a:ln w="9525" algn="ctr">
            <a:solidFill>
              <a:schemeClr val="bg2"/>
            </a:solidFill>
            <a:miter lim="800000"/>
            <a:headEnd/>
            <a:tailEnd/>
          </a:ln>
          <a:effectLst/>
        </p:spPr>
        <p:txBody>
          <a:bodyPr anchor="ctr"/>
          <a:lstStyle/>
          <a:p>
            <a:pPr algn="ctr"/>
            <a:r>
              <a:rPr lang="es-ES" sz="1100" dirty="0"/>
              <a:t>3</a:t>
            </a:r>
          </a:p>
        </p:txBody>
      </p:sp>
      <p:sp>
        <p:nvSpPr>
          <p:cNvPr id="69" name="Rounded Rectangle 68"/>
          <p:cNvSpPr/>
          <p:nvPr/>
        </p:nvSpPr>
        <p:spPr>
          <a:xfrm>
            <a:off x="5102950" y="3551575"/>
            <a:ext cx="3132000" cy="170094"/>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Afectación a Clientes</a:t>
            </a:r>
          </a:p>
        </p:txBody>
      </p:sp>
      <p:sp>
        <p:nvSpPr>
          <p:cNvPr id="70" name="Rectangle 18"/>
          <p:cNvSpPr>
            <a:spLocks noChangeArrowheads="1"/>
          </p:cNvSpPr>
          <p:nvPr/>
        </p:nvSpPr>
        <p:spPr bwMode="auto">
          <a:xfrm>
            <a:off x="5102950" y="3769732"/>
            <a:ext cx="3780000" cy="469509"/>
          </a:xfrm>
          <a:prstGeom prst="rect">
            <a:avLst/>
          </a:prstGeom>
          <a:solidFill>
            <a:schemeClr val="bg1"/>
          </a:solidFill>
          <a:ln w="9525" algn="ctr">
            <a:solidFill>
              <a:schemeClr val="bg2"/>
            </a:solidFill>
            <a:miter lim="800000"/>
            <a:headEnd/>
            <a:tailEnd/>
          </a:ln>
          <a:effectLst/>
        </p:spPr>
        <p:txBody>
          <a:bodyPr anchor="ctr"/>
          <a:lstStyle/>
          <a:p>
            <a:r>
              <a:rPr lang="es-ES" sz="1100" dirty="0">
                <a:solidFill>
                  <a:srgbClr val="000000"/>
                </a:solidFill>
              </a:rPr>
              <a:t>La exposición de la imagen es interna y externa con un nivel de impacto medio.</a:t>
            </a:r>
          </a:p>
        </p:txBody>
      </p:sp>
      <p:sp>
        <p:nvSpPr>
          <p:cNvPr id="73" name="AutoShape 179"/>
          <p:cNvSpPr>
            <a:spLocks noChangeArrowheads="1"/>
          </p:cNvSpPr>
          <p:nvPr/>
        </p:nvSpPr>
        <p:spPr bwMode="auto">
          <a:xfrm>
            <a:off x="4927319" y="4380524"/>
            <a:ext cx="4037169" cy="1065627"/>
          </a:xfrm>
          <a:prstGeom prst="roundRect">
            <a:avLst>
              <a:gd name="adj" fmla="val 9481"/>
            </a:avLst>
          </a:prstGeom>
          <a:solidFill>
            <a:schemeClr val="accent1">
              <a:lumMod val="20000"/>
              <a:lumOff val="80000"/>
            </a:schemeClr>
          </a:solidFill>
          <a:ln w="9525" algn="ctr">
            <a:noFill/>
            <a:round/>
            <a:headEnd/>
            <a:tailEnd/>
          </a:ln>
          <a:effectLst/>
        </p:spPr>
        <p:txBody>
          <a:bodyPr wrap="none" anchor="ctr"/>
          <a:lstStyle/>
          <a:p>
            <a:endParaRPr lang="es-CL">
              <a:solidFill>
                <a:srgbClr val="002060"/>
              </a:solidFill>
            </a:endParaRPr>
          </a:p>
        </p:txBody>
      </p:sp>
      <p:sp>
        <p:nvSpPr>
          <p:cNvPr id="74" name="AutoShape 47"/>
          <p:cNvSpPr>
            <a:spLocks noChangeArrowheads="1"/>
          </p:cNvSpPr>
          <p:nvPr/>
        </p:nvSpPr>
        <p:spPr bwMode="blackWhite">
          <a:xfrm>
            <a:off x="4673792" y="4382026"/>
            <a:ext cx="352800" cy="1065627"/>
          </a:xfrm>
          <a:prstGeom prst="rightArrow">
            <a:avLst>
              <a:gd name="adj1" fmla="val 100000"/>
              <a:gd name="adj2" fmla="val 11009"/>
            </a:avLst>
          </a:prstGeom>
          <a:solidFill>
            <a:srgbClr val="969696"/>
          </a:solidFill>
          <a:ln w="12700">
            <a:noFill/>
            <a:miter lim="800000"/>
            <a:headEnd/>
            <a:tailEnd/>
          </a:ln>
          <a:effectLst>
            <a:outerShdw dist="35921" dir="2700000" algn="ctr" rotWithShape="0">
              <a:schemeClr val="bg2"/>
            </a:outerShdw>
          </a:effectLst>
        </p:spPr>
        <p:txBody>
          <a:bodyPr vert="vert270" anchor="ctr"/>
          <a:lstStyle/>
          <a:p>
            <a:pPr algn="ctr">
              <a:lnSpc>
                <a:spcPts val="1000"/>
              </a:lnSpc>
            </a:pPr>
            <a:r>
              <a:rPr lang="es-ES" sz="1100" b="1" noProof="1">
                <a:solidFill>
                  <a:srgbClr val="FFFFFF"/>
                </a:solidFill>
                <a:cs typeface="Arial" charset="0"/>
              </a:rPr>
              <a:t>Cuestionarios</a:t>
            </a:r>
          </a:p>
        </p:txBody>
      </p:sp>
      <p:sp>
        <p:nvSpPr>
          <p:cNvPr id="76" name="Rounded Rectangle 38"/>
          <p:cNvSpPr/>
          <p:nvPr/>
        </p:nvSpPr>
        <p:spPr>
          <a:xfrm>
            <a:off x="5098230" y="4455792"/>
            <a:ext cx="3132000" cy="170094"/>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Criterios de Evaluación</a:t>
            </a:r>
          </a:p>
        </p:txBody>
      </p:sp>
      <p:sp>
        <p:nvSpPr>
          <p:cNvPr id="77" name="Rectangle 18"/>
          <p:cNvSpPr>
            <a:spLocks noChangeArrowheads="1"/>
          </p:cNvSpPr>
          <p:nvPr/>
        </p:nvSpPr>
        <p:spPr bwMode="auto">
          <a:xfrm>
            <a:off x="5102950" y="4668964"/>
            <a:ext cx="3780000" cy="726273"/>
          </a:xfrm>
          <a:prstGeom prst="rect">
            <a:avLst/>
          </a:prstGeom>
          <a:solidFill>
            <a:schemeClr val="bg1"/>
          </a:solidFill>
          <a:ln w="9525" algn="ctr">
            <a:solidFill>
              <a:schemeClr val="bg2"/>
            </a:solidFill>
            <a:miter lim="800000"/>
            <a:headEnd/>
            <a:tailEnd/>
          </a:ln>
          <a:effectLst/>
        </p:spPr>
        <p:txBody>
          <a:bodyPr anchor="ctr"/>
          <a:lstStyle/>
          <a:p>
            <a:r>
              <a:rPr lang="es-PE" sz="1050" dirty="0">
                <a:solidFill>
                  <a:srgbClr val="000000"/>
                </a:solidFill>
              </a:rPr>
              <a:t>El Experto ha evaluado el presente riesgo teniendo en cuenta que la consecuencia final llegaría a ser el pago de un siniestro por un monto que no le correspondería; la valoración se ha basado en el siniestro medio actual.</a:t>
            </a:r>
            <a:endParaRPr lang="es-ES" sz="1050" dirty="0">
              <a:solidFill>
                <a:srgbClr val="000000"/>
              </a:solidFill>
            </a:endParaRPr>
          </a:p>
        </p:txBody>
      </p:sp>
      <p:sp>
        <p:nvSpPr>
          <p:cNvPr id="78" name="AutoShape 179"/>
          <p:cNvSpPr>
            <a:spLocks noChangeArrowheads="1"/>
          </p:cNvSpPr>
          <p:nvPr/>
        </p:nvSpPr>
        <p:spPr bwMode="auto">
          <a:xfrm>
            <a:off x="534831" y="5149877"/>
            <a:ext cx="4037169" cy="864000"/>
          </a:xfrm>
          <a:prstGeom prst="roundRect">
            <a:avLst>
              <a:gd name="adj" fmla="val 9481"/>
            </a:avLst>
          </a:prstGeom>
          <a:solidFill>
            <a:schemeClr val="accent1">
              <a:lumMod val="20000"/>
              <a:lumOff val="80000"/>
            </a:schemeClr>
          </a:solidFill>
          <a:ln w="9525" algn="ctr">
            <a:noFill/>
            <a:round/>
            <a:headEnd/>
            <a:tailEnd/>
          </a:ln>
          <a:effectLst/>
        </p:spPr>
        <p:txBody>
          <a:bodyPr wrap="none" anchor="ctr"/>
          <a:lstStyle/>
          <a:p>
            <a:endParaRPr lang="es-CL">
              <a:solidFill>
                <a:srgbClr val="002060"/>
              </a:solidFill>
            </a:endParaRPr>
          </a:p>
        </p:txBody>
      </p:sp>
      <p:sp>
        <p:nvSpPr>
          <p:cNvPr id="79" name="AutoShape 47"/>
          <p:cNvSpPr>
            <a:spLocks noChangeArrowheads="1"/>
          </p:cNvSpPr>
          <p:nvPr/>
        </p:nvSpPr>
        <p:spPr bwMode="blackWhite">
          <a:xfrm>
            <a:off x="281304" y="5151379"/>
            <a:ext cx="353942" cy="864000"/>
          </a:xfrm>
          <a:prstGeom prst="rightArrow">
            <a:avLst>
              <a:gd name="adj1" fmla="val 100000"/>
              <a:gd name="adj2" fmla="val 11009"/>
            </a:avLst>
          </a:prstGeom>
          <a:solidFill>
            <a:srgbClr val="969696"/>
          </a:solidFill>
          <a:ln w="12700">
            <a:noFill/>
            <a:miter lim="800000"/>
            <a:headEnd/>
            <a:tailEnd/>
          </a:ln>
          <a:effectLst>
            <a:outerShdw dist="35921" dir="2700000" algn="ctr" rotWithShape="0">
              <a:schemeClr val="bg2"/>
            </a:outerShdw>
          </a:effectLst>
        </p:spPr>
        <p:txBody>
          <a:bodyPr vert="vert270" anchor="ctr"/>
          <a:lstStyle/>
          <a:p>
            <a:pPr algn="ctr">
              <a:lnSpc>
                <a:spcPts val="1000"/>
              </a:lnSpc>
            </a:pPr>
            <a:r>
              <a:rPr lang="es-ES" sz="1100" b="1" noProof="1">
                <a:solidFill>
                  <a:srgbClr val="FFFFFF"/>
                </a:solidFill>
                <a:cs typeface="Arial" charset="0"/>
              </a:rPr>
              <a:t>Evaluación de Controles</a:t>
            </a:r>
          </a:p>
        </p:txBody>
      </p:sp>
      <p:sp>
        <p:nvSpPr>
          <p:cNvPr id="80" name="Rectangle 18"/>
          <p:cNvSpPr>
            <a:spLocks noChangeArrowheads="1"/>
          </p:cNvSpPr>
          <p:nvPr/>
        </p:nvSpPr>
        <p:spPr bwMode="auto">
          <a:xfrm>
            <a:off x="3937102" y="5225144"/>
            <a:ext cx="548640" cy="170094"/>
          </a:xfrm>
          <a:prstGeom prst="rect">
            <a:avLst/>
          </a:prstGeom>
          <a:solidFill>
            <a:schemeClr val="bg1"/>
          </a:solidFill>
          <a:ln w="9525" algn="ctr">
            <a:solidFill>
              <a:schemeClr val="bg2"/>
            </a:solidFill>
            <a:miter lim="800000"/>
            <a:headEnd/>
            <a:tailEnd/>
          </a:ln>
          <a:effectLst/>
        </p:spPr>
        <p:txBody>
          <a:bodyPr anchor="ctr"/>
          <a:lstStyle/>
          <a:p>
            <a:pPr algn="ctr"/>
            <a:r>
              <a:rPr lang="es-ES" sz="1100" dirty="0">
                <a:solidFill>
                  <a:srgbClr val="002060"/>
                </a:solidFill>
              </a:rPr>
              <a:t>1</a:t>
            </a:r>
          </a:p>
        </p:txBody>
      </p:sp>
      <p:sp>
        <p:nvSpPr>
          <p:cNvPr id="81" name="Rounded Rectangle 38"/>
          <p:cNvSpPr/>
          <p:nvPr/>
        </p:nvSpPr>
        <p:spPr>
          <a:xfrm>
            <a:off x="705742" y="5225144"/>
            <a:ext cx="3132000" cy="170094"/>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Controles asociados al riesgo</a:t>
            </a:r>
          </a:p>
        </p:txBody>
      </p:sp>
      <p:sp>
        <p:nvSpPr>
          <p:cNvPr id="82" name="Rectangle 18"/>
          <p:cNvSpPr>
            <a:spLocks noChangeArrowheads="1"/>
          </p:cNvSpPr>
          <p:nvPr/>
        </p:nvSpPr>
        <p:spPr bwMode="auto">
          <a:xfrm>
            <a:off x="705742" y="5446152"/>
            <a:ext cx="3780000" cy="469509"/>
          </a:xfrm>
          <a:prstGeom prst="rect">
            <a:avLst/>
          </a:prstGeom>
          <a:solidFill>
            <a:schemeClr val="bg1"/>
          </a:solidFill>
          <a:ln w="9525" algn="ctr">
            <a:solidFill>
              <a:schemeClr val="bg2"/>
            </a:solidFill>
            <a:miter lim="800000"/>
            <a:headEnd/>
            <a:tailEnd/>
          </a:ln>
          <a:effectLst/>
        </p:spPr>
        <p:txBody>
          <a:bodyPr anchor="ctr"/>
          <a:lstStyle/>
          <a:p>
            <a:r>
              <a:rPr lang="es-ES" sz="1100" dirty="0">
                <a:solidFill>
                  <a:srgbClr val="000000"/>
                </a:solidFill>
              </a:rPr>
              <a:t>(NF) Estas fotografías son esporádicamente revisadas por Supervisión de Inspección quien tiene que adjuntarlas al trámite.</a:t>
            </a:r>
          </a:p>
        </p:txBody>
      </p:sp>
      <p:sp>
        <p:nvSpPr>
          <p:cNvPr id="83" name="TextBox 82"/>
          <p:cNvSpPr txBox="1"/>
          <p:nvPr/>
        </p:nvSpPr>
        <p:spPr>
          <a:xfrm>
            <a:off x="705742" y="5966112"/>
            <a:ext cx="1819944" cy="261610"/>
          </a:xfrm>
          <a:prstGeom prst="rect">
            <a:avLst/>
          </a:prstGeom>
          <a:noFill/>
        </p:spPr>
        <p:txBody>
          <a:bodyPr wrap="square" rtlCol="0">
            <a:spAutoFit/>
          </a:bodyPr>
          <a:lstStyle/>
          <a:p>
            <a:r>
              <a:rPr lang="es-ES" sz="1100" dirty="0"/>
              <a:t>(NF): No Formalizado</a:t>
            </a: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dirty="0"/>
              <a:t>Anexo: Ficha Individual Riesgos Operacionales</a:t>
            </a:r>
          </a:p>
        </p:txBody>
      </p:sp>
      <p:sp>
        <p:nvSpPr>
          <p:cNvPr id="3" name="AutoShape 179"/>
          <p:cNvSpPr>
            <a:spLocks noChangeArrowheads="1"/>
          </p:cNvSpPr>
          <p:nvPr/>
        </p:nvSpPr>
        <p:spPr bwMode="auto">
          <a:xfrm>
            <a:off x="611560" y="3485499"/>
            <a:ext cx="3960812" cy="1371600"/>
          </a:xfrm>
          <a:prstGeom prst="roundRect">
            <a:avLst>
              <a:gd name="adj" fmla="val 9481"/>
            </a:avLst>
          </a:prstGeom>
          <a:solidFill>
            <a:schemeClr val="accent1">
              <a:lumMod val="20000"/>
              <a:lumOff val="80000"/>
            </a:schemeClr>
          </a:solidFill>
          <a:ln w="9525" algn="ctr">
            <a:noFill/>
            <a:round/>
            <a:headEnd/>
            <a:tailEnd/>
          </a:ln>
          <a:effectLst/>
        </p:spPr>
        <p:txBody>
          <a:bodyPr wrap="none" anchor="ctr"/>
          <a:lstStyle/>
          <a:p>
            <a:endParaRPr lang="es-CL">
              <a:solidFill>
                <a:srgbClr val="002060"/>
              </a:solidFill>
            </a:endParaRPr>
          </a:p>
        </p:txBody>
      </p:sp>
      <p:sp>
        <p:nvSpPr>
          <p:cNvPr id="4" name="Rounded Rectangle 3"/>
          <p:cNvSpPr/>
          <p:nvPr/>
        </p:nvSpPr>
        <p:spPr>
          <a:xfrm>
            <a:off x="214497" y="764704"/>
            <a:ext cx="397063" cy="274320"/>
          </a:xfrm>
          <a:prstGeom prst="roundRect">
            <a:avLst/>
          </a:prstGeom>
          <a:solidFill>
            <a:srgbClr val="DB0613"/>
          </a:solidFill>
          <a:ln w="9525" algn="ctr">
            <a:noFill/>
            <a:miter lim="800000"/>
            <a:headEnd/>
            <a:tailEnd/>
          </a:ln>
          <a:effectLst/>
        </p:spPr>
        <p:txBody>
          <a:bodyPr anchor="ctr"/>
          <a:lstStyle/>
          <a:p>
            <a:pPr algn="ctr">
              <a:lnSpc>
                <a:spcPct val="80000"/>
              </a:lnSpc>
            </a:pPr>
            <a:r>
              <a:rPr lang="es-CL" sz="1200" b="1" dirty="0">
                <a:solidFill>
                  <a:srgbClr val="FFFFFF"/>
                </a:solidFill>
                <a:cs typeface="Arial" pitchFamily="34" charset="0"/>
              </a:rPr>
              <a:t>17</a:t>
            </a:r>
          </a:p>
        </p:txBody>
      </p:sp>
      <p:sp>
        <p:nvSpPr>
          <p:cNvPr id="5" name="Rectangle 18"/>
          <p:cNvSpPr>
            <a:spLocks noChangeArrowheads="1"/>
          </p:cNvSpPr>
          <p:nvPr/>
        </p:nvSpPr>
        <p:spPr bwMode="auto">
          <a:xfrm>
            <a:off x="227770" y="2409552"/>
            <a:ext cx="6400800" cy="839807"/>
          </a:xfrm>
          <a:prstGeom prst="rect">
            <a:avLst/>
          </a:prstGeom>
          <a:noFill/>
          <a:ln w="9525" algn="ctr">
            <a:solidFill>
              <a:schemeClr val="bg2"/>
            </a:solidFill>
            <a:miter lim="800000"/>
            <a:headEnd/>
            <a:tailEnd/>
          </a:ln>
          <a:effectLst/>
        </p:spPr>
        <p:txBody>
          <a:bodyPr/>
          <a:lstStyle/>
          <a:p>
            <a:r>
              <a:rPr lang="es-ES" sz="1100" dirty="0"/>
              <a:t>El proveedor no envía a Rímac la documentación física que sustenta la inspección técnica del vehículo, cargo de la póliza y documentos de cobranza.  </a:t>
            </a:r>
            <a:endParaRPr lang="es-ES" sz="1100" dirty="0">
              <a:solidFill>
                <a:srgbClr val="002060"/>
              </a:solidFill>
            </a:endParaRPr>
          </a:p>
        </p:txBody>
      </p:sp>
      <p:sp>
        <p:nvSpPr>
          <p:cNvPr id="7" name="Text Box 30"/>
          <p:cNvSpPr txBox="1">
            <a:spLocks noChangeArrowheads="1"/>
          </p:cNvSpPr>
          <p:nvPr/>
        </p:nvSpPr>
        <p:spPr bwMode="auto">
          <a:xfrm>
            <a:off x="190747" y="3249359"/>
            <a:ext cx="3671888" cy="276999"/>
          </a:xfrm>
          <a:prstGeom prst="rect">
            <a:avLst/>
          </a:prstGeom>
          <a:noFill/>
          <a:ln w="9525" algn="ctr">
            <a:noFill/>
            <a:miter lim="800000"/>
            <a:headEnd/>
            <a:tailEnd/>
          </a:ln>
          <a:effectLst/>
        </p:spPr>
        <p:txBody>
          <a:bodyPr>
            <a:spAutoFit/>
          </a:bodyPr>
          <a:lstStyle/>
          <a:p>
            <a:pPr>
              <a:spcBef>
                <a:spcPct val="50000"/>
              </a:spcBef>
            </a:pPr>
            <a:r>
              <a:rPr lang="es-CL" sz="1200" b="1" i="1" dirty="0">
                <a:solidFill>
                  <a:srgbClr val="A3A3E0"/>
                </a:solidFill>
              </a:rPr>
              <a:t>Resultados valoración de riesgos</a:t>
            </a:r>
            <a:endParaRPr lang="es-ES" sz="1200" b="1" i="1" dirty="0">
              <a:solidFill>
                <a:srgbClr val="A3A3E0"/>
              </a:solidFill>
            </a:endParaRPr>
          </a:p>
        </p:txBody>
      </p:sp>
      <p:sp>
        <p:nvSpPr>
          <p:cNvPr id="8" name="Rounded Rectangle 7"/>
          <p:cNvSpPr/>
          <p:nvPr/>
        </p:nvSpPr>
        <p:spPr>
          <a:xfrm>
            <a:off x="652842" y="764704"/>
            <a:ext cx="8321040" cy="274320"/>
          </a:xfrm>
          <a:prstGeom prst="roundRect">
            <a:avLst/>
          </a:prstGeom>
          <a:solidFill>
            <a:srgbClr val="DB0613"/>
          </a:solidFill>
          <a:ln w="9525" algn="ctr">
            <a:noFill/>
            <a:miter lim="800000"/>
            <a:headEnd/>
            <a:tailEnd/>
          </a:ln>
          <a:effectLst/>
        </p:spPr>
        <p:txBody>
          <a:bodyPr anchor="ctr"/>
          <a:lstStyle/>
          <a:p>
            <a:pPr>
              <a:lnSpc>
                <a:spcPct val="80000"/>
              </a:lnSpc>
            </a:pPr>
            <a:r>
              <a:rPr lang="es-ES" sz="1200" dirty="0">
                <a:solidFill>
                  <a:schemeClr val="bg1"/>
                </a:solidFill>
              </a:rPr>
              <a:t>No se envía documentación física de la inspección técnica del vehículo. </a:t>
            </a:r>
            <a:endParaRPr lang="es-CL" sz="1200" b="1" dirty="0">
              <a:solidFill>
                <a:schemeClr val="bg1"/>
              </a:solidFill>
              <a:cs typeface="Arial" pitchFamily="34" charset="0"/>
            </a:endParaRPr>
          </a:p>
        </p:txBody>
      </p:sp>
      <p:sp>
        <p:nvSpPr>
          <p:cNvPr id="9" name="Rounded Rectangle 8"/>
          <p:cNvSpPr/>
          <p:nvPr/>
        </p:nvSpPr>
        <p:spPr>
          <a:xfrm>
            <a:off x="227770" y="2202383"/>
            <a:ext cx="64008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Descripción</a:t>
            </a:r>
          </a:p>
        </p:txBody>
      </p:sp>
      <p:sp>
        <p:nvSpPr>
          <p:cNvPr id="10" name="Rounded Rectangle 9"/>
          <p:cNvSpPr/>
          <p:nvPr/>
        </p:nvSpPr>
        <p:spPr>
          <a:xfrm>
            <a:off x="6716066" y="1089119"/>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Categoría  de Riesgo Nivel I</a:t>
            </a:r>
          </a:p>
        </p:txBody>
      </p:sp>
      <p:sp>
        <p:nvSpPr>
          <p:cNvPr id="11" name="Rectangle 18"/>
          <p:cNvSpPr>
            <a:spLocks noChangeArrowheads="1"/>
          </p:cNvSpPr>
          <p:nvPr/>
        </p:nvSpPr>
        <p:spPr bwMode="auto">
          <a:xfrm>
            <a:off x="6716066" y="1316374"/>
            <a:ext cx="2286000" cy="365760"/>
          </a:xfrm>
          <a:prstGeom prst="rect">
            <a:avLst/>
          </a:prstGeom>
          <a:noFill/>
          <a:ln w="9525" algn="ctr">
            <a:solidFill>
              <a:schemeClr val="bg2"/>
            </a:solidFill>
            <a:miter lim="800000"/>
            <a:headEnd/>
            <a:tailEnd/>
          </a:ln>
          <a:effectLst/>
        </p:spPr>
        <p:txBody>
          <a:bodyPr anchor="ctr"/>
          <a:lstStyle/>
          <a:p>
            <a:pPr>
              <a:lnSpc>
                <a:spcPts val="1000"/>
              </a:lnSpc>
            </a:pPr>
            <a:r>
              <a:rPr lang="es-ES" sz="1100" dirty="0"/>
              <a:t>Ejecución, entrega y gestión de procesos</a:t>
            </a:r>
          </a:p>
        </p:txBody>
      </p:sp>
      <p:sp>
        <p:nvSpPr>
          <p:cNvPr id="12" name="Rounded Rectangle 11"/>
          <p:cNvSpPr/>
          <p:nvPr/>
        </p:nvSpPr>
        <p:spPr>
          <a:xfrm>
            <a:off x="6716066" y="1725169"/>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Categoría de Riesgo Nivel II</a:t>
            </a:r>
          </a:p>
        </p:txBody>
      </p:sp>
      <p:sp>
        <p:nvSpPr>
          <p:cNvPr id="13" name="Rectangle 18"/>
          <p:cNvSpPr>
            <a:spLocks noChangeArrowheads="1"/>
          </p:cNvSpPr>
          <p:nvPr/>
        </p:nvSpPr>
        <p:spPr bwMode="auto">
          <a:xfrm>
            <a:off x="6716066" y="1942710"/>
            <a:ext cx="2286000" cy="274320"/>
          </a:xfrm>
          <a:prstGeom prst="rect">
            <a:avLst/>
          </a:prstGeom>
          <a:noFill/>
          <a:ln w="9525" algn="ctr">
            <a:solidFill>
              <a:schemeClr val="bg2"/>
            </a:solidFill>
            <a:miter lim="800000"/>
            <a:headEnd/>
            <a:tailEnd/>
          </a:ln>
          <a:effectLst/>
        </p:spPr>
        <p:txBody>
          <a:bodyPr anchor="ctr"/>
          <a:lstStyle/>
          <a:p>
            <a:r>
              <a:rPr lang="es-ES" sz="1100" dirty="0"/>
              <a:t>Recepción, ejecución y mantenimiento de operaciones</a:t>
            </a:r>
          </a:p>
        </p:txBody>
      </p:sp>
      <p:sp>
        <p:nvSpPr>
          <p:cNvPr id="16" name="Rectangle 18"/>
          <p:cNvSpPr>
            <a:spLocks noChangeArrowheads="1"/>
          </p:cNvSpPr>
          <p:nvPr/>
        </p:nvSpPr>
        <p:spPr bwMode="auto">
          <a:xfrm>
            <a:off x="6716066" y="2459337"/>
            <a:ext cx="2286000" cy="506469"/>
          </a:xfrm>
          <a:prstGeom prst="rect">
            <a:avLst/>
          </a:prstGeom>
          <a:noFill/>
          <a:ln w="9525" algn="ctr">
            <a:solidFill>
              <a:schemeClr val="bg2"/>
            </a:solidFill>
            <a:miter lim="800000"/>
            <a:headEnd/>
            <a:tailEnd/>
          </a:ln>
          <a:effectLst/>
        </p:spPr>
        <p:txBody>
          <a:bodyPr anchor="ctr"/>
          <a:lstStyle/>
          <a:p>
            <a:r>
              <a:rPr lang="es-ES" sz="1100" dirty="0"/>
              <a:t>Incorrecta ejecución de tareas / obligaciones</a:t>
            </a:r>
          </a:p>
        </p:txBody>
      </p:sp>
      <p:sp>
        <p:nvSpPr>
          <p:cNvPr id="17" name="Rounded Rectangle 16"/>
          <p:cNvSpPr/>
          <p:nvPr/>
        </p:nvSpPr>
        <p:spPr>
          <a:xfrm>
            <a:off x="227770" y="1110038"/>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Macroproceso</a:t>
            </a:r>
          </a:p>
        </p:txBody>
      </p:sp>
      <p:sp>
        <p:nvSpPr>
          <p:cNvPr id="18" name="Rectangle 18"/>
          <p:cNvSpPr>
            <a:spLocks noChangeArrowheads="1"/>
          </p:cNvSpPr>
          <p:nvPr/>
        </p:nvSpPr>
        <p:spPr bwMode="auto">
          <a:xfrm>
            <a:off x="2568409" y="1110038"/>
            <a:ext cx="4060161" cy="182880"/>
          </a:xfrm>
          <a:prstGeom prst="rect">
            <a:avLst/>
          </a:prstGeom>
          <a:noFill/>
          <a:ln w="9525" algn="ctr">
            <a:solidFill>
              <a:schemeClr val="bg2"/>
            </a:solidFill>
            <a:miter lim="800000"/>
            <a:headEnd/>
            <a:tailEnd/>
          </a:ln>
          <a:effectLst/>
        </p:spPr>
        <p:txBody>
          <a:bodyPr anchor="ctr"/>
          <a:lstStyle/>
          <a:p>
            <a:r>
              <a:rPr lang="es-ES" sz="1100" dirty="0"/>
              <a:t>Generación de Negocio</a:t>
            </a:r>
          </a:p>
        </p:txBody>
      </p:sp>
      <p:sp>
        <p:nvSpPr>
          <p:cNvPr id="19" name="Rounded Rectangle 18"/>
          <p:cNvSpPr/>
          <p:nvPr/>
        </p:nvSpPr>
        <p:spPr>
          <a:xfrm>
            <a:off x="227770" y="1339045"/>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Proceso</a:t>
            </a:r>
          </a:p>
        </p:txBody>
      </p:sp>
      <p:sp>
        <p:nvSpPr>
          <p:cNvPr id="20" name="Rectangle 18"/>
          <p:cNvSpPr>
            <a:spLocks noChangeArrowheads="1"/>
          </p:cNvSpPr>
          <p:nvPr/>
        </p:nvSpPr>
        <p:spPr bwMode="auto">
          <a:xfrm>
            <a:off x="2568409" y="1339045"/>
            <a:ext cx="4060161" cy="182880"/>
          </a:xfrm>
          <a:prstGeom prst="rect">
            <a:avLst/>
          </a:prstGeom>
          <a:noFill/>
          <a:ln w="9525" algn="ctr">
            <a:solidFill>
              <a:schemeClr val="bg2"/>
            </a:solidFill>
            <a:miter lim="800000"/>
            <a:headEnd/>
            <a:tailEnd/>
          </a:ln>
          <a:effectLst/>
        </p:spPr>
        <p:txBody>
          <a:bodyPr anchor="ctr"/>
          <a:lstStyle/>
          <a:p>
            <a:r>
              <a:rPr lang="es-ES" sz="1100" dirty="0"/>
              <a:t>Suscripción</a:t>
            </a:r>
          </a:p>
        </p:txBody>
      </p:sp>
      <p:sp>
        <p:nvSpPr>
          <p:cNvPr id="21" name="Rectangle 29"/>
          <p:cNvSpPr>
            <a:spLocks noChangeArrowheads="1"/>
          </p:cNvSpPr>
          <p:nvPr/>
        </p:nvSpPr>
        <p:spPr bwMode="auto">
          <a:xfrm>
            <a:off x="107504" y="3373817"/>
            <a:ext cx="8961120" cy="1607926"/>
          </a:xfrm>
          <a:prstGeom prst="rect">
            <a:avLst/>
          </a:prstGeom>
          <a:noFill/>
          <a:ln w="19050" cap="rnd" algn="ctr">
            <a:solidFill>
              <a:schemeClr val="bg2"/>
            </a:solidFill>
            <a:prstDash val="sysDot"/>
            <a:miter lim="800000"/>
            <a:headEnd/>
            <a:tailEnd/>
          </a:ln>
          <a:effectLst/>
        </p:spPr>
        <p:txBody>
          <a:bodyPr wrap="none" anchor="ctr"/>
          <a:lstStyle/>
          <a:p>
            <a:endParaRPr lang="en-US">
              <a:solidFill>
                <a:srgbClr val="002060"/>
              </a:solidFill>
            </a:endParaRPr>
          </a:p>
        </p:txBody>
      </p:sp>
      <p:sp>
        <p:nvSpPr>
          <p:cNvPr id="22" name="Rounded Rectangle 21"/>
          <p:cNvSpPr/>
          <p:nvPr/>
        </p:nvSpPr>
        <p:spPr>
          <a:xfrm>
            <a:off x="902959" y="4332265"/>
            <a:ext cx="1920240" cy="182880"/>
          </a:xfrm>
          <a:prstGeom prst="roundRect">
            <a:avLst/>
          </a:prstGeom>
          <a:solidFill>
            <a:srgbClr val="DB0613"/>
          </a:solidFill>
          <a:ln w="9525" algn="ctr">
            <a:noFill/>
            <a:miter lim="800000"/>
            <a:headEnd/>
            <a:tailEnd/>
          </a:ln>
          <a:effectLst/>
        </p:spPr>
        <p:txBody>
          <a:bodyPr tIns="91440" anchor="ctr"/>
          <a:lstStyle/>
          <a:p>
            <a:pPr>
              <a:lnSpc>
                <a:spcPct val="80000"/>
              </a:lnSpc>
            </a:pPr>
            <a:r>
              <a:rPr lang="es-CL" sz="1100" b="1" dirty="0">
                <a:solidFill>
                  <a:srgbClr val="FFFFFF"/>
                </a:solidFill>
                <a:cs typeface="Arial" pitchFamily="34" charset="0"/>
              </a:rPr>
              <a:t>Pérdida Esperada Anual</a:t>
            </a:r>
          </a:p>
        </p:txBody>
      </p:sp>
      <p:sp>
        <p:nvSpPr>
          <p:cNvPr id="23" name="Rectangle 18"/>
          <p:cNvSpPr>
            <a:spLocks noChangeArrowheads="1"/>
          </p:cNvSpPr>
          <p:nvPr/>
        </p:nvSpPr>
        <p:spPr bwMode="auto">
          <a:xfrm>
            <a:off x="2859920" y="4332265"/>
            <a:ext cx="1554480" cy="182880"/>
          </a:xfrm>
          <a:prstGeom prst="rect">
            <a:avLst/>
          </a:prstGeom>
          <a:solidFill>
            <a:schemeClr val="bg1"/>
          </a:solidFill>
          <a:ln w="9525" algn="ctr">
            <a:solidFill>
              <a:schemeClr val="bg2"/>
            </a:solidFill>
            <a:miter lim="800000"/>
            <a:headEnd/>
            <a:tailEnd/>
          </a:ln>
          <a:effectLst/>
        </p:spPr>
        <p:txBody>
          <a:bodyPr anchor="ctr"/>
          <a:lstStyle/>
          <a:p>
            <a:pPr algn="ctr"/>
            <a:r>
              <a:rPr lang="es-ES" sz="1100" dirty="0"/>
              <a:t>S/. 99,420.00</a:t>
            </a:r>
            <a:endParaRPr lang="es-ES" sz="1100" dirty="0">
              <a:solidFill>
                <a:srgbClr val="002060"/>
              </a:solidFill>
            </a:endParaRPr>
          </a:p>
        </p:txBody>
      </p:sp>
      <p:sp>
        <p:nvSpPr>
          <p:cNvPr id="24" name="Rounded Rectangle 23"/>
          <p:cNvSpPr/>
          <p:nvPr/>
        </p:nvSpPr>
        <p:spPr>
          <a:xfrm>
            <a:off x="902959" y="4561877"/>
            <a:ext cx="192024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VaR Cualitativo Anual</a:t>
            </a:r>
          </a:p>
        </p:txBody>
      </p:sp>
      <p:sp>
        <p:nvSpPr>
          <p:cNvPr id="25" name="Rectangle 18"/>
          <p:cNvSpPr>
            <a:spLocks noChangeArrowheads="1"/>
          </p:cNvSpPr>
          <p:nvPr/>
        </p:nvSpPr>
        <p:spPr bwMode="auto">
          <a:xfrm>
            <a:off x="2859920" y="4561877"/>
            <a:ext cx="1554480" cy="182880"/>
          </a:xfrm>
          <a:prstGeom prst="rect">
            <a:avLst/>
          </a:prstGeom>
          <a:solidFill>
            <a:schemeClr val="bg1"/>
          </a:solidFill>
          <a:ln w="9525" algn="ctr">
            <a:solidFill>
              <a:schemeClr val="bg2"/>
            </a:solidFill>
            <a:miter lim="800000"/>
            <a:headEnd/>
            <a:tailEnd/>
          </a:ln>
          <a:effectLst/>
        </p:spPr>
        <p:txBody>
          <a:bodyPr anchor="ctr"/>
          <a:lstStyle/>
          <a:p>
            <a:pPr algn="ctr"/>
            <a:r>
              <a:rPr lang="es-ES" sz="1100" dirty="0"/>
              <a:t>S/. 1,467,653.53</a:t>
            </a:r>
            <a:endParaRPr lang="es-ES" sz="1100" dirty="0">
              <a:solidFill>
                <a:srgbClr val="002060"/>
              </a:solidFill>
            </a:endParaRPr>
          </a:p>
        </p:txBody>
      </p:sp>
      <p:sp>
        <p:nvSpPr>
          <p:cNvPr id="26" name="Rounded Rectangle 25"/>
          <p:cNvSpPr/>
          <p:nvPr/>
        </p:nvSpPr>
        <p:spPr>
          <a:xfrm>
            <a:off x="891084" y="3568879"/>
            <a:ext cx="192024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Frecuencia  Evento Pérdida</a:t>
            </a:r>
          </a:p>
        </p:txBody>
      </p:sp>
      <p:sp>
        <p:nvSpPr>
          <p:cNvPr id="27" name="Rectangle 18"/>
          <p:cNvSpPr>
            <a:spLocks noChangeArrowheads="1"/>
          </p:cNvSpPr>
          <p:nvPr/>
        </p:nvSpPr>
        <p:spPr bwMode="auto">
          <a:xfrm>
            <a:off x="2859920" y="3568879"/>
            <a:ext cx="1554480" cy="182880"/>
          </a:xfrm>
          <a:prstGeom prst="rect">
            <a:avLst/>
          </a:prstGeom>
          <a:solidFill>
            <a:schemeClr val="bg1"/>
          </a:solidFill>
          <a:ln w="9525" algn="ctr">
            <a:solidFill>
              <a:schemeClr val="bg2"/>
            </a:solidFill>
            <a:miter lim="800000"/>
            <a:headEnd/>
            <a:tailEnd/>
          </a:ln>
          <a:effectLst/>
        </p:spPr>
        <p:txBody>
          <a:bodyPr anchor="ctr"/>
          <a:lstStyle/>
          <a:p>
            <a:pPr algn="ctr"/>
            <a:r>
              <a:rPr lang="es-ES" sz="1100" dirty="0"/>
              <a:t>5 veces por mes</a:t>
            </a:r>
          </a:p>
        </p:txBody>
      </p:sp>
      <p:sp>
        <p:nvSpPr>
          <p:cNvPr id="28" name="Rounded Rectangle 27"/>
          <p:cNvSpPr/>
          <p:nvPr/>
        </p:nvSpPr>
        <p:spPr>
          <a:xfrm>
            <a:off x="891084" y="3798491"/>
            <a:ext cx="192024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Impacto Medio Evento</a:t>
            </a:r>
          </a:p>
        </p:txBody>
      </p:sp>
      <p:sp>
        <p:nvSpPr>
          <p:cNvPr id="29" name="Rectangle 18"/>
          <p:cNvSpPr>
            <a:spLocks noChangeArrowheads="1"/>
          </p:cNvSpPr>
          <p:nvPr/>
        </p:nvSpPr>
        <p:spPr bwMode="auto">
          <a:xfrm>
            <a:off x="2859920" y="3798491"/>
            <a:ext cx="1554480" cy="182880"/>
          </a:xfrm>
          <a:prstGeom prst="rect">
            <a:avLst/>
          </a:prstGeom>
          <a:solidFill>
            <a:schemeClr val="bg1"/>
          </a:solidFill>
          <a:ln w="9525" algn="ctr">
            <a:solidFill>
              <a:schemeClr val="bg2"/>
            </a:solidFill>
            <a:miter lim="800000"/>
            <a:headEnd/>
            <a:tailEnd/>
          </a:ln>
          <a:effectLst/>
        </p:spPr>
        <p:txBody>
          <a:bodyPr anchor="ctr"/>
          <a:lstStyle/>
          <a:p>
            <a:pPr algn="ctr"/>
            <a:r>
              <a:rPr lang="es-ES" sz="1100" dirty="0"/>
              <a:t>S/. 1,657.00</a:t>
            </a:r>
            <a:endParaRPr lang="es-ES" sz="1100" dirty="0">
              <a:solidFill>
                <a:srgbClr val="002060"/>
              </a:solidFill>
            </a:endParaRPr>
          </a:p>
        </p:txBody>
      </p:sp>
      <p:sp>
        <p:nvSpPr>
          <p:cNvPr id="30" name="Rounded Rectangle 29"/>
          <p:cNvSpPr/>
          <p:nvPr/>
        </p:nvSpPr>
        <p:spPr>
          <a:xfrm>
            <a:off x="891084" y="4034071"/>
            <a:ext cx="192024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Impacto Peor Escenario</a:t>
            </a:r>
          </a:p>
        </p:txBody>
      </p:sp>
      <p:sp>
        <p:nvSpPr>
          <p:cNvPr id="31" name="Rectangle 18"/>
          <p:cNvSpPr>
            <a:spLocks noChangeArrowheads="1"/>
          </p:cNvSpPr>
          <p:nvPr/>
        </p:nvSpPr>
        <p:spPr bwMode="auto">
          <a:xfrm>
            <a:off x="2859920" y="4034071"/>
            <a:ext cx="1554480" cy="182880"/>
          </a:xfrm>
          <a:prstGeom prst="rect">
            <a:avLst/>
          </a:prstGeom>
          <a:solidFill>
            <a:schemeClr val="bg1"/>
          </a:solidFill>
          <a:ln w="9525" algn="ctr">
            <a:solidFill>
              <a:schemeClr val="bg2"/>
            </a:solidFill>
            <a:miter lim="800000"/>
            <a:headEnd/>
            <a:tailEnd/>
          </a:ln>
          <a:effectLst/>
        </p:spPr>
        <p:txBody>
          <a:bodyPr anchor="ctr"/>
          <a:lstStyle/>
          <a:p>
            <a:pPr algn="ctr"/>
            <a:r>
              <a:rPr lang="es-ES" sz="1100" dirty="0"/>
              <a:t>S/. 255,000.00</a:t>
            </a:r>
            <a:endParaRPr lang="es-ES" sz="1100" dirty="0">
              <a:solidFill>
                <a:srgbClr val="002060"/>
              </a:solidFill>
            </a:endParaRPr>
          </a:p>
        </p:txBody>
      </p:sp>
      <p:sp>
        <p:nvSpPr>
          <p:cNvPr id="32" name="AutoShape 47"/>
          <p:cNvSpPr>
            <a:spLocks noChangeAspect="1" noChangeArrowheads="1"/>
          </p:cNvSpPr>
          <p:nvPr/>
        </p:nvSpPr>
        <p:spPr bwMode="blackWhite">
          <a:xfrm>
            <a:off x="263033" y="3483224"/>
            <a:ext cx="492543" cy="1339083"/>
          </a:xfrm>
          <a:prstGeom prst="rightArrow">
            <a:avLst>
              <a:gd name="adj1" fmla="val 100000"/>
              <a:gd name="adj2" fmla="val 11009"/>
            </a:avLst>
          </a:prstGeom>
          <a:solidFill>
            <a:srgbClr val="969696"/>
          </a:solidFill>
          <a:ln w="12700">
            <a:noFill/>
            <a:miter lim="800000"/>
            <a:headEnd/>
            <a:tailEnd/>
          </a:ln>
          <a:effectLst>
            <a:outerShdw dist="35921" dir="2700000" algn="ctr" rotWithShape="0">
              <a:schemeClr val="bg2"/>
            </a:outerShdw>
          </a:effectLst>
        </p:spPr>
        <p:txBody>
          <a:bodyPr vert="vert270" anchor="ctr"/>
          <a:lstStyle/>
          <a:p>
            <a:pPr algn="ctr">
              <a:lnSpc>
                <a:spcPts val="1000"/>
              </a:lnSpc>
            </a:pPr>
            <a:r>
              <a:rPr lang="es-ES" sz="1200" b="1" noProof="1">
                <a:solidFill>
                  <a:srgbClr val="FFFFFF"/>
                </a:solidFill>
                <a:cs typeface="Arial" charset="0"/>
              </a:rPr>
              <a:t>Evaluación Riesgo Operacional</a:t>
            </a:r>
          </a:p>
        </p:txBody>
      </p:sp>
      <p:sp>
        <p:nvSpPr>
          <p:cNvPr id="43" name="Text Box 30"/>
          <p:cNvSpPr txBox="1">
            <a:spLocks noChangeArrowheads="1"/>
          </p:cNvSpPr>
          <p:nvPr/>
        </p:nvSpPr>
        <p:spPr bwMode="auto">
          <a:xfrm>
            <a:off x="190746" y="4957993"/>
            <a:ext cx="4741293" cy="276999"/>
          </a:xfrm>
          <a:prstGeom prst="rect">
            <a:avLst/>
          </a:prstGeom>
          <a:noFill/>
          <a:ln w="9525" algn="ctr">
            <a:noFill/>
            <a:miter lim="800000"/>
            <a:headEnd/>
            <a:tailEnd/>
          </a:ln>
          <a:effectLst/>
        </p:spPr>
        <p:txBody>
          <a:bodyPr wrap="square">
            <a:spAutoFit/>
          </a:bodyPr>
          <a:lstStyle/>
          <a:p>
            <a:pPr>
              <a:spcBef>
                <a:spcPct val="50000"/>
              </a:spcBef>
            </a:pPr>
            <a:r>
              <a:rPr lang="es-CL" sz="1200" b="1" i="1" dirty="0">
                <a:solidFill>
                  <a:srgbClr val="A3A3E0"/>
                </a:solidFill>
              </a:rPr>
              <a:t>Resultados valoración de controles / factores mitigantes</a:t>
            </a:r>
            <a:endParaRPr lang="es-ES" sz="1200" b="1" i="1" dirty="0">
              <a:solidFill>
                <a:srgbClr val="A3A3E0"/>
              </a:solidFill>
            </a:endParaRPr>
          </a:p>
        </p:txBody>
      </p:sp>
      <p:sp>
        <p:nvSpPr>
          <p:cNvPr id="59" name="Rounded Rectangle 58"/>
          <p:cNvSpPr/>
          <p:nvPr/>
        </p:nvSpPr>
        <p:spPr>
          <a:xfrm>
            <a:off x="223049" y="1554311"/>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Subproceso</a:t>
            </a:r>
          </a:p>
        </p:txBody>
      </p:sp>
      <p:sp>
        <p:nvSpPr>
          <p:cNvPr id="60" name="Rectangle 18"/>
          <p:cNvSpPr>
            <a:spLocks noChangeArrowheads="1"/>
          </p:cNvSpPr>
          <p:nvPr/>
        </p:nvSpPr>
        <p:spPr bwMode="auto">
          <a:xfrm>
            <a:off x="2563688" y="1554311"/>
            <a:ext cx="4064882" cy="182880"/>
          </a:xfrm>
          <a:prstGeom prst="rect">
            <a:avLst/>
          </a:prstGeom>
          <a:noFill/>
          <a:ln w="9525" algn="ctr">
            <a:solidFill>
              <a:schemeClr val="bg2"/>
            </a:solidFill>
            <a:miter lim="800000"/>
            <a:headEnd/>
            <a:tailEnd/>
          </a:ln>
          <a:effectLst/>
        </p:spPr>
        <p:txBody>
          <a:bodyPr anchor="ctr"/>
          <a:lstStyle/>
          <a:p>
            <a:r>
              <a:rPr lang="es-ES" sz="1100" dirty="0"/>
              <a:t>Inspección Técnica</a:t>
            </a:r>
          </a:p>
        </p:txBody>
      </p:sp>
      <p:sp>
        <p:nvSpPr>
          <p:cNvPr id="57" name="Rounded Rectangle 56"/>
          <p:cNvSpPr/>
          <p:nvPr/>
        </p:nvSpPr>
        <p:spPr>
          <a:xfrm>
            <a:off x="223049" y="1771093"/>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Línea de Negocio</a:t>
            </a:r>
          </a:p>
        </p:txBody>
      </p:sp>
      <p:sp>
        <p:nvSpPr>
          <p:cNvPr id="58" name="Rectangle 18"/>
          <p:cNvSpPr>
            <a:spLocks noChangeArrowheads="1"/>
          </p:cNvSpPr>
          <p:nvPr/>
        </p:nvSpPr>
        <p:spPr bwMode="auto">
          <a:xfrm>
            <a:off x="2563688" y="1771093"/>
            <a:ext cx="4064882" cy="182880"/>
          </a:xfrm>
          <a:prstGeom prst="rect">
            <a:avLst/>
          </a:prstGeom>
          <a:noFill/>
          <a:ln w="9525" algn="ctr">
            <a:solidFill>
              <a:schemeClr val="bg2"/>
            </a:solidFill>
            <a:miter lim="800000"/>
            <a:headEnd/>
            <a:tailEnd/>
          </a:ln>
          <a:effectLst/>
        </p:spPr>
        <p:txBody>
          <a:bodyPr anchor="ctr"/>
          <a:lstStyle/>
          <a:p>
            <a:r>
              <a:rPr lang="es-ES" sz="1100" dirty="0"/>
              <a:t>Ramos Generales</a:t>
            </a:r>
          </a:p>
        </p:txBody>
      </p:sp>
      <p:sp>
        <p:nvSpPr>
          <p:cNvPr id="61" name="Rounded Rectangle 60"/>
          <p:cNvSpPr/>
          <p:nvPr/>
        </p:nvSpPr>
        <p:spPr>
          <a:xfrm>
            <a:off x="223049" y="1986359"/>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Responsable</a:t>
            </a:r>
          </a:p>
        </p:txBody>
      </p:sp>
      <p:sp>
        <p:nvSpPr>
          <p:cNvPr id="62" name="Rectangle 18"/>
          <p:cNvSpPr>
            <a:spLocks noChangeArrowheads="1"/>
          </p:cNvSpPr>
          <p:nvPr/>
        </p:nvSpPr>
        <p:spPr bwMode="auto">
          <a:xfrm>
            <a:off x="2558967" y="1986359"/>
            <a:ext cx="4069603" cy="182880"/>
          </a:xfrm>
          <a:prstGeom prst="rect">
            <a:avLst/>
          </a:prstGeom>
          <a:noFill/>
          <a:ln w="9525" algn="ctr">
            <a:solidFill>
              <a:schemeClr val="bg2"/>
            </a:solidFill>
            <a:miter lim="800000"/>
            <a:headEnd/>
            <a:tailEnd/>
          </a:ln>
          <a:effectLst/>
        </p:spPr>
        <p:txBody>
          <a:bodyPr anchor="ctr"/>
          <a:lstStyle/>
          <a:p>
            <a:r>
              <a:rPr lang="es-ES" sz="1100" dirty="0"/>
              <a:t>Jefe de Gestión Operativa de Vehículos y Riesgos Generales</a:t>
            </a:r>
            <a:endParaRPr lang="es-ES" sz="1100" dirty="0">
              <a:solidFill>
                <a:srgbClr val="002060"/>
              </a:solidFill>
            </a:endParaRPr>
          </a:p>
        </p:txBody>
      </p:sp>
      <p:sp>
        <p:nvSpPr>
          <p:cNvPr id="63" name="Rounded Rectangle 62"/>
          <p:cNvSpPr/>
          <p:nvPr/>
        </p:nvSpPr>
        <p:spPr>
          <a:xfrm>
            <a:off x="6732240" y="2276457"/>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Categoría de Riesgo Nivel III</a:t>
            </a:r>
          </a:p>
        </p:txBody>
      </p:sp>
      <p:sp>
        <p:nvSpPr>
          <p:cNvPr id="64" name="Rounded Rectangle 14"/>
          <p:cNvSpPr/>
          <p:nvPr/>
        </p:nvSpPr>
        <p:spPr>
          <a:xfrm>
            <a:off x="6732240" y="2908110"/>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Origen del Riesgo</a:t>
            </a:r>
          </a:p>
        </p:txBody>
      </p:sp>
      <p:sp>
        <p:nvSpPr>
          <p:cNvPr id="65" name="Rectangle 18"/>
          <p:cNvSpPr>
            <a:spLocks noChangeArrowheads="1"/>
          </p:cNvSpPr>
          <p:nvPr/>
        </p:nvSpPr>
        <p:spPr bwMode="auto">
          <a:xfrm>
            <a:off x="6732240" y="3123375"/>
            <a:ext cx="2286000" cy="270000"/>
          </a:xfrm>
          <a:prstGeom prst="rect">
            <a:avLst/>
          </a:prstGeom>
          <a:noFill/>
          <a:ln w="9525" algn="ctr">
            <a:solidFill>
              <a:schemeClr val="bg2"/>
            </a:solidFill>
            <a:miter lim="800000"/>
            <a:headEnd/>
            <a:tailEnd/>
          </a:ln>
          <a:effectLst/>
        </p:spPr>
        <p:txBody>
          <a:bodyPr anchor="ctr"/>
          <a:lstStyle/>
          <a:p>
            <a:r>
              <a:rPr lang="es-ES" sz="1100" dirty="0">
                <a:solidFill>
                  <a:srgbClr val="000000"/>
                </a:solidFill>
              </a:rPr>
              <a:t>Procesos</a:t>
            </a:r>
          </a:p>
        </p:txBody>
      </p:sp>
      <p:sp>
        <p:nvSpPr>
          <p:cNvPr id="66" name="AutoShape 179"/>
          <p:cNvSpPr>
            <a:spLocks noChangeArrowheads="1"/>
          </p:cNvSpPr>
          <p:nvPr/>
        </p:nvSpPr>
        <p:spPr bwMode="auto">
          <a:xfrm>
            <a:off x="4932039" y="3540710"/>
            <a:ext cx="4037169" cy="864000"/>
          </a:xfrm>
          <a:prstGeom prst="roundRect">
            <a:avLst>
              <a:gd name="adj" fmla="val 9481"/>
            </a:avLst>
          </a:prstGeom>
          <a:solidFill>
            <a:schemeClr val="accent1">
              <a:lumMod val="20000"/>
              <a:lumOff val="80000"/>
            </a:schemeClr>
          </a:solidFill>
          <a:ln w="9525" algn="ctr">
            <a:noFill/>
            <a:round/>
            <a:headEnd/>
            <a:tailEnd/>
          </a:ln>
          <a:effectLst/>
        </p:spPr>
        <p:txBody>
          <a:bodyPr wrap="none" anchor="ctr"/>
          <a:lstStyle/>
          <a:p>
            <a:endParaRPr lang="es-CL">
              <a:solidFill>
                <a:srgbClr val="002060"/>
              </a:solidFill>
            </a:endParaRPr>
          </a:p>
        </p:txBody>
      </p:sp>
      <p:sp>
        <p:nvSpPr>
          <p:cNvPr id="67" name="AutoShape 47"/>
          <p:cNvSpPr>
            <a:spLocks noChangeArrowheads="1"/>
          </p:cNvSpPr>
          <p:nvPr/>
        </p:nvSpPr>
        <p:spPr bwMode="blackWhite">
          <a:xfrm>
            <a:off x="4678512" y="3542212"/>
            <a:ext cx="353942" cy="864000"/>
          </a:xfrm>
          <a:prstGeom prst="rightArrow">
            <a:avLst>
              <a:gd name="adj1" fmla="val 100000"/>
              <a:gd name="adj2" fmla="val 11009"/>
            </a:avLst>
          </a:prstGeom>
          <a:solidFill>
            <a:srgbClr val="969696"/>
          </a:solidFill>
          <a:ln w="12700">
            <a:noFill/>
            <a:miter lim="800000"/>
            <a:headEnd/>
            <a:tailEnd/>
          </a:ln>
          <a:effectLst>
            <a:outerShdw dist="35921" dir="2700000" algn="ctr" rotWithShape="0">
              <a:schemeClr val="bg2"/>
            </a:outerShdw>
          </a:effectLst>
        </p:spPr>
        <p:txBody>
          <a:bodyPr vert="vert270" anchor="ctr"/>
          <a:lstStyle/>
          <a:p>
            <a:pPr algn="ctr">
              <a:lnSpc>
                <a:spcPts val="1000"/>
              </a:lnSpc>
            </a:pPr>
            <a:r>
              <a:rPr lang="es-ES" sz="1100" b="1" noProof="1">
                <a:solidFill>
                  <a:srgbClr val="FFFFFF"/>
                </a:solidFill>
                <a:cs typeface="Arial" charset="0"/>
              </a:rPr>
              <a:t>Impacto Reputacional</a:t>
            </a:r>
          </a:p>
        </p:txBody>
      </p:sp>
      <p:sp>
        <p:nvSpPr>
          <p:cNvPr id="68" name="Rectangle 18"/>
          <p:cNvSpPr>
            <a:spLocks noChangeArrowheads="1"/>
          </p:cNvSpPr>
          <p:nvPr/>
        </p:nvSpPr>
        <p:spPr bwMode="auto">
          <a:xfrm>
            <a:off x="8334310" y="3615977"/>
            <a:ext cx="548640" cy="170094"/>
          </a:xfrm>
          <a:prstGeom prst="rect">
            <a:avLst/>
          </a:prstGeom>
          <a:solidFill>
            <a:schemeClr val="bg1"/>
          </a:solidFill>
          <a:ln w="9525" algn="ctr">
            <a:solidFill>
              <a:schemeClr val="bg2"/>
            </a:solidFill>
            <a:miter lim="800000"/>
            <a:headEnd/>
            <a:tailEnd/>
          </a:ln>
          <a:effectLst/>
        </p:spPr>
        <p:txBody>
          <a:bodyPr anchor="ctr"/>
          <a:lstStyle/>
          <a:p>
            <a:pPr algn="ctr"/>
            <a:r>
              <a:rPr lang="es-ES" sz="1100" dirty="0"/>
              <a:t>5</a:t>
            </a:r>
          </a:p>
        </p:txBody>
      </p:sp>
      <p:sp>
        <p:nvSpPr>
          <p:cNvPr id="69" name="Rounded Rectangle 68"/>
          <p:cNvSpPr/>
          <p:nvPr/>
        </p:nvSpPr>
        <p:spPr>
          <a:xfrm>
            <a:off x="5102950" y="3615977"/>
            <a:ext cx="3132000" cy="170094"/>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Afectación a Clientes</a:t>
            </a:r>
          </a:p>
        </p:txBody>
      </p:sp>
      <p:sp>
        <p:nvSpPr>
          <p:cNvPr id="70" name="Rectangle 18"/>
          <p:cNvSpPr>
            <a:spLocks noChangeArrowheads="1"/>
          </p:cNvSpPr>
          <p:nvPr/>
        </p:nvSpPr>
        <p:spPr bwMode="auto">
          <a:xfrm>
            <a:off x="5102950" y="3834134"/>
            <a:ext cx="3780000" cy="469509"/>
          </a:xfrm>
          <a:prstGeom prst="rect">
            <a:avLst/>
          </a:prstGeom>
          <a:solidFill>
            <a:schemeClr val="bg1"/>
          </a:solidFill>
          <a:ln w="9525" algn="ctr">
            <a:solidFill>
              <a:schemeClr val="bg2"/>
            </a:solidFill>
            <a:miter lim="800000"/>
            <a:headEnd/>
            <a:tailEnd/>
          </a:ln>
          <a:effectLst/>
        </p:spPr>
        <p:txBody>
          <a:bodyPr anchor="ctr"/>
          <a:lstStyle/>
          <a:p>
            <a:r>
              <a:rPr lang="es-ES" sz="1100" dirty="0">
                <a:solidFill>
                  <a:srgbClr val="000000"/>
                </a:solidFill>
              </a:rPr>
              <a:t>Mal manejo de los medios que podría tener un impacto negativo en la imagen de Rímac por un tiempo prolongado. </a:t>
            </a:r>
          </a:p>
        </p:txBody>
      </p:sp>
      <p:sp>
        <p:nvSpPr>
          <p:cNvPr id="73" name="AutoShape 179"/>
          <p:cNvSpPr>
            <a:spLocks noChangeArrowheads="1"/>
          </p:cNvSpPr>
          <p:nvPr/>
        </p:nvSpPr>
        <p:spPr bwMode="auto">
          <a:xfrm>
            <a:off x="4927319" y="4444927"/>
            <a:ext cx="4037169" cy="892800"/>
          </a:xfrm>
          <a:prstGeom prst="roundRect">
            <a:avLst>
              <a:gd name="adj" fmla="val 9481"/>
            </a:avLst>
          </a:prstGeom>
          <a:solidFill>
            <a:schemeClr val="accent1">
              <a:lumMod val="20000"/>
              <a:lumOff val="80000"/>
            </a:schemeClr>
          </a:solidFill>
          <a:ln w="9525" algn="ctr">
            <a:noFill/>
            <a:round/>
            <a:headEnd/>
            <a:tailEnd/>
          </a:ln>
          <a:effectLst/>
        </p:spPr>
        <p:txBody>
          <a:bodyPr wrap="none" anchor="ctr"/>
          <a:lstStyle/>
          <a:p>
            <a:endParaRPr lang="es-CL">
              <a:solidFill>
                <a:srgbClr val="002060"/>
              </a:solidFill>
            </a:endParaRPr>
          </a:p>
        </p:txBody>
      </p:sp>
      <p:sp>
        <p:nvSpPr>
          <p:cNvPr id="74" name="AutoShape 47"/>
          <p:cNvSpPr>
            <a:spLocks noChangeArrowheads="1"/>
          </p:cNvSpPr>
          <p:nvPr/>
        </p:nvSpPr>
        <p:spPr bwMode="blackWhite">
          <a:xfrm>
            <a:off x="4673792" y="4446429"/>
            <a:ext cx="352800" cy="892800"/>
          </a:xfrm>
          <a:prstGeom prst="rightArrow">
            <a:avLst>
              <a:gd name="adj1" fmla="val 100000"/>
              <a:gd name="adj2" fmla="val 11009"/>
            </a:avLst>
          </a:prstGeom>
          <a:solidFill>
            <a:srgbClr val="969696"/>
          </a:solidFill>
          <a:ln w="12700">
            <a:noFill/>
            <a:miter lim="800000"/>
            <a:headEnd/>
            <a:tailEnd/>
          </a:ln>
          <a:effectLst>
            <a:outerShdw dist="35921" dir="2700000" algn="ctr" rotWithShape="0">
              <a:schemeClr val="bg2"/>
            </a:outerShdw>
          </a:effectLst>
        </p:spPr>
        <p:txBody>
          <a:bodyPr vert="vert270" anchor="ctr"/>
          <a:lstStyle/>
          <a:p>
            <a:pPr algn="ctr">
              <a:lnSpc>
                <a:spcPts val="1000"/>
              </a:lnSpc>
            </a:pPr>
            <a:r>
              <a:rPr lang="es-ES" sz="1100" b="1" noProof="1">
                <a:solidFill>
                  <a:srgbClr val="FFFFFF"/>
                </a:solidFill>
                <a:cs typeface="Arial" charset="0"/>
              </a:rPr>
              <a:t>Cuestionarios</a:t>
            </a:r>
          </a:p>
        </p:txBody>
      </p:sp>
      <p:sp>
        <p:nvSpPr>
          <p:cNvPr id="76" name="Rounded Rectangle 38"/>
          <p:cNvSpPr/>
          <p:nvPr/>
        </p:nvSpPr>
        <p:spPr>
          <a:xfrm>
            <a:off x="5098230" y="4520194"/>
            <a:ext cx="3132000" cy="170094"/>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Criterios de Evaluación</a:t>
            </a:r>
          </a:p>
        </p:txBody>
      </p:sp>
      <p:sp>
        <p:nvSpPr>
          <p:cNvPr id="77" name="Rectangle 18"/>
          <p:cNvSpPr>
            <a:spLocks noChangeArrowheads="1"/>
          </p:cNvSpPr>
          <p:nvPr/>
        </p:nvSpPr>
        <p:spPr bwMode="auto">
          <a:xfrm>
            <a:off x="5102950" y="4733367"/>
            <a:ext cx="3780000" cy="469509"/>
          </a:xfrm>
          <a:prstGeom prst="rect">
            <a:avLst/>
          </a:prstGeom>
          <a:solidFill>
            <a:schemeClr val="bg1"/>
          </a:solidFill>
          <a:ln w="9525" algn="ctr">
            <a:solidFill>
              <a:schemeClr val="bg2"/>
            </a:solidFill>
            <a:miter lim="800000"/>
            <a:headEnd/>
            <a:tailEnd/>
          </a:ln>
          <a:effectLst/>
        </p:spPr>
        <p:txBody>
          <a:bodyPr anchor="ctr"/>
          <a:lstStyle/>
          <a:p>
            <a:r>
              <a:rPr lang="es-ES" sz="1100" dirty="0"/>
              <a:t>El proveedor recibe un promedio de 5 solicitudes al mes de la documentación de inspecciones realizadas. En los últimos 2 años solo sucedió una vez. </a:t>
            </a:r>
            <a:endParaRPr lang="es-ES" sz="1100" dirty="0">
              <a:solidFill>
                <a:srgbClr val="000000"/>
              </a:solidFill>
            </a:endParaRPr>
          </a:p>
        </p:txBody>
      </p:sp>
      <p:sp>
        <p:nvSpPr>
          <p:cNvPr id="79" name="AutoShape 179"/>
          <p:cNvSpPr>
            <a:spLocks noChangeArrowheads="1"/>
          </p:cNvSpPr>
          <p:nvPr/>
        </p:nvSpPr>
        <p:spPr bwMode="auto">
          <a:xfrm>
            <a:off x="534831" y="5214279"/>
            <a:ext cx="4037169" cy="864000"/>
          </a:xfrm>
          <a:prstGeom prst="roundRect">
            <a:avLst>
              <a:gd name="adj" fmla="val 9481"/>
            </a:avLst>
          </a:prstGeom>
          <a:solidFill>
            <a:schemeClr val="accent1">
              <a:lumMod val="20000"/>
              <a:lumOff val="80000"/>
            </a:schemeClr>
          </a:solidFill>
          <a:ln w="9525" algn="ctr">
            <a:noFill/>
            <a:round/>
            <a:headEnd/>
            <a:tailEnd/>
          </a:ln>
          <a:effectLst/>
        </p:spPr>
        <p:txBody>
          <a:bodyPr wrap="none" anchor="ctr"/>
          <a:lstStyle/>
          <a:p>
            <a:endParaRPr lang="es-CL">
              <a:solidFill>
                <a:srgbClr val="002060"/>
              </a:solidFill>
            </a:endParaRPr>
          </a:p>
        </p:txBody>
      </p:sp>
      <p:sp>
        <p:nvSpPr>
          <p:cNvPr id="80" name="AutoShape 47"/>
          <p:cNvSpPr>
            <a:spLocks noChangeArrowheads="1"/>
          </p:cNvSpPr>
          <p:nvPr/>
        </p:nvSpPr>
        <p:spPr bwMode="blackWhite">
          <a:xfrm>
            <a:off x="281304" y="5215781"/>
            <a:ext cx="353942" cy="864000"/>
          </a:xfrm>
          <a:prstGeom prst="rightArrow">
            <a:avLst>
              <a:gd name="adj1" fmla="val 100000"/>
              <a:gd name="adj2" fmla="val 11009"/>
            </a:avLst>
          </a:prstGeom>
          <a:solidFill>
            <a:srgbClr val="969696"/>
          </a:solidFill>
          <a:ln w="12700">
            <a:noFill/>
            <a:miter lim="800000"/>
            <a:headEnd/>
            <a:tailEnd/>
          </a:ln>
          <a:effectLst>
            <a:outerShdw dist="35921" dir="2700000" algn="ctr" rotWithShape="0">
              <a:schemeClr val="bg2"/>
            </a:outerShdw>
          </a:effectLst>
        </p:spPr>
        <p:txBody>
          <a:bodyPr vert="vert270" anchor="ctr"/>
          <a:lstStyle/>
          <a:p>
            <a:pPr algn="ctr">
              <a:lnSpc>
                <a:spcPts val="1000"/>
              </a:lnSpc>
            </a:pPr>
            <a:r>
              <a:rPr lang="es-ES" sz="1100" b="1" noProof="1">
                <a:solidFill>
                  <a:srgbClr val="FFFFFF"/>
                </a:solidFill>
                <a:cs typeface="Arial" charset="0"/>
              </a:rPr>
              <a:t>Evaluación de Controles</a:t>
            </a:r>
          </a:p>
        </p:txBody>
      </p:sp>
      <p:sp>
        <p:nvSpPr>
          <p:cNvPr id="81" name="Rectangle 18"/>
          <p:cNvSpPr>
            <a:spLocks noChangeArrowheads="1"/>
          </p:cNvSpPr>
          <p:nvPr/>
        </p:nvSpPr>
        <p:spPr bwMode="auto">
          <a:xfrm>
            <a:off x="3937102" y="5289546"/>
            <a:ext cx="548640" cy="170094"/>
          </a:xfrm>
          <a:prstGeom prst="rect">
            <a:avLst/>
          </a:prstGeom>
          <a:solidFill>
            <a:schemeClr val="bg1"/>
          </a:solidFill>
          <a:ln w="9525" algn="ctr">
            <a:solidFill>
              <a:schemeClr val="bg2"/>
            </a:solidFill>
            <a:miter lim="800000"/>
            <a:headEnd/>
            <a:tailEnd/>
          </a:ln>
          <a:effectLst/>
        </p:spPr>
        <p:txBody>
          <a:bodyPr anchor="ctr"/>
          <a:lstStyle/>
          <a:p>
            <a:pPr algn="ctr"/>
            <a:r>
              <a:rPr lang="es-ES" sz="1100" dirty="0">
                <a:solidFill>
                  <a:srgbClr val="002060"/>
                </a:solidFill>
              </a:rPr>
              <a:t>0</a:t>
            </a:r>
          </a:p>
        </p:txBody>
      </p:sp>
      <p:sp>
        <p:nvSpPr>
          <p:cNvPr id="82" name="Rounded Rectangle 38"/>
          <p:cNvSpPr/>
          <p:nvPr/>
        </p:nvSpPr>
        <p:spPr>
          <a:xfrm>
            <a:off x="705742" y="5289546"/>
            <a:ext cx="3132000" cy="170094"/>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Controles asociados al riesgo</a:t>
            </a:r>
          </a:p>
        </p:txBody>
      </p:sp>
      <p:sp>
        <p:nvSpPr>
          <p:cNvPr id="83" name="Rectangle 18"/>
          <p:cNvSpPr>
            <a:spLocks noChangeArrowheads="1"/>
          </p:cNvSpPr>
          <p:nvPr/>
        </p:nvSpPr>
        <p:spPr bwMode="auto">
          <a:xfrm>
            <a:off x="705742" y="5510554"/>
            <a:ext cx="3780000" cy="469509"/>
          </a:xfrm>
          <a:prstGeom prst="rect">
            <a:avLst/>
          </a:prstGeom>
          <a:solidFill>
            <a:schemeClr val="bg1"/>
          </a:solidFill>
          <a:ln w="9525" algn="ctr">
            <a:solidFill>
              <a:schemeClr val="bg2"/>
            </a:solidFill>
            <a:miter lim="800000"/>
            <a:headEnd/>
            <a:tailEnd/>
          </a:ln>
          <a:effectLst/>
        </p:spPr>
        <p:txBody>
          <a:bodyPr anchor="ctr"/>
          <a:lstStyle/>
          <a:p>
            <a:r>
              <a:rPr lang="es-PE" sz="1100" dirty="0">
                <a:solidFill>
                  <a:srgbClr val="000000"/>
                </a:solidFill>
              </a:rPr>
              <a:t>No existe un control definido.</a:t>
            </a:r>
            <a:endParaRPr lang="es-ES" sz="1100" dirty="0">
              <a:solidFill>
                <a:srgbClr val="000000"/>
              </a:solidFill>
            </a:endParaRP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dirty="0"/>
              <a:t>Anexo: Ficha Individual Riesgos Operacionales</a:t>
            </a:r>
          </a:p>
        </p:txBody>
      </p:sp>
      <p:sp>
        <p:nvSpPr>
          <p:cNvPr id="3" name="AutoShape 179"/>
          <p:cNvSpPr>
            <a:spLocks noChangeArrowheads="1"/>
          </p:cNvSpPr>
          <p:nvPr/>
        </p:nvSpPr>
        <p:spPr bwMode="auto">
          <a:xfrm>
            <a:off x="611560" y="3482416"/>
            <a:ext cx="3960812" cy="1275707"/>
          </a:xfrm>
          <a:prstGeom prst="roundRect">
            <a:avLst>
              <a:gd name="adj" fmla="val 9481"/>
            </a:avLst>
          </a:prstGeom>
          <a:solidFill>
            <a:schemeClr val="accent1">
              <a:lumMod val="20000"/>
              <a:lumOff val="80000"/>
            </a:schemeClr>
          </a:solidFill>
          <a:ln w="9525" algn="ctr">
            <a:noFill/>
            <a:round/>
            <a:headEnd/>
            <a:tailEnd/>
          </a:ln>
          <a:effectLst/>
        </p:spPr>
        <p:txBody>
          <a:bodyPr wrap="none" anchor="ctr"/>
          <a:lstStyle/>
          <a:p>
            <a:endParaRPr lang="es-CL">
              <a:solidFill>
                <a:srgbClr val="002060"/>
              </a:solidFill>
            </a:endParaRPr>
          </a:p>
        </p:txBody>
      </p:sp>
      <p:sp>
        <p:nvSpPr>
          <p:cNvPr id="4" name="Rounded Rectangle 3"/>
          <p:cNvSpPr/>
          <p:nvPr/>
        </p:nvSpPr>
        <p:spPr>
          <a:xfrm>
            <a:off x="227770" y="764704"/>
            <a:ext cx="383790" cy="274320"/>
          </a:xfrm>
          <a:prstGeom prst="roundRect">
            <a:avLst/>
          </a:prstGeom>
          <a:solidFill>
            <a:srgbClr val="DB0613"/>
          </a:solidFill>
          <a:ln w="9525" algn="ctr">
            <a:noFill/>
            <a:miter lim="800000"/>
            <a:headEnd/>
            <a:tailEnd/>
          </a:ln>
          <a:effectLst/>
        </p:spPr>
        <p:txBody>
          <a:bodyPr anchor="ctr"/>
          <a:lstStyle/>
          <a:p>
            <a:pPr algn="ctr">
              <a:lnSpc>
                <a:spcPct val="80000"/>
              </a:lnSpc>
            </a:pPr>
            <a:r>
              <a:rPr lang="es-CL" sz="1200" b="1" dirty="0">
                <a:solidFill>
                  <a:srgbClr val="FFFFFF"/>
                </a:solidFill>
                <a:cs typeface="Arial" pitchFamily="34" charset="0"/>
              </a:rPr>
              <a:t>18</a:t>
            </a:r>
          </a:p>
        </p:txBody>
      </p:sp>
      <p:sp>
        <p:nvSpPr>
          <p:cNvPr id="5" name="Rectangle 18"/>
          <p:cNvSpPr>
            <a:spLocks noChangeArrowheads="1"/>
          </p:cNvSpPr>
          <p:nvPr/>
        </p:nvSpPr>
        <p:spPr bwMode="auto">
          <a:xfrm>
            <a:off x="227770" y="2548229"/>
            <a:ext cx="6400800" cy="708660"/>
          </a:xfrm>
          <a:prstGeom prst="rect">
            <a:avLst/>
          </a:prstGeom>
          <a:noFill/>
          <a:ln w="9525" algn="ctr">
            <a:solidFill>
              <a:schemeClr val="bg2"/>
            </a:solidFill>
            <a:miter lim="800000"/>
            <a:headEnd/>
            <a:tailEnd/>
          </a:ln>
          <a:effectLst/>
        </p:spPr>
        <p:txBody>
          <a:bodyPr/>
          <a:lstStyle/>
          <a:p>
            <a:r>
              <a:rPr lang="es-ES" sz="1100" dirty="0"/>
              <a:t>Esta situación se da  cuando el Gerente General Adjunto de Inversiones no se encuentra disponible para autorizar la liberación de fondos (o liberación de los papeles del custodio) lo que puede provocar un retraso en la liquidación de las operaciones.</a:t>
            </a:r>
          </a:p>
          <a:p>
            <a:endParaRPr lang="es-ES" sz="1100" dirty="0"/>
          </a:p>
        </p:txBody>
      </p:sp>
      <p:sp>
        <p:nvSpPr>
          <p:cNvPr id="7" name="Text Box 30"/>
          <p:cNvSpPr txBox="1">
            <a:spLocks noChangeArrowheads="1"/>
          </p:cNvSpPr>
          <p:nvPr/>
        </p:nvSpPr>
        <p:spPr bwMode="auto">
          <a:xfrm>
            <a:off x="190747" y="3259373"/>
            <a:ext cx="3671888" cy="276999"/>
          </a:xfrm>
          <a:prstGeom prst="rect">
            <a:avLst/>
          </a:prstGeom>
          <a:noFill/>
          <a:ln w="9525" algn="ctr">
            <a:noFill/>
            <a:miter lim="800000"/>
            <a:headEnd/>
            <a:tailEnd/>
          </a:ln>
          <a:effectLst/>
        </p:spPr>
        <p:txBody>
          <a:bodyPr>
            <a:spAutoFit/>
          </a:bodyPr>
          <a:lstStyle/>
          <a:p>
            <a:pPr>
              <a:spcBef>
                <a:spcPct val="50000"/>
              </a:spcBef>
            </a:pPr>
            <a:r>
              <a:rPr lang="es-CL" sz="1200" b="1" i="1" dirty="0">
                <a:solidFill>
                  <a:srgbClr val="A3A3E0"/>
                </a:solidFill>
              </a:rPr>
              <a:t>Resultados valoración de riesgos</a:t>
            </a:r>
            <a:endParaRPr lang="es-ES" sz="1200" b="1" i="1" dirty="0">
              <a:solidFill>
                <a:srgbClr val="A3A3E0"/>
              </a:solidFill>
            </a:endParaRPr>
          </a:p>
        </p:txBody>
      </p:sp>
      <p:sp>
        <p:nvSpPr>
          <p:cNvPr id="8" name="Rounded Rectangle 7"/>
          <p:cNvSpPr/>
          <p:nvPr/>
        </p:nvSpPr>
        <p:spPr>
          <a:xfrm>
            <a:off x="652842" y="764704"/>
            <a:ext cx="8319600" cy="274320"/>
          </a:xfrm>
          <a:prstGeom prst="roundRect">
            <a:avLst/>
          </a:prstGeom>
          <a:solidFill>
            <a:srgbClr val="DB0613"/>
          </a:solidFill>
          <a:ln w="9525" algn="ctr">
            <a:noFill/>
            <a:miter lim="800000"/>
            <a:headEnd/>
            <a:tailEnd/>
          </a:ln>
          <a:effectLst/>
        </p:spPr>
        <p:txBody>
          <a:bodyPr anchor="ctr"/>
          <a:lstStyle/>
          <a:p>
            <a:pPr>
              <a:lnSpc>
                <a:spcPct val="80000"/>
              </a:lnSpc>
            </a:pPr>
            <a:r>
              <a:rPr lang="es-ES" sz="1200" b="1" dirty="0">
                <a:solidFill>
                  <a:srgbClr val="FFFFFF"/>
                </a:solidFill>
                <a:cs typeface="Arial" pitchFamily="34" charset="0"/>
              </a:rPr>
              <a:t>Riesgo de que no se den las autorizaciones para la liberación de fondos.</a:t>
            </a:r>
            <a:endParaRPr lang="es-CL" sz="1200" b="1" dirty="0">
              <a:solidFill>
                <a:srgbClr val="FFFFFF"/>
              </a:solidFill>
              <a:cs typeface="Arial" pitchFamily="34" charset="0"/>
            </a:endParaRPr>
          </a:p>
        </p:txBody>
      </p:sp>
      <p:sp>
        <p:nvSpPr>
          <p:cNvPr id="9" name="Rounded Rectangle 8"/>
          <p:cNvSpPr/>
          <p:nvPr/>
        </p:nvSpPr>
        <p:spPr>
          <a:xfrm>
            <a:off x="227770" y="2307916"/>
            <a:ext cx="64008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Descripción</a:t>
            </a:r>
          </a:p>
        </p:txBody>
      </p:sp>
      <p:sp>
        <p:nvSpPr>
          <p:cNvPr id="10" name="Rounded Rectangle 9"/>
          <p:cNvSpPr/>
          <p:nvPr/>
        </p:nvSpPr>
        <p:spPr>
          <a:xfrm>
            <a:off x="6716066" y="1111764"/>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Categoría  de Riesgo Nivel I</a:t>
            </a:r>
          </a:p>
        </p:txBody>
      </p:sp>
      <p:sp>
        <p:nvSpPr>
          <p:cNvPr id="11" name="Rectangle 18"/>
          <p:cNvSpPr>
            <a:spLocks noChangeArrowheads="1"/>
          </p:cNvSpPr>
          <p:nvPr/>
        </p:nvSpPr>
        <p:spPr bwMode="auto">
          <a:xfrm>
            <a:off x="6716066" y="1325572"/>
            <a:ext cx="2286000" cy="270000"/>
          </a:xfrm>
          <a:prstGeom prst="rect">
            <a:avLst/>
          </a:prstGeom>
          <a:noFill/>
          <a:ln w="9525" algn="ctr">
            <a:solidFill>
              <a:schemeClr val="bg2"/>
            </a:solidFill>
            <a:miter lim="800000"/>
            <a:headEnd/>
            <a:tailEnd/>
          </a:ln>
          <a:effectLst/>
        </p:spPr>
        <p:txBody>
          <a:bodyPr anchor="ctr"/>
          <a:lstStyle/>
          <a:p>
            <a:pPr>
              <a:lnSpc>
                <a:spcPts val="1000"/>
              </a:lnSpc>
            </a:pPr>
            <a:r>
              <a:rPr lang="es-ES" sz="1100" dirty="0">
                <a:solidFill>
                  <a:srgbClr val="000000"/>
                </a:solidFill>
              </a:rPr>
              <a:t>Ejecución, entrega y gestión de procesos.</a:t>
            </a:r>
          </a:p>
        </p:txBody>
      </p:sp>
      <p:sp>
        <p:nvSpPr>
          <p:cNvPr id="12" name="Rounded Rectangle 11"/>
          <p:cNvSpPr/>
          <p:nvPr/>
        </p:nvSpPr>
        <p:spPr>
          <a:xfrm>
            <a:off x="6716066" y="1664503"/>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Categoría  de Riesgo Nivel II</a:t>
            </a:r>
          </a:p>
        </p:txBody>
      </p:sp>
      <p:sp>
        <p:nvSpPr>
          <p:cNvPr id="13" name="Rectangle 18"/>
          <p:cNvSpPr>
            <a:spLocks noChangeArrowheads="1"/>
          </p:cNvSpPr>
          <p:nvPr/>
        </p:nvSpPr>
        <p:spPr bwMode="auto">
          <a:xfrm>
            <a:off x="6716066" y="1877089"/>
            <a:ext cx="2286000" cy="270000"/>
          </a:xfrm>
          <a:prstGeom prst="rect">
            <a:avLst/>
          </a:prstGeom>
          <a:noFill/>
          <a:ln w="9525" algn="ctr">
            <a:solidFill>
              <a:schemeClr val="bg2"/>
            </a:solidFill>
            <a:miter lim="800000"/>
            <a:headEnd/>
            <a:tailEnd/>
          </a:ln>
          <a:effectLst/>
        </p:spPr>
        <p:txBody>
          <a:bodyPr anchor="ctr"/>
          <a:lstStyle/>
          <a:p>
            <a:r>
              <a:rPr lang="es-ES" sz="1100" dirty="0">
                <a:solidFill>
                  <a:srgbClr val="000000"/>
                </a:solidFill>
              </a:rPr>
              <a:t>Recepción, ejecución y mantenimiento de operaciones.</a:t>
            </a:r>
          </a:p>
        </p:txBody>
      </p:sp>
      <p:sp>
        <p:nvSpPr>
          <p:cNvPr id="15" name="Rounded Rectangle 14"/>
          <p:cNvSpPr/>
          <p:nvPr/>
        </p:nvSpPr>
        <p:spPr>
          <a:xfrm>
            <a:off x="6716066" y="2223551"/>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Categoría  de Riesgo Nivel III</a:t>
            </a:r>
          </a:p>
        </p:txBody>
      </p:sp>
      <p:sp>
        <p:nvSpPr>
          <p:cNvPr id="16" name="Rectangle 18"/>
          <p:cNvSpPr>
            <a:spLocks noChangeArrowheads="1"/>
          </p:cNvSpPr>
          <p:nvPr/>
        </p:nvSpPr>
        <p:spPr bwMode="auto">
          <a:xfrm>
            <a:off x="6716066" y="2434321"/>
            <a:ext cx="2286000" cy="270000"/>
          </a:xfrm>
          <a:prstGeom prst="rect">
            <a:avLst/>
          </a:prstGeom>
          <a:noFill/>
          <a:ln w="9525" algn="ctr">
            <a:solidFill>
              <a:schemeClr val="bg2"/>
            </a:solidFill>
            <a:miter lim="800000"/>
            <a:headEnd/>
            <a:tailEnd/>
          </a:ln>
          <a:effectLst/>
        </p:spPr>
        <p:txBody>
          <a:bodyPr anchor="ctr"/>
          <a:lstStyle/>
          <a:p>
            <a:r>
              <a:rPr lang="es-ES" sz="1100" dirty="0">
                <a:solidFill>
                  <a:srgbClr val="000000"/>
                </a:solidFill>
              </a:rPr>
              <a:t>Tareas incompletas o no ejecutadas.</a:t>
            </a:r>
          </a:p>
        </p:txBody>
      </p:sp>
      <p:sp>
        <p:nvSpPr>
          <p:cNvPr id="17" name="Rounded Rectangle 16"/>
          <p:cNvSpPr/>
          <p:nvPr/>
        </p:nvSpPr>
        <p:spPr>
          <a:xfrm>
            <a:off x="216583" y="1110038"/>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Macroproceso</a:t>
            </a:r>
          </a:p>
        </p:txBody>
      </p:sp>
      <p:sp>
        <p:nvSpPr>
          <p:cNvPr id="18" name="Rectangle 18"/>
          <p:cNvSpPr>
            <a:spLocks noChangeArrowheads="1"/>
          </p:cNvSpPr>
          <p:nvPr/>
        </p:nvSpPr>
        <p:spPr bwMode="auto">
          <a:xfrm>
            <a:off x="2568409" y="1110038"/>
            <a:ext cx="3877200" cy="182880"/>
          </a:xfrm>
          <a:prstGeom prst="rect">
            <a:avLst/>
          </a:prstGeom>
          <a:noFill/>
          <a:ln w="9525" algn="ctr">
            <a:solidFill>
              <a:schemeClr val="bg2"/>
            </a:solidFill>
            <a:miter lim="800000"/>
            <a:headEnd/>
            <a:tailEnd/>
          </a:ln>
          <a:effectLst/>
        </p:spPr>
        <p:txBody>
          <a:bodyPr anchor="ctr"/>
          <a:lstStyle/>
          <a:p>
            <a:r>
              <a:rPr lang="es-ES" sz="1100" dirty="0">
                <a:solidFill>
                  <a:srgbClr val="000000"/>
                </a:solidFill>
              </a:rPr>
              <a:t>Administración de Portafolio de Inversiones</a:t>
            </a:r>
          </a:p>
        </p:txBody>
      </p:sp>
      <p:sp>
        <p:nvSpPr>
          <p:cNvPr id="19" name="Rounded Rectangle 18"/>
          <p:cNvSpPr/>
          <p:nvPr/>
        </p:nvSpPr>
        <p:spPr>
          <a:xfrm>
            <a:off x="216583" y="1339045"/>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Proceso</a:t>
            </a:r>
          </a:p>
        </p:txBody>
      </p:sp>
      <p:sp>
        <p:nvSpPr>
          <p:cNvPr id="20" name="Rectangle 18"/>
          <p:cNvSpPr>
            <a:spLocks noChangeArrowheads="1"/>
          </p:cNvSpPr>
          <p:nvPr/>
        </p:nvSpPr>
        <p:spPr bwMode="auto">
          <a:xfrm>
            <a:off x="2568409" y="1339045"/>
            <a:ext cx="3877200" cy="182880"/>
          </a:xfrm>
          <a:prstGeom prst="rect">
            <a:avLst/>
          </a:prstGeom>
          <a:noFill/>
          <a:ln w="9525" algn="ctr">
            <a:solidFill>
              <a:schemeClr val="bg2"/>
            </a:solidFill>
            <a:miter lim="800000"/>
            <a:headEnd/>
            <a:tailEnd/>
          </a:ln>
          <a:effectLst/>
        </p:spPr>
        <p:txBody>
          <a:bodyPr anchor="ctr"/>
          <a:lstStyle/>
          <a:p>
            <a:r>
              <a:rPr lang="es-ES" sz="1100" dirty="0">
                <a:solidFill>
                  <a:srgbClr val="000000"/>
                </a:solidFill>
              </a:rPr>
              <a:t>Administración de Fondos</a:t>
            </a:r>
          </a:p>
        </p:txBody>
      </p:sp>
      <p:sp>
        <p:nvSpPr>
          <p:cNvPr id="22" name="Rounded Rectangle 21"/>
          <p:cNvSpPr/>
          <p:nvPr/>
        </p:nvSpPr>
        <p:spPr>
          <a:xfrm>
            <a:off x="902959" y="4255955"/>
            <a:ext cx="1920240" cy="170094"/>
          </a:xfrm>
          <a:prstGeom prst="roundRect">
            <a:avLst/>
          </a:prstGeom>
          <a:solidFill>
            <a:srgbClr val="DB0613"/>
          </a:solidFill>
          <a:ln w="9525" algn="ctr">
            <a:noFill/>
            <a:miter lim="800000"/>
            <a:headEnd/>
            <a:tailEnd/>
          </a:ln>
          <a:effectLst/>
        </p:spPr>
        <p:txBody>
          <a:bodyPr tIns="91440" anchor="ctr"/>
          <a:lstStyle/>
          <a:p>
            <a:pPr>
              <a:lnSpc>
                <a:spcPct val="80000"/>
              </a:lnSpc>
            </a:pPr>
            <a:r>
              <a:rPr lang="es-CL" sz="1100" b="1" dirty="0">
                <a:solidFill>
                  <a:srgbClr val="FFFFFF"/>
                </a:solidFill>
                <a:cs typeface="Arial" pitchFamily="34" charset="0"/>
              </a:rPr>
              <a:t>Pérdida Esperada Anual</a:t>
            </a:r>
          </a:p>
        </p:txBody>
      </p:sp>
      <p:sp>
        <p:nvSpPr>
          <p:cNvPr id="23" name="Rectangle 18"/>
          <p:cNvSpPr>
            <a:spLocks noChangeArrowheads="1"/>
          </p:cNvSpPr>
          <p:nvPr/>
        </p:nvSpPr>
        <p:spPr bwMode="auto">
          <a:xfrm>
            <a:off x="2859920" y="4255955"/>
            <a:ext cx="1554480" cy="170094"/>
          </a:xfrm>
          <a:prstGeom prst="rect">
            <a:avLst/>
          </a:prstGeom>
          <a:solidFill>
            <a:schemeClr val="bg1"/>
          </a:solidFill>
          <a:ln w="9525" algn="ctr">
            <a:solidFill>
              <a:schemeClr val="bg2"/>
            </a:solidFill>
            <a:miter lim="800000"/>
            <a:headEnd/>
            <a:tailEnd/>
          </a:ln>
          <a:effectLst/>
        </p:spPr>
        <p:txBody>
          <a:bodyPr anchor="ctr"/>
          <a:lstStyle/>
          <a:p>
            <a:pPr algn="ctr"/>
            <a:r>
              <a:rPr lang="es-PE" sz="1100" dirty="0">
                <a:solidFill>
                  <a:srgbClr val="000000"/>
                </a:solidFill>
              </a:rPr>
              <a:t>s/. 102,000.00</a:t>
            </a:r>
            <a:endParaRPr lang="es-ES" sz="1100" dirty="0">
              <a:solidFill>
                <a:srgbClr val="000000"/>
              </a:solidFill>
            </a:endParaRPr>
          </a:p>
        </p:txBody>
      </p:sp>
      <p:sp>
        <p:nvSpPr>
          <p:cNvPr id="24" name="Rounded Rectangle 23"/>
          <p:cNvSpPr/>
          <p:nvPr/>
        </p:nvSpPr>
        <p:spPr>
          <a:xfrm>
            <a:off x="902959" y="4485567"/>
            <a:ext cx="1920240" cy="170094"/>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VaR Cualitativo Anual</a:t>
            </a:r>
          </a:p>
        </p:txBody>
      </p:sp>
      <p:sp>
        <p:nvSpPr>
          <p:cNvPr id="25" name="Rectangle 18"/>
          <p:cNvSpPr>
            <a:spLocks noChangeArrowheads="1"/>
          </p:cNvSpPr>
          <p:nvPr/>
        </p:nvSpPr>
        <p:spPr bwMode="auto">
          <a:xfrm>
            <a:off x="2859920" y="4485567"/>
            <a:ext cx="1554480" cy="170094"/>
          </a:xfrm>
          <a:prstGeom prst="rect">
            <a:avLst/>
          </a:prstGeom>
          <a:solidFill>
            <a:schemeClr val="bg1"/>
          </a:solidFill>
          <a:ln w="9525" algn="ctr">
            <a:solidFill>
              <a:schemeClr val="bg2"/>
            </a:solidFill>
            <a:miter lim="800000"/>
            <a:headEnd/>
            <a:tailEnd/>
          </a:ln>
          <a:effectLst/>
        </p:spPr>
        <p:txBody>
          <a:bodyPr anchor="ctr"/>
          <a:lstStyle/>
          <a:p>
            <a:pPr algn="ctr"/>
            <a:r>
              <a:rPr lang="es-ES" sz="1100" dirty="0"/>
              <a:t>s/. 2,204,698.13 </a:t>
            </a:r>
            <a:endParaRPr lang="es-ES" sz="1100" dirty="0">
              <a:solidFill>
                <a:srgbClr val="000000"/>
              </a:solidFill>
            </a:endParaRPr>
          </a:p>
        </p:txBody>
      </p:sp>
      <p:sp>
        <p:nvSpPr>
          <p:cNvPr id="26" name="Rounded Rectangle 25"/>
          <p:cNvSpPr/>
          <p:nvPr/>
        </p:nvSpPr>
        <p:spPr>
          <a:xfrm>
            <a:off x="891084" y="3553916"/>
            <a:ext cx="1920240" cy="170094"/>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Frecuencia  Evento Pérdida</a:t>
            </a:r>
          </a:p>
        </p:txBody>
      </p:sp>
      <p:sp>
        <p:nvSpPr>
          <p:cNvPr id="27" name="Rectangle 18"/>
          <p:cNvSpPr>
            <a:spLocks noChangeArrowheads="1"/>
          </p:cNvSpPr>
          <p:nvPr/>
        </p:nvSpPr>
        <p:spPr bwMode="auto">
          <a:xfrm>
            <a:off x="2859920" y="3553916"/>
            <a:ext cx="1554480" cy="170094"/>
          </a:xfrm>
          <a:prstGeom prst="rect">
            <a:avLst/>
          </a:prstGeom>
          <a:solidFill>
            <a:schemeClr val="bg1"/>
          </a:solidFill>
          <a:ln w="9525" algn="ctr">
            <a:solidFill>
              <a:schemeClr val="bg2"/>
            </a:solidFill>
            <a:miter lim="800000"/>
            <a:headEnd/>
            <a:tailEnd/>
          </a:ln>
          <a:effectLst/>
        </p:spPr>
        <p:txBody>
          <a:bodyPr anchor="ctr"/>
          <a:lstStyle/>
          <a:p>
            <a:pPr algn="ctr"/>
            <a:r>
              <a:rPr lang="es-PE" sz="1100" dirty="0">
                <a:solidFill>
                  <a:srgbClr val="000000"/>
                </a:solidFill>
              </a:rPr>
              <a:t>2 veces por década</a:t>
            </a:r>
            <a:endParaRPr lang="es-ES" sz="1100" dirty="0">
              <a:solidFill>
                <a:srgbClr val="000000"/>
              </a:solidFill>
            </a:endParaRPr>
          </a:p>
        </p:txBody>
      </p:sp>
      <p:sp>
        <p:nvSpPr>
          <p:cNvPr id="28" name="Rounded Rectangle 27"/>
          <p:cNvSpPr/>
          <p:nvPr/>
        </p:nvSpPr>
        <p:spPr>
          <a:xfrm>
            <a:off x="891084" y="3783528"/>
            <a:ext cx="1920240" cy="170094"/>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Impacto Medio Evento</a:t>
            </a:r>
          </a:p>
        </p:txBody>
      </p:sp>
      <p:sp>
        <p:nvSpPr>
          <p:cNvPr id="29" name="Rectangle 18"/>
          <p:cNvSpPr>
            <a:spLocks noChangeArrowheads="1"/>
          </p:cNvSpPr>
          <p:nvPr/>
        </p:nvSpPr>
        <p:spPr bwMode="auto">
          <a:xfrm>
            <a:off x="2859920" y="3783528"/>
            <a:ext cx="1554480" cy="170094"/>
          </a:xfrm>
          <a:prstGeom prst="rect">
            <a:avLst/>
          </a:prstGeom>
          <a:solidFill>
            <a:schemeClr val="bg1"/>
          </a:solidFill>
          <a:ln w="9525" algn="ctr">
            <a:solidFill>
              <a:schemeClr val="bg2"/>
            </a:solidFill>
            <a:miter lim="800000"/>
            <a:headEnd/>
            <a:tailEnd/>
          </a:ln>
          <a:effectLst/>
        </p:spPr>
        <p:txBody>
          <a:bodyPr anchor="ctr"/>
          <a:lstStyle/>
          <a:p>
            <a:pPr algn="ctr"/>
            <a:r>
              <a:rPr lang="es-PE" sz="1100" dirty="0">
                <a:solidFill>
                  <a:srgbClr val="000000"/>
                </a:solidFill>
              </a:rPr>
              <a:t>s/. 510,000.00</a:t>
            </a:r>
            <a:endParaRPr lang="es-ES" sz="1100" dirty="0">
              <a:solidFill>
                <a:srgbClr val="000000"/>
              </a:solidFill>
            </a:endParaRPr>
          </a:p>
        </p:txBody>
      </p:sp>
      <p:sp>
        <p:nvSpPr>
          <p:cNvPr id="30" name="Rounded Rectangle 29"/>
          <p:cNvSpPr/>
          <p:nvPr/>
        </p:nvSpPr>
        <p:spPr>
          <a:xfrm>
            <a:off x="891084" y="4019108"/>
            <a:ext cx="1920240" cy="170094"/>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Impacto Peor Escenario</a:t>
            </a:r>
          </a:p>
        </p:txBody>
      </p:sp>
      <p:sp>
        <p:nvSpPr>
          <p:cNvPr id="31" name="Rectangle 18"/>
          <p:cNvSpPr>
            <a:spLocks noChangeArrowheads="1"/>
          </p:cNvSpPr>
          <p:nvPr/>
        </p:nvSpPr>
        <p:spPr bwMode="auto">
          <a:xfrm>
            <a:off x="2859920" y="4019108"/>
            <a:ext cx="1554480" cy="170094"/>
          </a:xfrm>
          <a:prstGeom prst="rect">
            <a:avLst/>
          </a:prstGeom>
          <a:solidFill>
            <a:schemeClr val="bg1"/>
          </a:solidFill>
          <a:ln w="9525" algn="ctr">
            <a:solidFill>
              <a:schemeClr val="bg2"/>
            </a:solidFill>
            <a:miter lim="800000"/>
            <a:headEnd/>
            <a:tailEnd/>
          </a:ln>
          <a:effectLst/>
        </p:spPr>
        <p:txBody>
          <a:bodyPr anchor="ctr"/>
          <a:lstStyle/>
          <a:p>
            <a:pPr algn="ctr"/>
            <a:r>
              <a:rPr lang="es-PE" sz="1100" dirty="0">
                <a:solidFill>
                  <a:srgbClr val="000000"/>
                </a:solidFill>
              </a:rPr>
              <a:t>s/. 2,550,000.00</a:t>
            </a:r>
            <a:endParaRPr lang="es-ES" sz="1100" dirty="0">
              <a:solidFill>
                <a:srgbClr val="000000"/>
              </a:solidFill>
            </a:endParaRPr>
          </a:p>
        </p:txBody>
      </p:sp>
      <p:sp>
        <p:nvSpPr>
          <p:cNvPr id="32" name="AutoShape 47"/>
          <p:cNvSpPr>
            <a:spLocks noChangeAspect="1" noChangeArrowheads="1"/>
          </p:cNvSpPr>
          <p:nvPr/>
        </p:nvSpPr>
        <p:spPr bwMode="blackWhite">
          <a:xfrm>
            <a:off x="263032" y="3482416"/>
            <a:ext cx="503986" cy="1274400"/>
          </a:xfrm>
          <a:prstGeom prst="rightArrow">
            <a:avLst>
              <a:gd name="adj1" fmla="val 100000"/>
              <a:gd name="adj2" fmla="val 11009"/>
            </a:avLst>
          </a:prstGeom>
          <a:solidFill>
            <a:srgbClr val="969696"/>
          </a:solidFill>
          <a:ln w="12700">
            <a:noFill/>
            <a:miter lim="800000"/>
            <a:headEnd/>
            <a:tailEnd/>
          </a:ln>
          <a:effectLst>
            <a:outerShdw dist="35921" dir="2700000" algn="ctr" rotWithShape="0">
              <a:schemeClr val="bg2"/>
            </a:outerShdw>
          </a:effectLst>
        </p:spPr>
        <p:txBody>
          <a:bodyPr vert="vert270" anchor="ctr"/>
          <a:lstStyle/>
          <a:p>
            <a:pPr algn="ctr">
              <a:lnSpc>
                <a:spcPts val="1000"/>
              </a:lnSpc>
            </a:pPr>
            <a:r>
              <a:rPr lang="es-ES" sz="1100" b="1" noProof="1">
                <a:solidFill>
                  <a:srgbClr val="FFFFFF"/>
                </a:solidFill>
                <a:cs typeface="Arial" charset="0"/>
              </a:rPr>
              <a:t>Evaluación Riesgo Operacional</a:t>
            </a:r>
          </a:p>
        </p:txBody>
      </p:sp>
      <p:sp>
        <p:nvSpPr>
          <p:cNvPr id="33" name="AutoShape 179"/>
          <p:cNvSpPr>
            <a:spLocks noChangeArrowheads="1"/>
          </p:cNvSpPr>
          <p:nvPr/>
        </p:nvSpPr>
        <p:spPr bwMode="auto">
          <a:xfrm>
            <a:off x="4932039" y="3493021"/>
            <a:ext cx="4037169" cy="864000"/>
          </a:xfrm>
          <a:prstGeom prst="roundRect">
            <a:avLst>
              <a:gd name="adj" fmla="val 9481"/>
            </a:avLst>
          </a:prstGeom>
          <a:solidFill>
            <a:schemeClr val="accent1">
              <a:lumMod val="20000"/>
              <a:lumOff val="80000"/>
            </a:schemeClr>
          </a:solidFill>
          <a:ln w="9525" algn="ctr">
            <a:noFill/>
            <a:round/>
            <a:headEnd/>
            <a:tailEnd/>
          </a:ln>
          <a:effectLst/>
        </p:spPr>
        <p:txBody>
          <a:bodyPr wrap="none" anchor="ctr"/>
          <a:lstStyle/>
          <a:p>
            <a:endParaRPr lang="es-CL">
              <a:solidFill>
                <a:srgbClr val="002060"/>
              </a:solidFill>
            </a:endParaRPr>
          </a:p>
        </p:txBody>
      </p:sp>
      <p:sp>
        <p:nvSpPr>
          <p:cNvPr id="37" name="AutoShape 47"/>
          <p:cNvSpPr>
            <a:spLocks noChangeArrowheads="1"/>
          </p:cNvSpPr>
          <p:nvPr/>
        </p:nvSpPr>
        <p:spPr bwMode="blackWhite">
          <a:xfrm>
            <a:off x="4678512" y="3494523"/>
            <a:ext cx="353942" cy="864000"/>
          </a:xfrm>
          <a:prstGeom prst="rightArrow">
            <a:avLst>
              <a:gd name="adj1" fmla="val 100000"/>
              <a:gd name="adj2" fmla="val 11009"/>
            </a:avLst>
          </a:prstGeom>
          <a:solidFill>
            <a:srgbClr val="969696"/>
          </a:solidFill>
          <a:ln w="12700">
            <a:noFill/>
            <a:miter lim="800000"/>
            <a:headEnd/>
            <a:tailEnd/>
          </a:ln>
          <a:effectLst>
            <a:outerShdw dist="35921" dir="2700000" algn="ctr" rotWithShape="0">
              <a:schemeClr val="bg2"/>
            </a:outerShdw>
          </a:effectLst>
        </p:spPr>
        <p:txBody>
          <a:bodyPr vert="vert270" anchor="ctr"/>
          <a:lstStyle/>
          <a:p>
            <a:pPr algn="ctr">
              <a:lnSpc>
                <a:spcPts val="1000"/>
              </a:lnSpc>
            </a:pPr>
            <a:r>
              <a:rPr lang="es-ES" sz="1100" b="1" noProof="1">
                <a:solidFill>
                  <a:srgbClr val="FFFFFF"/>
                </a:solidFill>
                <a:cs typeface="Arial" charset="0"/>
              </a:rPr>
              <a:t>Impacto Reputacional</a:t>
            </a:r>
          </a:p>
        </p:txBody>
      </p:sp>
      <p:sp>
        <p:nvSpPr>
          <p:cNvPr id="38" name="Rectangle 18"/>
          <p:cNvSpPr>
            <a:spLocks noChangeArrowheads="1"/>
          </p:cNvSpPr>
          <p:nvPr/>
        </p:nvSpPr>
        <p:spPr bwMode="auto">
          <a:xfrm>
            <a:off x="8334310" y="3568288"/>
            <a:ext cx="548640" cy="170094"/>
          </a:xfrm>
          <a:prstGeom prst="rect">
            <a:avLst/>
          </a:prstGeom>
          <a:solidFill>
            <a:schemeClr val="bg1"/>
          </a:solidFill>
          <a:ln w="9525" algn="ctr">
            <a:solidFill>
              <a:schemeClr val="bg2"/>
            </a:solidFill>
            <a:miter lim="800000"/>
            <a:headEnd/>
            <a:tailEnd/>
          </a:ln>
          <a:effectLst/>
        </p:spPr>
        <p:txBody>
          <a:bodyPr anchor="ctr"/>
          <a:lstStyle/>
          <a:p>
            <a:pPr algn="ctr"/>
            <a:r>
              <a:rPr lang="es-PE" sz="1100" dirty="0"/>
              <a:t>3</a:t>
            </a:r>
            <a:endParaRPr lang="es-ES" sz="1100" dirty="0"/>
          </a:p>
        </p:txBody>
      </p:sp>
      <p:sp>
        <p:nvSpPr>
          <p:cNvPr id="39" name="Rounded Rectangle 38"/>
          <p:cNvSpPr/>
          <p:nvPr/>
        </p:nvSpPr>
        <p:spPr>
          <a:xfrm>
            <a:off x="5102950" y="3568288"/>
            <a:ext cx="3132000" cy="170094"/>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Afectación a Contrapartes</a:t>
            </a:r>
          </a:p>
        </p:txBody>
      </p:sp>
      <p:sp>
        <p:nvSpPr>
          <p:cNvPr id="40" name="Rectangle 18"/>
          <p:cNvSpPr>
            <a:spLocks noChangeArrowheads="1"/>
          </p:cNvSpPr>
          <p:nvPr/>
        </p:nvSpPr>
        <p:spPr bwMode="auto">
          <a:xfrm>
            <a:off x="5102950" y="3786445"/>
            <a:ext cx="3780000" cy="469509"/>
          </a:xfrm>
          <a:prstGeom prst="rect">
            <a:avLst/>
          </a:prstGeom>
          <a:solidFill>
            <a:schemeClr val="bg1"/>
          </a:solidFill>
          <a:ln w="9525" algn="ctr">
            <a:solidFill>
              <a:schemeClr val="bg2"/>
            </a:solidFill>
            <a:miter lim="800000"/>
            <a:headEnd/>
            <a:tailEnd/>
          </a:ln>
          <a:effectLst/>
        </p:spPr>
        <p:txBody>
          <a:bodyPr anchor="ctr"/>
          <a:lstStyle/>
          <a:p>
            <a:r>
              <a:rPr lang="es-ES" sz="1100" dirty="0">
                <a:solidFill>
                  <a:srgbClr val="000000"/>
                </a:solidFill>
              </a:rPr>
              <a:t>La exposición de la imagen es interna y externa con un nivel de impacto medio.</a:t>
            </a:r>
          </a:p>
        </p:txBody>
      </p:sp>
      <p:sp>
        <p:nvSpPr>
          <p:cNvPr id="43" name="Text Box 30"/>
          <p:cNvSpPr txBox="1">
            <a:spLocks noChangeArrowheads="1"/>
          </p:cNvSpPr>
          <p:nvPr/>
        </p:nvSpPr>
        <p:spPr bwMode="auto">
          <a:xfrm>
            <a:off x="190746" y="4838419"/>
            <a:ext cx="3996000" cy="276999"/>
          </a:xfrm>
          <a:prstGeom prst="rect">
            <a:avLst/>
          </a:prstGeom>
          <a:noFill/>
          <a:ln w="9525" algn="ctr">
            <a:noFill/>
            <a:miter lim="800000"/>
            <a:headEnd/>
            <a:tailEnd/>
          </a:ln>
          <a:effectLst/>
        </p:spPr>
        <p:txBody>
          <a:bodyPr wrap="square">
            <a:spAutoFit/>
          </a:bodyPr>
          <a:lstStyle/>
          <a:p>
            <a:pPr>
              <a:spcBef>
                <a:spcPct val="50000"/>
              </a:spcBef>
            </a:pPr>
            <a:r>
              <a:rPr lang="es-CL" sz="1200" b="1" i="1" dirty="0">
                <a:solidFill>
                  <a:srgbClr val="A3A3E0"/>
                </a:solidFill>
              </a:rPr>
              <a:t>Resultados valoración de controles / factores mitigantes</a:t>
            </a:r>
            <a:endParaRPr lang="es-ES" sz="1200" b="1" i="1" dirty="0">
              <a:solidFill>
                <a:srgbClr val="A3A3E0"/>
              </a:solidFill>
            </a:endParaRPr>
          </a:p>
        </p:txBody>
      </p:sp>
      <p:sp>
        <p:nvSpPr>
          <p:cNvPr id="59" name="Rounded Rectangle 58"/>
          <p:cNvSpPr/>
          <p:nvPr/>
        </p:nvSpPr>
        <p:spPr>
          <a:xfrm>
            <a:off x="216583" y="1579694"/>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Subproceso</a:t>
            </a:r>
          </a:p>
        </p:txBody>
      </p:sp>
      <p:sp>
        <p:nvSpPr>
          <p:cNvPr id="60" name="Rectangle 18"/>
          <p:cNvSpPr>
            <a:spLocks noChangeArrowheads="1"/>
          </p:cNvSpPr>
          <p:nvPr/>
        </p:nvSpPr>
        <p:spPr bwMode="auto">
          <a:xfrm>
            <a:off x="2568409" y="1579694"/>
            <a:ext cx="3875799" cy="182880"/>
          </a:xfrm>
          <a:prstGeom prst="rect">
            <a:avLst/>
          </a:prstGeom>
          <a:noFill/>
          <a:ln w="9525" algn="ctr">
            <a:solidFill>
              <a:schemeClr val="bg2"/>
            </a:solidFill>
            <a:miter lim="800000"/>
            <a:headEnd/>
            <a:tailEnd/>
          </a:ln>
          <a:effectLst/>
        </p:spPr>
        <p:txBody>
          <a:bodyPr anchor="ctr"/>
          <a:lstStyle/>
          <a:p>
            <a:r>
              <a:rPr lang="es-ES" sz="1100" dirty="0">
                <a:solidFill>
                  <a:srgbClr val="000000"/>
                </a:solidFill>
              </a:rPr>
              <a:t>Identificación de Oportunidades de Inversión</a:t>
            </a:r>
          </a:p>
        </p:txBody>
      </p:sp>
      <p:sp>
        <p:nvSpPr>
          <p:cNvPr id="61" name="Rounded Rectangle 60"/>
          <p:cNvSpPr/>
          <p:nvPr/>
        </p:nvSpPr>
        <p:spPr>
          <a:xfrm>
            <a:off x="226806" y="1826440"/>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Línea de Negocio</a:t>
            </a:r>
          </a:p>
        </p:txBody>
      </p:sp>
      <p:sp>
        <p:nvSpPr>
          <p:cNvPr id="63" name="Rounded Rectangle 62"/>
          <p:cNvSpPr/>
          <p:nvPr/>
        </p:nvSpPr>
        <p:spPr>
          <a:xfrm>
            <a:off x="226806" y="2079535"/>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Responsable</a:t>
            </a:r>
          </a:p>
        </p:txBody>
      </p:sp>
      <p:sp>
        <p:nvSpPr>
          <p:cNvPr id="65" name="Rectangle 18"/>
          <p:cNvSpPr>
            <a:spLocks noChangeArrowheads="1"/>
          </p:cNvSpPr>
          <p:nvPr/>
        </p:nvSpPr>
        <p:spPr bwMode="auto">
          <a:xfrm>
            <a:off x="2568409" y="1826440"/>
            <a:ext cx="3875799" cy="182880"/>
          </a:xfrm>
          <a:prstGeom prst="rect">
            <a:avLst/>
          </a:prstGeom>
          <a:noFill/>
          <a:ln w="9525" algn="ctr">
            <a:solidFill>
              <a:schemeClr val="bg2"/>
            </a:solidFill>
            <a:miter lim="800000"/>
            <a:headEnd/>
            <a:tailEnd/>
          </a:ln>
          <a:effectLst/>
        </p:spPr>
        <p:txBody>
          <a:bodyPr anchor="ctr"/>
          <a:lstStyle/>
          <a:p>
            <a:r>
              <a:rPr lang="es-ES" sz="1100" dirty="0">
                <a:solidFill>
                  <a:srgbClr val="000000"/>
                </a:solidFill>
              </a:rPr>
              <a:t>Negociación y Ventas</a:t>
            </a:r>
          </a:p>
        </p:txBody>
      </p:sp>
      <p:sp>
        <p:nvSpPr>
          <p:cNvPr id="66" name="Rectangle 18"/>
          <p:cNvSpPr>
            <a:spLocks noChangeArrowheads="1"/>
          </p:cNvSpPr>
          <p:nvPr/>
        </p:nvSpPr>
        <p:spPr bwMode="auto">
          <a:xfrm>
            <a:off x="2555776" y="2079535"/>
            <a:ext cx="3875799" cy="182880"/>
          </a:xfrm>
          <a:prstGeom prst="rect">
            <a:avLst/>
          </a:prstGeom>
          <a:noFill/>
          <a:ln w="9525" algn="ctr">
            <a:solidFill>
              <a:schemeClr val="bg2"/>
            </a:solidFill>
            <a:miter lim="800000"/>
            <a:headEnd/>
            <a:tailEnd/>
          </a:ln>
          <a:effectLst/>
        </p:spPr>
        <p:txBody>
          <a:bodyPr anchor="ctr"/>
          <a:lstStyle/>
          <a:p>
            <a:r>
              <a:rPr lang="es-ES" sz="1100" dirty="0">
                <a:solidFill>
                  <a:srgbClr val="000000"/>
                </a:solidFill>
              </a:rPr>
              <a:t>Gerente General Adjunto de Inversiones</a:t>
            </a:r>
          </a:p>
        </p:txBody>
      </p:sp>
      <p:sp>
        <p:nvSpPr>
          <p:cNvPr id="58" name="AutoShape 179"/>
          <p:cNvSpPr>
            <a:spLocks noChangeArrowheads="1"/>
          </p:cNvSpPr>
          <p:nvPr/>
        </p:nvSpPr>
        <p:spPr bwMode="auto">
          <a:xfrm>
            <a:off x="4927319" y="4397238"/>
            <a:ext cx="4037169" cy="892800"/>
          </a:xfrm>
          <a:prstGeom prst="roundRect">
            <a:avLst>
              <a:gd name="adj" fmla="val 9481"/>
            </a:avLst>
          </a:prstGeom>
          <a:solidFill>
            <a:schemeClr val="accent1">
              <a:lumMod val="20000"/>
              <a:lumOff val="80000"/>
            </a:schemeClr>
          </a:solidFill>
          <a:ln w="9525" algn="ctr">
            <a:noFill/>
            <a:round/>
            <a:headEnd/>
            <a:tailEnd/>
          </a:ln>
          <a:effectLst/>
        </p:spPr>
        <p:txBody>
          <a:bodyPr wrap="none" anchor="ctr"/>
          <a:lstStyle/>
          <a:p>
            <a:endParaRPr lang="es-CL">
              <a:solidFill>
                <a:srgbClr val="002060"/>
              </a:solidFill>
            </a:endParaRPr>
          </a:p>
        </p:txBody>
      </p:sp>
      <p:sp>
        <p:nvSpPr>
          <p:cNvPr id="62" name="AutoShape 47"/>
          <p:cNvSpPr>
            <a:spLocks noChangeArrowheads="1"/>
          </p:cNvSpPr>
          <p:nvPr/>
        </p:nvSpPr>
        <p:spPr bwMode="blackWhite">
          <a:xfrm>
            <a:off x="4673792" y="4398740"/>
            <a:ext cx="352800" cy="892800"/>
          </a:xfrm>
          <a:prstGeom prst="rightArrow">
            <a:avLst>
              <a:gd name="adj1" fmla="val 100000"/>
              <a:gd name="adj2" fmla="val 11009"/>
            </a:avLst>
          </a:prstGeom>
          <a:solidFill>
            <a:srgbClr val="969696"/>
          </a:solidFill>
          <a:ln w="12700">
            <a:noFill/>
            <a:miter lim="800000"/>
            <a:headEnd/>
            <a:tailEnd/>
          </a:ln>
          <a:effectLst>
            <a:outerShdw dist="35921" dir="2700000" algn="ctr" rotWithShape="0">
              <a:schemeClr val="bg2"/>
            </a:outerShdw>
          </a:effectLst>
        </p:spPr>
        <p:txBody>
          <a:bodyPr vert="vert270" anchor="ctr"/>
          <a:lstStyle/>
          <a:p>
            <a:pPr algn="ctr">
              <a:lnSpc>
                <a:spcPts val="1000"/>
              </a:lnSpc>
            </a:pPr>
            <a:r>
              <a:rPr lang="es-ES" sz="1100" b="1" noProof="1">
                <a:solidFill>
                  <a:srgbClr val="FFFFFF"/>
                </a:solidFill>
                <a:cs typeface="Arial" charset="0"/>
              </a:rPr>
              <a:t>Cuestionarios</a:t>
            </a:r>
          </a:p>
        </p:txBody>
      </p:sp>
      <p:sp>
        <p:nvSpPr>
          <p:cNvPr id="67" name="Rounded Rectangle 38"/>
          <p:cNvSpPr/>
          <p:nvPr/>
        </p:nvSpPr>
        <p:spPr>
          <a:xfrm>
            <a:off x="5098230" y="4472505"/>
            <a:ext cx="3132000" cy="170094"/>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Criterios de Evaluación</a:t>
            </a:r>
          </a:p>
        </p:txBody>
      </p:sp>
      <p:sp>
        <p:nvSpPr>
          <p:cNvPr id="69" name="AutoShape 179"/>
          <p:cNvSpPr>
            <a:spLocks noChangeArrowheads="1"/>
          </p:cNvSpPr>
          <p:nvPr/>
        </p:nvSpPr>
        <p:spPr bwMode="auto">
          <a:xfrm>
            <a:off x="534831" y="5060900"/>
            <a:ext cx="4037169" cy="864000"/>
          </a:xfrm>
          <a:prstGeom prst="roundRect">
            <a:avLst>
              <a:gd name="adj" fmla="val 9481"/>
            </a:avLst>
          </a:prstGeom>
          <a:solidFill>
            <a:schemeClr val="accent1">
              <a:lumMod val="20000"/>
              <a:lumOff val="80000"/>
            </a:schemeClr>
          </a:solidFill>
          <a:ln w="9525" algn="ctr">
            <a:noFill/>
            <a:round/>
            <a:headEnd/>
            <a:tailEnd/>
          </a:ln>
          <a:effectLst/>
        </p:spPr>
        <p:txBody>
          <a:bodyPr wrap="none" anchor="ctr"/>
          <a:lstStyle/>
          <a:p>
            <a:endParaRPr lang="es-CL">
              <a:solidFill>
                <a:srgbClr val="002060"/>
              </a:solidFill>
            </a:endParaRPr>
          </a:p>
        </p:txBody>
      </p:sp>
      <p:sp>
        <p:nvSpPr>
          <p:cNvPr id="70" name="AutoShape 47"/>
          <p:cNvSpPr>
            <a:spLocks noChangeArrowheads="1"/>
          </p:cNvSpPr>
          <p:nvPr/>
        </p:nvSpPr>
        <p:spPr bwMode="blackWhite">
          <a:xfrm>
            <a:off x="281304" y="5062402"/>
            <a:ext cx="353942" cy="864000"/>
          </a:xfrm>
          <a:prstGeom prst="rightArrow">
            <a:avLst>
              <a:gd name="adj1" fmla="val 100000"/>
              <a:gd name="adj2" fmla="val 11009"/>
            </a:avLst>
          </a:prstGeom>
          <a:solidFill>
            <a:srgbClr val="969696"/>
          </a:solidFill>
          <a:ln w="12700">
            <a:noFill/>
            <a:miter lim="800000"/>
            <a:headEnd/>
            <a:tailEnd/>
          </a:ln>
          <a:effectLst>
            <a:outerShdw dist="35921" dir="2700000" algn="ctr" rotWithShape="0">
              <a:schemeClr val="bg2"/>
            </a:outerShdw>
          </a:effectLst>
        </p:spPr>
        <p:txBody>
          <a:bodyPr vert="vert270" anchor="ctr"/>
          <a:lstStyle/>
          <a:p>
            <a:pPr algn="ctr">
              <a:lnSpc>
                <a:spcPts val="1000"/>
              </a:lnSpc>
            </a:pPr>
            <a:r>
              <a:rPr lang="es-ES" sz="1100" b="1" noProof="1">
                <a:solidFill>
                  <a:srgbClr val="FFFFFF"/>
                </a:solidFill>
                <a:cs typeface="Arial" charset="0"/>
              </a:rPr>
              <a:t>Evaluación de Controles</a:t>
            </a:r>
          </a:p>
        </p:txBody>
      </p:sp>
      <p:sp>
        <p:nvSpPr>
          <p:cNvPr id="71" name="Rectangle 18"/>
          <p:cNvSpPr>
            <a:spLocks noChangeArrowheads="1"/>
          </p:cNvSpPr>
          <p:nvPr/>
        </p:nvSpPr>
        <p:spPr bwMode="auto">
          <a:xfrm>
            <a:off x="3937102" y="5136167"/>
            <a:ext cx="548640" cy="170094"/>
          </a:xfrm>
          <a:prstGeom prst="rect">
            <a:avLst/>
          </a:prstGeom>
          <a:solidFill>
            <a:schemeClr val="bg1"/>
          </a:solidFill>
          <a:ln w="9525" algn="ctr">
            <a:solidFill>
              <a:schemeClr val="bg2"/>
            </a:solidFill>
            <a:miter lim="800000"/>
            <a:headEnd/>
            <a:tailEnd/>
          </a:ln>
          <a:effectLst/>
        </p:spPr>
        <p:txBody>
          <a:bodyPr anchor="ctr"/>
          <a:lstStyle/>
          <a:p>
            <a:pPr algn="ctr"/>
            <a:r>
              <a:rPr lang="es-PE" sz="1100" dirty="0">
                <a:solidFill>
                  <a:srgbClr val="002060"/>
                </a:solidFill>
              </a:rPr>
              <a:t>1</a:t>
            </a:r>
            <a:endParaRPr lang="es-ES" sz="1100" dirty="0">
              <a:solidFill>
                <a:srgbClr val="002060"/>
              </a:solidFill>
            </a:endParaRPr>
          </a:p>
        </p:txBody>
      </p:sp>
      <p:sp>
        <p:nvSpPr>
          <p:cNvPr id="72" name="Rounded Rectangle 38"/>
          <p:cNvSpPr/>
          <p:nvPr/>
        </p:nvSpPr>
        <p:spPr>
          <a:xfrm>
            <a:off x="705742" y="5136167"/>
            <a:ext cx="3132000" cy="170094"/>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Controles asociados al riesgo</a:t>
            </a:r>
          </a:p>
        </p:txBody>
      </p:sp>
      <p:sp>
        <p:nvSpPr>
          <p:cNvPr id="74" name="Rectangle 18"/>
          <p:cNvSpPr>
            <a:spLocks noChangeArrowheads="1"/>
          </p:cNvSpPr>
          <p:nvPr/>
        </p:nvSpPr>
        <p:spPr bwMode="auto">
          <a:xfrm>
            <a:off x="5102950" y="4685678"/>
            <a:ext cx="3780000" cy="469509"/>
          </a:xfrm>
          <a:prstGeom prst="rect">
            <a:avLst/>
          </a:prstGeom>
          <a:solidFill>
            <a:schemeClr val="bg1"/>
          </a:solidFill>
          <a:ln w="9525" algn="ctr">
            <a:solidFill>
              <a:schemeClr val="bg2"/>
            </a:solidFill>
            <a:miter lim="800000"/>
            <a:headEnd/>
            <a:tailEnd/>
          </a:ln>
          <a:effectLst/>
        </p:spPr>
        <p:txBody>
          <a:bodyPr anchor="ctr"/>
          <a:lstStyle/>
          <a:p>
            <a:r>
              <a:rPr lang="es-PE" sz="1100" dirty="0">
                <a:solidFill>
                  <a:srgbClr val="000000"/>
                </a:solidFill>
              </a:rPr>
              <a:t>$100MM * 0.2%(caída en valor de un activo) = $ 200K </a:t>
            </a:r>
            <a:r>
              <a:rPr lang="es-PE" sz="1100" dirty="0" err="1">
                <a:solidFill>
                  <a:srgbClr val="000000"/>
                </a:solidFill>
              </a:rPr>
              <a:t>imp</a:t>
            </a:r>
            <a:r>
              <a:rPr lang="es-PE" sz="1100" dirty="0">
                <a:solidFill>
                  <a:srgbClr val="000000"/>
                </a:solidFill>
              </a:rPr>
              <a:t> </a:t>
            </a:r>
            <a:r>
              <a:rPr lang="es-PE" sz="1100" dirty="0" err="1">
                <a:solidFill>
                  <a:srgbClr val="000000"/>
                </a:solidFill>
              </a:rPr>
              <a:t>inh</a:t>
            </a:r>
            <a:r>
              <a:rPr lang="es-PE" sz="1100" dirty="0">
                <a:solidFill>
                  <a:srgbClr val="000000"/>
                </a:solidFill>
              </a:rPr>
              <a:t>.</a:t>
            </a:r>
          </a:p>
          <a:p>
            <a:r>
              <a:rPr lang="es-PE" sz="1100" dirty="0">
                <a:solidFill>
                  <a:srgbClr val="000000"/>
                </a:solidFill>
              </a:rPr>
              <a:t>$ 200K * 5 días = peor escenario.</a:t>
            </a:r>
            <a:endParaRPr lang="es-ES" sz="1100" dirty="0">
              <a:solidFill>
                <a:srgbClr val="000000"/>
              </a:solidFill>
            </a:endParaRPr>
          </a:p>
        </p:txBody>
      </p:sp>
      <p:sp>
        <p:nvSpPr>
          <p:cNvPr id="75" name="Rectangle 18"/>
          <p:cNvSpPr>
            <a:spLocks noChangeArrowheads="1"/>
          </p:cNvSpPr>
          <p:nvPr/>
        </p:nvSpPr>
        <p:spPr bwMode="auto">
          <a:xfrm>
            <a:off x="705742" y="5357175"/>
            <a:ext cx="3780000" cy="469509"/>
          </a:xfrm>
          <a:prstGeom prst="rect">
            <a:avLst/>
          </a:prstGeom>
          <a:solidFill>
            <a:schemeClr val="bg1"/>
          </a:solidFill>
          <a:ln w="9525" algn="ctr">
            <a:solidFill>
              <a:schemeClr val="bg2"/>
            </a:solidFill>
            <a:miter lim="800000"/>
            <a:headEnd/>
            <a:tailEnd/>
          </a:ln>
          <a:effectLst/>
        </p:spPr>
        <p:txBody>
          <a:bodyPr anchor="ctr"/>
          <a:lstStyle/>
          <a:p>
            <a:r>
              <a:rPr lang="es-ES" sz="1100" dirty="0">
                <a:solidFill>
                  <a:srgbClr val="000000"/>
                </a:solidFill>
              </a:rPr>
              <a:t>(NF) Existencia de un Back Up Interno en el área de Inversiones.</a:t>
            </a:r>
          </a:p>
        </p:txBody>
      </p:sp>
      <p:sp>
        <p:nvSpPr>
          <p:cNvPr id="78" name="Rounded Rectangle 14"/>
          <p:cNvSpPr/>
          <p:nvPr/>
        </p:nvSpPr>
        <p:spPr>
          <a:xfrm>
            <a:off x="6716066" y="2768330"/>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Origen del Riesgo</a:t>
            </a:r>
          </a:p>
        </p:txBody>
      </p:sp>
      <p:sp>
        <p:nvSpPr>
          <p:cNvPr id="79" name="Rectangle 18"/>
          <p:cNvSpPr>
            <a:spLocks noChangeArrowheads="1"/>
          </p:cNvSpPr>
          <p:nvPr/>
        </p:nvSpPr>
        <p:spPr bwMode="auto">
          <a:xfrm>
            <a:off x="6716066" y="2983595"/>
            <a:ext cx="2286000" cy="270000"/>
          </a:xfrm>
          <a:prstGeom prst="rect">
            <a:avLst/>
          </a:prstGeom>
          <a:noFill/>
          <a:ln w="9525" algn="ctr">
            <a:solidFill>
              <a:schemeClr val="bg2"/>
            </a:solidFill>
            <a:miter lim="800000"/>
            <a:headEnd/>
            <a:tailEnd/>
          </a:ln>
          <a:effectLst/>
        </p:spPr>
        <p:txBody>
          <a:bodyPr anchor="ctr"/>
          <a:lstStyle/>
          <a:p>
            <a:r>
              <a:rPr lang="es-PE" sz="1100" dirty="0">
                <a:solidFill>
                  <a:srgbClr val="000000"/>
                </a:solidFill>
              </a:rPr>
              <a:t>Personas</a:t>
            </a:r>
            <a:endParaRPr lang="es-ES" sz="1100" dirty="0">
              <a:solidFill>
                <a:srgbClr val="000000"/>
              </a:solidFill>
            </a:endParaRPr>
          </a:p>
        </p:txBody>
      </p:sp>
      <p:sp>
        <p:nvSpPr>
          <p:cNvPr id="57" name="TextBox 56"/>
          <p:cNvSpPr txBox="1"/>
          <p:nvPr/>
        </p:nvSpPr>
        <p:spPr>
          <a:xfrm>
            <a:off x="705742" y="5940712"/>
            <a:ext cx="1819944" cy="261610"/>
          </a:xfrm>
          <a:prstGeom prst="rect">
            <a:avLst/>
          </a:prstGeom>
          <a:noFill/>
        </p:spPr>
        <p:txBody>
          <a:bodyPr wrap="square" rtlCol="0">
            <a:spAutoFit/>
          </a:bodyPr>
          <a:lstStyle/>
          <a:p>
            <a:r>
              <a:rPr lang="es-ES" sz="1100" dirty="0"/>
              <a:t>(NF): No Formalizado</a:t>
            </a:r>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dirty="0"/>
              <a:t>Anexo: Ficha Individual Riesgos Operacionales</a:t>
            </a:r>
          </a:p>
        </p:txBody>
      </p:sp>
      <p:sp>
        <p:nvSpPr>
          <p:cNvPr id="4" name="Rounded Rectangle 3"/>
          <p:cNvSpPr/>
          <p:nvPr/>
        </p:nvSpPr>
        <p:spPr>
          <a:xfrm>
            <a:off x="227770" y="764704"/>
            <a:ext cx="383790" cy="274320"/>
          </a:xfrm>
          <a:prstGeom prst="roundRect">
            <a:avLst/>
          </a:prstGeom>
          <a:solidFill>
            <a:srgbClr val="DB0613"/>
          </a:solidFill>
          <a:ln w="9525" algn="ctr">
            <a:noFill/>
            <a:miter lim="800000"/>
            <a:headEnd/>
            <a:tailEnd/>
          </a:ln>
          <a:effectLst/>
        </p:spPr>
        <p:txBody>
          <a:bodyPr anchor="ctr"/>
          <a:lstStyle/>
          <a:p>
            <a:pPr algn="ctr">
              <a:lnSpc>
                <a:spcPct val="80000"/>
              </a:lnSpc>
            </a:pPr>
            <a:r>
              <a:rPr lang="es-CL" sz="1200" b="1" dirty="0">
                <a:solidFill>
                  <a:srgbClr val="FFFFFF"/>
                </a:solidFill>
                <a:cs typeface="Arial" pitchFamily="34" charset="0"/>
              </a:rPr>
              <a:t>19</a:t>
            </a:r>
          </a:p>
        </p:txBody>
      </p:sp>
      <p:sp>
        <p:nvSpPr>
          <p:cNvPr id="5" name="Rectangle 18"/>
          <p:cNvSpPr>
            <a:spLocks noChangeArrowheads="1"/>
          </p:cNvSpPr>
          <p:nvPr/>
        </p:nvSpPr>
        <p:spPr bwMode="auto">
          <a:xfrm>
            <a:off x="227770" y="2548229"/>
            <a:ext cx="6400800" cy="708660"/>
          </a:xfrm>
          <a:prstGeom prst="rect">
            <a:avLst/>
          </a:prstGeom>
          <a:noFill/>
          <a:ln w="9525" algn="ctr">
            <a:solidFill>
              <a:schemeClr val="bg2"/>
            </a:solidFill>
            <a:miter lim="800000"/>
            <a:headEnd/>
            <a:tailEnd/>
          </a:ln>
          <a:effectLst/>
        </p:spPr>
        <p:txBody>
          <a:bodyPr/>
          <a:lstStyle/>
          <a:p>
            <a:r>
              <a:rPr lang="es-ES" sz="1100" dirty="0">
                <a:solidFill>
                  <a:srgbClr val="000000"/>
                </a:solidFill>
              </a:rPr>
              <a:t>Esta situación se da  por una fuga de información referida a los acuerdos tomados en los comités  de Selección e Inversiones. La Gerencia de Selección de Activos es responsable de realizar las actas y obtener las  firmas de los miembros de la GGA Inversiones.</a:t>
            </a:r>
            <a:endParaRPr lang="es-ES" sz="1100" dirty="0">
              <a:solidFill>
                <a:srgbClr val="002060"/>
              </a:solidFill>
            </a:endParaRPr>
          </a:p>
        </p:txBody>
      </p:sp>
      <p:sp>
        <p:nvSpPr>
          <p:cNvPr id="8" name="Rounded Rectangle 7"/>
          <p:cNvSpPr/>
          <p:nvPr/>
        </p:nvSpPr>
        <p:spPr>
          <a:xfrm>
            <a:off x="652842" y="764704"/>
            <a:ext cx="8321040" cy="274320"/>
          </a:xfrm>
          <a:prstGeom prst="roundRect">
            <a:avLst/>
          </a:prstGeom>
          <a:solidFill>
            <a:srgbClr val="DB0613"/>
          </a:solidFill>
          <a:ln w="9525" algn="ctr">
            <a:noFill/>
            <a:miter lim="800000"/>
            <a:headEnd/>
            <a:tailEnd/>
          </a:ln>
          <a:effectLst/>
        </p:spPr>
        <p:txBody>
          <a:bodyPr anchor="ctr"/>
          <a:lstStyle/>
          <a:p>
            <a:pPr>
              <a:lnSpc>
                <a:spcPct val="80000"/>
              </a:lnSpc>
            </a:pPr>
            <a:r>
              <a:rPr lang="es-ES" sz="1200" b="1" dirty="0">
                <a:solidFill>
                  <a:srgbClr val="FFFFFF"/>
                </a:solidFill>
                <a:cs typeface="Arial" pitchFamily="34" charset="0"/>
              </a:rPr>
              <a:t>Riesgo de que una persona ajena a Inversiones tenga acceso a la estrategia de inversión de la compañía</a:t>
            </a:r>
            <a:endParaRPr lang="es-CL" sz="1200" b="1" dirty="0">
              <a:solidFill>
                <a:srgbClr val="FFFFFF"/>
              </a:solidFill>
              <a:cs typeface="Arial" pitchFamily="34" charset="0"/>
            </a:endParaRPr>
          </a:p>
        </p:txBody>
      </p:sp>
      <p:sp>
        <p:nvSpPr>
          <p:cNvPr id="9" name="Rounded Rectangle 8"/>
          <p:cNvSpPr/>
          <p:nvPr/>
        </p:nvSpPr>
        <p:spPr>
          <a:xfrm>
            <a:off x="227770" y="2307916"/>
            <a:ext cx="64008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Descripción</a:t>
            </a:r>
          </a:p>
        </p:txBody>
      </p:sp>
      <p:sp>
        <p:nvSpPr>
          <p:cNvPr id="17" name="Rounded Rectangle 16"/>
          <p:cNvSpPr/>
          <p:nvPr/>
        </p:nvSpPr>
        <p:spPr>
          <a:xfrm>
            <a:off x="216583" y="1110038"/>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Macroproceso</a:t>
            </a:r>
          </a:p>
        </p:txBody>
      </p:sp>
      <p:sp>
        <p:nvSpPr>
          <p:cNvPr id="18" name="Rectangle 18"/>
          <p:cNvSpPr>
            <a:spLocks noChangeArrowheads="1"/>
          </p:cNvSpPr>
          <p:nvPr/>
        </p:nvSpPr>
        <p:spPr bwMode="auto">
          <a:xfrm>
            <a:off x="2568409" y="1110038"/>
            <a:ext cx="3877200" cy="182880"/>
          </a:xfrm>
          <a:prstGeom prst="rect">
            <a:avLst/>
          </a:prstGeom>
          <a:noFill/>
          <a:ln w="9525" algn="ctr">
            <a:solidFill>
              <a:schemeClr val="bg2"/>
            </a:solidFill>
            <a:miter lim="800000"/>
            <a:headEnd/>
            <a:tailEnd/>
          </a:ln>
          <a:effectLst/>
        </p:spPr>
        <p:txBody>
          <a:bodyPr anchor="ctr"/>
          <a:lstStyle/>
          <a:p>
            <a:r>
              <a:rPr lang="es-ES" sz="1100" dirty="0">
                <a:solidFill>
                  <a:srgbClr val="000000"/>
                </a:solidFill>
              </a:rPr>
              <a:t>Administración de Portafolio de Inversiones</a:t>
            </a:r>
          </a:p>
        </p:txBody>
      </p:sp>
      <p:sp>
        <p:nvSpPr>
          <p:cNvPr id="19" name="Rounded Rectangle 18"/>
          <p:cNvSpPr/>
          <p:nvPr/>
        </p:nvSpPr>
        <p:spPr>
          <a:xfrm>
            <a:off x="216583" y="1339045"/>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Proceso</a:t>
            </a:r>
          </a:p>
        </p:txBody>
      </p:sp>
      <p:sp>
        <p:nvSpPr>
          <p:cNvPr id="20" name="Rectangle 18"/>
          <p:cNvSpPr>
            <a:spLocks noChangeArrowheads="1"/>
          </p:cNvSpPr>
          <p:nvPr/>
        </p:nvSpPr>
        <p:spPr bwMode="auto">
          <a:xfrm>
            <a:off x="2568409" y="1339045"/>
            <a:ext cx="3877200" cy="182880"/>
          </a:xfrm>
          <a:prstGeom prst="rect">
            <a:avLst/>
          </a:prstGeom>
          <a:noFill/>
          <a:ln w="9525" algn="ctr">
            <a:solidFill>
              <a:schemeClr val="bg2"/>
            </a:solidFill>
            <a:miter lim="800000"/>
            <a:headEnd/>
            <a:tailEnd/>
          </a:ln>
          <a:effectLst/>
        </p:spPr>
        <p:txBody>
          <a:bodyPr anchor="ctr"/>
          <a:lstStyle/>
          <a:p>
            <a:r>
              <a:rPr lang="es-ES" sz="1100" dirty="0">
                <a:solidFill>
                  <a:srgbClr val="000000"/>
                </a:solidFill>
              </a:rPr>
              <a:t>Administración de Fondos</a:t>
            </a:r>
          </a:p>
        </p:txBody>
      </p:sp>
      <p:sp>
        <p:nvSpPr>
          <p:cNvPr id="59" name="Rounded Rectangle 58"/>
          <p:cNvSpPr/>
          <p:nvPr/>
        </p:nvSpPr>
        <p:spPr>
          <a:xfrm>
            <a:off x="216583" y="1579694"/>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Subproceso</a:t>
            </a:r>
          </a:p>
        </p:txBody>
      </p:sp>
      <p:sp>
        <p:nvSpPr>
          <p:cNvPr id="60" name="Rectangle 18"/>
          <p:cNvSpPr>
            <a:spLocks noChangeArrowheads="1"/>
          </p:cNvSpPr>
          <p:nvPr/>
        </p:nvSpPr>
        <p:spPr bwMode="auto">
          <a:xfrm>
            <a:off x="2568409" y="1579694"/>
            <a:ext cx="3875799" cy="182880"/>
          </a:xfrm>
          <a:prstGeom prst="rect">
            <a:avLst/>
          </a:prstGeom>
          <a:noFill/>
          <a:ln w="9525" algn="ctr">
            <a:solidFill>
              <a:schemeClr val="bg2"/>
            </a:solidFill>
            <a:miter lim="800000"/>
            <a:headEnd/>
            <a:tailEnd/>
          </a:ln>
          <a:effectLst/>
        </p:spPr>
        <p:txBody>
          <a:bodyPr anchor="ctr"/>
          <a:lstStyle/>
          <a:p>
            <a:r>
              <a:rPr lang="es-ES" sz="1100" dirty="0"/>
              <a:t>Evaluación de oportunidades de inversión</a:t>
            </a:r>
            <a:endParaRPr lang="es-ES" sz="1100" dirty="0">
              <a:solidFill>
                <a:srgbClr val="000000"/>
              </a:solidFill>
            </a:endParaRPr>
          </a:p>
        </p:txBody>
      </p:sp>
      <p:sp>
        <p:nvSpPr>
          <p:cNvPr id="61" name="Rounded Rectangle 60"/>
          <p:cNvSpPr/>
          <p:nvPr/>
        </p:nvSpPr>
        <p:spPr>
          <a:xfrm>
            <a:off x="226806" y="1826440"/>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Línea de Negocio</a:t>
            </a:r>
          </a:p>
        </p:txBody>
      </p:sp>
      <p:sp>
        <p:nvSpPr>
          <p:cNvPr id="63" name="Rounded Rectangle 62"/>
          <p:cNvSpPr/>
          <p:nvPr/>
        </p:nvSpPr>
        <p:spPr>
          <a:xfrm>
            <a:off x="226806" y="2079535"/>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Responsable</a:t>
            </a:r>
          </a:p>
        </p:txBody>
      </p:sp>
      <p:sp>
        <p:nvSpPr>
          <p:cNvPr id="65" name="Rectangle 18"/>
          <p:cNvSpPr>
            <a:spLocks noChangeArrowheads="1"/>
          </p:cNvSpPr>
          <p:nvPr/>
        </p:nvSpPr>
        <p:spPr bwMode="auto">
          <a:xfrm>
            <a:off x="2568409" y="1826440"/>
            <a:ext cx="3875799" cy="182880"/>
          </a:xfrm>
          <a:prstGeom prst="rect">
            <a:avLst/>
          </a:prstGeom>
          <a:noFill/>
          <a:ln w="9525" algn="ctr">
            <a:solidFill>
              <a:schemeClr val="bg2"/>
            </a:solidFill>
            <a:miter lim="800000"/>
            <a:headEnd/>
            <a:tailEnd/>
          </a:ln>
          <a:effectLst/>
        </p:spPr>
        <p:txBody>
          <a:bodyPr anchor="ctr"/>
          <a:lstStyle/>
          <a:p>
            <a:r>
              <a:rPr lang="es-ES" sz="1100" dirty="0">
                <a:solidFill>
                  <a:srgbClr val="000000"/>
                </a:solidFill>
              </a:rPr>
              <a:t>Negociación y Ventas</a:t>
            </a:r>
          </a:p>
        </p:txBody>
      </p:sp>
      <p:sp>
        <p:nvSpPr>
          <p:cNvPr id="66" name="Rectangle 18"/>
          <p:cNvSpPr>
            <a:spLocks noChangeArrowheads="1"/>
          </p:cNvSpPr>
          <p:nvPr/>
        </p:nvSpPr>
        <p:spPr bwMode="auto">
          <a:xfrm>
            <a:off x="2555776" y="2079535"/>
            <a:ext cx="3875799" cy="182880"/>
          </a:xfrm>
          <a:prstGeom prst="rect">
            <a:avLst/>
          </a:prstGeom>
          <a:noFill/>
          <a:ln w="9525" algn="ctr">
            <a:solidFill>
              <a:schemeClr val="bg2"/>
            </a:solidFill>
            <a:miter lim="800000"/>
            <a:headEnd/>
            <a:tailEnd/>
          </a:ln>
          <a:effectLst/>
        </p:spPr>
        <p:txBody>
          <a:bodyPr anchor="ctr"/>
          <a:lstStyle/>
          <a:p>
            <a:r>
              <a:rPr lang="es-ES" sz="1100" dirty="0">
                <a:solidFill>
                  <a:srgbClr val="000000"/>
                </a:solidFill>
              </a:rPr>
              <a:t>Gerente de Selección de Activos</a:t>
            </a:r>
          </a:p>
        </p:txBody>
      </p:sp>
      <p:sp>
        <p:nvSpPr>
          <p:cNvPr id="58" name="AutoShape 179"/>
          <p:cNvSpPr>
            <a:spLocks noChangeArrowheads="1"/>
          </p:cNvSpPr>
          <p:nvPr/>
        </p:nvSpPr>
        <p:spPr bwMode="auto">
          <a:xfrm>
            <a:off x="611560" y="3482416"/>
            <a:ext cx="3960812" cy="1275707"/>
          </a:xfrm>
          <a:prstGeom prst="roundRect">
            <a:avLst>
              <a:gd name="adj" fmla="val 9481"/>
            </a:avLst>
          </a:prstGeom>
          <a:solidFill>
            <a:schemeClr val="accent1">
              <a:lumMod val="20000"/>
              <a:lumOff val="80000"/>
            </a:schemeClr>
          </a:solidFill>
          <a:ln w="9525" algn="ctr">
            <a:noFill/>
            <a:round/>
            <a:headEnd/>
            <a:tailEnd/>
          </a:ln>
          <a:effectLst/>
        </p:spPr>
        <p:txBody>
          <a:bodyPr wrap="none" anchor="ctr"/>
          <a:lstStyle/>
          <a:p>
            <a:endParaRPr lang="es-CL">
              <a:solidFill>
                <a:srgbClr val="002060"/>
              </a:solidFill>
            </a:endParaRPr>
          </a:p>
        </p:txBody>
      </p:sp>
      <p:sp>
        <p:nvSpPr>
          <p:cNvPr id="62" name="Text Box 30"/>
          <p:cNvSpPr txBox="1">
            <a:spLocks noChangeArrowheads="1"/>
          </p:cNvSpPr>
          <p:nvPr/>
        </p:nvSpPr>
        <p:spPr bwMode="auto">
          <a:xfrm>
            <a:off x="190747" y="3259373"/>
            <a:ext cx="3671888" cy="276999"/>
          </a:xfrm>
          <a:prstGeom prst="rect">
            <a:avLst/>
          </a:prstGeom>
          <a:noFill/>
          <a:ln w="9525" algn="ctr">
            <a:noFill/>
            <a:miter lim="800000"/>
            <a:headEnd/>
            <a:tailEnd/>
          </a:ln>
          <a:effectLst/>
        </p:spPr>
        <p:txBody>
          <a:bodyPr>
            <a:spAutoFit/>
          </a:bodyPr>
          <a:lstStyle/>
          <a:p>
            <a:pPr>
              <a:spcBef>
                <a:spcPct val="50000"/>
              </a:spcBef>
            </a:pPr>
            <a:r>
              <a:rPr lang="es-CL" sz="1200" b="1" i="1" dirty="0">
                <a:solidFill>
                  <a:srgbClr val="A3A3E0"/>
                </a:solidFill>
              </a:rPr>
              <a:t>Resultados valoración de riesgos</a:t>
            </a:r>
            <a:endParaRPr lang="es-ES" sz="1200" b="1" i="1" dirty="0">
              <a:solidFill>
                <a:srgbClr val="A3A3E0"/>
              </a:solidFill>
            </a:endParaRPr>
          </a:p>
        </p:txBody>
      </p:sp>
      <p:sp>
        <p:nvSpPr>
          <p:cNvPr id="64" name="Rounded Rectangle 21"/>
          <p:cNvSpPr/>
          <p:nvPr/>
        </p:nvSpPr>
        <p:spPr>
          <a:xfrm>
            <a:off x="902959" y="4255955"/>
            <a:ext cx="1920240" cy="170094"/>
          </a:xfrm>
          <a:prstGeom prst="roundRect">
            <a:avLst/>
          </a:prstGeom>
          <a:solidFill>
            <a:srgbClr val="DB0613"/>
          </a:solidFill>
          <a:ln w="9525" algn="ctr">
            <a:noFill/>
            <a:miter lim="800000"/>
            <a:headEnd/>
            <a:tailEnd/>
          </a:ln>
          <a:effectLst/>
        </p:spPr>
        <p:txBody>
          <a:bodyPr tIns="91440" anchor="ctr"/>
          <a:lstStyle/>
          <a:p>
            <a:pPr>
              <a:lnSpc>
                <a:spcPct val="80000"/>
              </a:lnSpc>
            </a:pPr>
            <a:r>
              <a:rPr lang="es-CL" sz="1100" b="1" dirty="0">
                <a:solidFill>
                  <a:srgbClr val="FFFFFF"/>
                </a:solidFill>
                <a:cs typeface="Arial" pitchFamily="34" charset="0"/>
              </a:rPr>
              <a:t>Pérdida Esperada Anual</a:t>
            </a:r>
          </a:p>
        </p:txBody>
      </p:sp>
      <p:sp>
        <p:nvSpPr>
          <p:cNvPr id="67" name="Rectangle 18"/>
          <p:cNvSpPr>
            <a:spLocks noChangeArrowheads="1"/>
          </p:cNvSpPr>
          <p:nvPr/>
        </p:nvSpPr>
        <p:spPr bwMode="auto">
          <a:xfrm>
            <a:off x="2859920" y="4255955"/>
            <a:ext cx="1554480" cy="170094"/>
          </a:xfrm>
          <a:prstGeom prst="rect">
            <a:avLst/>
          </a:prstGeom>
          <a:solidFill>
            <a:schemeClr val="bg1"/>
          </a:solidFill>
          <a:ln w="9525" algn="ctr">
            <a:solidFill>
              <a:schemeClr val="bg2"/>
            </a:solidFill>
            <a:miter lim="800000"/>
            <a:headEnd/>
            <a:tailEnd/>
          </a:ln>
          <a:effectLst/>
        </p:spPr>
        <p:txBody>
          <a:bodyPr anchor="ctr"/>
          <a:lstStyle/>
          <a:p>
            <a:pPr algn="ctr"/>
            <a:r>
              <a:rPr lang="es-PE" sz="1100" dirty="0">
                <a:solidFill>
                  <a:srgbClr val="000000"/>
                </a:solidFill>
              </a:rPr>
              <a:t>s/. 0.00</a:t>
            </a:r>
            <a:endParaRPr lang="es-ES" sz="1100" dirty="0">
              <a:solidFill>
                <a:srgbClr val="000000"/>
              </a:solidFill>
            </a:endParaRPr>
          </a:p>
        </p:txBody>
      </p:sp>
      <p:sp>
        <p:nvSpPr>
          <p:cNvPr id="68" name="Rounded Rectangle 23"/>
          <p:cNvSpPr/>
          <p:nvPr/>
        </p:nvSpPr>
        <p:spPr>
          <a:xfrm>
            <a:off x="902959" y="4485567"/>
            <a:ext cx="1920240" cy="170094"/>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VaR Cualitativo Anual</a:t>
            </a:r>
          </a:p>
        </p:txBody>
      </p:sp>
      <p:sp>
        <p:nvSpPr>
          <p:cNvPr id="69" name="Rectangle 18"/>
          <p:cNvSpPr>
            <a:spLocks noChangeArrowheads="1"/>
          </p:cNvSpPr>
          <p:nvPr/>
        </p:nvSpPr>
        <p:spPr bwMode="auto">
          <a:xfrm>
            <a:off x="2859920" y="4485567"/>
            <a:ext cx="1554480" cy="170094"/>
          </a:xfrm>
          <a:prstGeom prst="rect">
            <a:avLst/>
          </a:prstGeom>
          <a:solidFill>
            <a:schemeClr val="bg1"/>
          </a:solidFill>
          <a:ln w="9525" algn="ctr">
            <a:solidFill>
              <a:schemeClr val="bg2"/>
            </a:solidFill>
            <a:miter lim="800000"/>
            <a:headEnd/>
            <a:tailEnd/>
          </a:ln>
          <a:effectLst/>
        </p:spPr>
        <p:txBody>
          <a:bodyPr anchor="ctr"/>
          <a:lstStyle/>
          <a:p>
            <a:pPr algn="ctr"/>
            <a:r>
              <a:rPr lang="es-PE" sz="1100" dirty="0">
                <a:solidFill>
                  <a:srgbClr val="000000"/>
                </a:solidFill>
              </a:rPr>
              <a:t>s/. 0.00</a:t>
            </a:r>
            <a:endParaRPr lang="es-ES" sz="1100" dirty="0">
              <a:solidFill>
                <a:srgbClr val="000000"/>
              </a:solidFill>
            </a:endParaRPr>
          </a:p>
        </p:txBody>
      </p:sp>
      <p:sp>
        <p:nvSpPr>
          <p:cNvPr id="70" name="Rounded Rectangle 25"/>
          <p:cNvSpPr/>
          <p:nvPr/>
        </p:nvSpPr>
        <p:spPr>
          <a:xfrm>
            <a:off x="891084" y="3553916"/>
            <a:ext cx="1920240" cy="170094"/>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Frecuencia  Evento Pérdida</a:t>
            </a:r>
          </a:p>
        </p:txBody>
      </p:sp>
      <p:sp>
        <p:nvSpPr>
          <p:cNvPr id="71" name="Rectangle 18"/>
          <p:cNvSpPr>
            <a:spLocks noChangeArrowheads="1"/>
          </p:cNvSpPr>
          <p:nvPr/>
        </p:nvSpPr>
        <p:spPr bwMode="auto">
          <a:xfrm>
            <a:off x="2859920" y="3553916"/>
            <a:ext cx="1554480" cy="170094"/>
          </a:xfrm>
          <a:prstGeom prst="rect">
            <a:avLst/>
          </a:prstGeom>
          <a:solidFill>
            <a:schemeClr val="bg1"/>
          </a:solidFill>
          <a:ln w="9525" algn="ctr">
            <a:solidFill>
              <a:schemeClr val="bg2"/>
            </a:solidFill>
            <a:miter lim="800000"/>
            <a:headEnd/>
            <a:tailEnd/>
          </a:ln>
          <a:effectLst/>
        </p:spPr>
        <p:txBody>
          <a:bodyPr anchor="ctr"/>
          <a:lstStyle/>
          <a:p>
            <a:pPr algn="ctr"/>
            <a:r>
              <a:rPr lang="es-PE" sz="1100" dirty="0">
                <a:solidFill>
                  <a:srgbClr val="000000"/>
                </a:solidFill>
              </a:rPr>
              <a:t>1 vez por siglo</a:t>
            </a:r>
            <a:endParaRPr lang="es-ES" sz="1100" dirty="0">
              <a:solidFill>
                <a:srgbClr val="000000"/>
              </a:solidFill>
            </a:endParaRPr>
          </a:p>
        </p:txBody>
      </p:sp>
      <p:sp>
        <p:nvSpPr>
          <p:cNvPr id="72" name="Rounded Rectangle 27"/>
          <p:cNvSpPr/>
          <p:nvPr/>
        </p:nvSpPr>
        <p:spPr>
          <a:xfrm>
            <a:off x="891084" y="3783528"/>
            <a:ext cx="1920240" cy="170094"/>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Impacto Medio Evento</a:t>
            </a:r>
          </a:p>
        </p:txBody>
      </p:sp>
      <p:sp>
        <p:nvSpPr>
          <p:cNvPr id="73" name="Rectangle 18"/>
          <p:cNvSpPr>
            <a:spLocks noChangeArrowheads="1"/>
          </p:cNvSpPr>
          <p:nvPr/>
        </p:nvSpPr>
        <p:spPr bwMode="auto">
          <a:xfrm>
            <a:off x="2859920" y="3783528"/>
            <a:ext cx="1554480" cy="170094"/>
          </a:xfrm>
          <a:prstGeom prst="rect">
            <a:avLst/>
          </a:prstGeom>
          <a:solidFill>
            <a:schemeClr val="bg1"/>
          </a:solidFill>
          <a:ln w="9525" algn="ctr">
            <a:solidFill>
              <a:schemeClr val="bg2"/>
            </a:solidFill>
            <a:miter lim="800000"/>
            <a:headEnd/>
            <a:tailEnd/>
          </a:ln>
          <a:effectLst/>
        </p:spPr>
        <p:txBody>
          <a:bodyPr anchor="ctr"/>
          <a:lstStyle/>
          <a:p>
            <a:pPr algn="ctr"/>
            <a:r>
              <a:rPr lang="es-PE" sz="1100" dirty="0">
                <a:solidFill>
                  <a:srgbClr val="000000"/>
                </a:solidFill>
              </a:rPr>
              <a:t>s/. 0.00</a:t>
            </a:r>
            <a:endParaRPr lang="es-ES" sz="1100" dirty="0">
              <a:solidFill>
                <a:srgbClr val="000000"/>
              </a:solidFill>
            </a:endParaRPr>
          </a:p>
        </p:txBody>
      </p:sp>
      <p:sp>
        <p:nvSpPr>
          <p:cNvPr id="74" name="Rounded Rectangle 29"/>
          <p:cNvSpPr/>
          <p:nvPr/>
        </p:nvSpPr>
        <p:spPr>
          <a:xfrm>
            <a:off x="891084" y="4019108"/>
            <a:ext cx="1920240" cy="170094"/>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Impacto Peor Escenario</a:t>
            </a:r>
          </a:p>
        </p:txBody>
      </p:sp>
      <p:sp>
        <p:nvSpPr>
          <p:cNvPr id="75" name="Rectangle 18"/>
          <p:cNvSpPr>
            <a:spLocks noChangeArrowheads="1"/>
          </p:cNvSpPr>
          <p:nvPr/>
        </p:nvSpPr>
        <p:spPr bwMode="auto">
          <a:xfrm>
            <a:off x="2859920" y="4019108"/>
            <a:ext cx="1554480" cy="170094"/>
          </a:xfrm>
          <a:prstGeom prst="rect">
            <a:avLst/>
          </a:prstGeom>
          <a:solidFill>
            <a:schemeClr val="bg1"/>
          </a:solidFill>
          <a:ln w="9525" algn="ctr">
            <a:solidFill>
              <a:schemeClr val="bg2"/>
            </a:solidFill>
            <a:miter lim="800000"/>
            <a:headEnd/>
            <a:tailEnd/>
          </a:ln>
          <a:effectLst/>
        </p:spPr>
        <p:txBody>
          <a:bodyPr anchor="ctr"/>
          <a:lstStyle/>
          <a:p>
            <a:pPr algn="ctr"/>
            <a:r>
              <a:rPr lang="es-PE" sz="1100" dirty="0">
                <a:solidFill>
                  <a:srgbClr val="000000"/>
                </a:solidFill>
              </a:rPr>
              <a:t>s/. 0.00</a:t>
            </a:r>
            <a:endParaRPr lang="es-ES" sz="1100" dirty="0">
              <a:solidFill>
                <a:srgbClr val="000000"/>
              </a:solidFill>
            </a:endParaRPr>
          </a:p>
        </p:txBody>
      </p:sp>
      <p:sp>
        <p:nvSpPr>
          <p:cNvPr id="76" name="AutoShape 47"/>
          <p:cNvSpPr>
            <a:spLocks noChangeAspect="1" noChangeArrowheads="1"/>
          </p:cNvSpPr>
          <p:nvPr/>
        </p:nvSpPr>
        <p:spPr bwMode="blackWhite">
          <a:xfrm>
            <a:off x="263032" y="3482416"/>
            <a:ext cx="503986" cy="1274400"/>
          </a:xfrm>
          <a:prstGeom prst="rightArrow">
            <a:avLst>
              <a:gd name="adj1" fmla="val 100000"/>
              <a:gd name="adj2" fmla="val 11009"/>
            </a:avLst>
          </a:prstGeom>
          <a:solidFill>
            <a:srgbClr val="969696"/>
          </a:solidFill>
          <a:ln w="12700">
            <a:noFill/>
            <a:miter lim="800000"/>
            <a:headEnd/>
            <a:tailEnd/>
          </a:ln>
          <a:effectLst>
            <a:outerShdw dist="35921" dir="2700000" algn="ctr" rotWithShape="0">
              <a:schemeClr val="bg2"/>
            </a:outerShdw>
          </a:effectLst>
        </p:spPr>
        <p:txBody>
          <a:bodyPr vert="vert270" anchor="ctr"/>
          <a:lstStyle/>
          <a:p>
            <a:pPr algn="ctr">
              <a:lnSpc>
                <a:spcPts val="1000"/>
              </a:lnSpc>
            </a:pPr>
            <a:r>
              <a:rPr lang="es-ES" sz="1100" b="1" noProof="1">
                <a:solidFill>
                  <a:srgbClr val="FFFFFF"/>
                </a:solidFill>
                <a:cs typeface="Arial" charset="0"/>
              </a:rPr>
              <a:t>Evaluación Riesgo Operacional</a:t>
            </a:r>
          </a:p>
        </p:txBody>
      </p:sp>
      <p:sp>
        <p:nvSpPr>
          <p:cNvPr id="77" name="AutoShape 179"/>
          <p:cNvSpPr>
            <a:spLocks noChangeArrowheads="1"/>
          </p:cNvSpPr>
          <p:nvPr/>
        </p:nvSpPr>
        <p:spPr bwMode="auto">
          <a:xfrm>
            <a:off x="4932039" y="3493021"/>
            <a:ext cx="4037169" cy="864000"/>
          </a:xfrm>
          <a:prstGeom prst="roundRect">
            <a:avLst>
              <a:gd name="adj" fmla="val 9481"/>
            </a:avLst>
          </a:prstGeom>
          <a:solidFill>
            <a:schemeClr val="accent1">
              <a:lumMod val="20000"/>
              <a:lumOff val="80000"/>
            </a:schemeClr>
          </a:solidFill>
          <a:ln w="9525" algn="ctr">
            <a:noFill/>
            <a:round/>
            <a:headEnd/>
            <a:tailEnd/>
          </a:ln>
          <a:effectLst/>
        </p:spPr>
        <p:txBody>
          <a:bodyPr wrap="none" anchor="ctr"/>
          <a:lstStyle/>
          <a:p>
            <a:endParaRPr lang="es-CL">
              <a:solidFill>
                <a:srgbClr val="002060"/>
              </a:solidFill>
            </a:endParaRPr>
          </a:p>
        </p:txBody>
      </p:sp>
      <p:sp>
        <p:nvSpPr>
          <p:cNvPr id="78" name="AutoShape 47"/>
          <p:cNvSpPr>
            <a:spLocks noChangeArrowheads="1"/>
          </p:cNvSpPr>
          <p:nvPr/>
        </p:nvSpPr>
        <p:spPr bwMode="blackWhite">
          <a:xfrm>
            <a:off x="4678512" y="3494523"/>
            <a:ext cx="353942" cy="864000"/>
          </a:xfrm>
          <a:prstGeom prst="rightArrow">
            <a:avLst>
              <a:gd name="adj1" fmla="val 100000"/>
              <a:gd name="adj2" fmla="val 11009"/>
            </a:avLst>
          </a:prstGeom>
          <a:solidFill>
            <a:srgbClr val="969696"/>
          </a:solidFill>
          <a:ln w="12700">
            <a:noFill/>
            <a:miter lim="800000"/>
            <a:headEnd/>
            <a:tailEnd/>
          </a:ln>
          <a:effectLst>
            <a:outerShdw dist="35921" dir="2700000" algn="ctr" rotWithShape="0">
              <a:schemeClr val="bg2"/>
            </a:outerShdw>
          </a:effectLst>
        </p:spPr>
        <p:txBody>
          <a:bodyPr vert="vert270" anchor="ctr"/>
          <a:lstStyle/>
          <a:p>
            <a:pPr algn="ctr">
              <a:lnSpc>
                <a:spcPts val="1000"/>
              </a:lnSpc>
            </a:pPr>
            <a:r>
              <a:rPr lang="es-ES" sz="1100" b="1" noProof="1">
                <a:solidFill>
                  <a:srgbClr val="FFFFFF"/>
                </a:solidFill>
                <a:cs typeface="Arial" charset="0"/>
              </a:rPr>
              <a:t>Impacto Reputacional</a:t>
            </a:r>
          </a:p>
        </p:txBody>
      </p:sp>
      <p:sp>
        <p:nvSpPr>
          <p:cNvPr id="79" name="Rectangle 18"/>
          <p:cNvSpPr>
            <a:spLocks noChangeArrowheads="1"/>
          </p:cNvSpPr>
          <p:nvPr/>
        </p:nvSpPr>
        <p:spPr bwMode="auto">
          <a:xfrm>
            <a:off x="8334310" y="3568288"/>
            <a:ext cx="548640" cy="170094"/>
          </a:xfrm>
          <a:prstGeom prst="rect">
            <a:avLst/>
          </a:prstGeom>
          <a:solidFill>
            <a:schemeClr val="bg1"/>
          </a:solidFill>
          <a:ln w="9525" algn="ctr">
            <a:solidFill>
              <a:schemeClr val="bg2"/>
            </a:solidFill>
            <a:miter lim="800000"/>
            <a:headEnd/>
            <a:tailEnd/>
          </a:ln>
          <a:effectLst/>
        </p:spPr>
        <p:txBody>
          <a:bodyPr anchor="ctr"/>
          <a:lstStyle/>
          <a:p>
            <a:pPr algn="ctr"/>
            <a:r>
              <a:rPr lang="es-PE" sz="1100" dirty="0">
                <a:solidFill>
                  <a:srgbClr val="002060"/>
                </a:solidFill>
              </a:rPr>
              <a:t>1</a:t>
            </a:r>
            <a:endParaRPr lang="es-ES" sz="1100" dirty="0">
              <a:solidFill>
                <a:srgbClr val="002060"/>
              </a:solidFill>
            </a:endParaRPr>
          </a:p>
        </p:txBody>
      </p:sp>
      <p:sp>
        <p:nvSpPr>
          <p:cNvPr id="80" name="Rounded Rectangle 38"/>
          <p:cNvSpPr/>
          <p:nvPr/>
        </p:nvSpPr>
        <p:spPr>
          <a:xfrm>
            <a:off x="5102950" y="3568288"/>
            <a:ext cx="3132000" cy="170094"/>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Afectación a Contrapartes</a:t>
            </a:r>
          </a:p>
        </p:txBody>
      </p:sp>
      <p:sp>
        <p:nvSpPr>
          <p:cNvPr id="81" name="Rectangle 18"/>
          <p:cNvSpPr>
            <a:spLocks noChangeArrowheads="1"/>
          </p:cNvSpPr>
          <p:nvPr/>
        </p:nvSpPr>
        <p:spPr bwMode="auto">
          <a:xfrm>
            <a:off x="5102950" y="3786445"/>
            <a:ext cx="3780000" cy="469509"/>
          </a:xfrm>
          <a:prstGeom prst="rect">
            <a:avLst/>
          </a:prstGeom>
          <a:solidFill>
            <a:schemeClr val="bg1"/>
          </a:solidFill>
          <a:ln w="9525" algn="ctr">
            <a:solidFill>
              <a:schemeClr val="bg2"/>
            </a:solidFill>
            <a:miter lim="800000"/>
            <a:headEnd/>
            <a:tailEnd/>
          </a:ln>
          <a:effectLst/>
        </p:spPr>
        <p:txBody>
          <a:bodyPr anchor="ctr"/>
          <a:lstStyle/>
          <a:p>
            <a:r>
              <a:rPr lang="es-ES" sz="1100" dirty="0">
                <a:solidFill>
                  <a:srgbClr val="000000"/>
                </a:solidFill>
              </a:rPr>
              <a:t>La exposición de la imagen es únicamente interna y limitada.</a:t>
            </a:r>
          </a:p>
        </p:txBody>
      </p:sp>
      <p:sp>
        <p:nvSpPr>
          <p:cNvPr id="82" name="Text Box 30"/>
          <p:cNvSpPr txBox="1">
            <a:spLocks noChangeArrowheads="1"/>
          </p:cNvSpPr>
          <p:nvPr/>
        </p:nvSpPr>
        <p:spPr bwMode="auto">
          <a:xfrm>
            <a:off x="190746" y="4838419"/>
            <a:ext cx="3996000" cy="276999"/>
          </a:xfrm>
          <a:prstGeom prst="rect">
            <a:avLst/>
          </a:prstGeom>
          <a:noFill/>
          <a:ln w="9525" algn="ctr">
            <a:noFill/>
            <a:miter lim="800000"/>
            <a:headEnd/>
            <a:tailEnd/>
          </a:ln>
          <a:effectLst/>
        </p:spPr>
        <p:txBody>
          <a:bodyPr wrap="square">
            <a:spAutoFit/>
          </a:bodyPr>
          <a:lstStyle/>
          <a:p>
            <a:pPr>
              <a:spcBef>
                <a:spcPct val="50000"/>
              </a:spcBef>
            </a:pPr>
            <a:r>
              <a:rPr lang="es-CL" sz="1200" b="1" i="1" dirty="0">
                <a:solidFill>
                  <a:srgbClr val="A3A3E0"/>
                </a:solidFill>
              </a:rPr>
              <a:t>Resultados valoración de controles / factores mitigantes</a:t>
            </a:r>
            <a:endParaRPr lang="es-ES" sz="1200" b="1" i="1" dirty="0">
              <a:solidFill>
                <a:srgbClr val="A3A3E0"/>
              </a:solidFill>
            </a:endParaRPr>
          </a:p>
        </p:txBody>
      </p:sp>
      <p:sp>
        <p:nvSpPr>
          <p:cNvPr id="86" name="AutoShape 179"/>
          <p:cNvSpPr>
            <a:spLocks noChangeArrowheads="1"/>
          </p:cNvSpPr>
          <p:nvPr/>
        </p:nvSpPr>
        <p:spPr bwMode="auto">
          <a:xfrm>
            <a:off x="4927319" y="4397238"/>
            <a:ext cx="4037169" cy="892800"/>
          </a:xfrm>
          <a:prstGeom prst="roundRect">
            <a:avLst>
              <a:gd name="adj" fmla="val 9481"/>
            </a:avLst>
          </a:prstGeom>
          <a:solidFill>
            <a:schemeClr val="accent1">
              <a:lumMod val="20000"/>
              <a:lumOff val="80000"/>
            </a:schemeClr>
          </a:solidFill>
          <a:ln w="9525" algn="ctr">
            <a:noFill/>
            <a:round/>
            <a:headEnd/>
            <a:tailEnd/>
          </a:ln>
          <a:effectLst/>
        </p:spPr>
        <p:txBody>
          <a:bodyPr wrap="none" anchor="ctr"/>
          <a:lstStyle/>
          <a:p>
            <a:endParaRPr lang="es-CL">
              <a:solidFill>
                <a:srgbClr val="002060"/>
              </a:solidFill>
            </a:endParaRPr>
          </a:p>
        </p:txBody>
      </p:sp>
      <p:sp>
        <p:nvSpPr>
          <p:cNvPr id="87" name="AutoShape 47"/>
          <p:cNvSpPr>
            <a:spLocks noChangeArrowheads="1"/>
          </p:cNvSpPr>
          <p:nvPr/>
        </p:nvSpPr>
        <p:spPr bwMode="blackWhite">
          <a:xfrm>
            <a:off x="4673792" y="4398740"/>
            <a:ext cx="352800" cy="892800"/>
          </a:xfrm>
          <a:prstGeom prst="rightArrow">
            <a:avLst>
              <a:gd name="adj1" fmla="val 100000"/>
              <a:gd name="adj2" fmla="val 11009"/>
            </a:avLst>
          </a:prstGeom>
          <a:solidFill>
            <a:srgbClr val="969696"/>
          </a:solidFill>
          <a:ln w="12700">
            <a:noFill/>
            <a:miter lim="800000"/>
            <a:headEnd/>
            <a:tailEnd/>
          </a:ln>
          <a:effectLst>
            <a:outerShdw dist="35921" dir="2700000" algn="ctr" rotWithShape="0">
              <a:schemeClr val="bg2"/>
            </a:outerShdw>
          </a:effectLst>
        </p:spPr>
        <p:txBody>
          <a:bodyPr vert="vert270" anchor="ctr"/>
          <a:lstStyle/>
          <a:p>
            <a:pPr algn="ctr">
              <a:lnSpc>
                <a:spcPts val="1000"/>
              </a:lnSpc>
            </a:pPr>
            <a:r>
              <a:rPr lang="es-ES" sz="1100" b="1" noProof="1">
                <a:solidFill>
                  <a:srgbClr val="FFFFFF"/>
                </a:solidFill>
                <a:cs typeface="Arial" charset="0"/>
              </a:rPr>
              <a:t>Cuestionarios</a:t>
            </a:r>
          </a:p>
        </p:txBody>
      </p:sp>
      <p:sp>
        <p:nvSpPr>
          <p:cNvPr id="89" name="Rounded Rectangle 38"/>
          <p:cNvSpPr/>
          <p:nvPr/>
        </p:nvSpPr>
        <p:spPr>
          <a:xfrm>
            <a:off x="5098230" y="4472505"/>
            <a:ext cx="3132000" cy="170094"/>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Criterios de Evaluación</a:t>
            </a:r>
          </a:p>
        </p:txBody>
      </p:sp>
      <p:sp>
        <p:nvSpPr>
          <p:cNvPr id="90" name="AutoShape 179"/>
          <p:cNvSpPr>
            <a:spLocks noChangeArrowheads="1"/>
          </p:cNvSpPr>
          <p:nvPr/>
        </p:nvSpPr>
        <p:spPr bwMode="auto">
          <a:xfrm>
            <a:off x="534831" y="5060900"/>
            <a:ext cx="4037169" cy="864000"/>
          </a:xfrm>
          <a:prstGeom prst="roundRect">
            <a:avLst>
              <a:gd name="adj" fmla="val 9481"/>
            </a:avLst>
          </a:prstGeom>
          <a:solidFill>
            <a:schemeClr val="accent1">
              <a:lumMod val="20000"/>
              <a:lumOff val="80000"/>
            </a:schemeClr>
          </a:solidFill>
          <a:ln w="9525" algn="ctr">
            <a:noFill/>
            <a:round/>
            <a:headEnd/>
            <a:tailEnd/>
          </a:ln>
          <a:effectLst/>
        </p:spPr>
        <p:txBody>
          <a:bodyPr wrap="none" anchor="ctr"/>
          <a:lstStyle/>
          <a:p>
            <a:endParaRPr lang="es-CL">
              <a:solidFill>
                <a:srgbClr val="002060"/>
              </a:solidFill>
            </a:endParaRPr>
          </a:p>
        </p:txBody>
      </p:sp>
      <p:sp>
        <p:nvSpPr>
          <p:cNvPr id="91" name="AutoShape 47"/>
          <p:cNvSpPr>
            <a:spLocks noChangeArrowheads="1"/>
          </p:cNvSpPr>
          <p:nvPr/>
        </p:nvSpPr>
        <p:spPr bwMode="blackWhite">
          <a:xfrm>
            <a:off x="281304" y="5062402"/>
            <a:ext cx="353942" cy="864000"/>
          </a:xfrm>
          <a:prstGeom prst="rightArrow">
            <a:avLst>
              <a:gd name="adj1" fmla="val 100000"/>
              <a:gd name="adj2" fmla="val 11009"/>
            </a:avLst>
          </a:prstGeom>
          <a:solidFill>
            <a:srgbClr val="969696"/>
          </a:solidFill>
          <a:ln w="12700">
            <a:noFill/>
            <a:miter lim="800000"/>
            <a:headEnd/>
            <a:tailEnd/>
          </a:ln>
          <a:effectLst>
            <a:outerShdw dist="35921" dir="2700000" algn="ctr" rotWithShape="0">
              <a:schemeClr val="bg2"/>
            </a:outerShdw>
          </a:effectLst>
        </p:spPr>
        <p:txBody>
          <a:bodyPr vert="vert270" anchor="ctr"/>
          <a:lstStyle/>
          <a:p>
            <a:pPr algn="ctr">
              <a:lnSpc>
                <a:spcPts val="1000"/>
              </a:lnSpc>
            </a:pPr>
            <a:r>
              <a:rPr lang="es-ES" sz="1100" b="1" noProof="1">
                <a:solidFill>
                  <a:srgbClr val="FFFFFF"/>
                </a:solidFill>
                <a:cs typeface="Arial" charset="0"/>
              </a:rPr>
              <a:t>Evaluación de Controles</a:t>
            </a:r>
          </a:p>
        </p:txBody>
      </p:sp>
      <p:sp>
        <p:nvSpPr>
          <p:cNvPr id="92" name="Rectangle 18"/>
          <p:cNvSpPr>
            <a:spLocks noChangeArrowheads="1"/>
          </p:cNvSpPr>
          <p:nvPr/>
        </p:nvSpPr>
        <p:spPr bwMode="auto">
          <a:xfrm>
            <a:off x="3937102" y="5136167"/>
            <a:ext cx="548640" cy="170094"/>
          </a:xfrm>
          <a:prstGeom prst="rect">
            <a:avLst/>
          </a:prstGeom>
          <a:solidFill>
            <a:schemeClr val="bg1"/>
          </a:solidFill>
          <a:ln w="9525" algn="ctr">
            <a:solidFill>
              <a:schemeClr val="bg2"/>
            </a:solidFill>
            <a:miter lim="800000"/>
            <a:headEnd/>
            <a:tailEnd/>
          </a:ln>
          <a:effectLst/>
        </p:spPr>
        <p:txBody>
          <a:bodyPr anchor="ctr"/>
          <a:lstStyle/>
          <a:p>
            <a:pPr algn="ctr"/>
            <a:r>
              <a:rPr lang="es-PE" sz="1100" dirty="0">
                <a:solidFill>
                  <a:srgbClr val="002060"/>
                </a:solidFill>
              </a:rPr>
              <a:t>1</a:t>
            </a:r>
            <a:endParaRPr lang="es-ES" sz="1100" dirty="0">
              <a:solidFill>
                <a:srgbClr val="002060"/>
              </a:solidFill>
            </a:endParaRPr>
          </a:p>
        </p:txBody>
      </p:sp>
      <p:sp>
        <p:nvSpPr>
          <p:cNvPr id="93" name="Rounded Rectangle 38"/>
          <p:cNvSpPr/>
          <p:nvPr/>
        </p:nvSpPr>
        <p:spPr>
          <a:xfrm>
            <a:off x="705742" y="5136167"/>
            <a:ext cx="3132000" cy="170094"/>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Controles asociados al riesgo</a:t>
            </a:r>
          </a:p>
        </p:txBody>
      </p:sp>
      <p:sp>
        <p:nvSpPr>
          <p:cNvPr id="94" name="Rectangle 18"/>
          <p:cNvSpPr>
            <a:spLocks noChangeArrowheads="1"/>
          </p:cNvSpPr>
          <p:nvPr/>
        </p:nvSpPr>
        <p:spPr bwMode="auto">
          <a:xfrm>
            <a:off x="5102950" y="4685678"/>
            <a:ext cx="3780000" cy="469509"/>
          </a:xfrm>
          <a:prstGeom prst="rect">
            <a:avLst/>
          </a:prstGeom>
          <a:solidFill>
            <a:schemeClr val="bg1"/>
          </a:solidFill>
          <a:ln w="9525" algn="ctr">
            <a:solidFill>
              <a:schemeClr val="bg2"/>
            </a:solidFill>
            <a:miter lim="800000"/>
            <a:headEnd/>
            <a:tailEnd/>
          </a:ln>
          <a:effectLst/>
        </p:spPr>
        <p:txBody>
          <a:bodyPr anchor="ctr"/>
          <a:lstStyle/>
          <a:p>
            <a:r>
              <a:rPr lang="es-ES" sz="1100" dirty="0"/>
              <a:t>Se evalúa la responsabilidad de la elaboración de las actas y la confidencialidad de lo acordado en los comités sólo hasta las firmas de los miembros de la GGA Inversiones.</a:t>
            </a:r>
            <a:endParaRPr lang="es-ES" sz="1100" dirty="0">
              <a:solidFill>
                <a:srgbClr val="000000"/>
              </a:solidFill>
            </a:endParaRPr>
          </a:p>
        </p:txBody>
      </p:sp>
      <p:sp>
        <p:nvSpPr>
          <p:cNvPr id="95" name="Rectangle 18"/>
          <p:cNvSpPr>
            <a:spLocks noChangeArrowheads="1"/>
          </p:cNvSpPr>
          <p:nvPr/>
        </p:nvSpPr>
        <p:spPr bwMode="auto">
          <a:xfrm>
            <a:off x="705742" y="5357175"/>
            <a:ext cx="3780000" cy="469509"/>
          </a:xfrm>
          <a:prstGeom prst="rect">
            <a:avLst/>
          </a:prstGeom>
          <a:solidFill>
            <a:schemeClr val="bg1"/>
          </a:solidFill>
          <a:ln w="9525" algn="ctr">
            <a:solidFill>
              <a:schemeClr val="bg2"/>
            </a:solidFill>
            <a:miter lim="800000"/>
            <a:headEnd/>
            <a:tailEnd/>
          </a:ln>
          <a:effectLst/>
        </p:spPr>
        <p:txBody>
          <a:bodyPr anchor="ctr"/>
          <a:lstStyle/>
          <a:p>
            <a:r>
              <a:rPr lang="es-ES" sz="1100" dirty="0"/>
              <a:t>Las actas con los resultados de los Comités de Selección de Activos e Inversiones son elaboradas y distribuidas únicamente por la Gerencia de Selección de Activos.</a:t>
            </a:r>
          </a:p>
        </p:txBody>
      </p:sp>
      <p:sp>
        <p:nvSpPr>
          <p:cNvPr id="96" name="Rounded Rectangle 9"/>
          <p:cNvSpPr/>
          <p:nvPr/>
        </p:nvSpPr>
        <p:spPr>
          <a:xfrm>
            <a:off x="6716066" y="1111764"/>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Categoría  de Riesgo Nivel I</a:t>
            </a:r>
          </a:p>
        </p:txBody>
      </p:sp>
      <p:sp>
        <p:nvSpPr>
          <p:cNvPr id="97" name="Rectangle 18"/>
          <p:cNvSpPr>
            <a:spLocks noChangeArrowheads="1"/>
          </p:cNvSpPr>
          <p:nvPr/>
        </p:nvSpPr>
        <p:spPr bwMode="auto">
          <a:xfrm>
            <a:off x="6716066" y="1325572"/>
            <a:ext cx="2286000" cy="270000"/>
          </a:xfrm>
          <a:prstGeom prst="rect">
            <a:avLst/>
          </a:prstGeom>
          <a:noFill/>
          <a:ln w="9525" algn="ctr">
            <a:solidFill>
              <a:schemeClr val="bg2"/>
            </a:solidFill>
            <a:miter lim="800000"/>
            <a:headEnd/>
            <a:tailEnd/>
          </a:ln>
          <a:effectLst/>
        </p:spPr>
        <p:txBody>
          <a:bodyPr anchor="ctr"/>
          <a:lstStyle/>
          <a:p>
            <a:pPr>
              <a:lnSpc>
                <a:spcPts val="1000"/>
              </a:lnSpc>
            </a:pPr>
            <a:r>
              <a:rPr lang="es-ES" sz="1100" dirty="0">
                <a:solidFill>
                  <a:srgbClr val="000000"/>
                </a:solidFill>
              </a:rPr>
              <a:t>Fraude externo</a:t>
            </a:r>
          </a:p>
        </p:txBody>
      </p:sp>
      <p:sp>
        <p:nvSpPr>
          <p:cNvPr id="98" name="Rounded Rectangle 11"/>
          <p:cNvSpPr/>
          <p:nvPr/>
        </p:nvSpPr>
        <p:spPr>
          <a:xfrm>
            <a:off x="6716066" y="1664503"/>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Categoría  de Riesgo Nivel II</a:t>
            </a:r>
          </a:p>
        </p:txBody>
      </p:sp>
      <p:sp>
        <p:nvSpPr>
          <p:cNvPr id="99" name="Rectangle 18"/>
          <p:cNvSpPr>
            <a:spLocks noChangeArrowheads="1"/>
          </p:cNvSpPr>
          <p:nvPr/>
        </p:nvSpPr>
        <p:spPr bwMode="auto">
          <a:xfrm>
            <a:off x="6716066" y="1877089"/>
            <a:ext cx="2286000" cy="270000"/>
          </a:xfrm>
          <a:prstGeom prst="rect">
            <a:avLst/>
          </a:prstGeom>
          <a:noFill/>
          <a:ln w="9525" algn="ctr">
            <a:solidFill>
              <a:schemeClr val="bg2"/>
            </a:solidFill>
            <a:miter lim="800000"/>
            <a:headEnd/>
            <a:tailEnd/>
          </a:ln>
          <a:effectLst/>
        </p:spPr>
        <p:txBody>
          <a:bodyPr anchor="ctr"/>
          <a:lstStyle/>
          <a:p>
            <a:r>
              <a:rPr lang="es-ES" sz="1100" dirty="0">
                <a:solidFill>
                  <a:srgbClr val="000000"/>
                </a:solidFill>
              </a:rPr>
              <a:t>Seguridad de los sistemas</a:t>
            </a:r>
          </a:p>
        </p:txBody>
      </p:sp>
      <p:sp>
        <p:nvSpPr>
          <p:cNvPr id="100" name="Rounded Rectangle 14"/>
          <p:cNvSpPr/>
          <p:nvPr/>
        </p:nvSpPr>
        <p:spPr>
          <a:xfrm>
            <a:off x="6716066" y="2223551"/>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Categoría  de Riesgo Nivel III</a:t>
            </a:r>
          </a:p>
        </p:txBody>
      </p:sp>
      <p:sp>
        <p:nvSpPr>
          <p:cNvPr id="101" name="Rectangle 18"/>
          <p:cNvSpPr>
            <a:spLocks noChangeArrowheads="1"/>
          </p:cNvSpPr>
          <p:nvPr/>
        </p:nvSpPr>
        <p:spPr bwMode="auto">
          <a:xfrm>
            <a:off x="6716066" y="2434321"/>
            <a:ext cx="2286000" cy="270000"/>
          </a:xfrm>
          <a:prstGeom prst="rect">
            <a:avLst/>
          </a:prstGeom>
          <a:noFill/>
          <a:ln w="9525" algn="ctr">
            <a:solidFill>
              <a:schemeClr val="bg2"/>
            </a:solidFill>
            <a:miter lim="800000"/>
            <a:headEnd/>
            <a:tailEnd/>
          </a:ln>
          <a:effectLst/>
        </p:spPr>
        <p:txBody>
          <a:bodyPr anchor="ctr"/>
          <a:lstStyle/>
          <a:p>
            <a:r>
              <a:rPr lang="es-ES" sz="1100" dirty="0">
                <a:solidFill>
                  <a:srgbClr val="000000"/>
                </a:solidFill>
              </a:rPr>
              <a:t>Robo de información</a:t>
            </a:r>
          </a:p>
        </p:txBody>
      </p:sp>
      <p:sp>
        <p:nvSpPr>
          <p:cNvPr id="102" name="Rounded Rectangle 14"/>
          <p:cNvSpPr/>
          <p:nvPr/>
        </p:nvSpPr>
        <p:spPr>
          <a:xfrm>
            <a:off x="6716066" y="2768330"/>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Origen del Riesgo</a:t>
            </a:r>
          </a:p>
        </p:txBody>
      </p:sp>
      <p:sp>
        <p:nvSpPr>
          <p:cNvPr id="103" name="Rectangle 18"/>
          <p:cNvSpPr>
            <a:spLocks noChangeArrowheads="1"/>
          </p:cNvSpPr>
          <p:nvPr/>
        </p:nvSpPr>
        <p:spPr bwMode="auto">
          <a:xfrm>
            <a:off x="6716066" y="2983595"/>
            <a:ext cx="2286000" cy="270000"/>
          </a:xfrm>
          <a:prstGeom prst="rect">
            <a:avLst/>
          </a:prstGeom>
          <a:noFill/>
          <a:ln w="9525" algn="ctr">
            <a:solidFill>
              <a:schemeClr val="bg2"/>
            </a:solidFill>
            <a:miter lim="800000"/>
            <a:headEnd/>
            <a:tailEnd/>
          </a:ln>
          <a:effectLst/>
        </p:spPr>
        <p:txBody>
          <a:bodyPr anchor="ctr"/>
          <a:lstStyle/>
          <a:p>
            <a:r>
              <a:rPr lang="es-PE" sz="1100" dirty="0">
                <a:solidFill>
                  <a:srgbClr val="000000"/>
                </a:solidFill>
              </a:rPr>
              <a:t>Tecnología / Evento Externo</a:t>
            </a:r>
            <a:endParaRPr lang="es-ES" sz="1100" dirty="0">
              <a:solidFill>
                <a:srgbClr val="000000"/>
              </a:solidFill>
            </a:endParaRPr>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dirty="0"/>
              <a:t>Anexo: Ficha Individual Riesgos Operacionales</a:t>
            </a:r>
          </a:p>
        </p:txBody>
      </p:sp>
      <p:sp>
        <p:nvSpPr>
          <p:cNvPr id="4" name="Rounded Rectangle 3"/>
          <p:cNvSpPr/>
          <p:nvPr/>
        </p:nvSpPr>
        <p:spPr>
          <a:xfrm>
            <a:off x="227770" y="764704"/>
            <a:ext cx="383790" cy="274320"/>
          </a:xfrm>
          <a:prstGeom prst="roundRect">
            <a:avLst/>
          </a:prstGeom>
          <a:solidFill>
            <a:srgbClr val="DB0613"/>
          </a:solidFill>
          <a:ln w="9525" algn="ctr">
            <a:noFill/>
            <a:miter lim="800000"/>
            <a:headEnd/>
            <a:tailEnd/>
          </a:ln>
          <a:effectLst/>
        </p:spPr>
        <p:txBody>
          <a:bodyPr anchor="ctr"/>
          <a:lstStyle/>
          <a:p>
            <a:pPr algn="ctr">
              <a:lnSpc>
                <a:spcPct val="80000"/>
              </a:lnSpc>
            </a:pPr>
            <a:r>
              <a:rPr lang="es-CL" sz="1200" b="1" dirty="0">
                <a:solidFill>
                  <a:srgbClr val="FFFFFF"/>
                </a:solidFill>
                <a:cs typeface="Arial" pitchFamily="34" charset="0"/>
              </a:rPr>
              <a:t>20</a:t>
            </a:r>
          </a:p>
        </p:txBody>
      </p:sp>
      <p:sp>
        <p:nvSpPr>
          <p:cNvPr id="5" name="Rectangle 18"/>
          <p:cNvSpPr>
            <a:spLocks noChangeArrowheads="1"/>
          </p:cNvSpPr>
          <p:nvPr/>
        </p:nvSpPr>
        <p:spPr bwMode="auto">
          <a:xfrm>
            <a:off x="227770" y="2548229"/>
            <a:ext cx="6400800" cy="708660"/>
          </a:xfrm>
          <a:prstGeom prst="rect">
            <a:avLst/>
          </a:prstGeom>
          <a:noFill/>
          <a:ln w="9525" algn="ctr">
            <a:solidFill>
              <a:schemeClr val="bg2"/>
            </a:solidFill>
            <a:miter lim="800000"/>
            <a:headEnd/>
            <a:tailEnd/>
          </a:ln>
          <a:effectLst/>
        </p:spPr>
        <p:txBody>
          <a:bodyPr/>
          <a:lstStyle/>
          <a:p>
            <a:r>
              <a:rPr lang="es-ES" sz="1100" dirty="0"/>
              <a:t>Esta situación se da  cuando el Gerente de Selección de Activos y/o los Analistas de Inversión se ven imposibilitados de realizar sus tareas diarias, por ejemplo el análisis de inversión, a causa del poco ancho de banda o de la caída total del servicio de internet.</a:t>
            </a:r>
          </a:p>
        </p:txBody>
      </p:sp>
      <p:sp>
        <p:nvSpPr>
          <p:cNvPr id="8" name="Rounded Rectangle 7"/>
          <p:cNvSpPr/>
          <p:nvPr/>
        </p:nvSpPr>
        <p:spPr>
          <a:xfrm>
            <a:off x="652842" y="764704"/>
            <a:ext cx="8321040" cy="274320"/>
          </a:xfrm>
          <a:prstGeom prst="roundRect">
            <a:avLst/>
          </a:prstGeom>
          <a:solidFill>
            <a:srgbClr val="DB0613"/>
          </a:solidFill>
          <a:ln w="9525" algn="ctr">
            <a:noFill/>
            <a:miter lim="800000"/>
            <a:headEnd/>
            <a:tailEnd/>
          </a:ln>
          <a:effectLst/>
        </p:spPr>
        <p:txBody>
          <a:bodyPr anchor="ctr"/>
          <a:lstStyle/>
          <a:p>
            <a:pPr>
              <a:lnSpc>
                <a:spcPct val="80000"/>
              </a:lnSpc>
            </a:pPr>
            <a:r>
              <a:rPr lang="es-ES" sz="1200" dirty="0">
                <a:solidFill>
                  <a:schemeClr val="bg1"/>
                </a:solidFill>
              </a:rPr>
              <a:t>Falla en los equipos de IT / telecomunicaciones con tiempo de inactividad de los mismos. Falla en equipos de software.</a:t>
            </a:r>
          </a:p>
        </p:txBody>
      </p:sp>
      <p:sp>
        <p:nvSpPr>
          <p:cNvPr id="9" name="Rounded Rectangle 8"/>
          <p:cNvSpPr/>
          <p:nvPr/>
        </p:nvSpPr>
        <p:spPr>
          <a:xfrm>
            <a:off x="227770" y="2307916"/>
            <a:ext cx="64008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Descripción</a:t>
            </a:r>
          </a:p>
        </p:txBody>
      </p:sp>
      <p:sp>
        <p:nvSpPr>
          <p:cNvPr id="17" name="Rounded Rectangle 16"/>
          <p:cNvSpPr/>
          <p:nvPr/>
        </p:nvSpPr>
        <p:spPr>
          <a:xfrm>
            <a:off x="216583" y="1110038"/>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Macroproceso</a:t>
            </a:r>
          </a:p>
        </p:txBody>
      </p:sp>
      <p:sp>
        <p:nvSpPr>
          <p:cNvPr id="18" name="Rectangle 18"/>
          <p:cNvSpPr>
            <a:spLocks noChangeArrowheads="1"/>
          </p:cNvSpPr>
          <p:nvPr/>
        </p:nvSpPr>
        <p:spPr bwMode="auto">
          <a:xfrm>
            <a:off x="2568409" y="1110038"/>
            <a:ext cx="3877200" cy="182880"/>
          </a:xfrm>
          <a:prstGeom prst="rect">
            <a:avLst/>
          </a:prstGeom>
          <a:noFill/>
          <a:ln w="9525" algn="ctr">
            <a:solidFill>
              <a:schemeClr val="bg2"/>
            </a:solidFill>
            <a:miter lim="800000"/>
            <a:headEnd/>
            <a:tailEnd/>
          </a:ln>
          <a:effectLst/>
        </p:spPr>
        <p:txBody>
          <a:bodyPr anchor="ctr"/>
          <a:lstStyle/>
          <a:p>
            <a:r>
              <a:rPr lang="es-ES" sz="1100" dirty="0">
                <a:solidFill>
                  <a:srgbClr val="000000"/>
                </a:solidFill>
              </a:rPr>
              <a:t>Administración de Portafolio de Inversiones</a:t>
            </a:r>
          </a:p>
        </p:txBody>
      </p:sp>
      <p:sp>
        <p:nvSpPr>
          <p:cNvPr id="19" name="Rounded Rectangle 18"/>
          <p:cNvSpPr/>
          <p:nvPr/>
        </p:nvSpPr>
        <p:spPr>
          <a:xfrm>
            <a:off x="216583" y="1339045"/>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Proceso</a:t>
            </a:r>
          </a:p>
        </p:txBody>
      </p:sp>
      <p:sp>
        <p:nvSpPr>
          <p:cNvPr id="20" name="Rectangle 18"/>
          <p:cNvSpPr>
            <a:spLocks noChangeArrowheads="1"/>
          </p:cNvSpPr>
          <p:nvPr/>
        </p:nvSpPr>
        <p:spPr bwMode="auto">
          <a:xfrm>
            <a:off x="2568409" y="1339045"/>
            <a:ext cx="3877200" cy="182880"/>
          </a:xfrm>
          <a:prstGeom prst="rect">
            <a:avLst/>
          </a:prstGeom>
          <a:noFill/>
          <a:ln w="9525" algn="ctr">
            <a:solidFill>
              <a:schemeClr val="bg2"/>
            </a:solidFill>
            <a:miter lim="800000"/>
            <a:headEnd/>
            <a:tailEnd/>
          </a:ln>
          <a:effectLst/>
        </p:spPr>
        <p:txBody>
          <a:bodyPr anchor="ctr"/>
          <a:lstStyle/>
          <a:p>
            <a:r>
              <a:rPr lang="es-ES" sz="1100" dirty="0">
                <a:solidFill>
                  <a:srgbClr val="000000"/>
                </a:solidFill>
              </a:rPr>
              <a:t>Administración de Fondos</a:t>
            </a:r>
          </a:p>
        </p:txBody>
      </p:sp>
      <p:sp>
        <p:nvSpPr>
          <p:cNvPr id="59" name="Rounded Rectangle 58"/>
          <p:cNvSpPr/>
          <p:nvPr/>
        </p:nvSpPr>
        <p:spPr>
          <a:xfrm>
            <a:off x="216583" y="1579694"/>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Subproceso</a:t>
            </a:r>
          </a:p>
        </p:txBody>
      </p:sp>
      <p:sp>
        <p:nvSpPr>
          <p:cNvPr id="60" name="Rectangle 18"/>
          <p:cNvSpPr>
            <a:spLocks noChangeArrowheads="1"/>
          </p:cNvSpPr>
          <p:nvPr/>
        </p:nvSpPr>
        <p:spPr bwMode="auto">
          <a:xfrm>
            <a:off x="2568409" y="1579694"/>
            <a:ext cx="3875799" cy="182880"/>
          </a:xfrm>
          <a:prstGeom prst="rect">
            <a:avLst/>
          </a:prstGeom>
          <a:noFill/>
          <a:ln w="9525" algn="ctr">
            <a:solidFill>
              <a:schemeClr val="bg2"/>
            </a:solidFill>
            <a:miter lim="800000"/>
            <a:headEnd/>
            <a:tailEnd/>
          </a:ln>
          <a:effectLst/>
        </p:spPr>
        <p:txBody>
          <a:bodyPr anchor="ctr"/>
          <a:lstStyle/>
          <a:p>
            <a:r>
              <a:rPr lang="es-ES" sz="1100" dirty="0"/>
              <a:t>Evaluación de oportunidades de inversión</a:t>
            </a:r>
            <a:endParaRPr lang="es-ES" sz="1100" dirty="0">
              <a:solidFill>
                <a:srgbClr val="000000"/>
              </a:solidFill>
            </a:endParaRPr>
          </a:p>
        </p:txBody>
      </p:sp>
      <p:sp>
        <p:nvSpPr>
          <p:cNvPr id="61" name="Rounded Rectangle 60"/>
          <p:cNvSpPr/>
          <p:nvPr/>
        </p:nvSpPr>
        <p:spPr>
          <a:xfrm>
            <a:off x="226806" y="1826440"/>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Línea de Negocio</a:t>
            </a:r>
          </a:p>
        </p:txBody>
      </p:sp>
      <p:sp>
        <p:nvSpPr>
          <p:cNvPr id="63" name="Rounded Rectangle 62"/>
          <p:cNvSpPr/>
          <p:nvPr/>
        </p:nvSpPr>
        <p:spPr>
          <a:xfrm>
            <a:off x="226806" y="2079535"/>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Responsable</a:t>
            </a:r>
          </a:p>
        </p:txBody>
      </p:sp>
      <p:sp>
        <p:nvSpPr>
          <p:cNvPr id="65" name="Rectangle 18"/>
          <p:cNvSpPr>
            <a:spLocks noChangeArrowheads="1"/>
          </p:cNvSpPr>
          <p:nvPr/>
        </p:nvSpPr>
        <p:spPr bwMode="auto">
          <a:xfrm>
            <a:off x="2568409" y="1826440"/>
            <a:ext cx="3875799" cy="182880"/>
          </a:xfrm>
          <a:prstGeom prst="rect">
            <a:avLst/>
          </a:prstGeom>
          <a:noFill/>
          <a:ln w="9525" algn="ctr">
            <a:solidFill>
              <a:schemeClr val="bg2"/>
            </a:solidFill>
            <a:miter lim="800000"/>
            <a:headEnd/>
            <a:tailEnd/>
          </a:ln>
          <a:effectLst/>
        </p:spPr>
        <p:txBody>
          <a:bodyPr anchor="ctr"/>
          <a:lstStyle/>
          <a:p>
            <a:r>
              <a:rPr lang="es-ES" sz="1100" dirty="0">
                <a:solidFill>
                  <a:srgbClr val="000000"/>
                </a:solidFill>
              </a:rPr>
              <a:t>Negociación y Ventas</a:t>
            </a:r>
          </a:p>
        </p:txBody>
      </p:sp>
      <p:sp>
        <p:nvSpPr>
          <p:cNvPr id="66" name="Rectangle 18"/>
          <p:cNvSpPr>
            <a:spLocks noChangeArrowheads="1"/>
          </p:cNvSpPr>
          <p:nvPr/>
        </p:nvSpPr>
        <p:spPr bwMode="auto">
          <a:xfrm>
            <a:off x="2555776" y="2079535"/>
            <a:ext cx="3875799" cy="182880"/>
          </a:xfrm>
          <a:prstGeom prst="rect">
            <a:avLst/>
          </a:prstGeom>
          <a:noFill/>
          <a:ln w="9525" algn="ctr">
            <a:solidFill>
              <a:schemeClr val="bg2"/>
            </a:solidFill>
            <a:miter lim="800000"/>
            <a:headEnd/>
            <a:tailEnd/>
          </a:ln>
          <a:effectLst/>
        </p:spPr>
        <p:txBody>
          <a:bodyPr anchor="ctr"/>
          <a:lstStyle/>
          <a:p>
            <a:r>
              <a:rPr lang="es-ES" sz="1100" dirty="0">
                <a:solidFill>
                  <a:srgbClr val="000000"/>
                </a:solidFill>
              </a:rPr>
              <a:t>Gerente de Selección de Activos</a:t>
            </a:r>
          </a:p>
        </p:txBody>
      </p:sp>
      <p:sp>
        <p:nvSpPr>
          <p:cNvPr id="58" name="AutoShape 179"/>
          <p:cNvSpPr>
            <a:spLocks noChangeArrowheads="1"/>
          </p:cNvSpPr>
          <p:nvPr/>
        </p:nvSpPr>
        <p:spPr bwMode="auto">
          <a:xfrm>
            <a:off x="611560" y="3482416"/>
            <a:ext cx="3960812" cy="1275707"/>
          </a:xfrm>
          <a:prstGeom prst="roundRect">
            <a:avLst>
              <a:gd name="adj" fmla="val 9481"/>
            </a:avLst>
          </a:prstGeom>
          <a:solidFill>
            <a:schemeClr val="accent1">
              <a:lumMod val="20000"/>
              <a:lumOff val="80000"/>
            </a:schemeClr>
          </a:solidFill>
          <a:ln w="9525" algn="ctr">
            <a:noFill/>
            <a:round/>
            <a:headEnd/>
            <a:tailEnd/>
          </a:ln>
          <a:effectLst/>
        </p:spPr>
        <p:txBody>
          <a:bodyPr wrap="none" anchor="ctr"/>
          <a:lstStyle/>
          <a:p>
            <a:endParaRPr lang="es-CL">
              <a:solidFill>
                <a:srgbClr val="002060"/>
              </a:solidFill>
            </a:endParaRPr>
          </a:p>
        </p:txBody>
      </p:sp>
      <p:sp>
        <p:nvSpPr>
          <p:cNvPr id="62" name="Text Box 30"/>
          <p:cNvSpPr txBox="1">
            <a:spLocks noChangeArrowheads="1"/>
          </p:cNvSpPr>
          <p:nvPr/>
        </p:nvSpPr>
        <p:spPr bwMode="auto">
          <a:xfrm>
            <a:off x="190747" y="3259373"/>
            <a:ext cx="3671888" cy="276999"/>
          </a:xfrm>
          <a:prstGeom prst="rect">
            <a:avLst/>
          </a:prstGeom>
          <a:noFill/>
          <a:ln w="9525" algn="ctr">
            <a:noFill/>
            <a:miter lim="800000"/>
            <a:headEnd/>
            <a:tailEnd/>
          </a:ln>
          <a:effectLst/>
        </p:spPr>
        <p:txBody>
          <a:bodyPr>
            <a:spAutoFit/>
          </a:bodyPr>
          <a:lstStyle/>
          <a:p>
            <a:pPr>
              <a:spcBef>
                <a:spcPct val="50000"/>
              </a:spcBef>
            </a:pPr>
            <a:r>
              <a:rPr lang="es-CL" sz="1200" b="1" i="1" dirty="0">
                <a:solidFill>
                  <a:srgbClr val="A3A3E0"/>
                </a:solidFill>
              </a:rPr>
              <a:t>Resultados valoración de riesgos</a:t>
            </a:r>
            <a:endParaRPr lang="es-ES" sz="1200" b="1" i="1" dirty="0">
              <a:solidFill>
                <a:srgbClr val="A3A3E0"/>
              </a:solidFill>
            </a:endParaRPr>
          </a:p>
        </p:txBody>
      </p:sp>
      <p:sp>
        <p:nvSpPr>
          <p:cNvPr id="64" name="Rounded Rectangle 21"/>
          <p:cNvSpPr/>
          <p:nvPr/>
        </p:nvSpPr>
        <p:spPr>
          <a:xfrm>
            <a:off x="902959" y="4255955"/>
            <a:ext cx="1920240" cy="170094"/>
          </a:xfrm>
          <a:prstGeom prst="roundRect">
            <a:avLst/>
          </a:prstGeom>
          <a:solidFill>
            <a:srgbClr val="DB0613"/>
          </a:solidFill>
          <a:ln w="9525" algn="ctr">
            <a:noFill/>
            <a:miter lim="800000"/>
            <a:headEnd/>
            <a:tailEnd/>
          </a:ln>
          <a:effectLst/>
        </p:spPr>
        <p:txBody>
          <a:bodyPr tIns="91440" anchor="ctr"/>
          <a:lstStyle/>
          <a:p>
            <a:pPr>
              <a:lnSpc>
                <a:spcPct val="80000"/>
              </a:lnSpc>
            </a:pPr>
            <a:r>
              <a:rPr lang="es-CL" sz="1100" b="1" dirty="0">
                <a:solidFill>
                  <a:srgbClr val="FFFFFF"/>
                </a:solidFill>
                <a:cs typeface="Arial" pitchFamily="34" charset="0"/>
              </a:rPr>
              <a:t>Pérdida Esperada Anual</a:t>
            </a:r>
          </a:p>
        </p:txBody>
      </p:sp>
      <p:sp>
        <p:nvSpPr>
          <p:cNvPr id="67" name="Rectangle 18"/>
          <p:cNvSpPr>
            <a:spLocks noChangeArrowheads="1"/>
          </p:cNvSpPr>
          <p:nvPr/>
        </p:nvSpPr>
        <p:spPr bwMode="auto">
          <a:xfrm>
            <a:off x="2859920" y="4255955"/>
            <a:ext cx="1554480" cy="170094"/>
          </a:xfrm>
          <a:prstGeom prst="rect">
            <a:avLst/>
          </a:prstGeom>
          <a:solidFill>
            <a:schemeClr val="bg1"/>
          </a:solidFill>
          <a:ln w="9525" algn="ctr">
            <a:solidFill>
              <a:schemeClr val="bg2"/>
            </a:solidFill>
            <a:miter lim="800000"/>
            <a:headEnd/>
            <a:tailEnd/>
          </a:ln>
          <a:effectLst/>
        </p:spPr>
        <p:txBody>
          <a:bodyPr anchor="ctr"/>
          <a:lstStyle/>
          <a:p>
            <a:pPr algn="ctr"/>
            <a:r>
              <a:rPr lang="es-PE" sz="1100" dirty="0">
                <a:solidFill>
                  <a:srgbClr val="000000"/>
                </a:solidFill>
              </a:rPr>
              <a:t>s/. 0.00</a:t>
            </a:r>
            <a:endParaRPr lang="es-ES" sz="1100" dirty="0">
              <a:solidFill>
                <a:srgbClr val="000000"/>
              </a:solidFill>
            </a:endParaRPr>
          </a:p>
        </p:txBody>
      </p:sp>
      <p:sp>
        <p:nvSpPr>
          <p:cNvPr id="68" name="Rounded Rectangle 23"/>
          <p:cNvSpPr/>
          <p:nvPr/>
        </p:nvSpPr>
        <p:spPr>
          <a:xfrm>
            <a:off x="902959" y="4485567"/>
            <a:ext cx="1920240" cy="170094"/>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VaR Cualitativo Anual</a:t>
            </a:r>
          </a:p>
        </p:txBody>
      </p:sp>
      <p:sp>
        <p:nvSpPr>
          <p:cNvPr id="69" name="Rectangle 18"/>
          <p:cNvSpPr>
            <a:spLocks noChangeArrowheads="1"/>
          </p:cNvSpPr>
          <p:nvPr/>
        </p:nvSpPr>
        <p:spPr bwMode="auto">
          <a:xfrm>
            <a:off x="2859920" y="4485567"/>
            <a:ext cx="1554480" cy="170094"/>
          </a:xfrm>
          <a:prstGeom prst="rect">
            <a:avLst/>
          </a:prstGeom>
          <a:solidFill>
            <a:schemeClr val="bg1"/>
          </a:solidFill>
          <a:ln w="9525" algn="ctr">
            <a:solidFill>
              <a:schemeClr val="bg2"/>
            </a:solidFill>
            <a:miter lim="800000"/>
            <a:headEnd/>
            <a:tailEnd/>
          </a:ln>
          <a:effectLst/>
        </p:spPr>
        <p:txBody>
          <a:bodyPr anchor="ctr"/>
          <a:lstStyle/>
          <a:p>
            <a:pPr algn="ctr"/>
            <a:r>
              <a:rPr lang="es-PE" sz="1100" dirty="0">
                <a:solidFill>
                  <a:srgbClr val="000000"/>
                </a:solidFill>
              </a:rPr>
              <a:t>s/. 0.00</a:t>
            </a:r>
            <a:endParaRPr lang="es-ES" sz="1100" dirty="0">
              <a:solidFill>
                <a:srgbClr val="000000"/>
              </a:solidFill>
            </a:endParaRPr>
          </a:p>
        </p:txBody>
      </p:sp>
      <p:sp>
        <p:nvSpPr>
          <p:cNvPr id="70" name="Rounded Rectangle 25"/>
          <p:cNvSpPr/>
          <p:nvPr/>
        </p:nvSpPr>
        <p:spPr>
          <a:xfrm>
            <a:off x="891084" y="3553916"/>
            <a:ext cx="1920240" cy="170094"/>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Frecuencia  Evento Pérdida</a:t>
            </a:r>
          </a:p>
        </p:txBody>
      </p:sp>
      <p:sp>
        <p:nvSpPr>
          <p:cNvPr id="71" name="Rectangle 18"/>
          <p:cNvSpPr>
            <a:spLocks noChangeArrowheads="1"/>
          </p:cNvSpPr>
          <p:nvPr/>
        </p:nvSpPr>
        <p:spPr bwMode="auto">
          <a:xfrm>
            <a:off x="2859920" y="3553916"/>
            <a:ext cx="1554480" cy="170094"/>
          </a:xfrm>
          <a:prstGeom prst="rect">
            <a:avLst/>
          </a:prstGeom>
          <a:solidFill>
            <a:schemeClr val="bg1"/>
          </a:solidFill>
          <a:ln w="9525" algn="ctr">
            <a:solidFill>
              <a:schemeClr val="bg2"/>
            </a:solidFill>
            <a:miter lim="800000"/>
            <a:headEnd/>
            <a:tailEnd/>
          </a:ln>
          <a:effectLst/>
        </p:spPr>
        <p:txBody>
          <a:bodyPr anchor="ctr"/>
          <a:lstStyle/>
          <a:p>
            <a:pPr algn="ctr"/>
            <a:r>
              <a:rPr lang="es-PE" sz="1100" dirty="0">
                <a:solidFill>
                  <a:srgbClr val="000000"/>
                </a:solidFill>
              </a:rPr>
              <a:t>4 veces por semana</a:t>
            </a:r>
            <a:endParaRPr lang="es-ES" sz="1100" dirty="0">
              <a:solidFill>
                <a:srgbClr val="000000"/>
              </a:solidFill>
            </a:endParaRPr>
          </a:p>
        </p:txBody>
      </p:sp>
      <p:sp>
        <p:nvSpPr>
          <p:cNvPr id="72" name="Rounded Rectangle 27"/>
          <p:cNvSpPr/>
          <p:nvPr/>
        </p:nvSpPr>
        <p:spPr>
          <a:xfrm>
            <a:off x="891084" y="3783528"/>
            <a:ext cx="1920240" cy="170094"/>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Impacto Medio Evento</a:t>
            </a:r>
          </a:p>
        </p:txBody>
      </p:sp>
      <p:sp>
        <p:nvSpPr>
          <p:cNvPr id="73" name="Rectangle 18"/>
          <p:cNvSpPr>
            <a:spLocks noChangeArrowheads="1"/>
          </p:cNvSpPr>
          <p:nvPr/>
        </p:nvSpPr>
        <p:spPr bwMode="auto">
          <a:xfrm>
            <a:off x="2859920" y="3783528"/>
            <a:ext cx="1554480" cy="170094"/>
          </a:xfrm>
          <a:prstGeom prst="rect">
            <a:avLst/>
          </a:prstGeom>
          <a:solidFill>
            <a:schemeClr val="bg1"/>
          </a:solidFill>
          <a:ln w="9525" algn="ctr">
            <a:solidFill>
              <a:schemeClr val="bg2"/>
            </a:solidFill>
            <a:miter lim="800000"/>
            <a:headEnd/>
            <a:tailEnd/>
          </a:ln>
          <a:effectLst/>
        </p:spPr>
        <p:txBody>
          <a:bodyPr anchor="ctr"/>
          <a:lstStyle/>
          <a:p>
            <a:pPr algn="ctr"/>
            <a:r>
              <a:rPr lang="es-PE" sz="1100" dirty="0">
                <a:solidFill>
                  <a:srgbClr val="000000"/>
                </a:solidFill>
              </a:rPr>
              <a:t>s/. 0.00</a:t>
            </a:r>
            <a:endParaRPr lang="es-ES" sz="1100" dirty="0">
              <a:solidFill>
                <a:srgbClr val="000000"/>
              </a:solidFill>
            </a:endParaRPr>
          </a:p>
        </p:txBody>
      </p:sp>
      <p:sp>
        <p:nvSpPr>
          <p:cNvPr id="74" name="Rounded Rectangle 29"/>
          <p:cNvSpPr/>
          <p:nvPr/>
        </p:nvSpPr>
        <p:spPr>
          <a:xfrm>
            <a:off x="891084" y="4019108"/>
            <a:ext cx="1920240" cy="170094"/>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Impacto Peor Escenario</a:t>
            </a:r>
          </a:p>
        </p:txBody>
      </p:sp>
      <p:sp>
        <p:nvSpPr>
          <p:cNvPr id="75" name="Rectangle 18"/>
          <p:cNvSpPr>
            <a:spLocks noChangeArrowheads="1"/>
          </p:cNvSpPr>
          <p:nvPr/>
        </p:nvSpPr>
        <p:spPr bwMode="auto">
          <a:xfrm>
            <a:off x="2859920" y="4019108"/>
            <a:ext cx="1554480" cy="170094"/>
          </a:xfrm>
          <a:prstGeom prst="rect">
            <a:avLst/>
          </a:prstGeom>
          <a:solidFill>
            <a:schemeClr val="bg1"/>
          </a:solidFill>
          <a:ln w="9525" algn="ctr">
            <a:solidFill>
              <a:schemeClr val="bg2"/>
            </a:solidFill>
            <a:miter lim="800000"/>
            <a:headEnd/>
            <a:tailEnd/>
          </a:ln>
          <a:effectLst/>
        </p:spPr>
        <p:txBody>
          <a:bodyPr anchor="ctr"/>
          <a:lstStyle/>
          <a:p>
            <a:pPr algn="ctr"/>
            <a:r>
              <a:rPr lang="es-PE" sz="1100" dirty="0">
                <a:solidFill>
                  <a:srgbClr val="000000"/>
                </a:solidFill>
              </a:rPr>
              <a:t>s/. 0.00</a:t>
            </a:r>
            <a:endParaRPr lang="es-ES" sz="1100" dirty="0">
              <a:solidFill>
                <a:srgbClr val="000000"/>
              </a:solidFill>
            </a:endParaRPr>
          </a:p>
        </p:txBody>
      </p:sp>
      <p:sp>
        <p:nvSpPr>
          <p:cNvPr id="76" name="AutoShape 47"/>
          <p:cNvSpPr>
            <a:spLocks noChangeAspect="1" noChangeArrowheads="1"/>
          </p:cNvSpPr>
          <p:nvPr/>
        </p:nvSpPr>
        <p:spPr bwMode="blackWhite">
          <a:xfrm>
            <a:off x="263032" y="3482416"/>
            <a:ext cx="503986" cy="1274400"/>
          </a:xfrm>
          <a:prstGeom prst="rightArrow">
            <a:avLst>
              <a:gd name="adj1" fmla="val 100000"/>
              <a:gd name="adj2" fmla="val 11009"/>
            </a:avLst>
          </a:prstGeom>
          <a:solidFill>
            <a:srgbClr val="969696"/>
          </a:solidFill>
          <a:ln w="12700">
            <a:noFill/>
            <a:miter lim="800000"/>
            <a:headEnd/>
            <a:tailEnd/>
          </a:ln>
          <a:effectLst>
            <a:outerShdw dist="35921" dir="2700000" algn="ctr" rotWithShape="0">
              <a:schemeClr val="bg2"/>
            </a:outerShdw>
          </a:effectLst>
        </p:spPr>
        <p:txBody>
          <a:bodyPr vert="vert270" anchor="ctr"/>
          <a:lstStyle/>
          <a:p>
            <a:pPr algn="ctr">
              <a:lnSpc>
                <a:spcPts val="1000"/>
              </a:lnSpc>
            </a:pPr>
            <a:r>
              <a:rPr lang="es-ES" sz="1100" b="1" noProof="1">
                <a:solidFill>
                  <a:srgbClr val="FFFFFF"/>
                </a:solidFill>
                <a:cs typeface="Arial" charset="0"/>
              </a:rPr>
              <a:t>Evaluación Riesgo Operacional</a:t>
            </a:r>
          </a:p>
        </p:txBody>
      </p:sp>
      <p:sp>
        <p:nvSpPr>
          <p:cNvPr id="77" name="AutoShape 179"/>
          <p:cNvSpPr>
            <a:spLocks noChangeArrowheads="1"/>
          </p:cNvSpPr>
          <p:nvPr/>
        </p:nvSpPr>
        <p:spPr bwMode="auto">
          <a:xfrm>
            <a:off x="4932039" y="3493021"/>
            <a:ext cx="4037169" cy="864000"/>
          </a:xfrm>
          <a:prstGeom prst="roundRect">
            <a:avLst>
              <a:gd name="adj" fmla="val 9481"/>
            </a:avLst>
          </a:prstGeom>
          <a:solidFill>
            <a:schemeClr val="accent1">
              <a:lumMod val="20000"/>
              <a:lumOff val="80000"/>
            </a:schemeClr>
          </a:solidFill>
          <a:ln w="9525" algn="ctr">
            <a:noFill/>
            <a:round/>
            <a:headEnd/>
            <a:tailEnd/>
          </a:ln>
          <a:effectLst/>
        </p:spPr>
        <p:txBody>
          <a:bodyPr wrap="none" anchor="ctr"/>
          <a:lstStyle/>
          <a:p>
            <a:endParaRPr lang="es-CL">
              <a:solidFill>
                <a:srgbClr val="002060"/>
              </a:solidFill>
            </a:endParaRPr>
          </a:p>
        </p:txBody>
      </p:sp>
      <p:sp>
        <p:nvSpPr>
          <p:cNvPr id="78" name="AutoShape 47"/>
          <p:cNvSpPr>
            <a:spLocks noChangeArrowheads="1"/>
          </p:cNvSpPr>
          <p:nvPr/>
        </p:nvSpPr>
        <p:spPr bwMode="blackWhite">
          <a:xfrm>
            <a:off x="4678512" y="3494523"/>
            <a:ext cx="353942" cy="864000"/>
          </a:xfrm>
          <a:prstGeom prst="rightArrow">
            <a:avLst>
              <a:gd name="adj1" fmla="val 100000"/>
              <a:gd name="adj2" fmla="val 11009"/>
            </a:avLst>
          </a:prstGeom>
          <a:solidFill>
            <a:srgbClr val="969696"/>
          </a:solidFill>
          <a:ln w="12700">
            <a:noFill/>
            <a:miter lim="800000"/>
            <a:headEnd/>
            <a:tailEnd/>
          </a:ln>
          <a:effectLst>
            <a:outerShdw dist="35921" dir="2700000" algn="ctr" rotWithShape="0">
              <a:schemeClr val="bg2"/>
            </a:outerShdw>
          </a:effectLst>
        </p:spPr>
        <p:txBody>
          <a:bodyPr vert="vert270" anchor="ctr"/>
          <a:lstStyle/>
          <a:p>
            <a:pPr algn="ctr">
              <a:lnSpc>
                <a:spcPts val="1000"/>
              </a:lnSpc>
            </a:pPr>
            <a:r>
              <a:rPr lang="es-ES" sz="1100" b="1" noProof="1">
                <a:solidFill>
                  <a:srgbClr val="FFFFFF"/>
                </a:solidFill>
                <a:cs typeface="Arial" charset="0"/>
              </a:rPr>
              <a:t>Impacto Reputacional</a:t>
            </a:r>
          </a:p>
        </p:txBody>
      </p:sp>
      <p:sp>
        <p:nvSpPr>
          <p:cNvPr id="79" name="Rectangle 18"/>
          <p:cNvSpPr>
            <a:spLocks noChangeArrowheads="1"/>
          </p:cNvSpPr>
          <p:nvPr/>
        </p:nvSpPr>
        <p:spPr bwMode="auto">
          <a:xfrm>
            <a:off x="8334310" y="3568288"/>
            <a:ext cx="548640" cy="170094"/>
          </a:xfrm>
          <a:prstGeom prst="rect">
            <a:avLst/>
          </a:prstGeom>
          <a:solidFill>
            <a:schemeClr val="bg1"/>
          </a:solidFill>
          <a:ln w="9525" algn="ctr">
            <a:solidFill>
              <a:schemeClr val="bg2"/>
            </a:solidFill>
            <a:miter lim="800000"/>
            <a:headEnd/>
            <a:tailEnd/>
          </a:ln>
          <a:effectLst/>
        </p:spPr>
        <p:txBody>
          <a:bodyPr anchor="ctr"/>
          <a:lstStyle/>
          <a:p>
            <a:pPr algn="ctr"/>
            <a:r>
              <a:rPr lang="es-PE" sz="1100" dirty="0">
                <a:solidFill>
                  <a:srgbClr val="002060"/>
                </a:solidFill>
              </a:rPr>
              <a:t>3</a:t>
            </a:r>
            <a:endParaRPr lang="es-ES" sz="1100" dirty="0">
              <a:solidFill>
                <a:srgbClr val="002060"/>
              </a:solidFill>
            </a:endParaRPr>
          </a:p>
        </p:txBody>
      </p:sp>
      <p:sp>
        <p:nvSpPr>
          <p:cNvPr id="80" name="Rounded Rectangle 38"/>
          <p:cNvSpPr/>
          <p:nvPr/>
        </p:nvSpPr>
        <p:spPr>
          <a:xfrm>
            <a:off x="5102950" y="3568288"/>
            <a:ext cx="3132000" cy="170094"/>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Afectación a Clientes</a:t>
            </a:r>
          </a:p>
        </p:txBody>
      </p:sp>
      <p:sp>
        <p:nvSpPr>
          <p:cNvPr id="81" name="Rectangle 18"/>
          <p:cNvSpPr>
            <a:spLocks noChangeArrowheads="1"/>
          </p:cNvSpPr>
          <p:nvPr/>
        </p:nvSpPr>
        <p:spPr bwMode="auto">
          <a:xfrm>
            <a:off x="5102950" y="3786445"/>
            <a:ext cx="3780000" cy="469509"/>
          </a:xfrm>
          <a:prstGeom prst="rect">
            <a:avLst/>
          </a:prstGeom>
          <a:solidFill>
            <a:schemeClr val="bg1"/>
          </a:solidFill>
          <a:ln w="9525" algn="ctr">
            <a:solidFill>
              <a:schemeClr val="bg2"/>
            </a:solidFill>
            <a:miter lim="800000"/>
            <a:headEnd/>
            <a:tailEnd/>
          </a:ln>
          <a:effectLst/>
        </p:spPr>
        <p:txBody>
          <a:bodyPr anchor="ctr"/>
          <a:lstStyle/>
          <a:p>
            <a:r>
              <a:rPr lang="es-ES" sz="1100" dirty="0">
                <a:solidFill>
                  <a:srgbClr val="000000"/>
                </a:solidFill>
              </a:rPr>
              <a:t>La exposición de la imagen es interna y externa con un nivel de impacto medio.</a:t>
            </a:r>
          </a:p>
        </p:txBody>
      </p:sp>
      <p:sp>
        <p:nvSpPr>
          <p:cNvPr id="82" name="Text Box 30"/>
          <p:cNvSpPr txBox="1">
            <a:spLocks noChangeArrowheads="1"/>
          </p:cNvSpPr>
          <p:nvPr/>
        </p:nvSpPr>
        <p:spPr bwMode="auto">
          <a:xfrm>
            <a:off x="190746" y="4838419"/>
            <a:ext cx="3996000" cy="276999"/>
          </a:xfrm>
          <a:prstGeom prst="rect">
            <a:avLst/>
          </a:prstGeom>
          <a:noFill/>
          <a:ln w="9525" algn="ctr">
            <a:noFill/>
            <a:miter lim="800000"/>
            <a:headEnd/>
            <a:tailEnd/>
          </a:ln>
          <a:effectLst/>
        </p:spPr>
        <p:txBody>
          <a:bodyPr wrap="square">
            <a:spAutoFit/>
          </a:bodyPr>
          <a:lstStyle/>
          <a:p>
            <a:pPr>
              <a:spcBef>
                <a:spcPct val="50000"/>
              </a:spcBef>
            </a:pPr>
            <a:r>
              <a:rPr lang="es-CL" sz="1200" b="1" i="1" dirty="0">
                <a:solidFill>
                  <a:srgbClr val="A3A3E0"/>
                </a:solidFill>
              </a:rPr>
              <a:t>Resultados valoración de controles / factores mitigantes</a:t>
            </a:r>
            <a:endParaRPr lang="es-ES" sz="1200" b="1" i="1" dirty="0">
              <a:solidFill>
                <a:srgbClr val="A3A3E0"/>
              </a:solidFill>
            </a:endParaRPr>
          </a:p>
        </p:txBody>
      </p:sp>
      <p:sp>
        <p:nvSpPr>
          <p:cNvPr id="86" name="AutoShape 179"/>
          <p:cNvSpPr>
            <a:spLocks noChangeArrowheads="1"/>
          </p:cNvSpPr>
          <p:nvPr/>
        </p:nvSpPr>
        <p:spPr bwMode="auto">
          <a:xfrm>
            <a:off x="4927319" y="4397238"/>
            <a:ext cx="4037169" cy="892800"/>
          </a:xfrm>
          <a:prstGeom prst="roundRect">
            <a:avLst>
              <a:gd name="adj" fmla="val 9481"/>
            </a:avLst>
          </a:prstGeom>
          <a:solidFill>
            <a:schemeClr val="accent1">
              <a:lumMod val="20000"/>
              <a:lumOff val="80000"/>
            </a:schemeClr>
          </a:solidFill>
          <a:ln w="9525" algn="ctr">
            <a:noFill/>
            <a:round/>
            <a:headEnd/>
            <a:tailEnd/>
          </a:ln>
          <a:effectLst/>
        </p:spPr>
        <p:txBody>
          <a:bodyPr wrap="none" anchor="ctr"/>
          <a:lstStyle/>
          <a:p>
            <a:endParaRPr lang="es-CL">
              <a:solidFill>
                <a:srgbClr val="002060"/>
              </a:solidFill>
            </a:endParaRPr>
          </a:p>
        </p:txBody>
      </p:sp>
      <p:sp>
        <p:nvSpPr>
          <p:cNvPr id="87" name="AutoShape 47"/>
          <p:cNvSpPr>
            <a:spLocks noChangeArrowheads="1"/>
          </p:cNvSpPr>
          <p:nvPr/>
        </p:nvSpPr>
        <p:spPr bwMode="blackWhite">
          <a:xfrm>
            <a:off x="4673792" y="4398740"/>
            <a:ext cx="352800" cy="892800"/>
          </a:xfrm>
          <a:prstGeom prst="rightArrow">
            <a:avLst>
              <a:gd name="adj1" fmla="val 100000"/>
              <a:gd name="adj2" fmla="val 11009"/>
            </a:avLst>
          </a:prstGeom>
          <a:solidFill>
            <a:srgbClr val="969696"/>
          </a:solidFill>
          <a:ln w="12700">
            <a:noFill/>
            <a:miter lim="800000"/>
            <a:headEnd/>
            <a:tailEnd/>
          </a:ln>
          <a:effectLst>
            <a:outerShdw dist="35921" dir="2700000" algn="ctr" rotWithShape="0">
              <a:schemeClr val="bg2"/>
            </a:outerShdw>
          </a:effectLst>
        </p:spPr>
        <p:txBody>
          <a:bodyPr vert="vert270" anchor="ctr"/>
          <a:lstStyle/>
          <a:p>
            <a:pPr algn="ctr">
              <a:lnSpc>
                <a:spcPts val="1000"/>
              </a:lnSpc>
            </a:pPr>
            <a:r>
              <a:rPr lang="es-ES" sz="1100" b="1" noProof="1">
                <a:solidFill>
                  <a:srgbClr val="FFFFFF"/>
                </a:solidFill>
                <a:cs typeface="Arial" charset="0"/>
              </a:rPr>
              <a:t>Cuestionarios</a:t>
            </a:r>
          </a:p>
        </p:txBody>
      </p:sp>
      <p:sp>
        <p:nvSpPr>
          <p:cNvPr id="89" name="Rounded Rectangle 38"/>
          <p:cNvSpPr/>
          <p:nvPr/>
        </p:nvSpPr>
        <p:spPr>
          <a:xfrm>
            <a:off x="5098230" y="4472505"/>
            <a:ext cx="3132000" cy="170094"/>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Criterios de Evaluación</a:t>
            </a:r>
          </a:p>
        </p:txBody>
      </p:sp>
      <p:sp>
        <p:nvSpPr>
          <p:cNvPr id="90" name="AutoShape 179"/>
          <p:cNvSpPr>
            <a:spLocks noChangeArrowheads="1"/>
          </p:cNvSpPr>
          <p:nvPr/>
        </p:nvSpPr>
        <p:spPr bwMode="auto">
          <a:xfrm>
            <a:off x="534831" y="5060900"/>
            <a:ext cx="4037169" cy="864000"/>
          </a:xfrm>
          <a:prstGeom prst="roundRect">
            <a:avLst>
              <a:gd name="adj" fmla="val 9481"/>
            </a:avLst>
          </a:prstGeom>
          <a:solidFill>
            <a:schemeClr val="accent1">
              <a:lumMod val="20000"/>
              <a:lumOff val="80000"/>
            </a:schemeClr>
          </a:solidFill>
          <a:ln w="9525" algn="ctr">
            <a:noFill/>
            <a:round/>
            <a:headEnd/>
            <a:tailEnd/>
          </a:ln>
          <a:effectLst/>
        </p:spPr>
        <p:txBody>
          <a:bodyPr wrap="none" anchor="ctr"/>
          <a:lstStyle/>
          <a:p>
            <a:endParaRPr lang="es-CL">
              <a:solidFill>
                <a:srgbClr val="002060"/>
              </a:solidFill>
            </a:endParaRPr>
          </a:p>
        </p:txBody>
      </p:sp>
      <p:sp>
        <p:nvSpPr>
          <p:cNvPr id="91" name="AutoShape 47"/>
          <p:cNvSpPr>
            <a:spLocks noChangeArrowheads="1"/>
          </p:cNvSpPr>
          <p:nvPr/>
        </p:nvSpPr>
        <p:spPr bwMode="blackWhite">
          <a:xfrm>
            <a:off x="281304" y="5062402"/>
            <a:ext cx="353942" cy="864000"/>
          </a:xfrm>
          <a:prstGeom prst="rightArrow">
            <a:avLst>
              <a:gd name="adj1" fmla="val 100000"/>
              <a:gd name="adj2" fmla="val 11009"/>
            </a:avLst>
          </a:prstGeom>
          <a:solidFill>
            <a:srgbClr val="969696"/>
          </a:solidFill>
          <a:ln w="12700">
            <a:noFill/>
            <a:miter lim="800000"/>
            <a:headEnd/>
            <a:tailEnd/>
          </a:ln>
          <a:effectLst>
            <a:outerShdw dist="35921" dir="2700000" algn="ctr" rotWithShape="0">
              <a:schemeClr val="bg2"/>
            </a:outerShdw>
          </a:effectLst>
        </p:spPr>
        <p:txBody>
          <a:bodyPr vert="vert270" anchor="ctr"/>
          <a:lstStyle/>
          <a:p>
            <a:pPr algn="ctr">
              <a:lnSpc>
                <a:spcPts val="1000"/>
              </a:lnSpc>
            </a:pPr>
            <a:r>
              <a:rPr lang="es-ES" sz="1100" b="1" noProof="1">
                <a:solidFill>
                  <a:srgbClr val="FFFFFF"/>
                </a:solidFill>
                <a:cs typeface="Arial" charset="0"/>
              </a:rPr>
              <a:t>Evaluación de Controles</a:t>
            </a:r>
          </a:p>
        </p:txBody>
      </p:sp>
      <p:sp>
        <p:nvSpPr>
          <p:cNvPr id="92" name="Rectangle 18"/>
          <p:cNvSpPr>
            <a:spLocks noChangeArrowheads="1"/>
          </p:cNvSpPr>
          <p:nvPr/>
        </p:nvSpPr>
        <p:spPr bwMode="auto">
          <a:xfrm>
            <a:off x="3937102" y="5136167"/>
            <a:ext cx="548640" cy="170094"/>
          </a:xfrm>
          <a:prstGeom prst="rect">
            <a:avLst/>
          </a:prstGeom>
          <a:solidFill>
            <a:schemeClr val="bg1"/>
          </a:solidFill>
          <a:ln w="9525" algn="ctr">
            <a:solidFill>
              <a:schemeClr val="bg2"/>
            </a:solidFill>
            <a:miter lim="800000"/>
            <a:headEnd/>
            <a:tailEnd/>
          </a:ln>
          <a:effectLst/>
        </p:spPr>
        <p:txBody>
          <a:bodyPr anchor="ctr"/>
          <a:lstStyle/>
          <a:p>
            <a:pPr algn="ctr"/>
            <a:r>
              <a:rPr lang="es-ES" sz="1100" dirty="0">
                <a:solidFill>
                  <a:srgbClr val="002060"/>
                </a:solidFill>
              </a:rPr>
              <a:t>1</a:t>
            </a:r>
          </a:p>
        </p:txBody>
      </p:sp>
      <p:sp>
        <p:nvSpPr>
          <p:cNvPr id="93" name="Rounded Rectangle 38"/>
          <p:cNvSpPr/>
          <p:nvPr/>
        </p:nvSpPr>
        <p:spPr>
          <a:xfrm>
            <a:off x="705742" y="5136167"/>
            <a:ext cx="3132000" cy="170094"/>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Controles asociados al riesgo</a:t>
            </a:r>
          </a:p>
        </p:txBody>
      </p:sp>
      <p:sp>
        <p:nvSpPr>
          <p:cNvPr id="94" name="Rectangle 18"/>
          <p:cNvSpPr>
            <a:spLocks noChangeArrowheads="1"/>
          </p:cNvSpPr>
          <p:nvPr/>
        </p:nvSpPr>
        <p:spPr bwMode="auto">
          <a:xfrm>
            <a:off x="5102950" y="4685678"/>
            <a:ext cx="3780000" cy="469509"/>
          </a:xfrm>
          <a:prstGeom prst="rect">
            <a:avLst/>
          </a:prstGeom>
          <a:solidFill>
            <a:schemeClr val="bg1"/>
          </a:solidFill>
          <a:ln w="9525" algn="ctr">
            <a:solidFill>
              <a:schemeClr val="bg2"/>
            </a:solidFill>
            <a:miter lim="800000"/>
            <a:headEnd/>
            <a:tailEnd/>
          </a:ln>
          <a:effectLst/>
        </p:spPr>
        <p:txBody>
          <a:bodyPr anchor="ctr"/>
          <a:lstStyle/>
          <a:p>
            <a:r>
              <a:rPr lang="es-ES" sz="1100" dirty="0"/>
              <a:t>La Gerencia de Selección de Activos envía reportes a diferentes unidades de la empresa y del grupo por lo cual una caída del internet retrasa de manera significativa su trabajo.</a:t>
            </a:r>
            <a:endParaRPr lang="es-ES" sz="1100" dirty="0">
              <a:solidFill>
                <a:srgbClr val="000000"/>
              </a:solidFill>
            </a:endParaRPr>
          </a:p>
        </p:txBody>
      </p:sp>
      <p:sp>
        <p:nvSpPr>
          <p:cNvPr id="95" name="Rectangle 18"/>
          <p:cNvSpPr>
            <a:spLocks noChangeArrowheads="1"/>
          </p:cNvSpPr>
          <p:nvPr/>
        </p:nvSpPr>
        <p:spPr bwMode="auto">
          <a:xfrm>
            <a:off x="705742" y="5357175"/>
            <a:ext cx="3780000" cy="469509"/>
          </a:xfrm>
          <a:prstGeom prst="rect">
            <a:avLst/>
          </a:prstGeom>
          <a:solidFill>
            <a:schemeClr val="bg1"/>
          </a:solidFill>
          <a:ln w="9525" algn="ctr">
            <a:solidFill>
              <a:schemeClr val="bg2"/>
            </a:solidFill>
            <a:miter lim="800000"/>
            <a:headEnd/>
            <a:tailEnd/>
          </a:ln>
          <a:effectLst/>
        </p:spPr>
        <p:txBody>
          <a:bodyPr anchor="ctr"/>
          <a:lstStyle/>
          <a:p>
            <a:r>
              <a:rPr lang="es-ES" sz="1100" dirty="0">
                <a:solidFill>
                  <a:srgbClr val="000000"/>
                </a:solidFill>
              </a:rPr>
              <a:t>(NF) Controles por Tecnología para la prevención de falla de los aplicativos.</a:t>
            </a:r>
          </a:p>
        </p:txBody>
      </p:sp>
      <p:sp>
        <p:nvSpPr>
          <p:cNvPr id="96" name="Rounded Rectangle 9"/>
          <p:cNvSpPr/>
          <p:nvPr/>
        </p:nvSpPr>
        <p:spPr>
          <a:xfrm>
            <a:off x="6716066" y="1111764"/>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Categoría  de Riesgo Nivel I</a:t>
            </a:r>
          </a:p>
        </p:txBody>
      </p:sp>
      <p:sp>
        <p:nvSpPr>
          <p:cNvPr id="97" name="Rectangle 18"/>
          <p:cNvSpPr>
            <a:spLocks noChangeArrowheads="1"/>
          </p:cNvSpPr>
          <p:nvPr/>
        </p:nvSpPr>
        <p:spPr bwMode="auto">
          <a:xfrm>
            <a:off x="6716066" y="1325572"/>
            <a:ext cx="2286000" cy="270000"/>
          </a:xfrm>
          <a:prstGeom prst="rect">
            <a:avLst/>
          </a:prstGeom>
          <a:noFill/>
          <a:ln w="9525" algn="ctr">
            <a:solidFill>
              <a:schemeClr val="bg2"/>
            </a:solidFill>
            <a:miter lim="800000"/>
            <a:headEnd/>
            <a:tailEnd/>
          </a:ln>
          <a:effectLst/>
        </p:spPr>
        <p:txBody>
          <a:bodyPr anchor="ctr"/>
          <a:lstStyle/>
          <a:p>
            <a:pPr>
              <a:lnSpc>
                <a:spcPts val="1000"/>
              </a:lnSpc>
            </a:pPr>
            <a:r>
              <a:rPr lang="es-ES" sz="1100" dirty="0">
                <a:solidFill>
                  <a:srgbClr val="000000"/>
                </a:solidFill>
              </a:rPr>
              <a:t>Incidencias en el negocio y fallos en los sistemas.</a:t>
            </a:r>
          </a:p>
        </p:txBody>
      </p:sp>
      <p:sp>
        <p:nvSpPr>
          <p:cNvPr id="98" name="Rounded Rectangle 11"/>
          <p:cNvSpPr/>
          <p:nvPr/>
        </p:nvSpPr>
        <p:spPr>
          <a:xfrm>
            <a:off x="6716066" y="1664503"/>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Categoría  de Riesgo Nivel II</a:t>
            </a:r>
          </a:p>
        </p:txBody>
      </p:sp>
      <p:sp>
        <p:nvSpPr>
          <p:cNvPr id="99" name="Rectangle 18"/>
          <p:cNvSpPr>
            <a:spLocks noChangeArrowheads="1"/>
          </p:cNvSpPr>
          <p:nvPr/>
        </p:nvSpPr>
        <p:spPr bwMode="auto">
          <a:xfrm>
            <a:off x="6716066" y="1877089"/>
            <a:ext cx="2286000" cy="270000"/>
          </a:xfrm>
          <a:prstGeom prst="rect">
            <a:avLst/>
          </a:prstGeom>
          <a:noFill/>
          <a:ln w="9525" algn="ctr">
            <a:solidFill>
              <a:schemeClr val="bg2"/>
            </a:solidFill>
            <a:miter lim="800000"/>
            <a:headEnd/>
            <a:tailEnd/>
          </a:ln>
          <a:effectLst/>
        </p:spPr>
        <p:txBody>
          <a:bodyPr anchor="ctr"/>
          <a:lstStyle/>
          <a:p>
            <a:r>
              <a:rPr lang="es-ES" sz="1100" dirty="0">
                <a:solidFill>
                  <a:srgbClr val="000000"/>
                </a:solidFill>
              </a:rPr>
              <a:t>Interrupción del negocio y fallos en los sistemas.</a:t>
            </a:r>
          </a:p>
        </p:txBody>
      </p:sp>
      <p:sp>
        <p:nvSpPr>
          <p:cNvPr id="100" name="Rounded Rectangle 14"/>
          <p:cNvSpPr/>
          <p:nvPr/>
        </p:nvSpPr>
        <p:spPr>
          <a:xfrm>
            <a:off x="6716066" y="2223551"/>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Categoría  de Riesgo Nivel III</a:t>
            </a:r>
          </a:p>
        </p:txBody>
      </p:sp>
      <p:sp>
        <p:nvSpPr>
          <p:cNvPr id="101" name="Rectangle 18"/>
          <p:cNvSpPr>
            <a:spLocks noChangeArrowheads="1"/>
          </p:cNvSpPr>
          <p:nvPr/>
        </p:nvSpPr>
        <p:spPr bwMode="auto">
          <a:xfrm>
            <a:off x="6716066" y="2434321"/>
            <a:ext cx="2286000" cy="270000"/>
          </a:xfrm>
          <a:prstGeom prst="rect">
            <a:avLst/>
          </a:prstGeom>
          <a:noFill/>
          <a:ln w="9525" algn="ctr">
            <a:solidFill>
              <a:schemeClr val="bg2"/>
            </a:solidFill>
            <a:miter lim="800000"/>
            <a:headEnd/>
            <a:tailEnd/>
          </a:ln>
          <a:effectLst/>
        </p:spPr>
        <p:txBody>
          <a:bodyPr anchor="ctr"/>
          <a:lstStyle/>
          <a:p>
            <a:r>
              <a:rPr lang="es-ES" sz="1100" dirty="0"/>
              <a:t>Cortes en los servicios/Interrupción de las aplicaciones </a:t>
            </a:r>
            <a:endParaRPr lang="es-ES" sz="1100" dirty="0">
              <a:solidFill>
                <a:srgbClr val="000000"/>
              </a:solidFill>
            </a:endParaRPr>
          </a:p>
        </p:txBody>
      </p:sp>
      <p:sp>
        <p:nvSpPr>
          <p:cNvPr id="102" name="Rounded Rectangle 14"/>
          <p:cNvSpPr/>
          <p:nvPr/>
        </p:nvSpPr>
        <p:spPr>
          <a:xfrm>
            <a:off x="6716066" y="2768330"/>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Origen del Riesgo</a:t>
            </a:r>
          </a:p>
        </p:txBody>
      </p:sp>
      <p:sp>
        <p:nvSpPr>
          <p:cNvPr id="103" name="Rectangle 18"/>
          <p:cNvSpPr>
            <a:spLocks noChangeArrowheads="1"/>
          </p:cNvSpPr>
          <p:nvPr/>
        </p:nvSpPr>
        <p:spPr bwMode="auto">
          <a:xfrm>
            <a:off x="6716066" y="2983595"/>
            <a:ext cx="2286000" cy="270000"/>
          </a:xfrm>
          <a:prstGeom prst="rect">
            <a:avLst/>
          </a:prstGeom>
          <a:noFill/>
          <a:ln w="9525" algn="ctr">
            <a:solidFill>
              <a:schemeClr val="bg2"/>
            </a:solidFill>
            <a:miter lim="800000"/>
            <a:headEnd/>
            <a:tailEnd/>
          </a:ln>
          <a:effectLst/>
        </p:spPr>
        <p:txBody>
          <a:bodyPr anchor="ctr"/>
          <a:lstStyle/>
          <a:p>
            <a:r>
              <a:rPr lang="es-PE" sz="1100" dirty="0">
                <a:solidFill>
                  <a:srgbClr val="000000"/>
                </a:solidFill>
              </a:rPr>
              <a:t>Tecnología </a:t>
            </a:r>
            <a:endParaRPr lang="es-ES" sz="1100" dirty="0">
              <a:solidFill>
                <a:srgbClr val="000000"/>
              </a:solidFill>
            </a:endParaRPr>
          </a:p>
        </p:txBody>
      </p:sp>
      <p:sp>
        <p:nvSpPr>
          <p:cNvPr id="57" name="TextBox 56"/>
          <p:cNvSpPr txBox="1"/>
          <p:nvPr/>
        </p:nvSpPr>
        <p:spPr>
          <a:xfrm>
            <a:off x="705742" y="5966112"/>
            <a:ext cx="1819944" cy="261610"/>
          </a:xfrm>
          <a:prstGeom prst="rect">
            <a:avLst/>
          </a:prstGeom>
          <a:noFill/>
        </p:spPr>
        <p:txBody>
          <a:bodyPr wrap="square" rtlCol="0">
            <a:spAutoFit/>
          </a:bodyPr>
          <a:lstStyle/>
          <a:p>
            <a:r>
              <a:rPr lang="es-ES" sz="1100" dirty="0"/>
              <a:t>(NF): No Formalizado</a:t>
            </a:r>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dirty="0"/>
              <a:t>Anexo: Ficha Individual Riesgos Operacionales</a:t>
            </a:r>
          </a:p>
        </p:txBody>
      </p:sp>
      <p:sp>
        <p:nvSpPr>
          <p:cNvPr id="4" name="Rounded Rectangle 3"/>
          <p:cNvSpPr/>
          <p:nvPr/>
        </p:nvSpPr>
        <p:spPr>
          <a:xfrm>
            <a:off x="227770" y="764704"/>
            <a:ext cx="383790" cy="274320"/>
          </a:xfrm>
          <a:prstGeom prst="roundRect">
            <a:avLst/>
          </a:prstGeom>
          <a:solidFill>
            <a:srgbClr val="DB0613"/>
          </a:solidFill>
          <a:ln w="9525" algn="ctr">
            <a:noFill/>
            <a:miter lim="800000"/>
            <a:headEnd/>
            <a:tailEnd/>
          </a:ln>
          <a:effectLst/>
        </p:spPr>
        <p:txBody>
          <a:bodyPr anchor="ctr"/>
          <a:lstStyle/>
          <a:p>
            <a:pPr algn="ctr">
              <a:lnSpc>
                <a:spcPct val="80000"/>
              </a:lnSpc>
            </a:pPr>
            <a:r>
              <a:rPr lang="es-CL" sz="1200" b="1" dirty="0">
                <a:solidFill>
                  <a:srgbClr val="FFFFFF"/>
                </a:solidFill>
                <a:cs typeface="Arial" pitchFamily="34" charset="0"/>
              </a:rPr>
              <a:t>21</a:t>
            </a:r>
          </a:p>
        </p:txBody>
      </p:sp>
      <p:sp>
        <p:nvSpPr>
          <p:cNvPr id="5" name="Rectangle 18"/>
          <p:cNvSpPr>
            <a:spLocks noChangeArrowheads="1"/>
          </p:cNvSpPr>
          <p:nvPr/>
        </p:nvSpPr>
        <p:spPr bwMode="auto">
          <a:xfrm>
            <a:off x="227770" y="2548229"/>
            <a:ext cx="6400800" cy="708660"/>
          </a:xfrm>
          <a:prstGeom prst="rect">
            <a:avLst/>
          </a:prstGeom>
          <a:noFill/>
          <a:ln w="9525" algn="ctr">
            <a:solidFill>
              <a:schemeClr val="bg2"/>
            </a:solidFill>
            <a:miter lim="800000"/>
            <a:headEnd/>
            <a:tailEnd/>
          </a:ln>
          <a:effectLst/>
        </p:spPr>
        <p:txBody>
          <a:bodyPr/>
          <a:lstStyle/>
          <a:p>
            <a:r>
              <a:rPr lang="es-ES" sz="1100" dirty="0">
                <a:cs typeface="Arial" pitchFamily="34" charset="0"/>
              </a:rPr>
              <a:t>Ejecución, por error, de operaciones que no se ajustan a la política interna de inversiones (no deseadas) y finalizan en quebranto para la Entidad. El caso más común es el de tenencia muy alta de depósito líquidos en un banco, sobrepasando los límites.</a:t>
            </a:r>
            <a:endParaRPr lang="es-CL" sz="1100" dirty="0">
              <a:cs typeface="Arial" pitchFamily="34" charset="0"/>
            </a:endParaRPr>
          </a:p>
        </p:txBody>
      </p:sp>
      <p:sp>
        <p:nvSpPr>
          <p:cNvPr id="8" name="Rounded Rectangle 7"/>
          <p:cNvSpPr/>
          <p:nvPr/>
        </p:nvSpPr>
        <p:spPr>
          <a:xfrm>
            <a:off x="652842" y="764704"/>
            <a:ext cx="8352000" cy="274320"/>
          </a:xfrm>
          <a:prstGeom prst="roundRect">
            <a:avLst/>
          </a:prstGeom>
          <a:solidFill>
            <a:srgbClr val="DB0613"/>
          </a:solidFill>
          <a:ln w="9525" algn="ctr">
            <a:noFill/>
            <a:miter lim="800000"/>
            <a:headEnd/>
            <a:tailEnd/>
          </a:ln>
          <a:effectLst/>
        </p:spPr>
        <p:txBody>
          <a:bodyPr anchor="ctr"/>
          <a:lstStyle/>
          <a:p>
            <a:pPr>
              <a:lnSpc>
                <a:spcPct val="80000"/>
              </a:lnSpc>
            </a:pPr>
            <a:r>
              <a:rPr lang="es-CL" sz="1200" b="1" dirty="0">
                <a:solidFill>
                  <a:srgbClr val="FFFFFF"/>
                </a:solidFill>
                <a:cs typeface="Arial" pitchFamily="34" charset="0"/>
              </a:rPr>
              <a:t>Ejecución por error de operaciones que no se ajusten a la política</a:t>
            </a:r>
          </a:p>
        </p:txBody>
      </p:sp>
      <p:sp>
        <p:nvSpPr>
          <p:cNvPr id="9" name="Rounded Rectangle 8"/>
          <p:cNvSpPr/>
          <p:nvPr/>
        </p:nvSpPr>
        <p:spPr>
          <a:xfrm>
            <a:off x="227770" y="2307916"/>
            <a:ext cx="64008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Descripción</a:t>
            </a:r>
          </a:p>
        </p:txBody>
      </p:sp>
      <p:sp>
        <p:nvSpPr>
          <p:cNvPr id="10" name="Rounded Rectangle 9"/>
          <p:cNvSpPr/>
          <p:nvPr/>
        </p:nvSpPr>
        <p:spPr>
          <a:xfrm>
            <a:off x="6716066" y="1111764"/>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Categoría  de Riesgo Nivel I</a:t>
            </a:r>
          </a:p>
        </p:txBody>
      </p:sp>
      <p:sp>
        <p:nvSpPr>
          <p:cNvPr id="11" name="Rectangle 18"/>
          <p:cNvSpPr>
            <a:spLocks noChangeArrowheads="1"/>
          </p:cNvSpPr>
          <p:nvPr/>
        </p:nvSpPr>
        <p:spPr bwMode="auto">
          <a:xfrm>
            <a:off x="6716066" y="1325572"/>
            <a:ext cx="2286000" cy="270000"/>
          </a:xfrm>
          <a:prstGeom prst="rect">
            <a:avLst/>
          </a:prstGeom>
          <a:noFill/>
          <a:ln w="9525" algn="ctr">
            <a:solidFill>
              <a:schemeClr val="bg2"/>
            </a:solidFill>
            <a:miter lim="800000"/>
            <a:headEnd/>
            <a:tailEnd/>
          </a:ln>
          <a:effectLst/>
        </p:spPr>
        <p:txBody>
          <a:bodyPr anchor="ctr"/>
          <a:lstStyle/>
          <a:p>
            <a:pPr>
              <a:lnSpc>
                <a:spcPts val="1000"/>
              </a:lnSpc>
            </a:pPr>
            <a:r>
              <a:rPr lang="es-ES" sz="1100" dirty="0"/>
              <a:t>Ejecución, entrega y gestión de procesos</a:t>
            </a:r>
          </a:p>
        </p:txBody>
      </p:sp>
      <p:sp>
        <p:nvSpPr>
          <p:cNvPr id="12" name="Rounded Rectangle 11"/>
          <p:cNvSpPr/>
          <p:nvPr/>
        </p:nvSpPr>
        <p:spPr>
          <a:xfrm>
            <a:off x="6716066" y="1664503"/>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Categoría  de Riesgo Nivel II</a:t>
            </a:r>
          </a:p>
        </p:txBody>
      </p:sp>
      <p:sp>
        <p:nvSpPr>
          <p:cNvPr id="13" name="Rectangle 18"/>
          <p:cNvSpPr>
            <a:spLocks noChangeArrowheads="1"/>
          </p:cNvSpPr>
          <p:nvPr/>
        </p:nvSpPr>
        <p:spPr bwMode="auto">
          <a:xfrm>
            <a:off x="6716066" y="1877089"/>
            <a:ext cx="2286000" cy="270000"/>
          </a:xfrm>
          <a:prstGeom prst="rect">
            <a:avLst/>
          </a:prstGeom>
          <a:noFill/>
          <a:ln w="9525" algn="ctr">
            <a:solidFill>
              <a:schemeClr val="bg2"/>
            </a:solidFill>
            <a:miter lim="800000"/>
            <a:headEnd/>
            <a:tailEnd/>
          </a:ln>
          <a:effectLst/>
        </p:spPr>
        <p:txBody>
          <a:bodyPr anchor="ctr"/>
          <a:lstStyle/>
          <a:p>
            <a:r>
              <a:rPr lang="es-ES" sz="1100" dirty="0"/>
              <a:t>Ejecución, entrega y gestión de procesos</a:t>
            </a:r>
          </a:p>
        </p:txBody>
      </p:sp>
      <p:sp>
        <p:nvSpPr>
          <p:cNvPr id="15" name="Rounded Rectangle 14"/>
          <p:cNvSpPr/>
          <p:nvPr/>
        </p:nvSpPr>
        <p:spPr>
          <a:xfrm>
            <a:off x="6716066" y="2223551"/>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Categoría  de Riesgo Nivel III</a:t>
            </a:r>
          </a:p>
        </p:txBody>
      </p:sp>
      <p:sp>
        <p:nvSpPr>
          <p:cNvPr id="16" name="Rectangle 18"/>
          <p:cNvSpPr>
            <a:spLocks noChangeArrowheads="1"/>
          </p:cNvSpPr>
          <p:nvPr/>
        </p:nvSpPr>
        <p:spPr bwMode="auto">
          <a:xfrm>
            <a:off x="6716066" y="2434321"/>
            <a:ext cx="2286000" cy="270000"/>
          </a:xfrm>
          <a:prstGeom prst="rect">
            <a:avLst/>
          </a:prstGeom>
          <a:noFill/>
          <a:ln w="9525" algn="ctr">
            <a:solidFill>
              <a:schemeClr val="bg2"/>
            </a:solidFill>
            <a:miter lim="800000"/>
            <a:headEnd/>
            <a:tailEnd/>
          </a:ln>
          <a:effectLst/>
        </p:spPr>
        <p:txBody>
          <a:bodyPr anchor="ctr"/>
          <a:lstStyle/>
          <a:p>
            <a:r>
              <a:rPr lang="es-ES" sz="1000" dirty="0"/>
              <a:t>Recepción, ejecución y mantenimiento de operaciones</a:t>
            </a:r>
          </a:p>
        </p:txBody>
      </p:sp>
      <p:sp>
        <p:nvSpPr>
          <p:cNvPr id="17" name="Rounded Rectangle 16"/>
          <p:cNvSpPr/>
          <p:nvPr/>
        </p:nvSpPr>
        <p:spPr>
          <a:xfrm>
            <a:off x="216583" y="1110038"/>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Macroproceso</a:t>
            </a:r>
          </a:p>
        </p:txBody>
      </p:sp>
      <p:sp>
        <p:nvSpPr>
          <p:cNvPr id="18" name="Rectangle 18"/>
          <p:cNvSpPr>
            <a:spLocks noChangeArrowheads="1"/>
          </p:cNvSpPr>
          <p:nvPr/>
        </p:nvSpPr>
        <p:spPr bwMode="auto">
          <a:xfrm>
            <a:off x="2568409" y="1110038"/>
            <a:ext cx="3877200" cy="182880"/>
          </a:xfrm>
          <a:prstGeom prst="rect">
            <a:avLst/>
          </a:prstGeom>
          <a:noFill/>
          <a:ln w="9525" algn="ctr">
            <a:solidFill>
              <a:schemeClr val="bg2"/>
            </a:solidFill>
            <a:miter lim="800000"/>
            <a:headEnd/>
            <a:tailEnd/>
          </a:ln>
          <a:effectLst/>
        </p:spPr>
        <p:txBody>
          <a:bodyPr anchor="ctr"/>
          <a:lstStyle/>
          <a:p>
            <a:r>
              <a:rPr lang="es-ES" sz="1100" dirty="0"/>
              <a:t>Administración de Portafolio de Inversiones</a:t>
            </a:r>
          </a:p>
        </p:txBody>
      </p:sp>
      <p:sp>
        <p:nvSpPr>
          <p:cNvPr id="19" name="Rounded Rectangle 18"/>
          <p:cNvSpPr/>
          <p:nvPr/>
        </p:nvSpPr>
        <p:spPr>
          <a:xfrm>
            <a:off x="216583" y="1339045"/>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Proceso</a:t>
            </a:r>
          </a:p>
        </p:txBody>
      </p:sp>
      <p:sp>
        <p:nvSpPr>
          <p:cNvPr id="20" name="Rectangle 18"/>
          <p:cNvSpPr>
            <a:spLocks noChangeArrowheads="1"/>
          </p:cNvSpPr>
          <p:nvPr/>
        </p:nvSpPr>
        <p:spPr bwMode="auto">
          <a:xfrm>
            <a:off x="2568409" y="1339045"/>
            <a:ext cx="3877200" cy="182880"/>
          </a:xfrm>
          <a:prstGeom prst="rect">
            <a:avLst/>
          </a:prstGeom>
          <a:noFill/>
          <a:ln w="9525" algn="ctr">
            <a:solidFill>
              <a:schemeClr val="bg2"/>
            </a:solidFill>
            <a:miter lim="800000"/>
            <a:headEnd/>
            <a:tailEnd/>
          </a:ln>
          <a:effectLst/>
        </p:spPr>
        <p:txBody>
          <a:bodyPr anchor="ctr"/>
          <a:lstStyle/>
          <a:p>
            <a:r>
              <a:rPr lang="es-ES" sz="1100" dirty="0"/>
              <a:t>Administración de fondos</a:t>
            </a:r>
          </a:p>
        </p:txBody>
      </p:sp>
      <p:sp>
        <p:nvSpPr>
          <p:cNvPr id="59" name="Rounded Rectangle 58"/>
          <p:cNvSpPr/>
          <p:nvPr/>
        </p:nvSpPr>
        <p:spPr>
          <a:xfrm>
            <a:off x="216583" y="1579694"/>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Subproceso</a:t>
            </a:r>
          </a:p>
        </p:txBody>
      </p:sp>
      <p:sp>
        <p:nvSpPr>
          <p:cNvPr id="60" name="Rectangle 18"/>
          <p:cNvSpPr>
            <a:spLocks noChangeArrowheads="1"/>
          </p:cNvSpPr>
          <p:nvPr/>
        </p:nvSpPr>
        <p:spPr bwMode="auto">
          <a:xfrm>
            <a:off x="2568409" y="1579694"/>
            <a:ext cx="3875799" cy="182880"/>
          </a:xfrm>
          <a:prstGeom prst="rect">
            <a:avLst/>
          </a:prstGeom>
          <a:noFill/>
          <a:ln w="9525" algn="ctr">
            <a:solidFill>
              <a:schemeClr val="bg2"/>
            </a:solidFill>
            <a:miter lim="800000"/>
            <a:headEnd/>
            <a:tailEnd/>
          </a:ln>
          <a:effectLst/>
        </p:spPr>
        <p:txBody>
          <a:bodyPr anchor="ctr"/>
          <a:lstStyle/>
          <a:p>
            <a:r>
              <a:rPr lang="es-ES" sz="1100" dirty="0"/>
              <a:t>Ejecución de propuesta de Inversión</a:t>
            </a:r>
          </a:p>
        </p:txBody>
      </p:sp>
      <p:sp>
        <p:nvSpPr>
          <p:cNvPr id="61" name="Rounded Rectangle 60"/>
          <p:cNvSpPr/>
          <p:nvPr/>
        </p:nvSpPr>
        <p:spPr>
          <a:xfrm>
            <a:off x="226806" y="1826440"/>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Línea de Negocio</a:t>
            </a:r>
          </a:p>
        </p:txBody>
      </p:sp>
      <p:sp>
        <p:nvSpPr>
          <p:cNvPr id="63" name="Rounded Rectangle 62"/>
          <p:cNvSpPr/>
          <p:nvPr/>
        </p:nvSpPr>
        <p:spPr>
          <a:xfrm>
            <a:off x="226806" y="2079535"/>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Responsable</a:t>
            </a:r>
          </a:p>
        </p:txBody>
      </p:sp>
      <p:sp>
        <p:nvSpPr>
          <p:cNvPr id="65" name="Rectangle 18"/>
          <p:cNvSpPr>
            <a:spLocks noChangeArrowheads="1"/>
          </p:cNvSpPr>
          <p:nvPr/>
        </p:nvSpPr>
        <p:spPr bwMode="auto">
          <a:xfrm>
            <a:off x="2568409" y="1826440"/>
            <a:ext cx="3875799" cy="182880"/>
          </a:xfrm>
          <a:prstGeom prst="rect">
            <a:avLst/>
          </a:prstGeom>
          <a:noFill/>
          <a:ln w="9525" algn="ctr">
            <a:solidFill>
              <a:schemeClr val="bg2"/>
            </a:solidFill>
            <a:miter lim="800000"/>
            <a:headEnd/>
            <a:tailEnd/>
          </a:ln>
          <a:effectLst/>
        </p:spPr>
        <p:txBody>
          <a:bodyPr anchor="ctr"/>
          <a:lstStyle/>
          <a:p>
            <a:r>
              <a:rPr lang="es-ES" sz="1100" dirty="0"/>
              <a:t>Negociación y Ventas</a:t>
            </a:r>
          </a:p>
        </p:txBody>
      </p:sp>
      <p:sp>
        <p:nvSpPr>
          <p:cNvPr id="66" name="Rectangle 18"/>
          <p:cNvSpPr>
            <a:spLocks noChangeArrowheads="1"/>
          </p:cNvSpPr>
          <p:nvPr/>
        </p:nvSpPr>
        <p:spPr bwMode="auto">
          <a:xfrm>
            <a:off x="2555776" y="2079535"/>
            <a:ext cx="3875799" cy="182880"/>
          </a:xfrm>
          <a:prstGeom prst="rect">
            <a:avLst/>
          </a:prstGeom>
          <a:noFill/>
          <a:ln w="9525" algn="ctr">
            <a:solidFill>
              <a:schemeClr val="bg2"/>
            </a:solidFill>
            <a:miter lim="800000"/>
            <a:headEnd/>
            <a:tailEnd/>
          </a:ln>
          <a:effectLst/>
        </p:spPr>
        <p:txBody>
          <a:bodyPr anchor="ctr"/>
          <a:lstStyle/>
          <a:p>
            <a:r>
              <a:rPr lang="es-ES" sz="1100" dirty="0"/>
              <a:t>Subgerentes de Portafolio</a:t>
            </a:r>
          </a:p>
        </p:txBody>
      </p:sp>
      <p:sp>
        <p:nvSpPr>
          <p:cNvPr id="78" name="Rounded Rectangle 14"/>
          <p:cNvSpPr/>
          <p:nvPr/>
        </p:nvSpPr>
        <p:spPr>
          <a:xfrm>
            <a:off x="6716066" y="2768330"/>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Origen del Riesgo</a:t>
            </a:r>
          </a:p>
        </p:txBody>
      </p:sp>
      <p:sp>
        <p:nvSpPr>
          <p:cNvPr id="79" name="Rectangle 18"/>
          <p:cNvSpPr>
            <a:spLocks noChangeArrowheads="1"/>
          </p:cNvSpPr>
          <p:nvPr/>
        </p:nvSpPr>
        <p:spPr bwMode="auto">
          <a:xfrm>
            <a:off x="6716066" y="2983595"/>
            <a:ext cx="2286000" cy="270000"/>
          </a:xfrm>
          <a:prstGeom prst="rect">
            <a:avLst/>
          </a:prstGeom>
          <a:noFill/>
          <a:ln w="9525" algn="ctr">
            <a:solidFill>
              <a:schemeClr val="bg2"/>
            </a:solidFill>
            <a:miter lim="800000"/>
            <a:headEnd/>
            <a:tailEnd/>
          </a:ln>
          <a:effectLst/>
        </p:spPr>
        <p:txBody>
          <a:bodyPr anchor="ctr"/>
          <a:lstStyle/>
          <a:p>
            <a:r>
              <a:rPr lang="es-ES" sz="1100" dirty="0">
                <a:solidFill>
                  <a:srgbClr val="000000"/>
                </a:solidFill>
              </a:rPr>
              <a:t>Personas</a:t>
            </a:r>
          </a:p>
        </p:txBody>
      </p:sp>
      <p:sp>
        <p:nvSpPr>
          <p:cNvPr id="68" name="AutoShape 179"/>
          <p:cNvSpPr>
            <a:spLocks noChangeArrowheads="1"/>
          </p:cNvSpPr>
          <p:nvPr/>
        </p:nvSpPr>
        <p:spPr bwMode="auto">
          <a:xfrm>
            <a:off x="611560" y="3482416"/>
            <a:ext cx="3960812" cy="1275707"/>
          </a:xfrm>
          <a:prstGeom prst="roundRect">
            <a:avLst>
              <a:gd name="adj" fmla="val 9481"/>
            </a:avLst>
          </a:prstGeom>
          <a:solidFill>
            <a:schemeClr val="accent1">
              <a:lumMod val="20000"/>
              <a:lumOff val="80000"/>
            </a:schemeClr>
          </a:solidFill>
          <a:ln w="9525" algn="ctr">
            <a:noFill/>
            <a:round/>
            <a:headEnd/>
            <a:tailEnd/>
          </a:ln>
          <a:effectLst/>
        </p:spPr>
        <p:txBody>
          <a:bodyPr wrap="none" anchor="ctr"/>
          <a:lstStyle/>
          <a:p>
            <a:endParaRPr lang="es-CL">
              <a:solidFill>
                <a:srgbClr val="002060"/>
              </a:solidFill>
            </a:endParaRPr>
          </a:p>
        </p:txBody>
      </p:sp>
      <p:sp>
        <p:nvSpPr>
          <p:cNvPr id="73" name="Text Box 30"/>
          <p:cNvSpPr txBox="1">
            <a:spLocks noChangeArrowheads="1"/>
          </p:cNvSpPr>
          <p:nvPr/>
        </p:nvSpPr>
        <p:spPr bwMode="auto">
          <a:xfrm>
            <a:off x="190747" y="3259373"/>
            <a:ext cx="3671888" cy="276999"/>
          </a:xfrm>
          <a:prstGeom prst="rect">
            <a:avLst/>
          </a:prstGeom>
          <a:noFill/>
          <a:ln w="9525" algn="ctr">
            <a:noFill/>
            <a:miter lim="800000"/>
            <a:headEnd/>
            <a:tailEnd/>
          </a:ln>
          <a:effectLst/>
        </p:spPr>
        <p:txBody>
          <a:bodyPr>
            <a:spAutoFit/>
          </a:bodyPr>
          <a:lstStyle/>
          <a:p>
            <a:pPr>
              <a:spcBef>
                <a:spcPct val="50000"/>
              </a:spcBef>
            </a:pPr>
            <a:r>
              <a:rPr lang="es-CL" sz="1200" b="1" i="1" dirty="0">
                <a:solidFill>
                  <a:srgbClr val="A3A3E0"/>
                </a:solidFill>
              </a:rPr>
              <a:t>Resultados valoración de riesgos</a:t>
            </a:r>
            <a:endParaRPr lang="es-ES" sz="1200" b="1" i="1" dirty="0">
              <a:solidFill>
                <a:srgbClr val="A3A3E0"/>
              </a:solidFill>
            </a:endParaRPr>
          </a:p>
        </p:txBody>
      </p:sp>
      <p:sp>
        <p:nvSpPr>
          <p:cNvPr id="76" name="Rounded Rectangle 75"/>
          <p:cNvSpPr/>
          <p:nvPr/>
        </p:nvSpPr>
        <p:spPr>
          <a:xfrm>
            <a:off x="902959" y="4255955"/>
            <a:ext cx="1920240" cy="170094"/>
          </a:xfrm>
          <a:prstGeom prst="roundRect">
            <a:avLst/>
          </a:prstGeom>
          <a:solidFill>
            <a:srgbClr val="DB0613"/>
          </a:solidFill>
          <a:ln w="9525" algn="ctr">
            <a:noFill/>
            <a:miter lim="800000"/>
            <a:headEnd/>
            <a:tailEnd/>
          </a:ln>
          <a:effectLst/>
        </p:spPr>
        <p:txBody>
          <a:bodyPr tIns="91440" anchor="ctr"/>
          <a:lstStyle/>
          <a:p>
            <a:pPr>
              <a:lnSpc>
                <a:spcPct val="80000"/>
              </a:lnSpc>
            </a:pPr>
            <a:r>
              <a:rPr lang="es-CL" sz="1100" b="1" dirty="0">
                <a:solidFill>
                  <a:srgbClr val="FFFFFF"/>
                </a:solidFill>
                <a:cs typeface="Arial" pitchFamily="34" charset="0"/>
              </a:rPr>
              <a:t>Pérdida Esperada Anual</a:t>
            </a:r>
          </a:p>
        </p:txBody>
      </p:sp>
      <p:sp>
        <p:nvSpPr>
          <p:cNvPr id="77" name="Rectangle 18"/>
          <p:cNvSpPr>
            <a:spLocks noChangeArrowheads="1"/>
          </p:cNvSpPr>
          <p:nvPr/>
        </p:nvSpPr>
        <p:spPr bwMode="auto">
          <a:xfrm>
            <a:off x="2859920" y="4255955"/>
            <a:ext cx="1554480" cy="170094"/>
          </a:xfrm>
          <a:prstGeom prst="rect">
            <a:avLst/>
          </a:prstGeom>
          <a:solidFill>
            <a:schemeClr val="bg1"/>
          </a:solidFill>
          <a:ln w="9525" algn="ctr">
            <a:solidFill>
              <a:schemeClr val="bg2"/>
            </a:solidFill>
            <a:miter lim="800000"/>
            <a:headEnd/>
            <a:tailEnd/>
          </a:ln>
          <a:effectLst/>
        </p:spPr>
        <p:txBody>
          <a:bodyPr anchor="ctr"/>
          <a:lstStyle/>
          <a:p>
            <a:pPr algn="ctr"/>
            <a:r>
              <a:rPr lang="es-ES" sz="1100" dirty="0">
                <a:solidFill>
                  <a:srgbClr val="000000"/>
                </a:solidFill>
              </a:rPr>
              <a:t>s/. </a:t>
            </a:r>
            <a:r>
              <a:rPr lang="es-ES" sz="1100" dirty="0"/>
              <a:t>22,200 .00</a:t>
            </a:r>
            <a:endParaRPr lang="es-ES" sz="1100" dirty="0">
              <a:solidFill>
                <a:srgbClr val="000000"/>
              </a:solidFill>
            </a:endParaRPr>
          </a:p>
        </p:txBody>
      </p:sp>
      <p:sp>
        <p:nvSpPr>
          <p:cNvPr id="80" name="Rounded Rectangle 79"/>
          <p:cNvSpPr/>
          <p:nvPr/>
        </p:nvSpPr>
        <p:spPr>
          <a:xfrm>
            <a:off x="902959" y="4485567"/>
            <a:ext cx="1920240" cy="170094"/>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VaR Cualitativo Anual</a:t>
            </a:r>
          </a:p>
        </p:txBody>
      </p:sp>
      <p:sp>
        <p:nvSpPr>
          <p:cNvPr id="81" name="Rectangle 18"/>
          <p:cNvSpPr>
            <a:spLocks noChangeArrowheads="1"/>
          </p:cNvSpPr>
          <p:nvPr/>
        </p:nvSpPr>
        <p:spPr bwMode="auto">
          <a:xfrm>
            <a:off x="2859920" y="4485567"/>
            <a:ext cx="1554480" cy="170094"/>
          </a:xfrm>
          <a:prstGeom prst="rect">
            <a:avLst/>
          </a:prstGeom>
          <a:solidFill>
            <a:schemeClr val="bg1"/>
          </a:solidFill>
          <a:ln w="9525" algn="ctr">
            <a:solidFill>
              <a:schemeClr val="bg2"/>
            </a:solidFill>
            <a:miter lim="800000"/>
            <a:headEnd/>
            <a:tailEnd/>
          </a:ln>
          <a:effectLst/>
        </p:spPr>
        <p:txBody>
          <a:bodyPr anchor="ctr"/>
          <a:lstStyle/>
          <a:p>
            <a:pPr algn="ctr"/>
            <a:r>
              <a:rPr lang="es-ES" sz="1100" dirty="0"/>
              <a:t>s</a:t>
            </a:r>
            <a:r>
              <a:rPr lang="es-ES" sz="1100" dirty="0">
                <a:solidFill>
                  <a:srgbClr val="000000"/>
                </a:solidFill>
              </a:rPr>
              <a:t>/. </a:t>
            </a:r>
            <a:r>
              <a:rPr lang="es-ES" sz="1100" dirty="0"/>
              <a:t>514,143.61 </a:t>
            </a:r>
            <a:endParaRPr lang="es-ES" sz="1100" dirty="0">
              <a:solidFill>
                <a:srgbClr val="000000"/>
              </a:solidFill>
            </a:endParaRPr>
          </a:p>
        </p:txBody>
      </p:sp>
      <p:sp>
        <p:nvSpPr>
          <p:cNvPr id="82" name="Rounded Rectangle 81"/>
          <p:cNvSpPr/>
          <p:nvPr/>
        </p:nvSpPr>
        <p:spPr>
          <a:xfrm>
            <a:off x="891084" y="3553916"/>
            <a:ext cx="1920240" cy="170094"/>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Frecuencia  Evento Pérdida</a:t>
            </a:r>
          </a:p>
        </p:txBody>
      </p:sp>
      <p:sp>
        <p:nvSpPr>
          <p:cNvPr id="83" name="Rectangle 18"/>
          <p:cNvSpPr>
            <a:spLocks noChangeArrowheads="1"/>
          </p:cNvSpPr>
          <p:nvPr/>
        </p:nvSpPr>
        <p:spPr bwMode="auto">
          <a:xfrm>
            <a:off x="2859920" y="3553916"/>
            <a:ext cx="1554480" cy="170094"/>
          </a:xfrm>
          <a:prstGeom prst="rect">
            <a:avLst/>
          </a:prstGeom>
          <a:solidFill>
            <a:schemeClr val="bg1"/>
          </a:solidFill>
          <a:ln w="9525" algn="ctr">
            <a:solidFill>
              <a:schemeClr val="bg2"/>
            </a:solidFill>
            <a:miter lim="800000"/>
            <a:headEnd/>
            <a:tailEnd/>
          </a:ln>
          <a:effectLst/>
        </p:spPr>
        <p:txBody>
          <a:bodyPr anchor="ctr"/>
          <a:lstStyle/>
          <a:p>
            <a:pPr algn="ctr"/>
            <a:r>
              <a:rPr lang="es-ES" sz="1100" dirty="0">
                <a:solidFill>
                  <a:srgbClr val="000000"/>
                </a:solidFill>
              </a:rPr>
              <a:t>1 vez cada 10 años</a:t>
            </a:r>
          </a:p>
        </p:txBody>
      </p:sp>
      <p:sp>
        <p:nvSpPr>
          <p:cNvPr id="84" name="Rounded Rectangle 83"/>
          <p:cNvSpPr/>
          <p:nvPr/>
        </p:nvSpPr>
        <p:spPr>
          <a:xfrm>
            <a:off x="891084" y="3783528"/>
            <a:ext cx="1920240" cy="170094"/>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Impacto Medio Evento</a:t>
            </a:r>
          </a:p>
        </p:txBody>
      </p:sp>
      <p:sp>
        <p:nvSpPr>
          <p:cNvPr id="85" name="Rectangle 18"/>
          <p:cNvSpPr>
            <a:spLocks noChangeArrowheads="1"/>
          </p:cNvSpPr>
          <p:nvPr/>
        </p:nvSpPr>
        <p:spPr bwMode="auto">
          <a:xfrm>
            <a:off x="2859920" y="3783528"/>
            <a:ext cx="1554480" cy="170094"/>
          </a:xfrm>
          <a:prstGeom prst="rect">
            <a:avLst/>
          </a:prstGeom>
          <a:solidFill>
            <a:schemeClr val="bg1"/>
          </a:solidFill>
          <a:ln w="9525" algn="ctr">
            <a:solidFill>
              <a:schemeClr val="bg2"/>
            </a:solidFill>
            <a:miter lim="800000"/>
            <a:headEnd/>
            <a:tailEnd/>
          </a:ln>
          <a:effectLst/>
        </p:spPr>
        <p:txBody>
          <a:bodyPr anchor="ctr"/>
          <a:lstStyle/>
          <a:p>
            <a:pPr algn="ctr"/>
            <a:r>
              <a:rPr lang="es-ES" sz="1100" dirty="0">
                <a:solidFill>
                  <a:srgbClr val="000000"/>
                </a:solidFill>
              </a:rPr>
              <a:t>s/. </a:t>
            </a:r>
            <a:r>
              <a:rPr lang="es-ES" sz="1100" dirty="0"/>
              <a:t>222,000 .00 </a:t>
            </a:r>
            <a:endParaRPr lang="es-ES" sz="1100" dirty="0">
              <a:solidFill>
                <a:srgbClr val="000000"/>
              </a:solidFill>
            </a:endParaRPr>
          </a:p>
        </p:txBody>
      </p:sp>
      <p:sp>
        <p:nvSpPr>
          <p:cNvPr id="86" name="Rounded Rectangle 85"/>
          <p:cNvSpPr/>
          <p:nvPr/>
        </p:nvSpPr>
        <p:spPr>
          <a:xfrm>
            <a:off x="891084" y="4019108"/>
            <a:ext cx="1920240" cy="170094"/>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Impacto Peor Escenario</a:t>
            </a:r>
          </a:p>
        </p:txBody>
      </p:sp>
      <p:sp>
        <p:nvSpPr>
          <p:cNvPr id="87" name="Rectangle 18"/>
          <p:cNvSpPr>
            <a:spLocks noChangeArrowheads="1"/>
          </p:cNvSpPr>
          <p:nvPr/>
        </p:nvSpPr>
        <p:spPr bwMode="auto">
          <a:xfrm>
            <a:off x="2859920" y="4019108"/>
            <a:ext cx="1554480" cy="170094"/>
          </a:xfrm>
          <a:prstGeom prst="rect">
            <a:avLst/>
          </a:prstGeom>
          <a:solidFill>
            <a:schemeClr val="bg1"/>
          </a:solidFill>
          <a:ln w="9525" algn="ctr">
            <a:solidFill>
              <a:schemeClr val="bg2"/>
            </a:solidFill>
            <a:miter lim="800000"/>
            <a:headEnd/>
            <a:tailEnd/>
          </a:ln>
          <a:effectLst/>
        </p:spPr>
        <p:txBody>
          <a:bodyPr anchor="ctr"/>
          <a:lstStyle/>
          <a:p>
            <a:pPr algn="ctr"/>
            <a:r>
              <a:rPr lang="es-ES" sz="1100" dirty="0">
                <a:solidFill>
                  <a:srgbClr val="000000"/>
                </a:solidFill>
              </a:rPr>
              <a:t>s/. </a:t>
            </a:r>
            <a:r>
              <a:rPr lang="es-ES" sz="1100" dirty="0"/>
              <a:t>370,000 .00</a:t>
            </a:r>
            <a:endParaRPr lang="es-ES" sz="1100" dirty="0">
              <a:solidFill>
                <a:srgbClr val="000000"/>
              </a:solidFill>
            </a:endParaRPr>
          </a:p>
        </p:txBody>
      </p:sp>
      <p:sp>
        <p:nvSpPr>
          <p:cNvPr id="88" name="AutoShape 47"/>
          <p:cNvSpPr>
            <a:spLocks noChangeAspect="1" noChangeArrowheads="1"/>
          </p:cNvSpPr>
          <p:nvPr/>
        </p:nvSpPr>
        <p:spPr bwMode="blackWhite">
          <a:xfrm>
            <a:off x="263032" y="3482416"/>
            <a:ext cx="503986" cy="1274400"/>
          </a:xfrm>
          <a:prstGeom prst="rightArrow">
            <a:avLst>
              <a:gd name="adj1" fmla="val 100000"/>
              <a:gd name="adj2" fmla="val 11009"/>
            </a:avLst>
          </a:prstGeom>
          <a:solidFill>
            <a:srgbClr val="969696"/>
          </a:solidFill>
          <a:ln w="12700">
            <a:noFill/>
            <a:miter lim="800000"/>
            <a:headEnd/>
            <a:tailEnd/>
          </a:ln>
          <a:effectLst>
            <a:outerShdw dist="35921" dir="2700000" algn="ctr" rotWithShape="0">
              <a:schemeClr val="bg2"/>
            </a:outerShdw>
          </a:effectLst>
        </p:spPr>
        <p:txBody>
          <a:bodyPr vert="vert270" anchor="ctr"/>
          <a:lstStyle/>
          <a:p>
            <a:pPr algn="ctr">
              <a:lnSpc>
                <a:spcPts val="1000"/>
              </a:lnSpc>
            </a:pPr>
            <a:r>
              <a:rPr lang="es-ES" sz="1100" b="1" noProof="1">
                <a:solidFill>
                  <a:srgbClr val="FFFFFF"/>
                </a:solidFill>
                <a:cs typeface="Arial" charset="0"/>
              </a:rPr>
              <a:t>Evaluación Riesgo Operacional</a:t>
            </a:r>
          </a:p>
        </p:txBody>
      </p:sp>
      <p:sp>
        <p:nvSpPr>
          <p:cNvPr id="89" name="AutoShape 179"/>
          <p:cNvSpPr>
            <a:spLocks noChangeArrowheads="1"/>
          </p:cNvSpPr>
          <p:nvPr/>
        </p:nvSpPr>
        <p:spPr bwMode="auto">
          <a:xfrm>
            <a:off x="4932039" y="3493021"/>
            <a:ext cx="4037169" cy="864000"/>
          </a:xfrm>
          <a:prstGeom prst="roundRect">
            <a:avLst>
              <a:gd name="adj" fmla="val 9481"/>
            </a:avLst>
          </a:prstGeom>
          <a:solidFill>
            <a:schemeClr val="accent1">
              <a:lumMod val="20000"/>
              <a:lumOff val="80000"/>
            </a:schemeClr>
          </a:solidFill>
          <a:ln w="9525" algn="ctr">
            <a:noFill/>
            <a:round/>
            <a:headEnd/>
            <a:tailEnd/>
          </a:ln>
          <a:effectLst/>
        </p:spPr>
        <p:txBody>
          <a:bodyPr wrap="none" anchor="ctr"/>
          <a:lstStyle/>
          <a:p>
            <a:endParaRPr lang="es-CL">
              <a:solidFill>
                <a:srgbClr val="002060"/>
              </a:solidFill>
            </a:endParaRPr>
          </a:p>
        </p:txBody>
      </p:sp>
      <p:sp>
        <p:nvSpPr>
          <p:cNvPr id="90" name="AutoShape 47"/>
          <p:cNvSpPr>
            <a:spLocks noChangeArrowheads="1"/>
          </p:cNvSpPr>
          <p:nvPr/>
        </p:nvSpPr>
        <p:spPr bwMode="blackWhite">
          <a:xfrm>
            <a:off x="4678512" y="3494523"/>
            <a:ext cx="353942" cy="864000"/>
          </a:xfrm>
          <a:prstGeom prst="rightArrow">
            <a:avLst>
              <a:gd name="adj1" fmla="val 100000"/>
              <a:gd name="adj2" fmla="val 11009"/>
            </a:avLst>
          </a:prstGeom>
          <a:solidFill>
            <a:srgbClr val="969696"/>
          </a:solidFill>
          <a:ln w="12700">
            <a:noFill/>
            <a:miter lim="800000"/>
            <a:headEnd/>
            <a:tailEnd/>
          </a:ln>
          <a:effectLst>
            <a:outerShdw dist="35921" dir="2700000" algn="ctr" rotWithShape="0">
              <a:schemeClr val="bg2"/>
            </a:outerShdw>
          </a:effectLst>
        </p:spPr>
        <p:txBody>
          <a:bodyPr vert="vert270" anchor="ctr"/>
          <a:lstStyle/>
          <a:p>
            <a:pPr algn="ctr">
              <a:lnSpc>
                <a:spcPts val="1000"/>
              </a:lnSpc>
            </a:pPr>
            <a:r>
              <a:rPr lang="es-ES" sz="1100" b="1" noProof="1">
                <a:solidFill>
                  <a:srgbClr val="FFFFFF"/>
                </a:solidFill>
                <a:cs typeface="Arial" charset="0"/>
              </a:rPr>
              <a:t>Impacto Reputacional</a:t>
            </a:r>
          </a:p>
        </p:txBody>
      </p:sp>
      <p:sp>
        <p:nvSpPr>
          <p:cNvPr id="91" name="Rectangle 18"/>
          <p:cNvSpPr>
            <a:spLocks noChangeArrowheads="1"/>
          </p:cNvSpPr>
          <p:nvPr/>
        </p:nvSpPr>
        <p:spPr bwMode="auto">
          <a:xfrm>
            <a:off x="8334310" y="3568288"/>
            <a:ext cx="548640" cy="170094"/>
          </a:xfrm>
          <a:prstGeom prst="rect">
            <a:avLst/>
          </a:prstGeom>
          <a:solidFill>
            <a:schemeClr val="bg1"/>
          </a:solidFill>
          <a:ln w="9525" algn="ctr">
            <a:solidFill>
              <a:schemeClr val="bg2"/>
            </a:solidFill>
            <a:miter lim="800000"/>
            <a:headEnd/>
            <a:tailEnd/>
          </a:ln>
          <a:effectLst/>
        </p:spPr>
        <p:txBody>
          <a:bodyPr anchor="ctr"/>
          <a:lstStyle/>
          <a:p>
            <a:pPr algn="ctr"/>
            <a:r>
              <a:rPr lang="es-ES" sz="1100" dirty="0">
                <a:solidFill>
                  <a:srgbClr val="002060"/>
                </a:solidFill>
              </a:rPr>
              <a:t>1</a:t>
            </a:r>
          </a:p>
        </p:txBody>
      </p:sp>
      <p:sp>
        <p:nvSpPr>
          <p:cNvPr id="92" name="Rounded Rectangle 91"/>
          <p:cNvSpPr/>
          <p:nvPr/>
        </p:nvSpPr>
        <p:spPr>
          <a:xfrm>
            <a:off x="5102950" y="3568288"/>
            <a:ext cx="3132000" cy="170094"/>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Afectación a contrapartes</a:t>
            </a:r>
          </a:p>
        </p:txBody>
      </p:sp>
      <p:sp>
        <p:nvSpPr>
          <p:cNvPr id="93" name="Rectangle 18"/>
          <p:cNvSpPr>
            <a:spLocks noChangeArrowheads="1"/>
          </p:cNvSpPr>
          <p:nvPr/>
        </p:nvSpPr>
        <p:spPr bwMode="auto">
          <a:xfrm>
            <a:off x="5102950" y="3786445"/>
            <a:ext cx="3780000" cy="469509"/>
          </a:xfrm>
          <a:prstGeom prst="rect">
            <a:avLst/>
          </a:prstGeom>
          <a:solidFill>
            <a:schemeClr val="bg1"/>
          </a:solidFill>
          <a:ln w="9525" algn="ctr">
            <a:solidFill>
              <a:schemeClr val="bg2"/>
            </a:solidFill>
            <a:miter lim="800000"/>
            <a:headEnd/>
            <a:tailEnd/>
          </a:ln>
          <a:effectLst/>
        </p:spPr>
        <p:txBody>
          <a:bodyPr anchor="ctr"/>
          <a:lstStyle/>
          <a:p>
            <a:r>
              <a:rPr lang="es-ES" sz="1100" dirty="0">
                <a:solidFill>
                  <a:srgbClr val="000000"/>
                </a:solidFill>
              </a:rPr>
              <a:t>La exposición de la imagen es únicamente interna y limitada.</a:t>
            </a:r>
          </a:p>
        </p:txBody>
      </p:sp>
      <p:sp>
        <p:nvSpPr>
          <p:cNvPr id="94" name="Text Box 30"/>
          <p:cNvSpPr txBox="1">
            <a:spLocks noChangeArrowheads="1"/>
          </p:cNvSpPr>
          <p:nvPr/>
        </p:nvSpPr>
        <p:spPr bwMode="auto">
          <a:xfrm>
            <a:off x="190746" y="4838419"/>
            <a:ext cx="3996000" cy="276999"/>
          </a:xfrm>
          <a:prstGeom prst="rect">
            <a:avLst/>
          </a:prstGeom>
          <a:noFill/>
          <a:ln w="9525" algn="ctr">
            <a:noFill/>
            <a:miter lim="800000"/>
            <a:headEnd/>
            <a:tailEnd/>
          </a:ln>
          <a:effectLst/>
        </p:spPr>
        <p:txBody>
          <a:bodyPr wrap="square">
            <a:spAutoFit/>
          </a:bodyPr>
          <a:lstStyle/>
          <a:p>
            <a:pPr>
              <a:spcBef>
                <a:spcPct val="50000"/>
              </a:spcBef>
            </a:pPr>
            <a:r>
              <a:rPr lang="es-CL" sz="1200" b="1" i="1" dirty="0">
                <a:solidFill>
                  <a:srgbClr val="A3A3E0"/>
                </a:solidFill>
              </a:rPr>
              <a:t>Resultados valoración de controles / factores mitigantes</a:t>
            </a:r>
            <a:endParaRPr lang="es-ES" sz="1200" b="1" i="1" dirty="0">
              <a:solidFill>
                <a:srgbClr val="A3A3E0"/>
              </a:solidFill>
            </a:endParaRPr>
          </a:p>
        </p:txBody>
      </p:sp>
      <p:sp>
        <p:nvSpPr>
          <p:cNvPr id="98" name="AutoShape 179"/>
          <p:cNvSpPr>
            <a:spLocks noChangeArrowheads="1"/>
          </p:cNvSpPr>
          <p:nvPr/>
        </p:nvSpPr>
        <p:spPr bwMode="auto">
          <a:xfrm>
            <a:off x="4927319" y="4397238"/>
            <a:ext cx="4037169" cy="892800"/>
          </a:xfrm>
          <a:prstGeom prst="roundRect">
            <a:avLst>
              <a:gd name="adj" fmla="val 9481"/>
            </a:avLst>
          </a:prstGeom>
          <a:solidFill>
            <a:schemeClr val="accent1">
              <a:lumMod val="20000"/>
              <a:lumOff val="80000"/>
            </a:schemeClr>
          </a:solidFill>
          <a:ln w="9525" algn="ctr">
            <a:noFill/>
            <a:round/>
            <a:headEnd/>
            <a:tailEnd/>
          </a:ln>
          <a:effectLst/>
        </p:spPr>
        <p:txBody>
          <a:bodyPr wrap="none" anchor="ctr"/>
          <a:lstStyle/>
          <a:p>
            <a:endParaRPr lang="es-CL">
              <a:solidFill>
                <a:srgbClr val="002060"/>
              </a:solidFill>
            </a:endParaRPr>
          </a:p>
        </p:txBody>
      </p:sp>
      <p:sp>
        <p:nvSpPr>
          <p:cNvPr id="99" name="AutoShape 47"/>
          <p:cNvSpPr>
            <a:spLocks noChangeArrowheads="1"/>
          </p:cNvSpPr>
          <p:nvPr/>
        </p:nvSpPr>
        <p:spPr bwMode="blackWhite">
          <a:xfrm>
            <a:off x="4673792" y="4398740"/>
            <a:ext cx="352800" cy="892800"/>
          </a:xfrm>
          <a:prstGeom prst="rightArrow">
            <a:avLst>
              <a:gd name="adj1" fmla="val 100000"/>
              <a:gd name="adj2" fmla="val 11009"/>
            </a:avLst>
          </a:prstGeom>
          <a:solidFill>
            <a:srgbClr val="969696"/>
          </a:solidFill>
          <a:ln w="12700">
            <a:noFill/>
            <a:miter lim="800000"/>
            <a:headEnd/>
            <a:tailEnd/>
          </a:ln>
          <a:effectLst>
            <a:outerShdw dist="35921" dir="2700000" algn="ctr" rotWithShape="0">
              <a:schemeClr val="bg2"/>
            </a:outerShdw>
          </a:effectLst>
        </p:spPr>
        <p:txBody>
          <a:bodyPr vert="vert270" anchor="ctr"/>
          <a:lstStyle/>
          <a:p>
            <a:pPr algn="ctr">
              <a:lnSpc>
                <a:spcPts val="1000"/>
              </a:lnSpc>
            </a:pPr>
            <a:r>
              <a:rPr lang="es-ES" sz="1100" b="1" noProof="1">
                <a:solidFill>
                  <a:srgbClr val="FFFFFF"/>
                </a:solidFill>
                <a:cs typeface="Arial" charset="0"/>
              </a:rPr>
              <a:t>Cuestionarios</a:t>
            </a:r>
          </a:p>
        </p:txBody>
      </p:sp>
      <p:sp>
        <p:nvSpPr>
          <p:cNvPr id="101" name="Rounded Rectangle 38"/>
          <p:cNvSpPr/>
          <p:nvPr/>
        </p:nvSpPr>
        <p:spPr>
          <a:xfrm>
            <a:off x="5098230" y="4472505"/>
            <a:ext cx="3132000" cy="170094"/>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Criterios de Evaluación</a:t>
            </a:r>
          </a:p>
        </p:txBody>
      </p:sp>
      <p:sp>
        <p:nvSpPr>
          <p:cNvPr id="102" name="AutoShape 179"/>
          <p:cNvSpPr>
            <a:spLocks noChangeArrowheads="1"/>
          </p:cNvSpPr>
          <p:nvPr/>
        </p:nvSpPr>
        <p:spPr bwMode="auto">
          <a:xfrm>
            <a:off x="534831" y="5060900"/>
            <a:ext cx="4037169" cy="864000"/>
          </a:xfrm>
          <a:prstGeom prst="roundRect">
            <a:avLst>
              <a:gd name="adj" fmla="val 9481"/>
            </a:avLst>
          </a:prstGeom>
          <a:solidFill>
            <a:schemeClr val="accent1">
              <a:lumMod val="20000"/>
              <a:lumOff val="80000"/>
            </a:schemeClr>
          </a:solidFill>
          <a:ln w="9525" algn="ctr">
            <a:noFill/>
            <a:round/>
            <a:headEnd/>
            <a:tailEnd/>
          </a:ln>
          <a:effectLst/>
        </p:spPr>
        <p:txBody>
          <a:bodyPr wrap="none" anchor="ctr"/>
          <a:lstStyle/>
          <a:p>
            <a:endParaRPr lang="es-CL">
              <a:solidFill>
                <a:srgbClr val="002060"/>
              </a:solidFill>
            </a:endParaRPr>
          </a:p>
        </p:txBody>
      </p:sp>
      <p:sp>
        <p:nvSpPr>
          <p:cNvPr id="103" name="AutoShape 47"/>
          <p:cNvSpPr>
            <a:spLocks noChangeArrowheads="1"/>
          </p:cNvSpPr>
          <p:nvPr/>
        </p:nvSpPr>
        <p:spPr bwMode="blackWhite">
          <a:xfrm>
            <a:off x="281304" y="5062402"/>
            <a:ext cx="353942" cy="864000"/>
          </a:xfrm>
          <a:prstGeom prst="rightArrow">
            <a:avLst>
              <a:gd name="adj1" fmla="val 100000"/>
              <a:gd name="adj2" fmla="val 11009"/>
            </a:avLst>
          </a:prstGeom>
          <a:solidFill>
            <a:srgbClr val="969696"/>
          </a:solidFill>
          <a:ln w="12700">
            <a:noFill/>
            <a:miter lim="800000"/>
            <a:headEnd/>
            <a:tailEnd/>
          </a:ln>
          <a:effectLst>
            <a:outerShdw dist="35921" dir="2700000" algn="ctr" rotWithShape="0">
              <a:schemeClr val="bg2"/>
            </a:outerShdw>
          </a:effectLst>
        </p:spPr>
        <p:txBody>
          <a:bodyPr vert="vert270" anchor="ctr"/>
          <a:lstStyle/>
          <a:p>
            <a:pPr algn="ctr">
              <a:lnSpc>
                <a:spcPts val="1000"/>
              </a:lnSpc>
            </a:pPr>
            <a:r>
              <a:rPr lang="es-ES" sz="1100" b="1" noProof="1">
                <a:solidFill>
                  <a:srgbClr val="FFFFFF"/>
                </a:solidFill>
                <a:cs typeface="Arial" charset="0"/>
              </a:rPr>
              <a:t>Evaluación de Controles</a:t>
            </a:r>
          </a:p>
        </p:txBody>
      </p:sp>
      <p:sp>
        <p:nvSpPr>
          <p:cNvPr id="104" name="Rectangle 18"/>
          <p:cNvSpPr>
            <a:spLocks noChangeArrowheads="1"/>
          </p:cNvSpPr>
          <p:nvPr/>
        </p:nvSpPr>
        <p:spPr bwMode="auto">
          <a:xfrm>
            <a:off x="3937102" y="5136167"/>
            <a:ext cx="548640" cy="170094"/>
          </a:xfrm>
          <a:prstGeom prst="rect">
            <a:avLst/>
          </a:prstGeom>
          <a:solidFill>
            <a:schemeClr val="bg1"/>
          </a:solidFill>
          <a:ln w="9525" algn="ctr">
            <a:solidFill>
              <a:schemeClr val="bg2"/>
            </a:solidFill>
            <a:miter lim="800000"/>
            <a:headEnd/>
            <a:tailEnd/>
          </a:ln>
          <a:effectLst/>
        </p:spPr>
        <p:txBody>
          <a:bodyPr anchor="ctr"/>
          <a:lstStyle/>
          <a:p>
            <a:pPr algn="ctr"/>
            <a:r>
              <a:rPr lang="es-ES" sz="1100" dirty="0">
                <a:solidFill>
                  <a:srgbClr val="002060"/>
                </a:solidFill>
              </a:rPr>
              <a:t>1</a:t>
            </a:r>
          </a:p>
        </p:txBody>
      </p:sp>
      <p:sp>
        <p:nvSpPr>
          <p:cNvPr id="105" name="Rounded Rectangle 38"/>
          <p:cNvSpPr/>
          <p:nvPr/>
        </p:nvSpPr>
        <p:spPr>
          <a:xfrm>
            <a:off x="705742" y="5136167"/>
            <a:ext cx="3132000" cy="170094"/>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Controles asociados al riesgo</a:t>
            </a:r>
          </a:p>
        </p:txBody>
      </p:sp>
      <p:sp>
        <p:nvSpPr>
          <p:cNvPr id="106" name="Rectangle 18"/>
          <p:cNvSpPr>
            <a:spLocks noChangeArrowheads="1"/>
          </p:cNvSpPr>
          <p:nvPr/>
        </p:nvSpPr>
        <p:spPr bwMode="auto">
          <a:xfrm>
            <a:off x="5102950" y="4685678"/>
            <a:ext cx="3780000" cy="469509"/>
          </a:xfrm>
          <a:prstGeom prst="rect">
            <a:avLst/>
          </a:prstGeom>
          <a:solidFill>
            <a:schemeClr val="bg1"/>
          </a:solidFill>
          <a:ln w="9525" algn="ctr">
            <a:solidFill>
              <a:schemeClr val="bg2"/>
            </a:solidFill>
            <a:miter lim="800000"/>
            <a:headEnd/>
            <a:tailEnd/>
          </a:ln>
          <a:effectLst/>
        </p:spPr>
        <p:txBody>
          <a:bodyPr anchor="ctr"/>
          <a:lstStyle/>
          <a:p>
            <a:r>
              <a:rPr lang="es-ES" sz="1100" dirty="0"/>
              <a:t>La valoración del riesgo se ha basado en el Reglamento de Sanciones, tratándose de una infracción grave (20 </a:t>
            </a:r>
            <a:r>
              <a:rPr lang="es-ES" sz="1100" dirty="0" err="1"/>
              <a:t>UITs</a:t>
            </a:r>
            <a:r>
              <a:rPr lang="es-ES" sz="1100" dirty="0"/>
              <a:t> – 100 </a:t>
            </a:r>
            <a:r>
              <a:rPr lang="es-ES" sz="1100" dirty="0" err="1"/>
              <a:t>UITs</a:t>
            </a:r>
            <a:r>
              <a:rPr lang="es-ES" sz="1100" dirty="0"/>
              <a:t>)</a:t>
            </a:r>
          </a:p>
        </p:txBody>
      </p:sp>
      <p:sp>
        <p:nvSpPr>
          <p:cNvPr id="107" name="Rectangle 18"/>
          <p:cNvSpPr>
            <a:spLocks noChangeArrowheads="1"/>
          </p:cNvSpPr>
          <p:nvPr/>
        </p:nvSpPr>
        <p:spPr bwMode="auto">
          <a:xfrm>
            <a:off x="705742" y="5357175"/>
            <a:ext cx="3780000" cy="469509"/>
          </a:xfrm>
          <a:prstGeom prst="rect">
            <a:avLst/>
          </a:prstGeom>
          <a:solidFill>
            <a:schemeClr val="bg1"/>
          </a:solidFill>
          <a:ln w="9525" algn="ctr">
            <a:solidFill>
              <a:schemeClr val="bg2"/>
            </a:solidFill>
            <a:miter lim="800000"/>
            <a:headEnd/>
            <a:tailEnd/>
          </a:ln>
          <a:effectLst/>
        </p:spPr>
        <p:txBody>
          <a:bodyPr anchor="ctr"/>
          <a:lstStyle/>
          <a:p>
            <a:r>
              <a:rPr lang="es-PE" sz="1100" dirty="0">
                <a:solidFill>
                  <a:srgbClr val="000000"/>
                </a:solidFill>
              </a:rPr>
              <a:t>Toda operación que se encuentra fuera de la política de inversiones de Rimac, requiere la aprobación del G.G.A.I.</a:t>
            </a:r>
            <a:endParaRPr lang="es-ES" sz="1100" dirty="0">
              <a:solidFill>
                <a:srgbClr val="000000"/>
              </a:solidFill>
            </a:endParaRPr>
          </a:p>
        </p:txBody>
      </p:sp>
    </p:spTree>
    <p:extLst>
      <p:ext uri="{BB962C8B-B14F-4D97-AF65-F5344CB8AC3E}">
        <p14:creationId xmlns:p14="http://schemas.microsoft.com/office/powerpoint/2010/main" val="4221460520"/>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dirty="0"/>
              <a:t>Anexo: Ficha Individual Riesgos Operacionales</a:t>
            </a:r>
          </a:p>
        </p:txBody>
      </p:sp>
      <p:sp>
        <p:nvSpPr>
          <p:cNvPr id="3" name="AutoShape 179"/>
          <p:cNvSpPr>
            <a:spLocks noChangeArrowheads="1"/>
          </p:cNvSpPr>
          <p:nvPr/>
        </p:nvSpPr>
        <p:spPr bwMode="auto">
          <a:xfrm>
            <a:off x="611560" y="3535397"/>
            <a:ext cx="3960812" cy="1371600"/>
          </a:xfrm>
          <a:prstGeom prst="roundRect">
            <a:avLst>
              <a:gd name="adj" fmla="val 9481"/>
            </a:avLst>
          </a:prstGeom>
          <a:solidFill>
            <a:schemeClr val="accent1">
              <a:lumMod val="20000"/>
              <a:lumOff val="80000"/>
            </a:schemeClr>
          </a:solidFill>
          <a:ln w="9525" algn="ctr">
            <a:noFill/>
            <a:round/>
            <a:headEnd/>
            <a:tailEnd/>
          </a:ln>
          <a:effectLst/>
        </p:spPr>
        <p:txBody>
          <a:bodyPr wrap="none" anchor="ctr"/>
          <a:lstStyle/>
          <a:p>
            <a:endParaRPr lang="es-CL">
              <a:solidFill>
                <a:srgbClr val="002060"/>
              </a:solidFill>
            </a:endParaRPr>
          </a:p>
        </p:txBody>
      </p:sp>
      <p:sp>
        <p:nvSpPr>
          <p:cNvPr id="4" name="Rounded Rectangle 3"/>
          <p:cNvSpPr/>
          <p:nvPr/>
        </p:nvSpPr>
        <p:spPr>
          <a:xfrm>
            <a:off x="214497" y="764704"/>
            <a:ext cx="397063" cy="274320"/>
          </a:xfrm>
          <a:prstGeom prst="roundRect">
            <a:avLst/>
          </a:prstGeom>
          <a:solidFill>
            <a:srgbClr val="DB0613"/>
          </a:solidFill>
          <a:ln w="9525" algn="ctr">
            <a:noFill/>
            <a:miter lim="800000"/>
            <a:headEnd/>
            <a:tailEnd/>
          </a:ln>
          <a:effectLst/>
        </p:spPr>
        <p:txBody>
          <a:bodyPr anchor="ctr"/>
          <a:lstStyle/>
          <a:p>
            <a:pPr algn="ctr">
              <a:lnSpc>
                <a:spcPct val="80000"/>
              </a:lnSpc>
            </a:pPr>
            <a:r>
              <a:rPr lang="es-CL" sz="1200" b="1" dirty="0">
                <a:solidFill>
                  <a:srgbClr val="FFFFFF"/>
                </a:solidFill>
                <a:cs typeface="Arial" pitchFamily="34" charset="0"/>
              </a:rPr>
              <a:t>22</a:t>
            </a:r>
          </a:p>
        </p:txBody>
      </p:sp>
      <p:sp>
        <p:nvSpPr>
          <p:cNvPr id="5" name="Rectangle 18"/>
          <p:cNvSpPr>
            <a:spLocks noChangeArrowheads="1"/>
          </p:cNvSpPr>
          <p:nvPr/>
        </p:nvSpPr>
        <p:spPr bwMode="auto">
          <a:xfrm>
            <a:off x="227770" y="2409552"/>
            <a:ext cx="6400800" cy="839807"/>
          </a:xfrm>
          <a:prstGeom prst="rect">
            <a:avLst/>
          </a:prstGeom>
          <a:noFill/>
          <a:ln w="9525" algn="ctr">
            <a:solidFill>
              <a:schemeClr val="bg2"/>
            </a:solidFill>
            <a:miter lim="800000"/>
            <a:headEnd/>
            <a:tailEnd/>
          </a:ln>
          <a:effectLst/>
        </p:spPr>
        <p:txBody>
          <a:bodyPr/>
          <a:lstStyle/>
          <a:p>
            <a:r>
              <a:rPr lang="es-ES" sz="1100" dirty="0"/>
              <a:t>La operativa de toda el área de Inversiones se ve limitada diariamente a causa de los problemas constantes que presentan en el plano de las telecomunicaciones. Para esta área es de vital importancia tener un ancho de banda mayor que el estándar de resto de la compañía a fin de agilizar sus operaciones; sin embargo, por un tema de costos, este servicio no les es proporcionado, ocasionando problemas en la operativa diaria. </a:t>
            </a:r>
            <a:endParaRPr lang="es-ES" sz="1100" dirty="0">
              <a:solidFill>
                <a:srgbClr val="002060"/>
              </a:solidFill>
            </a:endParaRPr>
          </a:p>
        </p:txBody>
      </p:sp>
      <p:sp>
        <p:nvSpPr>
          <p:cNvPr id="7" name="Text Box 30"/>
          <p:cNvSpPr txBox="1">
            <a:spLocks noChangeArrowheads="1"/>
          </p:cNvSpPr>
          <p:nvPr/>
        </p:nvSpPr>
        <p:spPr bwMode="auto">
          <a:xfrm>
            <a:off x="190747" y="3299257"/>
            <a:ext cx="3671888" cy="276999"/>
          </a:xfrm>
          <a:prstGeom prst="rect">
            <a:avLst/>
          </a:prstGeom>
          <a:noFill/>
          <a:ln w="9525" algn="ctr">
            <a:noFill/>
            <a:miter lim="800000"/>
            <a:headEnd/>
            <a:tailEnd/>
          </a:ln>
          <a:effectLst/>
        </p:spPr>
        <p:txBody>
          <a:bodyPr>
            <a:spAutoFit/>
          </a:bodyPr>
          <a:lstStyle/>
          <a:p>
            <a:pPr>
              <a:spcBef>
                <a:spcPct val="50000"/>
              </a:spcBef>
            </a:pPr>
            <a:r>
              <a:rPr lang="es-CL" sz="1200" b="1" i="1" dirty="0">
                <a:solidFill>
                  <a:srgbClr val="A3A3E0"/>
                </a:solidFill>
              </a:rPr>
              <a:t>Resultados valoración de riesgos</a:t>
            </a:r>
            <a:endParaRPr lang="es-ES" sz="1200" b="1" i="1" dirty="0">
              <a:solidFill>
                <a:srgbClr val="A3A3E0"/>
              </a:solidFill>
            </a:endParaRPr>
          </a:p>
        </p:txBody>
      </p:sp>
      <p:sp>
        <p:nvSpPr>
          <p:cNvPr id="8" name="Rounded Rectangle 7"/>
          <p:cNvSpPr/>
          <p:nvPr/>
        </p:nvSpPr>
        <p:spPr>
          <a:xfrm>
            <a:off x="652842" y="764704"/>
            <a:ext cx="8321040" cy="274320"/>
          </a:xfrm>
          <a:prstGeom prst="roundRect">
            <a:avLst/>
          </a:prstGeom>
          <a:solidFill>
            <a:srgbClr val="DB0613"/>
          </a:solidFill>
          <a:ln w="9525" algn="ctr">
            <a:noFill/>
            <a:miter lim="800000"/>
            <a:headEnd/>
            <a:tailEnd/>
          </a:ln>
          <a:effectLst/>
        </p:spPr>
        <p:txBody>
          <a:bodyPr anchor="ctr"/>
          <a:lstStyle/>
          <a:p>
            <a:pPr>
              <a:lnSpc>
                <a:spcPct val="80000"/>
              </a:lnSpc>
            </a:pPr>
            <a:r>
              <a:rPr lang="es-PE" sz="1200" dirty="0">
                <a:solidFill>
                  <a:schemeClr val="bg1"/>
                </a:solidFill>
              </a:rPr>
              <a:t>Falla en las telecomunicaciones que impiden contratación de </a:t>
            </a:r>
            <a:r>
              <a:rPr lang="es-PE" sz="1200" dirty="0" err="1">
                <a:solidFill>
                  <a:schemeClr val="bg1"/>
                </a:solidFill>
              </a:rPr>
              <a:t>ope</a:t>
            </a:r>
            <a:r>
              <a:rPr lang="es-PE" sz="1200" dirty="0">
                <a:solidFill>
                  <a:schemeClr val="bg1"/>
                </a:solidFill>
              </a:rPr>
              <a:t>. por </a:t>
            </a:r>
            <a:r>
              <a:rPr lang="es-PE" sz="1200" dirty="0" err="1">
                <a:solidFill>
                  <a:schemeClr val="bg1"/>
                </a:solidFill>
              </a:rPr>
              <a:t>Bloomberg</a:t>
            </a:r>
            <a:r>
              <a:rPr lang="es-PE" sz="1200" dirty="0">
                <a:solidFill>
                  <a:schemeClr val="bg1"/>
                </a:solidFill>
              </a:rPr>
              <a:t> y </a:t>
            </a:r>
            <a:r>
              <a:rPr lang="es-PE" sz="1200" dirty="0" err="1">
                <a:solidFill>
                  <a:schemeClr val="bg1"/>
                </a:solidFill>
              </a:rPr>
              <a:t>Datatec</a:t>
            </a:r>
            <a:endParaRPr lang="es-CL" sz="1200" b="1" dirty="0">
              <a:solidFill>
                <a:schemeClr val="bg1"/>
              </a:solidFill>
              <a:cs typeface="Arial" pitchFamily="34" charset="0"/>
            </a:endParaRPr>
          </a:p>
        </p:txBody>
      </p:sp>
      <p:sp>
        <p:nvSpPr>
          <p:cNvPr id="9" name="Rounded Rectangle 8"/>
          <p:cNvSpPr/>
          <p:nvPr/>
        </p:nvSpPr>
        <p:spPr>
          <a:xfrm>
            <a:off x="227770" y="2202383"/>
            <a:ext cx="64008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Descripción</a:t>
            </a:r>
          </a:p>
        </p:txBody>
      </p:sp>
      <p:sp>
        <p:nvSpPr>
          <p:cNvPr id="10" name="Rounded Rectangle 9"/>
          <p:cNvSpPr/>
          <p:nvPr/>
        </p:nvSpPr>
        <p:spPr>
          <a:xfrm>
            <a:off x="6716066" y="1089119"/>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Categoría  de Riesgo Nivel I</a:t>
            </a:r>
          </a:p>
        </p:txBody>
      </p:sp>
      <p:sp>
        <p:nvSpPr>
          <p:cNvPr id="11" name="Rectangle 18"/>
          <p:cNvSpPr>
            <a:spLocks noChangeArrowheads="1"/>
          </p:cNvSpPr>
          <p:nvPr/>
        </p:nvSpPr>
        <p:spPr bwMode="auto">
          <a:xfrm>
            <a:off x="6716066" y="1316374"/>
            <a:ext cx="2286000" cy="365760"/>
          </a:xfrm>
          <a:prstGeom prst="rect">
            <a:avLst/>
          </a:prstGeom>
          <a:noFill/>
          <a:ln w="9525" algn="ctr">
            <a:solidFill>
              <a:schemeClr val="bg2"/>
            </a:solidFill>
            <a:miter lim="800000"/>
            <a:headEnd/>
            <a:tailEnd/>
          </a:ln>
          <a:effectLst/>
        </p:spPr>
        <p:txBody>
          <a:bodyPr anchor="ctr"/>
          <a:lstStyle/>
          <a:p>
            <a:pPr>
              <a:lnSpc>
                <a:spcPts val="1000"/>
              </a:lnSpc>
            </a:pPr>
            <a:r>
              <a:rPr lang="es-ES" sz="1100" dirty="0"/>
              <a:t>Incidencias en el negocio y fallos en los sistemas</a:t>
            </a:r>
          </a:p>
        </p:txBody>
      </p:sp>
      <p:sp>
        <p:nvSpPr>
          <p:cNvPr id="12" name="Rounded Rectangle 11"/>
          <p:cNvSpPr/>
          <p:nvPr/>
        </p:nvSpPr>
        <p:spPr>
          <a:xfrm>
            <a:off x="6716066" y="1725169"/>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Categoría de Riesgo Nivel II</a:t>
            </a:r>
          </a:p>
        </p:txBody>
      </p:sp>
      <p:sp>
        <p:nvSpPr>
          <p:cNvPr id="13" name="Rectangle 18"/>
          <p:cNvSpPr>
            <a:spLocks noChangeArrowheads="1"/>
          </p:cNvSpPr>
          <p:nvPr/>
        </p:nvSpPr>
        <p:spPr bwMode="auto">
          <a:xfrm>
            <a:off x="6716066" y="1942710"/>
            <a:ext cx="2286000" cy="274320"/>
          </a:xfrm>
          <a:prstGeom prst="rect">
            <a:avLst/>
          </a:prstGeom>
          <a:noFill/>
          <a:ln w="9525" algn="ctr">
            <a:solidFill>
              <a:schemeClr val="bg2"/>
            </a:solidFill>
            <a:miter lim="800000"/>
            <a:headEnd/>
            <a:tailEnd/>
          </a:ln>
          <a:effectLst/>
        </p:spPr>
        <p:txBody>
          <a:bodyPr anchor="ctr"/>
          <a:lstStyle/>
          <a:p>
            <a:r>
              <a:rPr lang="es-ES" sz="1100" dirty="0"/>
              <a:t>Interrupción del negocio y fallos en los sistemas.</a:t>
            </a:r>
          </a:p>
        </p:txBody>
      </p:sp>
      <p:sp>
        <p:nvSpPr>
          <p:cNvPr id="16" name="Rectangle 18"/>
          <p:cNvSpPr>
            <a:spLocks noChangeArrowheads="1"/>
          </p:cNvSpPr>
          <p:nvPr/>
        </p:nvSpPr>
        <p:spPr bwMode="auto">
          <a:xfrm>
            <a:off x="6716066" y="2524663"/>
            <a:ext cx="2286000" cy="272604"/>
          </a:xfrm>
          <a:prstGeom prst="rect">
            <a:avLst/>
          </a:prstGeom>
          <a:noFill/>
          <a:ln w="9525" algn="ctr">
            <a:solidFill>
              <a:schemeClr val="bg2"/>
            </a:solidFill>
            <a:miter lim="800000"/>
            <a:headEnd/>
            <a:tailEnd/>
          </a:ln>
          <a:effectLst/>
        </p:spPr>
        <p:txBody>
          <a:bodyPr anchor="ctr"/>
          <a:lstStyle/>
          <a:p>
            <a:r>
              <a:rPr lang="es-ES" sz="1100" dirty="0"/>
              <a:t>Cortes en los servicios/Interrupción de las aplicaciones </a:t>
            </a:r>
            <a:endParaRPr lang="es-ES" sz="1100" dirty="0">
              <a:solidFill>
                <a:srgbClr val="002060"/>
              </a:solidFill>
            </a:endParaRPr>
          </a:p>
        </p:txBody>
      </p:sp>
      <p:sp>
        <p:nvSpPr>
          <p:cNvPr id="17" name="Rounded Rectangle 16"/>
          <p:cNvSpPr/>
          <p:nvPr/>
        </p:nvSpPr>
        <p:spPr>
          <a:xfrm>
            <a:off x="227770" y="1110038"/>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Macroproceso</a:t>
            </a:r>
          </a:p>
        </p:txBody>
      </p:sp>
      <p:sp>
        <p:nvSpPr>
          <p:cNvPr id="18" name="Rectangle 18"/>
          <p:cNvSpPr>
            <a:spLocks noChangeArrowheads="1"/>
          </p:cNvSpPr>
          <p:nvPr/>
        </p:nvSpPr>
        <p:spPr bwMode="auto">
          <a:xfrm>
            <a:off x="2568409" y="1110038"/>
            <a:ext cx="4060161" cy="182880"/>
          </a:xfrm>
          <a:prstGeom prst="rect">
            <a:avLst/>
          </a:prstGeom>
          <a:noFill/>
          <a:ln w="9525" algn="ctr">
            <a:solidFill>
              <a:schemeClr val="bg2"/>
            </a:solidFill>
            <a:miter lim="800000"/>
            <a:headEnd/>
            <a:tailEnd/>
          </a:ln>
          <a:effectLst/>
        </p:spPr>
        <p:txBody>
          <a:bodyPr anchor="ctr"/>
          <a:lstStyle/>
          <a:p>
            <a:r>
              <a:rPr lang="es-ES" sz="1100" dirty="0"/>
              <a:t>Administración de Portafolio de Inversiones</a:t>
            </a:r>
          </a:p>
        </p:txBody>
      </p:sp>
      <p:sp>
        <p:nvSpPr>
          <p:cNvPr id="19" name="Rounded Rectangle 18"/>
          <p:cNvSpPr/>
          <p:nvPr/>
        </p:nvSpPr>
        <p:spPr>
          <a:xfrm>
            <a:off x="227770" y="1339045"/>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Proceso</a:t>
            </a:r>
          </a:p>
        </p:txBody>
      </p:sp>
      <p:sp>
        <p:nvSpPr>
          <p:cNvPr id="20" name="Rectangle 18"/>
          <p:cNvSpPr>
            <a:spLocks noChangeArrowheads="1"/>
          </p:cNvSpPr>
          <p:nvPr/>
        </p:nvSpPr>
        <p:spPr bwMode="auto">
          <a:xfrm>
            <a:off x="2568409" y="1339045"/>
            <a:ext cx="4060161" cy="182880"/>
          </a:xfrm>
          <a:prstGeom prst="rect">
            <a:avLst/>
          </a:prstGeom>
          <a:noFill/>
          <a:ln w="9525" algn="ctr">
            <a:solidFill>
              <a:schemeClr val="bg2"/>
            </a:solidFill>
            <a:miter lim="800000"/>
            <a:headEnd/>
            <a:tailEnd/>
          </a:ln>
          <a:effectLst/>
        </p:spPr>
        <p:txBody>
          <a:bodyPr anchor="ctr"/>
          <a:lstStyle/>
          <a:p>
            <a:r>
              <a:rPr lang="es-ES" sz="1100" dirty="0"/>
              <a:t>Administración de fondos</a:t>
            </a:r>
          </a:p>
        </p:txBody>
      </p:sp>
      <p:sp>
        <p:nvSpPr>
          <p:cNvPr id="21" name="Rectangle 29"/>
          <p:cNvSpPr>
            <a:spLocks noChangeArrowheads="1"/>
          </p:cNvSpPr>
          <p:nvPr/>
        </p:nvSpPr>
        <p:spPr bwMode="auto">
          <a:xfrm>
            <a:off x="107504" y="3423715"/>
            <a:ext cx="8961120" cy="1607926"/>
          </a:xfrm>
          <a:prstGeom prst="rect">
            <a:avLst/>
          </a:prstGeom>
          <a:noFill/>
          <a:ln w="19050" cap="rnd" algn="ctr">
            <a:solidFill>
              <a:schemeClr val="bg2"/>
            </a:solidFill>
            <a:prstDash val="sysDot"/>
            <a:miter lim="800000"/>
            <a:headEnd/>
            <a:tailEnd/>
          </a:ln>
          <a:effectLst/>
        </p:spPr>
        <p:txBody>
          <a:bodyPr wrap="none" anchor="ctr"/>
          <a:lstStyle/>
          <a:p>
            <a:endParaRPr lang="en-US">
              <a:solidFill>
                <a:srgbClr val="002060"/>
              </a:solidFill>
            </a:endParaRPr>
          </a:p>
        </p:txBody>
      </p:sp>
      <p:sp>
        <p:nvSpPr>
          <p:cNvPr id="22" name="Rounded Rectangle 21"/>
          <p:cNvSpPr/>
          <p:nvPr/>
        </p:nvSpPr>
        <p:spPr>
          <a:xfrm>
            <a:off x="902959" y="4382163"/>
            <a:ext cx="1920240" cy="182880"/>
          </a:xfrm>
          <a:prstGeom prst="roundRect">
            <a:avLst/>
          </a:prstGeom>
          <a:solidFill>
            <a:srgbClr val="DB0613"/>
          </a:solidFill>
          <a:ln w="9525" algn="ctr">
            <a:noFill/>
            <a:miter lim="800000"/>
            <a:headEnd/>
            <a:tailEnd/>
          </a:ln>
          <a:effectLst/>
        </p:spPr>
        <p:txBody>
          <a:bodyPr tIns="91440" anchor="ctr"/>
          <a:lstStyle/>
          <a:p>
            <a:pPr>
              <a:lnSpc>
                <a:spcPct val="80000"/>
              </a:lnSpc>
            </a:pPr>
            <a:r>
              <a:rPr lang="es-CL" sz="1100" b="1" dirty="0">
                <a:solidFill>
                  <a:srgbClr val="FFFFFF"/>
                </a:solidFill>
                <a:cs typeface="Arial" pitchFamily="34" charset="0"/>
              </a:rPr>
              <a:t>Pérdida Esperada Anual</a:t>
            </a:r>
          </a:p>
        </p:txBody>
      </p:sp>
      <p:sp>
        <p:nvSpPr>
          <p:cNvPr id="23" name="Rectangle 18"/>
          <p:cNvSpPr>
            <a:spLocks noChangeArrowheads="1"/>
          </p:cNvSpPr>
          <p:nvPr/>
        </p:nvSpPr>
        <p:spPr bwMode="auto">
          <a:xfrm>
            <a:off x="2859920" y="4382163"/>
            <a:ext cx="1554480" cy="182880"/>
          </a:xfrm>
          <a:prstGeom prst="rect">
            <a:avLst/>
          </a:prstGeom>
          <a:solidFill>
            <a:schemeClr val="bg1"/>
          </a:solidFill>
          <a:ln w="9525" algn="ctr">
            <a:solidFill>
              <a:schemeClr val="bg2"/>
            </a:solidFill>
            <a:miter lim="800000"/>
            <a:headEnd/>
            <a:tailEnd/>
          </a:ln>
          <a:effectLst/>
        </p:spPr>
        <p:txBody>
          <a:bodyPr anchor="ctr"/>
          <a:lstStyle/>
          <a:p>
            <a:pPr algn="ctr"/>
            <a:r>
              <a:rPr lang="es-ES" sz="1100" dirty="0"/>
              <a:t>S/. 3,187,500.00</a:t>
            </a:r>
            <a:endParaRPr lang="es-ES" sz="1100" dirty="0">
              <a:solidFill>
                <a:srgbClr val="002060"/>
              </a:solidFill>
            </a:endParaRPr>
          </a:p>
        </p:txBody>
      </p:sp>
      <p:sp>
        <p:nvSpPr>
          <p:cNvPr id="24" name="Rounded Rectangle 23"/>
          <p:cNvSpPr/>
          <p:nvPr/>
        </p:nvSpPr>
        <p:spPr>
          <a:xfrm>
            <a:off x="902959" y="4611775"/>
            <a:ext cx="192024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VaR Cualitativo Anual</a:t>
            </a:r>
          </a:p>
        </p:txBody>
      </p:sp>
      <p:sp>
        <p:nvSpPr>
          <p:cNvPr id="25" name="Rectangle 18"/>
          <p:cNvSpPr>
            <a:spLocks noChangeArrowheads="1"/>
          </p:cNvSpPr>
          <p:nvPr/>
        </p:nvSpPr>
        <p:spPr bwMode="auto">
          <a:xfrm>
            <a:off x="2859920" y="4611775"/>
            <a:ext cx="1554480" cy="182880"/>
          </a:xfrm>
          <a:prstGeom prst="rect">
            <a:avLst/>
          </a:prstGeom>
          <a:solidFill>
            <a:schemeClr val="bg1"/>
          </a:solidFill>
          <a:ln w="9525" algn="ctr">
            <a:solidFill>
              <a:schemeClr val="bg2"/>
            </a:solidFill>
            <a:miter lim="800000"/>
            <a:headEnd/>
            <a:tailEnd/>
          </a:ln>
          <a:effectLst/>
        </p:spPr>
        <p:txBody>
          <a:bodyPr anchor="ctr"/>
          <a:lstStyle/>
          <a:p>
            <a:pPr algn="ctr"/>
            <a:r>
              <a:rPr lang="es-ES" sz="1100" dirty="0"/>
              <a:t>S/. 10,646,627.00 </a:t>
            </a:r>
            <a:endParaRPr lang="es-ES" sz="1100" dirty="0">
              <a:solidFill>
                <a:srgbClr val="002060"/>
              </a:solidFill>
            </a:endParaRPr>
          </a:p>
        </p:txBody>
      </p:sp>
      <p:sp>
        <p:nvSpPr>
          <p:cNvPr id="26" name="Rounded Rectangle 25"/>
          <p:cNvSpPr/>
          <p:nvPr/>
        </p:nvSpPr>
        <p:spPr>
          <a:xfrm>
            <a:off x="891084" y="3618777"/>
            <a:ext cx="192024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Frecuencia  Evento Pérdida</a:t>
            </a:r>
          </a:p>
        </p:txBody>
      </p:sp>
      <p:sp>
        <p:nvSpPr>
          <p:cNvPr id="27" name="Rectangle 18"/>
          <p:cNvSpPr>
            <a:spLocks noChangeArrowheads="1"/>
          </p:cNvSpPr>
          <p:nvPr/>
        </p:nvSpPr>
        <p:spPr bwMode="auto">
          <a:xfrm>
            <a:off x="2859920" y="3618777"/>
            <a:ext cx="1554480" cy="182880"/>
          </a:xfrm>
          <a:prstGeom prst="rect">
            <a:avLst/>
          </a:prstGeom>
          <a:solidFill>
            <a:schemeClr val="bg1"/>
          </a:solidFill>
          <a:ln w="9525" algn="ctr">
            <a:solidFill>
              <a:schemeClr val="bg2"/>
            </a:solidFill>
            <a:miter lim="800000"/>
            <a:headEnd/>
            <a:tailEnd/>
          </a:ln>
          <a:effectLst/>
        </p:spPr>
        <p:txBody>
          <a:bodyPr anchor="ctr"/>
          <a:lstStyle/>
          <a:p>
            <a:pPr algn="ctr"/>
            <a:r>
              <a:rPr lang="es-ES" sz="1100" dirty="0"/>
              <a:t>10 veces por año</a:t>
            </a:r>
          </a:p>
        </p:txBody>
      </p:sp>
      <p:sp>
        <p:nvSpPr>
          <p:cNvPr id="28" name="Rounded Rectangle 27"/>
          <p:cNvSpPr/>
          <p:nvPr/>
        </p:nvSpPr>
        <p:spPr>
          <a:xfrm>
            <a:off x="891084" y="3848389"/>
            <a:ext cx="192024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Impacto Medio Evento</a:t>
            </a:r>
          </a:p>
        </p:txBody>
      </p:sp>
      <p:sp>
        <p:nvSpPr>
          <p:cNvPr id="29" name="Rectangle 18"/>
          <p:cNvSpPr>
            <a:spLocks noChangeArrowheads="1"/>
          </p:cNvSpPr>
          <p:nvPr/>
        </p:nvSpPr>
        <p:spPr bwMode="auto">
          <a:xfrm>
            <a:off x="2859920" y="3848389"/>
            <a:ext cx="1554480" cy="182880"/>
          </a:xfrm>
          <a:prstGeom prst="rect">
            <a:avLst/>
          </a:prstGeom>
          <a:solidFill>
            <a:schemeClr val="bg1"/>
          </a:solidFill>
          <a:ln w="9525" algn="ctr">
            <a:solidFill>
              <a:schemeClr val="bg2"/>
            </a:solidFill>
            <a:miter lim="800000"/>
            <a:headEnd/>
            <a:tailEnd/>
          </a:ln>
          <a:effectLst/>
        </p:spPr>
        <p:txBody>
          <a:bodyPr anchor="ctr"/>
          <a:lstStyle/>
          <a:p>
            <a:pPr algn="ctr"/>
            <a:r>
              <a:rPr lang="es-ES" sz="1100" dirty="0"/>
              <a:t>S/. 318,750.00 </a:t>
            </a:r>
            <a:endParaRPr lang="es-ES" sz="1100" dirty="0">
              <a:solidFill>
                <a:srgbClr val="002060"/>
              </a:solidFill>
            </a:endParaRPr>
          </a:p>
        </p:txBody>
      </p:sp>
      <p:sp>
        <p:nvSpPr>
          <p:cNvPr id="30" name="Rounded Rectangle 29"/>
          <p:cNvSpPr/>
          <p:nvPr/>
        </p:nvSpPr>
        <p:spPr>
          <a:xfrm>
            <a:off x="891084" y="4083969"/>
            <a:ext cx="192024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Impacto Peor Escenario</a:t>
            </a:r>
          </a:p>
        </p:txBody>
      </p:sp>
      <p:sp>
        <p:nvSpPr>
          <p:cNvPr id="31" name="Rectangle 18"/>
          <p:cNvSpPr>
            <a:spLocks noChangeArrowheads="1"/>
          </p:cNvSpPr>
          <p:nvPr/>
        </p:nvSpPr>
        <p:spPr bwMode="auto">
          <a:xfrm>
            <a:off x="2859920" y="4083969"/>
            <a:ext cx="1554480" cy="182880"/>
          </a:xfrm>
          <a:prstGeom prst="rect">
            <a:avLst/>
          </a:prstGeom>
          <a:solidFill>
            <a:schemeClr val="bg1"/>
          </a:solidFill>
          <a:ln w="9525" algn="ctr">
            <a:solidFill>
              <a:schemeClr val="bg2"/>
            </a:solidFill>
            <a:miter lim="800000"/>
            <a:headEnd/>
            <a:tailEnd/>
          </a:ln>
          <a:effectLst/>
        </p:spPr>
        <p:txBody>
          <a:bodyPr anchor="ctr"/>
          <a:lstStyle/>
          <a:p>
            <a:pPr algn="ctr"/>
            <a:r>
              <a:rPr lang="es-ES" sz="1100" dirty="0">
                <a:solidFill>
                  <a:srgbClr val="002060"/>
                </a:solidFill>
              </a:rPr>
              <a:t>S/. </a:t>
            </a:r>
            <a:r>
              <a:rPr lang="es-ES" sz="1100" dirty="0"/>
              <a:t>3,825,000.00</a:t>
            </a:r>
            <a:endParaRPr lang="es-ES" sz="1100" dirty="0">
              <a:solidFill>
                <a:srgbClr val="002060"/>
              </a:solidFill>
            </a:endParaRPr>
          </a:p>
        </p:txBody>
      </p:sp>
      <p:sp>
        <p:nvSpPr>
          <p:cNvPr id="32" name="AutoShape 47"/>
          <p:cNvSpPr>
            <a:spLocks noChangeAspect="1" noChangeArrowheads="1"/>
          </p:cNvSpPr>
          <p:nvPr/>
        </p:nvSpPr>
        <p:spPr bwMode="blackWhite">
          <a:xfrm>
            <a:off x="263033" y="3533122"/>
            <a:ext cx="492543" cy="1339083"/>
          </a:xfrm>
          <a:prstGeom prst="rightArrow">
            <a:avLst>
              <a:gd name="adj1" fmla="val 100000"/>
              <a:gd name="adj2" fmla="val 11009"/>
            </a:avLst>
          </a:prstGeom>
          <a:solidFill>
            <a:srgbClr val="969696"/>
          </a:solidFill>
          <a:ln w="12700">
            <a:noFill/>
            <a:miter lim="800000"/>
            <a:headEnd/>
            <a:tailEnd/>
          </a:ln>
          <a:effectLst>
            <a:outerShdw dist="35921" dir="2700000" algn="ctr" rotWithShape="0">
              <a:schemeClr val="bg2"/>
            </a:outerShdw>
          </a:effectLst>
        </p:spPr>
        <p:txBody>
          <a:bodyPr vert="vert270" anchor="ctr"/>
          <a:lstStyle/>
          <a:p>
            <a:pPr algn="ctr">
              <a:lnSpc>
                <a:spcPts val="1000"/>
              </a:lnSpc>
            </a:pPr>
            <a:r>
              <a:rPr lang="es-ES" sz="1200" b="1" noProof="1">
                <a:solidFill>
                  <a:srgbClr val="FFFFFF"/>
                </a:solidFill>
                <a:cs typeface="Arial" charset="0"/>
              </a:rPr>
              <a:t>Evaluación Riesgo Operacional</a:t>
            </a:r>
          </a:p>
        </p:txBody>
      </p:sp>
      <p:sp>
        <p:nvSpPr>
          <p:cNvPr id="59" name="Rounded Rectangle 58"/>
          <p:cNvSpPr/>
          <p:nvPr/>
        </p:nvSpPr>
        <p:spPr>
          <a:xfrm>
            <a:off x="223049" y="1554311"/>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Subproceso</a:t>
            </a:r>
          </a:p>
        </p:txBody>
      </p:sp>
      <p:sp>
        <p:nvSpPr>
          <p:cNvPr id="60" name="Rectangle 18"/>
          <p:cNvSpPr>
            <a:spLocks noChangeArrowheads="1"/>
          </p:cNvSpPr>
          <p:nvPr/>
        </p:nvSpPr>
        <p:spPr bwMode="auto">
          <a:xfrm>
            <a:off x="2563688" y="1554311"/>
            <a:ext cx="4064882" cy="182880"/>
          </a:xfrm>
          <a:prstGeom prst="rect">
            <a:avLst/>
          </a:prstGeom>
          <a:noFill/>
          <a:ln w="9525" algn="ctr">
            <a:solidFill>
              <a:schemeClr val="bg2"/>
            </a:solidFill>
            <a:miter lim="800000"/>
            <a:headEnd/>
            <a:tailEnd/>
          </a:ln>
          <a:effectLst/>
        </p:spPr>
        <p:txBody>
          <a:bodyPr anchor="ctr"/>
          <a:lstStyle/>
          <a:p>
            <a:r>
              <a:rPr lang="es-ES" sz="1100" dirty="0"/>
              <a:t>Ejecución de propuesta de Inversión</a:t>
            </a:r>
          </a:p>
        </p:txBody>
      </p:sp>
      <p:sp>
        <p:nvSpPr>
          <p:cNvPr id="57" name="Rounded Rectangle 56"/>
          <p:cNvSpPr/>
          <p:nvPr/>
        </p:nvSpPr>
        <p:spPr>
          <a:xfrm>
            <a:off x="223049" y="1771093"/>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Línea de Negocio</a:t>
            </a:r>
          </a:p>
        </p:txBody>
      </p:sp>
      <p:sp>
        <p:nvSpPr>
          <p:cNvPr id="58" name="Rectangle 18"/>
          <p:cNvSpPr>
            <a:spLocks noChangeArrowheads="1"/>
          </p:cNvSpPr>
          <p:nvPr/>
        </p:nvSpPr>
        <p:spPr bwMode="auto">
          <a:xfrm>
            <a:off x="2563688" y="1771093"/>
            <a:ext cx="4064882" cy="182880"/>
          </a:xfrm>
          <a:prstGeom prst="rect">
            <a:avLst/>
          </a:prstGeom>
          <a:noFill/>
          <a:ln w="9525" algn="ctr">
            <a:solidFill>
              <a:schemeClr val="bg2"/>
            </a:solidFill>
            <a:miter lim="800000"/>
            <a:headEnd/>
            <a:tailEnd/>
          </a:ln>
          <a:effectLst/>
        </p:spPr>
        <p:txBody>
          <a:bodyPr anchor="ctr"/>
          <a:lstStyle/>
          <a:p>
            <a:r>
              <a:rPr lang="es-ES" sz="1100" dirty="0"/>
              <a:t>Negociación y ventas</a:t>
            </a:r>
          </a:p>
        </p:txBody>
      </p:sp>
      <p:sp>
        <p:nvSpPr>
          <p:cNvPr id="61" name="Rounded Rectangle 60"/>
          <p:cNvSpPr/>
          <p:nvPr/>
        </p:nvSpPr>
        <p:spPr>
          <a:xfrm>
            <a:off x="223049" y="1986359"/>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Responsable</a:t>
            </a:r>
          </a:p>
        </p:txBody>
      </p:sp>
      <p:sp>
        <p:nvSpPr>
          <p:cNvPr id="62" name="Rectangle 18"/>
          <p:cNvSpPr>
            <a:spLocks noChangeArrowheads="1"/>
          </p:cNvSpPr>
          <p:nvPr/>
        </p:nvSpPr>
        <p:spPr bwMode="auto">
          <a:xfrm>
            <a:off x="2558967" y="1986359"/>
            <a:ext cx="4069603" cy="182880"/>
          </a:xfrm>
          <a:prstGeom prst="rect">
            <a:avLst/>
          </a:prstGeom>
          <a:noFill/>
          <a:ln w="9525" algn="ctr">
            <a:solidFill>
              <a:schemeClr val="bg2"/>
            </a:solidFill>
            <a:miter lim="800000"/>
            <a:headEnd/>
            <a:tailEnd/>
          </a:ln>
          <a:effectLst/>
        </p:spPr>
        <p:txBody>
          <a:bodyPr anchor="ctr"/>
          <a:lstStyle/>
          <a:p>
            <a:r>
              <a:rPr lang="es-ES" sz="1100" dirty="0"/>
              <a:t>Gerente General Adjunto de Inversiones</a:t>
            </a:r>
          </a:p>
        </p:txBody>
      </p:sp>
      <p:sp>
        <p:nvSpPr>
          <p:cNvPr id="63" name="Rounded Rectangle 62"/>
          <p:cNvSpPr/>
          <p:nvPr/>
        </p:nvSpPr>
        <p:spPr>
          <a:xfrm>
            <a:off x="6732240" y="2276457"/>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Categoría de Riesgo Nivel III</a:t>
            </a:r>
          </a:p>
        </p:txBody>
      </p:sp>
      <p:sp>
        <p:nvSpPr>
          <p:cNvPr id="64" name="AutoShape 179"/>
          <p:cNvSpPr>
            <a:spLocks noChangeArrowheads="1"/>
          </p:cNvSpPr>
          <p:nvPr/>
        </p:nvSpPr>
        <p:spPr bwMode="auto">
          <a:xfrm>
            <a:off x="4932039" y="3537391"/>
            <a:ext cx="4037169" cy="864000"/>
          </a:xfrm>
          <a:prstGeom prst="roundRect">
            <a:avLst>
              <a:gd name="adj" fmla="val 9481"/>
            </a:avLst>
          </a:prstGeom>
          <a:solidFill>
            <a:schemeClr val="accent1">
              <a:lumMod val="20000"/>
              <a:lumOff val="80000"/>
            </a:schemeClr>
          </a:solidFill>
          <a:ln w="9525" algn="ctr">
            <a:noFill/>
            <a:round/>
            <a:headEnd/>
            <a:tailEnd/>
          </a:ln>
          <a:effectLst/>
        </p:spPr>
        <p:txBody>
          <a:bodyPr wrap="none" anchor="ctr"/>
          <a:lstStyle/>
          <a:p>
            <a:endParaRPr lang="es-CL">
              <a:solidFill>
                <a:srgbClr val="002060"/>
              </a:solidFill>
            </a:endParaRPr>
          </a:p>
        </p:txBody>
      </p:sp>
      <p:sp>
        <p:nvSpPr>
          <p:cNvPr id="65" name="AutoShape 47"/>
          <p:cNvSpPr>
            <a:spLocks noChangeArrowheads="1"/>
          </p:cNvSpPr>
          <p:nvPr/>
        </p:nvSpPr>
        <p:spPr bwMode="blackWhite">
          <a:xfrm>
            <a:off x="4678512" y="3538893"/>
            <a:ext cx="353942" cy="864000"/>
          </a:xfrm>
          <a:prstGeom prst="rightArrow">
            <a:avLst>
              <a:gd name="adj1" fmla="val 100000"/>
              <a:gd name="adj2" fmla="val 11009"/>
            </a:avLst>
          </a:prstGeom>
          <a:solidFill>
            <a:srgbClr val="969696"/>
          </a:solidFill>
          <a:ln w="12700">
            <a:noFill/>
            <a:miter lim="800000"/>
            <a:headEnd/>
            <a:tailEnd/>
          </a:ln>
          <a:effectLst>
            <a:outerShdw dist="35921" dir="2700000" algn="ctr" rotWithShape="0">
              <a:schemeClr val="bg2"/>
            </a:outerShdw>
          </a:effectLst>
        </p:spPr>
        <p:txBody>
          <a:bodyPr vert="vert270" anchor="ctr"/>
          <a:lstStyle/>
          <a:p>
            <a:pPr algn="ctr">
              <a:lnSpc>
                <a:spcPts val="1000"/>
              </a:lnSpc>
            </a:pPr>
            <a:r>
              <a:rPr lang="es-ES" sz="1100" b="1" noProof="1">
                <a:solidFill>
                  <a:srgbClr val="FFFFFF"/>
                </a:solidFill>
                <a:cs typeface="Arial" charset="0"/>
              </a:rPr>
              <a:t>Impacto Reputacional</a:t>
            </a:r>
          </a:p>
        </p:txBody>
      </p:sp>
      <p:sp>
        <p:nvSpPr>
          <p:cNvPr id="66" name="Rectangle 18"/>
          <p:cNvSpPr>
            <a:spLocks noChangeArrowheads="1"/>
          </p:cNvSpPr>
          <p:nvPr/>
        </p:nvSpPr>
        <p:spPr bwMode="auto">
          <a:xfrm>
            <a:off x="8334310" y="3612658"/>
            <a:ext cx="548640" cy="170094"/>
          </a:xfrm>
          <a:prstGeom prst="rect">
            <a:avLst/>
          </a:prstGeom>
          <a:solidFill>
            <a:schemeClr val="bg1"/>
          </a:solidFill>
          <a:ln w="9525" algn="ctr">
            <a:solidFill>
              <a:schemeClr val="bg2"/>
            </a:solidFill>
            <a:miter lim="800000"/>
            <a:headEnd/>
            <a:tailEnd/>
          </a:ln>
          <a:effectLst/>
        </p:spPr>
        <p:txBody>
          <a:bodyPr anchor="ctr"/>
          <a:lstStyle/>
          <a:p>
            <a:pPr algn="ctr"/>
            <a:r>
              <a:rPr lang="es-ES" sz="1100" dirty="0">
                <a:solidFill>
                  <a:srgbClr val="002060"/>
                </a:solidFill>
              </a:rPr>
              <a:t>1</a:t>
            </a:r>
          </a:p>
        </p:txBody>
      </p:sp>
      <p:sp>
        <p:nvSpPr>
          <p:cNvPr id="67" name="Rounded Rectangle 66"/>
          <p:cNvSpPr/>
          <p:nvPr/>
        </p:nvSpPr>
        <p:spPr>
          <a:xfrm>
            <a:off x="5102950" y="3612658"/>
            <a:ext cx="3132000" cy="170094"/>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Afectación a Clientes</a:t>
            </a:r>
          </a:p>
        </p:txBody>
      </p:sp>
      <p:sp>
        <p:nvSpPr>
          <p:cNvPr id="68" name="Rectangle 18"/>
          <p:cNvSpPr>
            <a:spLocks noChangeArrowheads="1"/>
          </p:cNvSpPr>
          <p:nvPr/>
        </p:nvSpPr>
        <p:spPr bwMode="auto">
          <a:xfrm>
            <a:off x="5102950" y="3830815"/>
            <a:ext cx="3780000" cy="469509"/>
          </a:xfrm>
          <a:prstGeom prst="rect">
            <a:avLst/>
          </a:prstGeom>
          <a:solidFill>
            <a:schemeClr val="bg1"/>
          </a:solidFill>
          <a:ln w="9525" algn="ctr">
            <a:solidFill>
              <a:schemeClr val="bg2"/>
            </a:solidFill>
            <a:miter lim="800000"/>
            <a:headEnd/>
            <a:tailEnd/>
          </a:ln>
          <a:effectLst/>
        </p:spPr>
        <p:txBody>
          <a:bodyPr anchor="ctr"/>
          <a:lstStyle/>
          <a:p>
            <a:r>
              <a:rPr lang="es-ES" sz="1100" dirty="0">
                <a:solidFill>
                  <a:srgbClr val="000000"/>
                </a:solidFill>
              </a:rPr>
              <a:t>La exposición de la imagen es únicamente interna y limitada.</a:t>
            </a:r>
          </a:p>
        </p:txBody>
      </p:sp>
      <p:sp>
        <p:nvSpPr>
          <p:cNvPr id="72" name="AutoShape 179"/>
          <p:cNvSpPr>
            <a:spLocks noChangeArrowheads="1"/>
          </p:cNvSpPr>
          <p:nvPr/>
        </p:nvSpPr>
        <p:spPr bwMode="auto">
          <a:xfrm>
            <a:off x="4927319" y="4441608"/>
            <a:ext cx="4037169" cy="892800"/>
          </a:xfrm>
          <a:prstGeom prst="roundRect">
            <a:avLst>
              <a:gd name="adj" fmla="val 9481"/>
            </a:avLst>
          </a:prstGeom>
          <a:solidFill>
            <a:schemeClr val="accent1">
              <a:lumMod val="20000"/>
              <a:lumOff val="80000"/>
            </a:schemeClr>
          </a:solidFill>
          <a:ln w="9525" algn="ctr">
            <a:noFill/>
            <a:round/>
            <a:headEnd/>
            <a:tailEnd/>
          </a:ln>
          <a:effectLst/>
        </p:spPr>
        <p:txBody>
          <a:bodyPr wrap="none" anchor="ctr"/>
          <a:lstStyle/>
          <a:p>
            <a:endParaRPr lang="es-CL">
              <a:solidFill>
                <a:srgbClr val="002060"/>
              </a:solidFill>
            </a:endParaRPr>
          </a:p>
        </p:txBody>
      </p:sp>
      <p:sp>
        <p:nvSpPr>
          <p:cNvPr id="73" name="AutoShape 47"/>
          <p:cNvSpPr>
            <a:spLocks noChangeArrowheads="1"/>
          </p:cNvSpPr>
          <p:nvPr/>
        </p:nvSpPr>
        <p:spPr bwMode="blackWhite">
          <a:xfrm>
            <a:off x="4673792" y="4443110"/>
            <a:ext cx="352800" cy="892800"/>
          </a:xfrm>
          <a:prstGeom prst="rightArrow">
            <a:avLst>
              <a:gd name="adj1" fmla="val 100000"/>
              <a:gd name="adj2" fmla="val 11009"/>
            </a:avLst>
          </a:prstGeom>
          <a:solidFill>
            <a:srgbClr val="969696"/>
          </a:solidFill>
          <a:ln w="12700">
            <a:noFill/>
            <a:miter lim="800000"/>
            <a:headEnd/>
            <a:tailEnd/>
          </a:ln>
          <a:effectLst>
            <a:outerShdw dist="35921" dir="2700000" algn="ctr" rotWithShape="0">
              <a:schemeClr val="bg2"/>
            </a:outerShdw>
          </a:effectLst>
        </p:spPr>
        <p:txBody>
          <a:bodyPr vert="vert270" anchor="ctr"/>
          <a:lstStyle/>
          <a:p>
            <a:pPr algn="ctr">
              <a:lnSpc>
                <a:spcPts val="1000"/>
              </a:lnSpc>
            </a:pPr>
            <a:r>
              <a:rPr lang="es-ES" sz="1100" b="1" noProof="1">
                <a:solidFill>
                  <a:srgbClr val="FFFFFF"/>
                </a:solidFill>
                <a:cs typeface="Arial" charset="0"/>
              </a:rPr>
              <a:t>Cuestionarios</a:t>
            </a:r>
          </a:p>
        </p:txBody>
      </p:sp>
      <p:sp>
        <p:nvSpPr>
          <p:cNvPr id="75" name="Rounded Rectangle 38"/>
          <p:cNvSpPr/>
          <p:nvPr/>
        </p:nvSpPr>
        <p:spPr>
          <a:xfrm>
            <a:off x="5098230" y="4516875"/>
            <a:ext cx="3132000" cy="170094"/>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Criterios de Evaluación</a:t>
            </a:r>
          </a:p>
        </p:txBody>
      </p:sp>
      <p:sp>
        <p:nvSpPr>
          <p:cNvPr id="76" name="Rectangle 18"/>
          <p:cNvSpPr>
            <a:spLocks noChangeArrowheads="1"/>
          </p:cNvSpPr>
          <p:nvPr/>
        </p:nvSpPr>
        <p:spPr bwMode="auto">
          <a:xfrm>
            <a:off x="5102950" y="4730048"/>
            <a:ext cx="3780000" cy="469509"/>
          </a:xfrm>
          <a:prstGeom prst="rect">
            <a:avLst/>
          </a:prstGeom>
          <a:solidFill>
            <a:schemeClr val="bg1"/>
          </a:solidFill>
          <a:ln w="9525" algn="ctr">
            <a:solidFill>
              <a:schemeClr val="bg2"/>
            </a:solidFill>
            <a:miter lim="800000"/>
            <a:headEnd/>
            <a:tailEnd/>
          </a:ln>
          <a:effectLst/>
        </p:spPr>
        <p:txBody>
          <a:bodyPr anchor="ctr"/>
          <a:lstStyle/>
          <a:p>
            <a:r>
              <a:rPr lang="es-ES" sz="1050" dirty="0"/>
              <a:t>Valoración en base al promedio de las  operaciones diarias. Se toma una operación promedio de $5MM y un 2.5% de promedio que podría caer un activo.</a:t>
            </a:r>
          </a:p>
        </p:txBody>
      </p:sp>
      <p:sp>
        <p:nvSpPr>
          <p:cNvPr id="77" name="Text Box 30"/>
          <p:cNvSpPr txBox="1">
            <a:spLocks noChangeArrowheads="1"/>
          </p:cNvSpPr>
          <p:nvPr/>
        </p:nvSpPr>
        <p:spPr bwMode="auto">
          <a:xfrm>
            <a:off x="190746" y="4977551"/>
            <a:ext cx="3996000" cy="276999"/>
          </a:xfrm>
          <a:prstGeom prst="rect">
            <a:avLst/>
          </a:prstGeom>
          <a:noFill/>
          <a:ln w="9525" algn="ctr">
            <a:noFill/>
            <a:miter lim="800000"/>
            <a:headEnd/>
            <a:tailEnd/>
          </a:ln>
          <a:effectLst/>
        </p:spPr>
        <p:txBody>
          <a:bodyPr wrap="square">
            <a:spAutoFit/>
          </a:bodyPr>
          <a:lstStyle/>
          <a:p>
            <a:pPr>
              <a:spcBef>
                <a:spcPct val="50000"/>
              </a:spcBef>
            </a:pPr>
            <a:r>
              <a:rPr lang="es-CL" sz="1200" b="1" i="1" dirty="0">
                <a:solidFill>
                  <a:srgbClr val="A3A3E0"/>
                </a:solidFill>
              </a:rPr>
              <a:t>Resultados valoración de controles / factores mitigantes</a:t>
            </a:r>
            <a:endParaRPr lang="es-ES" sz="1200" b="1" i="1" dirty="0">
              <a:solidFill>
                <a:srgbClr val="A3A3E0"/>
              </a:solidFill>
            </a:endParaRPr>
          </a:p>
        </p:txBody>
      </p:sp>
      <p:sp>
        <p:nvSpPr>
          <p:cNvPr id="78" name="AutoShape 179"/>
          <p:cNvSpPr>
            <a:spLocks noChangeArrowheads="1"/>
          </p:cNvSpPr>
          <p:nvPr/>
        </p:nvSpPr>
        <p:spPr bwMode="auto">
          <a:xfrm>
            <a:off x="534831" y="5200032"/>
            <a:ext cx="4037169" cy="864000"/>
          </a:xfrm>
          <a:prstGeom prst="roundRect">
            <a:avLst>
              <a:gd name="adj" fmla="val 9481"/>
            </a:avLst>
          </a:prstGeom>
          <a:solidFill>
            <a:schemeClr val="accent1">
              <a:lumMod val="20000"/>
              <a:lumOff val="80000"/>
            </a:schemeClr>
          </a:solidFill>
          <a:ln w="9525" algn="ctr">
            <a:noFill/>
            <a:round/>
            <a:headEnd/>
            <a:tailEnd/>
          </a:ln>
          <a:effectLst/>
        </p:spPr>
        <p:txBody>
          <a:bodyPr wrap="none" anchor="ctr"/>
          <a:lstStyle/>
          <a:p>
            <a:endParaRPr lang="es-CL">
              <a:solidFill>
                <a:srgbClr val="002060"/>
              </a:solidFill>
            </a:endParaRPr>
          </a:p>
        </p:txBody>
      </p:sp>
      <p:sp>
        <p:nvSpPr>
          <p:cNvPr id="79" name="AutoShape 47"/>
          <p:cNvSpPr>
            <a:spLocks noChangeArrowheads="1"/>
          </p:cNvSpPr>
          <p:nvPr/>
        </p:nvSpPr>
        <p:spPr bwMode="blackWhite">
          <a:xfrm>
            <a:off x="281304" y="5201534"/>
            <a:ext cx="353942" cy="864000"/>
          </a:xfrm>
          <a:prstGeom prst="rightArrow">
            <a:avLst>
              <a:gd name="adj1" fmla="val 100000"/>
              <a:gd name="adj2" fmla="val 11009"/>
            </a:avLst>
          </a:prstGeom>
          <a:solidFill>
            <a:srgbClr val="969696"/>
          </a:solidFill>
          <a:ln w="12700">
            <a:noFill/>
            <a:miter lim="800000"/>
            <a:headEnd/>
            <a:tailEnd/>
          </a:ln>
          <a:effectLst>
            <a:outerShdw dist="35921" dir="2700000" algn="ctr" rotWithShape="0">
              <a:schemeClr val="bg2"/>
            </a:outerShdw>
          </a:effectLst>
        </p:spPr>
        <p:txBody>
          <a:bodyPr vert="vert270" anchor="ctr"/>
          <a:lstStyle/>
          <a:p>
            <a:pPr algn="ctr">
              <a:lnSpc>
                <a:spcPts val="1000"/>
              </a:lnSpc>
            </a:pPr>
            <a:r>
              <a:rPr lang="es-ES" sz="1100" b="1" noProof="1">
                <a:solidFill>
                  <a:srgbClr val="FFFFFF"/>
                </a:solidFill>
                <a:cs typeface="Arial" charset="0"/>
              </a:rPr>
              <a:t>Evaluación de Controles</a:t>
            </a:r>
          </a:p>
        </p:txBody>
      </p:sp>
      <p:sp>
        <p:nvSpPr>
          <p:cNvPr id="80" name="Rectangle 18"/>
          <p:cNvSpPr>
            <a:spLocks noChangeArrowheads="1"/>
          </p:cNvSpPr>
          <p:nvPr/>
        </p:nvSpPr>
        <p:spPr bwMode="auto">
          <a:xfrm>
            <a:off x="3937102" y="5275299"/>
            <a:ext cx="548640" cy="170094"/>
          </a:xfrm>
          <a:prstGeom prst="rect">
            <a:avLst/>
          </a:prstGeom>
          <a:solidFill>
            <a:schemeClr val="bg1"/>
          </a:solidFill>
          <a:ln w="9525" algn="ctr">
            <a:solidFill>
              <a:schemeClr val="bg2"/>
            </a:solidFill>
            <a:miter lim="800000"/>
            <a:headEnd/>
            <a:tailEnd/>
          </a:ln>
          <a:effectLst/>
        </p:spPr>
        <p:txBody>
          <a:bodyPr anchor="ctr"/>
          <a:lstStyle/>
          <a:p>
            <a:pPr algn="ctr"/>
            <a:r>
              <a:rPr lang="es-PE" sz="1100" dirty="0">
                <a:solidFill>
                  <a:srgbClr val="002060"/>
                </a:solidFill>
              </a:rPr>
              <a:t>0</a:t>
            </a:r>
            <a:endParaRPr lang="es-ES" sz="1100" dirty="0">
              <a:solidFill>
                <a:srgbClr val="002060"/>
              </a:solidFill>
            </a:endParaRPr>
          </a:p>
        </p:txBody>
      </p:sp>
      <p:sp>
        <p:nvSpPr>
          <p:cNvPr id="81" name="Rounded Rectangle 38"/>
          <p:cNvSpPr/>
          <p:nvPr/>
        </p:nvSpPr>
        <p:spPr>
          <a:xfrm>
            <a:off x="705742" y="5275299"/>
            <a:ext cx="3132000" cy="170094"/>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Controles asociados al riesgo</a:t>
            </a:r>
          </a:p>
        </p:txBody>
      </p:sp>
      <p:sp>
        <p:nvSpPr>
          <p:cNvPr id="82" name="Rectangle 18"/>
          <p:cNvSpPr>
            <a:spLocks noChangeArrowheads="1"/>
          </p:cNvSpPr>
          <p:nvPr/>
        </p:nvSpPr>
        <p:spPr bwMode="auto">
          <a:xfrm>
            <a:off x="705742" y="5496307"/>
            <a:ext cx="3780000" cy="469509"/>
          </a:xfrm>
          <a:prstGeom prst="rect">
            <a:avLst/>
          </a:prstGeom>
          <a:solidFill>
            <a:schemeClr val="bg1"/>
          </a:solidFill>
          <a:ln w="9525" algn="ctr">
            <a:solidFill>
              <a:schemeClr val="bg2"/>
            </a:solidFill>
            <a:miter lim="800000"/>
            <a:headEnd/>
            <a:tailEnd/>
          </a:ln>
          <a:effectLst/>
        </p:spPr>
        <p:txBody>
          <a:bodyPr anchor="ctr"/>
          <a:lstStyle/>
          <a:p>
            <a:r>
              <a:rPr lang="es-PE" sz="1100" dirty="0">
                <a:solidFill>
                  <a:srgbClr val="000000"/>
                </a:solidFill>
              </a:rPr>
              <a:t>No existe un control definido</a:t>
            </a:r>
            <a:endParaRPr lang="es-ES" sz="1100" dirty="0">
              <a:solidFill>
                <a:srgbClr val="000000"/>
              </a:solidFill>
            </a:endParaRPr>
          </a:p>
        </p:txBody>
      </p:sp>
      <p:sp>
        <p:nvSpPr>
          <p:cNvPr id="83" name="Rounded Rectangle 14"/>
          <p:cNvSpPr/>
          <p:nvPr/>
        </p:nvSpPr>
        <p:spPr>
          <a:xfrm>
            <a:off x="6732240" y="2908110"/>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Origen del Riesgo</a:t>
            </a:r>
          </a:p>
        </p:txBody>
      </p:sp>
      <p:sp>
        <p:nvSpPr>
          <p:cNvPr id="84" name="Rectangle 18"/>
          <p:cNvSpPr>
            <a:spLocks noChangeArrowheads="1"/>
          </p:cNvSpPr>
          <p:nvPr/>
        </p:nvSpPr>
        <p:spPr bwMode="auto">
          <a:xfrm>
            <a:off x="6732240" y="3123375"/>
            <a:ext cx="2286000" cy="270000"/>
          </a:xfrm>
          <a:prstGeom prst="rect">
            <a:avLst/>
          </a:prstGeom>
          <a:noFill/>
          <a:ln w="9525" algn="ctr">
            <a:solidFill>
              <a:schemeClr val="bg2"/>
            </a:solidFill>
            <a:miter lim="800000"/>
            <a:headEnd/>
            <a:tailEnd/>
          </a:ln>
          <a:effectLst/>
        </p:spPr>
        <p:txBody>
          <a:bodyPr anchor="ctr"/>
          <a:lstStyle/>
          <a:p>
            <a:r>
              <a:rPr lang="es-ES" sz="1100" dirty="0">
                <a:solidFill>
                  <a:srgbClr val="000000"/>
                </a:solidFill>
              </a:rPr>
              <a:t>Tecnología</a:t>
            </a:r>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dirty="0"/>
              <a:t>Anexo: Ficha Individual Riesgos Operacionales</a:t>
            </a:r>
          </a:p>
        </p:txBody>
      </p:sp>
      <p:sp>
        <p:nvSpPr>
          <p:cNvPr id="4" name="Rounded Rectangle 3"/>
          <p:cNvSpPr/>
          <p:nvPr/>
        </p:nvSpPr>
        <p:spPr>
          <a:xfrm>
            <a:off x="227770" y="764704"/>
            <a:ext cx="383790" cy="274320"/>
          </a:xfrm>
          <a:prstGeom prst="roundRect">
            <a:avLst/>
          </a:prstGeom>
          <a:solidFill>
            <a:srgbClr val="DB0613"/>
          </a:solidFill>
          <a:ln w="9525" algn="ctr">
            <a:noFill/>
            <a:miter lim="800000"/>
            <a:headEnd/>
            <a:tailEnd/>
          </a:ln>
          <a:effectLst/>
        </p:spPr>
        <p:txBody>
          <a:bodyPr anchor="ctr"/>
          <a:lstStyle/>
          <a:p>
            <a:pPr algn="ctr">
              <a:lnSpc>
                <a:spcPct val="80000"/>
              </a:lnSpc>
            </a:pPr>
            <a:r>
              <a:rPr lang="es-CL" sz="1200" b="1" dirty="0">
                <a:solidFill>
                  <a:srgbClr val="FFFFFF"/>
                </a:solidFill>
                <a:cs typeface="Arial" pitchFamily="34" charset="0"/>
              </a:rPr>
              <a:t>23</a:t>
            </a:r>
          </a:p>
        </p:txBody>
      </p:sp>
      <p:sp>
        <p:nvSpPr>
          <p:cNvPr id="5" name="Rectangle 18"/>
          <p:cNvSpPr>
            <a:spLocks noChangeArrowheads="1"/>
          </p:cNvSpPr>
          <p:nvPr/>
        </p:nvSpPr>
        <p:spPr bwMode="auto">
          <a:xfrm>
            <a:off x="227770" y="2548229"/>
            <a:ext cx="6400800" cy="708660"/>
          </a:xfrm>
          <a:prstGeom prst="rect">
            <a:avLst/>
          </a:prstGeom>
          <a:noFill/>
          <a:ln w="9525" algn="ctr">
            <a:solidFill>
              <a:schemeClr val="bg2"/>
            </a:solidFill>
            <a:miter lim="800000"/>
            <a:headEnd/>
            <a:tailEnd/>
          </a:ln>
          <a:effectLst/>
        </p:spPr>
        <p:txBody>
          <a:bodyPr/>
          <a:lstStyle/>
          <a:p>
            <a:r>
              <a:rPr lang="es-CL" sz="1100" dirty="0">
                <a:cs typeface="Arial" pitchFamily="34" charset="0"/>
              </a:rPr>
              <a:t>Ejecución de operaciones que no están alineadas, ni consensuadas por los Comités, con el objetivo de obtener un beneficio a nivel personal.</a:t>
            </a:r>
          </a:p>
        </p:txBody>
      </p:sp>
      <p:sp>
        <p:nvSpPr>
          <p:cNvPr id="8" name="Rounded Rectangle 7"/>
          <p:cNvSpPr/>
          <p:nvPr/>
        </p:nvSpPr>
        <p:spPr>
          <a:xfrm>
            <a:off x="652842" y="764704"/>
            <a:ext cx="8352000" cy="274320"/>
          </a:xfrm>
          <a:prstGeom prst="roundRect">
            <a:avLst/>
          </a:prstGeom>
          <a:solidFill>
            <a:srgbClr val="DB0613"/>
          </a:solidFill>
          <a:ln w="9525" algn="ctr">
            <a:noFill/>
            <a:miter lim="800000"/>
            <a:headEnd/>
            <a:tailEnd/>
          </a:ln>
          <a:effectLst/>
        </p:spPr>
        <p:txBody>
          <a:bodyPr anchor="ctr"/>
          <a:lstStyle/>
          <a:p>
            <a:pPr>
              <a:lnSpc>
                <a:spcPct val="80000"/>
              </a:lnSpc>
            </a:pPr>
            <a:r>
              <a:rPr lang="es-ES" sz="1200" b="1" dirty="0">
                <a:solidFill>
                  <a:srgbClr val="FFFFFF"/>
                </a:solidFill>
                <a:cs typeface="Arial" pitchFamily="34" charset="0"/>
              </a:rPr>
              <a:t>Ejecución de operaciones no autorizadas por los Comités</a:t>
            </a:r>
            <a:endParaRPr lang="es-CL" sz="1200" b="1" dirty="0">
              <a:solidFill>
                <a:srgbClr val="FFFFFF"/>
              </a:solidFill>
              <a:cs typeface="Arial" pitchFamily="34" charset="0"/>
            </a:endParaRPr>
          </a:p>
        </p:txBody>
      </p:sp>
      <p:sp>
        <p:nvSpPr>
          <p:cNvPr id="9" name="Rounded Rectangle 8"/>
          <p:cNvSpPr/>
          <p:nvPr/>
        </p:nvSpPr>
        <p:spPr>
          <a:xfrm>
            <a:off x="227770" y="2307916"/>
            <a:ext cx="64008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Descripción</a:t>
            </a:r>
          </a:p>
        </p:txBody>
      </p:sp>
      <p:sp>
        <p:nvSpPr>
          <p:cNvPr id="10" name="Rounded Rectangle 9"/>
          <p:cNvSpPr/>
          <p:nvPr/>
        </p:nvSpPr>
        <p:spPr>
          <a:xfrm>
            <a:off x="6716066" y="1111764"/>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Categoría  de Riesgo Nivel I</a:t>
            </a:r>
          </a:p>
        </p:txBody>
      </p:sp>
      <p:sp>
        <p:nvSpPr>
          <p:cNvPr id="11" name="Rectangle 18"/>
          <p:cNvSpPr>
            <a:spLocks noChangeArrowheads="1"/>
          </p:cNvSpPr>
          <p:nvPr/>
        </p:nvSpPr>
        <p:spPr bwMode="auto">
          <a:xfrm>
            <a:off x="6716066" y="1325572"/>
            <a:ext cx="2286000" cy="270000"/>
          </a:xfrm>
          <a:prstGeom prst="rect">
            <a:avLst/>
          </a:prstGeom>
          <a:noFill/>
          <a:ln w="9525" algn="ctr">
            <a:solidFill>
              <a:schemeClr val="bg2"/>
            </a:solidFill>
            <a:miter lim="800000"/>
            <a:headEnd/>
            <a:tailEnd/>
          </a:ln>
          <a:effectLst/>
        </p:spPr>
        <p:txBody>
          <a:bodyPr anchor="ctr"/>
          <a:lstStyle/>
          <a:p>
            <a:pPr>
              <a:lnSpc>
                <a:spcPts val="1000"/>
              </a:lnSpc>
            </a:pPr>
            <a:r>
              <a:rPr lang="es-ES" sz="1100" dirty="0"/>
              <a:t>Fraude interno</a:t>
            </a:r>
          </a:p>
        </p:txBody>
      </p:sp>
      <p:sp>
        <p:nvSpPr>
          <p:cNvPr id="12" name="Rounded Rectangle 11"/>
          <p:cNvSpPr/>
          <p:nvPr/>
        </p:nvSpPr>
        <p:spPr>
          <a:xfrm>
            <a:off x="6716066" y="1664503"/>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Categoría  de Riesgo Nivel II</a:t>
            </a:r>
          </a:p>
        </p:txBody>
      </p:sp>
      <p:sp>
        <p:nvSpPr>
          <p:cNvPr id="13" name="Rectangle 18"/>
          <p:cNvSpPr>
            <a:spLocks noChangeArrowheads="1"/>
          </p:cNvSpPr>
          <p:nvPr/>
        </p:nvSpPr>
        <p:spPr bwMode="auto">
          <a:xfrm>
            <a:off x="6716066" y="1877089"/>
            <a:ext cx="2286000" cy="270000"/>
          </a:xfrm>
          <a:prstGeom prst="rect">
            <a:avLst/>
          </a:prstGeom>
          <a:noFill/>
          <a:ln w="9525" algn="ctr">
            <a:solidFill>
              <a:schemeClr val="bg2"/>
            </a:solidFill>
            <a:miter lim="800000"/>
            <a:headEnd/>
            <a:tailEnd/>
          </a:ln>
          <a:effectLst/>
        </p:spPr>
        <p:txBody>
          <a:bodyPr anchor="ctr"/>
          <a:lstStyle/>
          <a:p>
            <a:r>
              <a:rPr lang="es-ES" sz="1100" dirty="0"/>
              <a:t>Robo y fraude</a:t>
            </a:r>
          </a:p>
        </p:txBody>
      </p:sp>
      <p:sp>
        <p:nvSpPr>
          <p:cNvPr id="15" name="Rounded Rectangle 14"/>
          <p:cNvSpPr/>
          <p:nvPr/>
        </p:nvSpPr>
        <p:spPr>
          <a:xfrm>
            <a:off x="6716066" y="2223551"/>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Categoría  de Riesgo Nivel III</a:t>
            </a:r>
          </a:p>
        </p:txBody>
      </p:sp>
      <p:sp>
        <p:nvSpPr>
          <p:cNvPr id="16" name="Rectangle 18"/>
          <p:cNvSpPr>
            <a:spLocks noChangeArrowheads="1"/>
          </p:cNvSpPr>
          <p:nvPr/>
        </p:nvSpPr>
        <p:spPr bwMode="auto">
          <a:xfrm>
            <a:off x="6716066" y="2434321"/>
            <a:ext cx="2286000" cy="270000"/>
          </a:xfrm>
          <a:prstGeom prst="rect">
            <a:avLst/>
          </a:prstGeom>
          <a:noFill/>
          <a:ln w="9525" algn="ctr">
            <a:solidFill>
              <a:schemeClr val="bg2"/>
            </a:solidFill>
            <a:miter lim="800000"/>
            <a:headEnd/>
            <a:tailEnd/>
          </a:ln>
          <a:effectLst/>
        </p:spPr>
        <p:txBody>
          <a:bodyPr anchor="ctr"/>
          <a:lstStyle/>
          <a:p>
            <a:r>
              <a:rPr lang="es-ES" sz="1050" dirty="0"/>
              <a:t>Falsificación, suplantación de identidad</a:t>
            </a:r>
          </a:p>
        </p:txBody>
      </p:sp>
      <p:sp>
        <p:nvSpPr>
          <p:cNvPr id="17" name="Rounded Rectangle 16"/>
          <p:cNvSpPr/>
          <p:nvPr/>
        </p:nvSpPr>
        <p:spPr>
          <a:xfrm>
            <a:off x="216583" y="1110038"/>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Macroproceso</a:t>
            </a:r>
          </a:p>
        </p:txBody>
      </p:sp>
      <p:sp>
        <p:nvSpPr>
          <p:cNvPr id="18" name="Rectangle 18"/>
          <p:cNvSpPr>
            <a:spLocks noChangeArrowheads="1"/>
          </p:cNvSpPr>
          <p:nvPr/>
        </p:nvSpPr>
        <p:spPr bwMode="auto">
          <a:xfrm>
            <a:off x="2568409" y="1110038"/>
            <a:ext cx="3877200" cy="182880"/>
          </a:xfrm>
          <a:prstGeom prst="rect">
            <a:avLst/>
          </a:prstGeom>
          <a:noFill/>
          <a:ln w="9525" algn="ctr">
            <a:solidFill>
              <a:schemeClr val="bg2"/>
            </a:solidFill>
            <a:miter lim="800000"/>
            <a:headEnd/>
            <a:tailEnd/>
          </a:ln>
          <a:effectLst/>
        </p:spPr>
        <p:txBody>
          <a:bodyPr anchor="ctr"/>
          <a:lstStyle/>
          <a:p>
            <a:r>
              <a:rPr lang="es-ES" sz="1100" dirty="0"/>
              <a:t>Administración de Portafolio de Inversiones</a:t>
            </a:r>
          </a:p>
        </p:txBody>
      </p:sp>
      <p:sp>
        <p:nvSpPr>
          <p:cNvPr id="19" name="Rounded Rectangle 18"/>
          <p:cNvSpPr/>
          <p:nvPr/>
        </p:nvSpPr>
        <p:spPr>
          <a:xfrm>
            <a:off x="216583" y="1339045"/>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Proceso</a:t>
            </a:r>
          </a:p>
        </p:txBody>
      </p:sp>
      <p:sp>
        <p:nvSpPr>
          <p:cNvPr id="20" name="Rectangle 18"/>
          <p:cNvSpPr>
            <a:spLocks noChangeArrowheads="1"/>
          </p:cNvSpPr>
          <p:nvPr/>
        </p:nvSpPr>
        <p:spPr bwMode="auto">
          <a:xfrm>
            <a:off x="2568409" y="1339045"/>
            <a:ext cx="3877200" cy="182880"/>
          </a:xfrm>
          <a:prstGeom prst="rect">
            <a:avLst/>
          </a:prstGeom>
          <a:noFill/>
          <a:ln w="9525" algn="ctr">
            <a:solidFill>
              <a:schemeClr val="bg2"/>
            </a:solidFill>
            <a:miter lim="800000"/>
            <a:headEnd/>
            <a:tailEnd/>
          </a:ln>
          <a:effectLst/>
        </p:spPr>
        <p:txBody>
          <a:bodyPr anchor="ctr"/>
          <a:lstStyle/>
          <a:p>
            <a:r>
              <a:rPr lang="es-ES" sz="1100" dirty="0"/>
              <a:t>Administración de fondos</a:t>
            </a:r>
          </a:p>
        </p:txBody>
      </p:sp>
      <p:sp>
        <p:nvSpPr>
          <p:cNvPr id="59" name="Rounded Rectangle 58"/>
          <p:cNvSpPr/>
          <p:nvPr/>
        </p:nvSpPr>
        <p:spPr>
          <a:xfrm>
            <a:off x="216583" y="1579694"/>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Subproceso</a:t>
            </a:r>
          </a:p>
        </p:txBody>
      </p:sp>
      <p:sp>
        <p:nvSpPr>
          <p:cNvPr id="60" name="Rectangle 18"/>
          <p:cNvSpPr>
            <a:spLocks noChangeArrowheads="1"/>
          </p:cNvSpPr>
          <p:nvPr/>
        </p:nvSpPr>
        <p:spPr bwMode="auto">
          <a:xfrm>
            <a:off x="2568409" y="1579694"/>
            <a:ext cx="3875799" cy="182880"/>
          </a:xfrm>
          <a:prstGeom prst="rect">
            <a:avLst/>
          </a:prstGeom>
          <a:noFill/>
          <a:ln w="9525" algn="ctr">
            <a:solidFill>
              <a:schemeClr val="bg2"/>
            </a:solidFill>
            <a:miter lim="800000"/>
            <a:headEnd/>
            <a:tailEnd/>
          </a:ln>
          <a:effectLst/>
        </p:spPr>
        <p:txBody>
          <a:bodyPr anchor="ctr"/>
          <a:lstStyle/>
          <a:p>
            <a:r>
              <a:rPr lang="es-ES" sz="1100" dirty="0"/>
              <a:t>Ejecución de propuesta de Inversión</a:t>
            </a:r>
          </a:p>
        </p:txBody>
      </p:sp>
      <p:sp>
        <p:nvSpPr>
          <p:cNvPr id="61" name="Rounded Rectangle 60"/>
          <p:cNvSpPr/>
          <p:nvPr/>
        </p:nvSpPr>
        <p:spPr>
          <a:xfrm>
            <a:off x="226806" y="1826440"/>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Línea de Negocio</a:t>
            </a:r>
          </a:p>
        </p:txBody>
      </p:sp>
      <p:sp>
        <p:nvSpPr>
          <p:cNvPr id="63" name="Rounded Rectangle 62"/>
          <p:cNvSpPr/>
          <p:nvPr/>
        </p:nvSpPr>
        <p:spPr>
          <a:xfrm>
            <a:off x="226806" y="2079535"/>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Responsable</a:t>
            </a:r>
          </a:p>
        </p:txBody>
      </p:sp>
      <p:sp>
        <p:nvSpPr>
          <p:cNvPr id="65" name="Rectangle 18"/>
          <p:cNvSpPr>
            <a:spLocks noChangeArrowheads="1"/>
          </p:cNvSpPr>
          <p:nvPr/>
        </p:nvSpPr>
        <p:spPr bwMode="auto">
          <a:xfrm>
            <a:off x="2568409" y="1826440"/>
            <a:ext cx="3875799" cy="182880"/>
          </a:xfrm>
          <a:prstGeom prst="rect">
            <a:avLst/>
          </a:prstGeom>
          <a:noFill/>
          <a:ln w="9525" algn="ctr">
            <a:solidFill>
              <a:schemeClr val="bg2"/>
            </a:solidFill>
            <a:miter lim="800000"/>
            <a:headEnd/>
            <a:tailEnd/>
          </a:ln>
          <a:effectLst/>
        </p:spPr>
        <p:txBody>
          <a:bodyPr anchor="ctr"/>
          <a:lstStyle/>
          <a:p>
            <a:r>
              <a:rPr lang="es-ES" sz="1100" dirty="0"/>
              <a:t>Negociación y Ventas</a:t>
            </a:r>
          </a:p>
        </p:txBody>
      </p:sp>
      <p:sp>
        <p:nvSpPr>
          <p:cNvPr id="66" name="Rectangle 18"/>
          <p:cNvSpPr>
            <a:spLocks noChangeArrowheads="1"/>
          </p:cNvSpPr>
          <p:nvPr/>
        </p:nvSpPr>
        <p:spPr bwMode="auto">
          <a:xfrm>
            <a:off x="2555776" y="2079535"/>
            <a:ext cx="3875799" cy="182880"/>
          </a:xfrm>
          <a:prstGeom prst="rect">
            <a:avLst/>
          </a:prstGeom>
          <a:noFill/>
          <a:ln w="9525" algn="ctr">
            <a:solidFill>
              <a:schemeClr val="bg2"/>
            </a:solidFill>
            <a:miter lim="800000"/>
            <a:headEnd/>
            <a:tailEnd/>
          </a:ln>
          <a:effectLst/>
        </p:spPr>
        <p:txBody>
          <a:bodyPr anchor="ctr"/>
          <a:lstStyle/>
          <a:p>
            <a:r>
              <a:rPr lang="es-ES" sz="1100" dirty="0"/>
              <a:t>Subgerentes de Portafolio</a:t>
            </a:r>
          </a:p>
        </p:txBody>
      </p:sp>
      <p:sp>
        <p:nvSpPr>
          <p:cNvPr id="78" name="Rounded Rectangle 14"/>
          <p:cNvSpPr/>
          <p:nvPr/>
        </p:nvSpPr>
        <p:spPr>
          <a:xfrm>
            <a:off x="6716066" y="2768330"/>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Origen del Riesgo</a:t>
            </a:r>
          </a:p>
        </p:txBody>
      </p:sp>
      <p:sp>
        <p:nvSpPr>
          <p:cNvPr id="79" name="Rectangle 18"/>
          <p:cNvSpPr>
            <a:spLocks noChangeArrowheads="1"/>
          </p:cNvSpPr>
          <p:nvPr/>
        </p:nvSpPr>
        <p:spPr bwMode="auto">
          <a:xfrm>
            <a:off x="6716066" y="2983595"/>
            <a:ext cx="2286000" cy="270000"/>
          </a:xfrm>
          <a:prstGeom prst="rect">
            <a:avLst/>
          </a:prstGeom>
          <a:noFill/>
          <a:ln w="9525" algn="ctr">
            <a:solidFill>
              <a:schemeClr val="bg2"/>
            </a:solidFill>
            <a:miter lim="800000"/>
            <a:headEnd/>
            <a:tailEnd/>
          </a:ln>
          <a:effectLst/>
        </p:spPr>
        <p:txBody>
          <a:bodyPr anchor="ctr"/>
          <a:lstStyle/>
          <a:p>
            <a:r>
              <a:rPr lang="es-ES" sz="1100" dirty="0">
                <a:solidFill>
                  <a:srgbClr val="000000"/>
                </a:solidFill>
              </a:rPr>
              <a:t>Personas</a:t>
            </a:r>
          </a:p>
        </p:txBody>
      </p:sp>
      <p:sp>
        <p:nvSpPr>
          <p:cNvPr id="68" name="AutoShape 179"/>
          <p:cNvSpPr>
            <a:spLocks noChangeArrowheads="1"/>
          </p:cNvSpPr>
          <p:nvPr/>
        </p:nvSpPr>
        <p:spPr bwMode="auto">
          <a:xfrm>
            <a:off x="611560" y="3482416"/>
            <a:ext cx="3960812" cy="1275707"/>
          </a:xfrm>
          <a:prstGeom prst="roundRect">
            <a:avLst>
              <a:gd name="adj" fmla="val 9481"/>
            </a:avLst>
          </a:prstGeom>
          <a:solidFill>
            <a:schemeClr val="accent1">
              <a:lumMod val="20000"/>
              <a:lumOff val="80000"/>
            </a:schemeClr>
          </a:solidFill>
          <a:ln w="9525" algn="ctr">
            <a:noFill/>
            <a:round/>
            <a:headEnd/>
            <a:tailEnd/>
          </a:ln>
          <a:effectLst/>
        </p:spPr>
        <p:txBody>
          <a:bodyPr wrap="none" anchor="ctr"/>
          <a:lstStyle/>
          <a:p>
            <a:endParaRPr lang="es-CL">
              <a:solidFill>
                <a:srgbClr val="002060"/>
              </a:solidFill>
            </a:endParaRPr>
          </a:p>
        </p:txBody>
      </p:sp>
      <p:sp>
        <p:nvSpPr>
          <p:cNvPr id="73" name="Text Box 30"/>
          <p:cNvSpPr txBox="1">
            <a:spLocks noChangeArrowheads="1"/>
          </p:cNvSpPr>
          <p:nvPr/>
        </p:nvSpPr>
        <p:spPr bwMode="auto">
          <a:xfrm>
            <a:off x="190747" y="3259373"/>
            <a:ext cx="3671888" cy="276999"/>
          </a:xfrm>
          <a:prstGeom prst="rect">
            <a:avLst/>
          </a:prstGeom>
          <a:noFill/>
          <a:ln w="9525" algn="ctr">
            <a:noFill/>
            <a:miter lim="800000"/>
            <a:headEnd/>
            <a:tailEnd/>
          </a:ln>
          <a:effectLst/>
        </p:spPr>
        <p:txBody>
          <a:bodyPr>
            <a:spAutoFit/>
          </a:bodyPr>
          <a:lstStyle/>
          <a:p>
            <a:pPr>
              <a:spcBef>
                <a:spcPct val="50000"/>
              </a:spcBef>
            </a:pPr>
            <a:r>
              <a:rPr lang="es-CL" sz="1200" b="1" i="1" dirty="0">
                <a:solidFill>
                  <a:srgbClr val="A3A3E0"/>
                </a:solidFill>
              </a:rPr>
              <a:t>Resultados valoración de riesgos</a:t>
            </a:r>
            <a:endParaRPr lang="es-ES" sz="1200" b="1" i="1" dirty="0">
              <a:solidFill>
                <a:srgbClr val="A3A3E0"/>
              </a:solidFill>
            </a:endParaRPr>
          </a:p>
        </p:txBody>
      </p:sp>
      <p:sp>
        <p:nvSpPr>
          <p:cNvPr id="76" name="Rounded Rectangle 75"/>
          <p:cNvSpPr/>
          <p:nvPr/>
        </p:nvSpPr>
        <p:spPr>
          <a:xfrm>
            <a:off x="902959" y="4255955"/>
            <a:ext cx="1920240" cy="170094"/>
          </a:xfrm>
          <a:prstGeom prst="roundRect">
            <a:avLst/>
          </a:prstGeom>
          <a:solidFill>
            <a:srgbClr val="DB0613"/>
          </a:solidFill>
          <a:ln w="9525" algn="ctr">
            <a:noFill/>
            <a:miter lim="800000"/>
            <a:headEnd/>
            <a:tailEnd/>
          </a:ln>
          <a:effectLst/>
        </p:spPr>
        <p:txBody>
          <a:bodyPr tIns="91440" anchor="ctr"/>
          <a:lstStyle/>
          <a:p>
            <a:pPr>
              <a:lnSpc>
                <a:spcPct val="80000"/>
              </a:lnSpc>
            </a:pPr>
            <a:r>
              <a:rPr lang="es-CL" sz="1100" b="1" dirty="0">
                <a:solidFill>
                  <a:srgbClr val="FFFFFF"/>
                </a:solidFill>
                <a:cs typeface="Arial" pitchFamily="34" charset="0"/>
              </a:rPr>
              <a:t>Pérdida Esperada Anual</a:t>
            </a:r>
          </a:p>
        </p:txBody>
      </p:sp>
      <p:sp>
        <p:nvSpPr>
          <p:cNvPr id="77" name="Rectangle 18"/>
          <p:cNvSpPr>
            <a:spLocks noChangeArrowheads="1"/>
          </p:cNvSpPr>
          <p:nvPr/>
        </p:nvSpPr>
        <p:spPr bwMode="auto">
          <a:xfrm>
            <a:off x="2859920" y="4255955"/>
            <a:ext cx="1554480" cy="170094"/>
          </a:xfrm>
          <a:prstGeom prst="rect">
            <a:avLst/>
          </a:prstGeom>
          <a:solidFill>
            <a:schemeClr val="bg1"/>
          </a:solidFill>
          <a:ln w="9525" algn="ctr">
            <a:solidFill>
              <a:schemeClr val="bg2"/>
            </a:solidFill>
            <a:miter lim="800000"/>
            <a:headEnd/>
            <a:tailEnd/>
          </a:ln>
          <a:effectLst/>
        </p:spPr>
        <p:txBody>
          <a:bodyPr anchor="ctr"/>
          <a:lstStyle/>
          <a:p>
            <a:pPr algn="ctr"/>
            <a:r>
              <a:rPr lang="es-ES" sz="1100" dirty="0">
                <a:solidFill>
                  <a:srgbClr val="000000"/>
                </a:solidFill>
              </a:rPr>
              <a:t>s/. </a:t>
            </a:r>
            <a:r>
              <a:rPr lang="es-ES" sz="1100" dirty="0"/>
              <a:t>31,875 .00</a:t>
            </a:r>
            <a:endParaRPr lang="es-ES" sz="1100" dirty="0">
              <a:solidFill>
                <a:srgbClr val="000000"/>
              </a:solidFill>
            </a:endParaRPr>
          </a:p>
        </p:txBody>
      </p:sp>
      <p:sp>
        <p:nvSpPr>
          <p:cNvPr id="80" name="Rounded Rectangle 79"/>
          <p:cNvSpPr/>
          <p:nvPr/>
        </p:nvSpPr>
        <p:spPr>
          <a:xfrm>
            <a:off x="902959" y="4485567"/>
            <a:ext cx="1920240" cy="170094"/>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VaR Cualitativo Anual</a:t>
            </a:r>
          </a:p>
        </p:txBody>
      </p:sp>
      <p:sp>
        <p:nvSpPr>
          <p:cNvPr id="81" name="Rectangle 18"/>
          <p:cNvSpPr>
            <a:spLocks noChangeArrowheads="1"/>
          </p:cNvSpPr>
          <p:nvPr/>
        </p:nvSpPr>
        <p:spPr bwMode="auto">
          <a:xfrm>
            <a:off x="2859920" y="4485567"/>
            <a:ext cx="1554480" cy="170094"/>
          </a:xfrm>
          <a:prstGeom prst="rect">
            <a:avLst/>
          </a:prstGeom>
          <a:solidFill>
            <a:schemeClr val="bg1"/>
          </a:solidFill>
          <a:ln w="9525" algn="ctr">
            <a:solidFill>
              <a:schemeClr val="bg2"/>
            </a:solidFill>
            <a:miter lim="800000"/>
            <a:headEnd/>
            <a:tailEnd/>
          </a:ln>
          <a:effectLst/>
        </p:spPr>
        <p:txBody>
          <a:bodyPr anchor="ctr"/>
          <a:lstStyle/>
          <a:p>
            <a:pPr algn="ctr"/>
            <a:r>
              <a:rPr lang="es-ES" sz="1100" dirty="0"/>
              <a:t>s</a:t>
            </a:r>
            <a:r>
              <a:rPr lang="es-ES" sz="1100" dirty="0">
                <a:solidFill>
                  <a:srgbClr val="000000"/>
                </a:solidFill>
              </a:rPr>
              <a:t>/. </a:t>
            </a:r>
            <a:r>
              <a:rPr lang="es-ES" sz="1100" dirty="0"/>
              <a:t>2,017,812.40 </a:t>
            </a:r>
            <a:endParaRPr lang="es-ES" sz="1100" dirty="0">
              <a:solidFill>
                <a:srgbClr val="000000"/>
              </a:solidFill>
            </a:endParaRPr>
          </a:p>
        </p:txBody>
      </p:sp>
      <p:sp>
        <p:nvSpPr>
          <p:cNvPr id="82" name="Rounded Rectangle 81"/>
          <p:cNvSpPr/>
          <p:nvPr/>
        </p:nvSpPr>
        <p:spPr>
          <a:xfrm>
            <a:off x="891084" y="3553916"/>
            <a:ext cx="1920240" cy="170094"/>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Frecuencia  Evento Pérdida</a:t>
            </a:r>
          </a:p>
        </p:txBody>
      </p:sp>
      <p:sp>
        <p:nvSpPr>
          <p:cNvPr id="83" name="Rectangle 18"/>
          <p:cNvSpPr>
            <a:spLocks noChangeArrowheads="1"/>
          </p:cNvSpPr>
          <p:nvPr/>
        </p:nvSpPr>
        <p:spPr bwMode="auto">
          <a:xfrm>
            <a:off x="2859920" y="3553916"/>
            <a:ext cx="1554480" cy="170094"/>
          </a:xfrm>
          <a:prstGeom prst="rect">
            <a:avLst/>
          </a:prstGeom>
          <a:solidFill>
            <a:schemeClr val="bg1"/>
          </a:solidFill>
          <a:ln w="9525" algn="ctr">
            <a:solidFill>
              <a:schemeClr val="bg2"/>
            </a:solidFill>
            <a:miter lim="800000"/>
            <a:headEnd/>
            <a:tailEnd/>
          </a:ln>
          <a:effectLst/>
        </p:spPr>
        <p:txBody>
          <a:bodyPr anchor="ctr"/>
          <a:lstStyle/>
          <a:p>
            <a:pPr algn="ctr"/>
            <a:r>
              <a:rPr lang="es-ES" sz="1100" dirty="0">
                <a:solidFill>
                  <a:srgbClr val="000000"/>
                </a:solidFill>
              </a:rPr>
              <a:t>1 vez cada 10 años</a:t>
            </a:r>
          </a:p>
        </p:txBody>
      </p:sp>
      <p:sp>
        <p:nvSpPr>
          <p:cNvPr id="84" name="Rounded Rectangle 83"/>
          <p:cNvSpPr/>
          <p:nvPr/>
        </p:nvSpPr>
        <p:spPr>
          <a:xfrm>
            <a:off x="891084" y="3783528"/>
            <a:ext cx="1920240" cy="170094"/>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Impacto Medio Evento</a:t>
            </a:r>
          </a:p>
        </p:txBody>
      </p:sp>
      <p:sp>
        <p:nvSpPr>
          <p:cNvPr id="85" name="Rectangle 18"/>
          <p:cNvSpPr>
            <a:spLocks noChangeArrowheads="1"/>
          </p:cNvSpPr>
          <p:nvPr/>
        </p:nvSpPr>
        <p:spPr bwMode="auto">
          <a:xfrm>
            <a:off x="2859920" y="3783528"/>
            <a:ext cx="1554480" cy="170094"/>
          </a:xfrm>
          <a:prstGeom prst="rect">
            <a:avLst/>
          </a:prstGeom>
          <a:solidFill>
            <a:schemeClr val="bg1"/>
          </a:solidFill>
          <a:ln w="9525" algn="ctr">
            <a:solidFill>
              <a:schemeClr val="bg2"/>
            </a:solidFill>
            <a:miter lim="800000"/>
            <a:headEnd/>
            <a:tailEnd/>
          </a:ln>
          <a:effectLst/>
        </p:spPr>
        <p:txBody>
          <a:bodyPr anchor="ctr"/>
          <a:lstStyle/>
          <a:p>
            <a:pPr algn="ctr"/>
            <a:r>
              <a:rPr lang="es-ES" sz="1100" dirty="0">
                <a:solidFill>
                  <a:srgbClr val="000000"/>
                </a:solidFill>
              </a:rPr>
              <a:t>s/. </a:t>
            </a:r>
            <a:r>
              <a:rPr lang="es-ES" sz="1100" dirty="0"/>
              <a:t>318,750 .00 </a:t>
            </a:r>
            <a:endParaRPr lang="es-ES" sz="1100" dirty="0">
              <a:solidFill>
                <a:srgbClr val="000000"/>
              </a:solidFill>
            </a:endParaRPr>
          </a:p>
        </p:txBody>
      </p:sp>
      <p:sp>
        <p:nvSpPr>
          <p:cNvPr id="86" name="Rounded Rectangle 85"/>
          <p:cNvSpPr/>
          <p:nvPr/>
        </p:nvSpPr>
        <p:spPr>
          <a:xfrm>
            <a:off x="891084" y="4019108"/>
            <a:ext cx="1920240" cy="170094"/>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Impacto Peor Escenario</a:t>
            </a:r>
          </a:p>
        </p:txBody>
      </p:sp>
      <p:sp>
        <p:nvSpPr>
          <p:cNvPr id="87" name="Rectangle 18"/>
          <p:cNvSpPr>
            <a:spLocks noChangeArrowheads="1"/>
          </p:cNvSpPr>
          <p:nvPr/>
        </p:nvSpPr>
        <p:spPr bwMode="auto">
          <a:xfrm>
            <a:off x="2859920" y="4019108"/>
            <a:ext cx="1554480" cy="170094"/>
          </a:xfrm>
          <a:prstGeom prst="rect">
            <a:avLst/>
          </a:prstGeom>
          <a:solidFill>
            <a:schemeClr val="bg1"/>
          </a:solidFill>
          <a:ln w="9525" algn="ctr">
            <a:solidFill>
              <a:schemeClr val="bg2"/>
            </a:solidFill>
            <a:miter lim="800000"/>
            <a:headEnd/>
            <a:tailEnd/>
          </a:ln>
          <a:effectLst/>
        </p:spPr>
        <p:txBody>
          <a:bodyPr anchor="ctr"/>
          <a:lstStyle/>
          <a:p>
            <a:pPr algn="ctr"/>
            <a:r>
              <a:rPr lang="es-ES" sz="1100" dirty="0">
                <a:solidFill>
                  <a:srgbClr val="000000"/>
                </a:solidFill>
              </a:rPr>
              <a:t>s/. </a:t>
            </a:r>
            <a:r>
              <a:rPr lang="es-ES" sz="1100" dirty="0"/>
              <a:t>3,825,000 .00</a:t>
            </a:r>
            <a:endParaRPr lang="es-ES" sz="1100" dirty="0">
              <a:solidFill>
                <a:srgbClr val="000000"/>
              </a:solidFill>
            </a:endParaRPr>
          </a:p>
        </p:txBody>
      </p:sp>
      <p:sp>
        <p:nvSpPr>
          <p:cNvPr id="88" name="AutoShape 47"/>
          <p:cNvSpPr>
            <a:spLocks noChangeAspect="1" noChangeArrowheads="1"/>
          </p:cNvSpPr>
          <p:nvPr/>
        </p:nvSpPr>
        <p:spPr bwMode="blackWhite">
          <a:xfrm>
            <a:off x="263032" y="3482416"/>
            <a:ext cx="503986" cy="1274400"/>
          </a:xfrm>
          <a:prstGeom prst="rightArrow">
            <a:avLst>
              <a:gd name="adj1" fmla="val 100000"/>
              <a:gd name="adj2" fmla="val 11009"/>
            </a:avLst>
          </a:prstGeom>
          <a:solidFill>
            <a:srgbClr val="969696"/>
          </a:solidFill>
          <a:ln w="12700">
            <a:noFill/>
            <a:miter lim="800000"/>
            <a:headEnd/>
            <a:tailEnd/>
          </a:ln>
          <a:effectLst>
            <a:outerShdw dist="35921" dir="2700000" algn="ctr" rotWithShape="0">
              <a:schemeClr val="bg2"/>
            </a:outerShdw>
          </a:effectLst>
        </p:spPr>
        <p:txBody>
          <a:bodyPr vert="vert270" anchor="ctr"/>
          <a:lstStyle/>
          <a:p>
            <a:pPr algn="ctr">
              <a:lnSpc>
                <a:spcPts val="1000"/>
              </a:lnSpc>
            </a:pPr>
            <a:r>
              <a:rPr lang="es-ES" sz="1100" b="1" noProof="1">
                <a:solidFill>
                  <a:srgbClr val="FFFFFF"/>
                </a:solidFill>
                <a:cs typeface="Arial" charset="0"/>
              </a:rPr>
              <a:t>Evaluación Riesgo Operacional</a:t>
            </a:r>
          </a:p>
        </p:txBody>
      </p:sp>
      <p:sp>
        <p:nvSpPr>
          <p:cNvPr id="89" name="AutoShape 179"/>
          <p:cNvSpPr>
            <a:spLocks noChangeArrowheads="1"/>
          </p:cNvSpPr>
          <p:nvPr/>
        </p:nvSpPr>
        <p:spPr bwMode="auto">
          <a:xfrm>
            <a:off x="4932039" y="3493021"/>
            <a:ext cx="4037169" cy="864000"/>
          </a:xfrm>
          <a:prstGeom prst="roundRect">
            <a:avLst>
              <a:gd name="adj" fmla="val 9481"/>
            </a:avLst>
          </a:prstGeom>
          <a:solidFill>
            <a:schemeClr val="accent1">
              <a:lumMod val="20000"/>
              <a:lumOff val="80000"/>
            </a:schemeClr>
          </a:solidFill>
          <a:ln w="9525" algn="ctr">
            <a:noFill/>
            <a:round/>
            <a:headEnd/>
            <a:tailEnd/>
          </a:ln>
          <a:effectLst/>
        </p:spPr>
        <p:txBody>
          <a:bodyPr wrap="none" anchor="ctr"/>
          <a:lstStyle/>
          <a:p>
            <a:endParaRPr lang="es-CL">
              <a:solidFill>
                <a:srgbClr val="002060"/>
              </a:solidFill>
            </a:endParaRPr>
          </a:p>
        </p:txBody>
      </p:sp>
      <p:sp>
        <p:nvSpPr>
          <p:cNvPr id="90" name="AutoShape 47"/>
          <p:cNvSpPr>
            <a:spLocks noChangeArrowheads="1"/>
          </p:cNvSpPr>
          <p:nvPr/>
        </p:nvSpPr>
        <p:spPr bwMode="blackWhite">
          <a:xfrm>
            <a:off x="4678512" y="3494523"/>
            <a:ext cx="353942" cy="864000"/>
          </a:xfrm>
          <a:prstGeom prst="rightArrow">
            <a:avLst>
              <a:gd name="adj1" fmla="val 100000"/>
              <a:gd name="adj2" fmla="val 11009"/>
            </a:avLst>
          </a:prstGeom>
          <a:solidFill>
            <a:srgbClr val="969696"/>
          </a:solidFill>
          <a:ln w="12700">
            <a:noFill/>
            <a:miter lim="800000"/>
            <a:headEnd/>
            <a:tailEnd/>
          </a:ln>
          <a:effectLst>
            <a:outerShdw dist="35921" dir="2700000" algn="ctr" rotWithShape="0">
              <a:schemeClr val="bg2"/>
            </a:outerShdw>
          </a:effectLst>
        </p:spPr>
        <p:txBody>
          <a:bodyPr vert="vert270" anchor="ctr"/>
          <a:lstStyle/>
          <a:p>
            <a:pPr algn="ctr">
              <a:lnSpc>
                <a:spcPts val="1000"/>
              </a:lnSpc>
            </a:pPr>
            <a:r>
              <a:rPr lang="es-ES" sz="1100" b="1" noProof="1">
                <a:solidFill>
                  <a:srgbClr val="FFFFFF"/>
                </a:solidFill>
                <a:cs typeface="Arial" charset="0"/>
              </a:rPr>
              <a:t>Impacto Reputacional</a:t>
            </a:r>
          </a:p>
        </p:txBody>
      </p:sp>
      <p:sp>
        <p:nvSpPr>
          <p:cNvPr id="91" name="Rectangle 18"/>
          <p:cNvSpPr>
            <a:spLocks noChangeArrowheads="1"/>
          </p:cNvSpPr>
          <p:nvPr/>
        </p:nvSpPr>
        <p:spPr bwMode="auto">
          <a:xfrm>
            <a:off x="8334310" y="3568288"/>
            <a:ext cx="548640" cy="170094"/>
          </a:xfrm>
          <a:prstGeom prst="rect">
            <a:avLst/>
          </a:prstGeom>
          <a:solidFill>
            <a:schemeClr val="bg1"/>
          </a:solidFill>
          <a:ln w="9525" algn="ctr">
            <a:solidFill>
              <a:schemeClr val="bg2"/>
            </a:solidFill>
            <a:miter lim="800000"/>
            <a:headEnd/>
            <a:tailEnd/>
          </a:ln>
          <a:effectLst/>
        </p:spPr>
        <p:txBody>
          <a:bodyPr anchor="ctr"/>
          <a:lstStyle/>
          <a:p>
            <a:pPr algn="ctr"/>
            <a:r>
              <a:rPr lang="es-ES" sz="1100" dirty="0"/>
              <a:t>1</a:t>
            </a:r>
          </a:p>
        </p:txBody>
      </p:sp>
      <p:sp>
        <p:nvSpPr>
          <p:cNvPr id="92" name="Rounded Rectangle 91"/>
          <p:cNvSpPr/>
          <p:nvPr/>
        </p:nvSpPr>
        <p:spPr>
          <a:xfrm>
            <a:off x="5102950" y="3568288"/>
            <a:ext cx="3132000" cy="170094"/>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Afectación a contrapartes</a:t>
            </a:r>
          </a:p>
        </p:txBody>
      </p:sp>
      <p:sp>
        <p:nvSpPr>
          <p:cNvPr id="93" name="Rectangle 18"/>
          <p:cNvSpPr>
            <a:spLocks noChangeArrowheads="1"/>
          </p:cNvSpPr>
          <p:nvPr/>
        </p:nvSpPr>
        <p:spPr bwMode="auto">
          <a:xfrm>
            <a:off x="5102950" y="3786445"/>
            <a:ext cx="3780000" cy="469509"/>
          </a:xfrm>
          <a:prstGeom prst="rect">
            <a:avLst/>
          </a:prstGeom>
          <a:solidFill>
            <a:schemeClr val="bg1"/>
          </a:solidFill>
          <a:ln w="9525" algn="ctr">
            <a:solidFill>
              <a:schemeClr val="bg2"/>
            </a:solidFill>
            <a:miter lim="800000"/>
            <a:headEnd/>
            <a:tailEnd/>
          </a:ln>
          <a:effectLst/>
        </p:spPr>
        <p:txBody>
          <a:bodyPr anchor="ctr"/>
          <a:lstStyle/>
          <a:p>
            <a:r>
              <a:rPr lang="es-ES" sz="1100" dirty="0">
                <a:solidFill>
                  <a:srgbClr val="000000"/>
                </a:solidFill>
              </a:rPr>
              <a:t>La exposición de la imagen es únicamente interna y limitada.</a:t>
            </a:r>
          </a:p>
        </p:txBody>
      </p:sp>
      <p:sp>
        <p:nvSpPr>
          <p:cNvPr id="94" name="Text Box 30"/>
          <p:cNvSpPr txBox="1">
            <a:spLocks noChangeArrowheads="1"/>
          </p:cNvSpPr>
          <p:nvPr/>
        </p:nvSpPr>
        <p:spPr bwMode="auto">
          <a:xfrm>
            <a:off x="190746" y="4838419"/>
            <a:ext cx="3996000" cy="276999"/>
          </a:xfrm>
          <a:prstGeom prst="rect">
            <a:avLst/>
          </a:prstGeom>
          <a:noFill/>
          <a:ln w="9525" algn="ctr">
            <a:noFill/>
            <a:miter lim="800000"/>
            <a:headEnd/>
            <a:tailEnd/>
          </a:ln>
          <a:effectLst/>
        </p:spPr>
        <p:txBody>
          <a:bodyPr wrap="square">
            <a:spAutoFit/>
          </a:bodyPr>
          <a:lstStyle/>
          <a:p>
            <a:pPr>
              <a:spcBef>
                <a:spcPct val="50000"/>
              </a:spcBef>
            </a:pPr>
            <a:r>
              <a:rPr lang="es-CL" sz="1200" b="1" i="1" dirty="0">
                <a:solidFill>
                  <a:srgbClr val="A3A3E0"/>
                </a:solidFill>
              </a:rPr>
              <a:t>Resultados valoración de controles / factores mitigantes</a:t>
            </a:r>
            <a:endParaRPr lang="es-ES" sz="1200" b="1" i="1" dirty="0">
              <a:solidFill>
                <a:srgbClr val="A3A3E0"/>
              </a:solidFill>
            </a:endParaRPr>
          </a:p>
        </p:txBody>
      </p:sp>
      <p:sp>
        <p:nvSpPr>
          <p:cNvPr id="98" name="AutoShape 179"/>
          <p:cNvSpPr>
            <a:spLocks noChangeArrowheads="1"/>
          </p:cNvSpPr>
          <p:nvPr/>
        </p:nvSpPr>
        <p:spPr bwMode="auto">
          <a:xfrm>
            <a:off x="4927319" y="4397238"/>
            <a:ext cx="4037169" cy="892800"/>
          </a:xfrm>
          <a:prstGeom prst="roundRect">
            <a:avLst>
              <a:gd name="adj" fmla="val 9481"/>
            </a:avLst>
          </a:prstGeom>
          <a:solidFill>
            <a:schemeClr val="accent1">
              <a:lumMod val="20000"/>
              <a:lumOff val="80000"/>
            </a:schemeClr>
          </a:solidFill>
          <a:ln w="9525" algn="ctr">
            <a:noFill/>
            <a:round/>
            <a:headEnd/>
            <a:tailEnd/>
          </a:ln>
          <a:effectLst/>
        </p:spPr>
        <p:txBody>
          <a:bodyPr wrap="none" anchor="ctr"/>
          <a:lstStyle/>
          <a:p>
            <a:endParaRPr lang="es-CL">
              <a:solidFill>
                <a:srgbClr val="002060"/>
              </a:solidFill>
            </a:endParaRPr>
          </a:p>
        </p:txBody>
      </p:sp>
      <p:sp>
        <p:nvSpPr>
          <p:cNvPr id="99" name="AutoShape 47"/>
          <p:cNvSpPr>
            <a:spLocks noChangeArrowheads="1"/>
          </p:cNvSpPr>
          <p:nvPr/>
        </p:nvSpPr>
        <p:spPr bwMode="blackWhite">
          <a:xfrm>
            <a:off x="4673792" y="4398740"/>
            <a:ext cx="352800" cy="892800"/>
          </a:xfrm>
          <a:prstGeom prst="rightArrow">
            <a:avLst>
              <a:gd name="adj1" fmla="val 100000"/>
              <a:gd name="adj2" fmla="val 11009"/>
            </a:avLst>
          </a:prstGeom>
          <a:solidFill>
            <a:srgbClr val="969696"/>
          </a:solidFill>
          <a:ln w="12700">
            <a:noFill/>
            <a:miter lim="800000"/>
            <a:headEnd/>
            <a:tailEnd/>
          </a:ln>
          <a:effectLst>
            <a:outerShdw dist="35921" dir="2700000" algn="ctr" rotWithShape="0">
              <a:schemeClr val="bg2"/>
            </a:outerShdw>
          </a:effectLst>
        </p:spPr>
        <p:txBody>
          <a:bodyPr vert="vert270" anchor="ctr"/>
          <a:lstStyle/>
          <a:p>
            <a:pPr algn="ctr">
              <a:lnSpc>
                <a:spcPts val="1000"/>
              </a:lnSpc>
            </a:pPr>
            <a:r>
              <a:rPr lang="es-ES" sz="1100" b="1" noProof="1">
                <a:solidFill>
                  <a:srgbClr val="FFFFFF"/>
                </a:solidFill>
                <a:cs typeface="Arial" charset="0"/>
              </a:rPr>
              <a:t>Cuestionarios</a:t>
            </a:r>
          </a:p>
        </p:txBody>
      </p:sp>
      <p:sp>
        <p:nvSpPr>
          <p:cNvPr id="101" name="Rounded Rectangle 38"/>
          <p:cNvSpPr/>
          <p:nvPr/>
        </p:nvSpPr>
        <p:spPr>
          <a:xfrm>
            <a:off x="5098230" y="4472505"/>
            <a:ext cx="3132000" cy="170094"/>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Criterios de Evaluación</a:t>
            </a:r>
          </a:p>
        </p:txBody>
      </p:sp>
      <p:sp>
        <p:nvSpPr>
          <p:cNvPr id="102" name="AutoShape 179"/>
          <p:cNvSpPr>
            <a:spLocks noChangeArrowheads="1"/>
          </p:cNvSpPr>
          <p:nvPr/>
        </p:nvSpPr>
        <p:spPr bwMode="auto">
          <a:xfrm>
            <a:off x="534831" y="5060900"/>
            <a:ext cx="4037169" cy="864000"/>
          </a:xfrm>
          <a:prstGeom prst="roundRect">
            <a:avLst>
              <a:gd name="adj" fmla="val 9481"/>
            </a:avLst>
          </a:prstGeom>
          <a:solidFill>
            <a:schemeClr val="accent1">
              <a:lumMod val="20000"/>
              <a:lumOff val="80000"/>
            </a:schemeClr>
          </a:solidFill>
          <a:ln w="9525" algn="ctr">
            <a:noFill/>
            <a:round/>
            <a:headEnd/>
            <a:tailEnd/>
          </a:ln>
          <a:effectLst/>
        </p:spPr>
        <p:txBody>
          <a:bodyPr wrap="none" anchor="ctr"/>
          <a:lstStyle/>
          <a:p>
            <a:endParaRPr lang="es-CL">
              <a:solidFill>
                <a:srgbClr val="002060"/>
              </a:solidFill>
            </a:endParaRPr>
          </a:p>
        </p:txBody>
      </p:sp>
      <p:sp>
        <p:nvSpPr>
          <p:cNvPr id="103" name="AutoShape 47"/>
          <p:cNvSpPr>
            <a:spLocks noChangeArrowheads="1"/>
          </p:cNvSpPr>
          <p:nvPr/>
        </p:nvSpPr>
        <p:spPr bwMode="blackWhite">
          <a:xfrm>
            <a:off x="281304" y="5062402"/>
            <a:ext cx="353942" cy="864000"/>
          </a:xfrm>
          <a:prstGeom prst="rightArrow">
            <a:avLst>
              <a:gd name="adj1" fmla="val 100000"/>
              <a:gd name="adj2" fmla="val 11009"/>
            </a:avLst>
          </a:prstGeom>
          <a:solidFill>
            <a:srgbClr val="969696"/>
          </a:solidFill>
          <a:ln w="12700">
            <a:noFill/>
            <a:miter lim="800000"/>
            <a:headEnd/>
            <a:tailEnd/>
          </a:ln>
          <a:effectLst>
            <a:outerShdw dist="35921" dir="2700000" algn="ctr" rotWithShape="0">
              <a:schemeClr val="bg2"/>
            </a:outerShdw>
          </a:effectLst>
        </p:spPr>
        <p:txBody>
          <a:bodyPr vert="vert270" anchor="ctr"/>
          <a:lstStyle/>
          <a:p>
            <a:pPr algn="ctr">
              <a:lnSpc>
                <a:spcPts val="1000"/>
              </a:lnSpc>
            </a:pPr>
            <a:r>
              <a:rPr lang="es-ES" sz="1100" b="1" noProof="1">
                <a:solidFill>
                  <a:srgbClr val="FFFFFF"/>
                </a:solidFill>
                <a:cs typeface="Arial" charset="0"/>
              </a:rPr>
              <a:t>Evaluación de Controles</a:t>
            </a:r>
          </a:p>
        </p:txBody>
      </p:sp>
      <p:sp>
        <p:nvSpPr>
          <p:cNvPr id="104" name="Rectangle 18"/>
          <p:cNvSpPr>
            <a:spLocks noChangeArrowheads="1"/>
          </p:cNvSpPr>
          <p:nvPr/>
        </p:nvSpPr>
        <p:spPr bwMode="auto">
          <a:xfrm>
            <a:off x="3937102" y="5136167"/>
            <a:ext cx="548640" cy="170094"/>
          </a:xfrm>
          <a:prstGeom prst="rect">
            <a:avLst/>
          </a:prstGeom>
          <a:solidFill>
            <a:schemeClr val="bg1"/>
          </a:solidFill>
          <a:ln w="9525" algn="ctr">
            <a:solidFill>
              <a:schemeClr val="bg2"/>
            </a:solidFill>
            <a:miter lim="800000"/>
            <a:headEnd/>
            <a:tailEnd/>
          </a:ln>
          <a:effectLst/>
        </p:spPr>
        <p:txBody>
          <a:bodyPr anchor="ctr"/>
          <a:lstStyle/>
          <a:p>
            <a:pPr algn="ctr"/>
            <a:r>
              <a:rPr lang="es-ES" sz="1100" dirty="0">
                <a:solidFill>
                  <a:srgbClr val="002060"/>
                </a:solidFill>
              </a:rPr>
              <a:t>1</a:t>
            </a:r>
          </a:p>
        </p:txBody>
      </p:sp>
      <p:sp>
        <p:nvSpPr>
          <p:cNvPr id="105" name="Rounded Rectangle 38"/>
          <p:cNvSpPr/>
          <p:nvPr/>
        </p:nvSpPr>
        <p:spPr>
          <a:xfrm>
            <a:off x="705742" y="5136167"/>
            <a:ext cx="3132000" cy="170094"/>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Controles asociados al riesgo</a:t>
            </a:r>
          </a:p>
        </p:txBody>
      </p:sp>
      <p:sp>
        <p:nvSpPr>
          <p:cNvPr id="106" name="Rectangle 18"/>
          <p:cNvSpPr>
            <a:spLocks noChangeArrowheads="1"/>
          </p:cNvSpPr>
          <p:nvPr/>
        </p:nvSpPr>
        <p:spPr bwMode="auto">
          <a:xfrm>
            <a:off x="5102950" y="4685678"/>
            <a:ext cx="3780000" cy="469509"/>
          </a:xfrm>
          <a:prstGeom prst="rect">
            <a:avLst/>
          </a:prstGeom>
          <a:solidFill>
            <a:schemeClr val="bg1"/>
          </a:solidFill>
          <a:ln w="9525" algn="ctr">
            <a:solidFill>
              <a:schemeClr val="bg2"/>
            </a:solidFill>
            <a:miter lim="800000"/>
            <a:headEnd/>
            <a:tailEnd/>
          </a:ln>
          <a:effectLst/>
        </p:spPr>
        <p:txBody>
          <a:bodyPr anchor="ctr"/>
          <a:lstStyle/>
          <a:p>
            <a:r>
              <a:rPr lang="es-ES" sz="1100" dirty="0"/>
              <a:t>Valoración en base al promedio de las  operaciones diarias. Se toma una operación promedio de $5MM y un 2.5% de promedio que podría caer un activo.</a:t>
            </a:r>
          </a:p>
        </p:txBody>
      </p:sp>
      <p:sp>
        <p:nvSpPr>
          <p:cNvPr id="107" name="Rectangle 18"/>
          <p:cNvSpPr>
            <a:spLocks noChangeArrowheads="1"/>
          </p:cNvSpPr>
          <p:nvPr/>
        </p:nvSpPr>
        <p:spPr bwMode="auto">
          <a:xfrm>
            <a:off x="705742" y="5357175"/>
            <a:ext cx="3780000" cy="469509"/>
          </a:xfrm>
          <a:prstGeom prst="rect">
            <a:avLst/>
          </a:prstGeom>
          <a:solidFill>
            <a:schemeClr val="bg1"/>
          </a:solidFill>
          <a:ln w="9525" algn="ctr">
            <a:solidFill>
              <a:schemeClr val="bg2"/>
            </a:solidFill>
            <a:miter lim="800000"/>
            <a:headEnd/>
            <a:tailEnd/>
          </a:ln>
          <a:effectLst/>
        </p:spPr>
        <p:txBody>
          <a:bodyPr anchor="ctr"/>
          <a:lstStyle/>
          <a:p>
            <a:r>
              <a:rPr lang="es-ES" sz="1100" dirty="0">
                <a:solidFill>
                  <a:srgbClr val="000000"/>
                </a:solidFill>
              </a:rPr>
              <a:t>Revisión de los datos generados en la operativa por parte de Back Office (Analista de Operaciones de Inversión)</a:t>
            </a:r>
          </a:p>
        </p:txBody>
      </p:sp>
    </p:spTree>
    <p:extLst>
      <p:ext uri="{BB962C8B-B14F-4D97-AF65-F5344CB8AC3E}">
        <p14:creationId xmlns:p14="http://schemas.microsoft.com/office/powerpoint/2010/main" val="1941394543"/>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dirty="0"/>
              <a:t>Anexo: Ficha Individual Riesgos Operacionales</a:t>
            </a:r>
          </a:p>
        </p:txBody>
      </p:sp>
      <p:sp>
        <p:nvSpPr>
          <p:cNvPr id="4" name="Rounded Rectangle 3"/>
          <p:cNvSpPr/>
          <p:nvPr/>
        </p:nvSpPr>
        <p:spPr>
          <a:xfrm>
            <a:off x="227770" y="764704"/>
            <a:ext cx="383790" cy="274320"/>
          </a:xfrm>
          <a:prstGeom prst="roundRect">
            <a:avLst/>
          </a:prstGeom>
          <a:solidFill>
            <a:srgbClr val="DB0613"/>
          </a:solidFill>
          <a:ln w="9525" algn="ctr">
            <a:noFill/>
            <a:miter lim="800000"/>
            <a:headEnd/>
            <a:tailEnd/>
          </a:ln>
          <a:effectLst/>
        </p:spPr>
        <p:txBody>
          <a:bodyPr anchor="ctr"/>
          <a:lstStyle/>
          <a:p>
            <a:pPr algn="ctr">
              <a:lnSpc>
                <a:spcPct val="80000"/>
              </a:lnSpc>
            </a:pPr>
            <a:r>
              <a:rPr lang="es-CL" sz="1200" b="1" dirty="0">
                <a:solidFill>
                  <a:srgbClr val="FFFFFF"/>
                </a:solidFill>
                <a:cs typeface="Arial" pitchFamily="34" charset="0"/>
              </a:rPr>
              <a:t>24</a:t>
            </a:r>
          </a:p>
        </p:txBody>
      </p:sp>
      <p:sp>
        <p:nvSpPr>
          <p:cNvPr id="5" name="Rectangle 18"/>
          <p:cNvSpPr>
            <a:spLocks noChangeArrowheads="1"/>
          </p:cNvSpPr>
          <p:nvPr/>
        </p:nvSpPr>
        <p:spPr bwMode="auto">
          <a:xfrm>
            <a:off x="227770" y="2548229"/>
            <a:ext cx="6400800" cy="708660"/>
          </a:xfrm>
          <a:prstGeom prst="rect">
            <a:avLst/>
          </a:prstGeom>
          <a:noFill/>
          <a:ln w="9525" algn="ctr">
            <a:solidFill>
              <a:schemeClr val="bg2"/>
            </a:solidFill>
            <a:miter lim="800000"/>
            <a:headEnd/>
            <a:tailEnd/>
          </a:ln>
          <a:effectLst/>
        </p:spPr>
        <p:txBody>
          <a:bodyPr/>
          <a:lstStyle/>
          <a:p>
            <a:r>
              <a:rPr lang="es-ES" sz="1100" dirty="0"/>
              <a:t>Riesgo de error en la operativa de contratación por caída de la conexión de la plataforma de contratación (incluye el supuesto de que se no sea posible la conexión telefónica).</a:t>
            </a:r>
          </a:p>
        </p:txBody>
      </p:sp>
      <p:sp>
        <p:nvSpPr>
          <p:cNvPr id="8" name="Rounded Rectangle 7"/>
          <p:cNvSpPr/>
          <p:nvPr/>
        </p:nvSpPr>
        <p:spPr>
          <a:xfrm>
            <a:off x="652842" y="764704"/>
            <a:ext cx="8352000" cy="274320"/>
          </a:xfrm>
          <a:prstGeom prst="roundRect">
            <a:avLst/>
          </a:prstGeom>
          <a:solidFill>
            <a:srgbClr val="DB0613"/>
          </a:solidFill>
          <a:ln w="9525" algn="ctr">
            <a:noFill/>
            <a:miter lim="800000"/>
            <a:headEnd/>
            <a:tailEnd/>
          </a:ln>
          <a:effectLst/>
        </p:spPr>
        <p:txBody>
          <a:bodyPr anchor="ctr"/>
          <a:lstStyle/>
          <a:p>
            <a:pPr>
              <a:lnSpc>
                <a:spcPct val="80000"/>
              </a:lnSpc>
            </a:pPr>
            <a:r>
              <a:rPr lang="es-ES" sz="1200" b="1" dirty="0">
                <a:solidFill>
                  <a:srgbClr val="FFFFFF"/>
                </a:solidFill>
                <a:cs typeface="Arial" pitchFamily="34" charset="0"/>
              </a:rPr>
              <a:t>Caída de la plataforma de contratación</a:t>
            </a:r>
            <a:endParaRPr lang="es-CL" sz="1200" b="1" dirty="0">
              <a:solidFill>
                <a:srgbClr val="FFFFFF"/>
              </a:solidFill>
              <a:cs typeface="Arial" pitchFamily="34" charset="0"/>
            </a:endParaRPr>
          </a:p>
        </p:txBody>
      </p:sp>
      <p:sp>
        <p:nvSpPr>
          <p:cNvPr id="9" name="Rounded Rectangle 8"/>
          <p:cNvSpPr/>
          <p:nvPr/>
        </p:nvSpPr>
        <p:spPr>
          <a:xfrm>
            <a:off x="227770" y="2307916"/>
            <a:ext cx="64008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Descripción</a:t>
            </a:r>
          </a:p>
        </p:txBody>
      </p:sp>
      <p:sp>
        <p:nvSpPr>
          <p:cNvPr id="10" name="Rounded Rectangle 9"/>
          <p:cNvSpPr/>
          <p:nvPr/>
        </p:nvSpPr>
        <p:spPr>
          <a:xfrm>
            <a:off x="6716066" y="1111764"/>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Categoría  de Riesgo Nivel I</a:t>
            </a:r>
          </a:p>
        </p:txBody>
      </p:sp>
      <p:sp>
        <p:nvSpPr>
          <p:cNvPr id="11" name="Rectangle 18"/>
          <p:cNvSpPr>
            <a:spLocks noChangeArrowheads="1"/>
          </p:cNvSpPr>
          <p:nvPr/>
        </p:nvSpPr>
        <p:spPr bwMode="auto">
          <a:xfrm>
            <a:off x="6716066" y="1325572"/>
            <a:ext cx="2286000" cy="270000"/>
          </a:xfrm>
          <a:prstGeom prst="rect">
            <a:avLst/>
          </a:prstGeom>
          <a:noFill/>
          <a:ln w="9525" algn="ctr">
            <a:solidFill>
              <a:schemeClr val="bg2"/>
            </a:solidFill>
            <a:miter lim="800000"/>
            <a:headEnd/>
            <a:tailEnd/>
          </a:ln>
          <a:effectLst/>
        </p:spPr>
        <p:txBody>
          <a:bodyPr anchor="ctr"/>
          <a:lstStyle/>
          <a:p>
            <a:pPr>
              <a:lnSpc>
                <a:spcPts val="1000"/>
              </a:lnSpc>
            </a:pPr>
            <a:r>
              <a:rPr lang="es-ES" sz="1100" dirty="0"/>
              <a:t>Incidencias en el negocio y fallos en los sistemas</a:t>
            </a:r>
          </a:p>
        </p:txBody>
      </p:sp>
      <p:sp>
        <p:nvSpPr>
          <p:cNvPr id="12" name="Rounded Rectangle 11"/>
          <p:cNvSpPr/>
          <p:nvPr/>
        </p:nvSpPr>
        <p:spPr>
          <a:xfrm>
            <a:off x="6716066" y="1664503"/>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Categoría  de Riesgo Nivel II</a:t>
            </a:r>
          </a:p>
        </p:txBody>
      </p:sp>
      <p:sp>
        <p:nvSpPr>
          <p:cNvPr id="13" name="Rectangle 18"/>
          <p:cNvSpPr>
            <a:spLocks noChangeArrowheads="1"/>
          </p:cNvSpPr>
          <p:nvPr/>
        </p:nvSpPr>
        <p:spPr bwMode="auto">
          <a:xfrm>
            <a:off x="6716066" y="1877089"/>
            <a:ext cx="2286000" cy="270000"/>
          </a:xfrm>
          <a:prstGeom prst="rect">
            <a:avLst/>
          </a:prstGeom>
          <a:noFill/>
          <a:ln w="9525" algn="ctr">
            <a:solidFill>
              <a:schemeClr val="bg2"/>
            </a:solidFill>
            <a:miter lim="800000"/>
            <a:headEnd/>
            <a:tailEnd/>
          </a:ln>
          <a:effectLst/>
        </p:spPr>
        <p:txBody>
          <a:bodyPr anchor="ctr"/>
          <a:lstStyle/>
          <a:p>
            <a:r>
              <a:rPr lang="es-ES" sz="1100" dirty="0"/>
              <a:t>Interrupción del negocio y fallos en los sistemas.</a:t>
            </a:r>
          </a:p>
        </p:txBody>
      </p:sp>
      <p:sp>
        <p:nvSpPr>
          <p:cNvPr id="15" name="Rounded Rectangle 14"/>
          <p:cNvSpPr/>
          <p:nvPr/>
        </p:nvSpPr>
        <p:spPr>
          <a:xfrm>
            <a:off x="6716066" y="2223551"/>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Categoría  de Riesgo Nivel III</a:t>
            </a:r>
          </a:p>
        </p:txBody>
      </p:sp>
      <p:sp>
        <p:nvSpPr>
          <p:cNvPr id="16" name="Rectangle 18"/>
          <p:cNvSpPr>
            <a:spLocks noChangeArrowheads="1"/>
          </p:cNvSpPr>
          <p:nvPr/>
        </p:nvSpPr>
        <p:spPr bwMode="auto">
          <a:xfrm>
            <a:off x="6716066" y="2434321"/>
            <a:ext cx="2286000" cy="270000"/>
          </a:xfrm>
          <a:prstGeom prst="rect">
            <a:avLst/>
          </a:prstGeom>
          <a:noFill/>
          <a:ln w="9525" algn="ctr">
            <a:solidFill>
              <a:schemeClr val="bg2"/>
            </a:solidFill>
            <a:miter lim="800000"/>
            <a:headEnd/>
            <a:tailEnd/>
          </a:ln>
          <a:effectLst/>
        </p:spPr>
        <p:txBody>
          <a:bodyPr anchor="ctr"/>
          <a:lstStyle/>
          <a:p>
            <a:r>
              <a:rPr lang="es-ES" sz="900" dirty="0"/>
              <a:t>Cortes en los servicios/Interrupción en las aplicaciones</a:t>
            </a:r>
          </a:p>
        </p:txBody>
      </p:sp>
      <p:sp>
        <p:nvSpPr>
          <p:cNvPr id="17" name="Rounded Rectangle 16"/>
          <p:cNvSpPr/>
          <p:nvPr/>
        </p:nvSpPr>
        <p:spPr>
          <a:xfrm>
            <a:off x="216583" y="1110038"/>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Macroproceso</a:t>
            </a:r>
          </a:p>
        </p:txBody>
      </p:sp>
      <p:sp>
        <p:nvSpPr>
          <p:cNvPr id="18" name="Rectangle 18"/>
          <p:cNvSpPr>
            <a:spLocks noChangeArrowheads="1"/>
          </p:cNvSpPr>
          <p:nvPr/>
        </p:nvSpPr>
        <p:spPr bwMode="auto">
          <a:xfrm>
            <a:off x="2568409" y="1110038"/>
            <a:ext cx="3877200" cy="182880"/>
          </a:xfrm>
          <a:prstGeom prst="rect">
            <a:avLst/>
          </a:prstGeom>
          <a:noFill/>
          <a:ln w="9525" algn="ctr">
            <a:solidFill>
              <a:schemeClr val="bg2"/>
            </a:solidFill>
            <a:miter lim="800000"/>
            <a:headEnd/>
            <a:tailEnd/>
          </a:ln>
          <a:effectLst/>
        </p:spPr>
        <p:txBody>
          <a:bodyPr anchor="ctr"/>
          <a:lstStyle/>
          <a:p>
            <a:r>
              <a:rPr lang="es-ES" sz="1100" dirty="0"/>
              <a:t>Administración de Portafolio de Inversiones</a:t>
            </a:r>
          </a:p>
        </p:txBody>
      </p:sp>
      <p:sp>
        <p:nvSpPr>
          <p:cNvPr id="19" name="Rounded Rectangle 18"/>
          <p:cNvSpPr/>
          <p:nvPr/>
        </p:nvSpPr>
        <p:spPr>
          <a:xfrm>
            <a:off x="216583" y="1339045"/>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Proceso</a:t>
            </a:r>
          </a:p>
        </p:txBody>
      </p:sp>
      <p:sp>
        <p:nvSpPr>
          <p:cNvPr id="20" name="Rectangle 18"/>
          <p:cNvSpPr>
            <a:spLocks noChangeArrowheads="1"/>
          </p:cNvSpPr>
          <p:nvPr/>
        </p:nvSpPr>
        <p:spPr bwMode="auto">
          <a:xfrm>
            <a:off x="2568409" y="1339045"/>
            <a:ext cx="3877200" cy="182880"/>
          </a:xfrm>
          <a:prstGeom prst="rect">
            <a:avLst/>
          </a:prstGeom>
          <a:noFill/>
          <a:ln w="9525" algn="ctr">
            <a:solidFill>
              <a:schemeClr val="bg2"/>
            </a:solidFill>
            <a:miter lim="800000"/>
            <a:headEnd/>
            <a:tailEnd/>
          </a:ln>
          <a:effectLst/>
        </p:spPr>
        <p:txBody>
          <a:bodyPr anchor="ctr"/>
          <a:lstStyle/>
          <a:p>
            <a:r>
              <a:rPr lang="es-ES" sz="1100" dirty="0"/>
              <a:t>Administración de fondos</a:t>
            </a:r>
          </a:p>
        </p:txBody>
      </p:sp>
      <p:sp>
        <p:nvSpPr>
          <p:cNvPr id="59" name="Rounded Rectangle 58"/>
          <p:cNvSpPr/>
          <p:nvPr/>
        </p:nvSpPr>
        <p:spPr>
          <a:xfrm>
            <a:off x="216583" y="1579694"/>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Subproceso</a:t>
            </a:r>
          </a:p>
        </p:txBody>
      </p:sp>
      <p:sp>
        <p:nvSpPr>
          <p:cNvPr id="60" name="Rectangle 18"/>
          <p:cNvSpPr>
            <a:spLocks noChangeArrowheads="1"/>
          </p:cNvSpPr>
          <p:nvPr/>
        </p:nvSpPr>
        <p:spPr bwMode="auto">
          <a:xfrm>
            <a:off x="2568409" y="1579694"/>
            <a:ext cx="3875799" cy="182880"/>
          </a:xfrm>
          <a:prstGeom prst="rect">
            <a:avLst/>
          </a:prstGeom>
          <a:noFill/>
          <a:ln w="9525" algn="ctr">
            <a:solidFill>
              <a:schemeClr val="bg2"/>
            </a:solidFill>
            <a:miter lim="800000"/>
            <a:headEnd/>
            <a:tailEnd/>
          </a:ln>
          <a:effectLst/>
        </p:spPr>
        <p:txBody>
          <a:bodyPr anchor="ctr"/>
          <a:lstStyle/>
          <a:p>
            <a:r>
              <a:rPr lang="es-ES" sz="1100" dirty="0"/>
              <a:t>Ejecución de propuesta de Inversión</a:t>
            </a:r>
          </a:p>
        </p:txBody>
      </p:sp>
      <p:sp>
        <p:nvSpPr>
          <p:cNvPr id="61" name="Rounded Rectangle 60"/>
          <p:cNvSpPr/>
          <p:nvPr/>
        </p:nvSpPr>
        <p:spPr>
          <a:xfrm>
            <a:off x="226806" y="1826440"/>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Línea de Negocio</a:t>
            </a:r>
          </a:p>
        </p:txBody>
      </p:sp>
      <p:sp>
        <p:nvSpPr>
          <p:cNvPr id="63" name="Rounded Rectangle 62"/>
          <p:cNvSpPr/>
          <p:nvPr/>
        </p:nvSpPr>
        <p:spPr>
          <a:xfrm>
            <a:off x="226806" y="2079535"/>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Responsable</a:t>
            </a:r>
          </a:p>
        </p:txBody>
      </p:sp>
      <p:sp>
        <p:nvSpPr>
          <p:cNvPr id="65" name="Rectangle 18"/>
          <p:cNvSpPr>
            <a:spLocks noChangeArrowheads="1"/>
          </p:cNvSpPr>
          <p:nvPr/>
        </p:nvSpPr>
        <p:spPr bwMode="auto">
          <a:xfrm>
            <a:off x="2568409" y="1826440"/>
            <a:ext cx="3875799" cy="182880"/>
          </a:xfrm>
          <a:prstGeom prst="rect">
            <a:avLst/>
          </a:prstGeom>
          <a:noFill/>
          <a:ln w="9525" algn="ctr">
            <a:solidFill>
              <a:schemeClr val="bg2"/>
            </a:solidFill>
            <a:miter lim="800000"/>
            <a:headEnd/>
            <a:tailEnd/>
          </a:ln>
          <a:effectLst/>
        </p:spPr>
        <p:txBody>
          <a:bodyPr anchor="ctr"/>
          <a:lstStyle/>
          <a:p>
            <a:r>
              <a:rPr lang="es-ES" sz="1100" dirty="0"/>
              <a:t>Negociación y Ventas</a:t>
            </a:r>
          </a:p>
        </p:txBody>
      </p:sp>
      <p:sp>
        <p:nvSpPr>
          <p:cNvPr id="66" name="Rectangle 18"/>
          <p:cNvSpPr>
            <a:spLocks noChangeArrowheads="1"/>
          </p:cNvSpPr>
          <p:nvPr/>
        </p:nvSpPr>
        <p:spPr bwMode="auto">
          <a:xfrm>
            <a:off x="2555776" y="2079535"/>
            <a:ext cx="3875799" cy="182880"/>
          </a:xfrm>
          <a:prstGeom prst="rect">
            <a:avLst/>
          </a:prstGeom>
          <a:noFill/>
          <a:ln w="9525" algn="ctr">
            <a:solidFill>
              <a:schemeClr val="bg2"/>
            </a:solidFill>
            <a:miter lim="800000"/>
            <a:headEnd/>
            <a:tailEnd/>
          </a:ln>
          <a:effectLst/>
        </p:spPr>
        <p:txBody>
          <a:bodyPr anchor="ctr"/>
          <a:lstStyle/>
          <a:p>
            <a:r>
              <a:rPr lang="es-ES" sz="1100" dirty="0"/>
              <a:t>Subgerentes de Portafolio</a:t>
            </a:r>
          </a:p>
        </p:txBody>
      </p:sp>
      <p:sp>
        <p:nvSpPr>
          <p:cNvPr id="78" name="Rounded Rectangle 14"/>
          <p:cNvSpPr/>
          <p:nvPr/>
        </p:nvSpPr>
        <p:spPr>
          <a:xfrm>
            <a:off x="6716066" y="2768330"/>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Origen del Riesgo</a:t>
            </a:r>
          </a:p>
        </p:txBody>
      </p:sp>
      <p:sp>
        <p:nvSpPr>
          <p:cNvPr id="79" name="Rectangle 18"/>
          <p:cNvSpPr>
            <a:spLocks noChangeArrowheads="1"/>
          </p:cNvSpPr>
          <p:nvPr/>
        </p:nvSpPr>
        <p:spPr bwMode="auto">
          <a:xfrm>
            <a:off x="6716066" y="2983595"/>
            <a:ext cx="2286000" cy="270000"/>
          </a:xfrm>
          <a:prstGeom prst="rect">
            <a:avLst/>
          </a:prstGeom>
          <a:noFill/>
          <a:ln w="9525" algn="ctr">
            <a:solidFill>
              <a:schemeClr val="bg2"/>
            </a:solidFill>
            <a:miter lim="800000"/>
            <a:headEnd/>
            <a:tailEnd/>
          </a:ln>
          <a:effectLst/>
        </p:spPr>
        <p:txBody>
          <a:bodyPr anchor="ctr"/>
          <a:lstStyle/>
          <a:p>
            <a:r>
              <a:rPr lang="es-ES" sz="1100" dirty="0">
                <a:solidFill>
                  <a:srgbClr val="000000"/>
                </a:solidFill>
              </a:rPr>
              <a:t>Tecnología</a:t>
            </a:r>
          </a:p>
        </p:txBody>
      </p:sp>
      <p:sp>
        <p:nvSpPr>
          <p:cNvPr id="68" name="AutoShape 179"/>
          <p:cNvSpPr>
            <a:spLocks noChangeArrowheads="1"/>
          </p:cNvSpPr>
          <p:nvPr/>
        </p:nvSpPr>
        <p:spPr bwMode="auto">
          <a:xfrm>
            <a:off x="611560" y="3482416"/>
            <a:ext cx="3960812" cy="1275707"/>
          </a:xfrm>
          <a:prstGeom prst="roundRect">
            <a:avLst>
              <a:gd name="adj" fmla="val 9481"/>
            </a:avLst>
          </a:prstGeom>
          <a:solidFill>
            <a:schemeClr val="accent1">
              <a:lumMod val="20000"/>
              <a:lumOff val="80000"/>
            </a:schemeClr>
          </a:solidFill>
          <a:ln w="9525" algn="ctr">
            <a:noFill/>
            <a:round/>
            <a:headEnd/>
            <a:tailEnd/>
          </a:ln>
          <a:effectLst/>
        </p:spPr>
        <p:txBody>
          <a:bodyPr wrap="none" anchor="ctr"/>
          <a:lstStyle/>
          <a:p>
            <a:endParaRPr lang="es-CL">
              <a:solidFill>
                <a:srgbClr val="002060"/>
              </a:solidFill>
            </a:endParaRPr>
          </a:p>
        </p:txBody>
      </p:sp>
      <p:sp>
        <p:nvSpPr>
          <p:cNvPr id="73" name="Text Box 30"/>
          <p:cNvSpPr txBox="1">
            <a:spLocks noChangeArrowheads="1"/>
          </p:cNvSpPr>
          <p:nvPr/>
        </p:nvSpPr>
        <p:spPr bwMode="auto">
          <a:xfrm>
            <a:off x="190747" y="3259373"/>
            <a:ext cx="3671888" cy="276999"/>
          </a:xfrm>
          <a:prstGeom prst="rect">
            <a:avLst/>
          </a:prstGeom>
          <a:noFill/>
          <a:ln w="9525" algn="ctr">
            <a:noFill/>
            <a:miter lim="800000"/>
            <a:headEnd/>
            <a:tailEnd/>
          </a:ln>
          <a:effectLst/>
        </p:spPr>
        <p:txBody>
          <a:bodyPr>
            <a:spAutoFit/>
          </a:bodyPr>
          <a:lstStyle/>
          <a:p>
            <a:pPr>
              <a:spcBef>
                <a:spcPct val="50000"/>
              </a:spcBef>
            </a:pPr>
            <a:r>
              <a:rPr lang="es-CL" sz="1200" b="1" i="1" dirty="0">
                <a:solidFill>
                  <a:srgbClr val="A3A3E0"/>
                </a:solidFill>
              </a:rPr>
              <a:t>Resultados valoración de riesgos</a:t>
            </a:r>
            <a:endParaRPr lang="es-ES" sz="1200" b="1" i="1" dirty="0">
              <a:solidFill>
                <a:srgbClr val="A3A3E0"/>
              </a:solidFill>
            </a:endParaRPr>
          </a:p>
        </p:txBody>
      </p:sp>
      <p:sp>
        <p:nvSpPr>
          <p:cNvPr id="76" name="Rounded Rectangle 75"/>
          <p:cNvSpPr/>
          <p:nvPr/>
        </p:nvSpPr>
        <p:spPr>
          <a:xfrm>
            <a:off x="902959" y="4255955"/>
            <a:ext cx="1920240" cy="170094"/>
          </a:xfrm>
          <a:prstGeom prst="roundRect">
            <a:avLst/>
          </a:prstGeom>
          <a:solidFill>
            <a:srgbClr val="DB0613"/>
          </a:solidFill>
          <a:ln w="9525" algn="ctr">
            <a:noFill/>
            <a:miter lim="800000"/>
            <a:headEnd/>
            <a:tailEnd/>
          </a:ln>
          <a:effectLst/>
        </p:spPr>
        <p:txBody>
          <a:bodyPr tIns="91440" anchor="ctr"/>
          <a:lstStyle/>
          <a:p>
            <a:pPr>
              <a:lnSpc>
                <a:spcPct val="80000"/>
              </a:lnSpc>
            </a:pPr>
            <a:r>
              <a:rPr lang="es-CL" sz="1100" b="1" dirty="0">
                <a:solidFill>
                  <a:srgbClr val="FFFFFF"/>
                </a:solidFill>
                <a:cs typeface="Arial" pitchFamily="34" charset="0"/>
              </a:rPr>
              <a:t>Pérdida Esperada Anual</a:t>
            </a:r>
          </a:p>
        </p:txBody>
      </p:sp>
      <p:sp>
        <p:nvSpPr>
          <p:cNvPr id="77" name="Rectangle 18"/>
          <p:cNvSpPr>
            <a:spLocks noChangeArrowheads="1"/>
          </p:cNvSpPr>
          <p:nvPr/>
        </p:nvSpPr>
        <p:spPr bwMode="auto">
          <a:xfrm>
            <a:off x="2859920" y="4255955"/>
            <a:ext cx="1554480" cy="170094"/>
          </a:xfrm>
          <a:prstGeom prst="rect">
            <a:avLst/>
          </a:prstGeom>
          <a:solidFill>
            <a:schemeClr val="bg1"/>
          </a:solidFill>
          <a:ln w="9525" algn="ctr">
            <a:solidFill>
              <a:schemeClr val="bg2"/>
            </a:solidFill>
            <a:miter lim="800000"/>
            <a:headEnd/>
            <a:tailEnd/>
          </a:ln>
          <a:effectLst/>
        </p:spPr>
        <p:txBody>
          <a:bodyPr anchor="ctr"/>
          <a:lstStyle/>
          <a:p>
            <a:pPr algn="ctr"/>
            <a:r>
              <a:rPr lang="es-ES" sz="1100" dirty="0">
                <a:solidFill>
                  <a:srgbClr val="000000"/>
                </a:solidFill>
              </a:rPr>
              <a:t>s/. </a:t>
            </a:r>
            <a:r>
              <a:rPr lang="es-ES" sz="1100" dirty="0"/>
              <a:t>637,500 .00</a:t>
            </a:r>
            <a:endParaRPr lang="es-ES" sz="1100" dirty="0">
              <a:solidFill>
                <a:srgbClr val="000000"/>
              </a:solidFill>
            </a:endParaRPr>
          </a:p>
        </p:txBody>
      </p:sp>
      <p:sp>
        <p:nvSpPr>
          <p:cNvPr id="80" name="Rounded Rectangle 79"/>
          <p:cNvSpPr/>
          <p:nvPr/>
        </p:nvSpPr>
        <p:spPr>
          <a:xfrm>
            <a:off x="902959" y="4485567"/>
            <a:ext cx="1920240" cy="170094"/>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VaR Cualitativo Anual</a:t>
            </a:r>
          </a:p>
        </p:txBody>
      </p:sp>
      <p:sp>
        <p:nvSpPr>
          <p:cNvPr id="81" name="Rectangle 18"/>
          <p:cNvSpPr>
            <a:spLocks noChangeArrowheads="1"/>
          </p:cNvSpPr>
          <p:nvPr/>
        </p:nvSpPr>
        <p:spPr bwMode="auto">
          <a:xfrm>
            <a:off x="2859920" y="4485567"/>
            <a:ext cx="1554480" cy="170094"/>
          </a:xfrm>
          <a:prstGeom prst="rect">
            <a:avLst/>
          </a:prstGeom>
          <a:solidFill>
            <a:schemeClr val="bg1"/>
          </a:solidFill>
          <a:ln w="9525" algn="ctr">
            <a:solidFill>
              <a:schemeClr val="bg2"/>
            </a:solidFill>
            <a:miter lim="800000"/>
            <a:headEnd/>
            <a:tailEnd/>
          </a:ln>
          <a:effectLst/>
        </p:spPr>
        <p:txBody>
          <a:bodyPr anchor="ctr"/>
          <a:lstStyle/>
          <a:p>
            <a:pPr algn="ctr"/>
            <a:r>
              <a:rPr lang="es-ES" sz="1100" dirty="0"/>
              <a:t>s</a:t>
            </a:r>
            <a:r>
              <a:rPr lang="es-ES" sz="1100" dirty="0">
                <a:solidFill>
                  <a:srgbClr val="000000"/>
                </a:solidFill>
              </a:rPr>
              <a:t>/. </a:t>
            </a:r>
            <a:r>
              <a:rPr lang="es-ES" sz="1100" dirty="0"/>
              <a:t>5,146,940.56 </a:t>
            </a:r>
            <a:endParaRPr lang="es-ES" sz="1100" dirty="0">
              <a:solidFill>
                <a:srgbClr val="000000"/>
              </a:solidFill>
            </a:endParaRPr>
          </a:p>
        </p:txBody>
      </p:sp>
      <p:sp>
        <p:nvSpPr>
          <p:cNvPr id="82" name="Rounded Rectangle 81"/>
          <p:cNvSpPr/>
          <p:nvPr/>
        </p:nvSpPr>
        <p:spPr>
          <a:xfrm>
            <a:off x="891084" y="3553916"/>
            <a:ext cx="1920240" cy="170094"/>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Frecuencia  Evento Pérdida</a:t>
            </a:r>
          </a:p>
        </p:txBody>
      </p:sp>
      <p:sp>
        <p:nvSpPr>
          <p:cNvPr id="83" name="Rectangle 18"/>
          <p:cNvSpPr>
            <a:spLocks noChangeArrowheads="1"/>
          </p:cNvSpPr>
          <p:nvPr/>
        </p:nvSpPr>
        <p:spPr bwMode="auto">
          <a:xfrm>
            <a:off x="2859920" y="3553916"/>
            <a:ext cx="1554480" cy="170094"/>
          </a:xfrm>
          <a:prstGeom prst="rect">
            <a:avLst/>
          </a:prstGeom>
          <a:solidFill>
            <a:schemeClr val="bg1"/>
          </a:solidFill>
          <a:ln w="9525" algn="ctr">
            <a:solidFill>
              <a:schemeClr val="bg2"/>
            </a:solidFill>
            <a:miter lim="800000"/>
            <a:headEnd/>
            <a:tailEnd/>
          </a:ln>
          <a:effectLst/>
        </p:spPr>
        <p:txBody>
          <a:bodyPr anchor="ctr"/>
          <a:lstStyle/>
          <a:p>
            <a:pPr algn="ctr"/>
            <a:r>
              <a:rPr lang="es-ES" sz="1100" dirty="0">
                <a:solidFill>
                  <a:srgbClr val="000000"/>
                </a:solidFill>
              </a:rPr>
              <a:t>2 veces por 1 año</a:t>
            </a:r>
          </a:p>
        </p:txBody>
      </p:sp>
      <p:sp>
        <p:nvSpPr>
          <p:cNvPr id="84" name="Rounded Rectangle 83"/>
          <p:cNvSpPr/>
          <p:nvPr/>
        </p:nvSpPr>
        <p:spPr>
          <a:xfrm>
            <a:off x="891084" y="3783528"/>
            <a:ext cx="1920240" cy="170094"/>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Impacto Medio Evento</a:t>
            </a:r>
          </a:p>
        </p:txBody>
      </p:sp>
      <p:sp>
        <p:nvSpPr>
          <p:cNvPr id="85" name="Rectangle 18"/>
          <p:cNvSpPr>
            <a:spLocks noChangeArrowheads="1"/>
          </p:cNvSpPr>
          <p:nvPr/>
        </p:nvSpPr>
        <p:spPr bwMode="auto">
          <a:xfrm>
            <a:off x="2859920" y="3783528"/>
            <a:ext cx="1554480" cy="170094"/>
          </a:xfrm>
          <a:prstGeom prst="rect">
            <a:avLst/>
          </a:prstGeom>
          <a:solidFill>
            <a:schemeClr val="bg1"/>
          </a:solidFill>
          <a:ln w="9525" algn="ctr">
            <a:solidFill>
              <a:schemeClr val="bg2"/>
            </a:solidFill>
            <a:miter lim="800000"/>
            <a:headEnd/>
            <a:tailEnd/>
          </a:ln>
          <a:effectLst/>
        </p:spPr>
        <p:txBody>
          <a:bodyPr anchor="ctr"/>
          <a:lstStyle/>
          <a:p>
            <a:pPr algn="ctr"/>
            <a:r>
              <a:rPr lang="es-ES" sz="1100" dirty="0">
                <a:solidFill>
                  <a:srgbClr val="000000"/>
                </a:solidFill>
              </a:rPr>
              <a:t>s/. </a:t>
            </a:r>
            <a:r>
              <a:rPr lang="es-ES" sz="1100" dirty="0"/>
              <a:t>318,750  .00 </a:t>
            </a:r>
            <a:endParaRPr lang="es-ES" sz="1100" dirty="0">
              <a:solidFill>
                <a:srgbClr val="000000"/>
              </a:solidFill>
            </a:endParaRPr>
          </a:p>
        </p:txBody>
      </p:sp>
      <p:sp>
        <p:nvSpPr>
          <p:cNvPr id="86" name="Rounded Rectangle 85"/>
          <p:cNvSpPr/>
          <p:nvPr/>
        </p:nvSpPr>
        <p:spPr>
          <a:xfrm>
            <a:off x="891084" y="4019108"/>
            <a:ext cx="1920240" cy="170094"/>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Impacto Peor Escenario</a:t>
            </a:r>
          </a:p>
        </p:txBody>
      </p:sp>
      <p:sp>
        <p:nvSpPr>
          <p:cNvPr id="87" name="Rectangle 18"/>
          <p:cNvSpPr>
            <a:spLocks noChangeArrowheads="1"/>
          </p:cNvSpPr>
          <p:nvPr/>
        </p:nvSpPr>
        <p:spPr bwMode="auto">
          <a:xfrm>
            <a:off x="2859920" y="4019108"/>
            <a:ext cx="1554480" cy="170094"/>
          </a:xfrm>
          <a:prstGeom prst="rect">
            <a:avLst/>
          </a:prstGeom>
          <a:solidFill>
            <a:schemeClr val="bg1"/>
          </a:solidFill>
          <a:ln w="9525" algn="ctr">
            <a:solidFill>
              <a:schemeClr val="bg2"/>
            </a:solidFill>
            <a:miter lim="800000"/>
            <a:headEnd/>
            <a:tailEnd/>
          </a:ln>
          <a:effectLst/>
        </p:spPr>
        <p:txBody>
          <a:bodyPr anchor="ctr"/>
          <a:lstStyle/>
          <a:p>
            <a:pPr algn="ctr"/>
            <a:r>
              <a:rPr lang="es-ES" sz="1100" dirty="0">
                <a:solidFill>
                  <a:srgbClr val="000000"/>
                </a:solidFill>
              </a:rPr>
              <a:t>s/. </a:t>
            </a:r>
            <a:r>
              <a:rPr lang="es-ES" sz="1100" dirty="0"/>
              <a:t>3,825,000 .00</a:t>
            </a:r>
            <a:endParaRPr lang="es-ES" sz="1100" dirty="0">
              <a:solidFill>
                <a:srgbClr val="000000"/>
              </a:solidFill>
            </a:endParaRPr>
          </a:p>
        </p:txBody>
      </p:sp>
      <p:sp>
        <p:nvSpPr>
          <p:cNvPr id="88" name="AutoShape 47"/>
          <p:cNvSpPr>
            <a:spLocks noChangeAspect="1" noChangeArrowheads="1"/>
          </p:cNvSpPr>
          <p:nvPr/>
        </p:nvSpPr>
        <p:spPr bwMode="blackWhite">
          <a:xfrm>
            <a:off x="263032" y="3482416"/>
            <a:ext cx="503986" cy="1274400"/>
          </a:xfrm>
          <a:prstGeom prst="rightArrow">
            <a:avLst>
              <a:gd name="adj1" fmla="val 100000"/>
              <a:gd name="adj2" fmla="val 11009"/>
            </a:avLst>
          </a:prstGeom>
          <a:solidFill>
            <a:srgbClr val="969696"/>
          </a:solidFill>
          <a:ln w="12700">
            <a:noFill/>
            <a:miter lim="800000"/>
            <a:headEnd/>
            <a:tailEnd/>
          </a:ln>
          <a:effectLst>
            <a:outerShdw dist="35921" dir="2700000" algn="ctr" rotWithShape="0">
              <a:schemeClr val="bg2"/>
            </a:outerShdw>
          </a:effectLst>
        </p:spPr>
        <p:txBody>
          <a:bodyPr vert="vert270" anchor="ctr"/>
          <a:lstStyle/>
          <a:p>
            <a:pPr algn="ctr">
              <a:lnSpc>
                <a:spcPts val="1000"/>
              </a:lnSpc>
            </a:pPr>
            <a:r>
              <a:rPr lang="es-ES" sz="1100" b="1" noProof="1">
                <a:solidFill>
                  <a:srgbClr val="FFFFFF"/>
                </a:solidFill>
                <a:cs typeface="Arial" charset="0"/>
              </a:rPr>
              <a:t>Evaluación Riesgo Operacional</a:t>
            </a:r>
          </a:p>
        </p:txBody>
      </p:sp>
      <p:sp>
        <p:nvSpPr>
          <p:cNvPr id="89" name="AutoShape 179"/>
          <p:cNvSpPr>
            <a:spLocks noChangeArrowheads="1"/>
          </p:cNvSpPr>
          <p:nvPr/>
        </p:nvSpPr>
        <p:spPr bwMode="auto">
          <a:xfrm>
            <a:off x="4932039" y="3493021"/>
            <a:ext cx="4037169" cy="864000"/>
          </a:xfrm>
          <a:prstGeom prst="roundRect">
            <a:avLst>
              <a:gd name="adj" fmla="val 9481"/>
            </a:avLst>
          </a:prstGeom>
          <a:solidFill>
            <a:schemeClr val="accent1">
              <a:lumMod val="20000"/>
              <a:lumOff val="80000"/>
            </a:schemeClr>
          </a:solidFill>
          <a:ln w="9525" algn="ctr">
            <a:noFill/>
            <a:round/>
            <a:headEnd/>
            <a:tailEnd/>
          </a:ln>
          <a:effectLst/>
        </p:spPr>
        <p:txBody>
          <a:bodyPr wrap="none" anchor="ctr"/>
          <a:lstStyle/>
          <a:p>
            <a:endParaRPr lang="es-CL">
              <a:solidFill>
                <a:srgbClr val="002060"/>
              </a:solidFill>
            </a:endParaRPr>
          </a:p>
        </p:txBody>
      </p:sp>
      <p:sp>
        <p:nvSpPr>
          <p:cNvPr id="90" name="AutoShape 47"/>
          <p:cNvSpPr>
            <a:spLocks noChangeArrowheads="1"/>
          </p:cNvSpPr>
          <p:nvPr/>
        </p:nvSpPr>
        <p:spPr bwMode="blackWhite">
          <a:xfrm>
            <a:off x="4678512" y="3494523"/>
            <a:ext cx="353942" cy="864000"/>
          </a:xfrm>
          <a:prstGeom prst="rightArrow">
            <a:avLst>
              <a:gd name="adj1" fmla="val 100000"/>
              <a:gd name="adj2" fmla="val 11009"/>
            </a:avLst>
          </a:prstGeom>
          <a:solidFill>
            <a:srgbClr val="969696"/>
          </a:solidFill>
          <a:ln w="12700">
            <a:noFill/>
            <a:miter lim="800000"/>
            <a:headEnd/>
            <a:tailEnd/>
          </a:ln>
          <a:effectLst>
            <a:outerShdw dist="35921" dir="2700000" algn="ctr" rotWithShape="0">
              <a:schemeClr val="bg2"/>
            </a:outerShdw>
          </a:effectLst>
        </p:spPr>
        <p:txBody>
          <a:bodyPr vert="vert270" anchor="ctr"/>
          <a:lstStyle/>
          <a:p>
            <a:pPr algn="ctr">
              <a:lnSpc>
                <a:spcPts val="1000"/>
              </a:lnSpc>
            </a:pPr>
            <a:r>
              <a:rPr lang="es-ES" sz="1100" b="1" noProof="1">
                <a:solidFill>
                  <a:srgbClr val="FFFFFF"/>
                </a:solidFill>
                <a:cs typeface="Arial" charset="0"/>
              </a:rPr>
              <a:t>Impacto Reputacional</a:t>
            </a:r>
          </a:p>
        </p:txBody>
      </p:sp>
      <p:sp>
        <p:nvSpPr>
          <p:cNvPr id="91" name="Rectangle 18"/>
          <p:cNvSpPr>
            <a:spLocks noChangeArrowheads="1"/>
          </p:cNvSpPr>
          <p:nvPr/>
        </p:nvSpPr>
        <p:spPr bwMode="auto">
          <a:xfrm>
            <a:off x="8334310" y="3568288"/>
            <a:ext cx="548640" cy="170094"/>
          </a:xfrm>
          <a:prstGeom prst="rect">
            <a:avLst/>
          </a:prstGeom>
          <a:solidFill>
            <a:schemeClr val="bg1"/>
          </a:solidFill>
          <a:ln w="9525" algn="ctr">
            <a:solidFill>
              <a:schemeClr val="bg2"/>
            </a:solidFill>
            <a:miter lim="800000"/>
            <a:headEnd/>
            <a:tailEnd/>
          </a:ln>
          <a:effectLst/>
        </p:spPr>
        <p:txBody>
          <a:bodyPr anchor="ctr"/>
          <a:lstStyle/>
          <a:p>
            <a:pPr algn="ctr"/>
            <a:r>
              <a:rPr lang="es-ES" sz="1100" dirty="0"/>
              <a:t>1</a:t>
            </a:r>
          </a:p>
        </p:txBody>
      </p:sp>
      <p:sp>
        <p:nvSpPr>
          <p:cNvPr id="92" name="Rounded Rectangle 91"/>
          <p:cNvSpPr/>
          <p:nvPr/>
        </p:nvSpPr>
        <p:spPr>
          <a:xfrm>
            <a:off x="5102950" y="3568288"/>
            <a:ext cx="3132000" cy="170094"/>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Afectación a contrapartes</a:t>
            </a:r>
          </a:p>
        </p:txBody>
      </p:sp>
      <p:sp>
        <p:nvSpPr>
          <p:cNvPr id="93" name="Rectangle 18"/>
          <p:cNvSpPr>
            <a:spLocks noChangeArrowheads="1"/>
          </p:cNvSpPr>
          <p:nvPr/>
        </p:nvSpPr>
        <p:spPr bwMode="auto">
          <a:xfrm>
            <a:off x="5102950" y="3786445"/>
            <a:ext cx="3780000" cy="469509"/>
          </a:xfrm>
          <a:prstGeom prst="rect">
            <a:avLst/>
          </a:prstGeom>
          <a:solidFill>
            <a:schemeClr val="bg1"/>
          </a:solidFill>
          <a:ln w="9525" algn="ctr">
            <a:solidFill>
              <a:schemeClr val="bg2"/>
            </a:solidFill>
            <a:miter lim="800000"/>
            <a:headEnd/>
            <a:tailEnd/>
          </a:ln>
          <a:effectLst/>
        </p:spPr>
        <p:txBody>
          <a:bodyPr anchor="ctr"/>
          <a:lstStyle/>
          <a:p>
            <a:r>
              <a:rPr lang="es-ES" sz="1100" dirty="0">
                <a:solidFill>
                  <a:srgbClr val="000000"/>
                </a:solidFill>
              </a:rPr>
              <a:t>La exposición de la imagen es únicamente interna y limitada.</a:t>
            </a:r>
          </a:p>
        </p:txBody>
      </p:sp>
      <p:sp>
        <p:nvSpPr>
          <p:cNvPr id="94" name="Text Box 30"/>
          <p:cNvSpPr txBox="1">
            <a:spLocks noChangeArrowheads="1"/>
          </p:cNvSpPr>
          <p:nvPr/>
        </p:nvSpPr>
        <p:spPr bwMode="auto">
          <a:xfrm>
            <a:off x="190746" y="4838419"/>
            <a:ext cx="3996000" cy="276999"/>
          </a:xfrm>
          <a:prstGeom prst="rect">
            <a:avLst/>
          </a:prstGeom>
          <a:noFill/>
          <a:ln w="9525" algn="ctr">
            <a:noFill/>
            <a:miter lim="800000"/>
            <a:headEnd/>
            <a:tailEnd/>
          </a:ln>
          <a:effectLst/>
        </p:spPr>
        <p:txBody>
          <a:bodyPr wrap="square">
            <a:spAutoFit/>
          </a:bodyPr>
          <a:lstStyle/>
          <a:p>
            <a:pPr>
              <a:spcBef>
                <a:spcPct val="50000"/>
              </a:spcBef>
            </a:pPr>
            <a:r>
              <a:rPr lang="es-CL" sz="1200" b="1" i="1" dirty="0">
                <a:solidFill>
                  <a:srgbClr val="A3A3E0"/>
                </a:solidFill>
              </a:rPr>
              <a:t>Resultados valoración de controles / factores mitigantes</a:t>
            </a:r>
            <a:endParaRPr lang="es-ES" sz="1200" b="1" i="1" dirty="0">
              <a:solidFill>
                <a:srgbClr val="A3A3E0"/>
              </a:solidFill>
            </a:endParaRPr>
          </a:p>
        </p:txBody>
      </p:sp>
      <p:sp>
        <p:nvSpPr>
          <p:cNvPr id="98" name="AutoShape 179"/>
          <p:cNvSpPr>
            <a:spLocks noChangeArrowheads="1"/>
          </p:cNvSpPr>
          <p:nvPr/>
        </p:nvSpPr>
        <p:spPr bwMode="auto">
          <a:xfrm>
            <a:off x="4927319" y="4397238"/>
            <a:ext cx="4037169" cy="892800"/>
          </a:xfrm>
          <a:prstGeom prst="roundRect">
            <a:avLst>
              <a:gd name="adj" fmla="val 9481"/>
            </a:avLst>
          </a:prstGeom>
          <a:solidFill>
            <a:schemeClr val="accent1">
              <a:lumMod val="20000"/>
              <a:lumOff val="80000"/>
            </a:schemeClr>
          </a:solidFill>
          <a:ln w="9525" algn="ctr">
            <a:noFill/>
            <a:round/>
            <a:headEnd/>
            <a:tailEnd/>
          </a:ln>
          <a:effectLst/>
        </p:spPr>
        <p:txBody>
          <a:bodyPr wrap="none" anchor="ctr"/>
          <a:lstStyle/>
          <a:p>
            <a:endParaRPr lang="es-CL">
              <a:solidFill>
                <a:srgbClr val="002060"/>
              </a:solidFill>
            </a:endParaRPr>
          </a:p>
        </p:txBody>
      </p:sp>
      <p:sp>
        <p:nvSpPr>
          <p:cNvPr id="99" name="AutoShape 47"/>
          <p:cNvSpPr>
            <a:spLocks noChangeArrowheads="1"/>
          </p:cNvSpPr>
          <p:nvPr/>
        </p:nvSpPr>
        <p:spPr bwMode="blackWhite">
          <a:xfrm>
            <a:off x="4673792" y="4398740"/>
            <a:ext cx="352800" cy="892800"/>
          </a:xfrm>
          <a:prstGeom prst="rightArrow">
            <a:avLst>
              <a:gd name="adj1" fmla="val 100000"/>
              <a:gd name="adj2" fmla="val 11009"/>
            </a:avLst>
          </a:prstGeom>
          <a:solidFill>
            <a:srgbClr val="969696"/>
          </a:solidFill>
          <a:ln w="12700">
            <a:noFill/>
            <a:miter lim="800000"/>
            <a:headEnd/>
            <a:tailEnd/>
          </a:ln>
          <a:effectLst>
            <a:outerShdw dist="35921" dir="2700000" algn="ctr" rotWithShape="0">
              <a:schemeClr val="bg2"/>
            </a:outerShdw>
          </a:effectLst>
        </p:spPr>
        <p:txBody>
          <a:bodyPr vert="vert270" anchor="ctr"/>
          <a:lstStyle/>
          <a:p>
            <a:pPr algn="ctr">
              <a:lnSpc>
                <a:spcPts val="1000"/>
              </a:lnSpc>
            </a:pPr>
            <a:r>
              <a:rPr lang="es-ES" sz="1100" b="1" noProof="1">
                <a:solidFill>
                  <a:srgbClr val="FFFFFF"/>
                </a:solidFill>
                <a:cs typeface="Arial" charset="0"/>
              </a:rPr>
              <a:t>Cuestionarios</a:t>
            </a:r>
          </a:p>
        </p:txBody>
      </p:sp>
      <p:sp>
        <p:nvSpPr>
          <p:cNvPr id="101" name="Rounded Rectangle 38"/>
          <p:cNvSpPr/>
          <p:nvPr/>
        </p:nvSpPr>
        <p:spPr>
          <a:xfrm>
            <a:off x="5098230" y="4472505"/>
            <a:ext cx="3132000" cy="170094"/>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Criterios de Evaluación</a:t>
            </a:r>
          </a:p>
        </p:txBody>
      </p:sp>
      <p:sp>
        <p:nvSpPr>
          <p:cNvPr id="102" name="AutoShape 179"/>
          <p:cNvSpPr>
            <a:spLocks noChangeArrowheads="1"/>
          </p:cNvSpPr>
          <p:nvPr/>
        </p:nvSpPr>
        <p:spPr bwMode="auto">
          <a:xfrm>
            <a:off x="534831" y="5060900"/>
            <a:ext cx="4037169" cy="864000"/>
          </a:xfrm>
          <a:prstGeom prst="roundRect">
            <a:avLst>
              <a:gd name="adj" fmla="val 9481"/>
            </a:avLst>
          </a:prstGeom>
          <a:solidFill>
            <a:schemeClr val="accent1">
              <a:lumMod val="20000"/>
              <a:lumOff val="80000"/>
            </a:schemeClr>
          </a:solidFill>
          <a:ln w="9525" algn="ctr">
            <a:noFill/>
            <a:round/>
            <a:headEnd/>
            <a:tailEnd/>
          </a:ln>
          <a:effectLst/>
        </p:spPr>
        <p:txBody>
          <a:bodyPr wrap="none" anchor="ctr"/>
          <a:lstStyle/>
          <a:p>
            <a:endParaRPr lang="es-CL">
              <a:solidFill>
                <a:srgbClr val="002060"/>
              </a:solidFill>
            </a:endParaRPr>
          </a:p>
        </p:txBody>
      </p:sp>
      <p:sp>
        <p:nvSpPr>
          <p:cNvPr id="103" name="AutoShape 47"/>
          <p:cNvSpPr>
            <a:spLocks noChangeArrowheads="1"/>
          </p:cNvSpPr>
          <p:nvPr/>
        </p:nvSpPr>
        <p:spPr bwMode="blackWhite">
          <a:xfrm>
            <a:off x="281304" y="5062402"/>
            <a:ext cx="353942" cy="864000"/>
          </a:xfrm>
          <a:prstGeom prst="rightArrow">
            <a:avLst>
              <a:gd name="adj1" fmla="val 100000"/>
              <a:gd name="adj2" fmla="val 11009"/>
            </a:avLst>
          </a:prstGeom>
          <a:solidFill>
            <a:srgbClr val="969696"/>
          </a:solidFill>
          <a:ln w="12700">
            <a:noFill/>
            <a:miter lim="800000"/>
            <a:headEnd/>
            <a:tailEnd/>
          </a:ln>
          <a:effectLst>
            <a:outerShdw dist="35921" dir="2700000" algn="ctr" rotWithShape="0">
              <a:schemeClr val="bg2"/>
            </a:outerShdw>
          </a:effectLst>
        </p:spPr>
        <p:txBody>
          <a:bodyPr vert="vert270" anchor="ctr"/>
          <a:lstStyle/>
          <a:p>
            <a:pPr algn="ctr">
              <a:lnSpc>
                <a:spcPts val="1000"/>
              </a:lnSpc>
            </a:pPr>
            <a:r>
              <a:rPr lang="es-ES" sz="1100" b="1" noProof="1">
                <a:solidFill>
                  <a:srgbClr val="FFFFFF"/>
                </a:solidFill>
                <a:cs typeface="Arial" charset="0"/>
              </a:rPr>
              <a:t>Evaluación de Controles</a:t>
            </a:r>
          </a:p>
        </p:txBody>
      </p:sp>
      <p:sp>
        <p:nvSpPr>
          <p:cNvPr id="104" name="Rectangle 18"/>
          <p:cNvSpPr>
            <a:spLocks noChangeArrowheads="1"/>
          </p:cNvSpPr>
          <p:nvPr/>
        </p:nvSpPr>
        <p:spPr bwMode="auto">
          <a:xfrm>
            <a:off x="3937102" y="5136167"/>
            <a:ext cx="548640" cy="170094"/>
          </a:xfrm>
          <a:prstGeom prst="rect">
            <a:avLst/>
          </a:prstGeom>
          <a:solidFill>
            <a:schemeClr val="bg1"/>
          </a:solidFill>
          <a:ln w="9525" algn="ctr">
            <a:solidFill>
              <a:schemeClr val="bg2"/>
            </a:solidFill>
            <a:miter lim="800000"/>
            <a:headEnd/>
            <a:tailEnd/>
          </a:ln>
          <a:effectLst/>
        </p:spPr>
        <p:txBody>
          <a:bodyPr anchor="ctr"/>
          <a:lstStyle/>
          <a:p>
            <a:pPr algn="ctr"/>
            <a:r>
              <a:rPr lang="es-ES" sz="1100" dirty="0">
                <a:solidFill>
                  <a:srgbClr val="002060"/>
                </a:solidFill>
              </a:rPr>
              <a:t>1</a:t>
            </a:r>
          </a:p>
        </p:txBody>
      </p:sp>
      <p:sp>
        <p:nvSpPr>
          <p:cNvPr id="105" name="Rounded Rectangle 38"/>
          <p:cNvSpPr/>
          <p:nvPr/>
        </p:nvSpPr>
        <p:spPr>
          <a:xfrm>
            <a:off x="705742" y="5136167"/>
            <a:ext cx="3132000" cy="170094"/>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Controles asociados al riesgo</a:t>
            </a:r>
          </a:p>
        </p:txBody>
      </p:sp>
      <p:sp>
        <p:nvSpPr>
          <p:cNvPr id="107" name="Rectangle 18"/>
          <p:cNvSpPr>
            <a:spLocks noChangeArrowheads="1"/>
          </p:cNvSpPr>
          <p:nvPr/>
        </p:nvSpPr>
        <p:spPr bwMode="auto">
          <a:xfrm>
            <a:off x="705742" y="5357175"/>
            <a:ext cx="3780000" cy="469509"/>
          </a:xfrm>
          <a:prstGeom prst="rect">
            <a:avLst/>
          </a:prstGeom>
          <a:solidFill>
            <a:schemeClr val="bg1"/>
          </a:solidFill>
          <a:ln w="9525" algn="ctr">
            <a:solidFill>
              <a:schemeClr val="bg2"/>
            </a:solidFill>
            <a:miter lim="800000"/>
            <a:headEnd/>
            <a:tailEnd/>
          </a:ln>
          <a:effectLst/>
        </p:spPr>
        <p:txBody>
          <a:bodyPr anchor="ctr"/>
          <a:lstStyle/>
          <a:p>
            <a:r>
              <a:rPr lang="es-ES" sz="1100" dirty="0">
                <a:solidFill>
                  <a:srgbClr val="000000"/>
                </a:solidFill>
              </a:rPr>
              <a:t>(NF) Controles por Tecnología para la prevención de falla de los aplicativos.</a:t>
            </a:r>
          </a:p>
        </p:txBody>
      </p:sp>
      <p:sp>
        <p:nvSpPr>
          <p:cNvPr id="57" name="Rectangle 18"/>
          <p:cNvSpPr>
            <a:spLocks noChangeArrowheads="1"/>
          </p:cNvSpPr>
          <p:nvPr/>
        </p:nvSpPr>
        <p:spPr bwMode="auto">
          <a:xfrm>
            <a:off x="5102950" y="4685678"/>
            <a:ext cx="3780000" cy="469509"/>
          </a:xfrm>
          <a:prstGeom prst="rect">
            <a:avLst/>
          </a:prstGeom>
          <a:solidFill>
            <a:schemeClr val="bg1"/>
          </a:solidFill>
          <a:ln w="9525" algn="ctr">
            <a:solidFill>
              <a:schemeClr val="bg2"/>
            </a:solidFill>
            <a:miter lim="800000"/>
            <a:headEnd/>
            <a:tailEnd/>
          </a:ln>
          <a:effectLst/>
        </p:spPr>
        <p:txBody>
          <a:bodyPr anchor="ctr"/>
          <a:lstStyle/>
          <a:p>
            <a:r>
              <a:rPr lang="es-ES" sz="1100" dirty="0"/>
              <a:t>Valoración en base al promedio de las  operaciones diarias. Se toma una operación promedio de $5MM y un 2.5% de promedio que podría caer un activo.</a:t>
            </a:r>
          </a:p>
        </p:txBody>
      </p:sp>
      <p:sp>
        <p:nvSpPr>
          <p:cNvPr id="58" name="TextBox 57"/>
          <p:cNvSpPr txBox="1"/>
          <p:nvPr/>
        </p:nvSpPr>
        <p:spPr>
          <a:xfrm>
            <a:off x="705742" y="5940712"/>
            <a:ext cx="1819944" cy="261610"/>
          </a:xfrm>
          <a:prstGeom prst="rect">
            <a:avLst/>
          </a:prstGeom>
          <a:noFill/>
        </p:spPr>
        <p:txBody>
          <a:bodyPr wrap="square" rtlCol="0">
            <a:spAutoFit/>
          </a:bodyPr>
          <a:lstStyle/>
          <a:p>
            <a:r>
              <a:rPr lang="es-ES" sz="1100" dirty="0"/>
              <a:t>(NF): No Formalizado</a:t>
            </a:r>
          </a:p>
        </p:txBody>
      </p:sp>
    </p:spTree>
    <p:extLst>
      <p:ext uri="{BB962C8B-B14F-4D97-AF65-F5344CB8AC3E}">
        <p14:creationId xmlns:p14="http://schemas.microsoft.com/office/powerpoint/2010/main" val="3587714143"/>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dirty="0"/>
              <a:t>Anexo: Ficha Individual Riesgos Operacionales</a:t>
            </a:r>
          </a:p>
        </p:txBody>
      </p:sp>
      <p:sp>
        <p:nvSpPr>
          <p:cNvPr id="4" name="Rounded Rectangle 3"/>
          <p:cNvSpPr/>
          <p:nvPr/>
        </p:nvSpPr>
        <p:spPr>
          <a:xfrm>
            <a:off x="227770" y="764704"/>
            <a:ext cx="383790" cy="274320"/>
          </a:xfrm>
          <a:prstGeom prst="roundRect">
            <a:avLst/>
          </a:prstGeom>
          <a:solidFill>
            <a:srgbClr val="DB0613"/>
          </a:solidFill>
          <a:ln w="9525" algn="ctr">
            <a:noFill/>
            <a:miter lim="800000"/>
            <a:headEnd/>
            <a:tailEnd/>
          </a:ln>
          <a:effectLst/>
        </p:spPr>
        <p:txBody>
          <a:bodyPr anchor="ctr"/>
          <a:lstStyle/>
          <a:p>
            <a:pPr algn="ctr">
              <a:lnSpc>
                <a:spcPct val="80000"/>
              </a:lnSpc>
            </a:pPr>
            <a:r>
              <a:rPr lang="es-CL" sz="1200" b="1" dirty="0">
                <a:solidFill>
                  <a:srgbClr val="FFFFFF"/>
                </a:solidFill>
                <a:cs typeface="Arial" pitchFamily="34" charset="0"/>
              </a:rPr>
              <a:t>25</a:t>
            </a:r>
          </a:p>
        </p:txBody>
      </p:sp>
      <p:sp>
        <p:nvSpPr>
          <p:cNvPr id="5" name="Rectangle 18"/>
          <p:cNvSpPr>
            <a:spLocks noChangeArrowheads="1"/>
          </p:cNvSpPr>
          <p:nvPr/>
        </p:nvSpPr>
        <p:spPr bwMode="auto">
          <a:xfrm>
            <a:off x="227770" y="2548229"/>
            <a:ext cx="6400800" cy="708660"/>
          </a:xfrm>
          <a:prstGeom prst="rect">
            <a:avLst/>
          </a:prstGeom>
          <a:noFill/>
          <a:ln w="9525" algn="ctr">
            <a:solidFill>
              <a:schemeClr val="bg2"/>
            </a:solidFill>
            <a:miter lim="800000"/>
            <a:headEnd/>
            <a:tailEnd/>
          </a:ln>
          <a:effectLst/>
        </p:spPr>
        <p:txBody>
          <a:bodyPr/>
          <a:lstStyle/>
          <a:p>
            <a:r>
              <a:rPr lang="es-ES" sz="1100" dirty="0"/>
              <a:t>Riesgo de que exista una contradicción en la confirmación con la contraparte que pueda llevar a quebranto a la compañía.</a:t>
            </a:r>
          </a:p>
        </p:txBody>
      </p:sp>
      <p:sp>
        <p:nvSpPr>
          <p:cNvPr id="8" name="Rounded Rectangle 7"/>
          <p:cNvSpPr/>
          <p:nvPr/>
        </p:nvSpPr>
        <p:spPr>
          <a:xfrm>
            <a:off x="652842" y="764704"/>
            <a:ext cx="8352000" cy="274320"/>
          </a:xfrm>
          <a:prstGeom prst="roundRect">
            <a:avLst/>
          </a:prstGeom>
          <a:solidFill>
            <a:srgbClr val="DB0613"/>
          </a:solidFill>
          <a:ln w="9525" algn="ctr">
            <a:noFill/>
            <a:miter lim="800000"/>
            <a:headEnd/>
            <a:tailEnd/>
          </a:ln>
          <a:effectLst/>
        </p:spPr>
        <p:txBody>
          <a:bodyPr anchor="ctr"/>
          <a:lstStyle/>
          <a:p>
            <a:pPr>
              <a:lnSpc>
                <a:spcPct val="80000"/>
              </a:lnSpc>
            </a:pPr>
            <a:r>
              <a:rPr lang="es-ES" sz="1200" b="1" dirty="0">
                <a:solidFill>
                  <a:srgbClr val="FFFFFF"/>
                </a:solidFill>
                <a:cs typeface="Arial" pitchFamily="34" charset="0"/>
              </a:rPr>
              <a:t>Riesgo de confirmación errónea por la contrapartida</a:t>
            </a:r>
            <a:endParaRPr lang="es-CL" sz="1200" b="1" dirty="0">
              <a:solidFill>
                <a:srgbClr val="FFFFFF"/>
              </a:solidFill>
              <a:cs typeface="Arial" pitchFamily="34" charset="0"/>
            </a:endParaRPr>
          </a:p>
        </p:txBody>
      </p:sp>
      <p:sp>
        <p:nvSpPr>
          <p:cNvPr id="9" name="Rounded Rectangle 8"/>
          <p:cNvSpPr/>
          <p:nvPr/>
        </p:nvSpPr>
        <p:spPr>
          <a:xfrm>
            <a:off x="227770" y="2307916"/>
            <a:ext cx="64008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Descripción</a:t>
            </a:r>
          </a:p>
        </p:txBody>
      </p:sp>
      <p:sp>
        <p:nvSpPr>
          <p:cNvPr id="10" name="Rounded Rectangle 9"/>
          <p:cNvSpPr/>
          <p:nvPr/>
        </p:nvSpPr>
        <p:spPr>
          <a:xfrm>
            <a:off x="6716066" y="1111764"/>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Categoría  de Riesgo Nivel I</a:t>
            </a:r>
          </a:p>
        </p:txBody>
      </p:sp>
      <p:sp>
        <p:nvSpPr>
          <p:cNvPr id="11" name="Rectangle 18"/>
          <p:cNvSpPr>
            <a:spLocks noChangeArrowheads="1"/>
          </p:cNvSpPr>
          <p:nvPr/>
        </p:nvSpPr>
        <p:spPr bwMode="auto">
          <a:xfrm>
            <a:off x="6716066" y="1325572"/>
            <a:ext cx="2286000" cy="270000"/>
          </a:xfrm>
          <a:prstGeom prst="rect">
            <a:avLst/>
          </a:prstGeom>
          <a:noFill/>
          <a:ln w="9525" algn="ctr">
            <a:solidFill>
              <a:schemeClr val="bg2"/>
            </a:solidFill>
            <a:miter lim="800000"/>
            <a:headEnd/>
            <a:tailEnd/>
          </a:ln>
          <a:effectLst/>
        </p:spPr>
        <p:txBody>
          <a:bodyPr anchor="ctr"/>
          <a:lstStyle/>
          <a:p>
            <a:pPr>
              <a:lnSpc>
                <a:spcPts val="1000"/>
              </a:lnSpc>
            </a:pPr>
            <a:r>
              <a:rPr lang="es-ES" sz="1100" dirty="0"/>
              <a:t>Ejecución, entrega y gestión de procesos</a:t>
            </a:r>
          </a:p>
        </p:txBody>
      </p:sp>
      <p:sp>
        <p:nvSpPr>
          <p:cNvPr id="12" name="Rounded Rectangle 11"/>
          <p:cNvSpPr/>
          <p:nvPr/>
        </p:nvSpPr>
        <p:spPr>
          <a:xfrm>
            <a:off x="6716066" y="1664503"/>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Categoría  de Riesgo Nivel II</a:t>
            </a:r>
          </a:p>
        </p:txBody>
      </p:sp>
      <p:sp>
        <p:nvSpPr>
          <p:cNvPr id="13" name="Rectangle 18"/>
          <p:cNvSpPr>
            <a:spLocks noChangeArrowheads="1"/>
          </p:cNvSpPr>
          <p:nvPr/>
        </p:nvSpPr>
        <p:spPr bwMode="auto">
          <a:xfrm>
            <a:off x="6716066" y="1877089"/>
            <a:ext cx="2286000" cy="270000"/>
          </a:xfrm>
          <a:prstGeom prst="rect">
            <a:avLst/>
          </a:prstGeom>
          <a:noFill/>
          <a:ln w="9525" algn="ctr">
            <a:solidFill>
              <a:schemeClr val="bg2"/>
            </a:solidFill>
            <a:miter lim="800000"/>
            <a:headEnd/>
            <a:tailEnd/>
          </a:ln>
          <a:effectLst/>
        </p:spPr>
        <p:txBody>
          <a:bodyPr anchor="ctr"/>
          <a:lstStyle/>
          <a:p>
            <a:r>
              <a:rPr lang="es-ES" sz="1100" dirty="0"/>
              <a:t>Contrapartes comerciales</a:t>
            </a:r>
          </a:p>
        </p:txBody>
      </p:sp>
      <p:sp>
        <p:nvSpPr>
          <p:cNvPr id="15" name="Rounded Rectangle 14"/>
          <p:cNvSpPr/>
          <p:nvPr/>
        </p:nvSpPr>
        <p:spPr>
          <a:xfrm>
            <a:off x="6716066" y="2223551"/>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Categoría  de Riesgo Nivel III</a:t>
            </a:r>
          </a:p>
        </p:txBody>
      </p:sp>
      <p:sp>
        <p:nvSpPr>
          <p:cNvPr id="16" name="Rectangle 18"/>
          <p:cNvSpPr>
            <a:spLocks noChangeArrowheads="1"/>
          </p:cNvSpPr>
          <p:nvPr/>
        </p:nvSpPr>
        <p:spPr bwMode="auto">
          <a:xfrm>
            <a:off x="6716066" y="2434321"/>
            <a:ext cx="2286000" cy="270000"/>
          </a:xfrm>
          <a:prstGeom prst="rect">
            <a:avLst/>
          </a:prstGeom>
          <a:noFill/>
          <a:ln w="9525" algn="ctr">
            <a:solidFill>
              <a:schemeClr val="bg2"/>
            </a:solidFill>
            <a:miter lim="800000"/>
            <a:headEnd/>
            <a:tailEnd/>
          </a:ln>
          <a:effectLst/>
        </p:spPr>
        <p:txBody>
          <a:bodyPr anchor="ctr"/>
          <a:lstStyle/>
          <a:p>
            <a:r>
              <a:rPr lang="es-ES" sz="900" dirty="0"/>
              <a:t>Acciones de contrapartes comerciales</a:t>
            </a:r>
          </a:p>
        </p:txBody>
      </p:sp>
      <p:sp>
        <p:nvSpPr>
          <p:cNvPr id="17" name="Rounded Rectangle 16"/>
          <p:cNvSpPr/>
          <p:nvPr/>
        </p:nvSpPr>
        <p:spPr>
          <a:xfrm>
            <a:off x="216583" y="1110038"/>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Macroproceso</a:t>
            </a:r>
          </a:p>
        </p:txBody>
      </p:sp>
      <p:sp>
        <p:nvSpPr>
          <p:cNvPr id="18" name="Rectangle 18"/>
          <p:cNvSpPr>
            <a:spLocks noChangeArrowheads="1"/>
          </p:cNvSpPr>
          <p:nvPr/>
        </p:nvSpPr>
        <p:spPr bwMode="auto">
          <a:xfrm>
            <a:off x="2568409" y="1110038"/>
            <a:ext cx="3877200" cy="182880"/>
          </a:xfrm>
          <a:prstGeom prst="rect">
            <a:avLst/>
          </a:prstGeom>
          <a:noFill/>
          <a:ln w="9525" algn="ctr">
            <a:solidFill>
              <a:schemeClr val="bg2"/>
            </a:solidFill>
            <a:miter lim="800000"/>
            <a:headEnd/>
            <a:tailEnd/>
          </a:ln>
          <a:effectLst/>
        </p:spPr>
        <p:txBody>
          <a:bodyPr anchor="ctr"/>
          <a:lstStyle/>
          <a:p>
            <a:r>
              <a:rPr lang="es-ES" sz="1100" dirty="0"/>
              <a:t>Administración de Portafolio de Inversiones</a:t>
            </a:r>
          </a:p>
        </p:txBody>
      </p:sp>
      <p:sp>
        <p:nvSpPr>
          <p:cNvPr id="19" name="Rounded Rectangle 18"/>
          <p:cNvSpPr/>
          <p:nvPr/>
        </p:nvSpPr>
        <p:spPr>
          <a:xfrm>
            <a:off x="216583" y="1339045"/>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Proceso</a:t>
            </a:r>
          </a:p>
        </p:txBody>
      </p:sp>
      <p:sp>
        <p:nvSpPr>
          <p:cNvPr id="20" name="Rectangle 18"/>
          <p:cNvSpPr>
            <a:spLocks noChangeArrowheads="1"/>
          </p:cNvSpPr>
          <p:nvPr/>
        </p:nvSpPr>
        <p:spPr bwMode="auto">
          <a:xfrm>
            <a:off x="2568409" y="1339045"/>
            <a:ext cx="3877200" cy="182880"/>
          </a:xfrm>
          <a:prstGeom prst="rect">
            <a:avLst/>
          </a:prstGeom>
          <a:noFill/>
          <a:ln w="9525" algn="ctr">
            <a:solidFill>
              <a:schemeClr val="bg2"/>
            </a:solidFill>
            <a:miter lim="800000"/>
            <a:headEnd/>
            <a:tailEnd/>
          </a:ln>
          <a:effectLst/>
        </p:spPr>
        <p:txBody>
          <a:bodyPr anchor="ctr"/>
          <a:lstStyle/>
          <a:p>
            <a:r>
              <a:rPr lang="es-ES" sz="1100" dirty="0"/>
              <a:t>Administración de fondos</a:t>
            </a:r>
          </a:p>
        </p:txBody>
      </p:sp>
      <p:sp>
        <p:nvSpPr>
          <p:cNvPr id="59" name="Rounded Rectangle 58"/>
          <p:cNvSpPr/>
          <p:nvPr/>
        </p:nvSpPr>
        <p:spPr>
          <a:xfrm>
            <a:off x="216583" y="1579694"/>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Subproceso</a:t>
            </a:r>
          </a:p>
        </p:txBody>
      </p:sp>
      <p:sp>
        <p:nvSpPr>
          <p:cNvPr id="60" name="Rectangle 18"/>
          <p:cNvSpPr>
            <a:spLocks noChangeArrowheads="1"/>
          </p:cNvSpPr>
          <p:nvPr/>
        </p:nvSpPr>
        <p:spPr bwMode="auto">
          <a:xfrm>
            <a:off x="2568409" y="1579694"/>
            <a:ext cx="3875799" cy="182880"/>
          </a:xfrm>
          <a:prstGeom prst="rect">
            <a:avLst/>
          </a:prstGeom>
          <a:noFill/>
          <a:ln w="9525" algn="ctr">
            <a:solidFill>
              <a:schemeClr val="bg2"/>
            </a:solidFill>
            <a:miter lim="800000"/>
            <a:headEnd/>
            <a:tailEnd/>
          </a:ln>
          <a:effectLst/>
        </p:spPr>
        <p:txBody>
          <a:bodyPr anchor="ctr"/>
          <a:lstStyle/>
          <a:p>
            <a:r>
              <a:rPr lang="es-ES" sz="1100" dirty="0"/>
              <a:t>Ejecución de propuesta de Inversión</a:t>
            </a:r>
          </a:p>
        </p:txBody>
      </p:sp>
      <p:sp>
        <p:nvSpPr>
          <p:cNvPr id="61" name="Rounded Rectangle 60"/>
          <p:cNvSpPr/>
          <p:nvPr/>
        </p:nvSpPr>
        <p:spPr>
          <a:xfrm>
            <a:off x="226806" y="1826440"/>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Línea de Negocio</a:t>
            </a:r>
          </a:p>
        </p:txBody>
      </p:sp>
      <p:sp>
        <p:nvSpPr>
          <p:cNvPr id="63" name="Rounded Rectangle 62"/>
          <p:cNvSpPr/>
          <p:nvPr/>
        </p:nvSpPr>
        <p:spPr>
          <a:xfrm>
            <a:off x="226806" y="2079535"/>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Responsable</a:t>
            </a:r>
          </a:p>
        </p:txBody>
      </p:sp>
      <p:sp>
        <p:nvSpPr>
          <p:cNvPr id="65" name="Rectangle 18"/>
          <p:cNvSpPr>
            <a:spLocks noChangeArrowheads="1"/>
          </p:cNvSpPr>
          <p:nvPr/>
        </p:nvSpPr>
        <p:spPr bwMode="auto">
          <a:xfrm>
            <a:off x="2568409" y="1826440"/>
            <a:ext cx="3875799" cy="182880"/>
          </a:xfrm>
          <a:prstGeom prst="rect">
            <a:avLst/>
          </a:prstGeom>
          <a:noFill/>
          <a:ln w="9525" algn="ctr">
            <a:solidFill>
              <a:schemeClr val="bg2"/>
            </a:solidFill>
            <a:miter lim="800000"/>
            <a:headEnd/>
            <a:tailEnd/>
          </a:ln>
          <a:effectLst/>
        </p:spPr>
        <p:txBody>
          <a:bodyPr anchor="ctr"/>
          <a:lstStyle/>
          <a:p>
            <a:r>
              <a:rPr lang="es-ES" sz="1100" dirty="0"/>
              <a:t>Negociación y Ventas</a:t>
            </a:r>
          </a:p>
        </p:txBody>
      </p:sp>
      <p:sp>
        <p:nvSpPr>
          <p:cNvPr id="66" name="Rectangle 18"/>
          <p:cNvSpPr>
            <a:spLocks noChangeArrowheads="1"/>
          </p:cNvSpPr>
          <p:nvPr/>
        </p:nvSpPr>
        <p:spPr bwMode="auto">
          <a:xfrm>
            <a:off x="2555776" y="2079535"/>
            <a:ext cx="3875799" cy="182880"/>
          </a:xfrm>
          <a:prstGeom prst="rect">
            <a:avLst/>
          </a:prstGeom>
          <a:noFill/>
          <a:ln w="9525" algn="ctr">
            <a:solidFill>
              <a:schemeClr val="bg2"/>
            </a:solidFill>
            <a:miter lim="800000"/>
            <a:headEnd/>
            <a:tailEnd/>
          </a:ln>
          <a:effectLst/>
        </p:spPr>
        <p:txBody>
          <a:bodyPr anchor="ctr"/>
          <a:lstStyle/>
          <a:p>
            <a:r>
              <a:rPr lang="es-ES" sz="1100" dirty="0"/>
              <a:t>Subgerentes de Portafolio</a:t>
            </a:r>
          </a:p>
        </p:txBody>
      </p:sp>
      <p:sp>
        <p:nvSpPr>
          <p:cNvPr id="78" name="Rounded Rectangle 14"/>
          <p:cNvSpPr/>
          <p:nvPr/>
        </p:nvSpPr>
        <p:spPr>
          <a:xfrm>
            <a:off x="6716066" y="2768330"/>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Origen del Riesgo</a:t>
            </a:r>
          </a:p>
        </p:txBody>
      </p:sp>
      <p:sp>
        <p:nvSpPr>
          <p:cNvPr id="79" name="Rectangle 18"/>
          <p:cNvSpPr>
            <a:spLocks noChangeArrowheads="1"/>
          </p:cNvSpPr>
          <p:nvPr/>
        </p:nvSpPr>
        <p:spPr bwMode="auto">
          <a:xfrm>
            <a:off x="6716066" y="2983595"/>
            <a:ext cx="2286000" cy="270000"/>
          </a:xfrm>
          <a:prstGeom prst="rect">
            <a:avLst/>
          </a:prstGeom>
          <a:noFill/>
          <a:ln w="9525" algn="ctr">
            <a:solidFill>
              <a:schemeClr val="bg2"/>
            </a:solidFill>
            <a:miter lim="800000"/>
            <a:headEnd/>
            <a:tailEnd/>
          </a:ln>
          <a:effectLst/>
        </p:spPr>
        <p:txBody>
          <a:bodyPr anchor="ctr"/>
          <a:lstStyle/>
          <a:p>
            <a:r>
              <a:rPr lang="es-ES" sz="1100" dirty="0">
                <a:solidFill>
                  <a:srgbClr val="000000"/>
                </a:solidFill>
              </a:rPr>
              <a:t>Procesos</a:t>
            </a:r>
          </a:p>
        </p:txBody>
      </p:sp>
      <p:sp>
        <p:nvSpPr>
          <p:cNvPr id="68" name="AutoShape 179"/>
          <p:cNvSpPr>
            <a:spLocks noChangeArrowheads="1"/>
          </p:cNvSpPr>
          <p:nvPr/>
        </p:nvSpPr>
        <p:spPr bwMode="auto">
          <a:xfrm>
            <a:off x="611560" y="3482416"/>
            <a:ext cx="3960812" cy="1275707"/>
          </a:xfrm>
          <a:prstGeom prst="roundRect">
            <a:avLst>
              <a:gd name="adj" fmla="val 9481"/>
            </a:avLst>
          </a:prstGeom>
          <a:solidFill>
            <a:schemeClr val="accent1">
              <a:lumMod val="20000"/>
              <a:lumOff val="80000"/>
            </a:schemeClr>
          </a:solidFill>
          <a:ln w="9525" algn="ctr">
            <a:noFill/>
            <a:round/>
            <a:headEnd/>
            <a:tailEnd/>
          </a:ln>
          <a:effectLst/>
        </p:spPr>
        <p:txBody>
          <a:bodyPr wrap="none" anchor="ctr"/>
          <a:lstStyle/>
          <a:p>
            <a:endParaRPr lang="es-CL">
              <a:solidFill>
                <a:srgbClr val="002060"/>
              </a:solidFill>
            </a:endParaRPr>
          </a:p>
        </p:txBody>
      </p:sp>
      <p:sp>
        <p:nvSpPr>
          <p:cNvPr id="73" name="Text Box 30"/>
          <p:cNvSpPr txBox="1">
            <a:spLocks noChangeArrowheads="1"/>
          </p:cNvSpPr>
          <p:nvPr/>
        </p:nvSpPr>
        <p:spPr bwMode="auto">
          <a:xfrm>
            <a:off x="190747" y="3259373"/>
            <a:ext cx="3671888" cy="276999"/>
          </a:xfrm>
          <a:prstGeom prst="rect">
            <a:avLst/>
          </a:prstGeom>
          <a:noFill/>
          <a:ln w="9525" algn="ctr">
            <a:noFill/>
            <a:miter lim="800000"/>
            <a:headEnd/>
            <a:tailEnd/>
          </a:ln>
          <a:effectLst/>
        </p:spPr>
        <p:txBody>
          <a:bodyPr>
            <a:spAutoFit/>
          </a:bodyPr>
          <a:lstStyle/>
          <a:p>
            <a:pPr>
              <a:spcBef>
                <a:spcPct val="50000"/>
              </a:spcBef>
            </a:pPr>
            <a:r>
              <a:rPr lang="es-CL" sz="1200" b="1" i="1" dirty="0">
                <a:solidFill>
                  <a:srgbClr val="A3A3E0"/>
                </a:solidFill>
              </a:rPr>
              <a:t>Resultados valoración de riesgos</a:t>
            </a:r>
            <a:endParaRPr lang="es-ES" sz="1200" b="1" i="1" dirty="0">
              <a:solidFill>
                <a:srgbClr val="A3A3E0"/>
              </a:solidFill>
            </a:endParaRPr>
          </a:p>
        </p:txBody>
      </p:sp>
      <p:sp>
        <p:nvSpPr>
          <p:cNvPr id="76" name="Rounded Rectangle 75"/>
          <p:cNvSpPr/>
          <p:nvPr/>
        </p:nvSpPr>
        <p:spPr>
          <a:xfrm>
            <a:off x="902959" y="4255955"/>
            <a:ext cx="1920240" cy="170094"/>
          </a:xfrm>
          <a:prstGeom prst="roundRect">
            <a:avLst/>
          </a:prstGeom>
          <a:solidFill>
            <a:srgbClr val="DB0613"/>
          </a:solidFill>
          <a:ln w="9525" algn="ctr">
            <a:noFill/>
            <a:miter lim="800000"/>
            <a:headEnd/>
            <a:tailEnd/>
          </a:ln>
          <a:effectLst/>
        </p:spPr>
        <p:txBody>
          <a:bodyPr tIns="91440" anchor="ctr"/>
          <a:lstStyle/>
          <a:p>
            <a:pPr>
              <a:lnSpc>
                <a:spcPct val="80000"/>
              </a:lnSpc>
            </a:pPr>
            <a:r>
              <a:rPr lang="es-CL" sz="1100" b="1" dirty="0">
                <a:solidFill>
                  <a:srgbClr val="FFFFFF"/>
                </a:solidFill>
                <a:cs typeface="Arial" pitchFamily="34" charset="0"/>
              </a:rPr>
              <a:t>Pérdida Esperada Anual</a:t>
            </a:r>
          </a:p>
        </p:txBody>
      </p:sp>
      <p:sp>
        <p:nvSpPr>
          <p:cNvPr id="77" name="Rectangle 18"/>
          <p:cNvSpPr>
            <a:spLocks noChangeArrowheads="1"/>
          </p:cNvSpPr>
          <p:nvPr/>
        </p:nvSpPr>
        <p:spPr bwMode="auto">
          <a:xfrm>
            <a:off x="2859920" y="4255955"/>
            <a:ext cx="1554480" cy="170094"/>
          </a:xfrm>
          <a:prstGeom prst="rect">
            <a:avLst/>
          </a:prstGeom>
          <a:solidFill>
            <a:schemeClr val="bg1"/>
          </a:solidFill>
          <a:ln w="9525" algn="ctr">
            <a:solidFill>
              <a:schemeClr val="bg2"/>
            </a:solidFill>
            <a:miter lim="800000"/>
            <a:headEnd/>
            <a:tailEnd/>
          </a:ln>
          <a:effectLst/>
        </p:spPr>
        <p:txBody>
          <a:bodyPr anchor="ctr"/>
          <a:lstStyle/>
          <a:p>
            <a:pPr algn="ctr"/>
            <a:r>
              <a:rPr lang="es-ES" sz="1100" dirty="0">
                <a:solidFill>
                  <a:srgbClr val="000000"/>
                </a:solidFill>
              </a:rPr>
              <a:t>s/. </a:t>
            </a:r>
            <a:r>
              <a:rPr lang="es-ES" sz="1100" dirty="0"/>
              <a:t>0.00</a:t>
            </a:r>
            <a:endParaRPr lang="es-ES" sz="1100" dirty="0">
              <a:solidFill>
                <a:srgbClr val="000000"/>
              </a:solidFill>
            </a:endParaRPr>
          </a:p>
        </p:txBody>
      </p:sp>
      <p:sp>
        <p:nvSpPr>
          <p:cNvPr id="80" name="Rounded Rectangle 79"/>
          <p:cNvSpPr/>
          <p:nvPr/>
        </p:nvSpPr>
        <p:spPr>
          <a:xfrm>
            <a:off x="902959" y="4485567"/>
            <a:ext cx="1920240" cy="170094"/>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VaR Cualitativo Anual</a:t>
            </a:r>
          </a:p>
        </p:txBody>
      </p:sp>
      <p:sp>
        <p:nvSpPr>
          <p:cNvPr id="81" name="Rectangle 18"/>
          <p:cNvSpPr>
            <a:spLocks noChangeArrowheads="1"/>
          </p:cNvSpPr>
          <p:nvPr/>
        </p:nvSpPr>
        <p:spPr bwMode="auto">
          <a:xfrm>
            <a:off x="2859920" y="4485567"/>
            <a:ext cx="1554480" cy="170094"/>
          </a:xfrm>
          <a:prstGeom prst="rect">
            <a:avLst/>
          </a:prstGeom>
          <a:solidFill>
            <a:schemeClr val="bg1"/>
          </a:solidFill>
          <a:ln w="9525" algn="ctr">
            <a:solidFill>
              <a:schemeClr val="bg2"/>
            </a:solidFill>
            <a:miter lim="800000"/>
            <a:headEnd/>
            <a:tailEnd/>
          </a:ln>
          <a:effectLst/>
        </p:spPr>
        <p:txBody>
          <a:bodyPr anchor="ctr"/>
          <a:lstStyle/>
          <a:p>
            <a:pPr algn="ctr"/>
            <a:r>
              <a:rPr lang="es-ES" sz="1100" dirty="0"/>
              <a:t>s</a:t>
            </a:r>
            <a:r>
              <a:rPr lang="es-ES" sz="1100" dirty="0">
                <a:solidFill>
                  <a:srgbClr val="000000"/>
                </a:solidFill>
              </a:rPr>
              <a:t>/. </a:t>
            </a:r>
            <a:r>
              <a:rPr lang="es-ES" sz="1100" dirty="0"/>
              <a:t>0.00 </a:t>
            </a:r>
            <a:endParaRPr lang="es-ES" sz="1100" dirty="0">
              <a:solidFill>
                <a:srgbClr val="000000"/>
              </a:solidFill>
            </a:endParaRPr>
          </a:p>
        </p:txBody>
      </p:sp>
      <p:sp>
        <p:nvSpPr>
          <p:cNvPr id="82" name="Rounded Rectangle 81"/>
          <p:cNvSpPr/>
          <p:nvPr/>
        </p:nvSpPr>
        <p:spPr>
          <a:xfrm>
            <a:off x="891084" y="3553916"/>
            <a:ext cx="1920240" cy="170094"/>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Frecuencia  Evento Pérdida</a:t>
            </a:r>
          </a:p>
        </p:txBody>
      </p:sp>
      <p:sp>
        <p:nvSpPr>
          <p:cNvPr id="83" name="Rectangle 18"/>
          <p:cNvSpPr>
            <a:spLocks noChangeArrowheads="1"/>
          </p:cNvSpPr>
          <p:nvPr/>
        </p:nvSpPr>
        <p:spPr bwMode="auto">
          <a:xfrm>
            <a:off x="2859920" y="3553916"/>
            <a:ext cx="1554480" cy="170094"/>
          </a:xfrm>
          <a:prstGeom prst="rect">
            <a:avLst/>
          </a:prstGeom>
          <a:solidFill>
            <a:schemeClr val="bg1"/>
          </a:solidFill>
          <a:ln w="9525" algn="ctr">
            <a:solidFill>
              <a:schemeClr val="bg2"/>
            </a:solidFill>
            <a:miter lim="800000"/>
            <a:headEnd/>
            <a:tailEnd/>
          </a:ln>
          <a:effectLst/>
        </p:spPr>
        <p:txBody>
          <a:bodyPr anchor="ctr"/>
          <a:lstStyle/>
          <a:p>
            <a:pPr algn="ctr"/>
            <a:r>
              <a:rPr lang="es-ES" sz="1100" dirty="0">
                <a:solidFill>
                  <a:srgbClr val="000000"/>
                </a:solidFill>
              </a:rPr>
              <a:t>5 veces por 1 año</a:t>
            </a:r>
          </a:p>
        </p:txBody>
      </p:sp>
      <p:sp>
        <p:nvSpPr>
          <p:cNvPr id="84" name="Rounded Rectangle 83"/>
          <p:cNvSpPr/>
          <p:nvPr/>
        </p:nvSpPr>
        <p:spPr>
          <a:xfrm>
            <a:off x="891084" y="3783528"/>
            <a:ext cx="1920240" cy="170094"/>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Impacto Medio Evento</a:t>
            </a:r>
          </a:p>
        </p:txBody>
      </p:sp>
      <p:sp>
        <p:nvSpPr>
          <p:cNvPr id="85" name="Rectangle 18"/>
          <p:cNvSpPr>
            <a:spLocks noChangeArrowheads="1"/>
          </p:cNvSpPr>
          <p:nvPr/>
        </p:nvSpPr>
        <p:spPr bwMode="auto">
          <a:xfrm>
            <a:off x="2859920" y="3783528"/>
            <a:ext cx="1554480" cy="170094"/>
          </a:xfrm>
          <a:prstGeom prst="rect">
            <a:avLst/>
          </a:prstGeom>
          <a:solidFill>
            <a:schemeClr val="bg1"/>
          </a:solidFill>
          <a:ln w="9525" algn="ctr">
            <a:solidFill>
              <a:schemeClr val="bg2"/>
            </a:solidFill>
            <a:miter lim="800000"/>
            <a:headEnd/>
            <a:tailEnd/>
          </a:ln>
          <a:effectLst/>
        </p:spPr>
        <p:txBody>
          <a:bodyPr anchor="ctr"/>
          <a:lstStyle/>
          <a:p>
            <a:pPr algn="ctr"/>
            <a:r>
              <a:rPr lang="es-ES" sz="1100" dirty="0">
                <a:solidFill>
                  <a:srgbClr val="000000"/>
                </a:solidFill>
              </a:rPr>
              <a:t>s/. </a:t>
            </a:r>
            <a:r>
              <a:rPr lang="es-ES" sz="1100" dirty="0"/>
              <a:t>0.00 </a:t>
            </a:r>
            <a:endParaRPr lang="es-ES" sz="1100" dirty="0">
              <a:solidFill>
                <a:srgbClr val="000000"/>
              </a:solidFill>
            </a:endParaRPr>
          </a:p>
        </p:txBody>
      </p:sp>
      <p:sp>
        <p:nvSpPr>
          <p:cNvPr id="86" name="Rounded Rectangle 85"/>
          <p:cNvSpPr/>
          <p:nvPr/>
        </p:nvSpPr>
        <p:spPr>
          <a:xfrm>
            <a:off x="891084" y="4019108"/>
            <a:ext cx="1920240" cy="170094"/>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Impacto Peor Escenario</a:t>
            </a:r>
          </a:p>
        </p:txBody>
      </p:sp>
      <p:sp>
        <p:nvSpPr>
          <p:cNvPr id="87" name="Rectangle 18"/>
          <p:cNvSpPr>
            <a:spLocks noChangeArrowheads="1"/>
          </p:cNvSpPr>
          <p:nvPr/>
        </p:nvSpPr>
        <p:spPr bwMode="auto">
          <a:xfrm>
            <a:off x="2859920" y="4019108"/>
            <a:ext cx="1554480" cy="170094"/>
          </a:xfrm>
          <a:prstGeom prst="rect">
            <a:avLst/>
          </a:prstGeom>
          <a:solidFill>
            <a:schemeClr val="bg1"/>
          </a:solidFill>
          <a:ln w="9525" algn="ctr">
            <a:solidFill>
              <a:schemeClr val="bg2"/>
            </a:solidFill>
            <a:miter lim="800000"/>
            <a:headEnd/>
            <a:tailEnd/>
          </a:ln>
          <a:effectLst/>
        </p:spPr>
        <p:txBody>
          <a:bodyPr anchor="ctr"/>
          <a:lstStyle/>
          <a:p>
            <a:pPr algn="ctr"/>
            <a:r>
              <a:rPr lang="es-ES" sz="1100" dirty="0">
                <a:solidFill>
                  <a:srgbClr val="000000"/>
                </a:solidFill>
              </a:rPr>
              <a:t>s/. 0.</a:t>
            </a:r>
            <a:r>
              <a:rPr lang="es-ES" sz="1100" dirty="0"/>
              <a:t>00</a:t>
            </a:r>
            <a:endParaRPr lang="es-ES" sz="1100" dirty="0">
              <a:solidFill>
                <a:srgbClr val="000000"/>
              </a:solidFill>
            </a:endParaRPr>
          </a:p>
        </p:txBody>
      </p:sp>
      <p:sp>
        <p:nvSpPr>
          <p:cNvPr id="88" name="AutoShape 47"/>
          <p:cNvSpPr>
            <a:spLocks noChangeAspect="1" noChangeArrowheads="1"/>
          </p:cNvSpPr>
          <p:nvPr/>
        </p:nvSpPr>
        <p:spPr bwMode="blackWhite">
          <a:xfrm>
            <a:off x="263032" y="3482416"/>
            <a:ext cx="503986" cy="1274400"/>
          </a:xfrm>
          <a:prstGeom prst="rightArrow">
            <a:avLst>
              <a:gd name="adj1" fmla="val 100000"/>
              <a:gd name="adj2" fmla="val 11009"/>
            </a:avLst>
          </a:prstGeom>
          <a:solidFill>
            <a:srgbClr val="969696"/>
          </a:solidFill>
          <a:ln w="12700">
            <a:noFill/>
            <a:miter lim="800000"/>
            <a:headEnd/>
            <a:tailEnd/>
          </a:ln>
          <a:effectLst>
            <a:outerShdw dist="35921" dir="2700000" algn="ctr" rotWithShape="0">
              <a:schemeClr val="bg2"/>
            </a:outerShdw>
          </a:effectLst>
        </p:spPr>
        <p:txBody>
          <a:bodyPr vert="vert270" anchor="ctr"/>
          <a:lstStyle/>
          <a:p>
            <a:pPr algn="ctr">
              <a:lnSpc>
                <a:spcPts val="1000"/>
              </a:lnSpc>
            </a:pPr>
            <a:r>
              <a:rPr lang="es-ES" sz="1100" b="1" noProof="1">
                <a:solidFill>
                  <a:srgbClr val="FFFFFF"/>
                </a:solidFill>
                <a:cs typeface="Arial" charset="0"/>
              </a:rPr>
              <a:t>Evaluación Riesgo Operacional</a:t>
            </a:r>
          </a:p>
        </p:txBody>
      </p:sp>
      <p:sp>
        <p:nvSpPr>
          <p:cNvPr id="89" name="AutoShape 179"/>
          <p:cNvSpPr>
            <a:spLocks noChangeArrowheads="1"/>
          </p:cNvSpPr>
          <p:nvPr/>
        </p:nvSpPr>
        <p:spPr bwMode="auto">
          <a:xfrm>
            <a:off x="4932039" y="3493021"/>
            <a:ext cx="4037169" cy="864000"/>
          </a:xfrm>
          <a:prstGeom prst="roundRect">
            <a:avLst>
              <a:gd name="adj" fmla="val 9481"/>
            </a:avLst>
          </a:prstGeom>
          <a:solidFill>
            <a:schemeClr val="accent1">
              <a:lumMod val="20000"/>
              <a:lumOff val="80000"/>
            </a:schemeClr>
          </a:solidFill>
          <a:ln w="9525" algn="ctr">
            <a:noFill/>
            <a:round/>
            <a:headEnd/>
            <a:tailEnd/>
          </a:ln>
          <a:effectLst/>
        </p:spPr>
        <p:txBody>
          <a:bodyPr wrap="none" anchor="ctr"/>
          <a:lstStyle/>
          <a:p>
            <a:endParaRPr lang="es-CL">
              <a:solidFill>
                <a:srgbClr val="002060"/>
              </a:solidFill>
            </a:endParaRPr>
          </a:p>
        </p:txBody>
      </p:sp>
      <p:sp>
        <p:nvSpPr>
          <p:cNvPr id="90" name="AutoShape 47"/>
          <p:cNvSpPr>
            <a:spLocks noChangeArrowheads="1"/>
          </p:cNvSpPr>
          <p:nvPr/>
        </p:nvSpPr>
        <p:spPr bwMode="blackWhite">
          <a:xfrm>
            <a:off x="4678512" y="3494523"/>
            <a:ext cx="353942" cy="864000"/>
          </a:xfrm>
          <a:prstGeom prst="rightArrow">
            <a:avLst>
              <a:gd name="adj1" fmla="val 100000"/>
              <a:gd name="adj2" fmla="val 11009"/>
            </a:avLst>
          </a:prstGeom>
          <a:solidFill>
            <a:srgbClr val="969696"/>
          </a:solidFill>
          <a:ln w="12700">
            <a:noFill/>
            <a:miter lim="800000"/>
            <a:headEnd/>
            <a:tailEnd/>
          </a:ln>
          <a:effectLst>
            <a:outerShdw dist="35921" dir="2700000" algn="ctr" rotWithShape="0">
              <a:schemeClr val="bg2"/>
            </a:outerShdw>
          </a:effectLst>
        </p:spPr>
        <p:txBody>
          <a:bodyPr vert="vert270" anchor="ctr"/>
          <a:lstStyle/>
          <a:p>
            <a:pPr algn="ctr">
              <a:lnSpc>
                <a:spcPts val="1000"/>
              </a:lnSpc>
            </a:pPr>
            <a:r>
              <a:rPr lang="es-ES" sz="1100" b="1" noProof="1">
                <a:solidFill>
                  <a:srgbClr val="FFFFFF"/>
                </a:solidFill>
                <a:cs typeface="Arial" charset="0"/>
              </a:rPr>
              <a:t>Impacto Reputacional</a:t>
            </a:r>
          </a:p>
        </p:txBody>
      </p:sp>
      <p:sp>
        <p:nvSpPr>
          <p:cNvPr id="91" name="Rectangle 18"/>
          <p:cNvSpPr>
            <a:spLocks noChangeArrowheads="1"/>
          </p:cNvSpPr>
          <p:nvPr/>
        </p:nvSpPr>
        <p:spPr bwMode="auto">
          <a:xfrm>
            <a:off x="8334310" y="3568288"/>
            <a:ext cx="548640" cy="170094"/>
          </a:xfrm>
          <a:prstGeom prst="rect">
            <a:avLst/>
          </a:prstGeom>
          <a:solidFill>
            <a:schemeClr val="bg1"/>
          </a:solidFill>
          <a:ln w="9525" algn="ctr">
            <a:solidFill>
              <a:schemeClr val="bg2"/>
            </a:solidFill>
            <a:miter lim="800000"/>
            <a:headEnd/>
            <a:tailEnd/>
          </a:ln>
          <a:effectLst/>
        </p:spPr>
        <p:txBody>
          <a:bodyPr anchor="ctr"/>
          <a:lstStyle/>
          <a:p>
            <a:pPr algn="ctr"/>
            <a:r>
              <a:rPr lang="es-ES" sz="1100" dirty="0">
                <a:solidFill>
                  <a:srgbClr val="002060"/>
                </a:solidFill>
              </a:rPr>
              <a:t>1</a:t>
            </a:r>
          </a:p>
        </p:txBody>
      </p:sp>
      <p:sp>
        <p:nvSpPr>
          <p:cNvPr id="92" name="Rounded Rectangle 91"/>
          <p:cNvSpPr/>
          <p:nvPr/>
        </p:nvSpPr>
        <p:spPr>
          <a:xfrm>
            <a:off x="5102950" y="3568288"/>
            <a:ext cx="3132000" cy="170094"/>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Afectación a contrapartes</a:t>
            </a:r>
          </a:p>
        </p:txBody>
      </p:sp>
      <p:sp>
        <p:nvSpPr>
          <p:cNvPr id="93" name="Rectangle 18"/>
          <p:cNvSpPr>
            <a:spLocks noChangeArrowheads="1"/>
          </p:cNvSpPr>
          <p:nvPr/>
        </p:nvSpPr>
        <p:spPr bwMode="auto">
          <a:xfrm>
            <a:off x="5102950" y="3786445"/>
            <a:ext cx="3780000" cy="469509"/>
          </a:xfrm>
          <a:prstGeom prst="rect">
            <a:avLst/>
          </a:prstGeom>
          <a:solidFill>
            <a:schemeClr val="bg1"/>
          </a:solidFill>
          <a:ln w="9525" algn="ctr">
            <a:solidFill>
              <a:schemeClr val="bg2"/>
            </a:solidFill>
            <a:miter lim="800000"/>
            <a:headEnd/>
            <a:tailEnd/>
          </a:ln>
          <a:effectLst/>
        </p:spPr>
        <p:txBody>
          <a:bodyPr anchor="ctr"/>
          <a:lstStyle/>
          <a:p>
            <a:r>
              <a:rPr lang="es-ES" sz="1100" dirty="0">
                <a:solidFill>
                  <a:srgbClr val="000000"/>
                </a:solidFill>
              </a:rPr>
              <a:t>La exposición de la imagen es únicamente interna y limitada.</a:t>
            </a:r>
          </a:p>
        </p:txBody>
      </p:sp>
      <p:sp>
        <p:nvSpPr>
          <p:cNvPr id="94" name="Text Box 30"/>
          <p:cNvSpPr txBox="1">
            <a:spLocks noChangeArrowheads="1"/>
          </p:cNvSpPr>
          <p:nvPr/>
        </p:nvSpPr>
        <p:spPr bwMode="auto">
          <a:xfrm>
            <a:off x="190746" y="4838419"/>
            <a:ext cx="3996000" cy="276999"/>
          </a:xfrm>
          <a:prstGeom prst="rect">
            <a:avLst/>
          </a:prstGeom>
          <a:noFill/>
          <a:ln w="9525" algn="ctr">
            <a:noFill/>
            <a:miter lim="800000"/>
            <a:headEnd/>
            <a:tailEnd/>
          </a:ln>
          <a:effectLst/>
        </p:spPr>
        <p:txBody>
          <a:bodyPr wrap="square">
            <a:spAutoFit/>
          </a:bodyPr>
          <a:lstStyle/>
          <a:p>
            <a:pPr>
              <a:spcBef>
                <a:spcPct val="50000"/>
              </a:spcBef>
            </a:pPr>
            <a:r>
              <a:rPr lang="es-CL" sz="1200" b="1" i="1" dirty="0">
                <a:solidFill>
                  <a:srgbClr val="A3A3E0"/>
                </a:solidFill>
              </a:rPr>
              <a:t>Resultados valoración de controles / factores mitigantes</a:t>
            </a:r>
            <a:endParaRPr lang="es-ES" sz="1200" b="1" i="1" dirty="0">
              <a:solidFill>
                <a:srgbClr val="A3A3E0"/>
              </a:solidFill>
            </a:endParaRPr>
          </a:p>
        </p:txBody>
      </p:sp>
      <p:sp>
        <p:nvSpPr>
          <p:cNvPr id="98" name="AutoShape 179"/>
          <p:cNvSpPr>
            <a:spLocks noChangeArrowheads="1"/>
          </p:cNvSpPr>
          <p:nvPr/>
        </p:nvSpPr>
        <p:spPr bwMode="auto">
          <a:xfrm>
            <a:off x="4927319" y="4397238"/>
            <a:ext cx="4037169" cy="892800"/>
          </a:xfrm>
          <a:prstGeom prst="roundRect">
            <a:avLst>
              <a:gd name="adj" fmla="val 9481"/>
            </a:avLst>
          </a:prstGeom>
          <a:solidFill>
            <a:schemeClr val="accent1">
              <a:lumMod val="20000"/>
              <a:lumOff val="80000"/>
            </a:schemeClr>
          </a:solidFill>
          <a:ln w="9525" algn="ctr">
            <a:noFill/>
            <a:round/>
            <a:headEnd/>
            <a:tailEnd/>
          </a:ln>
          <a:effectLst/>
        </p:spPr>
        <p:txBody>
          <a:bodyPr wrap="none" anchor="ctr"/>
          <a:lstStyle/>
          <a:p>
            <a:endParaRPr lang="es-CL">
              <a:solidFill>
                <a:srgbClr val="002060"/>
              </a:solidFill>
            </a:endParaRPr>
          </a:p>
        </p:txBody>
      </p:sp>
      <p:sp>
        <p:nvSpPr>
          <p:cNvPr id="99" name="AutoShape 47"/>
          <p:cNvSpPr>
            <a:spLocks noChangeArrowheads="1"/>
          </p:cNvSpPr>
          <p:nvPr/>
        </p:nvSpPr>
        <p:spPr bwMode="blackWhite">
          <a:xfrm>
            <a:off x="4673792" y="4398740"/>
            <a:ext cx="352800" cy="892800"/>
          </a:xfrm>
          <a:prstGeom prst="rightArrow">
            <a:avLst>
              <a:gd name="adj1" fmla="val 100000"/>
              <a:gd name="adj2" fmla="val 11009"/>
            </a:avLst>
          </a:prstGeom>
          <a:solidFill>
            <a:srgbClr val="969696"/>
          </a:solidFill>
          <a:ln w="12700">
            <a:noFill/>
            <a:miter lim="800000"/>
            <a:headEnd/>
            <a:tailEnd/>
          </a:ln>
          <a:effectLst>
            <a:outerShdw dist="35921" dir="2700000" algn="ctr" rotWithShape="0">
              <a:schemeClr val="bg2"/>
            </a:outerShdw>
          </a:effectLst>
        </p:spPr>
        <p:txBody>
          <a:bodyPr vert="vert270" anchor="ctr"/>
          <a:lstStyle/>
          <a:p>
            <a:pPr algn="ctr">
              <a:lnSpc>
                <a:spcPts val="1000"/>
              </a:lnSpc>
            </a:pPr>
            <a:r>
              <a:rPr lang="es-ES" sz="1100" b="1" noProof="1">
                <a:solidFill>
                  <a:srgbClr val="FFFFFF"/>
                </a:solidFill>
                <a:cs typeface="Arial" charset="0"/>
              </a:rPr>
              <a:t>Cuestionarios</a:t>
            </a:r>
          </a:p>
        </p:txBody>
      </p:sp>
      <p:sp>
        <p:nvSpPr>
          <p:cNvPr id="101" name="Rounded Rectangle 38"/>
          <p:cNvSpPr/>
          <p:nvPr/>
        </p:nvSpPr>
        <p:spPr>
          <a:xfrm>
            <a:off x="5098230" y="4472505"/>
            <a:ext cx="3132000" cy="170094"/>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Criterios de Evaluación</a:t>
            </a:r>
          </a:p>
        </p:txBody>
      </p:sp>
      <p:sp>
        <p:nvSpPr>
          <p:cNvPr id="102" name="AutoShape 179"/>
          <p:cNvSpPr>
            <a:spLocks noChangeArrowheads="1"/>
          </p:cNvSpPr>
          <p:nvPr/>
        </p:nvSpPr>
        <p:spPr bwMode="auto">
          <a:xfrm>
            <a:off x="534831" y="5060900"/>
            <a:ext cx="4037169" cy="864000"/>
          </a:xfrm>
          <a:prstGeom prst="roundRect">
            <a:avLst>
              <a:gd name="adj" fmla="val 9481"/>
            </a:avLst>
          </a:prstGeom>
          <a:solidFill>
            <a:schemeClr val="accent1">
              <a:lumMod val="20000"/>
              <a:lumOff val="80000"/>
            </a:schemeClr>
          </a:solidFill>
          <a:ln w="9525" algn="ctr">
            <a:noFill/>
            <a:round/>
            <a:headEnd/>
            <a:tailEnd/>
          </a:ln>
          <a:effectLst/>
        </p:spPr>
        <p:txBody>
          <a:bodyPr wrap="none" anchor="ctr"/>
          <a:lstStyle/>
          <a:p>
            <a:endParaRPr lang="es-CL">
              <a:solidFill>
                <a:srgbClr val="002060"/>
              </a:solidFill>
            </a:endParaRPr>
          </a:p>
        </p:txBody>
      </p:sp>
      <p:sp>
        <p:nvSpPr>
          <p:cNvPr id="103" name="AutoShape 47"/>
          <p:cNvSpPr>
            <a:spLocks noChangeArrowheads="1"/>
          </p:cNvSpPr>
          <p:nvPr/>
        </p:nvSpPr>
        <p:spPr bwMode="blackWhite">
          <a:xfrm>
            <a:off x="281304" y="5062402"/>
            <a:ext cx="353942" cy="864000"/>
          </a:xfrm>
          <a:prstGeom prst="rightArrow">
            <a:avLst>
              <a:gd name="adj1" fmla="val 100000"/>
              <a:gd name="adj2" fmla="val 11009"/>
            </a:avLst>
          </a:prstGeom>
          <a:solidFill>
            <a:srgbClr val="969696"/>
          </a:solidFill>
          <a:ln w="12700">
            <a:noFill/>
            <a:miter lim="800000"/>
            <a:headEnd/>
            <a:tailEnd/>
          </a:ln>
          <a:effectLst>
            <a:outerShdw dist="35921" dir="2700000" algn="ctr" rotWithShape="0">
              <a:schemeClr val="bg2"/>
            </a:outerShdw>
          </a:effectLst>
        </p:spPr>
        <p:txBody>
          <a:bodyPr vert="vert270" anchor="ctr"/>
          <a:lstStyle/>
          <a:p>
            <a:pPr algn="ctr">
              <a:lnSpc>
                <a:spcPts val="1000"/>
              </a:lnSpc>
            </a:pPr>
            <a:r>
              <a:rPr lang="es-ES" sz="1100" b="1" noProof="1">
                <a:solidFill>
                  <a:srgbClr val="FFFFFF"/>
                </a:solidFill>
                <a:cs typeface="Arial" charset="0"/>
              </a:rPr>
              <a:t>Evaluación de Controles</a:t>
            </a:r>
          </a:p>
        </p:txBody>
      </p:sp>
      <p:sp>
        <p:nvSpPr>
          <p:cNvPr id="104" name="Rectangle 18"/>
          <p:cNvSpPr>
            <a:spLocks noChangeArrowheads="1"/>
          </p:cNvSpPr>
          <p:nvPr/>
        </p:nvSpPr>
        <p:spPr bwMode="auto">
          <a:xfrm>
            <a:off x="3937102" y="5136167"/>
            <a:ext cx="548640" cy="170094"/>
          </a:xfrm>
          <a:prstGeom prst="rect">
            <a:avLst/>
          </a:prstGeom>
          <a:solidFill>
            <a:schemeClr val="bg1"/>
          </a:solidFill>
          <a:ln w="9525" algn="ctr">
            <a:solidFill>
              <a:schemeClr val="bg2"/>
            </a:solidFill>
            <a:miter lim="800000"/>
            <a:headEnd/>
            <a:tailEnd/>
          </a:ln>
          <a:effectLst/>
        </p:spPr>
        <p:txBody>
          <a:bodyPr anchor="ctr"/>
          <a:lstStyle/>
          <a:p>
            <a:pPr algn="ctr"/>
            <a:r>
              <a:rPr lang="es-ES" sz="1100" dirty="0">
                <a:solidFill>
                  <a:srgbClr val="002060"/>
                </a:solidFill>
              </a:rPr>
              <a:t>1</a:t>
            </a:r>
          </a:p>
        </p:txBody>
      </p:sp>
      <p:sp>
        <p:nvSpPr>
          <p:cNvPr id="105" name="Rounded Rectangle 38"/>
          <p:cNvSpPr/>
          <p:nvPr/>
        </p:nvSpPr>
        <p:spPr>
          <a:xfrm>
            <a:off x="705742" y="5136167"/>
            <a:ext cx="3132000" cy="170094"/>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Controles asociados al riesgo</a:t>
            </a:r>
          </a:p>
        </p:txBody>
      </p:sp>
      <p:sp>
        <p:nvSpPr>
          <p:cNvPr id="106" name="Rectangle 18"/>
          <p:cNvSpPr>
            <a:spLocks noChangeArrowheads="1"/>
          </p:cNvSpPr>
          <p:nvPr/>
        </p:nvSpPr>
        <p:spPr bwMode="auto">
          <a:xfrm>
            <a:off x="5102950" y="4685678"/>
            <a:ext cx="3780000" cy="469509"/>
          </a:xfrm>
          <a:prstGeom prst="rect">
            <a:avLst/>
          </a:prstGeom>
          <a:solidFill>
            <a:schemeClr val="bg1"/>
          </a:solidFill>
          <a:ln w="9525" algn="ctr">
            <a:solidFill>
              <a:schemeClr val="bg2"/>
            </a:solidFill>
            <a:miter lim="800000"/>
            <a:headEnd/>
            <a:tailEnd/>
          </a:ln>
          <a:effectLst/>
        </p:spPr>
        <p:txBody>
          <a:bodyPr anchor="ctr"/>
          <a:lstStyle/>
          <a:p>
            <a:r>
              <a:rPr lang="es-ES" sz="1100" dirty="0"/>
              <a:t>La pérdida es prácticamente nula, ya que existe un a confirmación por parte del Back Office.</a:t>
            </a:r>
          </a:p>
        </p:txBody>
      </p:sp>
      <p:sp>
        <p:nvSpPr>
          <p:cNvPr id="107" name="Rectangle 18"/>
          <p:cNvSpPr>
            <a:spLocks noChangeArrowheads="1"/>
          </p:cNvSpPr>
          <p:nvPr/>
        </p:nvSpPr>
        <p:spPr bwMode="auto">
          <a:xfrm>
            <a:off x="705742" y="5357175"/>
            <a:ext cx="3780000" cy="469509"/>
          </a:xfrm>
          <a:prstGeom prst="rect">
            <a:avLst/>
          </a:prstGeom>
          <a:solidFill>
            <a:schemeClr val="bg1"/>
          </a:solidFill>
          <a:ln w="9525" algn="ctr">
            <a:solidFill>
              <a:schemeClr val="bg2"/>
            </a:solidFill>
            <a:miter lim="800000"/>
            <a:headEnd/>
            <a:tailEnd/>
          </a:ln>
          <a:effectLst/>
        </p:spPr>
        <p:txBody>
          <a:bodyPr anchor="ctr"/>
          <a:lstStyle/>
          <a:p>
            <a:r>
              <a:rPr lang="es-ES" sz="1100" dirty="0"/>
              <a:t>Revisión de los datos generados en la operativa por parte de Back Office (Analista de Operaciones de Inversión)</a:t>
            </a:r>
          </a:p>
        </p:txBody>
      </p:sp>
    </p:spTree>
    <p:extLst>
      <p:ext uri="{BB962C8B-B14F-4D97-AF65-F5344CB8AC3E}">
        <p14:creationId xmlns:p14="http://schemas.microsoft.com/office/powerpoint/2010/main" val="2363664365"/>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dirty="0"/>
              <a:t>Anexo: Ficha Individual Riesgos Operacionales</a:t>
            </a:r>
          </a:p>
        </p:txBody>
      </p:sp>
      <p:sp>
        <p:nvSpPr>
          <p:cNvPr id="4" name="Rounded Rectangle 3"/>
          <p:cNvSpPr/>
          <p:nvPr/>
        </p:nvSpPr>
        <p:spPr>
          <a:xfrm>
            <a:off x="227770" y="764704"/>
            <a:ext cx="383790" cy="274320"/>
          </a:xfrm>
          <a:prstGeom prst="roundRect">
            <a:avLst/>
          </a:prstGeom>
          <a:solidFill>
            <a:srgbClr val="DB0613"/>
          </a:solidFill>
          <a:ln w="9525" algn="ctr">
            <a:noFill/>
            <a:miter lim="800000"/>
            <a:headEnd/>
            <a:tailEnd/>
          </a:ln>
          <a:effectLst/>
        </p:spPr>
        <p:txBody>
          <a:bodyPr anchor="ctr"/>
          <a:lstStyle/>
          <a:p>
            <a:pPr algn="ctr">
              <a:lnSpc>
                <a:spcPct val="80000"/>
              </a:lnSpc>
            </a:pPr>
            <a:r>
              <a:rPr lang="es-CL" sz="1200" b="1" dirty="0">
                <a:solidFill>
                  <a:srgbClr val="FFFFFF"/>
                </a:solidFill>
                <a:cs typeface="Arial" pitchFamily="34" charset="0"/>
              </a:rPr>
              <a:t>26</a:t>
            </a:r>
          </a:p>
        </p:txBody>
      </p:sp>
      <p:sp>
        <p:nvSpPr>
          <p:cNvPr id="5" name="Rectangle 18"/>
          <p:cNvSpPr>
            <a:spLocks noChangeArrowheads="1"/>
          </p:cNvSpPr>
          <p:nvPr/>
        </p:nvSpPr>
        <p:spPr bwMode="auto">
          <a:xfrm>
            <a:off x="227770" y="2548229"/>
            <a:ext cx="6400800" cy="708660"/>
          </a:xfrm>
          <a:prstGeom prst="rect">
            <a:avLst/>
          </a:prstGeom>
          <a:noFill/>
          <a:ln w="9525" algn="ctr">
            <a:solidFill>
              <a:schemeClr val="bg2"/>
            </a:solidFill>
            <a:miter lim="800000"/>
            <a:headEnd/>
            <a:tailEnd/>
          </a:ln>
          <a:effectLst/>
        </p:spPr>
        <p:txBody>
          <a:bodyPr/>
          <a:lstStyle/>
          <a:p>
            <a:r>
              <a:rPr lang="es-ES" sz="1100" dirty="0"/>
              <a:t>Error en el registro de las operaciones en el sistema PMS, así como la confección de boletas de las operaciones realizadas.</a:t>
            </a:r>
          </a:p>
        </p:txBody>
      </p:sp>
      <p:sp>
        <p:nvSpPr>
          <p:cNvPr id="8" name="Rounded Rectangle 7"/>
          <p:cNvSpPr/>
          <p:nvPr/>
        </p:nvSpPr>
        <p:spPr>
          <a:xfrm>
            <a:off x="652842" y="764704"/>
            <a:ext cx="8352000" cy="274320"/>
          </a:xfrm>
          <a:prstGeom prst="roundRect">
            <a:avLst/>
          </a:prstGeom>
          <a:solidFill>
            <a:srgbClr val="DB0613"/>
          </a:solidFill>
          <a:ln w="9525" algn="ctr">
            <a:noFill/>
            <a:miter lim="800000"/>
            <a:headEnd/>
            <a:tailEnd/>
          </a:ln>
          <a:effectLst/>
        </p:spPr>
        <p:txBody>
          <a:bodyPr anchor="ctr"/>
          <a:lstStyle/>
          <a:p>
            <a:pPr>
              <a:lnSpc>
                <a:spcPct val="80000"/>
              </a:lnSpc>
            </a:pPr>
            <a:r>
              <a:rPr lang="es-ES" sz="1200" b="1" dirty="0">
                <a:solidFill>
                  <a:srgbClr val="FFFFFF"/>
                </a:solidFill>
                <a:cs typeface="Arial" pitchFamily="34" charset="0"/>
              </a:rPr>
              <a:t>Introducción incorrecta de las operaciones y errores en la confección de la boleta</a:t>
            </a:r>
            <a:endParaRPr lang="es-CL" sz="1200" b="1" dirty="0">
              <a:solidFill>
                <a:srgbClr val="FFFFFF"/>
              </a:solidFill>
              <a:cs typeface="Arial" pitchFamily="34" charset="0"/>
            </a:endParaRPr>
          </a:p>
        </p:txBody>
      </p:sp>
      <p:sp>
        <p:nvSpPr>
          <p:cNvPr id="9" name="Rounded Rectangle 8"/>
          <p:cNvSpPr/>
          <p:nvPr/>
        </p:nvSpPr>
        <p:spPr>
          <a:xfrm>
            <a:off x="227770" y="2307916"/>
            <a:ext cx="64008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Descripción</a:t>
            </a:r>
          </a:p>
        </p:txBody>
      </p:sp>
      <p:sp>
        <p:nvSpPr>
          <p:cNvPr id="10" name="Rounded Rectangle 9"/>
          <p:cNvSpPr/>
          <p:nvPr/>
        </p:nvSpPr>
        <p:spPr>
          <a:xfrm>
            <a:off x="6716066" y="1111764"/>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Categoría  de Riesgo Nivel I</a:t>
            </a:r>
          </a:p>
        </p:txBody>
      </p:sp>
      <p:sp>
        <p:nvSpPr>
          <p:cNvPr id="11" name="Rectangle 18"/>
          <p:cNvSpPr>
            <a:spLocks noChangeArrowheads="1"/>
          </p:cNvSpPr>
          <p:nvPr/>
        </p:nvSpPr>
        <p:spPr bwMode="auto">
          <a:xfrm>
            <a:off x="6716066" y="1325572"/>
            <a:ext cx="2286000" cy="270000"/>
          </a:xfrm>
          <a:prstGeom prst="rect">
            <a:avLst/>
          </a:prstGeom>
          <a:noFill/>
          <a:ln w="9525" algn="ctr">
            <a:solidFill>
              <a:schemeClr val="bg2"/>
            </a:solidFill>
            <a:miter lim="800000"/>
            <a:headEnd/>
            <a:tailEnd/>
          </a:ln>
          <a:effectLst/>
        </p:spPr>
        <p:txBody>
          <a:bodyPr anchor="ctr"/>
          <a:lstStyle/>
          <a:p>
            <a:pPr>
              <a:lnSpc>
                <a:spcPts val="1000"/>
              </a:lnSpc>
            </a:pPr>
            <a:r>
              <a:rPr lang="es-ES" sz="1100" dirty="0"/>
              <a:t>Ejecución, entrega y gestión de procesos</a:t>
            </a:r>
          </a:p>
        </p:txBody>
      </p:sp>
      <p:sp>
        <p:nvSpPr>
          <p:cNvPr id="12" name="Rounded Rectangle 11"/>
          <p:cNvSpPr/>
          <p:nvPr/>
        </p:nvSpPr>
        <p:spPr>
          <a:xfrm>
            <a:off x="6716066" y="1664503"/>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Categoría  de Riesgo Nivel II</a:t>
            </a:r>
          </a:p>
        </p:txBody>
      </p:sp>
      <p:sp>
        <p:nvSpPr>
          <p:cNvPr id="13" name="Rectangle 18"/>
          <p:cNvSpPr>
            <a:spLocks noChangeArrowheads="1"/>
          </p:cNvSpPr>
          <p:nvPr/>
        </p:nvSpPr>
        <p:spPr bwMode="auto">
          <a:xfrm>
            <a:off x="6716066" y="1877089"/>
            <a:ext cx="2286000" cy="270000"/>
          </a:xfrm>
          <a:prstGeom prst="rect">
            <a:avLst/>
          </a:prstGeom>
          <a:noFill/>
          <a:ln w="9525" algn="ctr">
            <a:solidFill>
              <a:schemeClr val="bg2"/>
            </a:solidFill>
            <a:miter lim="800000"/>
            <a:headEnd/>
            <a:tailEnd/>
          </a:ln>
          <a:effectLst/>
        </p:spPr>
        <p:txBody>
          <a:bodyPr anchor="ctr"/>
          <a:lstStyle/>
          <a:p>
            <a:r>
              <a:rPr lang="es-ES" sz="1100" dirty="0"/>
              <a:t>Recepción, ejecución y mantenimiento de operaciones</a:t>
            </a:r>
          </a:p>
        </p:txBody>
      </p:sp>
      <p:sp>
        <p:nvSpPr>
          <p:cNvPr id="15" name="Rounded Rectangle 14"/>
          <p:cNvSpPr/>
          <p:nvPr/>
        </p:nvSpPr>
        <p:spPr>
          <a:xfrm>
            <a:off x="6716066" y="2223551"/>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Categoría  de Riesgo Nivel III</a:t>
            </a:r>
          </a:p>
        </p:txBody>
      </p:sp>
      <p:sp>
        <p:nvSpPr>
          <p:cNvPr id="16" name="Rectangle 18"/>
          <p:cNvSpPr>
            <a:spLocks noChangeArrowheads="1"/>
          </p:cNvSpPr>
          <p:nvPr/>
        </p:nvSpPr>
        <p:spPr bwMode="auto">
          <a:xfrm>
            <a:off x="6716066" y="2434321"/>
            <a:ext cx="2286000" cy="437406"/>
          </a:xfrm>
          <a:prstGeom prst="rect">
            <a:avLst/>
          </a:prstGeom>
          <a:noFill/>
          <a:ln w="9525" algn="ctr">
            <a:solidFill>
              <a:schemeClr val="bg2"/>
            </a:solidFill>
            <a:miter lim="800000"/>
            <a:headEnd/>
            <a:tailEnd/>
          </a:ln>
          <a:effectLst/>
        </p:spPr>
        <p:txBody>
          <a:bodyPr anchor="ctr"/>
          <a:lstStyle/>
          <a:p>
            <a:r>
              <a:rPr lang="es-ES" sz="900" dirty="0"/>
              <a:t>Errores y/u omisiones en la introducción, mantenimiento (actualización) y almacenamiento de datos</a:t>
            </a:r>
          </a:p>
        </p:txBody>
      </p:sp>
      <p:sp>
        <p:nvSpPr>
          <p:cNvPr id="17" name="Rounded Rectangle 16"/>
          <p:cNvSpPr/>
          <p:nvPr/>
        </p:nvSpPr>
        <p:spPr>
          <a:xfrm>
            <a:off x="216583" y="1110038"/>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Macroproceso</a:t>
            </a:r>
          </a:p>
        </p:txBody>
      </p:sp>
      <p:sp>
        <p:nvSpPr>
          <p:cNvPr id="18" name="Rectangle 18"/>
          <p:cNvSpPr>
            <a:spLocks noChangeArrowheads="1"/>
          </p:cNvSpPr>
          <p:nvPr/>
        </p:nvSpPr>
        <p:spPr bwMode="auto">
          <a:xfrm>
            <a:off x="2568409" y="1110038"/>
            <a:ext cx="3877200" cy="182880"/>
          </a:xfrm>
          <a:prstGeom prst="rect">
            <a:avLst/>
          </a:prstGeom>
          <a:noFill/>
          <a:ln w="9525" algn="ctr">
            <a:solidFill>
              <a:schemeClr val="bg2"/>
            </a:solidFill>
            <a:miter lim="800000"/>
            <a:headEnd/>
            <a:tailEnd/>
          </a:ln>
          <a:effectLst/>
        </p:spPr>
        <p:txBody>
          <a:bodyPr anchor="ctr"/>
          <a:lstStyle/>
          <a:p>
            <a:r>
              <a:rPr lang="es-ES" sz="1100" dirty="0"/>
              <a:t>Administración de Portafolio de Inversiones</a:t>
            </a:r>
          </a:p>
        </p:txBody>
      </p:sp>
      <p:sp>
        <p:nvSpPr>
          <p:cNvPr id="19" name="Rounded Rectangle 18"/>
          <p:cNvSpPr/>
          <p:nvPr/>
        </p:nvSpPr>
        <p:spPr>
          <a:xfrm>
            <a:off x="216583" y="1339045"/>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Proceso</a:t>
            </a:r>
          </a:p>
        </p:txBody>
      </p:sp>
      <p:sp>
        <p:nvSpPr>
          <p:cNvPr id="20" name="Rectangle 18"/>
          <p:cNvSpPr>
            <a:spLocks noChangeArrowheads="1"/>
          </p:cNvSpPr>
          <p:nvPr/>
        </p:nvSpPr>
        <p:spPr bwMode="auto">
          <a:xfrm>
            <a:off x="2568409" y="1339045"/>
            <a:ext cx="3877200" cy="182880"/>
          </a:xfrm>
          <a:prstGeom prst="rect">
            <a:avLst/>
          </a:prstGeom>
          <a:noFill/>
          <a:ln w="9525" algn="ctr">
            <a:solidFill>
              <a:schemeClr val="bg2"/>
            </a:solidFill>
            <a:miter lim="800000"/>
            <a:headEnd/>
            <a:tailEnd/>
          </a:ln>
          <a:effectLst/>
        </p:spPr>
        <p:txBody>
          <a:bodyPr anchor="ctr"/>
          <a:lstStyle/>
          <a:p>
            <a:r>
              <a:rPr lang="es-ES" sz="1100" dirty="0"/>
              <a:t>Administración de fondos</a:t>
            </a:r>
          </a:p>
        </p:txBody>
      </p:sp>
      <p:sp>
        <p:nvSpPr>
          <p:cNvPr id="59" name="Rounded Rectangle 58"/>
          <p:cNvSpPr/>
          <p:nvPr/>
        </p:nvSpPr>
        <p:spPr>
          <a:xfrm>
            <a:off x="216583" y="1579694"/>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Subproceso</a:t>
            </a:r>
          </a:p>
        </p:txBody>
      </p:sp>
      <p:sp>
        <p:nvSpPr>
          <p:cNvPr id="60" name="Rectangle 18"/>
          <p:cNvSpPr>
            <a:spLocks noChangeArrowheads="1"/>
          </p:cNvSpPr>
          <p:nvPr/>
        </p:nvSpPr>
        <p:spPr bwMode="auto">
          <a:xfrm>
            <a:off x="2568409" y="1579694"/>
            <a:ext cx="3875799" cy="182880"/>
          </a:xfrm>
          <a:prstGeom prst="rect">
            <a:avLst/>
          </a:prstGeom>
          <a:noFill/>
          <a:ln w="9525" algn="ctr">
            <a:solidFill>
              <a:schemeClr val="bg2"/>
            </a:solidFill>
            <a:miter lim="800000"/>
            <a:headEnd/>
            <a:tailEnd/>
          </a:ln>
          <a:effectLst/>
        </p:spPr>
        <p:txBody>
          <a:bodyPr anchor="ctr"/>
          <a:lstStyle/>
          <a:p>
            <a:r>
              <a:rPr lang="es-ES" sz="1100" dirty="0"/>
              <a:t>Ejecución de propuesta de Inversión</a:t>
            </a:r>
          </a:p>
        </p:txBody>
      </p:sp>
      <p:sp>
        <p:nvSpPr>
          <p:cNvPr id="61" name="Rounded Rectangle 60"/>
          <p:cNvSpPr/>
          <p:nvPr/>
        </p:nvSpPr>
        <p:spPr>
          <a:xfrm>
            <a:off x="226806" y="1826440"/>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Línea de Negocio</a:t>
            </a:r>
          </a:p>
        </p:txBody>
      </p:sp>
      <p:sp>
        <p:nvSpPr>
          <p:cNvPr id="63" name="Rounded Rectangle 62"/>
          <p:cNvSpPr/>
          <p:nvPr/>
        </p:nvSpPr>
        <p:spPr>
          <a:xfrm>
            <a:off x="226806" y="2079535"/>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Responsable</a:t>
            </a:r>
          </a:p>
        </p:txBody>
      </p:sp>
      <p:sp>
        <p:nvSpPr>
          <p:cNvPr id="65" name="Rectangle 18"/>
          <p:cNvSpPr>
            <a:spLocks noChangeArrowheads="1"/>
          </p:cNvSpPr>
          <p:nvPr/>
        </p:nvSpPr>
        <p:spPr bwMode="auto">
          <a:xfrm>
            <a:off x="2568409" y="1826440"/>
            <a:ext cx="3875799" cy="182880"/>
          </a:xfrm>
          <a:prstGeom prst="rect">
            <a:avLst/>
          </a:prstGeom>
          <a:noFill/>
          <a:ln w="9525" algn="ctr">
            <a:solidFill>
              <a:schemeClr val="bg2"/>
            </a:solidFill>
            <a:miter lim="800000"/>
            <a:headEnd/>
            <a:tailEnd/>
          </a:ln>
          <a:effectLst/>
        </p:spPr>
        <p:txBody>
          <a:bodyPr anchor="ctr"/>
          <a:lstStyle/>
          <a:p>
            <a:r>
              <a:rPr lang="es-ES" sz="1100" dirty="0"/>
              <a:t>Negociación y Ventas</a:t>
            </a:r>
          </a:p>
        </p:txBody>
      </p:sp>
      <p:sp>
        <p:nvSpPr>
          <p:cNvPr id="66" name="Rectangle 18"/>
          <p:cNvSpPr>
            <a:spLocks noChangeArrowheads="1"/>
          </p:cNvSpPr>
          <p:nvPr/>
        </p:nvSpPr>
        <p:spPr bwMode="auto">
          <a:xfrm>
            <a:off x="2555776" y="2079535"/>
            <a:ext cx="3875799" cy="182880"/>
          </a:xfrm>
          <a:prstGeom prst="rect">
            <a:avLst/>
          </a:prstGeom>
          <a:noFill/>
          <a:ln w="9525" algn="ctr">
            <a:solidFill>
              <a:schemeClr val="bg2"/>
            </a:solidFill>
            <a:miter lim="800000"/>
            <a:headEnd/>
            <a:tailEnd/>
          </a:ln>
          <a:effectLst/>
        </p:spPr>
        <p:txBody>
          <a:bodyPr anchor="ctr"/>
          <a:lstStyle/>
          <a:p>
            <a:r>
              <a:rPr lang="es-ES" sz="1100" dirty="0"/>
              <a:t>Subgerentes de Portafolio</a:t>
            </a:r>
          </a:p>
        </p:txBody>
      </p:sp>
      <p:sp>
        <p:nvSpPr>
          <p:cNvPr id="78" name="Rounded Rectangle 14"/>
          <p:cNvSpPr/>
          <p:nvPr/>
        </p:nvSpPr>
        <p:spPr>
          <a:xfrm>
            <a:off x="6716066" y="2871727"/>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Origen del Riesgo</a:t>
            </a:r>
          </a:p>
        </p:txBody>
      </p:sp>
      <p:sp>
        <p:nvSpPr>
          <p:cNvPr id="79" name="Rectangle 18"/>
          <p:cNvSpPr>
            <a:spLocks noChangeArrowheads="1"/>
          </p:cNvSpPr>
          <p:nvPr/>
        </p:nvSpPr>
        <p:spPr bwMode="auto">
          <a:xfrm>
            <a:off x="6716066" y="3086992"/>
            <a:ext cx="2286000" cy="270000"/>
          </a:xfrm>
          <a:prstGeom prst="rect">
            <a:avLst/>
          </a:prstGeom>
          <a:noFill/>
          <a:ln w="9525" algn="ctr">
            <a:solidFill>
              <a:schemeClr val="bg2"/>
            </a:solidFill>
            <a:miter lim="800000"/>
            <a:headEnd/>
            <a:tailEnd/>
          </a:ln>
          <a:effectLst/>
        </p:spPr>
        <p:txBody>
          <a:bodyPr anchor="ctr"/>
          <a:lstStyle/>
          <a:p>
            <a:r>
              <a:rPr lang="es-ES" sz="1100" dirty="0">
                <a:solidFill>
                  <a:srgbClr val="000000"/>
                </a:solidFill>
              </a:rPr>
              <a:t>Personas</a:t>
            </a:r>
          </a:p>
        </p:txBody>
      </p:sp>
      <p:sp>
        <p:nvSpPr>
          <p:cNvPr id="68" name="AutoShape 179"/>
          <p:cNvSpPr>
            <a:spLocks noChangeArrowheads="1"/>
          </p:cNvSpPr>
          <p:nvPr/>
        </p:nvSpPr>
        <p:spPr bwMode="auto">
          <a:xfrm>
            <a:off x="611560" y="3482416"/>
            <a:ext cx="3960812" cy="1275707"/>
          </a:xfrm>
          <a:prstGeom prst="roundRect">
            <a:avLst>
              <a:gd name="adj" fmla="val 9481"/>
            </a:avLst>
          </a:prstGeom>
          <a:solidFill>
            <a:schemeClr val="accent1">
              <a:lumMod val="20000"/>
              <a:lumOff val="80000"/>
            </a:schemeClr>
          </a:solidFill>
          <a:ln w="9525" algn="ctr">
            <a:noFill/>
            <a:round/>
            <a:headEnd/>
            <a:tailEnd/>
          </a:ln>
          <a:effectLst/>
        </p:spPr>
        <p:txBody>
          <a:bodyPr wrap="none" anchor="ctr"/>
          <a:lstStyle/>
          <a:p>
            <a:endParaRPr lang="es-CL">
              <a:solidFill>
                <a:srgbClr val="002060"/>
              </a:solidFill>
            </a:endParaRPr>
          </a:p>
        </p:txBody>
      </p:sp>
      <p:sp>
        <p:nvSpPr>
          <p:cNvPr id="73" name="Text Box 30"/>
          <p:cNvSpPr txBox="1">
            <a:spLocks noChangeArrowheads="1"/>
          </p:cNvSpPr>
          <p:nvPr/>
        </p:nvSpPr>
        <p:spPr bwMode="auto">
          <a:xfrm>
            <a:off x="190747" y="3259373"/>
            <a:ext cx="3671888" cy="276999"/>
          </a:xfrm>
          <a:prstGeom prst="rect">
            <a:avLst/>
          </a:prstGeom>
          <a:noFill/>
          <a:ln w="9525" algn="ctr">
            <a:noFill/>
            <a:miter lim="800000"/>
            <a:headEnd/>
            <a:tailEnd/>
          </a:ln>
          <a:effectLst/>
        </p:spPr>
        <p:txBody>
          <a:bodyPr>
            <a:spAutoFit/>
          </a:bodyPr>
          <a:lstStyle/>
          <a:p>
            <a:pPr>
              <a:spcBef>
                <a:spcPct val="50000"/>
              </a:spcBef>
            </a:pPr>
            <a:r>
              <a:rPr lang="es-CL" sz="1200" b="1" i="1" dirty="0">
                <a:solidFill>
                  <a:srgbClr val="A3A3E0"/>
                </a:solidFill>
              </a:rPr>
              <a:t>Resultados valoración de riesgos</a:t>
            </a:r>
            <a:endParaRPr lang="es-ES" sz="1200" b="1" i="1" dirty="0">
              <a:solidFill>
                <a:srgbClr val="A3A3E0"/>
              </a:solidFill>
            </a:endParaRPr>
          </a:p>
        </p:txBody>
      </p:sp>
      <p:sp>
        <p:nvSpPr>
          <p:cNvPr id="76" name="Rounded Rectangle 75"/>
          <p:cNvSpPr/>
          <p:nvPr/>
        </p:nvSpPr>
        <p:spPr>
          <a:xfrm>
            <a:off x="902959" y="4255955"/>
            <a:ext cx="1920240" cy="170094"/>
          </a:xfrm>
          <a:prstGeom prst="roundRect">
            <a:avLst/>
          </a:prstGeom>
          <a:solidFill>
            <a:srgbClr val="DB0613"/>
          </a:solidFill>
          <a:ln w="9525" algn="ctr">
            <a:noFill/>
            <a:miter lim="800000"/>
            <a:headEnd/>
            <a:tailEnd/>
          </a:ln>
          <a:effectLst/>
        </p:spPr>
        <p:txBody>
          <a:bodyPr tIns="91440" anchor="ctr"/>
          <a:lstStyle/>
          <a:p>
            <a:pPr>
              <a:lnSpc>
                <a:spcPct val="80000"/>
              </a:lnSpc>
            </a:pPr>
            <a:r>
              <a:rPr lang="es-CL" sz="1100" b="1" dirty="0">
                <a:solidFill>
                  <a:srgbClr val="FFFFFF"/>
                </a:solidFill>
                <a:cs typeface="Arial" pitchFamily="34" charset="0"/>
              </a:rPr>
              <a:t>Pérdida Esperada Anual</a:t>
            </a:r>
          </a:p>
        </p:txBody>
      </p:sp>
      <p:sp>
        <p:nvSpPr>
          <p:cNvPr id="77" name="Rectangle 18"/>
          <p:cNvSpPr>
            <a:spLocks noChangeArrowheads="1"/>
          </p:cNvSpPr>
          <p:nvPr/>
        </p:nvSpPr>
        <p:spPr bwMode="auto">
          <a:xfrm>
            <a:off x="2859920" y="4255955"/>
            <a:ext cx="1554480" cy="170094"/>
          </a:xfrm>
          <a:prstGeom prst="rect">
            <a:avLst/>
          </a:prstGeom>
          <a:solidFill>
            <a:schemeClr val="bg1"/>
          </a:solidFill>
          <a:ln w="9525" algn="ctr">
            <a:solidFill>
              <a:schemeClr val="bg2"/>
            </a:solidFill>
            <a:miter lim="800000"/>
            <a:headEnd/>
            <a:tailEnd/>
          </a:ln>
          <a:effectLst/>
        </p:spPr>
        <p:txBody>
          <a:bodyPr anchor="ctr"/>
          <a:lstStyle/>
          <a:p>
            <a:pPr algn="ctr"/>
            <a:r>
              <a:rPr lang="es-ES" sz="1100" dirty="0">
                <a:solidFill>
                  <a:srgbClr val="000000"/>
                </a:solidFill>
              </a:rPr>
              <a:t>s/. </a:t>
            </a:r>
            <a:r>
              <a:rPr lang="es-ES" sz="1100" dirty="0"/>
              <a:t>0 .00</a:t>
            </a:r>
            <a:endParaRPr lang="es-ES" sz="1100" dirty="0">
              <a:solidFill>
                <a:srgbClr val="000000"/>
              </a:solidFill>
            </a:endParaRPr>
          </a:p>
        </p:txBody>
      </p:sp>
      <p:sp>
        <p:nvSpPr>
          <p:cNvPr id="80" name="Rounded Rectangle 79"/>
          <p:cNvSpPr/>
          <p:nvPr/>
        </p:nvSpPr>
        <p:spPr>
          <a:xfrm>
            <a:off x="902959" y="4485567"/>
            <a:ext cx="1920240" cy="170094"/>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VaR Cualitativo Anual</a:t>
            </a:r>
          </a:p>
        </p:txBody>
      </p:sp>
      <p:sp>
        <p:nvSpPr>
          <p:cNvPr id="81" name="Rectangle 18"/>
          <p:cNvSpPr>
            <a:spLocks noChangeArrowheads="1"/>
          </p:cNvSpPr>
          <p:nvPr/>
        </p:nvSpPr>
        <p:spPr bwMode="auto">
          <a:xfrm>
            <a:off x="2859920" y="4485567"/>
            <a:ext cx="1554480" cy="170094"/>
          </a:xfrm>
          <a:prstGeom prst="rect">
            <a:avLst/>
          </a:prstGeom>
          <a:solidFill>
            <a:schemeClr val="bg1"/>
          </a:solidFill>
          <a:ln w="9525" algn="ctr">
            <a:solidFill>
              <a:schemeClr val="bg2"/>
            </a:solidFill>
            <a:miter lim="800000"/>
            <a:headEnd/>
            <a:tailEnd/>
          </a:ln>
          <a:effectLst/>
        </p:spPr>
        <p:txBody>
          <a:bodyPr anchor="ctr"/>
          <a:lstStyle/>
          <a:p>
            <a:pPr algn="ctr"/>
            <a:r>
              <a:rPr lang="es-ES" sz="1100" dirty="0"/>
              <a:t>s</a:t>
            </a:r>
            <a:r>
              <a:rPr lang="es-ES" sz="1100" dirty="0">
                <a:solidFill>
                  <a:srgbClr val="000000"/>
                </a:solidFill>
              </a:rPr>
              <a:t>/.</a:t>
            </a:r>
            <a:r>
              <a:rPr lang="es-ES" sz="1100" dirty="0"/>
              <a:t>0.00 </a:t>
            </a:r>
            <a:endParaRPr lang="es-ES" sz="1100" dirty="0">
              <a:solidFill>
                <a:srgbClr val="000000"/>
              </a:solidFill>
            </a:endParaRPr>
          </a:p>
        </p:txBody>
      </p:sp>
      <p:sp>
        <p:nvSpPr>
          <p:cNvPr id="82" name="Rounded Rectangle 81"/>
          <p:cNvSpPr/>
          <p:nvPr/>
        </p:nvSpPr>
        <p:spPr>
          <a:xfrm>
            <a:off x="891084" y="3553916"/>
            <a:ext cx="1920240" cy="170094"/>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Frecuencia  Evento Pérdida</a:t>
            </a:r>
          </a:p>
        </p:txBody>
      </p:sp>
      <p:sp>
        <p:nvSpPr>
          <p:cNvPr id="83" name="Rectangle 18"/>
          <p:cNvSpPr>
            <a:spLocks noChangeArrowheads="1"/>
          </p:cNvSpPr>
          <p:nvPr/>
        </p:nvSpPr>
        <p:spPr bwMode="auto">
          <a:xfrm>
            <a:off x="2859920" y="3553916"/>
            <a:ext cx="1554480" cy="170094"/>
          </a:xfrm>
          <a:prstGeom prst="rect">
            <a:avLst/>
          </a:prstGeom>
          <a:solidFill>
            <a:schemeClr val="bg1"/>
          </a:solidFill>
          <a:ln w="9525" algn="ctr">
            <a:solidFill>
              <a:schemeClr val="bg2"/>
            </a:solidFill>
            <a:miter lim="800000"/>
            <a:headEnd/>
            <a:tailEnd/>
          </a:ln>
          <a:effectLst/>
        </p:spPr>
        <p:txBody>
          <a:bodyPr anchor="ctr"/>
          <a:lstStyle/>
          <a:p>
            <a:pPr algn="ctr"/>
            <a:r>
              <a:rPr lang="es-ES" sz="1100" dirty="0">
                <a:solidFill>
                  <a:srgbClr val="000000"/>
                </a:solidFill>
              </a:rPr>
              <a:t>18 veces por año</a:t>
            </a:r>
          </a:p>
        </p:txBody>
      </p:sp>
      <p:sp>
        <p:nvSpPr>
          <p:cNvPr id="84" name="Rounded Rectangle 83"/>
          <p:cNvSpPr/>
          <p:nvPr/>
        </p:nvSpPr>
        <p:spPr>
          <a:xfrm>
            <a:off x="891084" y="3783528"/>
            <a:ext cx="1920240" cy="170094"/>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Impacto Medio Evento</a:t>
            </a:r>
          </a:p>
        </p:txBody>
      </p:sp>
      <p:sp>
        <p:nvSpPr>
          <p:cNvPr id="85" name="Rectangle 18"/>
          <p:cNvSpPr>
            <a:spLocks noChangeArrowheads="1"/>
          </p:cNvSpPr>
          <p:nvPr/>
        </p:nvSpPr>
        <p:spPr bwMode="auto">
          <a:xfrm>
            <a:off x="2859920" y="3783528"/>
            <a:ext cx="1554480" cy="170094"/>
          </a:xfrm>
          <a:prstGeom prst="rect">
            <a:avLst/>
          </a:prstGeom>
          <a:solidFill>
            <a:schemeClr val="bg1"/>
          </a:solidFill>
          <a:ln w="9525" algn="ctr">
            <a:solidFill>
              <a:schemeClr val="bg2"/>
            </a:solidFill>
            <a:miter lim="800000"/>
            <a:headEnd/>
            <a:tailEnd/>
          </a:ln>
          <a:effectLst/>
        </p:spPr>
        <p:txBody>
          <a:bodyPr anchor="ctr"/>
          <a:lstStyle/>
          <a:p>
            <a:pPr algn="ctr"/>
            <a:r>
              <a:rPr lang="es-ES" sz="1100" dirty="0">
                <a:solidFill>
                  <a:srgbClr val="000000"/>
                </a:solidFill>
              </a:rPr>
              <a:t>s/. </a:t>
            </a:r>
            <a:r>
              <a:rPr lang="es-ES" sz="1100" dirty="0"/>
              <a:t>0  .00 </a:t>
            </a:r>
            <a:endParaRPr lang="es-ES" sz="1100" dirty="0">
              <a:solidFill>
                <a:srgbClr val="000000"/>
              </a:solidFill>
            </a:endParaRPr>
          </a:p>
        </p:txBody>
      </p:sp>
      <p:sp>
        <p:nvSpPr>
          <p:cNvPr id="86" name="Rounded Rectangle 85"/>
          <p:cNvSpPr/>
          <p:nvPr/>
        </p:nvSpPr>
        <p:spPr>
          <a:xfrm>
            <a:off x="891084" y="4019108"/>
            <a:ext cx="1920240" cy="170094"/>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Impacto Peor Escenario</a:t>
            </a:r>
          </a:p>
        </p:txBody>
      </p:sp>
      <p:sp>
        <p:nvSpPr>
          <p:cNvPr id="87" name="Rectangle 18"/>
          <p:cNvSpPr>
            <a:spLocks noChangeArrowheads="1"/>
          </p:cNvSpPr>
          <p:nvPr/>
        </p:nvSpPr>
        <p:spPr bwMode="auto">
          <a:xfrm>
            <a:off x="2859920" y="4019108"/>
            <a:ext cx="1554480" cy="170094"/>
          </a:xfrm>
          <a:prstGeom prst="rect">
            <a:avLst/>
          </a:prstGeom>
          <a:solidFill>
            <a:schemeClr val="bg1"/>
          </a:solidFill>
          <a:ln w="9525" algn="ctr">
            <a:solidFill>
              <a:schemeClr val="bg2"/>
            </a:solidFill>
            <a:miter lim="800000"/>
            <a:headEnd/>
            <a:tailEnd/>
          </a:ln>
          <a:effectLst/>
        </p:spPr>
        <p:txBody>
          <a:bodyPr anchor="ctr"/>
          <a:lstStyle/>
          <a:p>
            <a:pPr algn="ctr"/>
            <a:r>
              <a:rPr lang="es-ES" sz="1100" dirty="0">
                <a:solidFill>
                  <a:srgbClr val="000000"/>
                </a:solidFill>
              </a:rPr>
              <a:t>s/. </a:t>
            </a:r>
            <a:r>
              <a:rPr lang="es-ES" sz="1100" dirty="0"/>
              <a:t>0 .00</a:t>
            </a:r>
            <a:endParaRPr lang="es-ES" sz="1100" dirty="0">
              <a:solidFill>
                <a:srgbClr val="000000"/>
              </a:solidFill>
            </a:endParaRPr>
          </a:p>
        </p:txBody>
      </p:sp>
      <p:sp>
        <p:nvSpPr>
          <p:cNvPr id="88" name="AutoShape 47"/>
          <p:cNvSpPr>
            <a:spLocks noChangeAspect="1" noChangeArrowheads="1"/>
          </p:cNvSpPr>
          <p:nvPr/>
        </p:nvSpPr>
        <p:spPr bwMode="blackWhite">
          <a:xfrm>
            <a:off x="263032" y="3482416"/>
            <a:ext cx="503986" cy="1274400"/>
          </a:xfrm>
          <a:prstGeom prst="rightArrow">
            <a:avLst>
              <a:gd name="adj1" fmla="val 100000"/>
              <a:gd name="adj2" fmla="val 11009"/>
            </a:avLst>
          </a:prstGeom>
          <a:solidFill>
            <a:srgbClr val="969696"/>
          </a:solidFill>
          <a:ln w="12700">
            <a:noFill/>
            <a:miter lim="800000"/>
            <a:headEnd/>
            <a:tailEnd/>
          </a:ln>
          <a:effectLst>
            <a:outerShdw dist="35921" dir="2700000" algn="ctr" rotWithShape="0">
              <a:schemeClr val="bg2"/>
            </a:outerShdw>
          </a:effectLst>
        </p:spPr>
        <p:txBody>
          <a:bodyPr vert="vert270" anchor="ctr"/>
          <a:lstStyle/>
          <a:p>
            <a:pPr algn="ctr">
              <a:lnSpc>
                <a:spcPts val="1000"/>
              </a:lnSpc>
            </a:pPr>
            <a:r>
              <a:rPr lang="es-ES" sz="1100" b="1" noProof="1">
                <a:solidFill>
                  <a:srgbClr val="FFFFFF"/>
                </a:solidFill>
                <a:cs typeface="Arial" charset="0"/>
              </a:rPr>
              <a:t>Evaluación Riesgo Operacional</a:t>
            </a:r>
          </a:p>
        </p:txBody>
      </p:sp>
      <p:sp>
        <p:nvSpPr>
          <p:cNvPr id="89" name="AutoShape 179"/>
          <p:cNvSpPr>
            <a:spLocks noChangeArrowheads="1"/>
          </p:cNvSpPr>
          <p:nvPr/>
        </p:nvSpPr>
        <p:spPr bwMode="auto">
          <a:xfrm>
            <a:off x="4932039" y="3493021"/>
            <a:ext cx="4037169" cy="864000"/>
          </a:xfrm>
          <a:prstGeom prst="roundRect">
            <a:avLst>
              <a:gd name="adj" fmla="val 9481"/>
            </a:avLst>
          </a:prstGeom>
          <a:solidFill>
            <a:schemeClr val="accent1">
              <a:lumMod val="20000"/>
              <a:lumOff val="80000"/>
            </a:schemeClr>
          </a:solidFill>
          <a:ln w="9525" algn="ctr">
            <a:noFill/>
            <a:round/>
            <a:headEnd/>
            <a:tailEnd/>
          </a:ln>
          <a:effectLst/>
        </p:spPr>
        <p:txBody>
          <a:bodyPr wrap="none" anchor="ctr"/>
          <a:lstStyle/>
          <a:p>
            <a:endParaRPr lang="es-CL">
              <a:solidFill>
                <a:srgbClr val="002060"/>
              </a:solidFill>
            </a:endParaRPr>
          </a:p>
        </p:txBody>
      </p:sp>
      <p:sp>
        <p:nvSpPr>
          <p:cNvPr id="90" name="AutoShape 47"/>
          <p:cNvSpPr>
            <a:spLocks noChangeArrowheads="1"/>
          </p:cNvSpPr>
          <p:nvPr/>
        </p:nvSpPr>
        <p:spPr bwMode="blackWhite">
          <a:xfrm>
            <a:off x="4678512" y="3494523"/>
            <a:ext cx="353942" cy="864000"/>
          </a:xfrm>
          <a:prstGeom prst="rightArrow">
            <a:avLst>
              <a:gd name="adj1" fmla="val 100000"/>
              <a:gd name="adj2" fmla="val 11009"/>
            </a:avLst>
          </a:prstGeom>
          <a:solidFill>
            <a:srgbClr val="969696"/>
          </a:solidFill>
          <a:ln w="12700">
            <a:noFill/>
            <a:miter lim="800000"/>
            <a:headEnd/>
            <a:tailEnd/>
          </a:ln>
          <a:effectLst>
            <a:outerShdw dist="35921" dir="2700000" algn="ctr" rotWithShape="0">
              <a:schemeClr val="bg2"/>
            </a:outerShdw>
          </a:effectLst>
        </p:spPr>
        <p:txBody>
          <a:bodyPr vert="vert270" anchor="ctr"/>
          <a:lstStyle/>
          <a:p>
            <a:pPr algn="ctr">
              <a:lnSpc>
                <a:spcPts val="1000"/>
              </a:lnSpc>
            </a:pPr>
            <a:r>
              <a:rPr lang="es-ES" sz="1100" b="1" noProof="1">
                <a:solidFill>
                  <a:srgbClr val="FFFFFF"/>
                </a:solidFill>
                <a:cs typeface="Arial" charset="0"/>
              </a:rPr>
              <a:t>Impacto Reputacional</a:t>
            </a:r>
          </a:p>
        </p:txBody>
      </p:sp>
      <p:sp>
        <p:nvSpPr>
          <p:cNvPr id="91" name="Rectangle 18"/>
          <p:cNvSpPr>
            <a:spLocks noChangeArrowheads="1"/>
          </p:cNvSpPr>
          <p:nvPr/>
        </p:nvSpPr>
        <p:spPr bwMode="auto">
          <a:xfrm>
            <a:off x="8334310" y="3568288"/>
            <a:ext cx="548640" cy="170094"/>
          </a:xfrm>
          <a:prstGeom prst="rect">
            <a:avLst/>
          </a:prstGeom>
          <a:solidFill>
            <a:schemeClr val="bg1"/>
          </a:solidFill>
          <a:ln w="9525" algn="ctr">
            <a:solidFill>
              <a:schemeClr val="bg2"/>
            </a:solidFill>
            <a:miter lim="800000"/>
            <a:headEnd/>
            <a:tailEnd/>
          </a:ln>
          <a:effectLst/>
        </p:spPr>
        <p:txBody>
          <a:bodyPr anchor="ctr"/>
          <a:lstStyle/>
          <a:p>
            <a:pPr algn="ctr"/>
            <a:r>
              <a:rPr lang="es-ES" sz="1100" dirty="0">
                <a:solidFill>
                  <a:srgbClr val="002060"/>
                </a:solidFill>
              </a:rPr>
              <a:t>1</a:t>
            </a:r>
          </a:p>
        </p:txBody>
      </p:sp>
      <p:sp>
        <p:nvSpPr>
          <p:cNvPr id="92" name="Rounded Rectangle 91"/>
          <p:cNvSpPr/>
          <p:nvPr/>
        </p:nvSpPr>
        <p:spPr>
          <a:xfrm>
            <a:off x="5102950" y="3568288"/>
            <a:ext cx="3132000" cy="170094"/>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Afectación a contrapartes</a:t>
            </a:r>
          </a:p>
        </p:txBody>
      </p:sp>
      <p:sp>
        <p:nvSpPr>
          <p:cNvPr id="93" name="Rectangle 18"/>
          <p:cNvSpPr>
            <a:spLocks noChangeArrowheads="1"/>
          </p:cNvSpPr>
          <p:nvPr/>
        </p:nvSpPr>
        <p:spPr bwMode="auto">
          <a:xfrm>
            <a:off x="5102950" y="3786445"/>
            <a:ext cx="3780000" cy="469509"/>
          </a:xfrm>
          <a:prstGeom prst="rect">
            <a:avLst/>
          </a:prstGeom>
          <a:solidFill>
            <a:schemeClr val="bg1"/>
          </a:solidFill>
          <a:ln w="9525" algn="ctr">
            <a:solidFill>
              <a:schemeClr val="bg2"/>
            </a:solidFill>
            <a:miter lim="800000"/>
            <a:headEnd/>
            <a:tailEnd/>
          </a:ln>
          <a:effectLst/>
        </p:spPr>
        <p:txBody>
          <a:bodyPr anchor="ctr"/>
          <a:lstStyle/>
          <a:p>
            <a:r>
              <a:rPr lang="es-ES" sz="1100" dirty="0">
                <a:solidFill>
                  <a:srgbClr val="000000"/>
                </a:solidFill>
              </a:rPr>
              <a:t>La exposición de la imagen es únicamente interna y limitada.</a:t>
            </a:r>
          </a:p>
        </p:txBody>
      </p:sp>
      <p:sp>
        <p:nvSpPr>
          <p:cNvPr id="94" name="Text Box 30"/>
          <p:cNvSpPr txBox="1">
            <a:spLocks noChangeArrowheads="1"/>
          </p:cNvSpPr>
          <p:nvPr/>
        </p:nvSpPr>
        <p:spPr bwMode="auto">
          <a:xfrm>
            <a:off x="190746" y="4838419"/>
            <a:ext cx="3996000" cy="276999"/>
          </a:xfrm>
          <a:prstGeom prst="rect">
            <a:avLst/>
          </a:prstGeom>
          <a:noFill/>
          <a:ln w="9525" algn="ctr">
            <a:noFill/>
            <a:miter lim="800000"/>
            <a:headEnd/>
            <a:tailEnd/>
          </a:ln>
          <a:effectLst/>
        </p:spPr>
        <p:txBody>
          <a:bodyPr wrap="square">
            <a:spAutoFit/>
          </a:bodyPr>
          <a:lstStyle/>
          <a:p>
            <a:pPr>
              <a:spcBef>
                <a:spcPct val="50000"/>
              </a:spcBef>
            </a:pPr>
            <a:r>
              <a:rPr lang="es-CL" sz="1200" b="1" i="1" dirty="0">
                <a:solidFill>
                  <a:srgbClr val="A3A3E0"/>
                </a:solidFill>
              </a:rPr>
              <a:t>Resultados valoración de controles / factores mitigantes</a:t>
            </a:r>
            <a:endParaRPr lang="es-ES" sz="1200" b="1" i="1" dirty="0">
              <a:solidFill>
                <a:srgbClr val="A3A3E0"/>
              </a:solidFill>
            </a:endParaRPr>
          </a:p>
        </p:txBody>
      </p:sp>
      <p:sp>
        <p:nvSpPr>
          <p:cNvPr id="98" name="AutoShape 179"/>
          <p:cNvSpPr>
            <a:spLocks noChangeArrowheads="1"/>
          </p:cNvSpPr>
          <p:nvPr/>
        </p:nvSpPr>
        <p:spPr bwMode="auto">
          <a:xfrm>
            <a:off x="4927319" y="4397237"/>
            <a:ext cx="4037169" cy="1136379"/>
          </a:xfrm>
          <a:prstGeom prst="roundRect">
            <a:avLst>
              <a:gd name="adj" fmla="val 9481"/>
            </a:avLst>
          </a:prstGeom>
          <a:solidFill>
            <a:schemeClr val="accent1">
              <a:lumMod val="20000"/>
              <a:lumOff val="80000"/>
            </a:schemeClr>
          </a:solidFill>
          <a:ln w="9525" algn="ctr">
            <a:noFill/>
            <a:round/>
            <a:headEnd/>
            <a:tailEnd/>
          </a:ln>
          <a:effectLst/>
        </p:spPr>
        <p:txBody>
          <a:bodyPr wrap="none" anchor="ctr"/>
          <a:lstStyle/>
          <a:p>
            <a:endParaRPr lang="es-CL">
              <a:solidFill>
                <a:srgbClr val="002060"/>
              </a:solidFill>
            </a:endParaRPr>
          </a:p>
        </p:txBody>
      </p:sp>
      <p:sp>
        <p:nvSpPr>
          <p:cNvPr id="99" name="AutoShape 47"/>
          <p:cNvSpPr>
            <a:spLocks noChangeArrowheads="1"/>
          </p:cNvSpPr>
          <p:nvPr/>
        </p:nvSpPr>
        <p:spPr bwMode="blackWhite">
          <a:xfrm>
            <a:off x="4673792" y="4398739"/>
            <a:ext cx="352800" cy="1136379"/>
          </a:xfrm>
          <a:prstGeom prst="rightArrow">
            <a:avLst>
              <a:gd name="adj1" fmla="val 100000"/>
              <a:gd name="adj2" fmla="val 11009"/>
            </a:avLst>
          </a:prstGeom>
          <a:solidFill>
            <a:srgbClr val="969696"/>
          </a:solidFill>
          <a:ln w="12700">
            <a:noFill/>
            <a:miter lim="800000"/>
            <a:headEnd/>
            <a:tailEnd/>
          </a:ln>
          <a:effectLst>
            <a:outerShdw dist="35921" dir="2700000" algn="ctr" rotWithShape="0">
              <a:schemeClr val="bg2"/>
            </a:outerShdw>
          </a:effectLst>
        </p:spPr>
        <p:txBody>
          <a:bodyPr vert="vert270" anchor="ctr"/>
          <a:lstStyle/>
          <a:p>
            <a:pPr algn="ctr">
              <a:lnSpc>
                <a:spcPts val="1000"/>
              </a:lnSpc>
            </a:pPr>
            <a:r>
              <a:rPr lang="es-ES" sz="1100" b="1" noProof="1">
                <a:solidFill>
                  <a:srgbClr val="FFFFFF"/>
                </a:solidFill>
                <a:cs typeface="Arial" charset="0"/>
              </a:rPr>
              <a:t>Cuestionarios</a:t>
            </a:r>
          </a:p>
        </p:txBody>
      </p:sp>
      <p:sp>
        <p:nvSpPr>
          <p:cNvPr id="101" name="Rounded Rectangle 38"/>
          <p:cNvSpPr/>
          <p:nvPr/>
        </p:nvSpPr>
        <p:spPr>
          <a:xfrm>
            <a:off x="5098230" y="4472505"/>
            <a:ext cx="3132000" cy="170094"/>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Criterios de Evaluación</a:t>
            </a:r>
          </a:p>
        </p:txBody>
      </p:sp>
      <p:sp>
        <p:nvSpPr>
          <p:cNvPr id="102" name="AutoShape 179"/>
          <p:cNvSpPr>
            <a:spLocks noChangeArrowheads="1"/>
          </p:cNvSpPr>
          <p:nvPr/>
        </p:nvSpPr>
        <p:spPr bwMode="auto">
          <a:xfrm>
            <a:off x="534831" y="5060900"/>
            <a:ext cx="4037169" cy="864000"/>
          </a:xfrm>
          <a:prstGeom prst="roundRect">
            <a:avLst>
              <a:gd name="adj" fmla="val 9481"/>
            </a:avLst>
          </a:prstGeom>
          <a:solidFill>
            <a:schemeClr val="accent1">
              <a:lumMod val="20000"/>
              <a:lumOff val="80000"/>
            </a:schemeClr>
          </a:solidFill>
          <a:ln w="9525" algn="ctr">
            <a:noFill/>
            <a:round/>
            <a:headEnd/>
            <a:tailEnd/>
          </a:ln>
          <a:effectLst/>
        </p:spPr>
        <p:txBody>
          <a:bodyPr wrap="none" anchor="ctr"/>
          <a:lstStyle/>
          <a:p>
            <a:endParaRPr lang="es-CL">
              <a:solidFill>
                <a:srgbClr val="002060"/>
              </a:solidFill>
            </a:endParaRPr>
          </a:p>
        </p:txBody>
      </p:sp>
      <p:sp>
        <p:nvSpPr>
          <p:cNvPr id="103" name="AutoShape 47"/>
          <p:cNvSpPr>
            <a:spLocks noChangeArrowheads="1"/>
          </p:cNvSpPr>
          <p:nvPr/>
        </p:nvSpPr>
        <p:spPr bwMode="blackWhite">
          <a:xfrm>
            <a:off x="281304" y="5062402"/>
            <a:ext cx="353942" cy="864000"/>
          </a:xfrm>
          <a:prstGeom prst="rightArrow">
            <a:avLst>
              <a:gd name="adj1" fmla="val 100000"/>
              <a:gd name="adj2" fmla="val 11009"/>
            </a:avLst>
          </a:prstGeom>
          <a:solidFill>
            <a:srgbClr val="969696"/>
          </a:solidFill>
          <a:ln w="12700">
            <a:noFill/>
            <a:miter lim="800000"/>
            <a:headEnd/>
            <a:tailEnd/>
          </a:ln>
          <a:effectLst>
            <a:outerShdw dist="35921" dir="2700000" algn="ctr" rotWithShape="0">
              <a:schemeClr val="bg2"/>
            </a:outerShdw>
          </a:effectLst>
        </p:spPr>
        <p:txBody>
          <a:bodyPr vert="vert270" anchor="ctr"/>
          <a:lstStyle/>
          <a:p>
            <a:pPr algn="ctr">
              <a:lnSpc>
                <a:spcPts val="1000"/>
              </a:lnSpc>
            </a:pPr>
            <a:r>
              <a:rPr lang="es-ES" sz="1100" b="1" noProof="1">
                <a:solidFill>
                  <a:srgbClr val="FFFFFF"/>
                </a:solidFill>
                <a:cs typeface="Arial" charset="0"/>
              </a:rPr>
              <a:t>Evaluación de Controles</a:t>
            </a:r>
          </a:p>
        </p:txBody>
      </p:sp>
      <p:sp>
        <p:nvSpPr>
          <p:cNvPr id="104" name="Rectangle 18"/>
          <p:cNvSpPr>
            <a:spLocks noChangeArrowheads="1"/>
          </p:cNvSpPr>
          <p:nvPr/>
        </p:nvSpPr>
        <p:spPr bwMode="auto">
          <a:xfrm>
            <a:off x="3937102" y="5136167"/>
            <a:ext cx="548640" cy="170094"/>
          </a:xfrm>
          <a:prstGeom prst="rect">
            <a:avLst/>
          </a:prstGeom>
          <a:solidFill>
            <a:schemeClr val="bg1"/>
          </a:solidFill>
          <a:ln w="9525" algn="ctr">
            <a:solidFill>
              <a:schemeClr val="bg2"/>
            </a:solidFill>
            <a:miter lim="800000"/>
            <a:headEnd/>
            <a:tailEnd/>
          </a:ln>
          <a:effectLst/>
        </p:spPr>
        <p:txBody>
          <a:bodyPr anchor="ctr"/>
          <a:lstStyle/>
          <a:p>
            <a:pPr algn="ctr"/>
            <a:r>
              <a:rPr lang="es-ES" sz="1100" dirty="0">
                <a:solidFill>
                  <a:srgbClr val="002060"/>
                </a:solidFill>
              </a:rPr>
              <a:t>1</a:t>
            </a:r>
          </a:p>
        </p:txBody>
      </p:sp>
      <p:sp>
        <p:nvSpPr>
          <p:cNvPr id="105" name="Rounded Rectangle 38"/>
          <p:cNvSpPr/>
          <p:nvPr/>
        </p:nvSpPr>
        <p:spPr>
          <a:xfrm>
            <a:off x="705742" y="5136167"/>
            <a:ext cx="3132000" cy="170094"/>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Controles asociados al riesgo</a:t>
            </a:r>
          </a:p>
        </p:txBody>
      </p:sp>
      <p:sp>
        <p:nvSpPr>
          <p:cNvPr id="106" name="Rectangle 18"/>
          <p:cNvSpPr>
            <a:spLocks noChangeArrowheads="1"/>
          </p:cNvSpPr>
          <p:nvPr/>
        </p:nvSpPr>
        <p:spPr bwMode="auto">
          <a:xfrm>
            <a:off x="5102950" y="4685678"/>
            <a:ext cx="3780000" cy="671497"/>
          </a:xfrm>
          <a:prstGeom prst="rect">
            <a:avLst/>
          </a:prstGeom>
          <a:solidFill>
            <a:schemeClr val="bg1"/>
          </a:solidFill>
          <a:ln w="9525" algn="ctr">
            <a:solidFill>
              <a:schemeClr val="bg2"/>
            </a:solidFill>
            <a:miter lim="800000"/>
            <a:headEnd/>
            <a:tailEnd/>
          </a:ln>
          <a:effectLst/>
        </p:spPr>
        <p:txBody>
          <a:bodyPr anchor="ctr"/>
          <a:lstStyle/>
          <a:p>
            <a:pPr algn="just"/>
            <a:r>
              <a:rPr lang="es-ES" sz="1000" dirty="0"/>
              <a:t>El Experto no asume pérdidas  ya que si la operación se ingresa mal simplemente no debería poder ser liquidada (operaciones del exterior). En operaciones que no liquidan en sistemas automáticos (operaciones locales), el Back Office confirma previamente con la contraparte para no liquidar montos distintos a los negociados.</a:t>
            </a:r>
          </a:p>
        </p:txBody>
      </p:sp>
      <p:sp>
        <p:nvSpPr>
          <p:cNvPr id="107" name="Rectangle 18"/>
          <p:cNvSpPr>
            <a:spLocks noChangeArrowheads="1"/>
          </p:cNvSpPr>
          <p:nvPr/>
        </p:nvSpPr>
        <p:spPr bwMode="auto">
          <a:xfrm>
            <a:off x="705742" y="5357175"/>
            <a:ext cx="3780000" cy="469509"/>
          </a:xfrm>
          <a:prstGeom prst="rect">
            <a:avLst/>
          </a:prstGeom>
          <a:solidFill>
            <a:schemeClr val="bg1"/>
          </a:solidFill>
          <a:ln w="9525" algn="ctr">
            <a:solidFill>
              <a:schemeClr val="bg2"/>
            </a:solidFill>
            <a:miter lim="800000"/>
            <a:headEnd/>
            <a:tailEnd/>
          </a:ln>
          <a:effectLst/>
        </p:spPr>
        <p:txBody>
          <a:bodyPr anchor="ctr"/>
          <a:lstStyle/>
          <a:p>
            <a:r>
              <a:rPr lang="es-ES" sz="1100" dirty="0">
                <a:solidFill>
                  <a:srgbClr val="000000"/>
                </a:solidFill>
              </a:rPr>
              <a:t>Revisión de los datos generados en la operativa por parte de Back Office (Analista de Operaciones de Inversión)</a:t>
            </a:r>
          </a:p>
        </p:txBody>
      </p:sp>
    </p:spTree>
    <p:extLst>
      <p:ext uri="{BB962C8B-B14F-4D97-AF65-F5344CB8AC3E}">
        <p14:creationId xmlns:p14="http://schemas.microsoft.com/office/powerpoint/2010/main" val="31250325"/>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dirty="0"/>
              <a:t>Anexo: Ficha Individual Riesgos Operacionales</a:t>
            </a:r>
          </a:p>
        </p:txBody>
      </p:sp>
      <p:sp>
        <p:nvSpPr>
          <p:cNvPr id="3" name="AutoShape 179"/>
          <p:cNvSpPr>
            <a:spLocks noChangeArrowheads="1"/>
          </p:cNvSpPr>
          <p:nvPr/>
        </p:nvSpPr>
        <p:spPr bwMode="auto">
          <a:xfrm>
            <a:off x="611560" y="3471897"/>
            <a:ext cx="3960812" cy="1371600"/>
          </a:xfrm>
          <a:prstGeom prst="roundRect">
            <a:avLst>
              <a:gd name="adj" fmla="val 9481"/>
            </a:avLst>
          </a:prstGeom>
          <a:solidFill>
            <a:schemeClr val="accent1">
              <a:lumMod val="20000"/>
              <a:lumOff val="80000"/>
            </a:schemeClr>
          </a:solidFill>
          <a:ln w="9525" algn="ctr">
            <a:noFill/>
            <a:round/>
            <a:headEnd/>
            <a:tailEnd/>
          </a:ln>
          <a:effectLst/>
        </p:spPr>
        <p:txBody>
          <a:bodyPr wrap="none" anchor="ctr"/>
          <a:lstStyle/>
          <a:p>
            <a:endParaRPr lang="es-CL">
              <a:solidFill>
                <a:srgbClr val="002060"/>
              </a:solidFill>
            </a:endParaRPr>
          </a:p>
        </p:txBody>
      </p:sp>
      <p:sp>
        <p:nvSpPr>
          <p:cNvPr id="4" name="Rounded Rectangle 3"/>
          <p:cNvSpPr/>
          <p:nvPr/>
        </p:nvSpPr>
        <p:spPr>
          <a:xfrm>
            <a:off x="214497" y="764704"/>
            <a:ext cx="397063" cy="274320"/>
          </a:xfrm>
          <a:prstGeom prst="roundRect">
            <a:avLst/>
          </a:prstGeom>
          <a:solidFill>
            <a:srgbClr val="DB0613"/>
          </a:solidFill>
          <a:ln w="9525" algn="ctr">
            <a:noFill/>
            <a:miter lim="800000"/>
            <a:headEnd/>
            <a:tailEnd/>
          </a:ln>
          <a:effectLst/>
        </p:spPr>
        <p:txBody>
          <a:bodyPr anchor="ctr"/>
          <a:lstStyle/>
          <a:p>
            <a:pPr algn="ctr">
              <a:lnSpc>
                <a:spcPct val="80000"/>
              </a:lnSpc>
            </a:pPr>
            <a:r>
              <a:rPr lang="es-CL" sz="1200" b="1" dirty="0">
                <a:solidFill>
                  <a:srgbClr val="FFFFFF"/>
                </a:solidFill>
                <a:cs typeface="Arial" pitchFamily="34" charset="0"/>
              </a:rPr>
              <a:t>27</a:t>
            </a:r>
          </a:p>
        </p:txBody>
      </p:sp>
      <p:sp>
        <p:nvSpPr>
          <p:cNvPr id="5" name="Rectangle 18"/>
          <p:cNvSpPr>
            <a:spLocks noChangeArrowheads="1"/>
          </p:cNvSpPr>
          <p:nvPr/>
        </p:nvSpPr>
        <p:spPr bwMode="auto">
          <a:xfrm>
            <a:off x="227770" y="2409552"/>
            <a:ext cx="6400800" cy="839807"/>
          </a:xfrm>
          <a:prstGeom prst="rect">
            <a:avLst/>
          </a:prstGeom>
          <a:noFill/>
          <a:ln w="9525" algn="ctr">
            <a:solidFill>
              <a:schemeClr val="bg2"/>
            </a:solidFill>
            <a:miter lim="800000"/>
            <a:headEnd/>
            <a:tailEnd/>
          </a:ln>
          <a:effectLst/>
        </p:spPr>
        <p:txBody>
          <a:bodyPr/>
          <a:lstStyle/>
          <a:p>
            <a:r>
              <a:rPr lang="es-ES" sz="1100" dirty="0"/>
              <a:t>Falla en la elaboración de cartas para traspaso de fondos e ingreso de datos en PMS. </a:t>
            </a:r>
            <a:endParaRPr lang="es-ES" sz="1100" dirty="0">
              <a:solidFill>
                <a:srgbClr val="002060"/>
              </a:solidFill>
            </a:endParaRPr>
          </a:p>
        </p:txBody>
      </p:sp>
      <p:sp>
        <p:nvSpPr>
          <p:cNvPr id="7" name="Text Box 30"/>
          <p:cNvSpPr txBox="1">
            <a:spLocks noChangeArrowheads="1"/>
          </p:cNvSpPr>
          <p:nvPr/>
        </p:nvSpPr>
        <p:spPr bwMode="auto">
          <a:xfrm>
            <a:off x="190747" y="3235757"/>
            <a:ext cx="3671888" cy="276999"/>
          </a:xfrm>
          <a:prstGeom prst="rect">
            <a:avLst/>
          </a:prstGeom>
          <a:noFill/>
          <a:ln w="9525" algn="ctr">
            <a:noFill/>
            <a:miter lim="800000"/>
            <a:headEnd/>
            <a:tailEnd/>
          </a:ln>
          <a:effectLst/>
        </p:spPr>
        <p:txBody>
          <a:bodyPr>
            <a:spAutoFit/>
          </a:bodyPr>
          <a:lstStyle/>
          <a:p>
            <a:pPr>
              <a:spcBef>
                <a:spcPct val="50000"/>
              </a:spcBef>
            </a:pPr>
            <a:r>
              <a:rPr lang="es-CL" sz="1200" b="1" i="1" dirty="0">
                <a:solidFill>
                  <a:srgbClr val="A3A3E0"/>
                </a:solidFill>
              </a:rPr>
              <a:t>Resultados valoración de riesgos</a:t>
            </a:r>
            <a:endParaRPr lang="es-ES" sz="1200" b="1" i="1" dirty="0">
              <a:solidFill>
                <a:srgbClr val="A3A3E0"/>
              </a:solidFill>
            </a:endParaRPr>
          </a:p>
        </p:txBody>
      </p:sp>
      <p:sp>
        <p:nvSpPr>
          <p:cNvPr id="8" name="Rounded Rectangle 7"/>
          <p:cNvSpPr/>
          <p:nvPr/>
        </p:nvSpPr>
        <p:spPr>
          <a:xfrm>
            <a:off x="652842" y="764704"/>
            <a:ext cx="8321040" cy="274320"/>
          </a:xfrm>
          <a:prstGeom prst="roundRect">
            <a:avLst/>
          </a:prstGeom>
          <a:solidFill>
            <a:srgbClr val="DB0613"/>
          </a:solidFill>
          <a:ln w="9525" algn="ctr">
            <a:noFill/>
            <a:miter lim="800000"/>
            <a:headEnd/>
            <a:tailEnd/>
          </a:ln>
          <a:effectLst/>
        </p:spPr>
        <p:txBody>
          <a:bodyPr anchor="ctr"/>
          <a:lstStyle/>
          <a:p>
            <a:pPr>
              <a:lnSpc>
                <a:spcPct val="80000"/>
              </a:lnSpc>
            </a:pPr>
            <a:r>
              <a:rPr lang="es-ES" sz="1200" dirty="0">
                <a:solidFill>
                  <a:schemeClr val="bg1"/>
                </a:solidFill>
              </a:rPr>
              <a:t>Falla en la elaboración de cartas para traspaso de fondos e ingreso de datos en PMS . </a:t>
            </a:r>
            <a:endParaRPr lang="es-CL" sz="1200" b="1" dirty="0">
              <a:solidFill>
                <a:schemeClr val="bg1"/>
              </a:solidFill>
              <a:cs typeface="Arial" pitchFamily="34" charset="0"/>
            </a:endParaRPr>
          </a:p>
        </p:txBody>
      </p:sp>
      <p:sp>
        <p:nvSpPr>
          <p:cNvPr id="9" name="Rounded Rectangle 8"/>
          <p:cNvSpPr/>
          <p:nvPr/>
        </p:nvSpPr>
        <p:spPr>
          <a:xfrm>
            <a:off x="227770" y="2202383"/>
            <a:ext cx="64008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Descripción</a:t>
            </a:r>
          </a:p>
        </p:txBody>
      </p:sp>
      <p:sp>
        <p:nvSpPr>
          <p:cNvPr id="10" name="Rounded Rectangle 9"/>
          <p:cNvSpPr/>
          <p:nvPr/>
        </p:nvSpPr>
        <p:spPr>
          <a:xfrm>
            <a:off x="6716066" y="1089119"/>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Categoría  de Riesgo Nivel I</a:t>
            </a:r>
          </a:p>
        </p:txBody>
      </p:sp>
      <p:sp>
        <p:nvSpPr>
          <p:cNvPr id="11" name="Rectangle 18"/>
          <p:cNvSpPr>
            <a:spLocks noChangeArrowheads="1"/>
          </p:cNvSpPr>
          <p:nvPr/>
        </p:nvSpPr>
        <p:spPr bwMode="auto">
          <a:xfrm>
            <a:off x="6716066" y="1316374"/>
            <a:ext cx="2286000" cy="365760"/>
          </a:xfrm>
          <a:prstGeom prst="rect">
            <a:avLst/>
          </a:prstGeom>
          <a:noFill/>
          <a:ln w="9525" algn="ctr">
            <a:solidFill>
              <a:schemeClr val="bg2"/>
            </a:solidFill>
            <a:miter lim="800000"/>
            <a:headEnd/>
            <a:tailEnd/>
          </a:ln>
          <a:effectLst/>
        </p:spPr>
        <p:txBody>
          <a:bodyPr anchor="ctr"/>
          <a:lstStyle/>
          <a:p>
            <a:pPr>
              <a:lnSpc>
                <a:spcPts val="1000"/>
              </a:lnSpc>
            </a:pPr>
            <a:r>
              <a:rPr lang="es-ES" sz="1100" dirty="0"/>
              <a:t>Ejecución, entrega y gestión de procesos</a:t>
            </a:r>
          </a:p>
        </p:txBody>
      </p:sp>
      <p:sp>
        <p:nvSpPr>
          <p:cNvPr id="12" name="Rounded Rectangle 11"/>
          <p:cNvSpPr/>
          <p:nvPr/>
        </p:nvSpPr>
        <p:spPr>
          <a:xfrm>
            <a:off x="6716066" y="1725169"/>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Categoría de Riesgo Nivel II</a:t>
            </a:r>
          </a:p>
        </p:txBody>
      </p:sp>
      <p:sp>
        <p:nvSpPr>
          <p:cNvPr id="13" name="Rectangle 18"/>
          <p:cNvSpPr>
            <a:spLocks noChangeArrowheads="1"/>
          </p:cNvSpPr>
          <p:nvPr/>
        </p:nvSpPr>
        <p:spPr bwMode="auto">
          <a:xfrm>
            <a:off x="6716066" y="1942710"/>
            <a:ext cx="2286000" cy="274320"/>
          </a:xfrm>
          <a:prstGeom prst="rect">
            <a:avLst/>
          </a:prstGeom>
          <a:noFill/>
          <a:ln w="9525" algn="ctr">
            <a:solidFill>
              <a:schemeClr val="bg2"/>
            </a:solidFill>
            <a:miter lim="800000"/>
            <a:headEnd/>
            <a:tailEnd/>
          </a:ln>
          <a:effectLst/>
        </p:spPr>
        <p:txBody>
          <a:bodyPr anchor="ctr"/>
          <a:lstStyle/>
          <a:p>
            <a:r>
              <a:rPr lang="es-ES" sz="1100" dirty="0"/>
              <a:t>Recepción, ejecución y mantenimiento de operaciones</a:t>
            </a:r>
          </a:p>
        </p:txBody>
      </p:sp>
      <p:grpSp>
        <p:nvGrpSpPr>
          <p:cNvPr id="6" name="Group 72"/>
          <p:cNvGrpSpPr/>
          <p:nvPr/>
        </p:nvGrpSpPr>
        <p:grpSpPr>
          <a:xfrm>
            <a:off x="6716066" y="2243313"/>
            <a:ext cx="2286000" cy="504056"/>
            <a:chOff x="6716066" y="2972444"/>
            <a:chExt cx="2286000" cy="504056"/>
          </a:xfrm>
        </p:grpSpPr>
        <p:sp>
          <p:nvSpPr>
            <p:cNvPr id="15" name="Rounded Rectangle 14"/>
            <p:cNvSpPr/>
            <p:nvPr/>
          </p:nvSpPr>
          <p:spPr>
            <a:xfrm>
              <a:off x="6716066" y="2972444"/>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Categoría de Riesgo Nivel III</a:t>
              </a:r>
            </a:p>
          </p:txBody>
        </p:sp>
        <p:sp>
          <p:nvSpPr>
            <p:cNvPr id="16" name="Rectangle 18"/>
            <p:cNvSpPr>
              <a:spLocks noChangeArrowheads="1"/>
            </p:cNvSpPr>
            <p:nvPr/>
          </p:nvSpPr>
          <p:spPr bwMode="auto">
            <a:xfrm>
              <a:off x="6716066" y="3202180"/>
              <a:ext cx="2286000" cy="274320"/>
            </a:xfrm>
            <a:prstGeom prst="rect">
              <a:avLst/>
            </a:prstGeom>
            <a:noFill/>
            <a:ln w="9525" algn="ctr">
              <a:solidFill>
                <a:schemeClr val="bg2"/>
              </a:solidFill>
              <a:miter lim="800000"/>
              <a:headEnd/>
              <a:tailEnd/>
            </a:ln>
            <a:effectLst/>
          </p:spPr>
          <p:txBody>
            <a:bodyPr anchor="ctr"/>
            <a:lstStyle/>
            <a:p>
              <a:r>
                <a:rPr lang="es-ES" sz="1100" dirty="0"/>
                <a:t>Incorrecta ejecución de tareas / obligaciones</a:t>
              </a:r>
            </a:p>
          </p:txBody>
        </p:sp>
      </p:grpSp>
      <p:sp>
        <p:nvSpPr>
          <p:cNvPr id="17" name="Rounded Rectangle 16"/>
          <p:cNvSpPr/>
          <p:nvPr/>
        </p:nvSpPr>
        <p:spPr>
          <a:xfrm>
            <a:off x="227770" y="1110038"/>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Macroproceso</a:t>
            </a:r>
          </a:p>
        </p:txBody>
      </p:sp>
      <p:sp>
        <p:nvSpPr>
          <p:cNvPr id="18" name="Rectangle 18"/>
          <p:cNvSpPr>
            <a:spLocks noChangeArrowheads="1"/>
          </p:cNvSpPr>
          <p:nvPr/>
        </p:nvSpPr>
        <p:spPr bwMode="auto">
          <a:xfrm>
            <a:off x="2568409" y="1110038"/>
            <a:ext cx="4060161" cy="182880"/>
          </a:xfrm>
          <a:prstGeom prst="rect">
            <a:avLst/>
          </a:prstGeom>
          <a:noFill/>
          <a:ln w="9525" algn="ctr">
            <a:solidFill>
              <a:schemeClr val="bg2"/>
            </a:solidFill>
            <a:miter lim="800000"/>
            <a:headEnd/>
            <a:tailEnd/>
          </a:ln>
          <a:effectLst/>
        </p:spPr>
        <p:txBody>
          <a:bodyPr anchor="ctr"/>
          <a:lstStyle/>
          <a:p>
            <a:r>
              <a:rPr lang="es-ES" sz="1100" dirty="0"/>
              <a:t>Administración de Portafolio de Inversiones</a:t>
            </a:r>
          </a:p>
        </p:txBody>
      </p:sp>
      <p:sp>
        <p:nvSpPr>
          <p:cNvPr id="19" name="Rounded Rectangle 18"/>
          <p:cNvSpPr/>
          <p:nvPr/>
        </p:nvSpPr>
        <p:spPr>
          <a:xfrm>
            <a:off x="227770" y="1339045"/>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Proceso</a:t>
            </a:r>
          </a:p>
        </p:txBody>
      </p:sp>
      <p:sp>
        <p:nvSpPr>
          <p:cNvPr id="20" name="Rectangle 18"/>
          <p:cNvSpPr>
            <a:spLocks noChangeArrowheads="1"/>
          </p:cNvSpPr>
          <p:nvPr/>
        </p:nvSpPr>
        <p:spPr bwMode="auto">
          <a:xfrm>
            <a:off x="2568409" y="1339045"/>
            <a:ext cx="4060161" cy="182880"/>
          </a:xfrm>
          <a:prstGeom prst="rect">
            <a:avLst/>
          </a:prstGeom>
          <a:noFill/>
          <a:ln w="9525" algn="ctr">
            <a:solidFill>
              <a:schemeClr val="bg2"/>
            </a:solidFill>
            <a:miter lim="800000"/>
            <a:headEnd/>
            <a:tailEnd/>
          </a:ln>
          <a:effectLst/>
        </p:spPr>
        <p:txBody>
          <a:bodyPr anchor="ctr"/>
          <a:lstStyle/>
          <a:p>
            <a:r>
              <a:rPr lang="es-ES" sz="1100" dirty="0"/>
              <a:t>Administración de fondos</a:t>
            </a:r>
          </a:p>
        </p:txBody>
      </p:sp>
      <p:sp>
        <p:nvSpPr>
          <p:cNvPr id="21" name="Rectangle 29"/>
          <p:cNvSpPr>
            <a:spLocks noChangeArrowheads="1"/>
          </p:cNvSpPr>
          <p:nvPr/>
        </p:nvSpPr>
        <p:spPr bwMode="auto">
          <a:xfrm>
            <a:off x="107504" y="3360215"/>
            <a:ext cx="8961120" cy="1607926"/>
          </a:xfrm>
          <a:prstGeom prst="rect">
            <a:avLst/>
          </a:prstGeom>
          <a:noFill/>
          <a:ln w="19050" cap="rnd" algn="ctr">
            <a:solidFill>
              <a:schemeClr val="bg2"/>
            </a:solidFill>
            <a:prstDash val="sysDot"/>
            <a:miter lim="800000"/>
            <a:headEnd/>
            <a:tailEnd/>
          </a:ln>
          <a:effectLst/>
        </p:spPr>
        <p:txBody>
          <a:bodyPr wrap="none" anchor="ctr"/>
          <a:lstStyle/>
          <a:p>
            <a:endParaRPr lang="en-US">
              <a:solidFill>
                <a:srgbClr val="002060"/>
              </a:solidFill>
            </a:endParaRPr>
          </a:p>
        </p:txBody>
      </p:sp>
      <p:sp>
        <p:nvSpPr>
          <p:cNvPr id="22" name="Rounded Rectangle 21"/>
          <p:cNvSpPr/>
          <p:nvPr/>
        </p:nvSpPr>
        <p:spPr>
          <a:xfrm>
            <a:off x="902959" y="4318663"/>
            <a:ext cx="1920240" cy="182880"/>
          </a:xfrm>
          <a:prstGeom prst="roundRect">
            <a:avLst/>
          </a:prstGeom>
          <a:solidFill>
            <a:srgbClr val="DB0613"/>
          </a:solidFill>
          <a:ln w="9525" algn="ctr">
            <a:noFill/>
            <a:miter lim="800000"/>
            <a:headEnd/>
            <a:tailEnd/>
          </a:ln>
          <a:effectLst/>
        </p:spPr>
        <p:txBody>
          <a:bodyPr tIns="91440" anchor="ctr"/>
          <a:lstStyle/>
          <a:p>
            <a:pPr>
              <a:lnSpc>
                <a:spcPct val="80000"/>
              </a:lnSpc>
            </a:pPr>
            <a:r>
              <a:rPr lang="es-CL" sz="1100" b="1" dirty="0">
                <a:solidFill>
                  <a:srgbClr val="FFFFFF"/>
                </a:solidFill>
                <a:cs typeface="Arial" pitchFamily="34" charset="0"/>
              </a:rPr>
              <a:t>Pérdida Esperada Anual</a:t>
            </a:r>
          </a:p>
        </p:txBody>
      </p:sp>
      <p:sp>
        <p:nvSpPr>
          <p:cNvPr id="23" name="Rectangle 18"/>
          <p:cNvSpPr>
            <a:spLocks noChangeArrowheads="1"/>
          </p:cNvSpPr>
          <p:nvPr/>
        </p:nvSpPr>
        <p:spPr bwMode="auto">
          <a:xfrm>
            <a:off x="2859920" y="4318663"/>
            <a:ext cx="1554480" cy="182880"/>
          </a:xfrm>
          <a:prstGeom prst="rect">
            <a:avLst/>
          </a:prstGeom>
          <a:solidFill>
            <a:schemeClr val="bg1"/>
          </a:solidFill>
          <a:ln w="9525" algn="ctr">
            <a:solidFill>
              <a:schemeClr val="bg2"/>
            </a:solidFill>
            <a:miter lim="800000"/>
            <a:headEnd/>
            <a:tailEnd/>
          </a:ln>
          <a:effectLst/>
        </p:spPr>
        <p:txBody>
          <a:bodyPr anchor="ctr"/>
          <a:lstStyle/>
          <a:p>
            <a:pPr algn="ctr"/>
            <a:r>
              <a:rPr lang="es-ES" sz="1100" dirty="0"/>
              <a:t>S/. 0.00</a:t>
            </a:r>
          </a:p>
        </p:txBody>
      </p:sp>
      <p:sp>
        <p:nvSpPr>
          <p:cNvPr id="24" name="Rounded Rectangle 23"/>
          <p:cNvSpPr/>
          <p:nvPr/>
        </p:nvSpPr>
        <p:spPr>
          <a:xfrm>
            <a:off x="902959" y="4548275"/>
            <a:ext cx="192024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VaR Cualitativo Anual</a:t>
            </a:r>
          </a:p>
        </p:txBody>
      </p:sp>
      <p:sp>
        <p:nvSpPr>
          <p:cNvPr id="25" name="Rectangle 18"/>
          <p:cNvSpPr>
            <a:spLocks noChangeArrowheads="1"/>
          </p:cNvSpPr>
          <p:nvPr/>
        </p:nvSpPr>
        <p:spPr bwMode="auto">
          <a:xfrm>
            <a:off x="2859920" y="4548275"/>
            <a:ext cx="1554480" cy="182880"/>
          </a:xfrm>
          <a:prstGeom prst="rect">
            <a:avLst/>
          </a:prstGeom>
          <a:solidFill>
            <a:schemeClr val="bg1"/>
          </a:solidFill>
          <a:ln w="9525" algn="ctr">
            <a:solidFill>
              <a:schemeClr val="bg2"/>
            </a:solidFill>
            <a:miter lim="800000"/>
            <a:headEnd/>
            <a:tailEnd/>
          </a:ln>
          <a:effectLst/>
        </p:spPr>
        <p:txBody>
          <a:bodyPr anchor="ctr"/>
          <a:lstStyle/>
          <a:p>
            <a:pPr algn="ctr"/>
            <a:r>
              <a:rPr lang="es-ES" sz="1100" dirty="0"/>
              <a:t>S/. 0.00</a:t>
            </a:r>
          </a:p>
        </p:txBody>
      </p:sp>
      <p:sp>
        <p:nvSpPr>
          <p:cNvPr id="26" name="Rounded Rectangle 25"/>
          <p:cNvSpPr/>
          <p:nvPr/>
        </p:nvSpPr>
        <p:spPr>
          <a:xfrm>
            <a:off x="891084" y="3555277"/>
            <a:ext cx="192024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Frecuencia  Evento Pérdida</a:t>
            </a:r>
          </a:p>
        </p:txBody>
      </p:sp>
      <p:sp>
        <p:nvSpPr>
          <p:cNvPr id="27" name="Rectangle 18"/>
          <p:cNvSpPr>
            <a:spLocks noChangeArrowheads="1"/>
          </p:cNvSpPr>
          <p:nvPr/>
        </p:nvSpPr>
        <p:spPr bwMode="auto">
          <a:xfrm>
            <a:off x="2859920" y="3555277"/>
            <a:ext cx="1554480" cy="182880"/>
          </a:xfrm>
          <a:prstGeom prst="rect">
            <a:avLst/>
          </a:prstGeom>
          <a:solidFill>
            <a:schemeClr val="bg1"/>
          </a:solidFill>
          <a:ln w="9525" algn="ctr">
            <a:solidFill>
              <a:schemeClr val="bg2"/>
            </a:solidFill>
            <a:miter lim="800000"/>
            <a:headEnd/>
            <a:tailEnd/>
          </a:ln>
          <a:effectLst/>
        </p:spPr>
        <p:txBody>
          <a:bodyPr anchor="ctr"/>
          <a:lstStyle/>
          <a:p>
            <a:pPr algn="ctr"/>
            <a:r>
              <a:rPr lang="es-ES" sz="1100" dirty="0"/>
              <a:t>5 a la semana</a:t>
            </a:r>
          </a:p>
        </p:txBody>
      </p:sp>
      <p:sp>
        <p:nvSpPr>
          <p:cNvPr id="28" name="Rounded Rectangle 27"/>
          <p:cNvSpPr/>
          <p:nvPr/>
        </p:nvSpPr>
        <p:spPr>
          <a:xfrm>
            <a:off x="891084" y="3784889"/>
            <a:ext cx="192024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Impacto Medio Evento</a:t>
            </a:r>
          </a:p>
        </p:txBody>
      </p:sp>
      <p:sp>
        <p:nvSpPr>
          <p:cNvPr id="29" name="Rectangle 18"/>
          <p:cNvSpPr>
            <a:spLocks noChangeArrowheads="1"/>
          </p:cNvSpPr>
          <p:nvPr/>
        </p:nvSpPr>
        <p:spPr bwMode="auto">
          <a:xfrm>
            <a:off x="2859920" y="3784889"/>
            <a:ext cx="1554480" cy="182880"/>
          </a:xfrm>
          <a:prstGeom prst="rect">
            <a:avLst/>
          </a:prstGeom>
          <a:solidFill>
            <a:schemeClr val="bg1"/>
          </a:solidFill>
          <a:ln w="9525" algn="ctr">
            <a:solidFill>
              <a:schemeClr val="bg2"/>
            </a:solidFill>
            <a:miter lim="800000"/>
            <a:headEnd/>
            <a:tailEnd/>
          </a:ln>
          <a:effectLst/>
        </p:spPr>
        <p:txBody>
          <a:bodyPr anchor="ctr"/>
          <a:lstStyle/>
          <a:p>
            <a:pPr algn="ctr"/>
            <a:r>
              <a:rPr lang="es-ES" sz="1100" dirty="0"/>
              <a:t>S/. 0.00</a:t>
            </a:r>
          </a:p>
        </p:txBody>
      </p:sp>
      <p:sp>
        <p:nvSpPr>
          <p:cNvPr id="30" name="Rounded Rectangle 29"/>
          <p:cNvSpPr/>
          <p:nvPr/>
        </p:nvSpPr>
        <p:spPr>
          <a:xfrm>
            <a:off x="891084" y="4020469"/>
            <a:ext cx="192024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Impacto Peor Escenario</a:t>
            </a:r>
          </a:p>
        </p:txBody>
      </p:sp>
      <p:sp>
        <p:nvSpPr>
          <p:cNvPr id="31" name="Rectangle 18"/>
          <p:cNvSpPr>
            <a:spLocks noChangeArrowheads="1"/>
          </p:cNvSpPr>
          <p:nvPr/>
        </p:nvSpPr>
        <p:spPr bwMode="auto">
          <a:xfrm>
            <a:off x="2859920" y="4020469"/>
            <a:ext cx="1554480" cy="182880"/>
          </a:xfrm>
          <a:prstGeom prst="rect">
            <a:avLst/>
          </a:prstGeom>
          <a:solidFill>
            <a:schemeClr val="bg1"/>
          </a:solidFill>
          <a:ln w="9525" algn="ctr">
            <a:solidFill>
              <a:schemeClr val="bg2"/>
            </a:solidFill>
            <a:miter lim="800000"/>
            <a:headEnd/>
            <a:tailEnd/>
          </a:ln>
          <a:effectLst/>
        </p:spPr>
        <p:txBody>
          <a:bodyPr anchor="ctr"/>
          <a:lstStyle/>
          <a:p>
            <a:pPr algn="ctr"/>
            <a:r>
              <a:rPr lang="es-ES" sz="1100" dirty="0"/>
              <a:t>S/. 0.00</a:t>
            </a:r>
          </a:p>
        </p:txBody>
      </p:sp>
      <p:sp>
        <p:nvSpPr>
          <p:cNvPr id="32" name="AutoShape 47"/>
          <p:cNvSpPr>
            <a:spLocks noChangeAspect="1" noChangeArrowheads="1"/>
          </p:cNvSpPr>
          <p:nvPr/>
        </p:nvSpPr>
        <p:spPr bwMode="blackWhite">
          <a:xfrm>
            <a:off x="263033" y="3469622"/>
            <a:ext cx="492543" cy="1339083"/>
          </a:xfrm>
          <a:prstGeom prst="rightArrow">
            <a:avLst>
              <a:gd name="adj1" fmla="val 100000"/>
              <a:gd name="adj2" fmla="val 11009"/>
            </a:avLst>
          </a:prstGeom>
          <a:solidFill>
            <a:srgbClr val="969696"/>
          </a:solidFill>
          <a:ln w="12700">
            <a:noFill/>
            <a:miter lim="800000"/>
            <a:headEnd/>
            <a:tailEnd/>
          </a:ln>
          <a:effectLst>
            <a:outerShdw dist="35921" dir="2700000" algn="ctr" rotWithShape="0">
              <a:schemeClr val="bg2"/>
            </a:outerShdw>
          </a:effectLst>
        </p:spPr>
        <p:txBody>
          <a:bodyPr vert="vert270" anchor="ctr"/>
          <a:lstStyle/>
          <a:p>
            <a:pPr algn="ctr">
              <a:lnSpc>
                <a:spcPts val="1000"/>
              </a:lnSpc>
            </a:pPr>
            <a:r>
              <a:rPr lang="es-ES" sz="1200" b="1" noProof="1">
                <a:solidFill>
                  <a:srgbClr val="FFFFFF"/>
                </a:solidFill>
                <a:cs typeface="Arial" charset="0"/>
              </a:rPr>
              <a:t>Evaluación Riesgo Operacional</a:t>
            </a:r>
          </a:p>
        </p:txBody>
      </p:sp>
      <p:sp>
        <p:nvSpPr>
          <p:cNvPr id="59" name="Rounded Rectangle 58"/>
          <p:cNvSpPr/>
          <p:nvPr/>
        </p:nvSpPr>
        <p:spPr>
          <a:xfrm>
            <a:off x="223049" y="1554311"/>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Subproceso</a:t>
            </a:r>
          </a:p>
        </p:txBody>
      </p:sp>
      <p:sp>
        <p:nvSpPr>
          <p:cNvPr id="60" name="Rectangle 18"/>
          <p:cNvSpPr>
            <a:spLocks noChangeArrowheads="1"/>
          </p:cNvSpPr>
          <p:nvPr/>
        </p:nvSpPr>
        <p:spPr bwMode="auto">
          <a:xfrm>
            <a:off x="2563688" y="1554311"/>
            <a:ext cx="4064882" cy="182880"/>
          </a:xfrm>
          <a:prstGeom prst="rect">
            <a:avLst/>
          </a:prstGeom>
          <a:noFill/>
          <a:ln w="9525" algn="ctr">
            <a:solidFill>
              <a:schemeClr val="bg2"/>
            </a:solidFill>
            <a:miter lim="800000"/>
            <a:headEnd/>
            <a:tailEnd/>
          </a:ln>
          <a:effectLst/>
        </p:spPr>
        <p:txBody>
          <a:bodyPr anchor="ctr"/>
          <a:lstStyle/>
          <a:p>
            <a:r>
              <a:rPr lang="es-ES" sz="1100" dirty="0"/>
              <a:t>Ejecución de propuesta de inversión</a:t>
            </a:r>
          </a:p>
        </p:txBody>
      </p:sp>
      <p:sp>
        <p:nvSpPr>
          <p:cNvPr id="57" name="Rounded Rectangle 56"/>
          <p:cNvSpPr/>
          <p:nvPr/>
        </p:nvSpPr>
        <p:spPr>
          <a:xfrm>
            <a:off x="223049" y="1771093"/>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Línea de Negocio</a:t>
            </a:r>
          </a:p>
        </p:txBody>
      </p:sp>
      <p:sp>
        <p:nvSpPr>
          <p:cNvPr id="58" name="Rectangle 18"/>
          <p:cNvSpPr>
            <a:spLocks noChangeArrowheads="1"/>
          </p:cNvSpPr>
          <p:nvPr/>
        </p:nvSpPr>
        <p:spPr bwMode="auto">
          <a:xfrm>
            <a:off x="2563688" y="1771093"/>
            <a:ext cx="4064882" cy="182880"/>
          </a:xfrm>
          <a:prstGeom prst="rect">
            <a:avLst/>
          </a:prstGeom>
          <a:noFill/>
          <a:ln w="9525" algn="ctr">
            <a:solidFill>
              <a:schemeClr val="bg2"/>
            </a:solidFill>
            <a:miter lim="800000"/>
            <a:headEnd/>
            <a:tailEnd/>
          </a:ln>
          <a:effectLst/>
        </p:spPr>
        <p:txBody>
          <a:bodyPr anchor="ctr"/>
          <a:lstStyle/>
          <a:p>
            <a:r>
              <a:rPr lang="es-ES" sz="1100" dirty="0"/>
              <a:t>Negociación y ventas</a:t>
            </a:r>
          </a:p>
        </p:txBody>
      </p:sp>
      <p:sp>
        <p:nvSpPr>
          <p:cNvPr id="61" name="Rounded Rectangle 60"/>
          <p:cNvSpPr/>
          <p:nvPr/>
        </p:nvSpPr>
        <p:spPr>
          <a:xfrm>
            <a:off x="223049" y="1986359"/>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Responsable</a:t>
            </a:r>
          </a:p>
        </p:txBody>
      </p:sp>
      <p:sp>
        <p:nvSpPr>
          <p:cNvPr id="62" name="Rectangle 18"/>
          <p:cNvSpPr>
            <a:spLocks noChangeArrowheads="1"/>
          </p:cNvSpPr>
          <p:nvPr/>
        </p:nvSpPr>
        <p:spPr bwMode="auto">
          <a:xfrm>
            <a:off x="2558967" y="1986359"/>
            <a:ext cx="4069603" cy="182880"/>
          </a:xfrm>
          <a:prstGeom prst="rect">
            <a:avLst/>
          </a:prstGeom>
          <a:noFill/>
          <a:ln w="9525" algn="ctr">
            <a:solidFill>
              <a:schemeClr val="bg2"/>
            </a:solidFill>
            <a:miter lim="800000"/>
            <a:headEnd/>
            <a:tailEnd/>
          </a:ln>
          <a:effectLst/>
        </p:spPr>
        <p:txBody>
          <a:bodyPr anchor="ctr"/>
          <a:lstStyle/>
          <a:p>
            <a:r>
              <a:rPr lang="es-ES" sz="1100" dirty="0"/>
              <a:t>Secretaria de GGA de Inversiones</a:t>
            </a:r>
          </a:p>
        </p:txBody>
      </p:sp>
      <p:sp>
        <p:nvSpPr>
          <p:cNvPr id="64" name="AutoShape 179"/>
          <p:cNvSpPr>
            <a:spLocks noChangeArrowheads="1"/>
          </p:cNvSpPr>
          <p:nvPr/>
        </p:nvSpPr>
        <p:spPr bwMode="auto">
          <a:xfrm>
            <a:off x="4932039" y="3473891"/>
            <a:ext cx="4037169" cy="864000"/>
          </a:xfrm>
          <a:prstGeom prst="roundRect">
            <a:avLst>
              <a:gd name="adj" fmla="val 9481"/>
            </a:avLst>
          </a:prstGeom>
          <a:solidFill>
            <a:schemeClr val="accent1">
              <a:lumMod val="20000"/>
              <a:lumOff val="80000"/>
            </a:schemeClr>
          </a:solidFill>
          <a:ln w="9525" algn="ctr">
            <a:noFill/>
            <a:round/>
            <a:headEnd/>
            <a:tailEnd/>
          </a:ln>
          <a:effectLst/>
        </p:spPr>
        <p:txBody>
          <a:bodyPr wrap="none" anchor="ctr"/>
          <a:lstStyle/>
          <a:p>
            <a:endParaRPr lang="es-CL">
              <a:solidFill>
                <a:srgbClr val="002060"/>
              </a:solidFill>
            </a:endParaRPr>
          </a:p>
        </p:txBody>
      </p:sp>
      <p:sp>
        <p:nvSpPr>
          <p:cNvPr id="65" name="AutoShape 47"/>
          <p:cNvSpPr>
            <a:spLocks noChangeArrowheads="1"/>
          </p:cNvSpPr>
          <p:nvPr/>
        </p:nvSpPr>
        <p:spPr bwMode="blackWhite">
          <a:xfrm>
            <a:off x="4678512" y="3475393"/>
            <a:ext cx="353942" cy="864000"/>
          </a:xfrm>
          <a:prstGeom prst="rightArrow">
            <a:avLst>
              <a:gd name="adj1" fmla="val 100000"/>
              <a:gd name="adj2" fmla="val 11009"/>
            </a:avLst>
          </a:prstGeom>
          <a:solidFill>
            <a:srgbClr val="969696"/>
          </a:solidFill>
          <a:ln w="12700">
            <a:noFill/>
            <a:miter lim="800000"/>
            <a:headEnd/>
            <a:tailEnd/>
          </a:ln>
          <a:effectLst>
            <a:outerShdw dist="35921" dir="2700000" algn="ctr" rotWithShape="0">
              <a:schemeClr val="bg2"/>
            </a:outerShdw>
          </a:effectLst>
        </p:spPr>
        <p:txBody>
          <a:bodyPr vert="vert270" anchor="ctr"/>
          <a:lstStyle/>
          <a:p>
            <a:pPr algn="ctr">
              <a:lnSpc>
                <a:spcPts val="1000"/>
              </a:lnSpc>
            </a:pPr>
            <a:r>
              <a:rPr lang="es-ES" sz="1100" b="1" noProof="1">
                <a:solidFill>
                  <a:srgbClr val="FFFFFF"/>
                </a:solidFill>
                <a:cs typeface="Arial" charset="0"/>
              </a:rPr>
              <a:t>Impacto Reputacional</a:t>
            </a:r>
          </a:p>
        </p:txBody>
      </p:sp>
      <p:sp>
        <p:nvSpPr>
          <p:cNvPr id="66" name="Rectangle 18"/>
          <p:cNvSpPr>
            <a:spLocks noChangeArrowheads="1"/>
          </p:cNvSpPr>
          <p:nvPr/>
        </p:nvSpPr>
        <p:spPr bwMode="auto">
          <a:xfrm>
            <a:off x="8334310" y="3549158"/>
            <a:ext cx="548640" cy="170094"/>
          </a:xfrm>
          <a:prstGeom prst="rect">
            <a:avLst/>
          </a:prstGeom>
          <a:solidFill>
            <a:schemeClr val="bg1"/>
          </a:solidFill>
          <a:ln w="9525" algn="ctr">
            <a:solidFill>
              <a:schemeClr val="bg2"/>
            </a:solidFill>
            <a:miter lim="800000"/>
            <a:headEnd/>
            <a:tailEnd/>
          </a:ln>
          <a:effectLst/>
        </p:spPr>
        <p:txBody>
          <a:bodyPr anchor="ctr"/>
          <a:lstStyle/>
          <a:p>
            <a:pPr algn="ctr"/>
            <a:r>
              <a:rPr lang="es-ES" sz="1100" dirty="0"/>
              <a:t>1</a:t>
            </a:r>
          </a:p>
        </p:txBody>
      </p:sp>
      <p:sp>
        <p:nvSpPr>
          <p:cNvPr id="67" name="Rounded Rectangle 66"/>
          <p:cNvSpPr/>
          <p:nvPr/>
        </p:nvSpPr>
        <p:spPr>
          <a:xfrm>
            <a:off x="5102950" y="3549158"/>
            <a:ext cx="3132000" cy="170094"/>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Afectación a Clientes</a:t>
            </a:r>
          </a:p>
        </p:txBody>
      </p:sp>
      <p:sp>
        <p:nvSpPr>
          <p:cNvPr id="68" name="Rectangle 18"/>
          <p:cNvSpPr>
            <a:spLocks noChangeArrowheads="1"/>
          </p:cNvSpPr>
          <p:nvPr/>
        </p:nvSpPr>
        <p:spPr bwMode="auto">
          <a:xfrm>
            <a:off x="5102950" y="3767315"/>
            <a:ext cx="3780000" cy="469509"/>
          </a:xfrm>
          <a:prstGeom prst="rect">
            <a:avLst/>
          </a:prstGeom>
          <a:solidFill>
            <a:schemeClr val="bg1"/>
          </a:solidFill>
          <a:ln w="9525" algn="ctr">
            <a:solidFill>
              <a:schemeClr val="bg2"/>
            </a:solidFill>
            <a:miter lim="800000"/>
            <a:headEnd/>
            <a:tailEnd/>
          </a:ln>
          <a:effectLst/>
        </p:spPr>
        <p:txBody>
          <a:bodyPr anchor="ctr"/>
          <a:lstStyle/>
          <a:p>
            <a:r>
              <a:rPr lang="es-ES" sz="1100" dirty="0">
                <a:solidFill>
                  <a:srgbClr val="000000"/>
                </a:solidFill>
              </a:rPr>
              <a:t>La exposición de la imagen es únicamente interna y limitada.</a:t>
            </a:r>
          </a:p>
        </p:txBody>
      </p:sp>
      <p:sp>
        <p:nvSpPr>
          <p:cNvPr id="72" name="AutoShape 179"/>
          <p:cNvSpPr>
            <a:spLocks noChangeArrowheads="1"/>
          </p:cNvSpPr>
          <p:nvPr/>
        </p:nvSpPr>
        <p:spPr bwMode="auto">
          <a:xfrm>
            <a:off x="4927319" y="4378108"/>
            <a:ext cx="4037169" cy="892800"/>
          </a:xfrm>
          <a:prstGeom prst="roundRect">
            <a:avLst>
              <a:gd name="adj" fmla="val 9481"/>
            </a:avLst>
          </a:prstGeom>
          <a:solidFill>
            <a:schemeClr val="accent1">
              <a:lumMod val="20000"/>
              <a:lumOff val="80000"/>
            </a:schemeClr>
          </a:solidFill>
          <a:ln w="9525" algn="ctr">
            <a:noFill/>
            <a:round/>
            <a:headEnd/>
            <a:tailEnd/>
          </a:ln>
          <a:effectLst/>
        </p:spPr>
        <p:txBody>
          <a:bodyPr wrap="none" anchor="ctr"/>
          <a:lstStyle/>
          <a:p>
            <a:endParaRPr lang="es-CL">
              <a:solidFill>
                <a:srgbClr val="002060"/>
              </a:solidFill>
            </a:endParaRPr>
          </a:p>
        </p:txBody>
      </p:sp>
      <p:sp>
        <p:nvSpPr>
          <p:cNvPr id="73" name="AutoShape 47"/>
          <p:cNvSpPr>
            <a:spLocks noChangeArrowheads="1"/>
          </p:cNvSpPr>
          <p:nvPr/>
        </p:nvSpPr>
        <p:spPr bwMode="blackWhite">
          <a:xfrm>
            <a:off x="4673792" y="4379610"/>
            <a:ext cx="352800" cy="892800"/>
          </a:xfrm>
          <a:prstGeom prst="rightArrow">
            <a:avLst>
              <a:gd name="adj1" fmla="val 100000"/>
              <a:gd name="adj2" fmla="val 11009"/>
            </a:avLst>
          </a:prstGeom>
          <a:solidFill>
            <a:srgbClr val="969696"/>
          </a:solidFill>
          <a:ln w="12700">
            <a:noFill/>
            <a:miter lim="800000"/>
            <a:headEnd/>
            <a:tailEnd/>
          </a:ln>
          <a:effectLst>
            <a:outerShdw dist="35921" dir="2700000" algn="ctr" rotWithShape="0">
              <a:schemeClr val="bg2"/>
            </a:outerShdw>
          </a:effectLst>
        </p:spPr>
        <p:txBody>
          <a:bodyPr vert="vert270" anchor="ctr"/>
          <a:lstStyle/>
          <a:p>
            <a:pPr algn="ctr">
              <a:lnSpc>
                <a:spcPts val="1000"/>
              </a:lnSpc>
            </a:pPr>
            <a:r>
              <a:rPr lang="es-ES" sz="1100" b="1" noProof="1">
                <a:solidFill>
                  <a:srgbClr val="FFFFFF"/>
                </a:solidFill>
                <a:cs typeface="Arial" charset="0"/>
              </a:rPr>
              <a:t>Cuestionarios</a:t>
            </a:r>
          </a:p>
        </p:txBody>
      </p:sp>
      <p:sp>
        <p:nvSpPr>
          <p:cNvPr id="75" name="Rounded Rectangle 38"/>
          <p:cNvSpPr/>
          <p:nvPr/>
        </p:nvSpPr>
        <p:spPr>
          <a:xfrm>
            <a:off x="5098230" y="4453375"/>
            <a:ext cx="3132000" cy="170094"/>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Criterios de Evaluación</a:t>
            </a:r>
          </a:p>
        </p:txBody>
      </p:sp>
      <p:sp>
        <p:nvSpPr>
          <p:cNvPr id="76" name="Rectangle 18"/>
          <p:cNvSpPr>
            <a:spLocks noChangeArrowheads="1"/>
          </p:cNvSpPr>
          <p:nvPr/>
        </p:nvSpPr>
        <p:spPr bwMode="auto">
          <a:xfrm>
            <a:off x="5102950" y="4666548"/>
            <a:ext cx="3780000" cy="469509"/>
          </a:xfrm>
          <a:prstGeom prst="rect">
            <a:avLst/>
          </a:prstGeom>
          <a:solidFill>
            <a:schemeClr val="bg1"/>
          </a:solidFill>
          <a:ln w="9525" algn="ctr">
            <a:solidFill>
              <a:schemeClr val="bg2"/>
            </a:solidFill>
            <a:miter lim="800000"/>
            <a:headEnd/>
            <a:tailEnd/>
          </a:ln>
          <a:effectLst/>
        </p:spPr>
        <p:txBody>
          <a:bodyPr anchor="ctr"/>
          <a:lstStyle/>
          <a:p>
            <a:r>
              <a:rPr lang="es-ES" sz="1050" dirty="0"/>
              <a:t>La pérdida es prácticamente nula, ya que existe un a confirmación por parte del Back Office.</a:t>
            </a:r>
          </a:p>
        </p:txBody>
      </p:sp>
      <p:sp>
        <p:nvSpPr>
          <p:cNvPr id="77" name="Rounded Rectangle 14"/>
          <p:cNvSpPr/>
          <p:nvPr/>
        </p:nvSpPr>
        <p:spPr>
          <a:xfrm>
            <a:off x="6716066" y="2817311"/>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Origen del Riesgo</a:t>
            </a:r>
          </a:p>
        </p:txBody>
      </p:sp>
      <p:sp>
        <p:nvSpPr>
          <p:cNvPr id="78" name="Rectangle 18"/>
          <p:cNvSpPr>
            <a:spLocks noChangeArrowheads="1"/>
          </p:cNvSpPr>
          <p:nvPr/>
        </p:nvSpPr>
        <p:spPr bwMode="auto">
          <a:xfrm>
            <a:off x="6716066" y="3032576"/>
            <a:ext cx="2286000" cy="270000"/>
          </a:xfrm>
          <a:prstGeom prst="rect">
            <a:avLst/>
          </a:prstGeom>
          <a:noFill/>
          <a:ln w="9525" algn="ctr">
            <a:solidFill>
              <a:schemeClr val="bg2"/>
            </a:solidFill>
            <a:miter lim="800000"/>
            <a:headEnd/>
            <a:tailEnd/>
          </a:ln>
          <a:effectLst/>
        </p:spPr>
        <p:txBody>
          <a:bodyPr anchor="ctr"/>
          <a:lstStyle/>
          <a:p>
            <a:r>
              <a:rPr lang="es-PE" sz="1100" dirty="0">
                <a:solidFill>
                  <a:srgbClr val="000000"/>
                </a:solidFill>
              </a:rPr>
              <a:t>Personas</a:t>
            </a:r>
            <a:endParaRPr lang="es-ES" sz="1100" dirty="0">
              <a:solidFill>
                <a:srgbClr val="000000"/>
              </a:solidFill>
            </a:endParaRPr>
          </a:p>
        </p:txBody>
      </p:sp>
      <p:sp>
        <p:nvSpPr>
          <p:cNvPr id="79" name="Text Box 30"/>
          <p:cNvSpPr txBox="1">
            <a:spLocks noChangeArrowheads="1"/>
          </p:cNvSpPr>
          <p:nvPr/>
        </p:nvSpPr>
        <p:spPr bwMode="auto">
          <a:xfrm>
            <a:off x="190746" y="4914051"/>
            <a:ext cx="3996000" cy="276999"/>
          </a:xfrm>
          <a:prstGeom prst="rect">
            <a:avLst/>
          </a:prstGeom>
          <a:noFill/>
          <a:ln w="9525" algn="ctr">
            <a:noFill/>
            <a:miter lim="800000"/>
            <a:headEnd/>
            <a:tailEnd/>
          </a:ln>
          <a:effectLst/>
        </p:spPr>
        <p:txBody>
          <a:bodyPr wrap="square">
            <a:spAutoFit/>
          </a:bodyPr>
          <a:lstStyle/>
          <a:p>
            <a:pPr>
              <a:spcBef>
                <a:spcPct val="50000"/>
              </a:spcBef>
            </a:pPr>
            <a:r>
              <a:rPr lang="es-CL" sz="1200" b="1" i="1" dirty="0">
                <a:solidFill>
                  <a:srgbClr val="A3A3E0"/>
                </a:solidFill>
              </a:rPr>
              <a:t>Resultados valoración de controles / factores mitigantes</a:t>
            </a:r>
            <a:endParaRPr lang="es-ES" sz="1200" b="1" i="1" dirty="0">
              <a:solidFill>
                <a:srgbClr val="A3A3E0"/>
              </a:solidFill>
            </a:endParaRPr>
          </a:p>
        </p:txBody>
      </p:sp>
      <p:sp>
        <p:nvSpPr>
          <p:cNvPr id="80" name="AutoShape 179"/>
          <p:cNvSpPr>
            <a:spLocks noChangeArrowheads="1"/>
          </p:cNvSpPr>
          <p:nvPr/>
        </p:nvSpPr>
        <p:spPr bwMode="auto">
          <a:xfrm>
            <a:off x="534831" y="5136532"/>
            <a:ext cx="4037169" cy="864000"/>
          </a:xfrm>
          <a:prstGeom prst="roundRect">
            <a:avLst>
              <a:gd name="adj" fmla="val 9481"/>
            </a:avLst>
          </a:prstGeom>
          <a:solidFill>
            <a:schemeClr val="accent1">
              <a:lumMod val="20000"/>
              <a:lumOff val="80000"/>
            </a:schemeClr>
          </a:solidFill>
          <a:ln w="9525" algn="ctr">
            <a:noFill/>
            <a:round/>
            <a:headEnd/>
            <a:tailEnd/>
          </a:ln>
          <a:effectLst/>
        </p:spPr>
        <p:txBody>
          <a:bodyPr wrap="none" anchor="ctr"/>
          <a:lstStyle/>
          <a:p>
            <a:endParaRPr lang="es-CL">
              <a:solidFill>
                <a:srgbClr val="002060"/>
              </a:solidFill>
            </a:endParaRPr>
          </a:p>
        </p:txBody>
      </p:sp>
      <p:sp>
        <p:nvSpPr>
          <p:cNvPr id="81" name="AutoShape 47"/>
          <p:cNvSpPr>
            <a:spLocks noChangeArrowheads="1"/>
          </p:cNvSpPr>
          <p:nvPr/>
        </p:nvSpPr>
        <p:spPr bwMode="blackWhite">
          <a:xfrm>
            <a:off x="281304" y="5138034"/>
            <a:ext cx="353942" cy="864000"/>
          </a:xfrm>
          <a:prstGeom prst="rightArrow">
            <a:avLst>
              <a:gd name="adj1" fmla="val 100000"/>
              <a:gd name="adj2" fmla="val 11009"/>
            </a:avLst>
          </a:prstGeom>
          <a:solidFill>
            <a:srgbClr val="969696"/>
          </a:solidFill>
          <a:ln w="12700">
            <a:noFill/>
            <a:miter lim="800000"/>
            <a:headEnd/>
            <a:tailEnd/>
          </a:ln>
          <a:effectLst>
            <a:outerShdw dist="35921" dir="2700000" algn="ctr" rotWithShape="0">
              <a:schemeClr val="bg2"/>
            </a:outerShdw>
          </a:effectLst>
        </p:spPr>
        <p:txBody>
          <a:bodyPr vert="vert270" anchor="ctr"/>
          <a:lstStyle/>
          <a:p>
            <a:pPr algn="ctr">
              <a:lnSpc>
                <a:spcPts val="1000"/>
              </a:lnSpc>
            </a:pPr>
            <a:r>
              <a:rPr lang="es-ES" sz="1100" b="1" noProof="1">
                <a:solidFill>
                  <a:srgbClr val="FFFFFF"/>
                </a:solidFill>
                <a:cs typeface="Arial" charset="0"/>
              </a:rPr>
              <a:t>Evaluación de Controles</a:t>
            </a:r>
          </a:p>
        </p:txBody>
      </p:sp>
      <p:sp>
        <p:nvSpPr>
          <p:cNvPr id="82" name="Rectangle 18"/>
          <p:cNvSpPr>
            <a:spLocks noChangeArrowheads="1"/>
          </p:cNvSpPr>
          <p:nvPr/>
        </p:nvSpPr>
        <p:spPr bwMode="auto">
          <a:xfrm>
            <a:off x="3937102" y="5211799"/>
            <a:ext cx="548640" cy="170094"/>
          </a:xfrm>
          <a:prstGeom prst="rect">
            <a:avLst/>
          </a:prstGeom>
          <a:solidFill>
            <a:schemeClr val="bg1"/>
          </a:solidFill>
          <a:ln w="9525" algn="ctr">
            <a:solidFill>
              <a:schemeClr val="bg2"/>
            </a:solidFill>
            <a:miter lim="800000"/>
            <a:headEnd/>
            <a:tailEnd/>
          </a:ln>
          <a:effectLst/>
        </p:spPr>
        <p:txBody>
          <a:bodyPr anchor="ctr"/>
          <a:lstStyle/>
          <a:p>
            <a:pPr algn="ctr"/>
            <a:r>
              <a:rPr lang="es-ES" sz="1100" dirty="0">
                <a:solidFill>
                  <a:srgbClr val="002060"/>
                </a:solidFill>
              </a:rPr>
              <a:t>1</a:t>
            </a:r>
          </a:p>
        </p:txBody>
      </p:sp>
      <p:sp>
        <p:nvSpPr>
          <p:cNvPr id="83" name="Rounded Rectangle 38"/>
          <p:cNvSpPr/>
          <p:nvPr/>
        </p:nvSpPr>
        <p:spPr>
          <a:xfrm>
            <a:off x="705742" y="5211799"/>
            <a:ext cx="3132000" cy="170094"/>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Controles asociados al riesgo</a:t>
            </a:r>
          </a:p>
        </p:txBody>
      </p:sp>
      <p:sp>
        <p:nvSpPr>
          <p:cNvPr id="84" name="Rectangle 18"/>
          <p:cNvSpPr>
            <a:spLocks noChangeArrowheads="1"/>
          </p:cNvSpPr>
          <p:nvPr/>
        </p:nvSpPr>
        <p:spPr bwMode="auto">
          <a:xfrm>
            <a:off x="705742" y="5432807"/>
            <a:ext cx="3780000" cy="469509"/>
          </a:xfrm>
          <a:prstGeom prst="rect">
            <a:avLst/>
          </a:prstGeom>
          <a:solidFill>
            <a:schemeClr val="bg1"/>
          </a:solidFill>
          <a:ln w="9525" algn="ctr">
            <a:solidFill>
              <a:schemeClr val="bg2"/>
            </a:solidFill>
            <a:miter lim="800000"/>
            <a:headEnd/>
            <a:tailEnd/>
          </a:ln>
          <a:effectLst/>
        </p:spPr>
        <p:txBody>
          <a:bodyPr anchor="ctr"/>
          <a:lstStyle/>
          <a:p>
            <a:r>
              <a:rPr lang="es-ES" sz="1100" dirty="0">
                <a:solidFill>
                  <a:srgbClr val="000000"/>
                </a:solidFill>
              </a:rPr>
              <a:t>Revisión por el área de Inversiones.</a:t>
            </a:r>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dirty="0"/>
              <a:t>Anexo: Ficha Individual Riesgos Operacionales</a:t>
            </a:r>
          </a:p>
        </p:txBody>
      </p:sp>
      <p:sp>
        <p:nvSpPr>
          <p:cNvPr id="3" name="AutoShape 179"/>
          <p:cNvSpPr>
            <a:spLocks noChangeArrowheads="1"/>
          </p:cNvSpPr>
          <p:nvPr/>
        </p:nvSpPr>
        <p:spPr bwMode="auto">
          <a:xfrm>
            <a:off x="611560" y="3535397"/>
            <a:ext cx="3960812" cy="1371600"/>
          </a:xfrm>
          <a:prstGeom prst="roundRect">
            <a:avLst>
              <a:gd name="adj" fmla="val 9481"/>
            </a:avLst>
          </a:prstGeom>
          <a:solidFill>
            <a:schemeClr val="accent1">
              <a:lumMod val="20000"/>
              <a:lumOff val="80000"/>
            </a:schemeClr>
          </a:solidFill>
          <a:ln w="9525" algn="ctr">
            <a:noFill/>
            <a:round/>
            <a:headEnd/>
            <a:tailEnd/>
          </a:ln>
          <a:effectLst/>
        </p:spPr>
        <p:txBody>
          <a:bodyPr wrap="none" anchor="ctr"/>
          <a:lstStyle/>
          <a:p>
            <a:endParaRPr lang="es-CL">
              <a:solidFill>
                <a:srgbClr val="002060"/>
              </a:solidFill>
            </a:endParaRPr>
          </a:p>
        </p:txBody>
      </p:sp>
      <p:sp>
        <p:nvSpPr>
          <p:cNvPr id="4" name="Rounded Rectangle 3"/>
          <p:cNvSpPr/>
          <p:nvPr/>
        </p:nvSpPr>
        <p:spPr>
          <a:xfrm>
            <a:off x="214497" y="764704"/>
            <a:ext cx="397063" cy="274320"/>
          </a:xfrm>
          <a:prstGeom prst="roundRect">
            <a:avLst/>
          </a:prstGeom>
          <a:solidFill>
            <a:srgbClr val="DB0613"/>
          </a:solidFill>
          <a:ln w="9525" algn="ctr">
            <a:noFill/>
            <a:miter lim="800000"/>
            <a:headEnd/>
            <a:tailEnd/>
          </a:ln>
          <a:effectLst/>
        </p:spPr>
        <p:txBody>
          <a:bodyPr anchor="ctr"/>
          <a:lstStyle/>
          <a:p>
            <a:pPr algn="ctr">
              <a:lnSpc>
                <a:spcPct val="80000"/>
              </a:lnSpc>
            </a:pPr>
            <a:r>
              <a:rPr lang="es-CL" sz="1200" b="1" dirty="0">
                <a:solidFill>
                  <a:srgbClr val="FFFFFF"/>
                </a:solidFill>
                <a:cs typeface="Arial" pitchFamily="34" charset="0"/>
              </a:rPr>
              <a:t>28</a:t>
            </a:r>
          </a:p>
        </p:txBody>
      </p:sp>
      <p:sp>
        <p:nvSpPr>
          <p:cNvPr id="5" name="Rectangle 18"/>
          <p:cNvSpPr>
            <a:spLocks noChangeArrowheads="1"/>
          </p:cNvSpPr>
          <p:nvPr/>
        </p:nvSpPr>
        <p:spPr bwMode="auto">
          <a:xfrm>
            <a:off x="227770" y="2409552"/>
            <a:ext cx="6400800" cy="839807"/>
          </a:xfrm>
          <a:prstGeom prst="rect">
            <a:avLst/>
          </a:prstGeom>
          <a:noFill/>
          <a:ln w="9525" algn="ctr">
            <a:solidFill>
              <a:schemeClr val="bg2"/>
            </a:solidFill>
            <a:miter lim="800000"/>
            <a:headEnd/>
            <a:tailEnd/>
          </a:ln>
          <a:effectLst/>
        </p:spPr>
        <p:txBody>
          <a:bodyPr/>
          <a:lstStyle/>
          <a:p>
            <a:r>
              <a:rPr lang="es-ES" sz="1100" dirty="0"/>
              <a:t>Falla (error humano) en la elaboración de las cartas de operaciones locales. </a:t>
            </a:r>
            <a:endParaRPr lang="es-ES" sz="1100" dirty="0">
              <a:solidFill>
                <a:srgbClr val="002060"/>
              </a:solidFill>
            </a:endParaRPr>
          </a:p>
        </p:txBody>
      </p:sp>
      <p:sp>
        <p:nvSpPr>
          <p:cNvPr id="7" name="Text Box 30"/>
          <p:cNvSpPr txBox="1">
            <a:spLocks noChangeArrowheads="1"/>
          </p:cNvSpPr>
          <p:nvPr/>
        </p:nvSpPr>
        <p:spPr bwMode="auto">
          <a:xfrm>
            <a:off x="190747" y="3299257"/>
            <a:ext cx="3671888" cy="276999"/>
          </a:xfrm>
          <a:prstGeom prst="rect">
            <a:avLst/>
          </a:prstGeom>
          <a:noFill/>
          <a:ln w="9525" algn="ctr">
            <a:noFill/>
            <a:miter lim="800000"/>
            <a:headEnd/>
            <a:tailEnd/>
          </a:ln>
          <a:effectLst/>
        </p:spPr>
        <p:txBody>
          <a:bodyPr>
            <a:spAutoFit/>
          </a:bodyPr>
          <a:lstStyle/>
          <a:p>
            <a:pPr>
              <a:spcBef>
                <a:spcPct val="50000"/>
              </a:spcBef>
            </a:pPr>
            <a:r>
              <a:rPr lang="es-CL" sz="1200" b="1" i="1" dirty="0">
                <a:solidFill>
                  <a:srgbClr val="A3A3E0"/>
                </a:solidFill>
              </a:rPr>
              <a:t>Resultados valoración de riesgos</a:t>
            </a:r>
            <a:endParaRPr lang="es-ES" sz="1200" b="1" i="1" dirty="0">
              <a:solidFill>
                <a:srgbClr val="A3A3E0"/>
              </a:solidFill>
            </a:endParaRPr>
          </a:p>
        </p:txBody>
      </p:sp>
      <p:sp>
        <p:nvSpPr>
          <p:cNvPr id="8" name="Rounded Rectangle 7"/>
          <p:cNvSpPr/>
          <p:nvPr/>
        </p:nvSpPr>
        <p:spPr>
          <a:xfrm>
            <a:off x="652842" y="764704"/>
            <a:ext cx="8321040" cy="274320"/>
          </a:xfrm>
          <a:prstGeom prst="roundRect">
            <a:avLst/>
          </a:prstGeom>
          <a:solidFill>
            <a:srgbClr val="DB0613"/>
          </a:solidFill>
          <a:ln w="9525" algn="ctr">
            <a:noFill/>
            <a:miter lim="800000"/>
            <a:headEnd/>
            <a:tailEnd/>
          </a:ln>
          <a:effectLst/>
        </p:spPr>
        <p:txBody>
          <a:bodyPr anchor="ctr"/>
          <a:lstStyle/>
          <a:p>
            <a:pPr>
              <a:lnSpc>
                <a:spcPct val="80000"/>
              </a:lnSpc>
            </a:pPr>
            <a:r>
              <a:rPr lang="es-ES" sz="1200" dirty="0">
                <a:solidFill>
                  <a:schemeClr val="bg1"/>
                </a:solidFill>
              </a:rPr>
              <a:t>Falla en la elaboración de las cartas de operaciones locales </a:t>
            </a:r>
            <a:endParaRPr lang="es-CL" sz="1200" b="1" dirty="0">
              <a:solidFill>
                <a:schemeClr val="bg1"/>
              </a:solidFill>
              <a:cs typeface="Arial" pitchFamily="34" charset="0"/>
            </a:endParaRPr>
          </a:p>
        </p:txBody>
      </p:sp>
      <p:sp>
        <p:nvSpPr>
          <p:cNvPr id="9" name="Rounded Rectangle 8"/>
          <p:cNvSpPr/>
          <p:nvPr/>
        </p:nvSpPr>
        <p:spPr>
          <a:xfrm>
            <a:off x="227770" y="2202383"/>
            <a:ext cx="64008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Descripción</a:t>
            </a:r>
          </a:p>
        </p:txBody>
      </p:sp>
      <p:sp>
        <p:nvSpPr>
          <p:cNvPr id="10" name="Rounded Rectangle 9"/>
          <p:cNvSpPr/>
          <p:nvPr/>
        </p:nvSpPr>
        <p:spPr>
          <a:xfrm>
            <a:off x="6716066" y="1089119"/>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Categoría  de Riesgo Nivel I</a:t>
            </a:r>
          </a:p>
        </p:txBody>
      </p:sp>
      <p:sp>
        <p:nvSpPr>
          <p:cNvPr id="11" name="Rectangle 18"/>
          <p:cNvSpPr>
            <a:spLocks noChangeArrowheads="1"/>
          </p:cNvSpPr>
          <p:nvPr/>
        </p:nvSpPr>
        <p:spPr bwMode="auto">
          <a:xfrm>
            <a:off x="6716066" y="1316374"/>
            <a:ext cx="2286000" cy="365760"/>
          </a:xfrm>
          <a:prstGeom prst="rect">
            <a:avLst/>
          </a:prstGeom>
          <a:noFill/>
          <a:ln w="9525" algn="ctr">
            <a:solidFill>
              <a:schemeClr val="bg2"/>
            </a:solidFill>
            <a:miter lim="800000"/>
            <a:headEnd/>
            <a:tailEnd/>
          </a:ln>
          <a:effectLst/>
        </p:spPr>
        <p:txBody>
          <a:bodyPr anchor="ctr"/>
          <a:lstStyle/>
          <a:p>
            <a:pPr>
              <a:lnSpc>
                <a:spcPts val="1000"/>
              </a:lnSpc>
            </a:pPr>
            <a:r>
              <a:rPr lang="es-ES" sz="1100" dirty="0"/>
              <a:t>Ejecución, entrega y gestión de procesos</a:t>
            </a:r>
          </a:p>
        </p:txBody>
      </p:sp>
      <p:sp>
        <p:nvSpPr>
          <p:cNvPr id="12" name="Rounded Rectangle 11"/>
          <p:cNvSpPr/>
          <p:nvPr/>
        </p:nvSpPr>
        <p:spPr>
          <a:xfrm>
            <a:off x="6716066" y="1725169"/>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Categoría de Riesgo Nivel II</a:t>
            </a:r>
          </a:p>
        </p:txBody>
      </p:sp>
      <p:sp>
        <p:nvSpPr>
          <p:cNvPr id="13" name="Rectangle 18"/>
          <p:cNvSpPr>
            <a:spLocks noChangeArrowheads="1"/>
          </p:cNvSpPr>
          <p:nvPr/>
        </p:nvSpPr>
        <p:spPr bwMode="auto">
          <a:xfrm>
            <a:off x="6716066" y="1942710"/>
            <a:ext cx="2286000" cy="274320"/>
          </a:xfrm>
          <a:prstGeom prst="rect">
            <a:avLst/>
          </a:prstGeom>
          <a:noFill/>
          <a:ln w="9525" algn="ctr">
            <a:solidFill>
              <a:schemeClr val="bg2"/>
            </a:solidFill>
            <a:miter lim="800000"/>
            <a:headEnd/>
            <a:tailEnd/>
          </a:ln>
          <a:effectLst/>
        </p:spPr>
        <p:txBody>
          <a:bodyPr anchor="ctr"/>
          <a:lstStyle/>
          <a:p>
            <a:r>
              <a:rPr lang="es-ES" sz="1100" dirty="0"/>
              <a:t>Recepción, ejecución y mantenimiento de operaciones</a:t>
            </a:r>
          </a:p>
        </p:txBody>
      </p:sp>
      <p:sp>
        <p:nvSpPr>
          <p:cNvPr id="16" name="Rectangle 18"/>
          <p:cNvSpPr>
            <a:spLocks noChangeArrowheads="1"/>
          </p:cNvSpPr>
          <p:nvPr/>
        </p:nvSpPr>
        <p:spPr bwMode="auto">
          <a:xfrm>
            <a:off x="6716066" y="2524663"/>
            <a:ext cx="2286000" cy="272604"/>
          </a:xfrm>
          <a:prstGeom prst="rect">
            <a:avLst/>
          </a:prstGeom>
          <a:noFill/>
          <a:ln w="9525" algn="ctr">
            <a:solidFill>
              <a:schemeClr val="bg2"/>
            </a:solidFill>
            <a:miter lim="800000"/>
            <a:headEnd/>
            <a:tailEnd/>
          </a:ln>
          <a:effectLst/>
        </p:spPr>
        <p:txBody>
          <a:bodyPr anchor="ctr"/>
          <a:lstStyle/>
          <a:p>
            <a:r>
              <a:rPr lang="es-ES" sz="1100" dirty="0"/>
              <a:t>Incorrecta ejecución de tareas / obligaciones</a:t>
            </a:r>
          </a:p>
        </p:txBody>
      </p:sp>
      <p:sp>
        <p:nvSpPr>
          <p:cNvPr id="17" name="Rounded Rectangle 16"/>
          <p:cNvSpPr/>
          <p:nvPr/>
        </p:nvSpPr>
        <p:spPr>
          <a:xfrm>
            <a:off x="227770" y="1110038"/>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Macroproceso</a:t>
            </a:r>
          </a:p>
        </p:txBody>
      </p:sp>
      <p:sp>
        <p:nvSpPr>
          <p:cNvPr id="18" name="Rectangle 18"/>
          <p:cNvSpPr>
            <a:spLocks noChangeArrowheads="1"/>
          </p:cNvSpPr>
          <p:nvPr/>
        </p:nvSpPr>
        <p:spPr bwMode="auto">
          <a:xfrm>
            <a:off x="2568409" y="1110038"/>
            <a:ext cx="4060161" cy="182880"/>
          </a:xfrm>
          <a:prstGeom prst="rect">
            <a:avLst/>
          </a:prstGeom>
          <a:noFill/>
          <a:ln w="9525" algn="ctr">
            <a:solidFill>
              <a:schemeClr val="bg2"/>
            </a:solidFill>
            <a:miter lim="800000"/>
            <a:headEnd/>
            <a:tailEnd/>
          </a:ln>
          <a:effectLst/>
        </p:spPr>
        <p:txBody>
          <a:bodyPr anchor="ctr"/>
          <a:lstStyle/>
          <a:p>
            <a:r>
              <a:rPr lang="es-ES" sz="1100" dirty="0"/>
              <a:t>Administración de Portafolio de Inversiones</a:t>
            </a:r>
          </a:p>
        </p:txBody>
      </p:sp>
      <p:sp>
        <p:nvSpPr>
          <p:cNvPr id="19" name="Rounded Rectangle 18"/>
          <p:cNvSpPr/>
          <p:nvPr/>
        </p:nvSpPr>
        <p:spPr>
          <a:xfrm>
            <a:off x="227770" y="1339045"/>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Proceso</a:t>
            </a:r>
          </a:p>
        </p:txBody>
      </p:sp>
      <p:sp>
        <p:nvSpPr>
          <p:cNvPr id="20" name="Rectangle 18"/>
          <p:cNvSpPr>
            <a:spLocks noChangeArrowheads="1"/>
          </p:cNvSpPr>
          <p:nvPr/>
        </p:nvSpPr>
        <p:spPr bwMode="auto">
          <a:xfrm>
            <a:off x="2568409" y="1339045"/>
            <a:ext cx="4060161" cy="182880"/>
          </a:xfrm>
          <a:prstGeom prst="rect">
            <a:avLst/>
          </a:prstGeom>
          <a:noFill/>
          <a:ln w="9525" algn="ctr">
            <a:solidFill>
              <a:schemeClr val="bg2"/>
            </a:solidFill>
            <a:miter lim="800000"/>
            <a:headEnd/>
            <a:tailEnd/>
          </a:ln>
          <a:effectLst/>
        </p:spPr>
        <p:txBody>
          <a:bodyPr anchor="ctr"/>
          <a:lstStyle/>
          <a:p>
            <a:r>
              <a:rPr lang="es-ES" sz="1100" dirty="0"/>
              <a:t>Administración de fondos</a:t>
            </a:r>
          </a:p>
        </p:txBody>
      </p:sp>
      <p:sp>
        <p:nvSpPr>
          <p:cNvPr id="21" name="Rectangle 29"/>
          <p:cNvSpPr>
            <a:spLocks noChangeArrowheads="1"/>
          </p:cNvSpPr>
          <p:nvPr/>
        </p:nvSpPr>
        <p:spPr bwMode="auto">
          <a:xfrm>
            <a:off x="107504" y="3423715"/>
            <a:ext cx="8961120" cy="1607926"/>
          </a:xfrm>
          <a:prstGeom prst="rect">
            <a:avLst/>
          </a:prstGeom>
          <a:noFill/>
          <a:ln w="19050" cap="rnd" algn="ctr">
            <a:solidFill>
              <a:schemeClr val="bg2"/>
            </a:solidFill>
            <a:prstDash val="sysDot"/>
            <a:miter lim="800000"/>
            <a:headEnd/>
            <a:tailEnd/>
          </a:ln>
          <a:effectLst/>
        </p:spPr>
        <p:txBody>
          <a:bodyPr wrap="none" anchor="ctr"/>
          <a:lstStyle/>
          <a:p>
            <a:endParaRPr lang="en-US">
              <a:solidFill>
                <a:srgbClr val="002060"/>
              </a:solidFill>
            </a:endParaRPr>
          </a:p>
        </p:txBody>
      </p:sp>
      <p:sp>
        <p:nvSpPr>
          <p:cNvPr id="22" name="Rounded Rectangle 21"/>
          <p:cNvSpPr/>
          <p:nvPr/>
        </p:nvSpPr>
        <p:spPr>
          <a:xfrm>
            <a:off x="902959" y="4382163"/>
            <a:ext cx="1920240" cy="182880"/>
          </a:xfrm>
          <a:prstGeom prst="roundRect">
            <a:avLst/>
          </a:prstGeom>
          <a:solidFill>
            <a:srgbClr val="DB0613"/>
          </a:solidFill>
          <a:ln w="9525" algn="ctr">
            <a:noFill/>
            <a:miter lim="800000"/>
            <a:headEnd/>
            <a:tailEnd/>
          </a:ln>
          <a:effectLst/>
        </p:spPr>
        <p:txBody>
          <a:bodyPr tIns="91440" anchor="ctr"/>
          <a:lstStyle/>
          <a:p>
            <a:pPr>
              <a:lnSpc>
                <a:spcPct val="80000"/>
              </a:lnSpc>
            </a:pPr>
            <a:r>
              <a:rPr lang="es-CL" sz="1100" b="1" dirty="0">
                <a:solidFill>
                  <a:srgbClr val="FFFFFF"/>
                </a:solidFill>
                <a:cs typeface="Arial" pitchFamily="34" charset="0"/>
              </a:rPr>
              <a:t>Pérdida Esperada Anual</a:t>
            </a:r>
          </a:p>
        </p:txBody>
      </p:sp>
      <p:sp>
        <p:nvSpPr>
          <p:cNvPr id="23" name="Rectangle 18"/>
          <p:cNvSpPr>
            <a:spLocks noChangeArrowheads="1"/>
          </p:cNvSpPr>
          <p:nvPr/>
        </p:nvSpPr>
        <p:spPr bwMode="auto">
          <a:xfrm>
            <a:off x="2859920" y="4382163"/>
            <a:ext cx="1554480" cy="182880"/>
          </a:xfrm>
          <a:prstGeom prst="rect">
            <a:avLst/>
          </a:prstGeom>
          <a:solidFill>
            <a:schemeClr val="bg1"/>
          </a:solidFill>
          <a:ln w="9525" algn="ctr">
            <a:solidFill>
              <a:schemeClr val="bg2"/>
            </a:solidFill>
            <a:miter lim="800000"/>
            <a:headEnd/>
            <a:tailEnd/>
          </a:ln>
          <a:effectLst/>
        </p:spPr>
        <p:txBody>
          <a:bodyPr anchor="ctr"/>
          <a:lstStyle/>
          <a:p>
            <a:pPr algn="ctr"/>
            <a:r>
              <a:rPr lang="es-ES" sz="1100" dirty="0"/>
              <a:t>S/. 0.00</a:t>
            </a:r>
          </a:p>
        </p:txBody>
      </p:sp>
      <p:sp>
        <p:nvSpPr>
          <p:cNvPr id="24" name="Rounded Rectangle 23"/>
          <p:cNvSpPr/>
          <p:nvPr/>
        </p:nvSpPr>
        <p:spPr>
          <a:xfrm>
            <a:off x="902959" y="4611775"/>
            <a:ext cx="192024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VaR Cualitativo Anual</a:t>
            </a:r>
          </a:p>
        </p:txBody>
      </p:sp>
      <p:sp>
        <p:nvSpPr>
          <p:cNvPr id="25" name="Rectangle 18"/>
          <p:cNvSpPr>
            <a:spLocks noChangeArrowheads="1"/>
          </p:cNvSpPr>
          <p:nvPr/>
        </p:nvSpPr>
        <p:spPr bwMode="auto">
          <a:xfrm>
            <a:off x="2859920" y="4611775"/>
            <a:ext cx="1554480" cy="182880"/>
          </a:xfrm>
          <a:prstGeom prst="rect">
            <a:avLst/>
          </a:prstGeom>
          <a:solidFill>
            <a:schemeClr val="bg1"/>
          </a:solidFill>
          <a:ln w="9525" algn="ctr">
            <a:solidFill>
              <a:schemeClr val="bg2"/>
            </a:solidFill>
            <a:miter lim="800000"/>
            <a:headEnd/>
            <a:tailEnd/>
          </a:ln>
          <a:effectLst/>
        </p:spPr>
        <p:txBody>
          <a:bodyPr anchor="ctr"/>
          <a:lstStyle/>
          <a:p>
            <a:pPr algn="ctr"/>
            <a:r>
              <a:rPr lang="es-ES" sz="1100" dirty="0"/>
              <a:t>S/. 0.00</a:t>
            </a:r>
          </a:p>
        </p:txBody>
      </p:sp>
      <p:sp>
        <p:nvSpPr>
          <p:cNvPr id="26" name="Rounded Rectangle 25"/>
          <p:cNvSpPr/>
          <p:nvPr/>
        </p:nvSpPr>
        <p:spPr>
          <a:xfrm>
            <a:off x="891084" y="3618777"/>
            <a:ext cx="192024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Frecuencia  Evento Pérdida</a:t>
            </a:r>
          </a:p>
        </p:txBody>
      </p:sp>
      <p:sp>
        <p:nvSpPr>
          <p:cNvPr id="27" name="Rectangle 18"/>
          <p:cNvSpPr>
            <a:spLocks noChangeArrowheads="1"/>
          </p:cNvSpPr>
          <p:nvPr/>
        </p:nvSpPr>
        <p:spPr bwMode="auto">
          <a:xfrm>
            <a:off x="2859920" y="3618777"/>
            <a:ext cx="1554480" cy="182880"/>
          </a:xfrm>
          <a:prstGeom prst="rect">
            <a:avLst/>
          </a:prstGeom>
          <a:solidFill>
            <a:schemeClr val="bg1"/>
          </a:solidFill>
          <a:ln w="9525" algn="ctr">
            <a:solidFill>
              <a:schemeClr val="bg2"/>
            </a:solidFill>
            <a:miter lim="800000"/>
            <a:headEnd/>
            <a:tailEnd/>
          </a:ln>
          <a:effectLst/>
        </p:spPr>
        <p:txBody>
          <a:bodyPr anchor="ctr"/>
          <a:lstStyle/>
          <a:p>
            <a:pPr algn="ctr"/>
            <a:r>
              <a:rPr lang="es-ES" sz="1100" dirty="0"/>
              <a:t>1 vez por siglo</a:t>
            </a:r>
          </a:p>
        </p:txBody>
      </p:sp>
      <p:sp>
        <p:nvSpPr>
          <p:cNvPr id="28" name="Rounded Rectangle 27"/>
          <p:cNvSpPr/>
          <p:nvPr/>
        </p:nvSpPr>
        <p:spPr>
          <a:xfrm>
            <a:off x="891084" y="3848389"/>
            <a:ext cx="192024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Impacto Medio Evento</a:t>
            </a:r>
          </a:p>
        </p:txBody>
      </p:sp>
      <p:sp>
        <p:nvSpPr>
          <p:cNvPr id="29" name="Rectangle 18"/>
          <p:cNvSpPr>
            <a:spLocks noChangeArrowheads="1"/>
          </p:cNvSpPr>
          <p:nvPr/>
        </p:nvSpPr>
        <p:spPr bwMode="auto">
          <a:xfrm>
            <a:off x="2859920" y="3848389"/>
            <a:ext cx="1554480" cy="182880"/>
          </a:xfrm>
          <a:prstGeom prst="rect">
            <a:avLst/>
          </a:prstGeom>
          <a:solidFill>
            <a:schemeClr val="bg1"/>
          </a:solidFill>
          <a:ln w="9525" algn="ctr">
            <a:solidFill>
              <a:schemeClr val="bg2"/>
            </a:solidFill>
            <a:miter lim="800000"/>
            <a:headEnd/>
            <a:tailEnd/>
          </a:ln>
          <a:effectLst/>
        </p:spPr>
        <p:txBody>
          <a:bodyPr anchor="ctr"/>
          <a:lstStyle/>
          <a:p>
            <a:pPr algn="ctr"/>
            <a:r>
              <a:rPr lang="es-ES" sz="1100" dirty="0"/>
              <a:t>S/. 0.00</a:t>
            </a:r>
          </a:p>
        </p:txBody>
      </p:sp>
      <p:sp>
        <p:nvSpPr>
          <p:cNvPr id="30" name="Rounded Rectangle 29"/>
          <p:cNvSpPr/>
          <p:nvPr/>
        </p:nvSpPr>
        <p:spPr>
          <a:xfrm>
            <a:off x="891084" y="4083969"/>
            <a:ext cx="192024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Impacto Peor Escenario</a:t>
            </a:r>
          </a:p>
        </p:txBody>
      </p:sp>
      <p:sp>
        <p:nvSpPr>
          <p:cNvPr id="31" name="Rectangle 18"/>
          <p:cNvSpPr>
            <a:spLocks noChangeArrowheads="1"/>
          </p:cNvSpPr>
          <p:nvPr/>
        </p:nvSpPr>
        <p:spPr bwMode="auto">
          <a:xfrm>
            <a:off x="2859920" y="4083969"/>
            <a:ext cx="1554480" cy="182880"/>
          </a:xfrm>
          <a:prstGeom prst="rect">
            <a:avLst/>
          </a:prstGeom>
          <a:solidFill>
            <a:schemeClr val="bg1"/>
          </a:solidFill>
          <a:ln w="9525" algn="ctr">
            <a:solidFill>
              <a:schemeClr val="bg2"/>
            </a:solidFill>
            <a:miter lim="800000"/>
            <a:headEnd/>
            <a:tailEnd/>
          </a:ln>
          <a:effectLst/>
        </p:spPr>
        <p:txBody>
          <a:bodyPr anchor="ctr"/>
          <a:lstStyle/>
          <a:p>
            <a:pPr algn="ctr"/>
            <a:r>
              <a:rPr lang="es-ES" sz="1100" dirty="0"/>
              <a:t>S/. 0.00</a:t>
            </a:r>
          </a:p>
        </p:txBody>
      </p:sp>
      <p:sp>
        <p:nvSpPr>
          <p:cNvPr id="32" name="AutoShape 47"/>
          <p:cNvSpPr>
            <a:spLocks noChangeAspect="1" noChangeArrowheads="1"/>
          </p:cNvSpPr>
          <p:nvPr/>
        </p:nvSpPr>
        <p:spPr bwMode="blackWhite">
          <a:xfrm>
            <a:off x="263033" y="3533122"/>
            <a:ext cx="492543" cy="1339083"/>
          </a:xfrm>
          <a:prstGeom prst="rightArrow">
            <a:avLst>
              <a:gd name="adj1" fmla="val 100000"/>
              <a:gd name="adj2" fmla="val 11009"/>
            </a:avLst>
          </a:prstGeom>
          <a:solidFill>
            <a:srgbClr val="969696"/>
          </a:solidFill>
          <a:ln w="12700">
            <a:noFill/>
            <a:miter lim="800000"/>
            <a:headEnd/>
            <a:tailEnd/>
          </a:ln>
          <a:effectLst>
            <a:outerShdw dist="35921" dir="2700000" algn="ctr" rotWithShape="0">
              <a:schemeClr val="bg2"/>
            </a:outerShdw>
          </a:effectLst>
        </p:spPr>
        <p:txBody>
          <a:bodyPr vert="vert270" anchor="ctr"/>
          <a:lstStyle/>
          <a:p>
            <a:pPr algn="ctr">
              <a:lnSpc>
                <a:spcPts val="1000"/>
              </a:lnSpc>
            </a:pPr>
            <a:r>
              <a:rPr lang="es-ES" sz="1200" b="1" noProof="1">
                <a:solidFill>
                  <a:srgbClr val="FFFFFF"/>
                </a:solidFill>
                <a:cs typeface="Arial" charset="0"/>
              </a:rPr>
              <a:t>Evaluación Riesgo Operacional</a:t>
            </a:r>
          </a:p>
        </p:txBody>
      </p:sp>
      <p:sp>
        <p:nvSpPr>
          <p:cNvPr id="59" name="Rounded Rectangle 58"/>
          <p:cNvSpPr/>
          <p:nvPr/>
        </p:nvSpPr>
        <p:spPr>
          <a:xfrm>
            <a:off x="223049" y="1554311"/>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Subproceso</a:t>
            </a:r>
          </a:p>
        </p:txBody>
      </p:sp>
      <p:sp>
        <p:nvSpPr>
          <p:cNvPr id="60" name="Rectangle 18"/>
          <p:cNvSpPr>
            <a:spLocks noChangeArrowheads="1"/>
          </p:cNvSpPr>
          <p:nvPr/>
        </p:nvSpPr>
        <p:spPr bwMode="auto">
          <a:xfrm>
            <a:off x="2563688" y="1554311"/>
            <a:ext cx="4064882" cy="182880"/>
          </a:xfrm>
          <a:prstGeom prst="rect">
            <a:avLst/>
          </a:prstGeom>
          <a:noFill/>
          <a:ln w="9525" algn="ctr">
            <a:solidFill>
              <a:schemeClr val="bg2"/>
            </a:solidFill>
            <a:miter lim="800000"/>
            <a:headEnd/>
            <a:tailEnd/>
          </a:ln>
          <a:effectLst/>
        </p:spPr>
        <p:txBody>
          <a:bodyPr anchor="ctr"/>
          <a:lstStyle/>
          <a:p>
            <a:r>
              <a:rPr lang="es-ES" sz="1100" dirty="0"/>
              <a:t>Ejecución de propuesta de inversión</a:t>
            </a:r>
          </a:p>
        </p:txBody>
      </p:sp>
      <p:sp>
        <p:nvSpPr>
          <p:cNvPr id="57" name="Rounded Rectangle 56"/>
          <p:cNvSpPr/>
          <p:nvPr/>
        </p:nvSpPr>
        <p:spPr>
          <a:xfrm>
            <a:off x="223049" y="1771093"/>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Línea de Negocio</a:t>
            </a:r>
          </a:p>
        </p:txBody>
      </p:sp>
      <p:sp>
        <p:nvSpPr>
          <p:cNvPr id="58" name="Rectangle 18"/>
          <p:cNvSpPr>
            <a:spLocks noChangeArrowheads="1"/>
          </p:cNvSpPr>
          <p:nvPr/>
        </p:nvSpPr>
        <p:spPr bwMode="auto">
          <a:xfrm>
            <a:off x="2563688" y="1771093"/>
            <a:ext cx="4064882" cy="182880"/>
          </a:xfrm>
          <a:prstGeom prst="rect">
            <a:avLst/>
          </a:prstGeom>
          <a:noFill/>
          <a:ln w="9525" algn="ctr">
            <a:solidFill>
              <a:schemeClr val="bg2"/>
            </a:solidFill>
            <a:miter lim="800000"/>
            <a:headEnd/>
            <a:tailEnd/>
          </a:ln>
          <a:effectLst/>
        </p:spPr>
        <p:txBody>
          <a:bodyPr anchor="ctr"/>
          <a:lstStyle/>
          <a:p>
            <a:r>
              <a:rPr lang="es-ES" sz="1100" dirty="0"/>
              <a:t>Negociación y ventas</a:t>
            </a:r>
          </a:p>
        </p:txBody>
      </p:sp>
      <p:sp>
        <p:nvSpPr>
          <p:cNvPr id="61" name="Rounded Rectangle 60"/>
          <p:cNvSpPr/>
          <p:nvPr/>
        </p:nvSpPr>
        <p:spPr>
          <a:xfrm>
            <a:off x="223049" y="1986359"/>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Responsable</a:t>
            </a:r>
          </a:p>
        </p:txBody>
      </p:sp>
      <p:sp>
        <p:nvSpPr>
          <p:cNvPr id="62" name="Rectangle 18"/>
          <p:cNvSpPr>
            <a:spLocks noChangeArrowheads="1"/>
          </p:cNvSpPr>
          <p:nvPr/>
        </p:nvSpPr>
        <p:spPr bwMode="auto">
          <a:xfrm>
            <a:off x="2558967" y="1986359"/>
            <a:ext cx="4069603" cy="182880"/>
          </a:xfrm>
          <a:prstGeom prst="rect">
            <a:avLst/>
          </a:prstGeom>
          <a:noFill/>
          <a:ln w="9525" algn="ctr">
            <a:solidFill>
              <a:schemeClr val="bg2"/>
            </a:solidFill>
            <a:miter lim="800000"/>
            <a:headEnd/>
            <a:tailEnd/>
          </a:ln>
          <a:effectLst/>
        </p:spPr>
        <p:txBody>
          <a:bodyPr anchor="ctr"/>
          <a:lstStyle/>
          <a:p>
            <a:r>
              <a:rPr lang="es-ES" sz="1100" dirty="0"/>
              <a:t>Subgerente de Operaciones de Inversión </a:t>
            </a:r>
          </a:p>
        </p:txBody>
      </p:sp>
      <p:sp>
        <p:nvSpPr>
          <p:cNvPr id="63" name="Rounded Rectangle 62"/>
          <p:cNvSpPr/>
          <p:nvPr/>
        </p:nvSpPr>
        <p:spPr>
          <a:xfrm>
            <a:off x="6732240" y="2276457"/>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Categoría de Riesgo Nivel III</a:t>
            </a:r>
          </a:p>
        </p:txBody>
      </p:sp>
      <p:sp>
        <p:nvSpPr>
          <p:cNvPr id="64" name="Rounded Rectangle 14"/>
          <p:cNvSpPr/>
          <p:nvPr/>
        </p:nvSpPr>
        <p:spPr>
          <a:xfrm>
            <a:off x="6732240" y="2908110"/>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Origen del Riesgo</a:t>
            </a:r>
          </a:p>
        </p:txBody>
      </p:sp>
      <p:sp>
        <p:nvSpPr>
          <p:cNvPr id="65" name="Rectangle 18"/>
          <p:cNvSpPr>
            <a:spLocks noChangeArrowheads="1"/>
          </p:cNvSpPr>
          <p:nvPr/>
        </p:nvSpPr>
        <p:spPr bwMode="auto">
          <a:xfrm>
            <a:off x="6732240" y="3123375"/>
            <a:ext cx="2286000" cy="270000"/>
          </a:xfrm>
          <a:prstGeom prst="rect">
            <a:avLst/>
          </a:prstGeom>
          <a:noFill/>
          <a:ln w="9525" algn="ctr">
            <a:solidFill>
              <a:schemeClr val="bg2"/>
            </a:solidFill>
            <a:miter lim="800000"/>
            <a:headEnd/>
            <a:tailEnd/>
          </a:ln>
          <a:effectLst/>
        </p:spPr>
        <p:txBody>
          <a:bodyPr anchor="ctr"/>
          <a:lstStyle/>
          <a:p>
            <a:r>
              <a:rPr lang="es-ES" sz="1100" dirty="0">
                <a:solidFill>
                  <a:srgbClr val="000000"/>
                </a:solidFill>
              </a:rPr>
              <a:t>Personas</a:t>
            </a:r>
          </a:p>
        </p:txBody>
      </p:sp>
      <p:sp>
        <p:nvSpPr>
          <p:cNvPr id="66" name="AutoShape 179"/>
          <p:cNvSpPr>
            <a:spLocks noChangeArrowheads="1"/>
          </p:cNvSpPr>
          <p:nvPr/>
        </p:nvSpPr>
        <p:spPr bwMode="auto">
          <a:xfrm>
            <a:off x="4932039" y="3537391"/>
            <a:ext cx="4037169" cy="864000"/>
          </a:xfrm>
          <a:prstGeom prst="roundRect">
            <a:avLst>
              <a:gd name="adj" fmla="val 9481"/>
            </a:avLst>
          </a:prstGeom>
          <a:solidFill>
            <a:schemeClr val="accent1">
              <a:lumMod val="20000"/>
              <a:lumOff val="80000"/>
            </a:schemeClr>
          </a:solidFill>
          <a:ln w="9525" algn="ctr">
            <a:noFill/>
            <a:round/>
            <a:headEnd/>
            <a:tailEnd/>
          </a:ln>
          <a:effectLst/>
        </p:spPr>
        <p:txBody>
          <a:bodyPr wrap="none" anchor="ctr"/>
          <a:lstStyle/>
          <a:p>
            <a:endParaRPr lang="es-CL">
              <a:solidFill>
                <a:srgbClr val="002060"/>
              </a:solidFill>
            </a:endParaRPr>
          </a:p>
        </p:txBody>
      </p:sp>
      <p:sp>
        <p:nvSpPr>
          <p:cNvPr id="67" name="AutoShape 47"/>
          <p:cNvSpPr>
            <a:spLocks noChangeArrowheads="1"/>
          </p:cNvSpPr>
          <p:nvPr/>
        </p:nvSpPr>
        <p:spPr bwMode="blackWhite">
          <a:xfrm>
            <a:off x="4678512" y="3538893"/>
            <a:ext cx="353942" cy="864000"/>
          </a:xfrm>
          <a:prstGeom prst="rightArrow">
            <a:avLst>
              <a:gd name="adj1" fmla="val 100000"/>
              <a:gd name="adj2" fmla="val 11009"/>
            </a:avLst>
          </a:prstGeom>
          <a:solidFill>
            <a:srgbClr val="969696"/>
          </a:solidFill>
          <a:ln w="12700">
            <a:noFill/>
            <a:miter lim="800000"/>
            <a:headEnd/>
            <a:tailEnd/>
          </a:ln>
          <a:effectLst>
            <a:outerShdw dist="35921" dir="2700000" algn="ctr" rotWithShape="0">
              <a:schemeClr val="bg2"/>
            </a:outerShdw>
          </a:effectLst>
        </p:spPr>
        <p:txBody>
          <a:bodyPr vert="vert270" anchor="ctr"/>
          <a:lstStyle/>
          <a:p>
            <a:pPr algn="ctr">
              <a:lnSpc>
                <a:spcPts val="1000"/>
              </a:lnSpc>
            </a:pPr>
            <a:r>
              <a:rPr lang="es-ES" sz="1100" b="1" noProof="1">
                <a:solidFill>
                  <a:srgbClr val="FFFFFF"/>
                </a:solidFill>
                <a:cs typeface="Arial" charset="0"/>
              </a:rPr>
              <a:t>Impacto Reputacional</a:t>
            </a:r>
          </a:p>
        </p:txBody>
      </p:sp>
      <p:sp>
        <p:nvSpPr>
          <p:cNvPr id="68" name="Rectangle 18"/>
          <p:cNvSpPr>
            <a:spLocks noChangeArrowheads="1"/>
          </p:cNvSpPr>
          <p:nvPr/>
        </p:nvSpPr>
        <p:spPr bwMode="auto">
          <a:xfrm>
            <a:off x="8334310" y="3612658"/>
            <a:ext cx="548640" cy="170094"/>
          </a:xfrm>
          <a:prstGeom prst="rect">
            <a:avLst/>
          </a:prstGeom>
          <a:solidFill>
            <a:schemeClr val="bg1"/>
          </a:solidFill>
          <a:ln w="9525" algn="ctr">
            <a:solidFill>
              <a:schemeClr val="bg2"/>
            </a:solidFill>
            <a:miter lim="800000"/>
            <a:headEnd/>
            <a:tailEnd/>
          </a:ln>
          <a:effectLst/>
        </p:spPr>
        <p:txBody>
          <a:bodyPr anchor="ctr"/>
          <a:lstStyle/>
          <a:p>
            <a:pPr algn="ctr"/>
            <a:r>
              <a:rPr lang="es-ES" sz="1100" dirty="0">
                <a:solidFill>
                  <a:srgbClr val="002060"/>
                </a:solidFill>
              </a:rPr>
              <a:t>1</a:t>
            </a:r>
          </a:p>
        </p:txBody>
      </p:sp>
      <p:sp>
        <p:nvSpPr>
          <p:cNvPr id="69" name="Rounded Rectangle 68"/>
          <p:cNvSpPr/>
          <p:nvPr/>
        </p:nvSpPr>
        <p:spPr>
          <a:xfrm>
            <a:off x="5102950" y="3612658"/>
            <a:ext cx="3132000" cy="170094"/>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Afectación a Clientes</a:t>
            </a:r>
          </a:p>
        </p:txBody>
      </p:sp>
      <p:sp>
        <p:nvSpPr>
          <p:cNvPr id="70" name="Rectangle 18"/>
          <p:cNvSpPr>
            <a:spLocks noChangeArrowheads="1"/>
          </p:cNvSpPr>
          <p:nvPr/>
        </p:nvSpPr>
        <p:spPr bwMode="auto">
          <a:xfrm>
            <a:off x="5102950" y="3830815"/>
            <a:ext cx="3780000" cy="469509"/>
          </a:xfrm>
          <a:prstGeom prst="rect">
            <a:avLst/>
          </a:prstGeom>
          <a:solidFill>
            <a:schemeClr val="bg1"/>
          </a:solidFill>
          <a:ln w="9525" algn="ctr">
            <a:solidFill>
              <a:schemeClr val="bg2"/>
            </a:solidFill>
            <a:miter lim="800000"/>
            <a:headEnd/>
            <a:tailEnd/>
          </a:ln>
          <a:effectLst/>
        </p:spPr>
        <p:txBody>
          <a:bodyPr anchor="ctr"/>
          <a:lstStyle/>
          <a:p>
            <a:r>
              <a:rPr lang="es-ES" sz="1100" dirty="0">
                <a:solidFill>
                  <a:srgbClr val="000000"/>
                </a:solidFill>
              </a:rPr>
              <a:t>La exposición de la imagen es únicamente interna y limitada.</a:t>
            </a:r>
          </a:p>
        </p:txBody>
      </p:sp>
      <p:sp>
        <p:nvSpPr>
          <p:cNvPr id="74" name="AutoShape 179"/>
          <p:cNvSpPr>
            <a:spLocks noChangeArrowheads="1"/>
          </p:cNvSpPr>
          <p:nvPr/>
        </p:nvSpPr>
        <p:spPr bwMode="auto">
          <a:xfrm>
            <a:off x="4927319" y="4441608"/>
            <a:ext cx="4037169" cy="892800"/>
          </a:xfrm>
          <a:prstGeom prst="roundRect">
            <a:avLst>
              <a:gd name="adj" fmla="val 9481"/>
            </a:avLst>
          </a:prstGeom>
          <a:solidFill>
            <a:schemeClr val="accent1">
              <a:lumMod val="20000"/>
              <a:lumOff val="80000"/>
            </a:schemeClr>
          </a:solidFill>
          <a:ln w="9525" algn="ctr">
            <a:noFill/>
            <a:round/>
            <a:headEnd/>
            <a:tailEnd/>
          </a:ln>
          <a:effectLst/>
        </p:spPr>
        <p:txBody>
          <a:bodyPr wrap="none" anchor="ctr"/>
          <a:lstStyle/>
          <a:p>
            <a:endParaRPr lang="es-CL">
              <a:solidFill>
                <a:srgbClr val="002060"/>
              </a:solidFill>
            </a:endParaRPr>
          </a:p>
        </p:txBody>
      </p:sp>
      <p:sp>
        <p:nvSpPr>
          <p:cNvPr id="75" name="AutoShape 47"/>
          <p:cNvSpPr>
            <a:spLocks noChangeArrowheads="1"/>
          </p:cNvSpPr>
          <p:nvPr/>
        </p:nvSpPr>
        <p:spPr bwMode="blackWhite">
          <a:xfrm>
            <a:off x="4673792" y="4443110"/>
            <a:ext cx="352800" cy="892800"/>
          </a:xfrm>
          <a:prstGeom prst="rightArrow">
            <a:avLst>
              <a:gd name="adj1" fmla="val 100000"/>
              <a:gd name="adj2" fmla="val 11009"/>
            </a:avLst>
          </a:prstGeom>
          <a:solidFill>
            <a:srgbClr val="969696"/>
          </a:solidFill>
          <a:ln w="12700">
            <a:noFill/>
            <a:miter lim="800000"/>
            <a:headEnd/>
            <a:tailEnd/>
          </a:ln>
          <a:effectLst>
            <a:outerShdw dist="35921" dir="2700000" algn="ctr" rotWithShape="0">
              <a:schemeClr val="bg2"/>
            </a:outerShdw>
          </a:effectLst>
        </p:spPr>
        <p:txBody>
          <a:bodyPr vert="vert270" anchor="ctr"/>
          <a:lstStyle/>
          <a:p>
            <a:pPr algn="ctr">
              <a:lnSpc>
                <a:spcPts val="1000"/>
              </a:lnSpc>
            </a:pPr>
            <a:r>
              <a:rPr lang="es-ES" sz="1100" b="1" noProof="1">
                <a:solidFill>
                  <a:srgbClr val="FFFFFF"/>
                </a:solidFill>
                <a:cs typeface="Arial" charset="0"/>
              </a:rPr>
              <a:t>Cuestionarios</a:t>
            </a:r>
          </a:p>
        </p:txBody>
      </p:sp>
      <p:sp>
        <p:nvSpPr>
          <p:cNvPr id="77" name="Rounded Rectangle 38"/>
          <p:cNvSpPr/>
          <p:nvPr/>
        </p:nvSpPr>
        <p:spPr>
          <a:xfrm>
            <a:off x="5098230" y="4516875"/>
            <a:ext cx="3132000" cy="170094"/>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Criterios de Evaluación</a:t>
            </a:r>
          </a:p>
        </p:txBody>
      </p:sp>
      <p:sp>
        <p:nvSpPr>
          <p:cNvPr id="78" name="Rectangle 18"/>
          <p:cNvSpPr>
            <a:spLocks noChangeArrowheads="1"/>
          </p:cNvSpPr>
          <p:nvPr/>
        </p:nvSpPr>
        <p:spPr bwMode="auto">
          <a:xfrm>
            <a:off x="5102950" y="4730048"/>
            <a:ext cx="3780000" cy="469509"/>
          </a:xfrm>
          <a:prstGeom prst="rect">
            <a:avLst/>
          </a:prstGeom>
          <a:solidFill>
            <a:schemeClr val="bg1"/>
          </a:solidFill>
          <a:ln w="9525" algn="ctr">
            <a:solidFill>
              <a:schemeClr val="bg2"/>
            </a:solidFill>
            <a:miter lim="800000"/>
            <a:headEnd/>
            <a:tailEnd/>
          </a:ln>
          <a:effectLst/>
        </p:spPr>
        <p:txBody>
          <a:bodyPr anchor="ctr"/>
          <a:lstStyle/>
          <a:p>
            <a:pPr algn="just"/>
            <a:r>
              <a:rPr lang="es-PE" sz="1050" dirty="0">
                <a:solidFill>
                  <a:srgbClr val="000000"/>
                </a:solidFill>
              </a:rPr>
              <a:t>El impacto podría darse al momento de las liquidaciones, pero como se le hace un completo seguimiento a las mismas, se pueden detectar posibles errores y corregirlos a tiempo.</a:t>
            </a:r>
            <a:endParaRPr lang="es-ES" sz="1050" dirty="0">
              <a:solidFill>
                <a:srgbClr val="000000"/>
              </a:solidFill>
            </a:endParaRPr>
          </a:p>
        </p:txBody>
      </p:sp>
      <p:sp>
        <p:nvSpPr>
          <p:cNvPr id="79" name="Text Box 30"/>
          <p:cNvSpPr txBox="1">
            <a:spLocks noChangeArrowheads="1"/>
          </p:cNvSpPr>
          <p:nvPr/>
        </p:nvSpPr>
        <p:spPr bwMode="auto">
          <a:xfrm>
            <a:off x="190746" y="4977551"/>
            <a:ext cx="3996000" cy="276999"/>
          </a:xfrm>
          <a:prstGeom prst="rect">
            <a:avLst/>
          </a:prstGeom>
          <a:noFill/>
          <a:ln w="9525" algn="ctr">
            <a:noFill/>
            <a:miter lim="800000"/>
            <a:headEnd/>
            <a:tailEnd/>
          </a:ln>
          <a:effectLst/>
        </p:spPr>
        <p:txBody>
          <a:bodyPr wrap="square">
            <a:spAutoFit/>
          </a:bodyPr>
          <a:lstStyle/>
          <a:p>
            <a:pPr>
              <a:spcBef>
                <a:spcPct val="50000"/>
              </a:spcBef>
            </a:pPr>
            <a:r>
              <a:rPr lang="es-CL" sz="1200" b="1" i="1" dirty="0">
                <a:solidFill>
                  <a:srgbClr val="A3A3E0"/>
                </a:solidFill>
              </a:rPr>
              <a:t>Resultados valoración de controles / factores mitigantes</a:t>
            </a:r>
            <a:endParaRPr lang="es-ES" sz="1200" b="1" i="1" dirty="0">
              <a:solidFill>
                <a:srgbClr val="A3A3E0"/>
              </a:solidFill>
            </a:endParaRPr>
          </a:p>
        </p:txBody>
      </p:sp>
      <p:sp>
        <p:nvSpPr>
          <p:cNvPr id="80" name="AutoShape 179"/>
          <p:cNvSpPr>
            <a:spLocks noChangeArrowheads="1"/>
          </p:cNvSpPr>
          <p:nvPr/>
        </p:nvSpPr>
        <p:spPr bwMode="auto">
          <a:xfrm>
            <a:off x="534831" y="5200032"/>
            <a:ext cx="4037169" cy="864000"/>
          </a:xfrm>
          <a:prstGeom prst="roundRect">
            <a:avLst>
              <a:gd name="adj" fmla="val 9481"/>
            </a:avLst>
          </a:prstGeom>
          <a:solidFill>
            <a:schemeClr val="accent1">
              <a:lumMod val="20000"/>
              <a:lumOff val="80000"/>
            </a:schemeClr>
          </a:solidFill>
          <a:ln w="9525" algn="ctr">
            <a:noFill/>
            <a:round/>
            <a:headEnd/>
            <a:tailEnd/>
          </a:ln>
          <a:effectLst/>
        </p:spPr>
        <p:txBody>
          <a:bodyPr wrap="none" anchor="ctr"/>
          <a:lstStyle/>
          <a:p>
            <a:endParaRPr lang="es-CL">
              <a:solidFill>
                <a:srgbClr val="002060"/>
              </a:solidFill>
            </a:endParaRPr>
          </a:p>
        </p:txBody>
      </p:sp>
      <p:sp>
        <p:nvSpPr>
          <p:cNvPr id="81" name="AutoShape 47"/>
          <p:cNvSpPr>
            <a:spLocks noChangeArrowheads="1"/>
          </p:cNvSpPr>
          <p:nvPr/>
        </p:nvSpPr>
        <p:spPr bwMode="blackWhite">
          <a:xfrm>
            <a:off x="281304" y="5201534"/>
            <a:ext cx="353942" cy="864000"/>
          </a:xfrm>
          <a:prstGeom prst="rightArrow">
            <a:avLst>
              <a:gd name="adj1" fmla="val 100000"/>
              <a:gd name="adj2" fmla="val 11009"/>
            </a:avLst>
          </a:prstGeom>
          <a:solidFill>
            <a:srgbClr val="969696"/>
          </a:solidFill>
          <a:ln w="12700">
            <a:noFill/>
            <a:miter lim="800000"/>
            <a:headEnd/>
            <a:tailEnd/>
          </a:ln>
          <a:effectLst>
            <a:outerShdw dist="35921" dir="2700000" algn="ctr" rotWithShape="0">
              <a:schemeClr val="bg2"/>
            </a:outerShdw>
          </a:effectLst>
        </p:spPr>
        <p:txBody>
          <a:bodyPr vert="vert270" anchor="ctr"/>
          <a:lstStyle/>
          <a:p>
            <a:pPr algn="ctr">
              <a:lnSpc>
                <a:spcPts val="1000"/>
              </a:lnSpc>
            </a:pPr>
            <a:r>
              <a:rPr lang="es-ES" sz="1100" b="1" noProof="1">
                <a:solidFill>
                  <a:srgbClr val="FFFFFF"/>
                </a:solidFill>
                <a:cs typeface="Arial" charset="0"/>
              </a:rPr>
              <a:t>Evaluación de Controles</a:t>
            </a:r>
          </a:p>
        </p:txBody>
      </p:sp>
      <p:sp>
        <p:nvSpPr>
          <p:cNvPr id="82" name="Rectangle 18"/>
          <p:cNvSpPr>
            <a:spLocks noChangeArrowheads="1"/>
          </p:cNvSpPr>
          <p:nvPr/>
        </p:nvSpPr>
        <p:spPr bwMode="auto">
          <a:xfrm>
            <a:off x="3937102" y="5275299"/>
            <a:ext cx="548640" cy="170094"/>
          </a:xfrm>
          <a:prstGeom prst="rect">
            <a:avLst/>
          </a:prstGeom>
          <a:solidFill>
            <a:schemeClr val="bg1"/>
          </a:solidFill>
          <a:ln w="9525" algn="ctr">
            <a:solidFill>
              <a:schemeClr val="bg2"/>
            </a:solidFill>
            <a:miter lim="800000"/>
            <a:headEnd/>
            <a:tailEnd/>
          </a:ln>
          <a:effectLst/>
        </p:spPr>
        <p:txBody>
          <a:bodyPr anchor="ctr"/>
          <a:lstStyle/>
          <a:p>
            <a:pPr algn="ctr"/>
            <a:r>
              <a:rPr lang="es-ES" sz="1100" dirty="0">
                <a:solidFill>
                  <a:srgbClr val="002060"/>
                </a:solidFill>
              </a:rPr>
              <a:t>1</a:t>
            </a:r>
          </a:p>
        </p:txBody>
      </p:sp>
      <p:sp>
        <p:nvSpPr>
          <p:cNvPr id="83" name="Rounded Rectangle 38"/>
          <p:cNvSpPr/>
          <p:nvPr/>
        </p:nvSpPr>
        <p:spPr>
          <a:xfrm>
            <a:off x="705742" y="5275299"/>
            <a:ext cx="3132000" cy="170094"/>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Controles asociados al riesgo</a:t>
            </a:r>
          </a:p>
        </p:txBody>
      </p:sp>
      <p:sp>
        <p:nvSpPr>
          <p:cNvPr id="84" name="Rectangle 18"/>
          <p:cNvSpPr>
            <a:spLocks noChangeArrowheads="1"/>
          </p:cNvSpPr>
          <p:nvPr/>
        </p:nvSpPr>
        <p:spPr bwMode="auto">
          <a:xfrm>
            <a:off x="705742" y="5496307"/>
            <a:ext cx="3780000" cy="469509"/>
          </a:xfrm>
          <a:prstGeom prst="rect">
            <a:avLst/>
          </a:prstGeom>
          <a:solidFill>
            <a:schemeClr val="bg1"/>
          </a:solidFill>
          <a:ln w="9525" algn="ctr">
            <a:solidFill>
              <a:schemeClr val="bg2"/>
            </a:solidFill>
            <a:miter lim="800000"/>
            <a:headEnd/>
            <a:tailEnd/>
          </a:ln>
          <a:effectLst/>
        </p:spPr>
        <p:txBody>
          <a:bodyPr anchor="ctr"/>
          <a:lstStyle/>
          <a:p>
            <a:r>
              <a:rPr lang="es-ES" sz="1100" dirty="0"/>
              <a:t>Antes de enviar las cartas, Operaciones de Inversión revisa las cartas elaboradas en la misma unidad.</a:t>
            </a:r>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dirty="0"/>
              <a:t>Anexo: Ficha Individual Riesgos Operacionales</a:t>
            </a:r>
          </a:p>
        </p:txBody>
      </p:sp>
      <p:sp>
        <p:nvSpPr>
          <p:cNvPr id="3" name="AutoShape 179"/>
          <p:cNvSpPr>
            <a:spLocks noChangeArrowheads="1"/>
          </p:cNvSpPr>
          <p:nvPr/>
        </p:nvSpPr>
        <p:spPr bwMode="auto">
          <a:xfrm>
            <a:off x="611560" y="3535397"/>
            <a:ext cx="3960812" cy="1371600"/>
          </a:xfrm>
          <a:prstGeom prst="roundRect">
            <a:avLst>
              <a:gd name="adj" fmla="val 9481"/>
            </a:avLst>
          </a:prstGeom>
          <a:solidFill>
            <a:schemeClr val="accent1">
              <a:lumMod val="20000"/>
              <a:lumOff val="80000"/>
            </a:schemeClr>
          </a:solidFill>
          <a:ln w="9525" algn="ctr">
            <a:noFill/>
            <a:round/>
            <a:headEnd/>
            <a:tailEnd/>
          </a:ln>
          <a:effectLst/>
        </p:spPr>
        <p:txBody>
          <a:bodyPr wrap="none" anchor="ctr"/>
          <a:lstStyle/>
          <a:p>
            <a:endParaRPr lang="es-CL">
              <a:solidFill>
                <a:srgbClr val="002060"/>
              </a:solidFill>
            </a:endParaRPr>
          </a:p>
        </p:txBody>
      </p:sp>
      <p:sp>
        <p:nvSpPr>
          <p:cNvPr id="4" name="Rounded Rectangle 3"/>
          <p:cNvSpPr/>
          <p:nvPr/>
        </p:nvSpPr>
        <p:spPr>
          <a:xfrm>
            <a:off x="214497" y="764704"/>
            <a:ext cx="397063" cy="274320"/>
          </a:xfrm>
          <a:prstGeom prst="roundRect">
            <a:avLst/>
          </a:prstGeom>
          <a:solidFill>
            <a:srgbClr val="DB0613"/>
          </a:solidFill>
          <a:ln w="9525" algn="ctr">
            <a:noFill/>
            <a:miter lim="800000"/>
            <a:headEnd/>
            <a:tailEnd/>
          </a:ln>
          <a:effectLst/>
        </p:spPr>
        <p:txBody>
          <a:bodyPr anchor="ctr"/>
          <a:lstStyle/>
          <a:p>
            <a:pPr algn="ctr">
              <a:lnSpc>
                <a:spcPct val="80000"/>
              </a:lnSpc>
            </a:pPr>
            <a:r>
              <a:rPr lang="es-CL" sz="1200" b="1" dirty="0">
                <a:solidFill>
                  <a:srgbClr val="FFFFFF"/>
                </a:solidFill>
                <a:cs typeface="Arial" pitchFamily="34" charset="0"/>
              </a:rPr>
              <a:t>29</a:t>
            </a:r>
          </a:p>
        </p:txBody>
      </p:sp>
      <p:sp>
        <p:nvSpPr>
          <p:cNvPr id="5" name="Rectangle 18"/>
          <p:cNvSpPr>
            <a:spLocks noChangeArrowheads="1"/>
          </p:cNvSpPr>
          <p:nvPr/>
        </p:nvSpPr>
        <p:spPr bwMode="auto">
          <a:xfrm>
            <a:off x="227770" y="2409552"/>
            <a:ext cx="6400800" cy="839807"/>
          </a:xfrm>
          <a:prstGeom prst="rect">
            <a:avLst/>
          </a:prstGeom>
          <a:noFill/>
          <a:ln w="9525" algn="ctr">
            <a:solidFill>
              <a:schemeClr val="bg2"/>
            </a:solidFill>
            <a:miter lim="800000"/>
            <a:headEnd/>
            <a:tailEnd/>
          </a:ln>
          <a:effectLst/>
        </p:spPr>
        <p:txBody>
          <a:bodyPr/>
          <a:lstStyle/>
          <a:p>
            <a:r>
              <a:rPr lang="es-ES" sz="1100" dirty="0"/>
              <a:t>El riesgo se da cuando el Subgerente de Operaciones de Inversión tiene impedimentos para ingresar datos en PMS.   </a:t>
            </a:r>
            <a:endParaRPr lang="es-ES" sz="1100" dirty="0">
              <a:solidFill>
                <a:srgbClr val="002060"/>
              </a:solidFill>
            </a:endParaRPr>
          </a:p>
        </p:txBody>
      </p:sp>
      <p:sp>
        <p:nvSpPr>
          <p:cNvPr id="7" name="Text Box 30"/>
          <p:cNvSpPr txBox="1">
            <a:spLocks noChangeArrowheads="1"/>
          </p:cNvSpPr>
          <p:nvPr/>
        </p:nvSpPr>
        <p:spPr bwMode="auto">
          <a:xfrm>
            <a:off x="190747" y="3299257"/>
            <a:ext cx="3671888" cy="276999"/>
          </a:xfrm>
          <a:prstGeom prst="rect">
            <a:avLst/>
          </a:prstGeom>
          <a:noFill/>
          <a:ln w="9525" algn="ctr">
            <a:noFill/>
            <a:miter lim="800000"/>
            <a:headEnd/>
            <a:tailEnd/>
          </a:ln>
          <a:effectLst/>
        </p:spPr>
        <p:txBody>
          <a:bodyPr>
            <a:spAutoFit/>
          </a:bodyPr>
          <a:lstStyle/>
          <a:p>
            <a:pPr>
              <a:spcBef>
                <a:spcPct val="50000"/>
              </a:spcBef>
            </a:pPr>
            <a:r>
              <a:rPr lang="es-CL" sz="1200" b="1" i="1" dirty="0">
                <a:solidFill>
                  <a:srgbClr val="A3A3E0"/>
                </a:solidFill>
              </a:rPr>
              <a:t>Resultados valoración de riesgos</a:t>
            </a:r>
            <a:endParaRPr lang="es-ES" sz="1200" b="1" i="1" dirty="0">
              <a:solidFill>
                <a:srgbClr val="A3A3E0"/>
              </a:solidFill>
            </a:endParaRPr>
          </a:p>
        </p:txBody>
      </p:sp>
      <p:sp>
        <p:nvSpPr>
          <p:cNvPr id="8" name="Rounded Rectangle 7"/>
          <p:cNvSpPr/>
          <p:nvPr/>
        </p:nvSpPr>
        <p:spPr>
          <a:xfrm>
            <a:off x="652842" y="764704"/>
            <a:ext cx="8321040" cy="274320"/>
          </a:xfrm>
          <a:prstGeom prst="roundRect">
            <a:avLst/>
          </a:prstGeom>
          <a:solidFill>
            <a:srgbClr val="DB0613"/>
          </a:solidFill>
          <a:ln w="9525" algn="ctr">
            <a:noFill/>
            <a:miter lim="800000"/>
            <a:headEnd/>
            <a:tailEnd/>
          </a:ln>
          <a:effectLst/>
        </p:spPr>
        <p:txBody>
          <a:bodyPr anchor="ctr"/>
          <a:lstStyle/>
          <a:p>
            <a:pPr>
              <a:lnSpc>
                <a:spcPct val="80000"/>
              </a:lnSpc>
            </a:pPr>
            <a:r>
              <a:rPr lang="es-ES" sz="1200" dirty="0">
                <a:solidFill>
                  <a:schemeClr val="bg1"/>
                </a:solidFill>
              </a:rPr>
              <a:t>Falla en los equipos de IT / telecomunicaciones / software con tiempo de inactividad de los mismos. </a:t>
            </a:r>
            <a:endParaRPr lang="es-CL" sz="1200" b="1" dirty="0">
              <a:solidFill>
                <a:schemeClr val="bg1"/>
              </a:solidFill>
              <a:cs typeface="Arial" pitchFamily="34" charset="0"/>
            </a:endParaRPr>
          </a:p>
        </p:txBody>
      </p:sp>
      <p:sp>
        <p:nvSpPr>
          <p:cNvPr id="9" name="Rounded Rectangle 8"/>
          <p:cNvSpPr/>
          <p:nvPr/>
        </p:nvSpPr>
        <p:spPr>
          <a:xfrm>
            <a:off x="227770" y="2202383"/>
            <a:ext cx="64008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Descripción</a:t>
            </a:r>
          </a:p>
        </p:txBody>
      </p:sp>
      <p:sp>
        <p:nvSpPr>
          <p:cNvPr id="10" name="Rounded Rectangle 9"/>
          <p:cNvSpPr/>
          <p:nvPr/>
        </p:nvSpPr>
        <p:spPr>
          <a:xfrm>
            <a:off x="6716066" y="1089119"/>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Categoría  de Riesgo Nivel I</a:t>
            </a:r>
          </a:p>
        </p:txBody>
      </p:sp>
      <p:sp>
        <p:nvSpPr>
          <p:cNvPr id="11" name="Rectangle 18"/>
          <p:cNvSpPr>
            <a:spLocks noChangeArrowheads="1"/>
          </p:cNvSpPr>
          <p:nvPr/>
        </p:nvSpPr>
        <p:spPr bwMode="auto">
          <a:xfrm>
            <a:off x="6716066" y="1316374"/>
            <a:ext cx="2286000" cy="365760"/>
          </a:xfrm>
          <a:prstGeom prst="rect">
            <a:avLst/>
          </a:prstGeom>
          <a:noFill/>
          <a:ln w="9525" algn="ctr">
            <a:solidFill>
              <a:schemeClr val="bg2"/>
            </a:solidFill>
            <a:miter lim="800000"/>
            <a:headEnd/>
            <a:tailEnd/>
          </a:ln>
          <a:effectLst/>
        </p:spPr>
        <p:txBody>
          <a:bodyPr anchor="ctr"/>
          <a:lstStyle/>
          <a:p>
            <a:pPr>
              <a:lnSpc>
                <a:spcPts val="1000"/>
              </a:lnSpc>
            </a:pPr>
            <a:r>
              <a:rPr lang="es-ES" sz="1100" dirty="0"/>
              <a:t>Incidencias en el negocio y fallos en los sistemas</a:t>
            </a:r>
          </a:p>
        </p:txBody>
      </p:sp>
      <p:sp>
        <p:nvSpPr>
          <p:cNvPr id="12" name="Rounded Rectangle 11"/>
          <p:cNvSpPr/>
          <p:nvPr/>
        </p:nvSpPr>
        <p:spPr>
          <a:xfrm>
            <a:off x="6716066" y="1725169"/>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Categoría de Riesgo Nivel II</a:t>
            </a:r>
          </a:p>
        </p:txBody>
      </p:sp>
      <p:sp>
        <p:nvSpPr>
          <p:cNvPr id="13" name="Rectangle 18"/>
          <p:cNvSpPr>
            <a:spLocks noChangeArrowheads="1"/>
          </p:cNvSpPr>
          <p:nvPr/>
        </p:nvSpPr>
        <p:spPr bwMode="auto">
          <a:xfrm>
            <a:off x="6716066" y="1942710"/>
            <a:ext cx="2286000" cy="274320"/>
          </a:xfrm>
          <a:prstGeom prst="rect">
            <a:avLst/>
          </a:prstGeom>
          <a:noFill/>
          <a:ln w="9525" algn="ctr">
            <a:solidFill>
              <a:schemeClr val="bg2"/>
            </a:solidFill>
            <a:miter lim="800000"/>
            <a:headEnd/>
            <a:tailEnd/>
          </a:ln>
          <a:effectLst/>
        </p:spPr>
        <p:txBody>
          <a:bodyPr anchor="ctr"/>
          <a:lstStyle/>
          <a:p>
            <a:r>
              <a:rPr lang="es-ES" sz="1100" dirty="0"/>
              <a:t>Interrupción del negocio y fallos en los sistemas.</a:t>
            </a:r>
          </a:p>
        </p:txBody>
      </p:sp>
      <p:sp>
        <p:nvSpPr>
          <p:cNvPr id="16" name="Rectangle 18"/>
          <p:cNvSpPr>
            <a:spLocks noChangeArrowheads="1"/>
          </p:cNvSpPr>
          <p:nvPr/>
        </p:nvSpPr>
        <p:spPr bwMode="auto">
          <a:xfrm>
            <a:off x="6716066" y="2524663"/>
            <a:ext cx="2286000" cy="272604"/>
          </a:xfrm>
          <a:prstGeom prst="rect">
            <a:avLst/>
          </a:prstGeom>
          <a:noFill/>
          <a:ln w="9525" algn="ctr">
            <a:solidFill>
              <a:schemeClr val="bg2"/>
            </a:solidFill>
            <a:miter lim="800000"/>
            <a:headEnd/>
            <a:tailEnd/>
          </a:ln>
          <a:effectLst/>
        </p:spPr>
        <p:txBody>
          <a:bodyPr anchor="ctr"/>
          <a:lstStyle/>
          <a:p>
            <a:r>
              <a:rPr lang="es-ES" sz="1100" dirty="0"/>
              <a:t>Cortes en los servicios/Interrupción de las aplicaciones </a:t>
            </a:r>
            <a:endParaRPr lang="es-ES" sz="1100" dirty="0">
              <a:solidFill>
                <a:srgbClr val="002060"/>
              </a:solidFill>
            </a:endParaRPr>
          </a:p>
        </p:txBody>
      </p:sp>
      <p:sp>
        <p:nvSpPr>
          <p:cNvPr id="17" name="Rounded Rectangle 16"/>
          <p:cNvSpPr/>
          <p:nvPr/>
        </p:nvSpPr>
        <p:spPr>
          <a:xfrm>
            <a:off x="227770" y="1110038"/>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Macroproceso</a:t>
            </a:r>
          </a:p>
        </p:txBody>
      </p:sp>
      <p:sp>
        <p:nvSpPr>
          <p:cNvPr id="18" name="Rectangle 18"/>
          <p:cNvSpPr>
            <a:spLocks noChangeArrowheads="1"/>
          </p:cNvSpPr>
          <p:nvPr/>
        </p:nvSpPr>
        <p:spPr bwMode="auto">
          <a:xfrm>
            <a:off x="2568409" y="1110038"/>
            <a:ext cx="4060161" cy="182880"/>
          </a:xfrm>
          <a:prstGeom prst="rect">
            <a:avLst/>
          </a:prstGeom>
          <a:noFill/>
          <a:ln w="9525" algn="ctr">
            <a:solidFill>
              <a:schemeClr val="bg2"/>
            </a:solidFill>
            <a:miter lim="800000"/>
            <a:headEnd/>
            <a:tailEnd/>
          </a:ln>
          <a:effectLst/>
        </p:spPr>
        <p:txBody>
          <a:bodyPr anchor="ctr"/>
          <a:lstStyle/>
          <a:p>
            <a:r>
              <a:rPr lang="es-ES" sz="1100" dirty="0"/>
              <a:t>Administración de Portafolio de Inversiones</a:t>
            </a:r>
          </a:p>
        </p:txBody>
      </p:sp>
      <p:sp>
        <p:nvSpPr>
          <p:cNvPr id="19" name="Rounded Rectangle 18"/>
          <p:cNvSpPr/>
          <p:nvPr/>
        </p:nvSpPr>
        <p:spPr>
          <a:xfrm>
            <a:off x="227770" y="1339045"/>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Proceso</a:t>
            </a:r>
          </a:p>
        </p:txBody>
      </p:sp>
      <p:sp>
        <p:nvSpPr>
          <p:cNvPr id="20" name="Rectangle 18"/>
          <p:cNvSpPr>
            <a:spLocks noChangeArrowheads="1"/>
          </p:cNvSpPr>
          <p:nvPr/>
        </p:nvSpPr>
        <p:spPr bwMode="auto">
          <a:xfrm>
            <a:off x="2568409" y="1339045"/>
            <a:ext cx="4060161" cy="182880"/>
          </a:xfrm>
          <a:prstGeom prst="rect">
            <a:avLst/>
          </a:prstGeom>
          <a:noFill/>
          <a:ln w="9525" algn="ctr">
            <a:solidFill>
              <a:schemeClr val="bg2"/>
            </a:solidFill>
            <a:miter lim="800000"/>
            <a:headEnd/>
            <a:tailEnd/>
          </a:ln>
          <a:effectLst/>
        </p:spPr>
        <p:txBody>
          <a:bodyPr anchor="ctr"/>
          <a:lstStyle/>
          <a:p>
            <a:r>
              <a:rPr lang="es-ES" sz="1100" dirty="0"/>
              <a:t>Administración de fondos</a:t>
            </a:r>
          </a:p>
        </p:txBody>
      </p:sp>
      <p:sp>
        <p:nvSpPr>
          <p:cNvPr id="21" name="Rectangle 29"/>
          <p:cNvSpPr>
            <a:spLocks noChangeArrowheads="1"/>
          </p:cNvSpPr>
          <p:nvPr/>
        </p:nvSpPr>
        <p:spPr bwMode="auto">
          <a:xfrm>
            <a:off x="107504" y="3423715"/>
            <a:ext cx="8961120" cy="1607926"/>
          </a:xfrm>
          <a:prstGeom prst="rect">
            <a:avLst/>
          </a:prstGeom>
          <a:noFill/>
          <a:ln w="19050" cap="rnd" algn="ctr">
            <a:solidFill>
              <a:schemeClr val="bg2"/>
            </a:solidFill>
            <a:prstDash val="sysDot"/>
            <a:miter lim="800000"/>
            <a:headEnd/>
            <a:tailEnd/>
          </a:ln>
          <a:effectLst/>
        </p:spPr>
        <p:txBody>
          <a:bodyPr wrap="none" anchor="ctr"/>
          <a:lstStyle/>
          <a:p>
            <a:endParaRPr lang="en-US">
              <a:solidFill>
                <a:srgbClr val="002060"/>
              </a:solidFill>
            </a:endParaRPr>
          </a:p>
        </p:txBody>
      </p:sp>
      <p:sp>
        <p:nvSpPr>
          <p:cNvPr id="22" name="Rounded Rectangle 21"/>
          <p:cNvSpPr/>
          <p:nvPr/>
        </p:nvSpPr>
        <p:spPr>
          <a:xfrm>
            <a:off x="902959" y="4382163"/>
            <a:ext cx="1920240" cy="182880"/>
          </a:xfrm>
          <a:prstGeom prst="roundRect">
            <a:avLst/>
          </a:prstGeom>
          <a:solidFill>
            <a:srgbClr val="DB0613"/>
          </a:solidFill>
          <a:ln w="9525" algn="ctr">
            <a:noFill/>
            <a:miter lim="800000"/>
            <a:headEnd/>
            <a:tailEnd/>
          </a:ln>
          <a:effectLst/>
        </p:spPr>
        <p:txBody>
          <a:bodyPr tIns="91440" anchor="ctr"/>
          <a:lstStyle/>
          <a:p>
            <a:pPr>
              <a:lnSpc>
                <a:spcPct val="80000"/>
              </a:lnSpc>
            </a:pPr>
            <a:r>
              <a:rPr lang="es-CL" sz="1100" b="1" dirty="0">
                <a:solidFill>
                  <a:srgbClr val="FFFFFF"/>
                </a:solidFill>
                <a:cs typeface="Arial" pitchFamily="34" charset="0"/>
              </a:rPr>
              <a:t>Pérdida Esperada Anual</a:t>
            </a:r>
          </a:p>
        </p:txBody>
      </p:sp>
      <p:sp>
        <p:nvSpPr>
          <p:cNvPr id="23" name="Rectangle 18"/>
          <p:cNvSpPr>
            <a:spLocks noChangeArrowheads="1"/>
          </p:cNvSpPr>
          <p:nvPr/>
        </p:nvSpPr>
        <p:spPr bwMode="auto">
          <a:xfrm>
            <a:off x="2859920" y="4382163"/>
            <a:ext cx="1554480" cy="182880"/>
          </a:xfrm>
          <a:prstGeom prst="rect">
            <a:avLst/>
          </a:prstGeom>
          <a:solidFill>
            <a:schemeClr val="bg1"/>
          </a:solidFill>
          <a:ln w="9525" algn="ctr">
            <a:solidFill>
              <a:schemeClr val="bg2"/>
            </a:solidFill>
            <a:miter lim="800000"/>
            <a:headEnd/>
            <a:tailEnd/>
          </a:ln>
          <a:effectLst/>
        </p:spPr>
        <p:txBody>
          <a:bodyPr anchor="ctr"/>
          <a:lstStyle/>
          <a:p>
            <a:pPr algn="ctr"/>
            <a:r>
              <a:rPr lang="es-ES" sz="1100" dirty="0"/>
              <a:t>S/. 43,350.00</a:t>
            </a:r>
          </a:p>
        </p:txBody>
      </p:sp>
      <p:sp>
        <p:nvSpPr>
          <p:cNvPr id="24" name="Rounded Rectangle 23"/>
          <p:cNvSpPr/>
          <p:nvPr/>
        </p:nvSpPr>
        <p:spPr>
          <a:xfrm>
            <a:off x="902959" y="4611775"/>
            <a:ext cx="192024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VaR Cualitativo Anual</a:t>
            </a:r>
          </a:p>
        </p:txBody>
      </p:sp>
      <p:sp>
        <p:nvSpPr>
          <p:cNvPr id="25" name="Rectangle 18"/>
          <p:cNvSpPr>
            <a:spLocks noChangeArrowheads="1"/>
          </p:cNvSpPr>
          <p:nvPr/>
        </p:nvSpPr>
        <p:spPr bwMode="auto">
          <a:xfrm>
            <a:off x="2859920" y="4611775"/>
            <a:ext cx="1554480" cy="182880"/>
          </a:xfrm>
          <a:prstGeom prst="rect">
            <a:avLst/>
          </a:prstGeom>
          <a:solidFill>
            <a:schemeClr val="bg1"/>
          </a:solidFill>
          <a:ln w="9525" algn="ctr">
            <a:solidFill>
              <a:schemeClr val="bg2"/>
            </a:solidFill>
            <a:miter lim="800000"/>
            <a:headEnd/>
            <a:tailEnd/>
          </a:ln>
          <a:effectLst/>
        </p:spPr>
        <p:txBody>
          <a:bodyPr anchor="ctr"/>
          <a:lstStyle/>
          <a:p>
            <a:pPr algn="ctr"/>
            <a:r>
              <a:rPr lang="es-ES" sz="1100" dirty="0"/>
              <a:t>S/. 4,743,654.29 </a:t>
            </a:r>
          </a:p>
        </p:txBody>
      </p:sp>
      <p:sp>
        <p:nvSpPr>
          <p:cNvPr id="26" name="Rounded Rectangle 25"/>
          <p:cNvSpPr/>
          <p:nvPr/>
        </p:nvSpPr>
        <p:spPr>
          <a:xfrm>
            <a:off x="891084" y="3618777"/>
            <a:ext cx="192024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Frecuencia  Evento Pérdida</a:t>
            </a:r>
          </a:p>
        </p:txBody>
      </p:sp>
      <p:sp>
        <p:nvSpPr>
          <p:cNvPr id="27" name="Rectangle 18"/>
          <p:cNvSpPr>
            <a:spLocks noChangeArrowheads="1"/>
          </p:cNvSpPr>
          <p:nvPr/>
        </p:nvSpPr>
        <p:spPr bwMode="auto">
          <a:xfrm>
            <a:off x="2859920" y="3618777"/>
            <a:ext cx="1554480" cy="182880"/>
          </a:xfrm>
          <a:prstGeom prst="rect">
            <a:avLst/>
          </a:prstGeom>
          <a:solidFill>
            <a:schemeClr val="bg1"/>
          </a:solidFill>
          <a:ln w="9525" algn="ctr">
            <a:solidFill>
              <a:schemeClr val="bg2"/>
            </a:solidFill>
            <a:miter lim="800000"/>
            <a:headEnd/>
            <a:tailEnd/>
          </a:ln>
          <a:effectLst/>
        </p:spPr>
        <p:txBody>
          <a:bodyPr anchor="ctr"/>
          <a:lstStyle/>
          <a:p>
            <a:pPr algn="ctr"/>
            <a:r>
              <a:rPr lang="es-ES" sz="1100" dirty="0"/>
              <a:t>1 vez por siglo</a:t>
            </a:r>
          </a:p>
        </p:txBody>
      </p:sp>
      <p:sp>
        <p:nvSpPr>
          <p:cNvPr id="28" name="Rounded Rectangle 27"/>
          <p:cNvSpPr/>
          <p:nvPr/>
        </p:nvSpPr>
        <p:spPr>
          <a:xfrm>
            <a:off x="891084" y="3848389"/>
            <a:ext cx="192024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Impacto Medio Evento</a:t>
            </a:r>
          </a:p>
        </p:txBody>
      </p:sp>
      <p:sp>
        <p:nvSpPr>
          <p:cNvPr id="29" name="Rectangle 18"/>
          <p:cNvSpPr>
            <a:spLocks noChangeArrowheads="1"/>
          </p:cNvSpPr>
          <p:nvPr/>
        </p:nvSpPr>
        <p:spPr bwMode="auto">
          <a:xfrm>
            <a:off x="2859920" y="3848389"/>
            <a:ext cx="1554480" cy="182880"/>
          </a:xfrm>
          <a:prstGeom prst="rect">
            <a:avLst/>
          </a:prstGeom>
          <a:solidFill>
            <a:schemeClr val="bg1"/>
          </a:solidFill>
          <a:ln w="9525" algn="ctr">
            <a:solidFill>
              <a:schemeClr val="bg2"/>
            </a:solidFill>
            <a:miter lim="800000"/>
            <a:headEnd/>
            <a:tailEnd/>
          </a:ln>
          <a:effectLst/>
        </p:spPr>
        <p:txBody>
          <a:bodyPr anchor="ctr"/>
          <a:lstStyle/>
          <a:p>
            <a:pPr algn="ctr"/>
            <a:r>
              <a:rPr lang="es-ES" sz="1100" dirty="0"/>
              <a:t>S/. 4,335,000.00 </a:t>
            </a:r>
          </a:p>
        </p:txBody>
      </p:sp>
      <p:sp>
        <p:nvSpPr>
          <p:cNvPr id="30" name="Rounded Rectangle 29"/>
          <p:cNvSpPr/>
          <p:nvPr/>
        </p:nvSpPr>
        <p:spPr>
          <a:xfrm>
            <a:off x="891084" y="4083969"/>
            <a:ext cx="192024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Impacto Peor Escenario</a:t>
            </a:r>
          </a:p>
        </p:txBody>
      </p:sp>
      <p:sp>
        <p:nvSpPr>
          <p:cNvPr id="31" name="Rectangle 18"/>
          <p:cNvSpPr>
            <a:spLocks noChangeArrowheads="1"/>
          </p:cNvSpPr>
          <p:nvPr/>
        </p:nvSpPr>
        <p:spPr bwMode="auto">
          <a:xfrm>
            <a:off x="2859920" y="4083969"/>
            <a:ext cx="1554480" cy="182880"/>
          </a:xfrm>
          <a:prstGeom prst="rect">
            <a:avLst/>
          </a:prstGeom>
          <a:solidFill>
            <a:schemeClr val="bg1"/>
          </a:solidFill>
          <a:ln w="9525" algn="ctr">
            <a:solidFill>
              <a:schemeClr val="bg2"/>
            </a:solidFill>
            <a:miter lim="800000"/>
            <a:headEnd/>
            <a:tailEnd/>
          </a:ln>
          <a:effectLst/>
        </p:spPr>
        <p:txBody>
          <a:bodyPr anchor="ctr"/>
          <a:lstStyle/>
          <a:p>
            <a:pPr algn="ctr"/>
            <a:r>
              <a:rPr lang="es-ES" sz="1100" dirty="0"/>
              <a:t>S/. 5,100,000.00</a:t>
            </a:r>
          </a:p>
        </p:txBody>
      </p:sp>
      <p:sp>
        <p:nvSpPr>
          <p:cNvPr id="32" name="AutoShape 47"/>
          <p:cNvSpPr>
            <a:spLocks noChangeAspect="1" noChangeArrowheads="1"/>
          </p:cNvSpPr>
          <p:nvPr/>
        </p:nvSpPr>
        <p:spPr bwMode="blackWhite">
          <a:xfrm>
            <a:off x="263033" y="3533122"/>
            <a:ext cx="492543" cy="1339083"/>
          </a:xfrm>
          <a:prstGeom prst="rightArrow">
            <a:avLst>
              <a:gd name="adj1" fmla="val 100000"/>
              <a:gd name="adj2" fmla="val 11009"/>
            </a:avLst>
          </a:prstGeom>
          <a:solidFill>
            <a:srgbClr val="969696"/>
          </a:solidFill>
          <a:ln w="12700">
            <a:noFill/>
            <a:miter lim="800000"/>
            <a:headEnd/>
            <a:tailEnd/>
          </a:ln>
          <a:effectLst>
            <a:outerShdw dist="35921" dir="2700000" algn="ctr" rotWithShape="0">
              <a:schemeClr val="bg2"/>
            </a:outerShdw>
          </a:effectLst>
        </p:spPr>
        <p:txBody>
          <a:bodyPr vert="vert270" anchor="ctr"/>
          <a:lstStyle/>
          <a:p>
            <a:pPr algn="ctr">
              <a:lnSpc>
                <a:spcPts val="1000"/>
              </a:lnSpc>
            </a:pPr>
            <a:r>
              <a:rPr lang="es-ES" sz="1200" b="1" noProof="1">
                <a:solidFill>
                  <a:srgbClr val="FFFFFF"/>
                </a:solidFill>
                <a:cs typeface="Arial" charset="0"/>
              </a:rPr>
              <a:t>Evaluación Riesgo Operacional</a:t>
            </a:r>
          </a:p>
        </p:txBody>
      </p:sp>
      <p:sp>
        <p:nvSpPr>
          <p:cNvPr id="59" name="Rounded Rectangle 58"/>
          <p:cNvSpPr/>
          <p:nvPr/>
        </p:nvSpPr>
        <p:spPr>
          <a:xfrm>
            <a:off x="223049" y="1554311"/>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Subproceso</a:t>
            </a:r>
          </a:p>
        </p:txBody>
      </p:sp>
      <p:sp>
        <p:nvSpPr>
          <p:cNvPr id="60" name="Rectangle 18"/>
          <p:cNvSpPr>
            <a:spLocks noChangeArrowheads="1"/>
          </p:cNvSpPr>
          <p:nvPr/>
        </p:nvSpPr>
        <p:spPr bwMode="auto">
          <a:xfrm>
            <a:off x="2563688" y="1554311"/>
            <a:ext cx="4064882" cy="182880"/>
          </a:xfrm>
          <a:prstGeom prst="rect">
            <a:avLst/>
          </a:prstGeom>
          <a:noFill/>
          <a:ln w="9525" algn="ctr">
            <a:solidFill>
              <a:schemeClr val="bg2"/>
            </a:solidFill>
            <a:miter lim="800000"/>
            <a:headEnd/>
            <a:tailEnd/>
          </a:ln>
          <a:effectLst/>
        </p:spPr>
        <p:txBody>
          <a:bodyPr anchor="ctr"/>
          <a:lstStyle/>
          <a:p>
            <a:r>
              <a:rPr lang="es-ES" sz="1100" dirty="0"/>
              <a:t>Ingreso y registro de operaciones de inversión</a:t>
            </a:r>
          </a:p>
        </p:txBody>
      </p:sp>
      <p:sp>
        <p:nvSpPr>
          <p:cNvPr id="57" name="Rounded Rectangle 56"/>
          <p:cNvSpPr/>
          <p:nvPr/>
        </p:nvSpPr>
        <p:spPr>
          <a:xfrm>
            <a:off x="223049" y="1771093"/>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Línea de Negocio</a:t>
            </a:r>
          </a:p>
        </p:txBody>
      </p:sp>
      <p:sp>
        <p:nvSpPr>
          <p:cNvPr id="58" name="Rectangle 18"/>
          <p:cNvSpPr>
            <a:spLocks noChangeArrowheads="1"/>
          </p:cNvSpPr>
          <p:nvPr/>
        </p:nvSpPr>
        <p:spPr bwMode="auto">
          <a:xfrm>
            <a:off x="2563688" y="1771093"/>
            <a:ext cx="4064882" cy="182880"/>
          </a:xfrm>
          <a:prstGeom prst="rect">
            <a:avLst/>
          </a:prstGeom>
          <a:noFill/>
          <a:ln w="9525" algn="ctr">
            <a:solidFill>
              <a:schemeClr val="bg2"/>
            </a:solidFill>
            <a:miter lim="800000"/>
            <a:headEnd/>
            <a:tailEnd/>
          </a:ln>
          <a:effectLst/>
        </p:spPr>
        <p:txBody>
          <a:bodyPr anchor="ctr"/>
          <a:lstStyle/>
          <a:p>
            <a:r>
              <a:rPr lang="es-ES" sz="1100" dirty="0"/>
              <a:t>Negociación y ventas</a:t>
            </a:r>
          </a:p>
        </p:txBody>
      </p:sp>
      <p:sp>
        <p:nvSpPr>
          <p:cNvPr id="61" name="Rounded Rectangle 60"/>
          <p:cNvSpPr/>
          <p:nvPr/>
        </p:nvSpPr>
        <p:spPr>
          <a:xfrm>
            <a:off x="223049" y="1986359"/>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Responsable</a:t>
            </a:r>
          </a:p>
        </p:txBody>
      </p:sp>
      <p:sp>
        <p:nvSpPr>
          <p:cNvPr id="62" name="Rectangle 18"/>
          <p:cNvSpPr>
            <a:spLocks noChangeArrowheads="1"/>
          </p:cNvSpPr>
          <p:nvPr/>
        </p:nvSpPr>
        <p:spPr bwMode="auto">
          <a:xfrm>
            <a:off x="2558967" y="1986359"/>
            <a:ext cx="4069603" cy="182880"/>
          </a:xfrm>
          <a:prstGeom prst="rect">
            <a:avLst/>
          </a:prstGeom>
          <a:noFill/>
          <a:ln w="9525" algn="ctr">
            <a:solidFill>
              <a:schemeClr val="bg2"/>
            </a:solidFill>
            <a:miter lim="800000"/>
            <a:headEnd/>
            <a:tailEnd/>
          </a:ln>
          <a:effectLst/>
        </p:spPr>
        <p:txBody>
          <a:bodyPr anchor="ctr"/>
          <a:lstStyle/>
          <a:p>
            <a:r>
              <a:rPr lang="es-ES" sz="1100" dirty="0"/>
              <a:t>Subgerente de Operaciones de Inversión </a:t>
            </a:r>
          </a:p>
        </p:txBody>
      </p:sp>
      <p:sp>
        <p:nvSpPr>
          <p:cNvPr id="63" name="Rounded Rectangle 62"/>
          <p:cNvSpPr/>
          <p:nvPr/>
        </p:nvSpPr>
        <p:spPr>
          <a:xfrm>
            <a:off x="6732240" y="2276457"/>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Categoría de Riesgo Nivel III</a:t>
            </a:r>
          </a:p>
        </p:txBody>
      </p:sp>
      <p:sp>
        <p:nvSpPr>
          <p:cNvPr id="64" name="AutoShape 179"/>
          <p:cNvSpPr>
            <a:spLocks noChangeArrowheads="1"/>
          </p:cNvSpPr>
          <p:nvPr/>
        </p:nvSpPr>
        <p:spPr bwMode="auto">
          <a:xfrm>
            <a:off x="4932039" y="3537391"/>
            <a:ext cx="4037169" cy="864000"/>
          </a:xfrm>
          <a:prstGeom prst="roundRect">
            <a:avLst>
              <a:gd name="adj" fmla="val 9481"/>
            </a:avLst>
          </a:prstGeom>
          <a:solidFill>
            <a:schemeClr val="accent1">
              <a:lumMod val="20000"/>
              <a:lumOff val="80000"/>
            </a:schemeClr>
          </a:solidFill>
          <a:ln w="9525" algn="ctr">
            <a:noFill/>
            <a:round/>
            <a:headEnd/>
            <a:tailEnd/>
          </a:ln>
          <a:effectLst/>
        </p:spPr>
        <p:txBody>
          <a:bodyPr wrap="none" anchor="ctr"/>
          <a:lstStyle/>
          <a:p>
            <a:endParaRPr lang="es-CL">
              <a:solidFill>
                <a:srgbClr val="002060"/>
              </a:solidFill>
            </a:endParaRPr>
          </a:p>
        </p:txBody>
      </p:sp>
      <p:sp>
        <p:nvSpPr>
          <p:cNvPr id="65" name="AutoShape 47"/>
          <p:cNvSpPr>
            <a:spLocks noChangeArrowheads="1"/>
          </p:cNvSpPr>
          <p:nvPr/>
        </p:nvSpPr>
        <p:spPr bwMode="blackWhite">
          <a:xfrm>
            <a:off x="4678512" y="3538893"/>
            <a:ext cx="353942" cy="864000"/>
          </a:xfrm>
          <a:prstGeom prst="rightArrow">
            <a:avLst>
              <a:gd name="adj1" fmla="val 100000"/>
              <a:gd name="adj2" fmla="val 11009"/>
            </a:avLst>
          </a:prstGeom>
          <a:solidFill>
            <a:srgbClr val="969696"/>
          </a:solidFill>
          <a:ln w="12700">
            <a:noFill/>
            <a:miter lim="800000"/>
            <a:headEnd/>
            <a:tailEnd/>
          </a:ln>
          <a:effectLst>
            <a:outerShdw dist="35921" dir="2700000" algn="ctr" rotWithShape="0">
              <a:schemeClr val="bg2"/>
            </a:outerShdw>
          </a:effectLst>
        </p:spPr>
        <p:txBody>
          <a:bodyPr vert="vert270" anchor="ctr"/>
          <a:lstStyle/>
          <a:p>
            <a:pPr algn="ctr">
              <a:lnSpc>
                <a:spcPts val="1000"/>
              </a:lnSpc>
            </a:pPr>
            <a:r>
              <a:rPr lang="es-ES" sz="1100" b="1" noProof="1">
                <a:solidFill>
                  <a:srgbClr val="FFFFFF"/>
                </a:solidFill>
                <a:cs typeface="Arial" charset="0"/>
              </a:rPr>
              <a:t>Impacto Reputacional</a:t>
            </a:r>
          </a:p>
        </p:txBody>
      </p:sp>
      <p:sp>
        <p:nvSpPr>
          <p:cNvPr id="66" name="Rectangle 18"/>
          <p:cNvSpPr>
            <a:spLocks noChangeArrowheads="1"/>
          </p:cNvSpPr>
          <p:nvPr/>
        </p:nvSpPr>
        <p:spPr bwMode="auto">
          <a:xfrm>
            <a:off x="8334310" y="3612658"/>
            <a:ext cx="548640" cy="170094"/>
          </a:xfrm>
          <a:prstGeom prst="rect">
            <a:avLst/>
          </a:prstGeom>
          <a:solidFill>
            <a:schemeClr val="bg1"/>
          </a:solidFill>
          <a:ln w="9525" algn="ctr">
            <a:solidFill>
              <a:schemeClr val="bg2"/>
            </a:solidFill>
            <a:miter lim="800000"/>
            <a:headEnd/>
            <a:tailEnd/>
          </a:ln>
          <a:effectLst/>
        </p:spPr>
        <p:txBody>
          <a:bodyPr anchor="ctr"/>
          <a:lstStyle/>
          <a:p>
            <a:pPr algn="ctr"/>
            <a:r>
              <a:rPr lang="es-ES" sz="1100" dirty="0">
                <a:solidFill>
                  <a:srgbClr val="002060"/>
                </a:solidFill>
              </a:rPr>
              <a:t>1</a:t>
            </a:r>
          </a:p>
        </p:txBody>
      </p:sp>
      <p:sp>
        <p:nvSpPr>
          <p:cNvPr id="67" name="Rounded Rectangle 66"/>
          <p:cNvSpPr/>
          <p:nvPr/>
        </p:nvSpPr>
        <p:spPr>
          <a:xfrm>
            <a:off x="5102950" y="3612658"/>
            <a:ext cx="3132000" cy="170094"/>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Afectación a Clientes</a:t>
            </a:r>
          </a:p>
        </p:txBody>
      </p:sp>
      <p:sp>
        <p:nvSpPr>
          <p:cNvPr id="68" name="Rectangle 18"/>
          <p:cNvSpPr>
            <a:spLocks noChangeArrowheads="1"/>
          </p:cNvSpPr>
          <p:nvPr/>
        </p:nvSpPr>
        <p:spPr bwMode="auto">
          <a:xfrm>
            <a:off x="5102950" y="3830815"/>
            <a:ext cx="3780000" cy="469509"/>
          </a:xfrm>
          <a:prstGeom prst="rect">
            <a:avLst/>
          </a:prstGeom>
          <a:solidFill>
            <a:schemeClr val="bg1"/>
          </a:solidFill>
          <a:ln w="9525" algn="ctr">
            <a:solidFill>
              <a:schemeClr val="bg2"/>
            </a:solidFill>
            <a:miter lim="800000"/>
            <a:headEnd/>
            <a:tailEnd/>
          </a:ln>
          <a:effectLst/>
        </p:spPr>
        <p:txBody>
          <a:bodyPr anchor="ctr"/>
          <a:lstStyle/>
          <a:p>
            <a:r>
              <a:rPr lang="es-ES" sz="1100" dirty="0">
                <a:solidFill>
                  <a:srgbClr val="000000"/>
                </a:solidFill>
              </a:rPr>
              <a:t>La exposición de la imagen es únicamente interna y limitada.</a:t>
            </a:r>
          </a:p>
        </p:txBody>
      </p:sp>
      <p:sp>
        <p:nvSpPr>
          <p:cNvPr id="72" name="AutoShape 179"/>
          <p:cNvSpPr>
            <a:spLocks noChangeArrowheads="1"/>
          </p:cNvSpPr>
          <p:nvPr/>
        </p:nvSpPr>
        <p:spPr bwMode="auto">
          <a:xfrm>
            <a:off x="4927319" y="4441608"/>
            <a:ext cx="4037169" cy="892800"/>
          </a:xfrm>
          <a:prstGeom prst="roundRect">
            <a:avLst>
              <a:gd name="adj" fmla="val 9481"/>
            </a:avLst>
          </a:prstGeom>
          <a:solidFill>
            <a:schemeClr val="accent1">
              <a:lumMod val="20000"/>
              <a:lumOff val="80000"/>
            </a:schemeClr>
          </a:solidFill>
          <a:ln w="9525" algn="ctr">
            <a:noFill/>
            <a:round/>
            <a:headEnd/>
            <a:tailEnd/>
          </a:ln>
          <a:effectLst/>
        </p:spPr>
        <p:txBody>
          <a:bodyPr wrap="none" anchor="ctr"/>
          <a:lstStyle/>
          <a:p>
            <a:endParaRPr lang="es-CL">
              <a:solidFill>
                <a:srgbClr val="002060"/>
              </a:solidFill>
            </a:endParaRPr>
          </a:p>
        </p:txBody>
      </p:sp>
      <p:sp>
        <p:nvSpPr>
          <p:cNvPr id="73" name="AutoShape 47"/>
          <p:cNvSpPr>
            <a:spLocks noChangeArrowheads="1"/>
          </p:cNvSpPr>
          <p:nvPr/>
        </p:nvSpPr>
        <p:spPr bwMode="blackWhite">
          <a:xfrm>
            <a:off x="4673792" y="4443110"/>
            <a:ext cx="352800" cy="892800"/>
          </a:xfrm>
          <a:prstGeom prst="rightArrow">
            <a:avLst>
              <a:gd name="adj1" fmla="val 100000"/>
              <a:gd name="adj2" fmla="val 11009"/>
            </a:avLst>
          </a:prstGeom>
          <a:solidFill>
            <a:srgbClr val="969696"/>
          </a:solidFill>
          <a:ln w="12700">
            <a:noFill/>
            <a:miter lim="800000"/>
            <a:headEnd/>
            <a:tailEnd/>
          </a:ln>
          <a:effectLst>
            <a:outerShdw dist="35921" dir="2700000" algn="ctr" rotWithShape="0">
              <a:schemeClr val="bg2"/>
            </a:outerShdw>
          </a:effectLst>
        </p:spPr>
        <p:txBody>
          <a:bodyPr vert="vert270" anchor="ctr"/>
          <a:lstStyle/>
          <a:p>
            <a:pPr algn="ctr">
              <a:lnSpc>
                <a:spcPts val="1000"/>
              </a:lnSpc>
            </a:pPr>
            <a:r>
              <a:rPr lang="es-ES" sz="1100" b="1" noProof="1">
                <a:solidFill>
                  <a:srgbClr val="FFFFFF"/>
                </a:solidFill>
                <a:cs typeface="Arial" charset="0"/>
              </a:rPr>
              <a:t>Cuestionarios</a:t>
            </a:r>
          </a:p>
        </p:txBody>
      </p:sp>
      <p:sp>
        <p:nvSpPr>
          <p:cNvPr id="75" name="Rounded Rectangle 38"/>
          <p:cNvSpPr/>
          <p:nvPr/>
        </p:nvSpPr>
        <p:spPr>
          <a:xfrm>
            <a:off x="5098230" y="4516875"/>
            <a:ext cx="3132000" cy="170094"/>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Criterios de Evaluación</a:t>
            </a:r>
          </a:p>
        </p:txBody>
      </p:sp>
      <p:sp>
        <p:nvSpPr>
          <p:cNvPr id="76" name="Rectangle 18"/>
          <p:cNvSpPr>
            <a:spLocks noChangeArrowheads="1"/>
          </p:cNvSpPr>
          <p:nvPr/>
        </p:nvSpPr>
        <p:spPr bwMode="auto">
          <a:xfrm>
            <a:off x="5102950" y="4730048"/>
            <a:ext cx="3780000" cy="469509"/>
          </a:xfrm>
          <a:prstGeom prst="rect">
            <a:avLst/>
          </a:prstGeom>
          <a:solidFill>
            <a:schemeClr val="bg1"/>
          </a:solidFill>
          <a:ln w="9525" algn="ctr">
            <a:solidFill>
              <a:schemeClr val="bg2"/>
            </a:solidFill>
            <a:miter lim="800000"/>
            <a:headEnd/>
            <a:tailEnd/>
          </a:ln>
          <a:effectLst/>
        </p:spPr>
        <p:txBody>
          <a:bodyPr anchor="ctr"/>
          <a:lstStyle/>
          <a:p>
            <a:r>
              <a:rPr lang="es-PE" sz="1050" dirty="0">
                <a:solidFill>
                  <a:srgbClr val="000000"/>
                </a:solidFill>
              </a:rPr>
              <a:t>Se estimó un monto promedio ingresado a PMS de USD 1.70 MM. Convertido a soles: S/. 4,335,000.00</a:t>
            </a:r>
            <a:endParaRPr lang="es-ES" sz="1050" dirty="0">
              <a:solidFill>
                <a:srgbClr val="000000"/>
              </a:solidFill>
            </a:endParaRPr>
          </a:p>
        </p:txBody>
      </p:sp>
      <p:sp>
        <p:nvSpPr>
          <p:cNvPr id="77" name="Text Box 30"/>
          <p:cNvSpPr txBox="1">
            <a:spLocks noChangeArrowheads="1"/>
          </p:cNvSpPr>
          <p:nvPr/>
        </p:nvSpPr>
        <p:spPr bwMode="auto">
          <a:xfrm>
            <a:off x="190746" y="4977551"/>
            <a:ext cx="3996000" cy="276999"/>
          </a:xfrm>
          <a:prstGeom prst="rect">
            <a:avLst/>
          </a:prstGeom>
          <a:noFill/>
          <a:ln w="9525" algn="ctr">
            <a:noFill/>
            <a:miter lim="800000"/>
            <a:headEnd/>
            <a:tailEnd/>
          </a:ln>
          <a:effectLst/>
        </p:spPr>
        <p:txBody>
          <a:bodyPr wrap="square">
            <a:spAutoFit/>
          </a:bodyPr>
          <a:lstStyle/>
          <a:p>
            <a:pPr>
              <a:spcBef>
                <a:spcPct val="50000"/>
              </a:spcBef>
            </a:pPr>
            <a:r>
              <a:rPr lang="es-CL" sz="1200" b="1" i="1" dirty="0">
                <a:solidFill>
                  <a:srgbClr val="A3A3E0"/>
                </a:solidFill>
              </a:rPr>
              <a:t>Resultados valoración de controles / factores mitigantes</a:t>
            </a:r>
            <a:endParaRPr lang="es-ES" sz="1200" b="1" i="1" dirty="0">
              <a:solidFill>
                <a:srgbClr val="A3A3E0"/>
              </a:solidFill>
            </a:endParaRPr>
          </a:p>
        </p:txBody>
      </p:sp>
      <p:sp>
        <p:nvSpPr>
          <p:cNvPr id="78" name="AutoShape 179"/>
          <p:cNvSpPr>
            <a:spLocks noChangeArrowheads="1"/>
          </p:cNvSpPr>
          <p:nvPr/>
        </p:nvSpPr>
        <p:spPr bwMode="auto">
          <a:xfrm>
            <a:off x="534831" y="5200032"/>
            <a:ext cx="4037169" cy="864000"/>
          </a:xfrm>
          <a:prstGeom prst="roundRect">
            <a:avLst>
              <a:gd name="adj" fmla="val 9481"/>
            </a:avLst>
          </a:prstGeom>
          <a:solidFill>
            <a:schemeClr val="accent1">
              <a:lumMod val="20000"/>
              <a:lumOff val="80000"/>
            </a:schemeClr>
          </a:solidFill>
          <a:ln w="9525" algn="ctr">
            <a:noFill/>
            <a:round/>
            <a:headEnd/>
            <a:tailEnd/>
          </a:ln>
          <a:effectLst/>
        </p:spPr>
        <p:txBody>
          <a:bodyPr wrap="none" anchor="ctr"/>
          <a:lstStyle/>
          <a:p>
            <a:endParaRPr lang="es-CL">
              <a:solidFill>
                <a:srgbClr val="002060"/>
              </a:solidFill>
            </a:endParaRPr>
          </a:p>
        </p:txBody>
      </p:sp>
      <p:sp>
        <p:nvSpPr>
          <p:cNvPr id="79" name="AutoShape 47"/>
          <p:cNvSpPr>
            <a:spLocks noChangeArrowheads="1"/>
          </p:cNvSpPr>
          <p:nvPr/>
        </p:nvSpPr>
        <p:spPr bwMode="blackWhite">
          <a:xfrm>
            <a:off x="281304" y="5201534"/>
            <a:ext cx="353942" cy="864000"/>
          </a:xfrm>
          <a:prstGeom prst="rightArrow">
            <a:avLst>
              <a:gd name="adj1" fmla="val 100000"/>
              <a:gd name="adj2" fmla="val 11009"/>
            </a:avLst>
          </a:prstGeom>
          <a:solidFill>
            <a:srgbClr val="969696"/>
          </a:solidFill>
          <a:ln w="12700">
            <a:noFill/>
            <a:miter lim="800000"/>
            <a:headEnd/>
            <a:tailEnd/>
          </a:ln>
          <a:effectLst>
            <a:outerShdw dist="35921" dir="2700000" algn="ctr" rotWithShape="0">
              <a:schemeClr val="bg2"/>
            </a:outerShdw>
          </a:effectLst>
        </p:spPr>
        <p:txBody>
          <a:bodyPr vert="vert270" anchor="ctr"/>
          <a:lstStyle/>
          <a:p>
            <a:pPr algn="ctr">
              <a:lnSpc>
                <a:spcPts val="1000"/>
              </a:lnSpc>
            </a:pPr>
            <a:r>
              <a:rPr lang="es-ES" sz="1100" b="1" noProof="1">
                <a:solidFill>
                  <a:srgbClr val="FFFFFF"/>
                </a:solidFill>
                <a:cs typeface="Arial" charset="0"/>
              </a:rPr>
              <a:t>Evaluación de Controles</a:t>
            </a:r>
          </a:p>
        </p:txBody>
      </p:sp>
      <p:sp>
        <p:nvSpPr>
          <p:cNvPr id="80" name="Rectangle 18"/>
          <p:cNvSpPr>
            <a:spLocks noChangeArrowheads="1"/>
          </p:cNvSpPr>
          <p:nvPr/>
        </p:nvSpPr>
        <p:spPr bwMode="auto">
          <a:xfrm>
            <a:off x="3937102" y="5275299"/>
            <a:ext cx="548640" cy="170094"/>
          </a:xfrm>
          <a:prstGeom prst="rect">
            <a:avLst/>
          </a:prstGeom>
          <a:solidFill>
            <a:schemeClr val="bg1"/>
          </a:solidFill>
          <a:ln w="9525" algn="ctr">
            <a:solidFill>
              <a:schemeClr val="bg2"/>
            </a:solidFill>
            <a:miter lim="800000"/>
            <a:headEnd/>
            <a:tailEnd/>
          </a:ln>
          <a:effectLst/>
        </p:spPr>
        <p:txBody>
          <a:bodyPr anchor="ctr"/>
          <a:lstStyle/>
          <a:p>
            <a:pPr algn="ctr"/>
            <a:r>
              <a:rPr lang="es-ES" sz="1100" dirty="0">
                <a:solidFill>
                  <a:srgbClr val="002060"/>
                </a:solidFill>
              </a:rPr>
              <a:t>1</a:t>
            </a:r>
          </a:p>
        </p:txBody>
      </p:sp>
      <p:sp>
        <p:nvSpPr>
          <p:cNvPr id="81" name="Rounded Rectangle 38"/>
          <p:cNvSpPr/>
          <p:nvPr/>
        </p:nvSpPr>
        <p:spPr>
          <a:xfrm>
            <a:off x="705742" y="5275299"/>
            <a:ext cx="3132000" cy="170094"/>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Controles asociados al riesgo</a:t>
            </a:r>
          </a:p>
        </p:txBody>
      </p:sp>
      <p:sp>
        <p:nvSpPr>
          <p:cNvPr id="82" name="Rectangle 18"/>
          <p:cNvSpPr>
            <a:spLocks noChangeArrowheads="1"/>
          </p:cNvSpPr>
          <p:nvPr/>
        </p:nvSpPr>
        <p:spPr bwMode="auto">
          <a:xfrm>
            <a:off x="705742" y="5496307"/>
            <a:ext cx="3780000" cy="469509"/>
          </a:xfrm>
          <a:prstGeom prst="rect">
            <a:avLst/>
          </a:prstGeom>
          <a:solidFill>
            <a:schemeClr val="bg1"/>
          </a:solidFill>
          <a:ln w="9525" algn="ctr">
            <a:solidFill>
              <a:schemeClr val="bg2"/>
            </a:solidFill>
            <a:miter lim="800000"/>
            <a:headEnd/>
            <a:tailEnd/>
          </a:ln>
          <a:effectLst/>
        </p:spPr>
        <p:txBody>
          <a:bodyPr anchor="ctr"/>
          <a:lstStyle/>
          <a:p>
            <a:r>
              <a:rPr lang="es-ES" sz="1100" dirty="0">
                <a:solidFill>
                  <a:srgbClr val="000000"/>
                </a:solidFill>
              </a:rPr>
              <a:t>(NF) Controles por Tecnología para la prevención de falla de los aplicativos.</a:t>
            </a:r>
          </a:p>
        </p:txBody>
      </p:sp>
      <p:sp>
        <p:nvSpPr>
          <p:cNvPr id="83" name="Rounded Rectangle 14"/>
          <p:cNvSpPr/>
          <p:nvPr/>
        </p:nvSpPr>
        <p:spPr>
          <a:xfrm>
            <a:off x="6732240" y="2908110"/>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Origen del Riesgo</a:t>
            </a:r>
          </a:p>
        </p:txBody>
      </p:sp>
      <p:sp>
        <p:nvSpPr>
          <p:cNvPr id="84" name="Rectangle 18"/>
          <p:cNvSpPr>
            <a:spLocks noChangeArrowheads="1"/>
          </p:cNvSpPr>
          <p:nvPr/>
        </p:nvSpPr>
        <p:spPr bwMode="auto">
          <a:xfrm>
            <a:off x="6732240" y="3123375"/>
            <a:ext cx="2286000" cy="270000"/>
          </a:xfrm>
          <a:prstGeom prst="rect">
            <a:avLst/>
          </a:prstGeom>
          <a:noFill/>
          <a:ln w="9525" algn="ctr">
            <a:solidFill>
              <a:schemeClr val="bg2"/>
            </a:solidFill>
            <a:miter lim="800000"/>
            <a:headEnd/>
            <a:tailEnd/>
          </a:ln>
          <a:effectLst/>
        </p:spPr>
        <p:txBody>
          <a:bodyPr anchor="ctr"/>
          <a:lstStyle/>
          <a:p>
            <a:r>
              <a:rPr lang="es-ES" sz="1100" dirty="0">
                <a:solidFill>
                  <a:srgbClr val="000000"/>
                </a:solidFill>
              </a:rPr>
              <a:t>Tecnología</a:t>
            </a:r>
          </a:p>
        </p:txBody>
      </p:sp>
      <p:sp>
        <p:nvSpPr>
          <p:cNvPr id="70" name="TextBox 69"/>
          <p:cNvSpPr txBox="1"/>
          <p:nvPr/>
        </p:nvSpPr>
        <p:spPr>
          <a:xfrm>
            <a:off x="705742" y="5958810"/>
            <a:ext cx="1819944" cy="261610"/>
          </a:xfrm>
          <a:prstGeom prst="rect">
            <a:avLst/>
          </a:prstGeom>
          <a:noFill/>
        </p:spPr>
        <p:txBody>
          <a:bodyPr wrap="square" rtlCol="0">
            <a:spAutoFit/>
          </a:bodyPr>
          <a:lstStyle/>
          <a:p>
            <a:r>
              <a:rPr lang="es-ES" sz="1100" dirty="0"/>
              <a:t>(NF): No Formalizado</a:t>
            </a:r>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dirty="0"/>
              <a:t>Anexo: Ficha Individual Riesgos Operacionales</a:t>
            </a:r>
          </a:p>
        </p:txBody>
      </p:sp>
      <p:sp>
        <p:nvSpPr>
          <p:cNvPr id="3" name="AutoShape 179"/>
          <p:cNvSpPr>
            <a:spLocks noChangeArrowheads="1"/>
          </p:cNvSpPr>
          <p:nvPr/>
        </p:nvSpPr>
        <p:spPr bwMode="auto">
          <a:xfrm>
            <a:off x="611560" y="3535397"/>
            <a:ext cx="3960812" cy="1371600"/>
          </a:xfrm>
          <a:prstGeom prst="roundRect">
            <a:avLst>
              <a:gd name="adj" fmla="val 9481"/>
            </a:avLst>
          </a:prstGeom>
          <a:solidFill>
            <a:schemeClr val="accent1">
              <a:lumMod val="20000"/>
              <a:lumOff val="80000"/>
            </a:schemeClr>
          </a:solidFill>
          <a:ln w="9525" algn="ctr">
            <a:noFill/>
            <a:round/>
            <a:headEnd/>
            <a:tailEnd/>
          </a:ln>
          <a:effectLst/>
        </p:spPr>
        <p:txBody>
          <a:bodyPr wrap="none" anchor="ctr"/>
          <a:lstStyle/>
          <a:p>
            <a:endParaRPr lang="es-CL">
              <a:solidFill>
                <a:srgbClr val="002060"/>
              </a:solidFill>
            </a:endParaRPr>
          </a:p>
        </p:txBody>
      </p:sp>
      <p:sp>
        <p:nvSpPr>
          <p:cNvPr id="4" name="Rounded Rectangle 3"/>
          <p:cNvSpPr/>
          <p:nvPr/>
        </p:nvSpPr>
        <p:spPr>
          <a:xfrm>
            <a:off x="214497" y="764704"/>
            <a:ext cx="397063" cy="274320"/>
          </a:xfrm>
          <a:prstGeom prst="roundRect">
            <a:avLst/>
          </a:prstGeom>
          <a:solidFill>
            <a:srgbClr val="DB0613"/>
          </a:solidFill>
          <a:ln w="9525" algn="ctr">
            <a:noFill/>
            <a:miter lim="800000"/>
            <a:headEnd/>
            <a:tailEnd/>
          </a:ln>
          <a:effectLst/>
        </p:spPr>
        <p:txBody>
          <a:bodyPr anchor="ctr"/>
          <a:lstStyle/>
          <a:p>
            <a:pPr algn="ctr">
              <a:lnSpc>
                <a:spcPct val="80000"/>
              </a:lnSpc>
            </a:pPr>
            <a:r>
              <a:rPr lang="es-CL" sz="1200" b="1" dirty="0">
                <a:solidFill>
                  <a:srgbClr val="FFFFFF"/>
                </a:solidFill>
                <a:cs typeface="Arial" pitchFamily="34" charset="0"/>
              </a:rPr>
              <a:t>30</a:t>
            </a:r>
          </a:p>
        </p:txBody>
      </p:sp>
      <p:sp>
        <p:nvSpPr>
          <p:cNvPr id="5" name="Rectangle 18"/>
          <p:cNvSpPr>
            <a:spLocks noChangeArrowheads="1"/>
          </p:cNvSpPr>
          <p:nvPr/>
        </p:nvSpPr>
        <p:spPr bwMode="auto">
          <a:xfrm>
            <a:off x="227770" y="2409552"/>
            <a:ext cx="6400800" cy="839807"/>
          </a:xfrm>
          <a:prstGeom prst="rect">
            <a:avLst/>
          </a:prstGeom>
          <a:noFill/>
          <a:ln w="9525" algn="ctr">
            <a:solidFill>
              <a:schemeClr val="bg2"/>
            </a:solidFill>
            <a:miter lim="800000"/>
            <a:headEnd/>
            <a:tailEnd/>
          </a:ln>
          <a:effectLst/>
        </p:spPr>
        <p:txBody>
          <a:bodyPr/>
          <a:lstStyle/>
          <a:p>
            <a:r>
              <a:rPr lang="es-ES" sz="1100" dirty="0"/>
              <a:t>Falla (error humano) en la introducción de datos en el sistema PMS debido a ingreso manual de éstos.  </a:t>
            </a:r>
            <a:endParaRPr lang="es-ES" sz="1100" dirty="0">
              <a:solidFill>
                <a:srgbClr val="002060"/>
              </a:solidFill>
            </a:endParaRPr>
          </a:p>
        </p:txBody>
      </p:sp>
      <p:sp>
        <p:nvSpPr>
          <p:cNvPr id="7" name="Text Box 30"/>
          <p:cNvSpPr txBox="1">
            <a:spLocks noChangeArrowheads="1"/>
          </p:cNvSpPr>
          <p:nvPr/>
        </p:nvSpPr>
        <p:spPr bwMode="auto">
          <a:xfrm>
            <a:off x="190747" y="3299257"/>
            <a:ext cx="3671888" cy="276999"/>
          </a:xfrm>
          <a:prstGeom prst="rect">
            <a:avLst/>
          </a:prstGeom>
          <a:noFill/>
          <a:ln w="9525" algn="ctr">
            <a:noFill/>
            <a:miter lim="800000"/>
            <a:headEnd/>
            <a:tailEnd/>
          </a:ln>
          <a:effectLst/>
        </p:spPr>
        <p:txBody>
          <a:bodyPr>
            <a:spAutoFit/>
          </a:bodyPr>
          <a:lstStyle/>
          <a:p>
            <a:pPr>
              <a:spcBef>
                <a:spcPct val="50000"/>
              </a:spcBef>
            </a:pPr>
            <a:r>
              <a:rPr lang="es-CL" sz="1200" b="1" i="1" dirty="0">
                <a:solidFill>
                  <a:srgbClr val="A3A3E0"/>
                </a:solidFill>
              </a:rPr>
              <a:t>Resultados valoración de riesgos</a:t>
            </a:r>
            <a:endParaRPr lang="es-ES" sz="1200" b="1" i="1" dirty="0">
              <a:solidFill>
                <a:srgbClr val="A3A3E0"/>
              </a:solidFill>
            </a:endParaRPr>
          </a:p>
        </p:txBody>
      </p:sp>
      <p:sp>
        <p:nvSpPr>
          <p:cNvPr id="8" name="Rounded Rectangle 7"/>
          <p:cNvSpPr/>
          <p:nvPr/>
        </p:nvSpPr>
        <p:spPr>
          <a:xfrm>
            <a:off x="652842" y="764704"/>
            <a:ext cx="8321040" cy="274320"/>
          </a:xfrm>
          <a:prstGeom prst="roundRect">
            <a:avLst/>
          </a:prstGeom>
          <a:solidFill>
            <a:srgbClr val="DB0613"/>
          </a:solidFill>
          <a:ln w="9525" algn="ctr">
            <a:noFill/>
            <a:miter lim="800000"/>
            <a:headEnd/>
            <a:tailEnd/>
          </a:ln>
          <a:effectLst/>
        </p:spPr>
        <p:txBody>
          <a:bodyPr anchor="ctr"/>
          <a:lstStyle/>
          <a:p>
            <a:pPr>
              <a:lnSpc>
                <a:spcPct val="80000"/>
              </a:lnSpc>
            </a:pPr>
            <a:r>
              <a:rPr lang="es-ES" sz="1200" dirty="0">
                <a:solidFill>
                  <a:schemeClr val="bg1"/>
                </a:solidFill>
              </a:rPr>
              <a:t>Falla en la introducción de datos en el sistema debido a ingreso manual de éstos. </a:t>
            </a:r>
            <a:endParaRPr lang="es-CL" sz="1200" b="1" dirty="0">
              <a:solidFill>
                <a:schemeClr val="bg1"/>
              </a:solidFill>
              <a:cs typeface="Arial" pitchFamily="34" charset="0"/>
            </a:endParaRPr>
          </a:p>
        </p:txBody>
      </p:sp>
      <p:sp>
        <p:nvSpPr>
          <p:cNvPr id="9" name="Rounded Rectangle 8"/>
          <p:cNvSpPr/>
          <p:nvPr/>
        </p:nvSpPr>
        <p:spPr>
          <a:xfrm>
            <a:off x="227770" y="2202383"/>
            <a:ext cx="64008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Descripción</a:t>
            </a:r>
          </a:p>
        </p:txBody>
      </p:sp>
      <p:sp>
        <p:nvSpPr>
          <p:cNvPr id="10" name="Rounded Rectangle 9"/>
          <p:cNvSpPr/>
          <p:nvPr/>
        </p:nvSpPr>
        <p:spPr>
          <a:xfrm>
            <a:off x="6716066" y="1089119"/>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Categoría  de Riesgo Nivel I</a:t>
            </a:r>
          </a:p>
        </p:txBody>
      </p:sp>
      <p:sp>
        <p:nvSpPr>
          <p:cNvPr id="11" name="Rectangle 18"/>
          <p:cNvSpPr>
            <a:spLocks noChangeArrowheads="1"/>
          </p:cNvSpPr>
          <p:nvPr/>
        </p:nvSpPr>
        <p:spPr bwMode="auto">
          <a:xfrm>
            <a:off x="6716066" y="1316374"/>
            <a:ext cx="2286000" cy="365760"/>
          </a:xfrm>
          <a:prstGeom prst="rect">
            <a:avLst/>
          </a:prstGeom>
          <a:noFill/>
          <a:ln w="9525" algn="ctr">
            <a:solidFill>
              <a:schemeClr val="bg2"/>
            </a:solidFill>
            <a:miter lim="800000"/>
            <a:headEnd/>
            <a:tailEnd/>
          </a:ln>
          <a:effectLst/>
        </p:spPr>
        <p:txBody>
          <a:bodyPr anchor="ctr"/>
          <a:lstStyle/>
          <a:p>
            <a:pPr>
              <a:lnSpc>
                <a:spcPts val="1000"/>
              </a:lnSpc>
            </a:pPr>
            <a:r>
              <a:rPr lang="es-ES" sz="1100" dirty="0"/>
              <a:t>Ejecución, entrega y gestión de procesos</a:t>
            </a:r>
          </a:p>
        </p:txBody>
      </p:sp>
      <p:sp>
        <p:nvSpPr>
          <p:cNvPr id="12" name="Rounded Rectangle 11"/>
          <p:cNvSpPr/>
          <p:nvPr/>
        </p:nvSpPr>
        <p:spPr>
          <a:xfrm>
            <a:off x="6716066" y="1725169"/>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Categoría de Riesgo Nivel II</a:t>
            </a:r>
          </a:p>
        </p:txBody>
      </p:sp>
      <p:sp>
        <p:nvSpPr>
          <p:cNvPr id="13" name="Rectangle 18"/>
          <p:cNvSpPr>
            <a:spLocks noChangeArrowheads="1"/>
          </p:cNvSpPr>
          <p:nvPr/>
        </p:nvSpPr>
        <p:spPr bwMode="auto">
          <a:xfrm>
            <a:off x="6716066" y="1942710"/>
            <a:ext cx="2286000" cy="274320"/>
          </a:xfrm>
          <a:prstGeom prst="rect">
            <a:avLst/>
          </a:prstGeom>
          <a:noFill/>
          <a:ln w="9525" algn="ctr">
            <a:solidFill>
              <a:schemeClr val="bg2"/>
            </a:solidFill>
            <a:miter lim="800000"/>
            <a:headEnd/>
            <a:tailEnd/>
          </a:ln>
          <a:effectLst/>
        </p:spPr>
        <p:txBody>
          <a:bodyPr anchor="ctr"/>
          <a:lstStyle/>
          <a:p>
            <a:r>
              <a:rPr lang="es-ES" sz="1100" dirty="0"/>
              <a:t>Recepción, ejecución y mantenimiento de operaciones</a:t>
            </a:r>
          </a:p>
        </p:txBody>
      </p:sp>
      <p:sp>
        <p:nvSpPr>
          <p:cNvPr id="16" name="Rectangle 18"/>
          <p:cNvSpPr>
            <a:spLocks noChangeArrowheads="1"/>
          </p:cNvSpPr>
          <p:nvPr/>
        </p:nvSpPr>
        <p:spPr bwMode="auto">
          <a:xfrm>
            <a:off x="6716066" y="2459338"/>
            <a:ext cx="2286000" cy="285966"/>
          </a:xfrm>
          <a:prstGeom prst="rect">
            <a:avLst/>
          </a:prstGeom>
          <a:noFill/>
          <a:ln w="9525" algn="ctr">
            <a:solidFill>
              <a:schemeClr val="bg2"/>
            </a:solidFill>
            <a:miter lim="800000"/>
            <a:headEnd/>
            <a:tailEnd/>
          </a:ln>
          <a:effectLst/>
        </p:spPr>
        <p:txBody>
          <a:bodyPr anchor="ctr"/>
          <a:lstStyle/>
          <a:p>
            <a:r>
              <a:rPr lang="es-ES" sz="1100" dirty="0"/>
              <a:t>Error en la entrada de datos</a:t>
            </a:r>
            <a:endParaRPr lang="es-ES" sz="1100" dirty="0">
              <a:solidFill>
                <a:srgbClr val="002060"/>
              </a:solidFill>
            </a:endParaRPr>
          </a:p>
        </p:txBody>
      </p:sp>
      <p:sp>
        <p:nvSpPr>
          <p:cNvPr id="17" name="Rounded Rectangle 16"/>
          <p:cNvSpPr/>
          <p:nvPr/>
        </p:nvSpPr>
        <p:spPr>
          <a:xfrm>
            <a:off x="227770" y="1110038"/>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Macroproceso</a:t>
            </a:r>
          </a:p>
        </p:txBody>
      </p:sp>
      <p:sp>
        <p:nvSpPr>
          <p:cNvPr id="18" name="Rectangle 18"/>
          <p:cNvSpPr>
            <a:spLocks noChangeArrowheads="1"/>
          </p:cNvSpPr>
          <p:nvPr/>
        </p:nvSpPr>
        <p:spPr bwMode="auto">
          <a:xfrm>
            <a:off x="2568409" y="1110038"/>
            <a:ext cx="4060161" cy="182880"/>
          </a:xfrm>
          <a:prstGeom prst="rect">
            <a:avLst/>
          </a:prstGeom>
          <a:noFill/>
          <a:ln w="9525" algn="ctr">
            <a:solidFill>
              <a:schemeClr val="bg2"/>
            </a:solidFill>
            <a:miter lim="800000"/>
            <a:headEnd/>
            <a:tailEnd/>
          </a:ln>
          <a:effectLst/>
        </p:spPr>
        <p:txBody>
          <a:bodyPr anchor="ctr"/>
          <a:lstStyle/>
          <a:p>
            <a:r>
              <a:rPr lang="es-ES" sz="1100" dirty="0"/>
              <a:t>Administración de Portafolio de Inversiones</a:t>
            </a:r>
          </a:p>
        </p:txBody>
      </p:sp>
      <p:sp>
        <p:nvSpPr>
          <p:cNvPr id="19" name="Rounded Rectangle 18"/>
          <p:cNvSpPr/>
          <p:nvPr/>
        </p:nvSpPr>
        <p:spPr>
          <a:xfrm>
            <a:off x="227770" y="1339045"/>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Proceso</a:t>
            </a:r>
          </a:p>
        </p:txBody>
      </p:sp>
      <p:sp>
        <p:nvSpPr>
          <p:cNvPr id="20" name="Rectangle 18"/>
          <p:cNvSpPr>
            <a:spLocks noChangeArrowheads="1"/>
          </p:cNvSpPr>
          <p:nvPr/>
        </p:nvSpPr>
        <p:spPr bwMode="auto">
          <a:xfrm>
            <a:off x="2568409" y="1339045"/>
            <a:ext cx="4060161" cy="182880"/>
          </a:xfrm>
          <a:prstGeom prst="rect">
            <a:avLst/>
          </a:prstGeom>
          <a:noFill/>
          <a:ln w="9525" algn="ctr">
            <a:solidFill>
              <a:schemeClr val="bg2"/>
            </a:solidFill>
            <a:miter lim="800000"/>
            <a:headEnd/>
            <a:tailEnd/>
          </a:ln>
          <a:effectLst/>
        </p:spPr>
        <p:txBody>
          <a:bodyPr anchor="ctr"/>
          <a:lstStyle/>
          <a:p>
            <a:r>
              <a:rPr lang="es-ES" sz="1100" dirty="0"/>
              <a:t>Administración de fondos</a:t>
            </a:r>
          </a:p>
        </p:txBody>
      </p:sp>
      <p:sp>
        <p:nvSpPr>
          <p:cNvPr id="21" name="Rectangle 29"/>
          <p:cNvSpPr>
            <a:spLocks noChangeArrowheads="1"/>
          </p:cNvSpPr>
          <p:nvPr/>
        </p:nvSpPr>
        <p:spPr bwMode="auto">
          <a:xfrm>
            <a:off x="107504" y="3423715"/>
            <a:ext cx="8961120" cy="1607926"/>
          </a:xfrm>
          <a:prstGeom prst="rect">
            <a:avLst/>
          </a:prstGeom>
          <a:noFill/>
          <a:ln w="19050" cap="rnd" algn="ctr">
            <a:solidFill>
              <a:schemeClr val="bg2"/>
            </a:solidFill>
            <a:prstDash val="sysDot"/>
            <a:miter lim="800000"/>
            <a:headEnd/>
            <a:tailEnd/>
          </a:ln>
          <a:effectLst/>
        </p:spPr>
        <p:txBody>
          <a:bodyPr wrap="none" anchor="ctr"/>
          <a:lstStyle/>
          <a:p>
            <a:endParaRPr lang="en-US">
              <a:solidFill>
                <a:srgbClr val="002060"/>
              </a:solidFill>
            </a:endParaRPr>
          </a:p>
        </p:txBody>
      </p:sp>
      <p:sp>
        <p:nvSpPr>
          <p:cNvPr id="22" name="Rounded Rectangle 21"/>
          <p:cNvSpPr/>
          <p:nvPr/>
        </p:nvSpPr>
        <p:spPr>
          <a:xfrm>
            <a:off x="902959" y="4382163"/>
            <a:ext cx="1920240" cy="182880"/>
          </a:xfrm>
          <a:prstGeom prst="roundRect">
            <a:avLst/>
          </a:prstGeom>
          <a:solidFill>
            <a:srgbClr val="DB0613"/>
          </a:solidFill>
          <a:ln w="9525" algn="ctr">
            <a:noFill/>
            <a:miter lim="800000"/>
            <a:headEnd/>
            <a:tailEnd/>
          </a:ln>
          <a:effectLst/>
        </p:spPr>
        <p:txBody>
          <a:bodyPr tIns="91440" anchor="ctr"/>
          <a:lstStyle/>
          <a:p>
            <a:pPr>
              <a:lnSpc>
                <a:spcPct val="80000"/>
              </a:lnSpc>
            </a:pPr>
            <a:r>
              <a:rPr lang="es-CL" sz="1100" b="1" dirty="0">
                <a:solidFill>
                  <a:srgbClr val="FFFFFF"/>
                </a:solidFill>
                <a:cs typeface="Arial" pitchFamily="34" charset="0"/>
              </a:rPr>
              <a:t>Pérdida Esperada Anual</a:t>
            </a:r>
          </a:p>
        </p:txBody>
      </p:sp>
      <p:sp>
        <p:nvSpPr>
          <p:cNvPr id="23" name="Rectangle 18"/>
          <p:cNvSpPr>
            <a:spLocks noChangeArrowheads="1"/>
          </p:cNvSpPr>
          <p:nvPr/>
        </p:nvSpPr>
        <p:spPr bwMode="auto">
          <a:xfrm>
            <a:off x="2859920" y="4382163"/>
            <a:ext cx="1554480" cy="182880"/>
          </a:xfrm>
          <a:prstGeom prst="rect">
            <a:avLst/>
          </a:prstGeom>
          <a:solidFill>
            <a:schemeClr val="bg1"/>
          </a:solidFill>
          <a:ln w="9525" algn="ctr">
            <a:solidFill>
              <a:schemeClr val="bg2"/>
            </a:solidFill>
            <a:miter lim="800000"/>
            <a:headEnd/>
            <a:tailEnd/>
          </a:ln>
          <a:effectLst/>
        </p:spPr>
        <p:txBody>
          <a:bodyPr anchor="ctr"/>
          <a:lstStyle/>
          <a:p>
            <a:pPr algn="ctr"/>
            <a:r>
              <a:rPr lang="es-ES" sz="1100" dirty="0"/>
              <a:t>S/. 0.00</a:t>
            </a:r>
          </a:p>
        </p:txBody>
      </p:sp>
      <p:sp>
        <p:nvSpPr>
          <p:cNvPr id="24" name="Rounded Rectangle 23"/>
          <p:cNvSpPr/>
          <p:nvPr/>
        </p:nvSpPr>
        <p:spPr>
          <a:xfrm>
            <a:off x="902959" y="4611775"/>
            <a:ext cx="192024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VaR Cualitativo Anual</a:t>
            </a:r>
          </a:p>
        </p:txBody>
      </p:sp>
      <p:sp>
        <p:nvSpPr>
          <p:cNvPr id="25" name="Rectangle 18"/>
          <p:cNvSpPr>
            <a:spLocks noChangeArrowheads="1"/>
          </p:cNvSpPr>
          <p:nvPr/>
        </p:nvSpPr>
        <p:spPr bwMode="auto">
          <a:xfrm>
            <a:off x="2859920" y="4611775"/>
            <a:ext cx="1554480" cy="182880"/>
          </a:xfrm>
          <a:prstGeom prst="rect">
            <a:avLst/>
          </a:prstGeom>
          <a:solidFill>
            <a:schemeClr val="bg1"/>
          </a:solidFill>
          <a:ln w="9525" algn="ctr">
            <a:solidFill>
              <a:schemeClr val="bg2"/>
            </a:solidFill>
            <a:miter lim="800000"/>
            <a:headEnd/>
            <a:tailEnd/>
          </a:ln>
          <a:effectLst/>
        </p:spPr>
        <p:txBody>
          <a:bodyPr anchor="ctr"/>
          <a:lstStyle/>
          <a:p>
            <a:pPr algn="ctr"/>
            <a:r>
              <a:rPr lang="es-ES" sz="1100" dirty="0"/>
              <a:t>S/. 0.00</a:t>
            </a:r>
          </a:p>
        </p:txBody>
      </p:sp>
      <p:sp>
        <p:nvSpPr>
          <p:cNvPr id="26" name="Rounded Rectangle 25"/>
          <p:cNvSpPr/>
          <p:nvPr/>
        </p:nvSpPr>
        <p:spPr>
          <a:xfrm>
            <a:off x="891084" y="3618777"/>
            <a:ext cx="192024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Frecuencia  Evento Pérdida</a:t>
            </a:r>
          </a:p>
        </p:txBody>
      </p:sp>
      <p:sp>
        <p:nvSpPr>
          <p:cNvPr id="27" name="Rectangle 18"/>
          <p:cNvSpPr>
            <a:spLocks noChangeArrowheads="1"/>
          </p:cNvSpPr>
          <p:nvPr/>
        </p:nvSpPr>
        <p:spPr bwMode="auto">
          <a:xfrm>
            <a:off x="2859920" y="3618777"/>
            <a:ext cx="1554480" cy="182880"/>
          </a:xfrm>
          <a:prstGeom prst="rect">
            <a:avLst/>
          </a:prstGeom>
          <a:solidFill>
            <a:schemeClr val="bg1"/>
          </a:solidFill>
          <a:ln w="9525" algn="ctr">
            <a:solidFill>
              <a:schemeClr val="bg2"/>
            </a:solidFill>
            <a:miter lim="800000"/>
            <a:headEnd/>
            <a:tailEnd/>
          </a:ln>
          <a:effectLst/>
        </p:spPr>
        <p:txBody>
          <a:bodyPr anchor="ctr"/>
          <a:lstStyle/>
          <a:p>
            <a:pPr algn="ctr"/>
            <a:r>
              <a:rPr lang="es-ES" sz="1100" dirty="0"/>
              <a:t>1 vez por año</a:t>
            </a:r>
          </a:p>
        </p:txBody>
      </p:sp>
      <p:sp>
        <p:nvSpPr>
          <p:cNvPr id="28" name="Rounded Rectangle 27"/>
          <p:cNvSpPr/>
          <p:nvPr/>
        </p:nvSpPr>
        <p:spPr>
          <a:xfrm>
            <a:off x="891084" y="3848389"/>
            <a:ext cx="192024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Impacto Medio Evento</a:t>
            </a:r>
          </a:p>
        </p:txBody>
      </p:sp>
      <p:sp>
        <p:nvSpPr>
          <p:cNvPr id="29" name="Rectangle 18"/>
          <p:cNvSpPr>
            <a:spLocks noChangeArrowheads="1"/>
          </p:cNvSpPr>
          <p:nvPr/>
        </p:nvSpPr>
        <p:spPr bwMode="auto">
          <a:xfrm>
            <a:off x="2859920" y="3848389"/>
            <a:ext cx="1554480" cy="182880"/>
          </a:xfrm>
          <a:prstGeom prst="rect">
            <a:avLst/>
          </a:prstGeom>
          <a:solidFill>
            <a:schemeClr val="bg1"/>
          </a:solidFill>
          <a:ln w="9525" algn="ctr">
            <a:solidFill>
              <a:schemeClr val="bg2"/>
            </a:solidFill>
            <a:miter lim="800000"/>
            <a:headEnd/>
            <a:tailEnd/>
          </a:ln>
          <a:effectLst/>
        </p:spPr>
        <p:txBody>
          <a:bodyPr anchor="ctr"/>
          <a:lstStyle/>
          <a:p>
            <a:pPr algn="ctr"/>
            <a:r>
              <a:rPr lang="es-ES" sz="1100" dirty="0"/>
              <a:t>S/. 0.00</a:t>
            </a:r>
          </a:p>
        </p:txBody>
      </p:sp>
      <p:sp>
        <p:nvSpPr>
          <p:cNvPr id="30" name="Rounded Rectangle 29"/>
          <p:cNvSpPr/>
          <p:nvPr/>
        </p:nvSpPr>
        <p:spPr>
          <a:xfrm>
            <a:off x="891084" y="4083969"/>
            <a:ext cx="192024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Impacto Peor Escenario</a:t>
            </a:r>
          </a:p>
        </p:txBody>
      </p:sp>
      <p:sp>
        <p:nvSpPr>
          <p:cNvPr id="31" name="Rectangle 18"/>
          <p:cNvSpPr>
            <a:spLocks noChangeArrowheads="1"/>
          </p:cNvSpPr>
          <p:nvPr/>
        </p:nvSpPr>
        <p:spPr bwMode="auto">
          <a:xfrm>
            <a:off x="2859920" y="4083969"/>
            <a:ext cx="1554480" cy="182880"/>
          </a:xfrm>
          <a:prstGeom prst="rect">
            <a:avLst/>
          </a:prstGeom>
          <a:solidFill>
            <a:schemeClr val="bg1"/>
          </a:solidFill>
          <a:ln w="9525" algn="ctr">
            <a:solidFill>
              <a:schemeClr val="bg2"/>
            </a:solidFill>
            <a:miter lim="800000"/>
            <a:headEnd/>
            <a:tailEnd/>
          </a:ln>
          <a:effectLst/>
        </p:spPr>
        <p:txBody>
          <a:bodyPr anchor="ctr"/>
          <a:lstStyle/>
          <a:p>
            <a:pPr algn="ctr"/>
            <a:r>
              <a:rPr lang="es-ES" sz="1100" dirty="0"/>
              <a:t>S/. 0.00</a:t>
            </a:r>
          </a:p>
        </p:txBody>
      </p:sp>
      <p:sp>
        <p:nvSpPr>
          <p:cNvPr id="32" name="AutoShape 47"/>
          <p:cNvSpPr>
            <a:spLocks noChangeAspect="1" noChangeArrowheads="1"/>
          </p:cNvSpPr>
          <p:nvPr/>
        </p:nvSpPr>
        <p:spPr bwMode="blackWhite">
          <a:xfrm>
            <a:off x="263033" y="3533122"/>
            <a:ext cx="492543" cy="1339083"/>
          </a:xfrm>
          <a:prstGeom prst="rightArrow">
            <a:avLst>
              <a:gd name="adj1" fmla="val 100000"/>
              <a:gd name="adj2" fmla="val 11009"/>
            </a:avLst>
          </a:prstGeom>
          <a:solidFill>
            <a:srgbClr val="969696"/>
          </a:solidFill>
          <a:ln w="12700">
            <a:noFill/>
            <a:miter lim="800000"/>
            <a:headEnd/>
            <a:tailEnd/>
          </a:ln>
          <a:effectLst>
            <a:outerShdw dist="35921" dir="2700000" algn="ctr" rotWithShape="0">
              <a:schemeClr val="bg2"/>
            </a:outerShdw>
          </a:effectLst>
        </p:spPr>
        <p:txBody>
          <a:bodyPr vert="vert270" anchor="ctr"/>
          <a:lstStyle/>
          <a:p>
            <a:pPr algn="ctr">
              <a:lnSpc>
                <a:spcPts val="1000"/>
              </a:lnSpc>
            </a:pPr>
            <a:r>
              <a:rPr lang="es-ES" sz="1200" b="1" noProof="1">
                <a:solidFill>
                  <a:srgbClr val="FFFFFF"/>
                </a:solidFill>
                <a:cs typeface="Arial" charset="0"/>
              </a:rPr>
              <a:t>Evaluación Riesgo Operacional</a:t>
            </a:r>
          </a:p>
        </p:txBody>
      </p:sp>
      <p:sp>
        <p:nvSpPr>
          <p:cNvPr id="59" name="Rounded Rectangle 58"/>
          <p:cNvSpPr/>
          <p:nvPr/>
        </p:nvSpPr>
        <p:spPr>
          <a:xfrm>
            <a:off x="223049" y="1554311"/>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Subproceso</a:t>
            </a:r>
          </a:p>
        </p:txBody>
      </p:sp>
      <p:sp>
        <p:nvSpPr>
          <p:cNvPr id="60" name="Rectangle 18"/>
          <p:cNvSpPr>
            <a:spLocks noChangeArrowheads="1"/>
          </p:cNvSpPr>
          <p:nvPr/>
        </p:nvSpPr>
        <p:spPr bwMode="auto">
          <a:xfrm>
            <a:off x="2563688" y="1554311"/>
            <a:ext cx="4064882" cy="182880"/>
          </a:xfrm>
          <a:prstGeom prst="rect">
            <a:avLst/>
          </a:prstGeom>
          <a:noFill/>
          <a:ln w="9525" algn="ctr">
            <a:solidFill>
              <a:schemeClr val="bg2"/>
            </a:solidFill>
            <a:miter lim="800000"/>
            <a:headEnd/>
            <a:tailEnd/>
          </a:ln>
          <a:effectLst/>
        </p:spPr>
        <p:txBody>
          <a:bodyPr anchor="ctr"/>
          <a:lstStyle/>
          <a:p>
            <a:r>
              <a:rPr lang="es-ES" sz="1100" dirty="0"/>
              <a:t>Ingreso y registro de operaciones de inversión</a:t>
            </a:r>
          </a:p>
        </p:txBody>
      </p:sp>
      <p:sp>
        <p:nvSpPr>
          <p:cNvPr id="57" name="Rounded Rectangle 56"/>
          <p:cNvSpPr/>
          <p:nvPr/>
        </p:nvSpPr>
        <p:spPr>
          <a:xfrm>
            <a:off x="223049" y="1771093"/>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Línea de Negocio</a:t>
            </a:r>
          </a:p>
        </p:txBody>
      </p:sp>
      <p:sp>
        <p:nvSpPr>
          <p:cNvPr id="58" name="Rectangle 18"/>
          <p:cNvSpPr>
            <a:spLocks noChangeArrowheads="1"/>
          </p:cNvSpPr>
          <p:nvPr/>
        </p:nvSpPr>
        <p:spPr bwMode="auto">
          <a:xfrm>
            <a:off x="2563688" y="1771093"/>
            <a:ext cx="4064882" cy="182880"/>
          </a:xfrm>
          <a:prstGeom prst="rect">
            <a:avLst/>
          </a:prstGeom>
          <a:noFill/>
          <a:ln w="9525" algn="ctr">
            <a:solidFill>
              <a:schemeClr val="bg2"/>
            </a:solidFill>
            <a:miter lim="800000"/>
            <a:headEnd/>
            <a:tailEnd/>
          </a:ln>
          <a:effectLst/>
        </p:spPr>
        <p:txBody>
          <a:bodyPr anchor="ctr"/>
          <a:lstStyle/>
          <a:p>
            <a:r>
              <a:rPr lang="es-ES" sz="1100" dirty="0"/>
              <a:t>Negociación y ventas</a:t>
            </a:r>
          </a:p>
        </p:txBody>
      </p:sp>
      <p:sp>
        <p:nvSpPr>
          <p:cNvPr id="61" name="Rounded Rectangle 60"/>
          <p:cNvSpPr/>
          <p:nvPr/>
        </p:nvSpPr>
        <p:spPr>
          <a:xfrm>
            <a:off x="223049" y="1986359"/>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Responsable</a:t>
            </a:r>
          </a:p>
        </p:txBody>
      </p:sp>
      <p:sp>
        <p:nvSpPr>
          <p:cNvPr id="62" name="Rectangle 18"/>
          <p:cNvSpPr>
            <a:spLocks noChangeArrowheads="1"/>
          </p:cNvSpPr>
          <p:nvPr/>
        </p:nvSpPr>
        <p:spPr bwMode="auto">
          <a:xfrm>
            <a:off x="2558967" y="1986359"/>
            <a:ext cx="4069603" cy="182880"/>
          </a:xfrm>
          <a:prstGeom prst="rect">
            <a:avLst/>
          </a:prstGeom>
          <a:noFill/>
          <a:ln w="9525" algn="ctr">
            <a:solidFill>
              <a:schemeClr val="bg2"/>
            </a:solidFill>
            <a:miter lim="800000"/>
            <a:headEnd/>
            <a:tailEnd/>
          </a:ln>
          <a:effectLst/>
        </p:spPr>
        <p:txBody>
          <a:bodyPr anchor="ctr"/>
          <a:lstStyle/>
          <a:p>
            <a:r>
              <a:rPr lang="es-ES" sz="1100" dirty="0"/>
              <a:t>Subgerente de Operaciones de Inversión </a:t>
            </a:r>
          </a:p>
        </p:txBody>
      </p:sp>
      <p:sp>
        <p:nvSpPr>
          <p:cNvPr id="63" name="Rounded Rectangle 62"/>
          <p:cNvSpPr/>
          <p:nvPr/>
        </p:nvSpPr>
        <p:spPr>
          <a:xfrm>
            <a:off x="6732240" y="2276457"/>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Categoría de Riesgo Nivel III</a:t>
            </a:r>
          </a:p>
        </p:txBody>
      </p:sp>
      <p:sp>
        <p:nvSpPr>
          <p:cNvPr id="64" name="Rounded Rectangle 14"/>
          <p:cNvSpPr/>
          <p:nvPr/>
        </p:nvSpPr>
        <p:spPr>
          <a:xfrm>
            <a:off x="6732240" y="2817311"/>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Origen del Riesgo</a:t>
            </a:r>
          </a:p>
        </p:txBody>
      </p:sp>
      <p:sp>
        <p:nvSpPr>
          <p:cNvPr id="65" name="Rectangle 18"/>
          <p:cNvSpPr>
            <a:spLocks noChangeArrowheads="1"/>
          </p:cNvSpPr>
          <p:nvPr/>
        </p:nvSpPr>
        <p:spPr bwMode="auto">
          <a:xfrm>
            <a:off x="6732240" y="3032576"/>
            <a:ext cx="2286000" cy="270000"/>
          </a:xfrm>
          <a:prstGeom prst="rect">
            <a:avLst/>
          </a:prstGeom>
          <a:noFill/>
          <a:ln w="9525" algn="ctr">
            <a:solidFill>
              <a:schemeClr val="bg2"/>
            </a:solidFill>
            <a:miter lim="800000"/>
            <a:headEnd/>
            <a:tailEnd/>
          </a:ln>
          <a:effectLst/>
        </p:spPr>
        <p:txBody>
          <a:bodyPr anchor="ctr"/>
          <a:lstStyle/>
          <a:p>
            <a:r>
              <a:rPr lang="es-ES" sz="1100" dirty="0">
                <a:solidFill>
                  <a:srgbClr val="000000"/>
                </a:solidFill>
              </a:rPr>
              <a:t>Personas/Procesos</a:t>
            </a:r>
          </a:p>
        </p:txBody>
      </p:sp>
      <p:sp>
        <p:nvSpPr>
          <p:cNvPr id="66" name="AutoShape 179"/>
          <p:cNvSpPr>
            <a:spLocks noChangeArrowheads="1"/>
          </p:cNvSpPr>
          <p:nvPr/>
        </p:nvSpPr>
        <p:spPr bwMode="auto">
          <a:xfrm>
            <a:off x="4932039" y="3537391"/>
            <a:ext cx="4037169" cy="864000"/>
          </a:xfrm>
          <a:prstGeom prst="roundRect">
            <a:avLst>
              <a:gd name="adj" fmla="val 9481"/>
            </a:avLst>
          </a:prstGeom>
          <a:solidFill>
            <a:schemeClr val="accent1">
              <a:lumMod val="20000"/>
              <a:lumOff val="80000"/>
            </a:schemeClr>
          </a:solidFill>
          <a:ln w="9525" algn="ctr">
            <a:noFill/>
            <a:round/>
            <a:headEnd/>
            <a:tailEnd/>
          </a:ln>
          <a:effectLst/>
        </p:spPr>
        <p:txBody>
          <a:bodyPr wrap="none" anchor="ctr"/>
          <a:lstStyle/>
          <a:p>
            <a:endParaRPr lang="es-CL">
              <a:solidFill>
                <a:srgbClr val="002060"/>
              </a:solidFill>
            </a:endParaRPr>
          </a:p>
        </p:txBody>
      </p:sp>
      <p:sp>
        <p:nvSpPr>
          <p:cNvPr id="67" name="AutoShape 47"/>
          <p:cNvSpPr>
            <a:spLocks noChangeArrowheads="1"/>
          </p:cNvSpPr>
          <p:nvPr/>
        </p:nvSpPr>
        <p:spPr bwMode="blackWhite">
          <a:xfrm>
            <a:off x="4678512" y="3538893"/>
            <a:ext cx="353942" cy="864000"/>
          </a:xfrm>
          <a:prstGeom prst="rightArrow">
            <a:avLst>
              <a:gd name="adj1" fmla="val 100000"/>
              <a:gd name="adj2" fmla="val 11009"/>
            </a:avLst>
          </a:prstGeom>
          <a:solidFill>
            <a:srgbClr val="969696"/>
          </a:solidFill>
          <a:ln w="12700">
            <a:noFill/>
            <a:miter lim="800000"/>
            <a:headEnd/>
            <a:tailEnd/>
          </a:ln>
          <a:effectLst>
            <a:outerShdw dist="35921" dir="2700000" algn="ctr" rotWithShape="0">
              <a:schemeClr val="bg2"/>
            </a:outerShdw>
          </a:effectLst>
        </p:spPr>
        <p:txBody>
          <a:bodyPr vert="vert270" anchor="ctr"/>
          <a:lstStyle/>
          <a:p>
            <a:pPr algn="ctr">
              <a:lnSpc>
                <a:spcPts val="1000"/>
              </a:lnSpc>
            </a:pPr>
            <a:r>
              <a:rPr lang="es-ES" sz="1100" b="1" noProof="1">
                <a:solidFill>
                  <a:srgbClr val="FFFFFF"/>
                </a:solidFill>
                <a:cs typeface="Arial" charset="0"/>
              </a:rPr>
              <a:t>Impacto Reputacional</a:t>
            </a:r>
          </a:p>
        </p:txBody>
      </p:sp>
      <p:sp>
        <p:nvSpPr>
          <p:cNvPr id="68" name="Rectangle 18"/>
          <p:cNvSpPr>
            <a:spLocks noChangeArrowheads="1"/>
          </p:cNvSpPr>
          <p:nvPr/>
        </p:nvSpPr>
        <p:spPr bwMode="auto">
          <a:xfrm>
            <a:off x="8334310" y="3612658"/>
            <a:ext cx="548640" cy="170094"/>
          </a:xfrm>
          <a:prstGeom prst="rect">
            <a:avLst/>
          </a:prstGeom>
          <a:solidFill>
            <a:schemeClr val="bg1"/>
          </a:solidFill>
          <a:ln w="9525" algn="ctr">
            <a:solidFill>
              <a:schemeClr val="bg2"/>
            </a:solidFill>
            <a:miter lim="800000"/>
            <a:headEnd/>
            <a:tailEnd/>
          </a:ln>
          <a:effectLst/>
        </p:spPr>
        <p:txBody>
          <a:bodyPr anchor="ctr"/>
          <a:lstStyle/>
          <a:p>
            <a:pPr algn="ctr"/>
            <a:r>
              <a:rPr lang="es-ES" sz="1100" dirty="0">
                <a:solidFill>
                  <a:srgbClr val="002060"/>
                </a:solidFill>
              </a:rPr>
              <a:t>4</a:t>
            </a:r>
          </a:p>
        </p:txBody>
      </p:sp>
      <p:sp>
        <p:nvSpPr>
          <p:cNvPr id="69" name="Rounded Rectangle 68"/>
          <p:cNvSpPr/>
          <p:nvPr/>
        </p:nvSpPr>
        <p:spPr>
          <a:xfrm>
            <a:off x="5102950" y="3612658"/>
            <a:ext cx="3132000" cy="170094"/>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Afectación a Clientes</a:t>
            </a:r>
          </a:p>
        </p:txBody>
      </p:sp>
      <p:sp>
        <p:nvSpPr>
          <p:cNvPr id="70" name="Rectangle 18"/>
          <p:cNvSpPr>
            <a:spLocks noChangeArrowheads="1"/>
          </p:cNvSpPr>
          <p:nvPr/>
        </p:nvSpPr>
        <p:spPr bwMode="auto">
          <a:xfrm>
            <a:off x="5102950" y="3830815"/>
            <a:ext cx="3780000" cy="469509"/>
          </a:xfrm>
          <a:prstGeom prst="rect">
            <a:avLst/>
          </a:prstGeom>
          <a:solidFill>
            <a:schemeClr val="bg1"/>
          </a:solidFill>
          <a:ln w="9525" algn="ctr">
            <a:solidFill>
              <a:schemeClr val="bg2"/>
            </a:solidFill>
            <a:miter lim="800000"/>
            <a:headEnd/>
            <a:tailEnd/>
          </a:ln>
          <a:effectLst/>
        </p:spPr>
        <p:txBody>
          <a:bodyPr anchor="ctr"/>
          <a:lstStyle/>
          <a:p>
            <a:r>
              <a:rPr lang="es-ES" sz="1100" dirty="0">
                <a:solidFill>
                  <a:srgbClr val="000000"/>
                </a:solidFill>
              </a:rPr>
              <a:t>La exposición de la imagen es interna y externa con un nivel de impacto alto.</a:t>
            </a:r>
          </a:p>
        </p:txBody>
      </p:sp>
      <p:sp>
        <p:nvSpPr>
          <p:cNvPr id="74" name="AutoShape 179"/>
          <p:cNvSpPr>
            <a:spLocks noChangeArrowheads="1"/>
          </p:cNvSpPr>
          <p:nvPr/>
        </p:nvSpPr>
        <p:spPr bwMode="auto">
          <a:xfrm>
            <a:off x="4927319" y="4441608"/>
            <a:ext cx="4037169" cy="892800"/>
          </a:xfrm>
          <a:prstGeom prst="roundRect">
            <a:avLst>
              <a:gd name="adj" fmla="val 9481"/>
            </a:avLst>
          </a:prstGeom>
          <a:solidFill>
            <a:schemeClr val="accent1">
              <a:lumMod val="20000"/>
              <a:lumOff val="80000"/>
            </a:schemeClr>
          </a:solidFill>
          <a:ln w="9525" algn="ctr">
            <a:noFill/>
            <a:round/>
            <a:headEnd/>
            <a:tailEnd/>
          </a:ln>
          <a:effectLst/>
        </p:spPr>
        <p:txBody>
          <a:bodyPr wrap="none" anchor="ctr"/>
          <a:lstStyle/>
          <a:p>
            <a:endParaRPr lang="es-CL">
              <a:solidFill>
                <a:srgbClr val="002060"/>
              </a:solidFill>
            </a:endParaRPr>
          </a:p>
        </p:txBody>
      </p:sp>
      <p:sp>
        <p:nvSpPr>
          <p:cNvPr id="75" name="AutoShape 47"/>
          <p:cNvSpPr>
            <a:spLocks noChangeArrowheads="1"/>
          </p:cNvSpPr>
          <p:nvPr/>
        </p:nvSpPr>
        <p:spPr bwMode="blackWhite">
          <a:xfrm>
            <a:off x="4673792" y="4443110"/>
            <a:ext cx="352800" cy="892800"/>
          </a:xfrm>
          <a:prstGeom prst="rightArrow">
            <a:avLst>
              <a:gd name="adj1" fmla="val 100000"/>
              <a:gd name="adj2" fmla="val 11009"/>
            </a:avLst>
          </a:prstGeom>
          <a:solidFill>
            <a:srgbClr val="969696"/>
          </a:solidFill>
          <a:ln w="12700">
            <a:noFill/>
            <a:miter lim="800000"/>
            <a:headEnd/>
            <a:tailEnd/>
          </a:ln>
          <a:effectLst>
            <a:outerShdw dist="35921" dir="2700000" algn="ctr" rotWithShape="0">
              <a:schemeClr val="bg2"/>
            </a:outerShdw>
          </a:effectLst>
        </p:spPr>
        <p:txBody>
          <a:bodyPr vert="vert270" anchor="ctr"/>
          <a:lstStyle/>
          <a:p>
            <a:pPr algn="ctr">
              <a:lnSpc>
                <a:spcPts val="1000"/>
              </a:lnSpc>
            </a:pPr>
            <a:r>
              <a:rPr lang="es-ES" sz="1100" b="1" noProof="1">
                <a:solidFill>
                  <a:srgbClr val="FFFFFF"/>
                </a:solidFill>
                <a:cs typeface="Arial" charset="0"/>
              </a:rPr>
              <a:t>Cuestionarios</a:t>
            </a:r>
          </a:p>
        </p:txBody>
      </p:sp>
      <p:sp>
        <p:nvSpPr>
          <p:cNvPr id="77" name="Rounded Rectangle 38"/>
          <p:cNvSpPr/>
          <p:nvPr/>
        </p:nvSpPr>
        <p:spPr>
          <a:xfrm>
            <a:off x="5098230" y="4516875"/>
            <a:ext cx="3132000" cy="170094"/>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Criterios de Evaluación</a:t>
            </a:r>
          </a:p>
        </p:txBody>
      </p:sp>
      <p:sp>
        <p:nvSpPr>
          <p:cNvPr id="78" name="Rectangle 18"/>
          <p:cNvSpPr>
            <a:spLocks noChangeArrowheads="1"/>
          </p:cNvSpPr>
          <p:nvPr/>
        </p:nvSpPr>
        <p:spPr bwMode="auto">
          <a:xfrm>
            <a:off x="5102950" y="4730048"/>
            <a:ext cx="3780000" cy="469509"/>
          </a:xfrm>
          <a:prstGeom prst="rect">
            <a:avLst/>
          </a:prstGeom>
          <a:solidFill>
            <a:schemeClr val="bg1"/>
          </a:solidFill>
          <a:ln w="9525" algn="ctr">
            <a:solidFill>
              <a:schemeClr val="bg2"/>
            </a:solidFill>
            <a:miter lim="800000"/>
            <a:headEnd/>
            <a:tailEnd/>
          </a:ln>
          <a:effectLst/>
        </p:spPr>
        <p:txBody>
          <a:bodyPr anchor="ctr"/>
          <a:lstStyle/>
          <a:p>
            <a:pPr algn="just"/>
            <a:r>
              <a:rPr lang="es-PE" sz="1050" dirty="0">
                <a:solidFill>
                  <a:srgbClr val="000000"/>
                </a:solidFill>
              </a:rPr>
              <a:t>Los errores de capturas son corregidos por el Back Office al momento de confirmar las operaciones..</a:t>
            </a:r>
            <a:endParaRPr lang="es-ES" sz="1050" dirty="0">
              <a:solidFill>
                <a:srgbClr val="000000"/>
              </a:solidFill>
            </a:endParaRPr>
          </a:p>
        </p:txBody>
      </p:sp>
      <p:sp>
        <p:nvSpPr>
          <p:cNvPr id="80" name="Text Box 30"/>
          <p:cNvSpPr txBox="1">
            <a:spLocks noChangeArrowheads="1"/>
          </p:cNvSpPr>
          <p:nvPr/>
        </p:nvSpPr>
        <p:spPr bwMode="auto">
          <a:xfrm>
            <a:off x="190746" y="4977551"/>
            <a:ext cx="3996000" cy="276999"/>
          </a:xfrm>
          <a:prstGeom prst="rect">
            <a:avLst/>
          </a:prstGeom>
          <a:noFill/>
          <a:ln w="9525" algn="ctr">
            <a:noFill/>
            <a:miter lim="800000"/>
            <a:headEnd/>
            <a:tailEnd/>
          </a:ln>
          <a:effectLst/>
        </p:spPr>
        <p:txBody>
          <a:bodyPr wrap="square">
            <a:spAutoFit/>
          </a:bodyPr>
          <a:lstStyle/>
          <a:p>
            <a:pPr>
              <a:spcBef>
                <a:spcPct val="50000"/>
              </a:spcBef>
            </a:pPr>
            <a:r>
              <a:rPr lang="es-CL" sz="1200" b="1" i="1" dirty="0">
                <a:solidFill>
                  <a:srgbClr val="A3A3E0"/>
                </a:solidFill>
              </a:rPr>
              <a:t>Resultados valoración de controles / factores mitigantes</a:t>
            </a:r>
            <a:endParaRPr lang="es-ES" sz="1200" b="1" i="1" dirty="0">
              <a:solidFill>
                <a:srgbClr val="A3A3E0"/>
              </a:solidFill>
            </a:endParaRPr>
          </a:p>
        </p:txBody>
      </p:sp>
      <p:sp>
        <p:nvSpPr>
          <p:cNvPr id="81" name="AutoShape 179"/>
          <p:cNvSpPr>
            <a:spLocks noChangeArrowheads="1"/>
          </p:cNvSpPr>
          <p:nvPr/>
        </p:nvSpPr>
        <p:spPr bwMode="auto">
          <a:xfrm>
            <a:off x="534831" y="5200032"/>
            <a:ext cx="4037169" cy="864000"/>
          </a:xfrm>
          <a:prstGeom prst="roundRect">
            <a:avLst>
              <a:gd name="adj" fmla="val 9481"/>
            </a:avLst>
          </a:prstGeom>
          <a:solidFill>
            <a:schemeClr val="accent1">
              <a:lumMod val="20000"/>
              <a:lumOff val="80000"/>
            </a:schemeClr>
          </a:solidFill>
          <a:ln w="9525" algn="ctr">
            <a:noFill/>
            <a:round/>
            <a:headEnd/>
            <a:tailEnd/>
          </a:ln>
          <a:effectLst/>
        </p:spPr>
        <p:txBody>
          <a:bodyPr wrap="none" anchor="ctr"/>
          <a:lstStyle/>
          <a:p>
            <a:endParaRPr lang="es-CL">
              <a:solidFill>
                <a:srgbClr val="002060"/>
              </a:solidFill>
            </a:endParaRPr>
          </a:p>
        </p:txBody>
      </p:sp>
      <p:sp>
        <p:nvSpPr>
          <p:cNvPr id="82" name="AutoShape 47"/>
          <p:cNvSpPr>
            <a:spLocks noChangeArrowheads="1"/>
          </p:cNvSpPr>
          <p:nvPr/>
        </p:nvSpPr>
        <p:spPr bwMode="blackWhite">
          <a:xfrm>
            <a:off x="281304" y="5201534"/>
            <a:ext cx="353942" cy="864000"/>
          </a:xfrm>
          <a:prstGeom prst="rightArrow">
            <a:avLst>
              <a:gd name="adj1" fmla="val 100000"/>
              <a:gd name="adj2" fmla="val 11009"/>
            </a:avLst>
          </a:prstGeom>
          <a:solidFill>
            <a:srgbClr val="969696"/>
          </a:solidFill>
          <a:ln w="12700">
            <a:noFill/>
            <a:miter lim="800000"/>
            <a:headEnd/>
            <a:tailEnd/>
          </a:ln>
          <a:effectLst>
            <a:outerShdw dist="35921" dir="2700000" algn="ctr" rotWithShape="0">
              <a:schemeClr val="bg2"/>
            </a:outerShdw>
          </a:effectLst>
        </p:spPr>
        <p:txBody>
          <a:bodyPr vert="vert270" anchor="ctr"/>
          <a:lstStyle/>
          <a:p>
            <a:pPr algn="ctr">
              <a:lnSpc>
                <a:spcPts val="1000"/>
              </a:lnSpc>
            </a:pPr>
            <a:r>
              <a:rPr lang="es-ES" sz="1100" b="1" noProof="1">
                <a:solidFill>
                  <a:srgbClr val="FFFFFF"/>
                </a:solidFill>
                <a:cs typeface="Arial" charset="0"/>
              </a:rPr>
              <a:t>Evaluación de Controles</a:t>
            </a:r>
          </a:p>
        </p:txBody>
      </p:sp>
      <p:sp>
        <p:nvSpPr>
          <p:cNvPr id="83" name="Rectangle 18"/>
          <p:cNvSpPr>
            <a:spLocks noChangeArrowheads="1"/>
          </p:cNvSpPr>
          <p:nvPr/>
        </p:nvSpPr>
        <p:spPr bwMode="auto">
          <a:xfrm>
            <a:off x="3937102" y="5275299"/>
            <a:ext cx="548640" cy="170094"/>
          </a:xfrm>
          <a:prstGeom prst="rect">
            <a:avLst/>
          </a:prstGeom>
          <a:solidFill>
            <a:schemeClr val="bg1"/>
          </a:solidFill>
          <a:ln w="9525" algn="ctr">
            <a:solidFill>
              <a:schemeClr val="bg2"/>
            </a:solidFill>
            <a:miter lim="800000"/>
            <a:headEnd/>
            <a:tailEnd/>
          </a:ln>
          <a:effectLst/>
        </p:spPr>
        <p:txBody>
          <a:bodyPr anchor="ctr"/>
          <a:lstStyle/>
          <a:p>
            <a:pPr algn="ctr"/>
            <a:r>
              <a:rPr lang="es-ES" sz="1100" dirty="0">
                <a:solidFill>
                  <a:srgbClr val="002060"/>
                </a:solidFill>
              </a:rPr>
              <a:t>1</a:t>
            </a:r>
          </a:p>
        </p:txBody>
      </p:sp>
      <p:sp>
        <p:nvSpPr>
          <p:cNvPr id="84" name="Rounded Rectangle 38"/>
          <p:cNvSpPr/>
          <p:nvPr/>
        </p:nvSpPr>
        <p:spPr>
          <a:xfrm>
            <a:off x="705742" y="5275299"/>
            <a:ext cx="3132000" cy="170094"/>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Controles asociados al riesgo</a:t>
            </a:r>
          </a:p>
        </p:txBody>
      </p:sp>
      <p:sp>
        <p:nvSpPr>
          <p:cNvPr id="85" name="Rectangle 18"/>
          <p:cNvSpPr>
            <a:spLocks noChangeArrowheads="1"/>
          </p:cNvSpPr>
          <p:nvPr/>
        </p:nvSpPr>
        <p:spPr bwMode="auto">
          <a:xfrm>
            <a:off x="705742" y="5496307"/>
            <a:ext cx="3780000" cy="469509"/>
          </a:xfrm>
          <a:prstGeom prst="rect">
            <a:avLst/>
          </a:prstGeom>
          <a:solidFill>
            <a:schemeClr val="bg1"/>
          </a:solidFill>
          <a:ln w="9525" algn="ctr">
            <a:solidFill>
              <a:schemeClr val="bg2"/>
            </a:solidFill>
            <a:miter lim="800000"/>
            <a:headEnd/>
            <a:tailEnd/>
          </a:ln>
          <a:effectLst/>
        </p:spPr>
        <p:txBody>
          <a:bodyPr anchor="ctr"/>
          <a:lstStyle/>
          <a:p>
            <a:r>
              <a:rPr lang="es-ES" sz="1100" dirty="0">
                <a:solidFill>
                  <a:srgbClr val="000000"/>
                </a:solidFill>
              </a:rPr>
              <a:t>Revisión por el área de Inversiones.</a:t>
            </a:r>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dirty="0"/>
              <a:t>Anexo: Ficha Individual Riesgos Operacionales</a:t>
            </a:r>
          </a:p>
        </p:txBody>
      </p:sp>
      <p:sp>
        <p:nvSpPr>
          <p:cNvPr id="4" name="Rounded Rectangle 3"/>
          <p:cNvSpPr/>
          <p:nvPr/>
        </p:nvSpPr>
        <p:spPr>
          <a:xfrm>
            <a:off x="214497" y="764704"/>
            <a:ext cx="397063" cy="274320"/>
          </a:xfrm>
          <a:prstGeom prst="roundRect">
            <a:avLst/>
          </a:prstGeom>
          <a:solidFill>
            <a:srgbClr val="DB0613"/>
          </a:solidFill>
          <a:ln w="9525" algn="ctr">
            <a:noFill/>
            <a:miter lim="800000"/>
            <a:headEnd/>
            <a:tailEnd/>
          </a:ln>
          <a:effectLst/>
        </p:spPr>
        <p:txBody>
          <a:bodyPr anchor="ctr"/>
          <a:lstStyle/>
          <a:p>
            <a:pPr algn="ctr">
              <a:lnSpc>
                <a:spcPct val="80000"/>
              </a:lnSpc>
            </a:pPr>
            <a:r>
              <a:rPr lang="es-CL" sz="1200" b="1" dirty="0">
                <a:solidFill>
                  <a:srgbClr val="FFFFFF"/>
                </a:solidFill>
                <a:cs typeface="Arial" pitchFamily="34" charset="0"/>
              </a:rPr>
              <a:t>31</a:t>
            </a:r>
          </a:p>
        </p:txBody>
      </p:sp>
      <p:sp>
        <p:nvSpPr>
          <p:cNvPr id="5" name="Rectangle 18"/>
          <p:cNvSpPr>
            <a:spLocks noChangeArrowheads="1"/>
          </p:cNvSpPr>
          <p:nvPr/>
        </p:nvSpPr>
        <p:spPr bwMode="auto">
          <a:xfrm>
            <a:off x="227770" y="2409552"/>
            <a:ext cx="6400800" cy="839807"/>
          </a:xfrm>
          <a:prstGeom prst="rect">
            <a:avLst/>
          </a:prstGeom>
          <a:noFill/>
          <a:ln w="9525" algn="ctr">
            <a:solidFill>
              <a:schemeClr val="bg2"/>
            </a:solidFill>
            <a:miter lim="800000"/>
            <a:headEnd/>
            <a:tailEnd/>
          </a:ln>
          <a:effectLst/>
        </p:spPr>
        <p:txBody>
          <a:bodyPr/>
          <a:lstStyle/>
          <a:p>
            <a:r>
              <a:rPr lang="es-ES" sz="1100" dirty="0"/>
              <a:t>Riesgo de que una persona ajena a Inversiones tenga acceso a la estrategia de inversión de la compañía. En esta parte del proceso hace referencia a ingresos de personas no autorizadas a la plataforma PMS. </a:t>
            </a:r>
            <a:endParaRPr lang="es-ES" sz="1100" dirty="0">
              <a:solidFill>
                <a:srgbClr val="002060"/>
              </a:solidFill>
            </a:endParaRPr>
          </a:p>
        </p:txBody>
      </p:sp>
      <p:sp>
        <p:nvSpPr>
          <p:cNvPr id="7" name="Text Box 30"/>
          <p:cNvSpPr txBox="1">
            <a:spLocks noChangeArrowheads="1"/>
          </p:cNvSpPr>
          <p:nvPr/>
        </p:nvSpPr>
        <p:spPr bwMode="auto">
          <a:xfrm>
            <a:off x="190747" y="3299257"/>
            <a:ext cx="3671888" cy="276999"/>
          </a:xfrm>
          <a:prstGeom prst="rect">
            <a:avLst/>
          </a:prstGeom>
          <a:noFill/>
          <a:ln w="9525" algn="ctr">
            <a:noFill/>
            <a:miter lim="800000"/>
            <a:headEnd/>
            <a:tailEnd/>
          </a:ln>
          <a:effectLst/>
        </p:spPr>
        <p:txBody>
          <a:bodyPr>
            <a:spAutoFit/>
          </a:bodyPr>
          <a:lstStyle/>
          <a:p>
            <a:pPr>
              <a:spcBef>
                <a:spcPct val="50000"/>
              </a:spcBef>
            </a:pPr>
            <a:r>
              <a:rPr lang="es-CL" sz="1200" b="1" i="1" dirty="0">
                <a:solidFill>
                  <a:srgbClr val="A3A3E0"/>
                </a:solidFill>
              </a:rPr>
              <a:t>Resultados valoración de riesgos</a:t>
            </a:r>
            <a:endParaRPr lang="es-ES" sz="1200" b="1" i="1" dirty="0">
              <a:solidFill>
                <a:srgbClr val="A3A3E0"/>
              </a:solidFill>
            </a:endParaRPr>
          </a:p>
        </p:txBody>
      </p:sp>
      <p:sp>
        <p:nvSpPr>
          <p:cNvPr id="8" name="Rounded Rectangle 7"/>
          <p:cNvSpPr/>
          <p:nvPr/>
        </p:nvSpPr>
        <p:spPr>
          <a:xfrm>
            <a:off x="652842" y="764704"/>
            <a:ext cx="8321040" cy="274320"/>
          </a:xfrm>
          <a:prstGeom prst="roundRect">
            <a:avLst/>
          </a:prstGeom>
          <a:solidFill>
            <a:srgbClr val="DB0613"/>
          </a:solidFill>
          <a:ln w="9525" algn="ctr">
            <a:noFill/>
            <a:miter lim="800000"/>
            <a:headEnd/>
            <a:tailEnd/>
          </a:ln>
          <a:effectLst/>
        </p:spPr>
        <p:txBody>
          <a:bodyPr anchor="ctr"/>
          <a:lstStyle/>
          <a:p>
            <a:pPr>
              <a:lnSpc>
                <a:spcPct val="80000"/>
              </a:lnSpc>
            </a:pPr>
            <a:r>
              <a:rPr lang="es-ES" sz="1200" dirty="0">
                <a:solidFill>
                  <a:schemeClr val="bg1"/>
                </a:solidFill>
              </a:rPr>
              <a:t>Riesgo de que una persona ajena a Inversiones tenga acceso a la estrategia de inversión de la compañía.  </a:t>
            </a:r>
            <a:endParaRPr lang="es-CL" sz="1200" b="1" dirty="0">
              <a:solidFill>
                <a:schemeClr val="bg1"/>
              </a:solidFill>
              <a:cs typeface="Arial" pitchFamily="34" charset="0"/>
            </a:endParaRPr>
          </a:p>
        </p:txBody>
      </p:sp>
      <p:sp>
        <p:nvSpPr>
          <p:cNvPr id="9" name="Rounded Rectangle 8"/>
          <p:cNvSpPr/>
          <p:nvPr/>
        </p:nvSpPr>
        <p:spPr>
          <a:xfrm>
            <a:off x="227770" y="2202383"/>
            <a:ext cx="64008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Descripción</a:t>
            </a:r>
          </a:p>
        </p:txBody>
      </p:sp>
      <p:sp>
        <p:nvSpPr>
          <p:cNvPr id="10" name="Rounded Rectangle 9"/>
          <p:cNvSpPr/>
          <p:nvPr/>
        </p:nvSpPr>
        <p:spPr>
          <a:xfrm>
            <a:off x="6716066" y="1089119"/>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Categoría  de Riesgo Nivel I</a:t>
            </a:r>
          </a:p>
        </p:txBody>
      </p:sp>
      <p:sp>
        <p:nvSpPr>
          <p:cNvPr id="11" name="Rectangle 18"/>
          <p:cNvSpPr>
            <a:spLocks noChangeArrowheads="1"/>
          </p:cNvSpPr>
          <p:nvPr/>
        </p:nvSpPr>
        <p:spPr bwMode="auto">
          <a:xfrm>
            <a:off x="6716066" y="1316374"/>
            <a:ext cx="2286000" cy="365760"/>
          </a:xfrm>
          <a:prstGeom prst="rect">
            <a:avLst/>
          </a:prstGeom>
          <a:noFill/>
          <a:ln w="9525" algn="ctr">
            <a:solidFill>
              <a:schemeClr val="bg2"/>
            </a:solidFill>
            <a:miter lim="800000"/>
            <a:headEnd/>
            <a:tailEnd/>
          </a:ln>
          <a:effectLst/>
        </p:spPr>
        <p:txBody>
          <a:bodyPr anchor="ctr"/>
          <a:lstStyle/>
          <a:p>
            <a:pPr>
              <a:lnSpc>
                <a:spcPts val="1000"/>
              </a:lnSpc>
            </a:pPr>
            <a:r>
              <a:rPr lang="es-ES" sz="1100" dirty="0"/>
              <a:t>Fraude externo</a:t>
            </a:r>
          </a:p>
        </p:txBody>
      </p:sp>
      <p:sp>
        <p:nvSpPr>
          <p:cNvPr id="12" name="Rounded Rectangle 11"/>
          <p:cNvSpPr/>
          <p:nvPr/>
        </p:nvSpPr>
        <p:spPr>
          <a:xfrm>
            <a:off x="6716066" y="1725169"/>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Categoría de Riesgo Nivel II</a:t>
            </a:r>
          </a:p>
        </p:txBody>
      </p:sp>
      <p:sp>
        <p:nvSpPr>
          <p:cNvPr id="13" name="Rectangle 18"/>
          <p:cNvSpPr>
            <a:spLocks noChangeArrowheads="1"/>
          </p:cNvSpPr>
          <p:nvPr/>
        </p:nvSpPr>
        <p:spPr bwMode="auto">
          <a:xfrm>
            <a:off x="6716066" y="1942710"/>
            <a:ext cx="2286000" cy="274320"/>
          </a:xfrm>
          <a:prstGeom prst="rect">
            <a:avLst/>
          </a:prstGeom>
          <a:noFill/>
          <a:ln w="9525" algn="ctr">
            <a:solidFill>
              <a:schemeClr val="bg2"/>
            </a:solidFill>
            <a:miter lim="800000"/>
            <a:headEnd/>
            <a:tailEnd/>
          </a:ln>
          <a:effectLst/>
        </p:spPr>
        <p:txBody>
          <a:bodyPr anchor="ctr"/>
          <a:lstStyle/>
          <a:p>
            <a:r>
              <a:rPr lang="es-ES" sz="1100" dirty="0"/>
              <a:t>Seguridad de los sistemas </a:t>
            </a:r>
          </a:p>
        </p:txBody>
      </p:sp>
      <p:sp>
        <p:nvSpPr>
          <p:cNvPr id="16" name="Rectangle 18"/>
          <p:cNvSpPr>
            <a:spLocks noChangeArrowheads="1"/>
          </p:cNvSpPr>
          <p:nvPr/>
        </p:nvSpPr>
        <p:spPr bwMode="auto">
          <a:xfrm>
            <a:off x="6716066" y="2459337"/>
            <a:ext cx="2286000" cy="506469"/>
          </a:xfrm>
          <a:prstGeom prst="rect">
            <a:avLst/>
          </a:prstGeom>
          <a:noFill/>
          <a:ln w="9525" algn="ctr">
            <a:solidFill>
              <a:schemeClr val="bg2"/>
            </a:solidFill>
            <a:miter lim="800000"/>
            <a:headEnd/>
            <a:tailEnd/>
          </a:ln>
          <a:effectLst/>
        </p:spPr>
        <p:txBody>
          <a:bodyPr anchor="ctr"/>
          <a:lstStyle/>
          <a:p>
            <a:r>
              <a:rPr lang="es-ES" sz="1100" dirty="0"/>
              <a:t>Robo de información</a:t>
            </a:r>
          </a:p>
        </p:txBody>
      </p:sp>
      <p:sp>
        <p:nvSpPr>
          <p:cNvPr id="17" name="Rounded Rectangle 16"/>
          <p:cNvSpPr/>
          <p:nvPr/>
        </p:nvSpPr>
        <p:spPr>
          <a:xfrm>
            <a:off x="227770" y="1110038"/>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Macroproceso</a:t>
            </a:r>
          </a:p>
        </p:txBody>
      </p:sp>
      <p:sp>
        <p:nvSpPr>
          <p:cNvPr id="18" name="Rectangle 18"/>
          <p:cNvSpPr>
            <a:spLocks noChangeArrowheads="1"/>
          </p:cNvSpPr>
          <p:nvPr/>
        </p:nvSpPr>
        <p:spPr bwMode="auto">
          <a:xfrm>
            <a:off x="2568409" y="1110038"/>
            <a:ext cx="4060161" cy="182880"/>
          </a:xfrm>
          <a:prstGeom prst="rect">
            <a:avLst/>
          </a:prstGeom>
          <a:noFill/>
          <a:ln w="9525" algn="ctr">
            <a:solidFill>
              <a:schemeClr val="bg2"/>
            </a:solidFill>
            <a:miter lim="800000"/>
            <a:headEnd/>
            <a:tailEnd/>
          </a:ln>
          <a:effectLst/>
        </p:spPr>
        <p:txBody>
          <a:bodyPr anchor="ctr"/>
          <a:lstStyle/>
          <a:p>
            <a:r>
              <a:rPr lang="es-ES" sz="1100" dirty="0"/>
              <a:t>Administración de Portafolio de Inversiones</a:t>
            </a:r>
          </a:p>
        </p:txBody>
      </p:sp>
      <p:sp>
        <p:nvSpPr>
          <p:cNvPr id="19" name="Rounded Rectangle 18"/>
          <p:cNvSpPr/>
          <p:nvPr/>
        </p:nvSpPr>
        <p:spPr>
          <a:xfrm>
            <a:off x="227770" y="1339045"/>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Proceso</a:t>
            </a:r>
          </a:p>
        </p:txBody>
      </p:sp>
      <p:sp>
        <p:nvSpPr>
          <p:cNvPr id="20" name="Rectangle 18"/>
          <p:cNvSpPr>
            <a:spLocks noChangeArrowheads="1"/>
          </p:cNvSpPr>
          <p:nvPr/>
        </p:nvSpPr>
        <p:spPr bwMode="auto">
          <a:xfrm>
            <a:off x="2568409" y="1339045"/>
            <a:ext cx="4060161" cy="182880"/>
          </a:xfrm>
          <a:prstGeom prst="rect">
            <a:avLst/>
          </a:prstGeom>
          <a:noFill/>
          <a:ln w="9525" algn="ctr">
            <a:solidFill>
              <a:schemeClr val="bg2"/>
            </a:solidFill>
            <a:miter lim="800000"/>
            <a:headEnd/>
            <a:tailEnd/>
          </a:ln>
          <a:effectLst/>
        </p:spPr>
        <p:txBody>
          <a:bodyPr anchor="ctr"/>
          <a:lstStyle/>
          <a:p>
            <a:r>
              <a:rPr lang="es-ES" sz="1100" dirty="0"/>
              <a:t>Administración de fondos</a:t>
            </a:r>
          </a:p>
        </p:txBody>
      </p:sp>
      <p:sp>
        <p:nvSpPr>
          <p:cNvPr id="21" name="Rectangle 29"/>
          <p:cNvSpPr>
            <a:spLocks noChangeArrowheads="1"/>
          </p:cNvSpPr>
          <p:nvPr/>
        </p:nvSpPr>
        <p:spPr bwMode="auto">
          <a:xfrm>
            <a:off x="107504" y="3423715"/>
            <a:ext cx="8961120" cy="1607926"/>
          </a:xfrm>
          <a:prstGeom prst="rect">
            <a:avLst/>
          </a:prstGeom>
          <a:noFill/>
          <a:ln w="19050" cap="rnd" algn="ctr">
            <a:solidFill>
              <a:schemeClr val="bg2"/>
            </a:solidFill>
            <a:prstDash val="sysDot"/>
            <a:miter lim="800000"/>
            <a:headEnd/>
            <a:tailEnd/>
          </a:ln>
          <a:effectLst/>
        </p:spPr>
        <p:txBody>
          <a:bodyPr wrap="none" anchor="ctr"/>
          <a:lstStyle/>
          <a:p>
            <a:endParaRPr lang="en-US">
              <a:solidFill>
                <a:srgbClr val="002060"/>
              </a:solidFill>
            </a:endParaRPr>
          </a:p>
        </p:txBody>
      </p:sp>
      <p:sp>
        <p:nvSpPr>
          <p:cNvPr id="59" name="Rounded Rectangle 58"/>
          <p:cNvSpPr/>
          <p:nvPr/>
        </p:nvSpPr>
        <p:spPr>
          <a:xfrm>
            <a:off x="223049" y="1554311"/>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Subproceso</a:t>
            </a:r>
          </a:p>
        </p:txBody>
      </p:sp>
      <p:sp>
        <p:nvSpPr>
          <p:cNvPr id="60" name="Rectangle 18"/>
          <p:cNvSpPr>
            <a:spLocks noChangeArrowheads="1"/>
          </p:cNvSpPr>
          <p:nvPr/>
        </p:nvSpPr>
        <p:spPr bwMode="auto">
          <a:xfrm>
            <a:off x="2563688" y="1554311"/>
            <a:ext cx="4064882" cy="182880"/>
          </a:xfrm>
          <a:prstGeom prst="rect">
            <a:avLst/>
          </a:prstGeom>
          <a:noFill/>
          <a:ln w="9525" algn="ctr">
            <a:solidFill>
              <a:schemeClr val="bg2"/>
            </a:solidFill>
            <a:miter lim="800000"/>
            <a:headEnd/>
            <a:tailEnd/>
          </a:ln>
          <a:effectLst/>
        </p:spPr>
        <p:txBody>
          <a:bodyPr anchor="ctr"/>
          <a:lstStyle/>
          <a:p>
            <a:r>
              <a:rPr lang="es-ES" sz="1100" dirty="0"/>
              <a:t>Ingreso y registro de operaciones de inversión</a:t>
            </a:r>
          </a:p>
        </p:txBody>
      </p:sp>
      <p:sp>
        <p:nvSpPr>
          <p:cNvPr id="57" name="Rounded Rectangle 56"/>
          <p:cNvSpPr/>
          <p:nvPr/>
        </p:nvSpPr>
        <p:spPr>
          <a:xfrm>
            <a:off x="223049" y="1771093"/>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Línea de Negocio</a:t>
            </a:r>
          </a:p>
        </p:txBody>
      </p:sp>
      <p:sp>
        <p:nvSpPr>
          <p:cNvPr id="58" name="Rectangle 18"/>
          <p:cNvSpPr>
            <a:spLocks noChangeArrowheads="1"/>
          </p:cNvSpPr>
          <p:nvPr/>
        </p:nvSpPr>
        <p:spPr bwMode="auto">
          <a:xfrm>
            <a:off x="2563688" y="1771093"/>
            <a:ext cx="4064882" cy="182880"/>
          </a:xfrm>
          <a:prstGeom prst="rect">
            <a:avLst/>
          </a:prstGeom>
          <a:noFill/>
          <a:ln w="9525" algn="ctr">
            <a:solidFill>
              <a:schemeClr val="bg2"/>
            </a:solidFill>
            <a:miter lim="800000"/>
            <a:headEnd/>
            <a:tailEnd/>
          </a:ln>
          <a:effectLst/>
        </p:spPr>
        <p:txBody>
          <a:bodyPr anchor="ctr"/>
          <a:lstStyle/>
          <a:p>
            <a:r>
              <a:rPr lang="es-ES" sz="1100" dirty="0"/>
              <a:t>Negociación y ventas</a:t>
            </a:r>
          </a:p>
        </p:txBody>
      </p:sp>
      <p:sp>
        <p:nvSpPr>
          <p:cNvPr id="61" name="Rounded Rectangle 60"/>
          <p:cNvSpPr/>
          <p:nvPr/>
        </p:nvSpPr>
        <p:spPr>
          <a:xfrm>
            <a:off x="223049" y="1986359"/>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Responsable</a:t>
            </a:r>
          </a:p>
        </p:txBody>
      </p:sp>
      <p:sp>
        <p:nvSpPr>
          <p:cNvPr id="62" name="Rectangle 18"/>
          <p:cNvSpPr>
            <a:spLocks noChangeArrowheads="1"/>
          </p:cNvSpPr>
          <p:nvPr/>
        </p:nvSpPr>
        <p:spPr bwMode="auto">
          <a:xfrm>
            <a:off x="2558967" y="1986359"/>
            <a:ext cx="4069603" cy="182880"/>
          </a:xfrm>
          <a:prstGeom prst="rect">
            <a:avLst/>
          </a:prstGeom>
          <a:noFill/>
          <a:ln w="9525" algn="ctr">
            <a:solidFill>
              <a:schemeClr val="bg2"/>
            </a:solidFill>
            <a:miter lim="800000"/>
            <a:headEnd/>
            <a:tailEnd/>
          </a:ln>
          <a:effectLst/>
        </p:spPr>
        <p:txBody>
          <a:bodyPr anchor="ctr"/>
          <a:lstStyle/>
          <a:p>
            <a:r>
              <a:rPr lang="es-ES" sz="1100" dirty="0"/>
              <a:t>Subgerente de Operaciones de Inversión </a:t>
            </a:r>
          </a:p>
        </p:txBody>
      </p:sp>
      <p:sp>
        <p:nvSpPr>
          <p:cNvPr id="63" name="Rounded Rectangle 62"/>
          <p:cNvSpPr/>
          <p:nvPr/>
        </p:nvSpPr>
        <p:spPr>
          <a:xfrm>
            <a:off x="6732240" y="2276457"/>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Categoría de Riesgo Nivel III</a:t>
            </a:r>
          </a:p>
        </p:txBody>
      </p:sp>
      <p:sp>
        <p:nvSpPr>
          <p:cNvPr id="64" name="Rounded Rectangle 14"/>
          <p:cNvSpPr/>
          <p:nvPr/>
        </p:nvSpPr>
        <p:spPr>
          <a:xfrm>
            <a:off x="6732240" y="2836102"/>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Origen del Riesgo</a:t>
            </a:r>
          </a:p>
        </p:txBody>
      </p:sp>
      <p:sp>
        <p:nvSpPr>
          <p:cNvPr id="65" name="Rectangle 18"/>
          <p:cNvSpPr>
            <a:spLocks noChangeArrowheads="1"/>
          </p:cNvSpPr>
          <p:nvPr/>
        </p:nvSpPr>
        <p:spPr bwMode="auto">
          <a:xfrm>
            <a:off x="6732240" y="3051367"/>
            <a:ext cx="2286000" cy="270000"/>
          </a:xfrm>
          <a:prstGeom prst="rect">
            <a:avLst/>
          </a:prstGeom>
          <a:noFill/>
          <a:ln w="9525" algn="ctr">
            <a:solidFill>
              <a:schemeClr val="bg2"/>
            </a:solidFill>
            <a:miter lim="800000"/>
            <a:headEnd/>
            <a:tailEnd/>
          </a:ln>
          <a:effectLst/>
        </p:spPr>
        <p:txBody>
          <a:bodyPr anchor="ctr"/>
          <a:lstStyle/>
          <a:p>
            <a:r>
              <a:rPr lang="es-ES" sz="1100" dirty="0">
                <a:solidFill>
                  <a:srgbClr val="000000"/>
                </a:solidFill>
              </a:rPr>
              <a:t>Tecnología / Eventos Externos</a:t>
            </a:r>
          </a:p>
        </p:txBody>
      </p:sp>
      <p:sp>
        <p:nvSpPr>
          <p:cNvPr id="66" name="AutoShape 179"/>
          <p:cNvSpPr>
            <a:spLocks noChangeArrowheads="1"/>
          </p:cNvSpPr>
          <p:nvPr/>
        </p:nvSpPr>
        <p:spPr bwMode="auto">
          <a:xfrm>
            <a:off x="4932039" y="3537391"/>
            <a:ext cx="4037169" cy="864000"/>
          </a:xfrm>
          <a:prstGeom prst="roundRect">
            <a:avLst>
              <a:gd name="adj" fmla="val 9481"/>
            </a:avLst>
          </a:prstGeom>
          <a:solidFill>
            <a:schemeClr val="accent1">
              <a:lumMod val="20000"/>
              <a:lumOff val="80000"/>
            </a:schemeClr>
          </a:solidFill>
          <a:ln w="9525" algn="ctr">
            <a:noFill/>
            <a:round/>
            <a:headEnd/>
            <a:tailEnd/>
          </a:ln>
          <a:effectLst/>
        </p:spPr>
        <p:txBody>
          <a:bodyPr wrap="none" anchor="ctr"/>
          <a:lstStyle/>
          <a:p>
            <a:endParaRPr lang="es-CL">
              <a:solidFill>
                <a:srgbClr val="002060"/>
              </a:solidFill>
            </a:endParaRPr>
          </a:p>
        </p:txBody>
      </p:sp>
      <p:sp>
        <p:nvSpPr>
          <p:cNvPr id="67" name="AutoShape 47"/>
          <p:cNvSpPr>
            <a:spLocks noChangeArrowheads="1"/>
          </p:cNvSpPr>
          <p:nvPr/>
        </p:nvSpPr>
        <p:spPr bwMode="blackWhite">
          <a:xfrm>
            <a:off x="4678512" y="3538893"/>
            <a:ext cx="353942" cy="864000"/>
          </a:xfrm>
          <a:prstGeom prst="rightArrow">
            <a:avLst>
              <a:gd name="adj1" fmla="val 100000"/>
              <a:gd name="adj2" fmla="val 11009"/>
            </a:avLst>
          </a:prstGeom>
          <a:solidFill>
            <a:srgbClr val="969696"/>
          </a:solidFill>
          <a:ln w="12700">
            <a:noFill/>
            <a:miter lim="800000"/>
            <a:headEnd/>
            <a:tailEnd/>
          </a:ln>
          <a:effectLst>
            <a:outerShdw dist="35921" dir="2700000" algn="ctr" rotWithShape="0">
              <a:schemeClr val="bg2"/>
            </a:outerShdw>
          </a:effectLst>
        </p:spPr>
        <p:txBody>
          <a:bodyPr vert="vert270" anchor="ctr"/>
          <a:lstStyle/>
          <a:p>
            <a:pPr algn="ctr">
              <a:lnSpc>
                <a:spcPts val="1000"/>
              </a:lnSpc>
            </a:pPr>
            <a:r>
              <a:rPr lang="es-ES" sz="1100" b="1" noProof="1">
                <a:solidFill>
                  <a:srgbClr val="FFFFFF"/>
                </a:solidFill>
                <a:cs typeface="Arial" charset="0"/>
              </a:rPr>
              <a:t>Impacto Reputacional</a:t>
            </a:r>
          </a:p>
        </p:txBody>
      </p:sp>
      <p:sp>
        <p:nvSpPr>
          <p:cNvPr id="68" name="Rectangle 18"/>
          <p:cNvSpPr>
            <a:spLocks noChangeArrowheads="1"/>
          </p:cNvSpPr>
          <p:nvPr/>
        </p:nvSpPr>
        <p:spPr bwMode="auto">
          <a:xfrm>
            <a:off x="8334310" y="3612658"/>
            <a:ext cx="548640" cy="170094"/>
          </a:xfrm>
          <a:prstGeom prst="rect">
            <a:avLst/>
          </a:prstGeom>
          <a:solidFill>
            <a:schemeClr val="bg1"/>
          </a:solidFill>
          <a:ln w="9525" algn="ctr">
            <a:solidFill>
              <a:schemeClr val="bg2"/>
            </a:solidFill>
            <a:miter lim="800000"/>
            <a:headEnd/>
            <a:tailEnd/>
          </a:ln>
          <a:effectLst/>
        </p:spPr>
        <p:txBody>
          <a:bodyPr anchor="ctr"/>
          <a:lstStyle/>
          <a:p>
            <a:pPr algn="ctr"/>
            <a:r>
              <a:rPr lang="es-ES" sz="1100" dirty="0">
                <a:solidFill>
                  <a:srgbClr val="002060"/>
                </a:solidFill>
              </a:rPr>
              <a:t>5</a:t>
            </a:r>
          </a:p>
        </p:txBody>
      </p:sp>
      <p:sp>
        <p:nvSpPr>
          <p:cNvPr id="69" name="Rounded Rectangle 68"/>
          <p:cNvSpPr/>
          <p:nvPr/>
        </p:nvSpPr>
        <p:spPr>
          <a:xfrm>
            <a:off x="5102950" y="3612658"/>
            <a:ext cx="3132000" cy="170094"/>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Afectación a Clientes</a:t>
            </a:r>
          </a:p>
        </p:txBody>
      </p:sp>
      <p:sp>
        <p:nvSpPr>
          <p:cNvPr id="70" name="Rectangle 18"/>
          <p:cNvSpPr>
            <a:spLocks noChangeArrowheads="1"/>
          </p:cNvSpPr>
          <p:nvPr/>
        </p:nvSpPr>
        <p:spPr bwMode="auto">
          <a:xfrm>
            <a:off x="5102950" y="3830815"/>
            <a:ext cx="3780000" cy="469509"/>
          </a:xfrm>
          <a:prstGeom prst="rect">
            <a:avLst/>
          </a:prstGeom>
          <a:solidFill>
            <a:schemeClr val="bg1"/>
          </a:solidFill>
          <a:ln w="9525" algn="ctr">
            <a:solidFill>
              <a:schemeClr val="bg2"/>
            </a:solidFill>
            <a:miter lim="800000"/>
            <a:headEnd/>
            <a:tailEnd/>
          </a:ln>
          <a:effectLst/>
        </p:spPr>
        <p:txBody>
          <a:bodyPr anchor="ctr"/>
          <a:lstStyle/>
          <a:p>
            <a:r>
              <a:rPr lang="es-ES" sz="1100" dirty="0">
                <a:solidFill>
                  <a:srgbClr val="000000"/>
                </a:solidFill>
              </a:rPr>
              <a:t>Mal manejo de los medios que podría tener un impacto negativo en la imagen de Rímac por un tiempo prolongado.</a:t>
            </a:r>
          </a:p>
        </p:txBody>
      </p:sp>
      <p:sp>
        <p:nvSpPr>
          <p:cNvPr id="74" name="AutoShape 179"/>
          <p:cNvSpPr>
            <a:spLocks noChangeArrowheads="1"/>
          </p:cNvSpPr>
          <p:nvPr/>
        </p:nvSpPr>
        <p:spPr bwMode="auto">
          <a:xfrm>
            <a:off x="4927319" y="4441608"/>
            <a:ext cx="4037169" cy="892800"/>
          </a:xfrm>
          <a:prstGeom prst="roundRect">
            <a:avLst>
              <a:gd name="adj" fmla="val 9481"/>
            </a:avLst>
          </a:prstGeom>
          <a:solidFill>
            <a:schemeClr val="accent1">
              <a:lumMod val="20000"/>
              <a:lumOff val="80000"/>
            </a:schemeClr>
          </a:solidFill>
          <a:ln w="9525" algn="ctr">
            <a:noFill/>
            <a:round/>
            <a:headEnd/>
            <a:tailEnd/>
          </a:ln>
          <a:effectLst/>
        </p:spPr>
        <p:txBody>
          <a:bodyPr wrap="none" anchor="ctr"/>
          <a:lstStyle/>
          <a:p>
            <a:endParaRPr lang="es-CL">
              <a:solidFill>
                <a:srgbClr val="002060"/>
              </a:solidFill>
            </a:endParaRPr>
          </a:p>
        </p:txBody>
      </p:sp>
      <p:sp>
        <p:nvSpPr>
          <p:cNvPr id="75" name="AutoShape 47"/>
          <p:cNvSpPr>
            <a:spLocks noChangeArrowheads="1"/>
          </p:cNvSpPr>
          <p:nvPr/>
        </p:nvSpPr>
        <p:spPr bwMode="blackWhite">
          <a:xfrm>
            <a:off x="4673792" y="4443110"/>
            <a:ext cx="352800" cy="892800"/>
          </a:xfrm>
          <a:prstGeom prst="rightArrow">
            <a:avLst>
              <a:gd name="adj1" fmla="val 100000"/>
              <a:gd name="adj2" fmla="val 11009"/>
            </a:avLst>
          </a:prstGeom>
          <a:solidFill>
            <a:srgbClr val="969696"/>
          </a:solidFill>
          <a:ln w="12700">
            <a:noFill/>
            <a:miter lim="800000"/>
            <a:headEnd/>
            <a:tailEnd/>
          </a:ln>
          <a:effectLst>
            <a:outerShdw dist="35921" dir="2700000" algn="ctr" rotWithShape="0">
              <a:schemeClr val="bg2"/>
            </a:outerShdw>
          </a:effectLst>
        </p:spPr>
        <p:txBody>
          <a:bodyPr vert="vert270" anchor="ctr"/>
          <a:lstStyle/>
          <a:p>
            <a:pPr algn="ctr">
              <a:lnSpc>
                <a:spcPts val="1000"/>
              </a:lnSpc>
            </a:pPr>
            <a:r>
              <a:rPr lang="es-ES" sz="1100" b="1" noProof="1">
                <a:solidFill>
                  <a:srgbClr val="FFFFFF"/>
                </a:solidFill>
                <a:cs typeface="Arial" charset="0"/>
              </a:rPr>
              <a:t>Cuestionarios</a:t>
            </a:r>
          </a:p>
        </p:txBody>
      </p:sp>
      <p:sp>
        <p:nvSpPr>
          <p:cNvPr id="77" name="Rounded Rectangle 38"/>
          <p:cNvSpPr/>
          <p:nvPr/>
        </p:nvSpPr>
        <p:spPr>
          <a:xfrm>
            <a:off x="5098230" y="4516875"/>
            <a:ext cx="3132000" cy="170094"/>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Criterios de Evaluación</a:t>
            </a:r>
          </a:p>
        </p:txBody>
      </p:sp>
      <p:sp>
        <p:nvSpPr>
          <p:cNvPr id="78" name="Rectangle 18"/>
          <p:cNvSpPr>
            <a:spLocks noChangeArrowheads="1"/>
          </p:cNvSpPr>
          <p:nvPr/>
        </p:nvSpPr>
        <p:spPr bwMode="auto">
          <a:xfrm>
            <a:off x="5102950" y="4730048"/>
            <a:ext cx="3780000" cy="469509"/>
          </a:xfrm>
          <a:prstGeom prst="rect">
            <a:avLst/>
          </a:prstGeom>
          <a:solidFill>
            <a:schemeClr val="bg1"/>
          </a:solidFill>
          <a:ln w="9525" algn="ctr">
            <a:solidFill>
              <a:schemeClr val="bg2"/>
            </a:solidFill>
            <a:miter lim="800000"/>
            <a:headEnd/>
            <a:tailEnd/>
          </a:ln>
          <a:effectLst/>
        </p:spPr>
        <p:txBody>
          <a:bodyPr anchor="ctr"/>
          <a:lstStyle/>
          <a:p>
            <a:r>
              <a:rPr lang="es-PE" sz="1050" dirty="0">
                <a:solidFill>
                  <a:srgbClr val="000000"/>
                </a:solidFill>
              </a:rPr>
              <a:t>Las decisiones de inversiones son diarias, se aprueban a través de un Comité y las estrategias pueden cambiar de acuerdo al desempeño del mercado.</a:t>
            </a:r>
            <a:endParaRPr lang="es-ES" sz="1050" dirty="0">
              <a:solidFill>
                <a:srgbClr val="000000"/>
              </a:solidFill>
            </a:endParaRPr>
          </a:p>
        </p:txBody>
      </p:sp>
      <p:sp>
        <p:nvSpPr>
          <p:cNvPr id="79" name="Text Box 30"/>
          <p:cNvSpPr txBox="1">
            <a:spLocks noChangeArrowheads="1"/>
          </p:cNvSpPr>
          <p:nvPr/>
        </p:nvSpPr>
        <p:spPr bwMode="auto">
          <a:xfrm>
            <a:off x="190746" y="4977551"/>
            <a:ext cx="3996000" cy="276999"/>
          </a:xfrm>
          <a:prstGeom prst="rect">
            <a:avLst/>
          </a:prstGeom>
          <a:noFill/>
          <a:ln w="9525" algn="ctr">
            <a:noFill/>
            <a:miter lim="800000"/>
            <a:headEnd/>
            <a:tailEnd/>
          </a:ln>
          <a:effectLst/>
        </p:spPr>
        <p:txBody>
          <a:bodyPr wrap="square">
            <a:spAutoFit/>
          </a:bodyPr>
          <a:lstStyle/>
          <a:p>
            <a:pPr>
              <a:spcBef>
                <a:spcPct val="50000"/>
              </a:spcBef>
            </a:pPr>
            <a:r>
              <a:rPr lang="es-CL" sz="1200" b="1" i="1" dirty="0">
                <a:solidFill>
                  <a:srgbClr val="A3A3E0"/>
                </a:solidFill>
              </a:rPr>
              <a:t>Resultados valoración de controles / factores mitigantes</a:t>
            </a:r>
            <a:endParaRPr lang="es-ES" sz="1200" b="1" i="1" dirty="0">
              <a:solidFill>
                <a:srgbClr val="A3A3E0"/>
              </a:solidFill>
            </a:endParaRPr>
          </a:p>
        </p:txBody>
      </p:sp>
      <p:sp>
        <p:nvSpPr>
          <p:cNvPr id="80" name="AutoShape 179"/>
          <p:cNvSpPr>
            <a:spLocks noChangeArrowheads="1"/>
          </p:cNvSpPr>
          <p:nvPr/>
        </p:nvSpPr>
        <p:spPr bwMode="auto">
          <a:xfrm>
            <a:off x="534831" y="5200032"/>
            <a:ext cx="4037169" cy="864000"/>
          </a:xfrm>
          <a:prstGeom prst="roundRect">
            <a:avLst>
              <a:gd name="adj" fmla="val 9481"/>
            </a:avLst>
          </a:prstGeom>
          <a:solidFill>
            <a:schemeClr val="accent1">
              <a:lumMod val="20000"/>
              <a:lumOff val="80000"/>
            </a:schemeClr>
          </a:solidFill>
          <a:ln w="9525" algn="ctr">
            <a:noFill/>
            <a:round/>
            <a:headEnd/>
            <a:tailEnd/>
          </a:ln>
          <a:effectLst/>
        </p:spPr>
        <p:txBody>
          <a:bodyPr wrap="none" anchor="ctr"/>
          <a:lstStyle/>
          <a:p>
            <a:endParaRPr lang="es-CL">
              <a:solidFill>
                <a:srgbClr val="002060"/>
              </a:solidFill>
            </a:endParaRPr>
          </a:p>
        </p:txBody>
      </p:sp>
      <p:sp>
        <p:nvSpPr>
          <p:cNvPr id="81" name="AutoShape 47"/>
          <p:cNvSpPr>
            <a:spLocks noChangeArrowheads="1"/>
          </p:cNvSpPr>
          <p:nvPr/>
        </p:nvSpPr>
        <p:spPr bwMode="blackWhite">
          <a:xfrm>
            <a:off x="281304" y="5201534"/>
            <a:ext cx="353942" cy="864000"/>
          </a:xfrm>
          <a:prstGeom prst="rightArrow">
            <a:avLst>
              <a:gd name="adj1" fmla="val 100000"/>
              <a:gd name="adj2" fmla="val 11009"/>
            </a:avLst>
          </a:prstGeom>
          <a:solidFill>
            <a:srgbClr val="969696"/>
          </a:solidFill>
          <a:ln w="12700">
            <a:noFill/>
            <a:miter lim="800000"/>
            <a:headEnd/>
            <a:tailEnd/>
          </a:ln>
          <a:effectLst>
            <a:outerShdw dist="35921" dir="2700000" algn="ctr" rotWithShape="0">
              <a:schemeClr val="bg2"/>
            </a:outerShdw>
          </a:effectLst>
        </p:spPr>
        <p:txBody>
          <a:bodyPr vert="vert270" anchor="ctr"/>
          <a:lstStyle/>
          <a:p>
            <a:pPr algn="ctr">
              <a:lnSpc>
                <a:spcPts val="1000"/>
              </a:lnSpc>
            </a:pPr>
            <a:r>
              <a:rPr lang="es-ES" sz="1100" b="1" noProof="1">
                <a:solidFill>
                  <a:srgbClr val="FFFFFF"/>
                </a:solidFill>
                <a:cs typeface="Arial" charset="0"/>
              </a:rPr>
              <a:t>Evaluación de Controles</a:t>
            </a:r>
          </a:p>
        </p:txBody>
      </p:sp>
      <p:sp>
        <p:nvSpPr>
          <p:cNvPr id="82" name="Rectangle 18"/>
          <p:cNvSpPr>
            <a:spLocks noChangeArrowheads="1"/>
          </p:cNvSpPr>
          <p:nvPr/>
        </p:nvSpPr>
        <p:spPr bwMode="auto">
          <a:xfrm>
            <a:off x="3937102" y="5275299"/>
            <a:ext cx="548640" cy="170094"/>
          </a:xfrm>
          <a:prstGeom prst="rect">
            <a:avLst/>
          </a:prstGeom>
          <a:solidFill>
            <a:schemeClr val="bg1"/>
          </a:solidFill>
          <a:ln w="9525" algn="ctr">
            <a:solidFill>
              <a:schemeClr val="bg2"/>
            </a:solidFill>
            <a:miter lim="800000"/>
            <a:headEnd/>
            <a:tailEnd/>
          </a:ln>
          <a:effectLst/>
        </p:spPr>
        <p:txBody>
          <a:bodyPr anchor="ctr"/>
          <a:lstStyle/>
          <a:p>
            <a:pPr algn="ctr"/>
            <a:r>
              <a:rPr lang="es-ES" sz="1100" dirty="0">
                <a:solidFill>
                  <a:srgbClr val="002060"/>
                </a:solidFill>
              </a:rPr>
              <a:t>1</a:t>
            </a:r>
          </a:p>
        </p:txBody>
      </p:sp>
      <p:sp>
        <p:nvSpPr>
          <p:cNvPr id="83" name="Rounded Rectangle 38"/>
          <p:cNvSpPr/>
          <p:nvPr/>
        </p:nvSpPr>
        <p:spPr>
          <a:xfrm>
            <a:off x="705742" y="5275299"/>
            <a:ext cx="3132000" cy="170094"/>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Controles asociados al riesgo</a:t>
            </a:r>
          </a:p>
        </p:txBody>
      </p:sp>
      <p:sp>
        <p:nvSpPr>
          <p:cNvPr id="84" name="Rectangle 18"/>
          <p:cNvSpPr>
            <a:spLocks noChangeArrowheads="1"/>
          </p:cNvSpPr>
          <p:nvPr/>
        </p:nvSpPr>
        <p:spPr bwMode="auto">
          <a:xfrm>
            <a:off x="705742" y="5496307"/>
            <a:ext cx="3780000" cy="469509"/>
          </a:xfrm>
          <a:prstGeom prst="rect">
            <a:avLst/>
          </a:prstGeom>
          <a:solidFill>
            <a:schemeClr val="bg1"/>
          </a:solidFill>
          <a:ln w="9525" algn="ctr">
            <a:solidFill>
              <a:schemeClr val="bg2"/>
            </a:solidFill>
            <a:miter lim="800000"/>
            <a:headEnd/>
            <a:tailEnd/>
          </a:ln>
          <a:effectLst/>
        </p:spPr>
        <p:txBody>
          <a:bodyPr anchor="ctr"/>
          <a:lstStyle/>
          <a:p>
            <a:r>
              <a:rPr lang="es-ES" sz="1100" dirty="0">
                <a:solidFill>
                  <a:srgbClr val="000000"/>
                </a:solidFill>
              </a:rPr>
              <a:t>Ingreso al sistema por perfiles.</a:t>
            </a:r>
          </a:p>
        </p:txBody>
      </p:sp>
      <p:sp>
        <p:nvSpPr>
          <p:cNvPr id="85" name="AutoShape 179"/>
          <p:cNvSpPr>
            <a:spLocks noChangeArrowheads="1"/>
          </p:cNvSpPr>
          <p:nvPr/>
        </p:nvSpPr>
        <p:spPr bwMode="auto">
          <a:xfrm>
            <a:off x="611560" y="3535397"/>
            <a:ext cx="3960812" cy="1371600"/>
          </a:xfrm>
          <a:prstGeom prst="roundRect">
            <a:avLst>
              <a:gd name="adj" fmla="val 9481"/>
            </a:avLst>
          </a:prstGeom>
          <a:solidFill>
            <a:schemeClr val="accent1">
              <a:lumMod val="20000"/>
              <a:lumOff val="80000"/>
            </a:schemeClr>
          </a:solidFill>
          <a:ln w="9525" algn="ctr">
            <a:noFill/>
            <a:round/>
            <a:headEnd/>
            <a:tailEnd/>
          </a:ln>
          <a:effectLst/>
        </p:spPr>
        <p:txBody>
          <a:bodyPr wrap="none" anchor="ctr"/>
          <a:lstStyle/>
          <a:p>
            <a:endParaRPr lang="es-CL">
              <a:solidFill>
                <a:srgbClr val="002060"/>
              </a:solidFill>
            </a:endParaRPr>
          </a:p>
        </p:txBody>
      </p:sp>
      <p:sp>
        <p:nvSpPr>
          <p:cNvPr id="86" name="Rounded Rectangle 85"/>
          <p:cNvSpPr/>
          <p:nvPr/>
        </p:nvSpPr>
        <p:spPr>
          <a:xfrm>
            <a:off x="902959" y="4382163"/>
            <a:ext cx="1920240" cy="182880"/>
          </a:xfrm>
          <a:prstGeom prst="roundRect">
            <a:avLst/>
          </a:prstGeom>
          <a:solidFill>
            <a:srgbClr val="DB0613"/>
          </a:solidFill>
          <a:ln w="9525" algn="ctr">
            <a:noFill/>
            <a:miter lim="800000"/>
            <a:headEnd/>
            <a:tailEnd/>
          </a:ln>
          <a:effectLst/>
        </p:spPr>
        <p:txBody>
          <a:bodyPr tIns="91440" anchor="ctr"/>
          <a:lstStyle/>
          <a:p>
            <a:pPr>
              <a:lnSpc>
                <a:spcPct val="80000"/>
              </a:lnSpc>
            </a:pPr>
            <a:r>
              <a:rPr lang="es-CL" sz="1100" b="1" dirty="0">
                <a:solidFill>
                  <a:srgbClr val="FFFFFF"/>
                </a:solidFill>
                <a:cs typeface="Arial" pitchFamily="34" charset="0"/>
              </a:rPr>
              <a:t>Pérdida Esperada Anual</a:t>
            </a:r>
          </a:p>
        </p:txBody>
      </p:sp>
      <p:sp>
        <p:nvSpPr>
          <p:cNvPr id="87" name="Rectangle 18"/>
          <p:cNvSpPr>
            <a:spLocks noChangeArrowheads="1"/>
          </p:cNvSpPr>
          <p:nvPr/>
        </p:nvSpPr>
        <p:spPr bwMode="auto">
          <a:xfrm>
            <a:off x="2859920" y="4382163"/>
            <a:ext cx="1554480" cy="182880"/>
          </a:xfrm>
          <a:prstGeom prst="rect">
            <a:avLst/>
          </a:prstGeom>
          <a:solidFill>
            <a:schemeClr val="bg1"/>
          </a:solidFill>
          <a:ln w="9525" algn="ctr">
            <a:solidFill>
              <a:schemeClr val="bg2"/>
            </a:solidFill>
            <a:miter lim="800000"/>
            <a:headEnd/>
            <a:tailEnd/>
          </a:ln>
          <a:effectLst/>
        </p:spPr>
        <p:txBody>
          <a:bodyPr anchor="ctr"/>
          <a:lstStyle/>
          <a:p>
            <a:pPr algn="ctr"/>
            <a:r>
              <a:rPr lang="es-ES" sz="1100" dirty="0"/>
              <a:t>S/. 0.00</a:t>
            </a:r>
          </a:p>
        </p:txBody>
      </p:sp>
      <p:sp>
        <p:nvSpPr>
          <p:cNvPr id="88" name="Rounded Rectangle 87"/>
          <p:cNvSpPr/>
          <p:nvPr/>
        </p:nvSpPr>
        <p:spPr>
          <a:xfrm>
            <a:off x="902959" y="4611775"/>
            <a:ext cx="192024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VaR Cualitativo Anual</a:t>
            </a:r>
          </a:p>
        </p:txBody>
      </p:sp>
      <p:sp>
        <p:nvSpPr>
          <p:cNvPr id="89" name="Rectangle 18"/>
          <p:cNvSpPr>
            <a:spLocks noChangeArrowheads="1"/>
          </p:cNvSpPr>
          <p:nvPr/>
        </p:nvSpPr>
        <p:spPr bwMode="auto">
          <a:xfrm>
            <a:off x="2859920" y="4611775"/>
            <a:ext cx="1554480" cy="182880"/>
          </a:xfrm>
          <a:prstGeom prst="rect">
            <a:avLst/>
          </a:prstGeom>
          <a:solidFill>
            <a:schemeClr val="bg1"/>
          </a:solidFill>
          <a:ln w="9525" algn="ctr">
            <a:solidFill>
              <a:schemeClr val="bg2"/>
            </a:solidFill>
            <a:miter lim="800000"/>
            <a:headEnd/>
            <a:tailEnd/>
          </a:ln>
          <a:effectLst/>
        </p:spPr>
        <p:txBody>
          <a:bodyPr anchor="ctr"/>
          <a:lstStyle/>
          <a:p>
            <a:pPr algn="ctr"/>
            <a:r>
              <a:rPr lang="es-ES" sz="1100" dirty="0"/>
              <a:t>S/. 0.00</a:t>
            </a:r>
          </a:p>
        </p:txBody>
      </p:sp>
      <p:sp>
        <p:nvSpPr>
          <p:cNvPr id="90" name="Rounded Rectangle 89"/>
          <p:cNvSpPr/>
          <p:nvPr/>
        </p:nvSpPr>
        <p:spPr>
          <a:xfrm>
            <a:off x="891084" y="3618777"/>
            <a:ext cx="192024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Frecuencia  Evento Pérdida</a:t>
            </a:r>
          </a:p>
        </p:txBody>
      </p:sp>
      <p:sp>
        <p:nvSpPr>
          <p:cNvPr id="91" name="Rectangle 18"/>
          <p:cNvSpPr>
            <a:spLocks noChangeArrowheads="1"/>
          </p:cNvSpPr>
          <p:nvPr/>
        </p:nvSpPr>
        <p:spPr bwMode="auto">
          <a:xfrm>
            <a:off x="2859920" y="3618777"/>
            <a:ext cx="1554480" cy="182880"/>
          </a:xfrm>
          <a:prstGeom prst="rect">
            <a:avLst/>
          </a:prstGeom>
          <a:solidFill>
            <a:schemeClr val="bg1"/>
          </a:solidFill>
          <a:ln w="9525" algn="ctr">
            <a:solidFill>
              <a:schemeClr val="bg2"/>
            </a:solidFill>
            <a:miter lim="800000"/>
            <a:headEnd/>
            <a:tailEnd/>
          </a:ln>
          <a:effectLst/>
        </p:spPr>
        <p:txBody>
          <a:bodyPr anchor="ctr"/>
          <a:lstStyle/>
          <a:p>
            <a:pPr algn="ctr"/>
            <a:r>
              <a:rPr lang="es-ES" sz="1100" dirty="0"/>
              <a:t>1 vez por siglo</a:t>
            </a:r>
          </a:p>
        </p:txBody>
      </p:sp>
      <p:sp>
        <p:nvSpPr>
          <p:cNvPr id="92" name="Rounded Rectangle 91"/>
          <p:cNvSpPr/>
          <p:nvPr/>
        </p:nvSpPr>
        <p:spPr>
          <a:xfrm>
            <a:off x="891084" y="3848389"/>
            <a:ext cx="192024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Impacto Medio Evento</a:t>
            </a:r>
          </a:p>
        </p:txBody>
      </p:sp>
      <p:sp>
        <p:nvSpPr>
          <p:cNvPr id="93" name="Rectangle 18"/>
          <p:cNvSpPr>
            <a:spLocks noChangeArrowheads="1"/>
          </p:cNvSpPr>
          <p:nvPr/>
        </p:nvSpPr>
        <p:spPr bwMode="auto">
          <a:xfrm>
            <a:off x="2859920" y="3848389"/>
            <a:ext cx="1554480" cy="182880"/>
          </a:xfrm>
          <a:prstGeom prst="rect">
            <a:avLst/>
          </a:prstGeom>
          <a:solidFill>
            <a:schemeClr val="bg1"/>
          </a:solidFill>
          <a:ln w="9525" algn="ctr">
            <a:solidFill>
              <a:schemeClr val="bg2"/>
            </a:solidFill>
            <a:miter lim="800000"/>
            <a:headEnd/>
            <a:tailEnd/>
          </a:ln>
          <a:effectLst/>
        </p:spPr>
        <p:txBody>
          <a:bodyPr anchor="ctr"/>
          <a:lstStyle/>
          <a:p>
            <a:pPr algn="ctr"/>
            <a:r>
              <a:rPr lang="es-ES" sz="1100" dirty="0"/>
              <a:t>S/. 0.00</a:t>
            </a:r>
          </a:p>
        </p:txBody>
      </p:sp>
      <p:sp>
        <p:nvSpPr>
          <p:cNvPr id="94" name="Rounded Rectangle 93"/>
          <p:cNvSpPr/>
          <p:nvPr/>
        </p:nvSpPr>
        <p:spPr>
          <a:xfrm>
            <a:off x="891084" y="4083969"/>
            <a:ext cx="192024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Impacto Peor Escenario</a:t>
            </a:r>
          </a:p>
        </p:txBody>
      </p:sp>
      <p:sp>
        <p:nvSpPr>
          <p:cNvPr id="95" name="Rectangle 18"/>
          <p:cNvSpPr>
            <a:spLocks noChangeArrowheads="1"/>
          </p:cNvSpPr>
          <p:nvPr/>
        </p:nvSpPr>
        <p:spPr bwMode="auto">
          <a:xfrm>
            <a:off x="2859920" y="4083969"/>
            <a:ext cx="1554480" cy="182880"/>
          </a:xfrm>
          <a:prstGeom prst="rect">
            <a:avLst/>
          </a:prstGeom>
          <a:solidFill>
            <a:schemeClr val="bg1"/>
          </a:solidFill>
          <a:ln w="9525" algn="ctr">
            <a:solidFill>
              <a:schemeClr val="bg2"/>
            </a:solidFill>
            <a:miter lim="800000"/>
            <a:headEnd/>
            <a:tailEnd/>
          </a:ln>
          <a:effectLst/>
        </p:spPr>
        <p:txBody>
          <a:bodyPr anchor="ctr"/>
          <a:lstStyle/>
          <a:p>
            <a:pPr algn="ctr"/>
            <a:r>
              <a:rPr lang="es-ES" sz="1100" dirty="0"/>
              <a:t>S/. 0.00</a:t>
            </a:r>
          </a:p>
        </p:txBody>
      </p:sp>
      <p:sp>
        <p:nvSpPr>
          <p:cNvPr id="96" name="AutoShape 47"/>
          <p:cNvSpPr>
            <a:spLocks noChangeAspect="1" noChangeArrowheads="1"/>
          </p:cNvSpPr>
          <p:nvPr/>
        </p:nvSpPr>
        <p:spPr bwMode="blackWhite">
          <a:xfrm>
            <a:off x="263033" y="3533122"/>
            <a:ext cx="492543" cy="1339083"/>
          </a:xfrm>
          <a:prstGeom prst="rightArrow">
            <a:avLst>
              <a:gd name="adj1" fmla="val 100000"/>
              <a:gd name="adj2" fmla="val 11009"/>
            </a:avLst>
          </a:prstGeom>
          <a:solidFill>
            <a:srgbClr val="969696"/>
          </a:solidFill>
          <a:ln w="12700">
            <a:noFill/>
            <a:miter lim="800000"/>
            <a:headEnd/>
            <a:tailEnd/>
          </a:ln>
          <a:effectLst>
            <a:outerShdw dist="35921" dir="2700000" algn="ctr" rotWithShape="0">
              <a:schemeClr val="bg2"/>
            </a:outerShdw>
          </a:effectLst>
        </p:spPr>
        <p:txBody>
          <a:bodyPr vert="vert270" anchor="ctr"/>
          <a:lstStyle/>
          <a:p>
            <a:pPr algn="ctr">
              <a:lnSpc>
                <a:spcPts val="1000"/>
              </a:lnSpc>
            </a:pPr>
            <a:r>
              <a:rPr lang="es-ES" sz="1200" b="1" noProof="1">
                <a:solidFill>
                  <a:srgbClr val="FFFFFF"/>
                </a:solidFill>
                <a:cs typeface="Arial" charset="0"/>
              </a:rPr>
              <a:t>Evaluación Riesgo Operacional</a:t>
            </a:r>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dirty="0"/>
              <a:t>Anexo: Ficha Individual Riesgos Operacionales</a:t>
            </a:r>
          </a:p>
        </p:txBody>
      </p:sp>
      <p:sp>
        <p:nvSpPr>
          <p:cNvPr id="4" name="Rounded Rectangle 3"/>
          <p:cNvSpPr/>
          <p:nvPr/>
        </p:nvSpPr>
        <p:spPr>
          <a:xfrm>
            <a:off x="214497" y="764704"/>
            <a:ext cx="397063" cy="274320"/>
          </a:xfrm>
          <a:prstGeom prst="roundRect">
            <a:avLst/>
          </a:prstGeom>
          <a:solidFill>
            <a:srgbClr val="DB0613"/>
          </a:solidFill>
          <a:ln w="9525" algn="ctr">
            <a:noFill/>
            <a:miter lim="800000"/>
            <a:headEnd/>
            <a:tailEnd/>
          </a:ln>
          <a:effectLst/>
        </p:spPr>
        <p:txBody>
          <a:bodyPr anchor="ctr"/>
          <a:lstStyle/>
          <a:p>
            <a:pPr algn="ctr">
              <a:lnSpc>
                <a:spcPct val="80000"/>
              </a:lnSpc>
            </a:pPr>
            <a:r>
              <a:rPr lang="es-CL" sz="1200" b="1" dirty="0">
                <a:solidFill>
                  <a:srgbClr val="FFFFFF"/>
                </a:solidFill>
                <a:cs typeface="Arial" pitchFamily="34" charset="0"/>
              </a:rPr>
              <a:t>32</a:t>
            </a:r>
          </a:p>
        </p:txBody>
      </p:sp>
      <p:sp>
        <p:nvSpPr>
          <p:cNvPr id="5" name="Rectangle 18"/>
          <p:cNvSpPr>
            <a:spLocks noChangeArrowheads="1"/>
          </p:cNvSpPr>
          <p:nvPr/>
        </p:nvSpPr>
        <p:spPr bwMode="auto">
          <a:xfrm>
            <a:off x="227770" y="2409552"/>
            <a:ext cx="6400800" cy="839807"/>
          </a:xfrm>
          <a:prstGeom prst="rect">
            <a:avLst/>
          </a:prstGeom>
          <a:noFill/>
          <a:ln w="9525" algn="ctr">
            <a:solidFill>
              <a:schemeClr val="bg2"/>
            </a:solidFill>
            <a:miter lim="800000"/>
            <a:headEnd/>
            <a:tailEnd/>
          </a:ln>
          <a:effectLst/>
        </p:spPr>
        <p:txBody>
          <a:bodyPr/>
          <a:lstStyle/>
          <a:p>
            <a:r>
              <a:rPr lang="es-ES" sz="1100" dirty="0"/>
              <a:t>Falla en el proceso de revisión de los datos ingresados en el sistema (primer día de la operación). Error humano.   </a:t>
            </a:r>
            <a:endParaRPr lang="es-ES" sz="1100" dirty="0">
              <a:solidFill>
                <a:srgbClr val="002060"/>
              </a:solidFill>
            </a:endParaRPr>
          </a:p>
        </p:txBody>
      </p:sp>
      <p:sp>
        <p:nvSpPr>
          <p:cNvPr id="7" name="Text Box 30"/>
          <p:cNvSpPr txBox="1">
            <a:spLocks noChangeArrowheads="1"/>
          </p:cNvSpPr>
          <p:nvPr/>
        </p:nvSpPr>
        <p:spPr bwMode="auto">
          <a:xfrm>
            <a:off x="190747" y="3299257"/>
            <a:ext cx="3671888" cy="276999"/>
          </a:xfrm>
          <a:prstGeom prst="rect">
            <a:avLst/>
          </a:prstGeom>
          <a:noFill/>
          <a:ln w="9525" algn="ctr">
            <a:noFill/>
            <a:miter lim="800000"/>
            <a:headEnd/>
            <a:tailEnd/>
          </a:ln>
          <a:effectLst/>
        </p:spPr>
        <p:txBody>
          <a:bodyPr>
            <a:spAutoFit/>
          </a:bodyPr>
          <a:lstStyle/>
          <a:p>
            <a:pPr>
              <a:spcBef>
                <a:spcPct val="50000"/>
              </a:spcBef>
            </a:pPr>
            <a:r>
              <a:rPr lang="es-CL" sz="1200" b="1" i="1" dirty="0">
                <a:solidFill>
                  <a:srgbClr val="A3A3E0"/>
                </a:solidFill>
              </a:rPr>
              <a:t>Resultados valoración de riesgos</a:t>
            </a:r>
            <a:endParaRPr lang="es-ES" sz="1200" b="1" i="1" dirty="0">
              <a:solidFill>
                <a:srgbClr val="A3A3E0"/>
              </a:solidFill>
            </a:endParaRPr>
          </a:p>
        </p:txBody>
      </p:sp>
      <p:sp>
        <p:nvSpPr>
          <p:cNvPr id="8" name="Rounded Rectangle 7"/>
          <p:cNvSpPr/>
          <p:nvPr/>
        </p:nvSpPr>
        <p:spPr>
          <a:xfrm>
            <a:off x="652842" y="764704"/>
            <a:ext cx="8321040" cy="274320"/>
          </a:xfrm>
          <a:prstGeom prst="roundRect">
            <a:avLst/>
          </a:prstGeom>
          <a:solidFill>
            <a:srgbClr val="DB0613"/>
          </a:solidFill>
          <a:ln w="9525" algn="ctr">
            <a:noFill/>
            <a:miter lim="800000"/>
            <a:headEnd/>
            <a:tailEnd/>
          </a:ln>
          <a:effectLst/>
        </p:spPr>
        <p:txBody>
          <a:bodyPr anchor="ctr"/>
          <a:lstStyle/>
          <a:p>
            <a:pPr>
              <a:lnSpc>
                <a:spcPct val="80000"/>
              </a:lnSpc>
            </a:pPr>
            <a:r>
              <a:rPr lang="es-ES" sz="1200" dirty="0">
                <a:solidFill>
                  <a:schemeClr val="bg1"/>
                </a:solidFill>
              </a:rPr>
              <a:t>Falla en la revisión de los datos ingresados en el sistema. </a:t>
            </a:r>
            <a:endParaRPr lang="es-CL" sz="1200" b="1" dirty="0">
              <a:solidFill>
                <a:schemeClr val="bg1"/>
              </a:solidFill>
              <a:cs typeface="Arial" pitchFamily="34" charset="0"/>
            </a:endParaRPr>
          </a:p>
        </p:txBody>
      </p:sp>
      <p:sp>
        <p:nvSpPr>
          <p:cNvPr id="9" name="Rounded Rectangle 8"/>
          <p:cNvSpPr/>
          <p:nvPr/>
        </p:nvSpPr>
        <p:spPr>
          <a:xfrm>
            <a:off x="227770" y="2202383"/>
            <a:ext cx="64008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Descripción</a:t>
            </a:r>
          </a:p>
        </p:txBody>
      </p:sp>
      <p:sp>
        <p:nvSpPr>
          <p:cNvPr id="10" name="Rounded Rectangle 9"/>
          <p:cNvSpPr/>
          <p:nvPr/>
        </p:nvSpPr>
        <p:spPr>
          <a:xfrm>
            <a:off x="6716066" y="1089119"/>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Categoría  de Riesgo Nivel I</a:t>
            </a:r>
          </a:p>
        </p:txBody>
      </p:sp>
      <p:sp>
        <p:nvSpPr>
          <p:cNvPr id="11" name="Rectangle 18"/>
          <p:cNvSpPr>
            <a:spLocks noChangeArrowheads="1"/>
          </p:cNvSpPr>
          <p:nvPr/>
        </p:nvSpPr>
        <p:spPr bwMode="auto">
          <a:xfrm>
            <a:off x="6716066" y="1316374"/>
            <a:ext cx="2286000" cy="365760"/>
          </a:xfrm>
          <a:prstGeom prst="rect">
            <a:avLst/>
          </a:prstGeom>
          <a:noFill/>
          <a:ln w="9525" algn="ctr">
            <a:solidFill>
              <a:schemeClr val="bg2"/>
            </a:solidFill>
            <a:miter lim="800000"/>
            <a:headEnd/>
            <a:tailEnd/>
          </a:ln>
          <a:effectLst/>
        </p:spPr>
        <p:txBody>
          <a:bodyPr anchor="ctr"/>
          <a:lstStyle/>
          <a:p>
            <a:pPr>
              <a:lnSpc>
                <a:spcPts val="1000"/>
              </a:lnSpc>
            </a:pPr>
            <a:r>
              <a:rPr lang="es-ES" sz="1100" dirty="0"/>
              <a:t>Ejecución, entrega y gestión de procesos</a:t>
            </a:r>
          </a:p>
        </p:txBody>
      </p:sp>
      <p:sp>
        <p:nvSpPr>
          <p:cNvPr id="12" name="Rounded Rectangle 11"/>
          <p:cNvSpPr/>
          <p:nvPr/>
        </p:nvSpPr>
        <p:spPr>
          <a:xfrm>
            <a:off x="6716066" y="1725169"/>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Categoría de Riesgo Nivel II</a:t>
            </a:r>
          </a:p>
        </p:txBody>
      </p:sp>
      <p:sp>
        <p:nvSpPr>
          <p:cNvPr id="13" name="Rectangle 18"/>
          <p:cNvSpPr>
            <a:spLocks noChangeArrowheads="1"/>
          </p:cNvSpPr>
          <p:nvPr/>
        </p:nvSpPr>
        <p:spPr bwMode="auto">
          <a:xfrm>
            <a:off x="6716066" y="1942710"/>
            <a:ext cx="2286000" cy="274320"/>
          </a:xfrm>
          <a:prstGeom prst="rect">
            <a:avLst/>
          </a:prstGeom>
          <a:noFill/>
          <a:ln w="9525" algn="ctr">
            <a:solidFill>
              <a:schemeClr val="bg2"/>
            </a:solidFill>
            <a:miter lim="800000"/>
            <a:headEnd/>
            <a:tailEnd/>
          </a:ln>
          <a:effectLst/>
        </p:spPr>
        <p:txBody>
          <a:bodyPr anchor="ctr"/>
          <a:lstStyle/>
          <a:p>
            <a:r>
              <a:rPr lang="es-ES" sz="1100" dirty="0"/>
              <a:t>Recepción, ejecución y mantenimiento de operaciones</a:t>
            </a:r>
          </a:p>
        </p:txBody>
      </p:sp>
      <p:sp>
        <p:nvSpPr>
          <p:cNvPr id="16" name="Rectangle 18"/>
          <p:cNvSpPr>
            <a:spLocks noChangeArrowheads="1"/>
          </p:cNvSpPr>
          <p:nvPr/>
        </p:nvSpPr>
        <p:spPr bwMode="auto">
          <a:xfrm>
            <a:off x="6716066" y="2459337"/>
            <a:ext cx="2286000" cy="506469"/>
          </a:xfrm>
          <a:prstGeom prst="rect">
            <a:avLst/>
          </a:prstGeom>
          <a:noFill/>
          <a:ln w="9525" algn="ctr">
            <a:solidFill>
              <a:schemeClr val="bg2"/>
            </a:solidFill>
            <a:miter lim="800000"/>
            <a:headEnd/>
            <a:tailEnd/>
          </a:ln>
          <a:effectLst/>
        </p:spPr>
        <p:txBody>
          <a:bodyPr anchor="ctr"/>
          <a:lstStyle/>
          <a:p>
            <a:r>
              <a:rPr lang="es-ES" sz="1100" dirty="0"/>
              <a:t>Incorrecta ejecución de tareas/obligaciones</a:t>
            </a:r>
          </a:p>
        </p:txBody>
      </p:sp>
      <p:sp>
        <p:nvSpPr>
          <p:cNvPr id="17" name="Rounded Rectangle 16"/>
          <p:cNvSpPr/>
          <p:nvPr/>
        </p:nvSpPr>
        <p:spPr>
          <a:xfrm>
            <a:off x="227770" y="1110038"/>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Macroproceso</a:t>
            </a:r>
          </a:p>
        </p:txBody>
      </p:sp>
      <p:sp>
        <p:nvSpPr>
          <p:cNvPr id="18" name="Rectangle 18"/>
          <p:cNvSpPr>
            <a:spLocks noChangeArrowheads="1"/>
          </p:cNvSpPr>
          <p:nvPr/>
        </p:nvSpPr>
        <p:spPr bwMode="auto">
          <a:xfrm>
            <a:off x="2568409" y="1110038"/>
            <a:ext cx="4060161" cy="182880"/>
          </a:xfrm>
          <a:prstGeom prst="rect">
            <a:avLst/>
          </a:prstGeom>
          <a:noFill/>
          <a:ln w="9525" algn="ctr">
            <a:solidFill>
              <a:schemeClr val="bg2"/>
            </a:solidFill>
            <a:miter lim="800000"/>
            <a:headEnd/>
            <a:tailEnd/>
          </a:ln>
          <a:effectLst/>
        </p:spPr>
        <p:txBody>
          <a:bodyPr anchor="ctr"/>
          <a:lstStyle/>
          <a:p>
            <a:r>
              <a:rPr lang="es-ES" sz="1100" dirty="0"/>
              <a:t>Administración de Portafolio de Inversiones</a:t>
            </a:r>
          </a:p>
        </p:txBody>
      </p:sp>
      <p:sp>
        <p:nvSpPr>
          <p:cNvPr id="19" name="Rounded Rectangle 18"/>
          <p:cNvSpPr/>
          <p:nvPr/>
        </p:nvSpPr>
        <p:spPr>
          <a:xfrm>
            <a:off x="227770" y="1339045"/>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Proceso</a:t>
            </a:r>
          </a:p>
        </p:txBody>
      </p:sp>
      <p:sp>
        <p:nvSpPr>
          <p:cNvPr id="20" name="Rectangle 18"/>
          <p:cNvSpPr>
            <a:spLocks noChangeArrowheads="1"/>
          </p:cNvSpPr>
          <p:nvPr/>
        </p:nvSpPr>
        <p:spPr bwMode="auto">
          <a:xfrm>
            <a:off x="2568409" y="1339045"/>
            <a:ext cx="4060161" cy="182880"/>
          </a:xfrm>
          <a:prstGeom prst="rect">
            <a:avLst/>
          </a:prstGeom>
          <a:noFill/>
          <a:ln w="9525" algn="ctr">
            <a:solidFill>
              <a:schemeClr val="bg2"/>
            </a:solidFill>
            <a:miter lim="800000"/>
            <a:headEnd/>
            <a:tailEnd/>
          </a:ln>
          <a:effectLst/>
        </p:spPr>
        <p:txBody>
          <a:bodyPr anchor="ctr"/>
          <a:lstStyle/>
          <a:p>
            <a:r>
              <a:rPr lang="es-ES" sz="1100" dirty="0"/>
              <a:t>Administración de fondos</a:t>
            </a:r>
          </a:p>
        </p:txBody>
      </p:sp>
      <p:sp>
        <p:nvSpPr>
          <p:cNvPr id="21" name="Rectangle 29"/>
          <p:cNvSpPr>
            <a:spLocks noChangeArrowheads="1"/>
          </p:cNvSpPr>
          <p:nvPr/>
        </p:nvSpPr>
        <p:spPr bwMode="auto">
          <a:xfrm>
            <a:off x="107504" y="3423715"/>
            <a:ext cx="8961120" cy="1607926"/>
          </a:xfrm>
          <a:prstGeom prst="rect">
            <a:avLst/>
          </a:prstGeom>
          <a:noFill/>
          <a:ln w="19050" cap="rnd" algn="ctr">
            <a:solidFill>
              <a:schemeClr val="bg2"/>
            </a:solidFill>
            <a:prstDash val="sysDot"/>
            <a:miter lim="800000"/>
            <a:headEnd/>
            <a:tailEnd/>
          </a:ln>
          <a:effectLst/>
        </p:spPr>
        <p:txBody>
          <a:bodyPr wrap="none" anchor="ctr"/>
          <a:lstStyle/>
          <a:p>
            <a:endParaRPr lang="en-US">
              <a:solidFill>
                <a:srgbClr val="002060"/>
              </a:solidFill>
            </a:endParaRPr>
          </a:p>
        </p:txBody>
      </p:sp>
      <p:sp>
        <p:nvSpPr>
          <p:cNvPr id="59" name="Rounded Rectangle 58"/>
          <p:cNvSpPr/>
          <p:nvPr/>
        </p:nvSpPr>
        <p:spPr>
          <a:xfrm>
            <a:off x="223049" y="1554311"/>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Subproceso</a:t>
            </a:r>
          </a:p>
        </p:txBody>
      </p:sp>
      <p:sp>
        <p:nvSpPr>
          <p:cNvPr id="60" name="Rectangle 18"/>
          <p:cNvSpPr>
            <a:spLocks noChangeArrowheads="1"/>
          </p:cNvSpPr>
          <p:nvPr/>
        </p:nvSpPr>
        <p:spPr bwMode="auto">
          <a:xfrm>
            <a:off x="2563688" y="1554311"/>
            <a:ext cx="4064882" cy="182880"/>
          </a:xfrm>
          <a:prstGeom prst="rect">
            <a:avLst/>
          </a:prstGeom>
          <a:noFill/>
          <a:ln w="9525" algn="ctr">
            <a:solidFill>
              <a:schemeClr val="bg2"/>
            </a:solidFill>
            <a:miter lim="800000"/>
            <a:headEnd/>
            <a:tailEnd/>
          </a:ln>
          <a:effectLst/>
        </p:spPr>
        <p:txBody>
          <a:bodyPr anchor="ctr"/>
          <a:lstStyle/>
          <a:p>
            <a:r>
              <a:rPr lang="es-ES" sz="1100" dirty="0"/>
              <a:t>Ingreso y registro de operaciones de inversión</a:t>
            </a:r>
          </a:p>
        </p:txBody>
      </p:sp>
      <p:sp>
        <p:nvSpPr>
          <p:cNvPr id="57" name="Rounded Rectangle 56"/>
          <p:cNvSpPr/>
          <p:nvPr/>
        </p:nvSpPr>
        <p:spPr>
          <a:xfrm>
            <a:off x="223049" y="1771093"/>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Línea de Negocio</a:t>
            </a:r>
          </a:p>
        </p:txBody>
      </p:sp>
      <p:sp>
        <p:nvSpPr>
          <p:cNvPr id="58" name="Rectangle 18"/>
          <p:cNvSpPr>
            <a:spLocks noChangeArrowheads="1"/>
          </p:cNvSpPr>
          <p:nvPr/>
        </p:nvSpPr>
        <p:spPr bwMode="auto">
          <a:xfrm>
            <a:off x="2563688" y="1771093"/>
            <a:ext cx="4064882" cy="182880"/>
          </a:xfrm>
          <a:prstGeom prst="rect">
            <a:avLst/>
          </a:prstGeom>
          <a:noFill/>
          <a:ln w="9525" algn="ctr">
            <a:solidFill>
              <a:schemeClr val="bg2"/>
            </a:solidFill>
            <a:miter lim="800000"/>
            <a:headEnd/>
            <a:tailEnd/>
          </a:ln>
          <a:effectLst/>
        </p:spPr>
        <p:txBody>
          <a:bodyPr anchor="ctr"/>
          <a:lstStyle/>
          <a:p>
            <a:r>
              <a:rPr lang="es-ES" sz="1100" dirty="0"/>
              <a:t>Negociación y ventas</a:t>
            </a:r>
          </a:p>
        </p:txBody>
      </p:sp>
      <p:sp>
        <p:nvSpPr>
          <p:cNvPr id="61" name="Rounded Rectangle 60"/>
          <p:cNvSpPr/>
          <p:nvPr/>
        </p:nvSpPr>
        <p:spPr>
          <a:xfrm>
            <a:off x="223049" y="1986359"/>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Responsable</a:t>
            </a:r>
          </a:p>
        </p:txBody>
      </p:sp>
      <p:sp>
        <p:nvSpPr>
          <p:cNvPr id="62" name="Rectangle 18"/>
          <p:cNvSpPr>
            <a:spLocks noChangeArrowheads="1"/>
          </p:cNvSpPr>
          <p:nvPr/>
        </p:nvSpPr>
        <p:spPr bwMode="auto">
          <a:xfrm>
            <a:off x="2558967" y="1986359"/>
            <a:ext cx="4069603" cy="182880"/>
          </a:xfrm>
          <a:prstGeom prst="rect">
            <a:avLst/>
          </a:prstGeom>
          <a:noFill/>
          <a:ln w="9525" algn="ctr">
            <a:solidFill>
              <a:schemeClr val="bg2"/>
            </a:solidFill>
            <a:miter lim="800000"/>
            <a:headEnd/>
            <a:tailEnd/>
          </a:ln>
          <a:effectLst/>
        </p:spPr>
        <p:txBody>
          <a:bodyPr anchor="ctr"/>
          <a:lstStyle/>
          <a:p>
            <a:r>
              <a:rPr lang="es-ES" sz="1100" dirty="0"/>
              <a:t>Subgerente de Operaciones de Inversión </a:t>
            </a:r>
          </a:p>
        </p:txBody>
      </p:sp>
      <p:sp>
        <p:nvSpPr>
          <p:cNvPr id="63" name="Rounded Rectangle 62"/>
          <p:cNvSpPr/>
          <p:nvPr/>
        </p:nvSpPr>
        <p:spPr>
          <a:xfrm>
            <a:off x="6732240" y="2276457"/>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Categoría de Riesgo Nivel III</a:t>
            </a:r>
          </a:p>
        </p:txBody>
      </p:sp>
      <p:sp>
        <p:nvSpPr>
          <p:cNvPr id="64" name="Rounded Rectangle 14"/>
          <p:cNvSpPr/>
          <p:nvPr/>
        </p:nvSpPr>
        <p:spPr>
          <a:xfrm>
            <a:off x="6732240" y="2908110"/>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Origen del Riesgo</a:t>
            </a:r>
          </a:p>
        </p:txBody>
      </p:sp>
      <p:sp>
        <p:nvSpPr>
          <p:cNvPr id="65" name="Rectangle 18"/>
          <p:cNvSpPr>
            <a:spLocks noChangeArrowheads="1"/>
          </p:cNvSpPr>
          <p:nvPr/>
        </p:nvSpPr>
        <p:spPr bwMode="auto">
          <a:xfrm>
            <a:off x="6732240" y="3123375"/>
            <a:ext cx="2286000" cy="270000"/>
          </a:xfrm>
          <a:prstGeom prst="rect">
            <a:avLst/>
          </a:prstGeom>
          <a:noFill/>
          <a:ln w="9525" algn="ctr">
            <a:solidFill>
              <a:schemeClr val="bg2"/>
            </a:solidFill>
            <a:miter lim="800000"/>
            <a:headEnd/>
            <a:tailEnd/>
          </a:ln>
          <a:effectLst/>
        </p:spPr>
        <p:txBody>
          <a:bodyPr anchor="ctr"/>
          <a:lstStyle/>
          <a:p>
            <a:r>
              <a:rPr lang="es-ES" sz="1100" dirty="0">
                <a:solidFill>
                  <a:srgbClr val="000000"/>
                </a:solidFill>
              </a:rPr>
              <a:t>Personas</a:t>
            </a:r>
          </a:p>
        </p:txBody>
      </p:sp>
      <p:sp>
        <p:nvSpPr>
          <p:cNvPr id="66" name="AutoShape 179"/>
          <p:cNvSpPr>
            <a:spLocks noChangeArrowheads="1"/>
          </p:cNvSpPr>
          <p:nvPr/>
        </p:nvSpPr>
        <p:spPr bwMode="auto">
          <a:xfrm>
            <a:off x="4932039" y="3537391"/>
            <a:ext cx="4037169" cy="864000"/>
          </a:xfrm>
          <a:prstGeom prst="roundRect">
            <a:avLst>
              <a:gd name="adj" fmla="val 9481"/>
            </a:avLst>
          </a:prstGeom>
          <a:solidFill>
            <a:schemeClr val="accent1">
              <a:lumMod val="20000"/>
              <a:lumOff val="80000"/>
            </a:schemeClr>
          </a:solidFill>
          <a:ln w="9525" algn="ctr">
            <a:noFill/>
            <a:round/>
            <a:headEnd/>
            <a:tailEnd/>
          </a:ln>
          <a:effectLst/>
        </p:spPr>
        <p:txBody>
          <a:bodyPr wrap="none" anchor="ctr"/>
          <a:lstStyle/>
          <a:p>
            <a:endParaRPr lang="es-CL">
              <a:solidFill>
                <a:srgbClr val="002060"/>
              </a:solidFill>
            </a:endParaRPr>
          </a:p>
        </p:txBody>
      </p:sp>
      <p:sp>
        <p:nvSpPr>
          <p:cNvPr id="67" name="AutoShape 47"/>
          <p:cNvSpPr>
            <a:spLocks noChangeArrowheads="1"/>
          </p:cNvSpPr>
          <p:nvPr/>
        </p:nvSpPr>
        <p:spPr bwMode="blackWhite">
          <a:xfrm>
            <a:off x="4678512" y="3538893"/>
            <a:ext cx="353942" cy="864000"/>
          </a:xfrm>
          <a:prstGeom prst="rightArrow">
            <a:avLst>
              <a:gd name="adj1" fmla="val 100000"/>
              <a:gd name="adj2" fmla="val 11009"/>
            </a:avLst>
          </a:prstGeom>
          <a:solidFill>
            <a:srgbClr val="969696"/>
          </a:solidFill>
          <a:ln w="12700">
            <a:noFill/>
            <a:miter lim="800000"/>
            <a:headEnd/>
            <a:tailEnd/>
          </a:ln>
          <a:effectLst>
            <a:outerShdw dist="35921" dir="2700000" algn="ctr" rotWithShape="0">
              <a:schemeClr val="bg2"/>
            </a:outerShdw>
          </a:effectLst>
        </p:spPr>
        <p:txBody>
          <a:bodyPr vert="vert270" anchor="ctr"/>
          <a:lstStyle/>
          <a:p>
            <a:pPr algn="ctr">
              <a:lnSpc>
                <a:spcPts val="1000"/>
              </a:lnSpc>
            </a:pPr>
            <a:r>
              <a:rPr lang="es-ES" sz="1100" b="1" noProof="1">
                <a:solidFill>
                  <a:srgbClr val="FFFFFF"/>
                </a:solidFill>
                <a:cs typeface="Arial" charset="0"/>
              </a:rPr>
              <a:t>Impacto Reputacional</a:t>
            </a:r>
          </a:p>
        </p:txBody>
      </p:sp>
      <p:sp>
        <p:nvSpPr>
          <p:cNvPr id="68" name="Rectangle 18"/>
          <p:cNvSpPr>
            <a:spLocks noChangeArrowheads="1"/>
          </p:cNvSpPr>
          <p:nvPr/>
        </p:nvSpPr>
        <p:spPr bwMode="auto">
          <a:xfrm>
            <a:off x="8334310" y="3612658"/>
            <a:ext cx="548640" cy="170094"/>
          </a:xfrm>
          <a:prstGeom prst="rect">
            <a:avLst/>
          </a:prstGeom>
          <a:solidFill>
            <a:schemeClr val="bg1"/>
          </a:solidFill>
          <a:ln w="9525" algn="ctr">
            <a:solidFill>
              <a:schemeClr val="bg2"/>
            </a:solidFill>
            <a:miter lim="800000"/>
            <a:headEnd/>
            <a:tailEnd/>
          </a:ln>
          <a:effectLst/>
        </p:spPr>
        <p:txBody>
          <a:bodyPr anchor="ctr"/>
          <a:lstStyle/>
          <a:p>
            <a:pPr algn="ctr"/>
            <a:r>
              <a:rPr lang="es-ES" sz="1100" dirty="0">
                <a:solidFill>
                  <a:srgbClr val="002060"/>
                </a:solidFill>
              </a:rPr>
              <a:t>4</a:t>
            </a:r>
          </a:p>
        </p:txBody>
      </p:sp>
      <p:sp>
        <p:nvSpPr>
          <p:cNvPr id="69" name="Rounded Rectangle 68"/>
          <p:cNvSpPr/>
          <p:nvPr/>
        </p:nvSpPr>
        <p:spPr>
          <a:xfrm>
            <a:off x="5102950" y="3612658"/>
            <a:ext cx="3132000" cy="170094"/>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Afectación a Clientes</a:t>
            </a:r>
          </a:p>
        </p:txBody>
      </p:sp>
      <p:sp>
        <p:nvSpPr>
          <p:cNvPr id="70" name="Rectangle 18"/>
          <p:cNvSpPr>
            <a:spLocks noChangeArrowheads="1"/>
          </p:cNvSpPr>
          <p:nvPr/>
        </p:nvSpPr>
        <p:spPr bwMode="auto">
          <a:xfrm>
            <a:off x="5102950" y="3830815"/>
            <a:ext cx="3780000" cy="469509"/>
          </a:xfrm>
          <a:prstGeom prst="rect">
            <a:avLst/>
          </a:prstGeom>
          <a:solidFill>
            <a:schemeClr val="bg1"/>
          </a:solidFill>
          <a:ln w="9525" algn="ctr">
            <a:solidFill>
              <a:schemeClr val="bg2"/>
            </a:solidFill>
            <a:miter lim="800000"/>
            <a:headEnd/>
            <a:tailEnd/>
          </a:ln>
          <a:effectLst/>
        </p:spPr>
        <p:txBody>
          <a:bodyPr anchor="ctr"/>
          <a:lstStyle/>
          <a:p>
            <a:r>
              <a:rPr lang="es-ES" sz="1100" dirty="0">
                <a:solidFill>
                  <a:srgbClr val="000000"/>
                </a:solidFill>
              </a:rPr>
              <a:t>La exposición de la imagen es interna y externa con un nivel de impacto alto.</a:t>
            </a:r>
          </a:p>
        </p:txBody>
      </p:sp>
      <p:sp>
        <p:nvSpPr>
          <p:cNvPr id="74" name="AutoShape 179"/>
          <p:cNvSpPr>
            <a:spLocks noChangeArrowheads="1"/>
          </p:cNvSpPr>
          <p:nvPr/>
        </p:nvSpPr>
        <p:spPr bwMode="auto">
          <a:xfrm>
            <a:off x="4927319" y="4441607"/>
            <a:ext cx="4037169" cy="1054699"/>
          </a:xfrm>
          <a:prstGeom prst="roundRect">
            <a:avLst>
              <a:gd name="adj" fmla="val 9481"/>
            </a:avLst>
          </a:prstGeom>
          <a:solidFill>
            <a:schemeClr val="accent1">
              <a:lumMod val="20000"/>
              <a:lumOff val="80000"/>
            </a:schemeClr>
          </a:solidFill>
          <a:ln w="9525" algn="ctr">
            <a:noFill/>
            <a:round/>
            <a:headEnd/>
            <a:tailEnd/>
          </a:ln>
          <a:effectLst/>
        </p:spPr>
        <p:txBody>
          <a:bodyPr wrap="none" anchor="ctr"/>
          <a:lstStyle/>
          <a:p>
            <a:endParaRPr lang="es-CL">
              <a:solidFill>
                <a:srgbClr val="002060"/>
              </a:solidFill>
            </a:endParaRPr>
          </a:p>
        </p:txBody>
      </p:sp>
      <p:sp>
        <p:nvSpPr>
          <p:cNvPr id="75" name="AutoShape 47"/>
          <p:cNvSpPr>
            <a:spLocks noChangeArrowheads="1"/>
          </p:cNvSpPr>
          <p:nvPr/>
        </p:nvSpPr>
        <p:spPr bwMode="blackWhite">
          <a:xfrm>
            <a:off x="4673792" y="4443109"/>
            <a:ext cx="352800" cy="1054699"/>
          </a:xfrm>
          <a:prstGeom prst="rightArrow">
            <a:avLst>
              <a:gd name="adj1" fmla="val 100000"/>
              <a:gd name="adj2" fmla="val 11009"/>
            </a:avLst>
          </a:prstGeom>
          <a:solidFill>
            <a:srgbClr val="969696"/>
          </a:solidFill>
          <a:ln w="12700">
            <a:noFill/>
            <a:miter lim="800000"/>
            <a:headEnd/>
            <a:tailEnd/>
          </a:ln>
          <a:effectLst>
            <a:outerShdw dist="35921" dir="2700000" algn="ctr" rotWithShape="0">
              <a:schemeClr val="bg2"/>
            </a:outerShdw>
          </a:effectLst>
        </p:spPr>
        <p:txBody>
          <a:bodyPr vert="vert270" anchor="ctr"/>
          <a:lstStyle/>
          <a:p>
            <a:pPr algn="ctr">
              <a:lnSpc>
                <a:spcPts val="1000"/>
              </a:lnSpc>
            </a:pPr>
            <a:r>
              <a:rPr lang="es-ES" sz="1100" b="1" noProof="1">
                <a:solidFill>
                  <a:srgbClr val="FFFFFF"/>
                </a:solidFill>
                <a:cs typeface="Arial" charset="0"/>
              </a:rPr>
              <a:t>Cuestionarios</a:t>
            </a:r>
          </a:p>
        </p:txBody>
      </p:sp>
      <p:sp>
        <p:nvSpPr>
          <p:cNvPr id="77" name="Rounded Rectangle 38"/>
          <p:cNvSpPr/>
          <p:nvPr/>
        </p:nvSpPr>
        <p:spPr>
          <a:xfrm>
            <a:off x="5098230" y="4516875"/>
            <a:ext cx="3132000" cy="170094"/>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Criterios de Evaluación</a:t>
            </a:r>
          </a:p>
        </p:txBody>
      </p:sp>
      <p:sp>
        <p:nvSpPr>
          <p:cNvPr id="78" name="Rectangle 18"/>
          <p:cNvSpPr>
            <a:spLocks noChangeArrowheads="1"/>
          </p:cNvSpPr>
          <p:nvPr/>
        </p:nvSpPr>
        <p:spPr bwMode="auto">
          <a:xfrm>
            <a:off x="5102950" y="4730048"/>
            <a:ext cx="3780000" cy="715345"/>
          </a:xfrm>
          <a:prstGeom prst="rect">
            <a:avLst/>
          </a:prstGeom>
          <a:solidFill>
            <a:schemeClr val="bg1"/>
          </a:solidFill>
          <a:ln w="9525" algn="ctr">
            <a:solidFill>
              <a:schemeClr val="bg2"/>
            </a:solidFill>
            <a:miter lim="800000"/>
            <a:headEnd/>
            <a:tailEnd/>
          </a:ln>
          <a:effectLst/>
        </p:spPr>
        <p:txBody>
          <a:bodyPr anchor="ctr"/>
          <a:lstStyle/>
          <a:p>
            <a:pPr algn="just"/>
            <a:r>
              <a:rPr lang="es-PE" sz="1050" dirty="0">
                <a:solidFill>
                  <a:srgbClr val="000000"/>
                </a:solidFill>
              </a:rPr>
              <a:t>La pérdida patrimonial sería prácticamente nula, ya que los montos a pagar o recibir se revisarían en el momento de la liquidación, momento en el que se confirmaría dichos montos con la contraparte.</a:t>
            </a:r>
            <a:endParaRPr lang="es-ES" sz="1050" dirty="0">
              <a:solidFill>
                <a:srgbClr val="000000"/>
              </a:solidFill>
            </a:endParaRPr>
          </a:p>
        </p:txBody>
      </p:sp>
      <p:sp>
        <p:nvSpPr>
          <p:cNvPr id="79" name="Text Box 30"/>
          <p:cNvSpPr txBox="1">
            <a:spLocks noChangeArrowheads="1"/>
          </p:cNvSpPr>
          <p:nvPr/>
        </p:nvSpPr>
        <p:spPr bwMode="auto">
          <a:xfrm>
            <a:off x="190746" y="4977551"/>
            <a:ext cx="3996000" cy="276999"/>
          </a:xfrm>
          <a:prstGeom prst="rect">
            <a:avLst/>
          </a:prstGeom>
          <a:noFill/>
          <a:ln w="9525" algn="ctr">
            <a:noFill/>
            <a:miter lim="800000"/>
            <a:headEnd/>
            <a:tailEnd/>
          </a:ln>
          <a:effectLst/>
        </p:spPr>
        <p:txBody>
          <a:bodyPr wrap="square">
            <a:spAutoFit/>
          </a:bodyPr>
          <a:lstStyle/>
          <a:p>
            <a:pPr>
              <a:spcBef>
                <a:spcPct val="50000"/>
              </a:spcBef>
            </a:pPr>
            <a:r>
              <a:rPr lang="es-CL" sz="1200" b="1" i="1" dirty="0">
                <a:solidFill>
                  <a:srgbClr val="A3A3E0"/>
                </a:solidFill>
              </a:rPr>
              <a:t>Resultados valoración de controles / factores mitigantes</a:t>
            </a:r>
            <a:endParaRPr lang="es-ES" sz="1200" b="1" i="1" dirty="0">
              <a:solidFill>
                <a:srgbClr val="A3A3E0"/>
              </a:solidFill>
            </a:endParaRPr>
          </a:p>
        </p:txBody>
      </p:sp>
      <p:sp>
        <p:nvSpPr>
          <p:cNvPr id="80" name="AutoShape 179"/>
          <p:cNvSpPr>
            <a:spLocks noChangeArrowheads="1"/>
          </p:cNvSpPr>
          <p:nvPr/>
        </p:nvSpPr>
        <p:spPr bwMode="auto">
          <a:xfrm>
            <a:off x="534831" y="5200032"/>
            <a:ext cx="4037169" cy="864000"/>
          </a:xfrm>
          <a:prstGeom prst="roundRect">
            <a:avLst>
              <a:gd name="adj" fmla="val 9481"/>
            </a:avLst>
          </a:prstGeom>
          <a:solidFill>
            <a:schemeClr val="accent1">
              <a:lumMod val="20000"/>
              <a:lumOff val="80000"/>
            </a:schemeClr>
          </a:solidFill>
          <a:ln w="9525" algn="ctr">
            <a:noFill/>
            <a:round/>
            <a:headEnd/>
            <a:tailEnd/>
          </a:ln>
          <a:effectLst/>
        </p:spPr>
        <p:txBody>
          <a:bodyPr wrap="none" anchor="ctr"/>
          <a:lstStyle/>
          <a:p>
            <a:endParaRPr lang="es-CL">
              <a:solidFill>
                <a:srgbClr val="002060"/>
              </a:solidFill>
            </a:endParaRPr>
          </a:p>
        </p:txBody>
      </p:sp>
      <p:sp>
        <p:nvSpPr>
          <p:cNvPr id="81" name="AutoShape 47"/>
          <p:cNvSpPr>
            <a:spLocks noChangeArrowheads="1"/>
          </p:cNvSpPr>
          <p:nvPr/>
        </p:nvSpPr>
        <p:spPr bwMode="blackWhite">
          <a:xfrm>
            <a:off x="281304" y="5201534"/>
            <a:ext cx="353942" cy="864000"/>
          </a:xfrm>
          <a:prstGeom prst="rightArrow">
            <a:avLst>
              <a:gd name="adj1" fmla="val 100000"/>
              <a:gd name="adj2" fmla="val 11009"/>
            </a:avLst>
          </a:prstGeom>
          <a:solidFill>
            <a:srgbClr val="969696"/>
          </a:solidFill>
          <a:ln w="12700">
            <a:noFill/>
            <a:miter lim="800000"/>
            <a:headEnd/>
            <a:tailEnd/>
          </a:ln>
          <a:effectLst>
            <a:outerShdw dist="35921" dir="2700000" algn="ctr" rotWithShape="0">
              <a:schemeClr val="bg2"/>
            </a:outerShdw>
          </a:effectLst>
        </p:spPr>
        <p:txBody>
          <a:bodyPr vert="vert270" anchor="ctr"/>
          <a:lstStyle/>
          <a:p>
            <a:pPr algn="ctr">
              <a:lnSpc>
                <a:spcPts val="1000"/>
              </a:lnSpc>
            </a:pPr>
            <a:r>
              <a:rPr lang="es-ES" sz="1100" b="1" noProof="1">
                <a:solidFill>
                  <a:srgbClr val="FFFFFF"/>
                </a:solidFill>
                <a:cs typeface="Arial" charset="0"/>
              </a:rPr>
              <a:t>Evaluación de Controles</a:t>
            </a:r>
          </a:p>
        </p:txBody>
      </p:sp>
      <p:sp>
        <p:nvSpPr>
          <p:cNvPr id="82" name="Rectangle 18"/>
          <p:cNvSpPr>
            <a:spLocks noChangeArrowheads="1"/>
          </p:cNvSpPr>
          <p:nvPr/>
        </p:nvSpPr>
        <p:spPr bwMode="auto">
          <a:xfrm>
            <a:off x="3937102" y="5275299"/>
            <a:ext cx="548640" cy="170094"/>
          </a:xfrm>
          <a:prstGeom prst="rect">
            <a:avLst/>
          </a:prstGeom>
          <a:solidFill>
            <a:schemeClr val="bg1"/>
          </a:solidFill>
          <a:ln w="9525" algn="ctr">
            <a:solidFill>
              <a:schemeClr val="bg2"/>
            </a:solidFill>
            <a:miter lim="800000"/>
            <a:headEnd/>
            <a:tailEnd/>
          </a:ln>
          <a:effectLst/>
        </p:spPr>
        <p:txBody>
          <a:bodyPr anchor="ctr"/>
          <a:lstStyle/>
          <a:p>
            <a:pPr algn="ctr"/>
            <a:r>
              <a:rPr lang="es-ES" sz="1100" dirty="0">
                <a:solidFill>
                  <a:srgbClr val="002060"/>
                </a:solidFill>
              </a:rPr>
              <a:t>1</a:t>
            </a:r>
          </a:p>
        </p:txBody>
      </p:sp>
      <p:sp>
        <p:nvSpPr>
          <p:cNvPr id="83" name="Rounded Rectangle 38"/>
          <p:cNvSpPr/>
          <p:nvPr/>
        </p:nvSpPr>
        <p:spPr>
          <a:xfrm>
            <a:off x="705742" y="5275299"/>
            <a:ext cx="3132000" cy="170094"/>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Controles asociados al riesgo</a:t>
            </a:r>
          </a:p>
        </p:txBody>
      </p:sp>
      <p:sp>
        <p:nvSpPr>
          <p:cNvPr id="84" name="Rectangle 18"/>
          <p:cNvSpPr>
            <a:spLocks noChangeArrowheads="1"/>
          </p:cNvSpPr>
          <p:nvPr/>
        </p:nvSpPr>
        <p:spPr bwMode="auto">
          <a:xfrm>
            <a:off x="705742" y="5496307"/>
            <a:ext cx="3780000" cy="469509"/>
          </a:xfrm>
          <a:prstGeom prst="rect">
            <a:avLst/>
          </a:prstGeom>
          <a:solidFill>
            <a:schemeClr val="bg1"/>
          </a:solidFill>
          <a:ln w="9525" algn="ctr">
            <a:solidFill>
              <a:schemeClr val="bg2"/>
            </a:solidFill>
            <a:miter lim="800000"/>
            <a:headEnd/>
            <a:tailEnd/>
          </a:ln>
          <a:effectLst/>
        </p:spPr>
        <p:txBody>
          <a:bodyPr anchor="ctr"/>
          <a:lstStyle/>
          <a:p>
            <a:r>
              <a:rPr lang="es-ES" sz="1100" dirty="0">
                <a:solidFill>
                  <a:srgbClr val="000000"/>
                </a:solidFill>
              </a:rPr>
              <a:t>Revisión por el área de Inversiones.</a:t>
            </a:r>
          </a:p>
        </p:txBody>
      </p:sp>
      <p:sp>
        <p:nvSpPr>
          <p:cNvPr id="85" name="AutoShape 179"/>
          <p:cNvSpPr>
            <a:spLocks noChangeArrowheads="1"/>
          </p:cNvSpPr>
          <p:nvPr/>
        </p:nvSpPr>
        <p:spPr bwMode="auto">
          <a:xfrm>
            <a:off x="611560" y="3535397"/>
            <a:ext cx="3960812" cy="1371600"/>
          </a:xfrm>
          <a:prstGeom prst="roundRect">
            <a:avLst>
              <a:gd name="adj" fmla="val 9481"/>
            </a:avLst>
          </a:prstGeom>
          <a:solidFill>
            <a:schemeClr val="accent1">
              <a:lumMod val="20000"/>
              <a:lumOff val="80000"/>
            </a:schemeClr>
          </a:solidFill>
          <a:ln w="9525" algn="ctr">
            <a:noFill/>
            <a:round/>
            <a:headEnd/>
            <a:tailEnd/>
          </a:ln>
          <a:effectLst/>
        </p:spPr>
        <p:txBody>
          <a:bodyPr wrap="none" anchor="ctr"/>
          <a:lstStyle/>
          <a:p>
            <a:endParaRPr lang="es-CL">
              <a:solidFill>
                <a:srgbClr val="002060"/>
              </a:solidFill>
            </a:endParaRPr>
          </a:p>
        </p:txBody>
      </p:sp>
      <p:sp>
        <p:nvSpPr>
          <p:cNvPr id="86" name="Rounded Rectangle 85"/>
          <p:cNvSpPr/>
          <p:nvPr/>
        </p:nvSpPr>
        <p:spPr>
          <a:xfrm>
            <a:off x="902959" y="4382163"/>
            <a:ext cx="1920240" cy="182880"/>
          </a:xfrm>
          <a:prstGeom prst="roundRect">
            <a:avLst/>
          </a:prstGeom>
          <a:solidFill>
            <a:srgbClr val="DB0613"/>
          </a:solidFill>
          <a:ln w="9525" algn="ctr">
            <a:noFill/>
            <a:miter lim="800000"/>
            <a:headEnd/>
            <a:tailEnd/>
          </a:ln>
          <a:effectLst/>
        </p:spPr>
        <p:txBody>
          <a:bodyPr tIns="91440" anchor="ctr"/>
          <a:lstStyle/>
          <a:p>
            <a:pPr>
              <a:lnSpc>
                <a:spcPct val="80000"/>
              </a:lnSpc>
            </a:pPr>
            <a:r>
              <a:rPr lang="es-CL" sz="1100" b="1" dirty="0">
                <a:solidFill>
                  <a:srgbClr val="FFFFFF"/>
                </a:solidFill>
                <a:cs typeface="Arial" pitchFamily="34" charset="0"/>
              </a:rPr>
              <a:t>Pérdida Esperada Anual</a:t>
            </a:r>
          </a:p>
        </p:txBody>
      </p:sp>
      <p:sp>
        <p:nvSpPr>
          <p:cNvPr id="87" name="Rectangle 18"/>
          <p:cNvSpPr>
            <a:spLocks noChangeArrowheads="1"/>
          </p:cNvSpPr>
          <p:nvPr/>
        </p:nvSpPr>
        <p:spPr bwMode="auto">
          <a:xfrm>
            <a:off x="2859920" y="4382163"/>
            <a:ext cx="1554480" cy="182880"/>
          </a:xfrm>
          <a:prstGeom prst="rect">
            <a:avLst/>
          </a:prstGeom>
          <a:solidFill>
            <a:schemeClr val="bg1"/>
          </a:solidFill>
          <a:ln w="9525" algn="ctr">
            <a:solidFill>
              <a:schemeClr val="bg2"/>
            </a:solidFill>
            <a:miter lim="800000"/>
            <a:headEnd/>
            <a:tailEnd/>
          </a:ln>
          <a:effectLst/>
        </p:spPr>
        <p:txBody>
          <a:bodyPr anchor="ctr"/>
          <a:lstStyle/>
          <a:p>
            <a:pPr algn="ctr"/>
            <a:r>
              <a:rPr lang="es-ES" sz="1100" dirty="0"/>
              <a:t>S/. 0.00</a:t>
            </a:r>
          </a:p>
        </p:txBody>
      </p:sp>
      <p:sp>
        <p:nvSpPr>
          <p:cNvPr id="88" name="Rounded Rectangle 87"/>
          <p:cNvSpPr/>
          <p:nvPr/>
        </p:nvSpPr>
        <p:spPr>
          <a:xfrm>
            <a:off x="902959" y="4611775"/>
            <a:ext cx="192024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VaR Cualitativo Anual</a:t>
            </a:r>
          </a:p>
        </p:txBody>
      </p:sp>
      <p:sp>
        <p:nvSpPr>
          <p:cNvPr id="89" name="Rectangle 18"/>
          <p:cNvSpPr>
            <a:spLocks noChangeArrowheads="1"/>
          </p:cNvSpPr>
          <p:nvPr/>
        </p:nvSpPr>
        <p:spPr bwMode="auto">
          <a:xfrm>
            <a:off x="2859920" y="4611775"/>
            <a:ext cx="1554480" cy="182880"/>
          </a:xfrm>
          <a:prstGeom prst="rect">
            <a:avLst/>
          </a:prstGeom>
          <a:solidFill>
            <a:schemeClr val="bg1"/>
          </a:solidFill>
          <a:ln w="9525" algn="ctr">
            <a:solidFill>
              <a:schemeClr val="bg2"/>
            </a:solidFill>
            <a:miter lim="800000"/>
            <a:headEnd/>
            <a:tailEnd/>
          </a:ln>
          <a:effectLst/>
        </p:spPr>
        <p:txBody>
          <a:bodyPr anchor="ctr"/>
          <a:lstStyle/>
          <a:p>
            <a:pPr algn="ctr"/>
            <a:r>
              <a:rPr lang="es-ES" sz="1100" dirty="0"/>
              <a:t>S/. 0.00</a:t>
            </a:r>
          </a:p>
        </p:txBody>
      </p:sp>
      <p:sp>
        <p:nvSpPr>
          <p:cNvPr id="90" name="Rounded Rectangle 89"/>
          <p:cNvSpPr/>
          <p:nvPr/>
        </p:nvSpPr>
        <p:spPr>
          <a:xfrm>
            <a:off x="891084" y="3618777"/>
            <a:ext cx="192024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Frecuencia  Evento Pérdida</a:t>
            </a:r>
          </a:p>
        </p:txBody>
      </p:sp>
      <p:sp>
        <p:nvSpPr>
          <p:cNvPr id="91" name="Rectangle 18"/>
          <p:cNvSpPr>
            <a:spLocks noChangeArrowheads="1"/>
          </p:cNvSpPr>
          <p:nvPr/>
        </p:nvSpPr>
        <p:spPr bwMode="auto">
          <a:xfrm>
            <a:off x="2859920" y="3618777"/>
            <a:ext cx="1554480" cy="182880"/>
          </a:xfrm>
          <a:prstGeom prst="rect">
            <a:avLst/>
          </a:prstGeom>
          <a:solidFill>
            <a:schemeClr val="bg1"/>
          </a:solidFill>
          <a:ln w="9525" algn="ctr">
            <a:solidFill>
              <a:schemeClr val="bg2"/>
            </a:solidFill>
            <a:miter lim="800000"/>
            <a:headEnd/>
            <a:tailEnd/>
          </a:ln>
          <a:effectLst/>
        </p:spPr>
        <p:txBody>
          <a:bodyPr anchor="ctr"/>
          <a:lstStyle/>
          <a:p>
            <a:pPr algn="ctr"/>
            <a:r>
              <a:rPr lang="es-ES" sz="1100" dirty="0"/>
              <a:t>1 vez por siglo</a:t>
            </a:r>
          </a:p>
        </p:txBody>
      </p:sp>
      <p:sp>
        <p:nvSpPr>
          <p:cNvPr id="92" name="Rounded Rectangle 91"/>
          <p:cNvSpPr/>
          <p:nvPr/>
        </p:nvSpPr>
        <p:spPr>
          <a:xfrm>
            <a:off x="891084" y="3848389"/>
            <a:ext cx="192024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Impacto Medio Evento</a:t>
            </a:r>
          </a:p>
        </p:txBody>
      </p:sp>
      <p:sp>
        <p:nvSpPr>
          <p:cNvPr id="93" name="Rectangle 18"/>
          <p:cNvSpPr>
            <a:spLocks noChangeArrowheads="1"/>
          </p:cNvSpPr>
          <p:nvPr/>
        </p:nvSpPr>
        <p:spPr bwMode="auto">
          <a:xfrm>
            <a:off x="2859920" y="3848389"/>
            <a:ext cx="1554480" cy="182880"/>
          </a:xfrm>
          <a:prstGeom prst="rect">
            <a:avLst/>
          </a:prstGeom>
          <a:solidFill>
            <a:schemeClr val="bg1"/>
          </a:solidFill>
          <a:ln w="9525" algn="ctr">
            <a:solidFill>
              <a:schemeClr val="bg2"/>
            </a:solidFill>
            <a:miter lim="800000"/>
            <a:headEnd/>
            <a:tailEnd/>
          </a:ln>
          <a:effectLst/>
        </p:spPr>
        <p:txBody>
          <a:bodyPr anchor="ctr"/>
          <a:lstStyle/>
          <a:p>
            <a:pPr algn="ctr"/>
            <a:r>
              <a:rPr lang="es-ES" sz="1100" dirty="0"/>
              <a:t>S/. 0.00</a:t>
            </a:r>
          </a:p>
        </p:txBody>
      </p:sp>
      <p:sp>
        <p:nvSpPr>
          <p:cNvPr id="94" name="Rounded Rectangle 93"/>
          <p:cNvSpPr/>
          <p:nvPr/>
        </p:nvSpPr>
        <p:spPr>
          <a:xfrm>
            <a:off x="891084" y="4083969"/>
            <a:ext cx="192024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Impacto Peor Escenario</a:t>
            </a:r>
          </a:p>
        </p:txBody>
      </p:sp>
      <p:sp>
        <p:nvSpPr>
          <p:cNvPr id="95" name="Rectangle 18"/>
          <p:cNvSpPr>
            <a:spLocks noChangeArrowheads="1"/>
          </p:cNvSpPr>
          <p:nvPr/>
        </p:nvSpPr>
        <p:spPr bwMode="auto">
          <a:xfrm>
            <a:off x="2859920" y="4083969"/>
            <a:ext cx="1554480" cy="182880"/>
          </a:xfrm>
          <a:prstGeom prst="rect">
            <a:avLst/>
          </a:prstGeom>
          <a:solidFill>
            <a:schemeClr val="bg1"/>
          </a:solidFill>
          <a:ln w="9525" algn="ctr">
            <a:solidFill>
              <a:schemeClr val="bg2"/>
            </a:solidFill>
            <a:miter lim="800000"/>
            <a:headEnd/>
            <a:tailEnd/>
          </a:ln>
          <a:effectLst/>
        </p:spPr>
        <p:txBody>
          <a:bodyPr anchor="ctr"/>
          <a:lstStyle/>
          <a:p>
            <a:pPr algn="ctr"/>
            <a:r>
              <a:rPr lang="es-ES" sz="1100" dirty="0"/>
              <a:t>S/. 0.00</a:t>
            </a:r>
          </a:p>
        </p:txBody>
      </p:sp>
      <p:sp>
        <p:nvSpPr>
          <p:cNvPr id="96" name="AutoShape 47"/>
          <p:cNvSpPr>
            <a:spLocks noChangeAspect="1" noChangeArrowheads="1"/>
          </p:cNvSpPr>
          <p:nvPr/>
        </p:nvSpPr>
        <p:spPr bwMode="blackWhite">
          <a:xfrm>
            <a:off x="263033" y="3533122"/>
            <a:ext cx="492543" cy="1339083"/>
          </a:xfrm>
          <a:prstGeom prst="rightArrow">
            <a:avLst>
              <a:gd name="adj1" fmla="val 100000"/>
              <a:gd name="adj2" fmla="val 11009"/>
            </a:avLst>
          </a:prstGeom>
          <a:solidFill>
            <a:srgbClr val="969696"/>
          </a:solidFill>
          <a:ln w="12700">
            <a:noFill/>
            <a:miter lim="800000"/>
            <a:headEnd/>
            <a:tailEnd/>
          </a:ln>
          <a:effectLst>
            <a:outerShdw dist="35921" dir="2700000" algn="ctr" rotWithShape="0">
              <a:schemeClr val="bg2"/>
            </a:outerShdw>
          </a:effectLst>
        </p:spPr>
        <p:txBody>
          <a:bodyPr vert="vert270" anchor="ctr"/>
          <a:lstStyle/>
          <a:p>
            <a:pPr algn="ctr">
              <a:lnSpc>
                <a:spcPts val="1000"/>
              </a:lnSpc>
            </a:pPr>
            <a:r>
              <a:rPr lang="es-ES" sz="1200" b="1" noProof="1">
                <a:solidFill>
                  <a:srgbClr val="FFFFFF"/>
                </a:solidFill>
                <a:cs typeface="Arial" charset="0"/>
              </a:rPr>
              <a:t>Evaluación Riesgo Operacional</a:t>
            </a:r>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dirty="0"/>
              <a:t>Anexo: Ficha Individual Riesgos Operacionales</a:t>
            </a:r>
          </a:p>
        </p:txBody>
      </p:sp>
      <p:sp>
        <p:nvSpPr>
          <p:cNvPr id="3" name="AutoShape 179"/>
          <p:cNvSpPr>
            <a:spLocks noChangeArrowheads="1"/>
          </p:cNvSpPr>
          <p:nvPr/>
        </p:nvSpPr>
        <p:spPr bwMode="auto">
          <a:xfrm>
            <a:off x="611560" y="3535397"/>
            <a:ext cx="3960812" cy="1371600"/>
          </a:xfrm>
          <a:prstGeom prst="roundRect">
            <a:avLst>
              <a:gd name="adj" fmla="val 9481"/>
            </a:avLst>
          </a:prstGeom>
          <a:solidFill>
            <a:schemeClr val="accent1">
              <a:lumMod val="20000"/>
              <a:lumOff val="80000"/>
            </a:schemeClr>
          </a:solidFill>
          <a:ln w="9525" algn="ctr">
            <a:noFill/>
            <a:round/>
            <a:headEnd/>
            <a:tailEnd/>
          </a:ln>
          <a:effectLst/>
        </p:spPr>
        <p:txBody>
          <a:bodyPr wrap="none" anchor="ctr"/>
          <a:lstStyle/>
          <a:p>
            <a:endParaRPr lang="es-CL">
              <a:solidFill>
                <a:srgbClr val="002060"/>
              </a:solidFill>
            </a:endParaRPr>
          </a:p>
        </p:txBody>
      </p:sp>
      <p:sp>
        <p:nvSpPr>
          <p:cNvPr id="4" name="Rounded Rectangle 3"/>
          <p:cNvSpPr/>
          <p:nvPr/>
        </p:nvSpPr>
        <p:spPr>
          <a:xfrm>
            <a:off x="214497" y="764704"/>
            <a:ext cx="397063" cy="274320"/>
          </a:xfrm>
          <a:prstGeom prst="roundRect">
            <a:avLst/>
          </a:prstGeom>
          <a:solidFill>
            <a:srgbClr val="DB0613"/>
          </a:solidFill>
          <a:ln w="9525" algn="ctr">
            <a:noFill/>
            <a:miter lim="800000"/>
            <a:headEnd/>
            <a:tailEnd/>
          </a:ln>
          <a:effectLst/>
        </p:spPr>
        <p:txBody>
          <a:bodyPr anchor="ctr"/>
          <a:lstStyle/>
          <a:p>
            <a:pPr algn="ctr">
              <a:lnSpc>
                <a:spcPct val="80000"/>
              </a:lnSpc>
            </a:pPr>
            <a:r>
              <a:rPr lang="es-CL" sz="1200" b="1" dirty="0">
                <a:solidFill>
                  <a:srgbClr val="FFFFFF"/>
                </a:solidFill>
                <a:cs typeface="Arial" pitchFamily="34" charset="0"/>
              </a:rPr>
              <a:t>33</a:t>
            </a:r>
          </a:p>
        </p:txBody>
      </p:sp>
      <p:sp>
        <p:nvSpPr>
          <p:cNvPr id="5" name="Rectangle 18"/>
          <p:cNvSpPr>
            <a:spLocks noChangeArrowheads="1"/>
          </p:cNvSpPr>
          <p:nvPr/>
        </p:nvSpPr>
        <p:spPr bwMode="auto">
          <a:xfrm>
            <a:off x="227770" y="2409552"/>
            <a:ext cx="6400800" cy="839807"/>
          </a:xfrm>
          <a:prstGeom prst="rect">
            <a:avLst/>
          </a:prstGeom>
          <a:noFill/>
          <a:ln w="9525" algn="ctr">
            <a:solidFill>
              <a:schemeClr val="bg2"/>
            </a:solidFill>
            <a:miter lim="800000"/>
            <a:headEnd/>
            <a:tailEnd/>
          </a:ln>
          <a:effectLst/>
        </p:spPr>
        <p:txBody>
          <a:bodyPr/>
          <a:lstStyle/>
          <a:p>
            <a:r>
              <a:rPr lang="es-ES" sz="1100" dirty="0"/>
              <a:t>Se identifican 2 casos:</a:t>
            </a:r>
          </a:p>
          <a:p>
            <a:pPr>
              <a:buFontTx/>
              <a:buChar char="-"/>
            </a:pPr>
            <a:r>
              <a:rPr lang="es-ES" sz="1100" dirty="0"/>
              <a:t>Falta de firma. Se requieren 2 firmas, los horarios de presentación de  las mismas a la contraparte son manejables.</a:t>
            </a:r>
          </a:p>
          <a:p>
            <a:pPr>
              <a:buFontTx/>
              <a:buChar char="-"/>
            </a:pPr>
            <a:r>
              <a:rPr lang="es-ES" sz="1100" dirty="0"/>
              <a:t>Falla en la firma. En este caso se coordina internamente  con la contraparte para que firme nuevamente la misma persona u otro. </a:t>
            </a:r>
            <a:endParaRPr lang="es-ES" sz="1100" dirty="0">
              <a:solidFill>
                <a:srgbClr val="002060"/>
              </a:solidFill>
            </a:endParaRPr>
          </a:p>
        </p:txBody>
      </p:sp>
      <p:sp>
        <p:nvSpPr>
          <p:cNvPr id="7" name="Text Box 30"/>
          <p:cNvSpPr txBox="1">
            <a:spLocks noChangeArrowheads="1"/>
          </p:cNvSpPr>
          <p:nvPr/>
        </p:nvSpPr>
        <p:spPr bwMode="auto">
          <a:xfrm>
            <a:off x="190747" y="3299257"/>
            <a:ext cx="3671888" cy="276999"/>
          </a:xfrm>
          <a:prstGeom prst="rect">
            <a:avLst/>
          </a:prstGeom>
          <a:noFill/>
          <a:ln w="9525" algn="ctr">
            <a:noFill/>
            <a:miter lim="800000"/>
            <a:headEnd/>
            <a:tailEnd/>
          </a:ln>
          <a:effectLst/>
        </p:spPr>
        <p:txBody>
          <a:bodyPr>
            <a:spAutoFit/>
          </a:bodyPr>
          <a:lstStyle/>
          <a:p>
            <a:pPr>
              <a:spcBef>
                <a:spcPct val="50000"/>
              </a:spcBef>
            </a:pPr>
            <a:r>
              <a:rPr lang="es-CL" sz="1200" b="1" i="1" dirty="0">
                <a:solidFill>
                  <a:srgbClr val="A3A3E0"/>
                </a:solidFill>
              </a:rPr>
              <a:t>Resultados valoración de riesgos</a:t>
            </a:r>
            <a:endParaRPr lang="es-ES" sz="1200" b="1" i="1" dirty="0">
              <a:solidFill>
                <a:srgbClr val="A3A3E0"/>
              </a:solidFill>
            </a:endParaRPr>
          </a:p>
        </p:txBody>
      </p:sp>
      <p:sp>
        <p:nvSpPr>
          <p:cNvPr id="8" name="Rounded Rectangle 7"/>
          <p:cNvSpPr/>
          <p:nvPr/>
        </p:nvSpPr>
        <p:spPr>
          <a:xfrm>
            <a:off x="652842" y="764704"/>
            <a:ext cx="8321040" cy="274320"/>
          </a:xfrm>
          <a:prstGeom prst="roundRect">
            <a:avLst/>
          </a:prstGeom>
          <a:solidFill>
            <a:srgbClr val="DB0613"/>
          </a:solidFill>
          <a:ln w="9525" algn="ctr">
            <a:noFill/>
            <a:miter lim="800000"/>
            <a:headEnd/>
            <a:tailEnd/>
          </a:ln>
          <a:effectLst/>
        </p:spPr>
        <p:txBody>
          <a:bodyPr anchor="ctr"/>
          <a:lstStyle/>
          <a:p>
            <a:pPr>
              <a:lnSpc>
                <a:spcPct val="80000"/>
              </a:lnSpc>
            </a:pPr>
            <a:r>
              <a:rPr lang="es-ES" sz="1200" dirty="0">
                <a:solidFill>
                  <a:schemeClr val="bg1"/>
                </a:solidFill>
              </a:rPr>
              <a:t>Falta o falla en la firma de unos de los Apoderados B. </a:t>
            </a:r>
            <a:endParaRPr lang="es-CL" sz="1200" b="1" dirty="0">
              <a:solidFill>
                <a:schemeClr val="bg1"/>
              </a:solidFill>
              <a:cs typeface="Arial" pitchFamily="34" charset="0"/>
            </a:endParaRPr>
          </a:p>
        </p:txBody>
      </p:sp>
      <p:sp>
        <p:nvSpPr>
          <p:cNvPr id="9" name="Rounded Rectangle 8"/>
          <p:cNvSpPr/>
          <p:nvPr/>
        </p:nvSpPr>
        <p:spPr>
          <a:xfrm>
            <a:off x="227770" y="2202383"/>
            <a:ext cx="64008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Descripción</a:t>
            </a:r>
          </a:p>
        </p:txBody>
      </p:sp>
      <p:sp>
        <p:nvSpPr>
          <p:cNvPr id="10" name="Rounded Rectangle 9"/>
          <p:cNvSpPr/>
          <p:nvPr/>
        </p:nvSpPr>
        <p:spPr>
          <a:xfrm>
            <a:off x="6716066" y="1089119"/>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Categoría  de Riesgo Nivel I</a:t>
            </a:r>
          </a:p>
        </p:txBody>
      </p:sp>
      <p:sp>
        <p:nvSpPr>
          <p:cNvPr id="11" name="Rectangle 18"/>
          <p:cNvSpPr>
            <a:spLocks noChangeArrowheads="1"/>
          </p:cNvSpPr>
          <p:nvPr/>
        </p:nvSpPr>
        <p:spPr bwMode="auto">
          <a:xfrm>
            <a:off x="6716066" y="1316374"/>
            <a:ext cx="2286000" cy="365760"/>
          </a:xfrm>
          <a:prstGeom prst="rect">
            <a:avLst/>
          </a:prstGeom>
          <a:noFill/>
          <a:ln w="9525" algn="ctr">
            <a:solidFill>
              <a:schemeClr val="bg2"/>
            </a:solidFill>
            <a:miter lim="800000"/>
            <a:headEnd/>
            <a:tailEnd/>
          </a:ln>
          <a:effectLst/>
        </p:spPr>
        <p:txBody>
          <a:bodyPr anchor="ctr"/>
          <a:lstStyle/>
          <a:p>
            <a:pPr>
              <a:lnSpc>
                <a:spcPts val="1000"/>
              </a:lnSpc>
            </a:pPr>
            <a:r>
              <a:rPr lang="es-ES" sz="1100" dirty="0"/>
              <a:t>Ejecución, entrega y gestión de procesos</a:t>
            </a:r>
          </a:p>
        </p:txBody>
      </p:sp>
      <p:sp>
        <p:nvSpPr>
          <p:cNvPr id="12" name="Rounded Rectangle 11"/>
          <p:cNvSpPr/>
          <p:nvPr/>
        </p:nvSpPr>
        <p:spPr>
          <a:xfrm>
            <a:off x="6716066" y="1725169"/>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Categoría de Riesgo Nivel II</a:t>
            </a:r>
          </a:p>
        </p:txBody>
      </p:sp>
      <p:sp>
        <p:nvSpPr>
          <p:cNvPr id="13" name="Rectangle 18"/>
          <p:cNvSpPr>
            <a:spLocks noChangeArrowheads="1"/>
          </p:cNvSpPr>
          <p:nvPr/>
        </p:nvSpPr>
        <p:spPr bwMode="auto">
          <a:xfrm>
            <a:off x="6716066" y="1942710"/>
            <a:ext cx="2286000" cy="274320"/>
          </a:xfrm>
          <a:prstGeom prst="rect">
            <a:avLst/>
          </a:prstGeom>
          <a:noFill/>
          <a:ln w="9525" algn="ctr">
            <a:solidFill>
              <a:schemeClr val="bg2"/>
            </a:solidFill>
            <a:miter lim="800000"/>
            <a:headEnd/>
            <a:tailEnd/>
          </a:ln>
          <a:effectLst/>
        </p:spPr>
        <p:txBody>
          <a:bodyPr anchor="ctr"/>
          <a:lstStyle/>
          <a:p>
            <a:r>
              <a:rPr lang="es-ES" sz="1100" dirty="0"/>
              <a:t>Admisión de clientes y documentación</a:t>
            </a:r>
          </a:p>
        </p:txBody>
      </p:sp>
      <p:sp>
        <p:nvSpPr>
          <p:cNvPr id="16" name="Rectangle 18"/>
          <p:cNvSpPr>
            <a:spLocks noChangeArrowheads="1"/>
          </p:cNvSpPr>
          <p:nvPr/>
        </p:nvSpPr>
        <p:spPr bwMode="auto">
          <a:xfrm>
            <a:off x="6716066" y="2459337"/>
            <a:ext cx="2286000" cy="506469"/>
          </a:xfrm>
          <a:prstGeom prst="rect">
            <a:avLst/>
          </a:prstGeom>
          <a:noFill/>
          <a:ln w="9525" algn="ctr">
            <a:solidFill>
              <a:schemeClr val="bg2"/>
            </a:solidFill>
            <a:miter lim="800000"/>
            <a:headEnd/>
            <a:tailEnd/>
          </a:ln>
          <a:effectLst/>
        </p:spPr>
        <p:txBody>
          <a:bodyPr anchor="ctr"/>
          <a:lstStyle/>
          <a:p>
            <a:r>
              <a:rPr lang="es-ES" sz="1100" dirty="0"/>
              <a:t>Documentos jurídicos incompletos o errores en los documentos.</a:t>
            </a:r>
          </a:p>
        </p:txBody>
      </p:sp>
      <p:sp>
        <p:nvSpPr>
          <p:cNvPr id="17" name="Rounded Rectangle 16"/>
          <p:cNvSpPr/>
          <p:nvPr/>
        </p:nvSpPr>
        <p:spPr>
          <a:xfrm>
            <a:off x="227770" y="1110038"/>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Macroproceso</a:t>
            </a:r>
          </a:p>
        </p:txBody>
      </p:sp>
      <p:sp>
        <p:nvSpPr>
          <p:cNvPr id="18" name="Rectangle 18"/>
          <p:cNvSpPr>
            <a:spLocks noChangeArrowheads="1"/>
          </p:cNvSpPr>
          <p:nvPr/>
        </p:nvSpPr>
        <p:spPr bwMode="auto">
          <a:xfrm>
            <a:off x="2568409" y="1110038"/>
            <a:ext cx="4060161" cy="182880"/>
          </a:xfrm>
          <a:prstGeom prst="rect">
            <a:avLst/>
          </a:prstGeom>
          <a:noFill/>
          <a:ln w="9525" algn="ctr">
            <a:solidFill>
              <a:schemeClr val="bg2"/>
            </a:solidFill>
            <a:miter lim="800000"/>
            <a:headEnd/>
            <a:tailEnd/>
          </a:ln>
          <a:effectLst/>
        </p:spPr>
        <p:txBody>
          <a:bodyPr anchor="ctr"/>
          <a:lstStyle/>
          <a:p>
            <a:r>
              <a:rPr lang="es-ES" sz="1100" dirty="0"/>
              <a:t>Administración de Portafolio de Inversiones</a:t>
            </a:r>
          </a:p>
        </p:txBody>
      </p:sp>
      <p:sp>
        <p:nvSpPr>
          <p:cNvPr id="19" name="Rounded Rectangle 18"/>
          <p:cNvSpPr/>
          <p:nvPr/>
        </p:nvSpPr>
        <p:spPr>
          <a:xfrm>
            <a:off x="227770" y="1339045"/>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Proceso</a:t>
            </a:r>
          </a:p>
        </p:txBody>
      </p:sp>
      <p:sp>
        <p:nvSpPr>
          <p:cNvPr id="20" name="Rectangle 18"/>
          <p:cNvSpPr>
            <a:spLocks noChangeArrowheads="1"/>
          </p:cNvSpPr>
          <p:nvPr/>
        </p:nvSpPr>
        <p:spPr bwMode="auto">
          <a:xfrm>
            <a:off x="2568409" y="1339045"/>
            <a:ext cx="4060161" cy="182880"/>
          </a:xfrm>
          <a:prstGeom prst="rect">
            <a:avLst/>
          </a:prstGeom>
          <a:noFill/>
          <a:ln w="9525" algn="ctr">
            <a:solidFill>
              <a:schemeClr val="bg2"/>
            </a:solidFill>
            <a:miter lim="800000"/>
            <a:headEnd/>
            <a:tailEnd/>
          </a:ln>
          <a:effectLst/>
        </p:spPr>
        <p:txBody>
          <a:bodyPr anchor="ctr"/>
          <a:lstStyle/>
          <a:p>
            <a:r>
              <a:rPr lang="es-ES" sz="1100" dirty="0"/>
              <a:t>Administración de fondos</a:t>
            </a:r>
          </a:p>
        </p:txBody>
      </p:sp>
      <p:sp>
        <p:nvSpPr>
          <p:cNvPr id="21" name="Rectangle 29"/>
          <p:cNvSpPr>
            <a:spLocks noChangeArrowheads="1"/>
          </p:cNvSpPr>
          <p:nvPr/>
        </p:nvSpPr>
        <p:spPr bwMode="auto">
          <a:xfrm>
            <a:off x="107504" y="3423715"/>
            <a:ext cx="8961120" cy="1607926"/>
          </a:xfrm>
          <a:prstGeom prst="rect">
            <a:avLst/>
          </a:prstGeom>
          <a:noFill/>
          <a:ln w="19050" cap="rnd" algn="ctr">
            <a:solidFill>
              <a:schemeClr val="bg2"/>
            </a:solidFill>
            <a:prstDash val="sysDot"/>
            <a:miter lim="800000"/>
            <a:headEnd/>
            <a:tailEnd/>
          </a:ln>
          <a:effectLst/>
        </p:spPr>
        <p:txBody>
          <a:bodyPr wrap="none" anchor="ctr"/>
          <a:lstStyle/>
          <a:p>
            <a:endParaRPr lang="en-US">
              <a:solidFill>
                <a:srgbClr val="002060"/>
              </a:solidFill>
            </a:endParaRPr>
          </a:p>
        </p:txBody>
      </p:sp>
      <p:sp>
        <p:nvSpPr>
          <p:cNvPr id="22" name="Rounded Rectangle 21"/>
          <p:cNvSpPr/>
          <p:nvPr/>
        </p:nvSpPr>
        <p:spPr>
          <a:xfrm>
            <a:off x="902959" y="4382163"/>
            <a:ext cx="1920240" cy="182880"/>
          </a:xfrm>
          <a:prstGeom prst="roundRect">
            <a:avLst/>
          </a:prstGeom>
          <a:solidFill>
            <a:srgbClr val="DB0613"/>
          </a:solidFill>
          <a:ln w="9525" algn="ctr">
            <a:noFill/>
            <a:miter lim="800000"/>
            <a:headEnd/>
            <a:tailEnd/>
          </a:ln>
          <a:effectLst/>
        </p:spPr>
        <p:txBody>
          <a:bodyPr tIns="91440" anchor="ctr"/>
          <a:lstStyle/>
          <a:p>
            <a:pPr>
              <a:lnSpc>
                <a:spcPct val="80000"/>
              </a:lnSpc>
            </a:pPr>
            <a:r>
              <a:rPr lang="es-CL" sz="1100" b="1" dirty="0">
                <a:solidFill>
                  <a:srgbClr val="FFFFFF"/>
                </a:solidFill>
                <a:cs typeface="Arial" pitchFamily="34" charset="0"/>
              </a:rPr>
              <a:t>Pérdida Esperada Anual</a:t>
            </a:r>
          </a:p>
        </p:txBody>
      </p:sp>
      <p:sp>
        <p:nvSpPr>
          <p:cNvPr id="23" name="Rectangle 18"/>
          <p:cNvSpPr>
            <a:spLocks noChangeArrowheads="1"/>
          </p:cNvSpPr>
          <p:nvPr/>
        </p:nvSpPr>
        <p:spPr bwMode="auto">
          <a:xfrm>
            <a:off x="2859920" y="4382163"/>
            <a:ext cx="1554480" cy="182880"/>
          </a:xfrm>
          <a:prstGeom prst="rect">
            <a:avLst/>
          </a:prstGeom>
          <a:solidFill>
            <a:schemeClr val="bg1"/>
          </a:solidFill>
          <a:ln w="9525" algn="ctr">
            <a:solidFill>
              <a:schemeClr val="bg2"/>
            </a:solidFill>
            <a:miter lim="800000"/>
            <a:headEnd/>
            <a:tailEnd/>
          </a:ln>
          <a:effectLst/>
        </p:spPr>
        <p:txBody>
          <a:bodyPr anchor="ctr"/>
          <a:lstStyle/>
          <a:p>
            <a:pPr algn="ctr"/>
            <a:r>
              <a:rPr lang="es-ES" sz="1100" dirty="0"/>
              <a:t>S/. 0.00</a:t>
            </a:r>
          </a:p>
        </p:txBody>
      </p:sp>
      <p:sp>
        <p:nvSpPr>
          <p:cNvPr id="24" name="Rounded Rectangle 23"/>
          <p:cNvSpPr/>
          <p:nvPr/>
        </p:nvSpPr>
        <p:spPr>
          <a:xfrm>
            <a:off x="902959" y="4611775"/>
            <a:ext cx="192024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VaR Cualitativo Anual</a:t>
            </a:r>
          </a:p>
        </p:txBody>
      </p:sp>
      <p:sp>
        <p:nvSpPr>
          <p:cNvPr id="25" name="Rectangle 18"/>
          <p:cNvSpPr>
            <a:spLocks noChangeArrowheads="1"/>
          </p:cNvSpPr>
          <p:nvPr/>
        </p:nvSpPr>
        <p:spPr bwMode="auto">
          <a:xfrm>
            <a:off x="2859920" y="4611775"/>
            <a:ext cx="1554480" cy="182880"/>
          </a:xfrm>
          <a:prstGeom prst="rect">
            <a:avLst/>
          </a:prstGeom>
          <a:solidFill>
            <a:schemeClr val="bg1"/>
          </a:solidFill>
          <a:ln w="9525" algn="ctr">
            <a:solidFill>
              <a:schemeClr val="bg2"/>
            </a:solidFill>
            <a:miter lim="800000"/>
            <a:headEnd/>
            <a:tailEnd/>
          </a:ln>
          <a:effectLst/>
        </p:spPr>
        <p:txBody>
          <a:bodyPr anchor="ctr"/>
          <a:lstStyle/>
          <a:p>
            <a:pPr algn="ctr"/>
            <a:r>
              <a:rPr lang="es-ES" sz="1100" dirty="0"/>
              <a:t>S/. 0.00</a:t>
            </a:r>
          </a:p>
        </p:txBody>
      </p:sp>
      <p:sp>
        <p:nvSpPr>
          <p:cNvPr id="26" name="Rounded Rectangle 25"/>
          <p:cNvSpPr/>
          <p:nvPr/>
        </p:nvSpPr>
        <p:spPr>
          <a:xfrm>
            <a:off x="891084" y="3618777"/>
            <a:ext cx="192024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Frecuencia  Evento Pérdida</a:t>
            </a:r>
          </a:p>
        </p:txBody>
      </p:sp>
      <p:sp>
        <p:nvSpPr>
          <p:cNvPr id="27" name="Rectangle 18"/>
          <p:cNvSpPr>
            <a:spLocks noChangeArrowheads="1"/>
          </p:cNvSpPr>
          <p:nvPr/>
        </p:nvSpPr>
        <p:spPr bwMode="auto">
          <a:xfrm>
            <a:off x="2859920" y="3618777"/>
            <a:ext cx="1554480" cy="182880"/>
          </a:xfrm>
          <a:prstGeom prst="rect">
            <a:avLst/>
          </a:prstGeom>
          <a:solidFill>
            <a:schemeClr val="bg1"/>
          </a:solidFill>
          <a:ln w="9525" algn="ctr">
            <a:solidFill>
              <a:schemeClr val="bg2"/>
            </a:solidFill>
            <a:miter lim="800000"/>
            <a:headEnd/>
            <a:tailEnd/>
          </a:ln>
          <a:effectLst/>
        </p:spPr>
        <p:txBody>
          <a:bodyPr anchor="ctr"/>
          <a:lstStyle/>
          <a:p>
            <a:pPr algn="ctr"/>
            <a:r>
              <a:rPr lang="es-ES" sz="1100" dirty="0"/>
              <a:t>1 vez por año</a:t>
            </a:r>
          </a:p>
        </p:txBody>
      </p:sp>
      <p:sp>
        <p:nvSpPr>
          <p:cNvPr id="28" name="Rounded Rectangle 27"/>
          <p:cNvSpPr/>
          <p:nvPr/>
        </p:nvSpPr>
        <p:spPr>
          <a:xfrm>
            <a:off x="891084" y="3848389"/>
            <a:ext cx="192024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Impacto Medio Evento</a:t>
            </a:r>
          </a:p>
        </p:txBody>
      </p:sp>
      <p:sp>
        <p:nvSpPr>
          <p:cNvPr id="29" name="Rectangle 18"/>
          <p:cNvSpPr>
            <a:spLocks noChangeArrowheads="1"/>
          </p:cNvSpPr>
          <p:nvPr/>
        </p:nvSpPr>
        <p:spPr bwMode="auto">
          <a:xfrm>
            <a:off x="2859920" y="3848389"/>
            <a:ext cx="1554480" cy="182880"/>
          </a:xfrm>
          <a:prstGeom prst="rect">
            <a:avLst/>
          </a:prstGeom>
          <a:solidFill>
            <a:schemeClr val="bg1"/>
          </a:solidFill>
          <a:ln w="9525" algn="ctr">
            <a:solidFill>
              <a:schemeClr val="bg2"/>
            </a:solidFill>
            <a:miter lim="800000"/>
            <a:headEnd/>
            <a:tailEnd/>
          </a:ln>
          <a:effectLst/>
        </p:spPr>
        <p:txBody>
          <a:bodyPr anchor="ctr"/>
          <a:lstStyle/>
          <a:p>
            <a:pPr algn="ctr"/>
            <a:r>
              <a:rPr lang="es-ES" sz="1100" dirty="0"/>
              <a:t>S/. 0.00</a:t>
            </a:r>
          </a:p>
        </p:txBody>
      </p:sp>
      <p:sp>
        <p:nvSpPr>
          <p:cNvPr id="30" name="Rounded Rectangle 29"/>
          <p:cNvSpPr/>
          <p:nvPr/>
        </p:nvSpPr>
        <p:spPr>
          <a:xfrm>
            <a:off x="891084" y="4083969"/>
            <a:ext cx="192024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Impacto Peor Escenario</a:t>
            </a:r>
          </a:p>
        </p:txBody>
      </p:sp>
      <p:sp>
        <p:nvSpPr>
          <p:cNvPr id="31" name="Rectangle 18"/>
          <p:cNvSpPr>
            <a:spLocks noChangeArrowheads="1"/>
          </p:cNvSpPr>
          <p:nvPr/>
        </p:nvSpPr>
        <p:spPr bwMode="auto">
          <a:xfrm>
            <a:off x="2859920" y="4083969"/>
            <a:ext cx="1554480" cy="182880"/>
          </a:xfrm>
          <a:prstGeom prst="rect">
            <a:avLst/>
          </a:prstGeom>
          <a:solidFill>
            <a:schemeClr val="bg1"/>
          </a:solidFill>
          <a:ln w="9525" algn="ctr">
            <a:solidFill>
              <a:schemeClr val="bg2"/>
            </a:solidFill>
            <a:miter lim="800000"/>
            <a:headEnd/>
            <a:tailEnd/>
          </a:ln>
          <a:effectLst/>
        </p:spPr>
        <p:txBody>
          <a:bodyPr anchor="ctr"/>
          <a:lstStyle/>
          <a:p>
            <a:pPr algn="ctr"/>
            <a:r>
              <a:rPr lang="es-ES" sz="1100" dirty="0"/>
              <a:t>S/. 0.00</a:t>
            </a:r>
          </a:p>
        </p:txBody>
      </p:sp>
      <p:sp>
        <p:nvSpPr>
          <p:cNvPr id="32" name="AutoShape 47"/>
          <p:cNvSpPr>
            <a:spLocks noChangeAspect="1" noChangeArrowheads="1"/>
          </p:cNvSpPr>
          <p:nvPr/>
        </p:nvSpPr>
        <p:spPr bwMode="blackWhite">
          <a:xfrm>
            <a:off x="263033" y="3533122"/>
            <a:ext cx="492543" cy="1339083"/>
          </a:xfrm>
          <a:prstGeom prst="rightArrow">
            <a:avLst>
              <a:gd name="adj1" fmla="val 100000"/>
              <a:gd name="adj2" fmla="val 11009"/>
            </a:avLst>
          </a:prstGeom>
          <a:solidFill>
            <a:srgbClr val="969696"/>
          </a:solidFill>
          <a:ln w="12700">
            <a:noFill/>
            <a:miter lim="800000"/>
            <a:headEnd/>
            <a:tailEnd/>
          </a:ln>
          <a:effectLst>
            <a:outerShdw dist="35921" dir="2700000" algn="ctr" rotWithShape="0">
              <a:schemeClr val="bg2"/>
            </a:outerShdw>
          </a:effectLst>
        </p:spPr>
        <p:txBody>
          <a:bodyPr vert="vert270" anchor="ctr"/>
          <a:lstStyle/>
          <a:p>
            <a:pPr algn="ctr">
              <a:lnSpc>
                <a:spcPts val="1000"/>
              </a:lnSpc>
            </a:pPr>
            <a:r>
              <a:rPr lang="es-ES" sz="1200" b="1" noProof="1">
                <a:solidFill>
                  <a:srgbClr val="FFFFFF"/>
                </a:solidFill>
                <a:cs typeface="Arial" charset="0"/>
              </a:rPr>
              <a:t>Evaluación Riesgo Operacional</a:t>
            </a:r>
          </a:p>
        </p:txBody>
      </p:sp>
      <p:sp>
        <p:nvSpPr>
          <p:cNvPr id="59" name="Rounded Rectangle 58"/>
          <p:cNvSpPr/>
          <p:nvPr/>
        </p:nvSpPr>
        <p:spPr>
          <a:xfrm>
            <a:off x="223049" y="1554311"/>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Subproceso</a:t>
            </a:r>
          </a:p>
        </p:txBody>
      </p:sp>
      <p:sp>
        <p:nvSpPr>
          <p:cNvPr id="60" name="Rectangle 18"/>
          <p:cNvSpPr>
            <a:spLocks noChangeArrowheads="1"/>
          </p:cNvSpPr>
          <p:nvPr/>
        </p:nvSpPr>
        <p:spPr bwMode="auto">
          <a:xfrm>
            <a:off x="2563688" y="1554311"/>
            <a:ext cx="4064882" cy="182880"/>
          </a:xfrm>
          <a:prstGeom prst="rect">
            <a:avLst/>
          </a:prstGeom>
          <a:noFill/>
          <a:ln w="9525" algn="ctr">
            <a:solidFill>
              <a:schemeClr val="bg2"/>
            </a:solidFill>
            <a:miter lim="800000"/>
            <a:headEnd/>
            <a:tailEnd/>
          </a:ln>
          <a:effectLst/>
        </p:spPr>
        <p:txBody>
          <a:bodyPr anchor="ctr"/>
          <a:lstStyle/>
          <a:p>
            <a:r>
              <a:rPr lang="es-ES" sz="1100" dirty="0"/>
              <a:t>Ingreso y registro de operaciones de inversión</a:t>
            </a:r>
          </a:p>
        </p:txBody>
      </p:sp>
      <p:sp>
        <p:nvSpPr>
          <p:cNvPr id="57" name="Rounded Rectangle 56"/>
          <p:cNvSpPr/>
          <p:nvPr/>
        </p:nvSpPr>
        <p:spPr>
          <a:xfrm>
            <a:off x="223049" y="1771093"/>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Línea de Negocio</a:t>
            </a:r>
          </a:p>
        </p:txBody>
      </p:sp>
      <p:sp>
        <p:nvSpPr>
          <p:cNvPr id="58" name="Rectangle 18"/>
          <p:cNvSpPr>
            <a:spLocks noChangeArrowheads="1"/>
          </p:cNvSpPr>
          <p:nvPr/>
        </p:nvSpPr>
        <p:spPr bwMode="auto">
          <a:xfrm>
            <a:off x="2563688" y="1771093"/>
            <a:ext cx="4064882" cy="182880"/>
          </a:xfrm>
          <a:prstGeom prst="rect">
            <a:avLst/>
          </a:prstGeom>
          <a:noFill/>
          <a:ln w="9525" algn="ctr">
            <a:solidFill>
              <a:schemeClr val="bg2"/>
            </a:solidFill>
            <a:miter lim="800000"/>
            <a:headEnd/>
            <a:tailEnd/>
          </a:ln>
          <a:effectLst/>
        </p:spPr>
        <p:txBody>
          <a:bodyPr anchor="ctr"/>
          <a:lstStyle/>
          <a:p>
            <a:r>
              <a:rPr lang="es-ES" sz="1100" dirty="0"/>
              <a:t>Negociación y ventas</a:t>
            </a:r>
          </a:p>
        </p:txBody>
      </p:sp>
      <p:sp>
        <p:nvSpPr>
          <p:cNvPr id="61" name="Rounded Rectangle 60"/>
          <p:cNvSpPr/>
          <p:nvPr/>
        </p:nvSpPr>
        <p:spPr>
          <a:xfrm>
            <a:off x="223049" y="1986359"/>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Responsable</a:t>
            </a:r>
          </a:p>
        </p:txBody>
      </p:sp>
      <p:sp>
        <p:nvSpPr>
          <p:cNvPr id="62" name="Rectangle 18"/>
          <p:cNvSpPr>
            <a:spLocks noChangeArrowheads="1"/>
          </p:cNvSpPr>
          <p:nvPr/>
        </p:nvSpPr>
        <p:spPr bwMode="auto">
          <a:xfrm>
            <a:off x="2558967" y="1986359"/>
            <a:ext cx="4069603" cy="182880"/>
          </a:xfrm>
          <a:prstGeom prst="rect">
            <a:avLst/>
          </a:prstGeom>
          <a:noFill/>
          <a:ln w="9525" algn="ctr">
            <a:solidFill>
              <a:schemeClr val="bg2"/>
            </a:solidFill>
            <a:miter lim="800000"/>
            <a:headEnd/>
            <a:tailEnd/>
          </a:ln>
          <a:effectLst/>
        </p:spPr>
        <p:txBody>
          <a:bodyPr anchor="ctr"/>
          <a:lstStyle/>
          <a:p>
            <a:r>
              <a:rPr lang="es-ES" sz="1100" dirty="0"/>
              <a:t>Subgerente de Operaciones de Inversión </a:t>
            </a:r>
          </a:p>
        </p:txBody>
      </p:sp>
      <p:sp>
        <p:nvSpPr>
          <p:cNvPr id="63" name="Rounded Rectangle 62"/>
          <p:cNvSpPr/>
          <p:nvPr/>
        </p:nvSpPr>
        <p:spPr>
          <a:xfrm>
            <a:off x="6732240" y="2276457"/>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Categoría de Riesgo Nivel III</a:t>
            </a:r>
          </a:p>
        </p:txBody>
      </p:sp>
      <p:sp>
        <p:nvSpPr>
          <p:cNvPr id="64" name="Rounded Rectangle 14"/>
          <p:cNvSpPr/>
          <p:nvPr/>
        </p:nvSpPr>
        <p:spPr>
          <a:xfrm>
            <a:off x="6732240" y="2908110"/>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Origen del Riesgo</a:t>
            </a:r>
          </a:p>
        </p:txBody>
      </p:sp>
      <p:sp>
        <p:nvSpPr>
          <p:cNvPr id="65" name="Rectangle 18"/>
          <p:cNvSpPr>
            <a:spLocks noChangeArrowheads="1"/>
          </p:cNvSpPr>
          <p:nvPr/>
        </p:nvSpPr>
        <p:spPr bwMode="auto">
          <a:xfrm>
            <a:off x="6732240" y="3123375"/>
            <a:ext cx="2286000" cy="270000"/>
          </a:xfrm>
          <a:prstGeom prst="rect">
            <a:avLst/>
          </a:prstGeom>
          <a:noFill/>
          <a:ln w="9525" algn="ctr">
            <a:solidFill>
              <a:schemeClr val="bg2"/>
            </a:solidFill>
            <a:miter lim="800000"/>
            <a:headEnd/>
            <a:tailEnd/>
          </a:ln>
          <a:effectLst/>
        </p:spPr>
        <p:txBody>
          <a:bodyPr anchor="ctr"/>
          <a:lstStyle/>
          <a:p>
            <a:r>
              <a:rPr lang="es-ES" sz="1100" dirty="0">
                <a:solidFill>
                  <a:srgbClr val="000000"/>
                </a:solidFill>
              </a:rPr>
              <a:t>Personas / Procesos</a:t>
            </a:r>
          </a:p>
        </p:txBody>
      </p:sp>
      <p:sp>
        <p:nvSpPr>
          <p:cNvPr id="66" name="AutoShape 179"/>
          <p:cNvSpPr>
            <a:spLocks noChangeArrowheads="1"/>
          </p:cNvSpPr>
          <p:nvPr/>
        </p:nvSpPr>
        <p:spPr bwMode="auto">
          <a:xfrm>
            <a:off x="4932039" y="3537391"/>
            <a:ext cx="4037169" cy="864000"/>
          </a:xfrm>
          <a:prstGeom prst="roundRect">
            <a:avLst>
              <a:gd name="adj" fmla="val 9481"/>
            </a:avLst>
          </a:prstGeom>
          <a:solidFill>
            <a:schemeClr val="accent1">
              <a:lumMod val="20000"/>
              <a:lumOff val="80000"/>
            </a:schemeClr>
          </a:solidFill>
          <a:ln w="9525" algn="ctr">
            <a:noFill/>
            <a:round/>
            <a:headEnd/>
            <a:tailEnd/>
          </a:ln>
          <a:effectLst/>
        </p:spPr>
        <p:txBody>
          <a:bodyPr wrap="none" anchor="ctr"/>
          <a:lstStyle/>
          <a:p>
            <a:endParaRPr lang="es-CL">
              <a:solidFill>
                <a:srgbClr val="002060"/>
              </a:solidFill>
            </a:endParaRPr>
          </a:p>
        </p:txBody>
      </p:sp>
      <p:sp>
        <p:nvSpPr>
          <p:cNvPr id="67" name="AutoShape 47"/>
          <p:cNvSpPr>
            <a:spLocks noChangeArrowheads="1"/>
          </p:cNvSpPr>
          <p:nvPr/>
        </p:nvSpPr>
        <p:spPr bwMode="blackWhite">
          <a:xfrm>
            <a:off x="4678512" y="3538893"/>
            <a:ext cx="353942" cy="864000"/>
          </a:xfrm>
          <a:prstGeom prst="rightArrow">
            <a:avLst>
              <a:gd name="adj1" fmla="val 100000"/>
              <a:gd name="adj2" fmla="val 11009"/>
            </a:avLst>
          </a:prstGeom>
          <a:solidFill>
            <a:srgbClr val="969696"/>
          </a:solidFill>
          <a:ln w="12700">
            <a:noFill/>
            <a:miter lim="800000"/>
            <a:headEnd/>
            <a:tailEnd/>
          </a:ln>
          <a:effectLst>
            <a:outerShdw dist="35921" dir="2700000" algn="ctr" rotWithShape="0">
              <a:schemeClr val="bg2"/>
            </a:outerShdw>
          </a:effectLst>
        </p:spPr>
        <p:txBody>
          <a:bodyPr vert="vert270" anchor="ctr"/>
          <a:lstStyle/>
          <a:p>
            <a:pPr algn="ctr">
              <a:lnSpc>
                <a:spcPts val="1000"/>
              </a:lnSpc>
            </a:pPr>
            <a:r>
              <a:rPr lang="es-ES" sz="1100" b="1" noProof="1">
                <a:solidFill>
                  <a:srgbClr val="FFFFFF"/>
                </a:solidFill>
                <a:cs typeface="Arial" charset="0"/>
              </a:rPr>
              <a:t>Impacto Reputacional</a:t>
            </a:r>
          </a:p>
        </p:txBody>
      </p:sp>
      <p:sp>
        <p:nvSpPr>
          <p:cNvPr id="68" name="Rectangle 18"/>
          <p:cNvSpPr>
            <a:spLocks noChangeArrowheads="1"/>
          </p:cNvSpPr>
          <p:nvPr/>
        </p:nvSpPr>
        <p:spPr bwMode="auto">
          <a:xfrm>
            <a:off x="8334310" y="3612658"/>
            <a:ext cx="548640" cy="170094"/>
          </a:xfrm>
          <a:prstGeom prst="rect">
            <a:avLst/>
          </a:prstGeom>
          <a:solidFill>
            <a:schemeClr val="bg1"/>
          </a:solidFill>
          <a:ln w="9525" algn="ctr">
            <a:solidFill>
              <a:schemeClr val="bg2"/>
            </a:solidFill>
            <a:miter lim="800000"/>
            <a:headEnd/>
            <a:tailEnd/>
          </a:ln>
          <a:effectLst/>
        </p:spPr>
        <p:txBody>
          <a:bodyPr anchor="ctr"/>
          <a:lstStyle/>
          <a:p>
            <a:pPr algn="ctr"/>
            <a:r>
              <a:rPr lang="es-ES" sz="1100" dirty="0">
                <a:solidFill>
                  <a:srgbClr val="002060"/>
                </a:solidFill>
              </a:rPr>
              <a:t>1</a:t>
            </a:r>
          </a:p>
        </p:txBody>
      </p:sp>
      <p:sp>
        <p:nvSpPr>
          <p:cNvPr id="69" name="Rounded Rectangle 68"/>
          <p:cNvSpPr/>
          <p:nvPr/>
        </p:nvSpPr>
        <p:spPr>
          <a:xfrm>
            <a:off x="5102950" y="3612658"/>
            <a:ext cx="3132000" cy="170094"/>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Afectación a Clientes</a:t>
            </a:r>
          </a:p>
        </p:txBody>
      </p:sp>
      <p:sp>
        <p:nvSpPr>
          <p:cNvPr id="70" name="Rectangle 18"/>
          <p:cNvSpPr>
            <a:spLocks noChangeArrowheads="1"/>
          </p:cNvSpPr>
          <p:nvPr/>
        </p:nvSpPr>
        <p:spPr bwMode="auto">
          <a:xfrm>
            <a:off x="5102950" y="3830815"/>
            <a:ext cx="3780000" cy="469509"/>
          </a:xfrm>
          <a:prstGeom prst="rect">
            <a:avLst/>
          </a:prstGeom>
          <a:solidFill>
            <a:schemeClr val="bg1"/>
          </a:solidFill>
          <a:ln w="9525" algn="ctr">
            <a:solidFill>
              <a:schemeClr val="bg2"/>
            </a:solidFill>
            <a:miter lim="800000"/>
            <a:headEnd/>
            <a:tailEnd/>
          </a:ln>
          <a:effectLst/>
        </p:spPr>
        <p:txBody>
          <a:bodyPr anchor="ctr"/>
          <a:lstStyle/>
          <a:p>
            <a:r>
              <a:rPr lang="es-ES" sz="1100" dirty="0">
                <a:solidFill>
                  <a:srgbClr val="000000"/>
                </a:solidFill>
              </a:rPr>
              <a:t>La exposición de la imagen es interna y externa con un nivel de impacto alto.</a:t>
            </a:r>
          </a:p>
        </p:txBody>
      </p:sp>
      <p:sp>
        <p:nvSpPr>
          <p:cNvPr id="74" name="AutoShape 179"/>
          <p:cNvSpPr>
            <a:spLocks noChangeArrowheads="1"/>
          </p:cNvSpPr>
          <p:nvPr/>
        </p:nvSpPr>
        <p:spPr bwMode="auto">
          <a:xfrm>
            <a:off x="4927319" y="4441608"/>
            <a:ext cx="4037169" cy="892800"/>
          </a:xfrm>
          <a:prstGeom prst="roundRect">
            <a:avLst>
              <a:gd name="adj" fmla="val 9481"/>
            </a:avLst>
          </a:prstGeom>
          <a:solidFill>
            <a:schemeClr val="accent1">
              <a:lumMod val="20000"/>
              <a:lumOff val="80000"/>
            </a:schemeClr>
          </a:solidFill>
          <a:ln w="9525" algn="ctr">
            <a:noFill/>
            <a:round/>
            <a:headEnd/>
            <a:tailEnd/>
          </a:ln>
          <a:effectLst/>
        </p:spPr>
        <p:txBody>
          <a:bodyPr wrap="none" anchor="ctr"/>
          <a:lstStyle/>
          <a:p>
            <a:endParaRPr lang="es-CL">
              <a:solidFill>
                <a:srgbClr val="002060"/>
              </a:solidFill>
            </a:endParaRPr>
          </a:p>
        </p:txBody>
      </p:sp>
      <p:sp>
        <p:nvSpPr>
          <p:cNvPr id="75" name="AutoShape 47"/>
          <p:cNvSpPr>
            <a:spLocks noChangeArrowheads="1"/>
          </p:cNvSpPr>
          <p:nvPr/>
        </p:nvSpPr>
        <p:spPr bwMode="blackWhite">
          <a:xfrm>
            <a:off x="4673792" y="4443110"/>
            <a:ext cx="352800" cy="892800"/>
          </a:xfrm>
          <a:prstGeom prst="rightArrow">
            <a:avLst>
              <a:gd name="adj1" fmla="val 100000"/>
              <a:gd name="adj2" fmla="val 11009"/>
            </a:avLst>
          </a:prstGeom>
          <a:solidFill>
            <a:srgbClr val="969696"/>
          </a:solidFill>
          <a:ln w="12700">
            <a:noFill/>
            <a:miter lim="800000"/>
            <a:headEnd/>
            <a:tailEnd/>
          </a:ln>
          <a:effectLst>
            <a:outerShdw dist="35921" dir="2700000" algn="ctr" rotWithShape="0">
              <a:schemeClr val="bg2"/>
            </a:outerShdw>
          </a:effectLst>
        </p:spPr>
        <p:txBody>
          <a:bodyPr vert="vert270" anchor="ctr"/>
          <a:lstStyle/>
          <a:p>
            <a:pPr algn="ctr">
              <a:lnSpc>
                <a:spcPts val="1000"/>
              </a:lnSpc>
            </a:pPr>
            <a:r>
              <a:rPr lang="es-ES" sz="1100" b="1" noProof="1">
                <a:solidFill>
                  <a:srgbClr val="FFFFFF"/>
                </a:solidFill>
                <a:cs typeface="Arial" charset="0"/>
              </a:rPr>
              <a:t>Cuestionarios</a:t>
            </a:r>
          </a:p>
        </p:txBody>
      </p:sp>
      <p:sp>
        <p:nvSpPr>
          <p:cNvPr id="77" name="Rounded Rectangle 38"/>
          <p:cNvSpPr/>
          <p:nvPr/>
        </p:nvSpPr>
        <p:spPr>
          <a:xfrm>
            <a:off x="5098230" y="4516875"/>
            <a:ext cx="3132000" cy="170094"/>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Criterios de Evaluación</a:t>
            </a:r>
          </a:p>
        </p:txBody>
      </p:sp>
      <p:sp>
        <p:nvSpPr>
          <p:cNvPr id="78" name="Rectangle 18"/>
          <p:cNvSpPr>
            <a:spLocks noChangeArrowheads="1"/>
          </p:cNvSpPr>
          <p:nvPr/>
        </p:nvSpPr>
        <p:spPr bwMode="auto">
          <a:xfrm>
            <a:off x="5102950" y="4730048"/>
            <a:ext cx="3780000" cy="469509"/>
          </a:xfrm>
          <a:prstGeom prst="rect">
            <a:avLst/>
          </a:prstGeom>
          <a:solidFill>
            <a:schemeClr val="bg1"/>
          </a:solidFill>
          <a:ln w="9525" algn="ctr">
            <a:solidFill>
              <a:schemeClr val="bg2"/>
            </a:solidFill>
            <a:miter lim="800000"/>
            <a:headEnd/>
            <a:tailEnd/>
          </a:ln>
          <a:effectLst/>
        </p:spPr>
        <p:txBody>
          <a:bodyPr anchor="ctr"/>
          <a:lstStyle/>
          <a:p>
            <a:r>
              <a:rPr lang="es-ES" sz="1050" dirty="0">
                <a:solidFill>
                  <a:srgbClr val="000000"/>
                </a:solidFill>
              </a:rPr>
              <a:t>El tratamiento de las firmas es flexible, por lo que el experto no considera una posible pérdida patrimonial.</a:t>
            </a:r>
          </a:p>
        </p:txBody>
      </p:sp>
      <p:sp>
        <p:nvSpPr>
          <p:cNvPr id="79" name="Text Box 30"/>
          <p:cNvSpPr txBox="1">
            <a:spLocks noChangeArrowheads="1"/>
          </p:cNvSpPr>
          <p:nvPr/>
        </p:nvSpPr>
        <p:spPr bwMode="auto">
          <a:xfrm>
            <a:off x="190746" y="4977551"/>
            <a:ext cx="3996000" cy="276999"/>
          </a:xfrm>
          <a:prstGeom prst="rect">
            <a:avLst/>
          </a:prstGeom>
          <a:noFill/>
          <a:ln w="9525" algn="ctr">
            <a:noFill/>
            <a:miter lim="800000"/>
            <a:headEnd/>
            <a:tailEnd/>
          </a:ln>
          <a:effectLst/>
        </p:spPr>
        <p:txBody>
          <a:bodyPr wrap="square">
            <a:spAutoFit/>
          </a:bodyPr>
          <a:lstStyle/>
          <a:p>
            <a:pPr>
              <a:spcBef>
                <a:spcPct val="50000"/>
              </a:spcBef>
            </a:pPr>
            <a:r>
              <a:rPr lang="es-CL" sz="1200" b="1" i="1" dirty="0">
                <a:solidFill>
                  <a:srgbClr val="A3A3E0"/>
                </a:solidFill>
              </a:rPr>
              <a:t>Resultados valoración de controles / factores mitigantes</a:t>
            </a:r>
            <a:endParaRPr lang="es-ES" sz="1200" b="1" i="1" dirty="0">
              <a:solidFill>
                <a:srgbClr val="A3A3E0"/>
              </a:solidFill>
            </a:endParaRPr>
          </a:p>
        </p:txBody>
      </p:sp>
      <p:sp>
        <p:nvSpPr>
          <p:cNvPr id="80" name="AutoShape 179"/>
          <p:cNvSpPr>
            <a:spLocks noChangeArrowheads="1"/>
          </p:cNvSpPr>
          <p:nvPr/>
        </p:nvSpPr>
        <p:spPr bwMode="auto">
          <a:xfrm>
            <a:off x="534831" y="5200032"/>
            <a:ext cx="4037169" cy="864000"/>
          </a:xfrm>
          <a:prstGeom prst="roundRect">
            <a:avLst>
              <a:gd name="adj" fmla="val 9481"/>
            </a:avLst>
          </a:prstGeom>
          <a:solidFill>
            <a:schemeClr val="accent1">
              <a:lumMod val="20000"/>
              <a:lumOff val="80000"/>
            </a:schemeClr>
          </a:solidFill>
          <a:ln w="9525" algn="ctr">
            <a:noFill/>
            <a:round/>
            <a:headEnd/>
            <a:tailEnd/>
          </a:ln>
          <a:effectLst/>
        </p:spPr>
        <p:txBody>
          <a:bodyPr wrap="none" anchor="ctr"/>
          <a:lstStyle/>
          <a:p>
            <a:endParaRPr lang="es-CL">
              <a:solidFill>
                <a:srgbClr val="002060"/>
              </a:solidFill>
            </a:endParaRPr>
          </a:p>
        </p:txBody>
      </p:sp>
      <p:sp>
        <p:nvSpPr>
          <p:cNvPr id="81" name="AutoShape 47"/>
          <p:cNvSpPr>
            <a:spLocks noChangeArrowheads="1"/>
          </p:cNvSpPr>
          <p:nvPr/>
        </p:nvSpPr>
        <p:spPr bwMode="blackWhite">
          <a:xfrm>
            <a:off x="281304" y="5201534"/>
            <a:ext cx="353942" cy="864000"/>
          </a:xfrm>
          <a:prstGeom prst="rightArrow">
            <a:avLst>
              <a:gd name="adj1" fmla="val 100000"/>
              <a:gd name="adj2" fmla="val 11009"/>
            </a:avLst>
          </a:prstGeom>
          <a:solidFill>
            <a:srgbClr val="969696"/>
          </a:solidFill>
          <a:ln w="12700">
            <a:noFill/>
            <a:miter lim="800000"/>
            <a:headEnd/>
            <a:tailEnd/>
          </a:ln>
          <a:effectLst>
            <a:outerShdw dist="35921" dir="2700000" algn="ctr" rotWithShape="0">
              <a:schemeClr val="bg2"/>
            </a:outerShdw>
          </a:effectLst>
        </p:spPr>
        <p:txBody>
          <a:bodyPr vert="vert270" anchor="ctr"/>
          <a:lstStyle/>
          <a:p>
            <a:pPr algn="ctr">
              <a:lnSpc>
                <a:spcPts val="1000"/>
              </a:lnSpc>
            </a:pPr>
            <a:r>
              <a:rPr lang="es-ES" sz="1100" b="1" noProof="1">
                <a:solidFill>
                  <a:srgbClr val="FFFFFF"/>
                </a:solidFill>
                <a:cs typeface="Arial" charset="0"/>
              </a:rPr>
              <a:t>Evaluación de Controles</a:t>
            </a:r>
          </a:p>
        </p:txBody>
      </p:sp>
      <p:sp>
        <p:nvSpPr>
          <p:cNvPr id="82" name="Rectangle 18"/>
          <p:cNvSpPr>
            <a:spLocks noChangeArrowheads="1"/>
          </p:cNvSpPr>
          <p:nvPr/>
        </p:nvSpPr>
        <p:spPr bwMode="auto">
          <a:xfrm>
            <a:off x="3937102" y="5275299"/>
            <a:ext cx="548640" cy="170094"/>
          </a:xfrm>
          <a:prstGeom prst="rect">
            <a:avLst/>
          </a:prstGeom>
          <a:solidFill>
            <a:schemeClr val="bg1"/>
          </a:solidFill>
          <a:ln w="9525" algn="ctr">
            <a:solidFill>
              <a:schemeClr val="bg2"/>
            </a:solidFill>
            <a:miter lim="800000"/>
            <a:headEnd/>
            <a:tailEnd/>
          </a:ln>
          <a:effectLst/>
        </p:spPr>
        <p:txBody>
          <a:bodyPr anchor="ctr"/>
          <a:lstStyle/>
          <a:p>
            <a:pPr algn="ctr"/>
            <a:r>
              <a:rPr lang="es-ES" sz="1100" dirty="0">
                <a:solidFill>
                  <a:srgbClr val="002060"/>
                </a:solidFill>
              </a:rPr>
              <a:t>1</a:t>
            </a:r>
          </a:p>
        </p:txBody>
      </p:sp>
      <p:sp>
        <p:nvSpPr>
          <p:cNvPr id="83" name="Rounded Rectangle 38"/>
          <p:cNvSpPr/>
          <p:nvPr/>
        </p:nvSpPr>
        <p:spPr>
          <a:xfrm>
            <a:off x="705742" y="5275299"/>
            <a:ext cx="3132000" cy="170094"/>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Controles asociados al riesgo</a:t>
            </a:r>
          </a:p>
        </p:txBody>
      </p:sp>
      <p:sp>
        <p:nvSpPr>
          <p:cNvPr id="84" name="Rectangle 18"/>
          <p:cNvSpPr>
            <a:spLocks noChangeArrowheads="1"/>
          </p:cNvSpPr>
          <p:nvPr/>
        </p:nvSpPr>
        <p:spPr bwMode="auto">
          <a:xfrm>
            <a:off x="705742" y="5496307"/>
            <a:ext cx="3780000" cy="469509"/>
          </a:xfrm>
          <a:prstGeom prst="rect">
            <a:avLst/>
          </a:prstGeom>
          <a:solidFill>
            <a:schemeClr val="bg1"/>
          </a:solidFill>
          <a:ln w="9525" algn="ctr">
            <a:solidFill>
              <a:schemeClr val="bg2"/>
            </a:solidFill>
            <a:miter lim="800000"/>
            <a:headEnd/>
            <a:tailEnd/>
          </a:ln>
          <a:effectLst/>
        </p:spPr>
        <p:txBody>
          <a:bodyPr anchor="ctr"/>
          <a:lstStyle/>
          <a:p>
            <a:r>
              <a:rPr lang="es-ES" sz="1100" dirty="0"/>
              <a:t>Revisión de los datos generados en la operativa por parte de Back Office.</a:t>
            </a:r>
            <a:endParaRPr lang="es-ES" sz="1100" dirty="0">
              <a:solidFill>
                <a:srgbClr val="000000"/>
              </a:solidFill>
            </a:endParaRPr>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dirty="0"/>
              <a:t>Anexo: Ficha Individual Riesgos Operacionales</a:t>
            </a:r>
          </a:p>
        </p:txBody>
      </p:sp>
      <p:sp>
        <p:nvSpPr>
          <p:cNvPr id="3" name="AutoShape 179"/>
          <p:cNvSpPr>
            <a:spLocks noChangeArrowheads="1"/>
          </p:cNvSpPr>
          <p:nvPr/>
        </p:nvSpPr>
        <p:spPr bwMode="auto">
          <a:xfrm>
            <a:off x="611560" y="3535397"/>
            <a:ext cx="3960812" cy="1371600"/>
          </a:xfrm>
          <a:prstGeom prst="roundRect">
            <a:avLst>
              <a:gd name="adj" fmla="val 9481"/>
            </a:avLst>
          </a:prstGeom>
          <a:solidFill>
            <a:schemeClr val="accent1">
              <a:lumMod val="20000"/>
              <a:lumOff val="80000"/>
            </a:schemeClr>
          </a:solidFill>
          <a:ln w="9525" algn="ctr">
            <a:noFill/>
            <a:round/>
            <a:headEnd/>
            <a:tailEnd/>
          </a:ln>
          <a:effectLst/>
        </p:spPr>
        <p:txBody>
          <a:bodyPr wrap="none" anchor="ctr"/>
          <a:lstStyle/>
          <a:p>
            <a:endParaRPr lang="es-CL">
              <a:solidFill>
                <a:srgbClr val="002060"/>
              </a:solidFill>
            </a:endParaRPr>
          </a:p>
        </p:txBody>
      </p:sp>
      <p:sp>
        <p:nvSpPr>
          <p:cNvPr id="4" name="Rounded Rectangle 3"/>
          <p:cNvSpPr/>
          <p:nvPr/>
        </p:nvSpPr>
        <p:spPr>
          <a:xfrm>
            <a:off x="214497" y="764704"/>
            <a:ext cx="397063" cy="274320"/>
          </a:xfrm>
          <a:prstGeom prst="roundRect">
            <a:avLst/>
          </a:prstGeom>
          <a:solidFill>
            <a:srgbClr val="DB0613"/>
          </a:solidFill>
          <a:ln w="9525" algn="ctr">
            <a:noFill/>
            <a:miter lim="800000"/>
            <a:headEnd/>
            <a:tailEnd/>
          </a:ln>
          <a:effectLst/>
        </p:spPr>
        <p:txBody>
          <a:bodyPr anchor="ctr"/>
          <a:lstStyle/>
          <a:p>
            <a:pPr algn="ctr">
              <a:lnSpc>
                <a:spcPct val="80000"/>
              </a:lnSpc>
            </a:pPr>
            <a:r>
              <a:rPr lang="es-CL" sz="1200" b="1" dirty="0">
                <a:solidFill>
                  <a:srgbClr val="FFFFFF"/>
                </a:solidFill>
                <a:cs typeface="Arial" pitchFamily="34" charset="0"/>
              </a:rPr>
              <a:t>34</a:t>
            </a:r>
          </a:p>
        </p:txBody>
      </p:sp>
      <p:sp>
        <p:nvSpPr>
          <p:cNvPr id="5" name="Rectangle 18"/>
          <p:cNvSpPr>
            <a:spLocks noChangeArrowheads="1"/>
          </p:cNvSpPr>
          <p:nvPr/>
        </p:nvSpPr>
        <p:spPr bwMode="auto">
          <a:xfrm>
            <a:off x="227770" y="2409552"/>
            <a:ext cx="6400800" cy="839807"/>
          </a:xfrm>
          <a:prstGeom prst="rect">
            <a:avLst/>
          </a:prstGeom>
          <a:noFill/>
          <a:ln w="9525" algn="ctr">
            <a:solidFill>
              <a:schemeClr val="bg2"/>
            </a:solidFill>
            <a:miter lim="800000"/>
            <a:headEnd/>
            <a:tailEnd/>
          </a:ln>
          <a:effectLst/>
        </p:spPr>
        <p:txBody>
          <a:bodyPr/>
          <a:lstStyle/>
          <a:p>
            <a:r>
              <a:rPr lang="es-ES" sz="1100" dirty="0"/>
              <a:t>Riesgo de que no se haya dado la verificación. Proceso de la operación continúa sin que Back office haya realizado la verificación de datos.  </a:t>
            </a:r>
            <a:endParaRPr lang="es-ES" sz="1100" dirty="0">
              <a:solidFill>
                <a:srgbClr val="002060"/>
              </a:solidFill>
            </a:endParaRPr>
          </a:p>
        </p:txBody>
      </p:sp>
      <p:sp>
        <p:nvSpPr>
          <p:cNvPr id="7" name="Text Box 30"/>
          <p:cNvSpPr txBox="1">
            <a:spLocks noChangeArrowheads="1"/>
          </p:cNvSpPr>
          <p:nvPr/>
        </p:nvSpPr>
        <p:spPr bwMode="auto">
          <a:xfrm>
            <a:off x="190747" y="3299257"/>
            <a:ext cx="3671888" cy="276999"/>
          </a:xfrm>
          <a:prstGeom prst="rect">
            <a:avLst/>
          </a:prstGeom>
          <a:noFill/>
          <a:ln w="9525" algn="ctr">
            <a:noFill/>
            <a:miter lim="800000"/>
            <a:headEnd/>
            <a:tailEnd/>
          </a:ln>
          <a:effectLst/>
        </p:spPr>
        <p:txBody>
          <a:bodyPr>
            <a:spAutoFit/>
          </a:bodyPr>
          <a:lstStyle/>
          <a:p>
            <a:pPr>
              <a:spcBef>
                <a:spcPct val="50000"/>
              </a:spcBef>
            </a:pPr>
            <a:r>
              <a:rPr lang="es-CL" sz="1200" b="1" i="1" dirty="0">
                <a:solidFill>
                  <a:srgbClr val="A3A3E0"/>
                </a:solidFill>
              </a:rPr>
              <a:t>Resultados valoración de riesgos</a:t>
            </a:r>
            <a:endParaRPr lang="es-ES" sz="1200" b="1" i="1" dirty="0">
              <a:solidFill>
                <a:srgbClr val="A3A3E0"/>
              </a:solidFill>
            </a:endParaRPr>
          </a:p>
        </p:txBody>
      </p:sp>
      <p:sp>
        <p:nvSpPr>
          <p:cNvPr id="8" name="Rounded Rectangle 7"/>
          <p:cNvSpPr/>
          <p:nvPr/>
        </p:nvSpPr>
        <p:spPr>
          <a:xfrm>
            <a:off x="652842" y="764704"/>
            <a:ext cx="8321040" cy="274320"/>
          </a:xfrm>
          <a:prstGeom prst="roundRect">
            <a:avLst/>
          </a:prstGeom>
          <a:solidFill>
            <a:srgbClr val="DB0613"/>
          </a:solidFill>
          <a:ln w="9525" algn="ctr">
            <a:noFill/>
            <a:miter lim="800000"/>
            <a:headEnd/>
            <a:tailEnd/>
          </a:ln>
          <a:effectLst/>
        </p:spPr>
        <p:txBody>
          <a:bodyPr anchor="ctr"/>
          <a:lstStyle/>
          <a:p>
            <a:pPr>
              <a:lnSpc>
                <a:spcPct val="80000"/>
              </a:lnSpc>
            </a:pPr>
            <a:r>
              <a:rPr lang="es-ES" sz="1200" dirty="0">
                <a:solidFill>
                  <a:schemeClr val="bg1"/>
                </a:solidFill>
              </a:rPr>
              <a:t>Riesgo de que no se haya dado la verificación </a:t>
            </a:r>
            <a:endParaRPr lang="es-CL" sz="1200" b="1" dirty="0">
              <a:solidFill>
                <a:schemeClr val="bg1"/>
              </a:solidFill>
              <a:cs typeface="Arial" pitchFamily="34" charset="0"/>
            </a:endParaRPr>
          </a:p>
        </p:txBody>
      </p:sp>
      <p:sp>
        <p:nvSpPr>
          <p:cNvPr id="9" name="Rounded Rectangle 8"/>
          <p:cNvSpPr/>
          <p:nvPr/>
        </p:nvSpPr>
        <p:spPr>
          <a:xfrm>
            <a:off x="227770" y="2202383"/>
            <a:ext cx="64008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Descripción</a:t>
            </a:r>
          </a:p>
        </p:txBody>
      </p:sp>
      <p:sp>
        <p:nvSpPr>
          <p:cNvPr id="10" name="Rounded Rectangle 9"/>
          <p:cNvSpPr/>
          <p:nvPr/>
        </p:nvSpPr>
        <p:spPr>
          <a:xfrm>
            <a:off x="6716066" y="1089119"/>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Categoría  de Riesgo Nivel I</a:t>
            </a:r>
          </a:p>
        </p:txBody>
      </p:sp>
      <p:sp>
        <p:nvSpPr>
          <p:cNvPr id="11" name="Rectangle 18"/>
          <p:cNvSpPr>
            <a:spLocks noChangeArrowheads="1"/>
          </p:cNvSpPr>
          <p:nvPr/>
        </p:nvSpPr>
        <p:spPr bwMode="auto">
          <a:xfrm>
            <a:off x="6716066" y="1316374"/>
            <a:ext cx="2286000" cy="365760"/>
          </a:xfrm>
          <a:prstGeom prst="rect">
            <a:avLst/>
          </a:prstGeom>
          <a:noFill/>
          <a:ln w="9525" algn="ctr">
            <a:solidFill>
              <a:schemeClr val="bg2"/>
            </a:solidFill>
            <a:miter lim="800000"/>
            <a:headEnd/>
            <a:tailEnd/>
          </a:ln>
          <a:effectLst/>
        </p:spPr>
        <p:txBody>
          <a:bodyPr anchor="ctr"/>
          <a:lstStyle/>
          <a:p>
            <a:pPr>
              <a:lnSpc>
                <a:spcPts val="1000"/>
              </a:lnSpc>
            </a:pPr>
            <a:r>
              <a:rPr lang="es-ES" sz="1100" dirty="0"/>
              <a:t>Ejecución, entrega y gestión de procesos</a:t>
            </a:r>
          </a:p>
        </p:txBody>
      </p:sp>
      <p:sp>
        <p:nvSpPr>
          <p:cNvPr id="12" name="Rounded Rectangle 11"/>
          <p:cNvSpPr/>
          <p:nvPr/>
        </p:nvSpPr>
        <p:spPr>
          <a:xfrm>
            <a:off x="6716066" y="1725169"/>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Categoría de Riesgo Nivel II</a:t>
            </a:r>
          </a:p>
        </p:txBody>
      </p:sp>
      <p:sp>
        <p:nvSpPr>
          <p:cNvPr id="13" name="Rectangle 18"/>
          <p:cNvSpPr>
            <a:spLocks noChangeArrowheads="1"/>
          </p:cNvSpPr>
          <p:nvPr/>
        </p:nvSpPr>
        <p:spPr bwMode="auto">
          <a:xfrm>
            <a:off x="6716066" y="1942710"/>
            <a:ext cx="2286000" cy="274320"/>
          </a:xfrm>
          <a:prstGeom prst="rect">
            <a:avLst/>
          </a:prstGeom>
          <a:noFill/>
          <a:ln w="9525" algn="ctr">
            <a:solidFill>
              <a:schemeClr val="bg2"/>
            </a:solidFill>
            <a:miter lim="800000"/>
            <a:headEnd/>
            <a:tailEnd/>
          </a:ln>
          <a:effectLst/>
        </p:spPr>
        <p:txBody>
          <a:bodyPr anchor="ctr"/>
          <a:lstStyle/>
          <a:p>
            <a:r>
              <a:rPr lang="es-ES" sz="1100" dirty="0"/>
              <a:t>Recepción, ejecución y mantenimiento de operaciones</a:t>
            </a:r>
          </a:p>
        </p:txBody>
      </p:sp>
      <p:sp>
        <p:nvSpPr>
          <p:cNvPr id="16" name="Rectangle 18"/>
          <p:cNvSpPr>
            <a:spLocks noChangeArrowheads="1"/>
          </p:cNvSpPr>
          <p:nvPr/>
        </p:nvSpPr>
        <p:spPr bwMode="auto">
          <a:xfrm>
            <a:off x="6716066" y="2459337"/>
            <a:ext cx="2286000" cy="506469"/>
          </a:xfrm>
          <a:prstGeom prst="rect">
            <a:avLst/>
          </a:prstGeom>
          <a:noFill/>
          <a:ln w="9525" algn="ctr">
            <a:solidFill>
              <a:schemeClr val="bg2"/>
            </a:solidFill>
            <a:miter lim="800000"/>
            <a:headEnd/>
            <a:tailEnd/>
          </a:ln>
          <a:effectLst/>
        </p:spPr>
        <p:txBody>
          <a:bodyPr anchor="ctr"/>
          <a:lstStyle/>
          <a:p>
            <a:r>
              <a:rPr lang="es-ES" sz="1100" dirty="0"/>
              <a:t>Incorrecta ejecución de tareas / obligaciones</a:t>
            </a:r>
          </a:p>
        </p:txBody>
      </p:sp>
      <p:sp>
        <p:nvSpPr>
          <p:cNvPr id="17" name="Rounded Rectangle 16"/>
          <p:cNvSpPr/>
          <p:nvPr/>
        </p:nvSpPr>
        <p:spPr>
          <a:xfrm>
            <a:off x="227770" y="1110038"/>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Macroproceso</a:t>
            </a:r>
          </a:p>
        </p:txBody>
      </p:sp>
      <p:sp>
        <p:nvSpPr>
          <p:cNvPr id="18" name="Rectangle 18"/>
          <p:cNvSpPr>
            <a:spLocks noChangeArrowheads="1"/>
          </p:cNvSpPr>
          <p:nvPr/>
        </p:nvSpPr>
        <p:spPr bwMode="auto">
          <a:xfrm>
            <a:off x="2568409" y="1110038"/>
            <a:ext cx="4060161" cy="182880"/>
          </a:xfrm>
          <a:prstGeom prst="rect">
            <a:avLst/>
          </a:prstGeom>
          <a:noFill/>
          <a:ln w="9525" algn="ctr">
            <a:solidFill>
              <a:schemeClr val="bg2"/>
            </a:solidFill>
            <a:miter lim="800000"/>
            <a:headEnd/>
            <a:tailEnd/>
          </a:ln>
          <a:effectLst/>
        </p:spPr>
        <p:txBody>
          <a:bodyPr anchor="ctr"/>
          <a:lstStyle/>
          <a:p>
            <a:r>
              <a:rPr lang="es-ES" sz="1100" dirty="0"/>
              <a:t>Administración de Portafolio de Inversiones</a:t>
            </a:r>
          </a:p>
        </p:txBody>
      </p:sp>
      <p:sp>
        <p:nvSpPr>
          <p:cNvPr id="19" name="Rounded Rectangle 18"/>
          <p:cNvSpPr/>
          <p:nvPr/>
        </p:nvSpPr>
        <p:spPr>
          <a:xfrm>
            <a:off x="227770" y="1339045"/>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Proceso</a:t>
            </a:r>
          </a:p>
        </p:txBody>
      </p:sp>
      <p:sp>
        <p:nvSpPr>
          <p:cNvPr id="20" name="Rectangle 18"/>
          <p:cNvSpPr>
            <a:spLocks noChangeArrowheads="1"/>
          </p:cNvSpPr>
          <p:nvPr/>
        </p:nvSpPr>
        <p:spPr bwMode="auto">
          <a:xfrm>
            <a:off x="2568409" y="1339045"/>
            <a:ext cx="4060161" cy="182880"/>
          </a:xfrm>
          <a:prstGeom prst="rect">
            <a:avLst/>
          </a:prstGeom>
          <a:noFill/>
          <a:ln w="9525" algn="ctr">
            <a:solidFill>
              <a:schemeClr val="bg2"/>
            </a:solidFill>
            <a:miter lim="800000"/>
            <a:headEnd/>
            <a:tailEnd/>
          </a:ln>
          <a:effectLst/>
        </p:spPr>
        <p:txBody>
          <a:bodyPr anchor="ctr"/>
          <a:lstStyle/>
          <a:p>
            <a:r>
              <a:rPr lang="es-ES" sz="1100" dirty="0"/>
              <a:t>Administración de fondos</a:t>
            </a:r>
          </a:p>
        </p:txBody>
      </p:sp>
      <p:sp>
        <p:nvSpPr>
          <p:cNvPr id="21" name="Rectangle 29"/>
          <p:cNvSpPr>
            <a:spLocks noChangeArrowheads="1"/>
          </p:cNvSpPr>
          <p:nvPr/>
        </p:nvSpPr>
        <p:spPr bwMode="auto">
          <a:xfrm>
            <a:off x="107504" y="3423715"/>
            <a:ext cx="8961120" cy="1607926"/>
          </a:xfrm>
          <a:prstGeom prst="rect">
            <a:avLst/>
          </a:prstGeom>
          <a:noFill/>
          <a:ln w="19050" cap="rnd" algn="ctr">
            <a:solidFill>
              <a:schemeClr val="bg2"/>
            </a:solidFill>
            <a:prstDash val="sysDot"/>
            <a:miter lim="800000"/>
            <a:headEnd/>
            <a:tailEnd/>
          </a:ln>
          <a:effectLst/>
        </p:spPr>
        <p:txBody>
          <a:bodyPr wrap="none" anchor="ctr"/>
          <a:lstStyle/>
          <a:p>
            <a:endParaRPr lang="en-US">
              <a:solidFill>
                <a:srgbClr val="002060"/>
              </a:solidFill>
            </a:endParaRPr>
          </a:p>
        </p:txBody>
      </p:sp>
      <p:sp>
        <p:nvSpPr>
          <p:cNvPr id="22" name="Rounded Rectangle 21"/>
          <p:cNvSpPr/>
          <p:nvPr/>
        </p:nvSpPr>
        <p:spPr>
          <a:xfrm>
            <a:off x="902959" y="4382163"/>
            <a:ext cx="1920240" cy="182880"/>
          </a:xfrm>
          <a:prstGeom prst="roundRect">
            <a:avLst/>
          </a:prstGeom>
          <a:solidFill>
            <a:srgbClr val="DB0613"/>
          </a:solidFill>
          <a:ln w="9525" algn="ctr">
            <a:noFill/>
            <a:miter lim="800000"/>
            <a:headEnd/>
            <a:tailEnd/>
          </a:ln>
          <a:effectLst/>
        </p:spPr>
        <p:txBody>
          <a:bodyPr tIns="91440" anchor="ctr"/>
          <a:lstStyle/>
          <a:p>
            <a:pPr>
              <a:lnSpc>
                <a:spcPct val="80000"/>
              </a:lnSpc>
            </a:pPr>
            <a:r>
              <a:rPr lang="es-CL" sz="1100" b="1" dirty="0">
                <a:solidFill>
                  <a:srgbClr val="FFFFFF"/>
                </a:solidFill>
                <a:cs typeface="Arial" pitchFamily="34" charset="0"/>
              </a:rPr>
              <a:t>Pérdida Esperada Anual</a:t>
            </a:r>
          </a:p>
        </p:txBody>
      </p:sp>
      <p:sp>
        <p:nvSpPr>
          <p:cNvPr id="23" name="Rectangle 18"/>
          <p:cNvSpPr>
            <a:spLocks noChangeArrowheads="1"/>
          </p:cNvSpPr>
          <p:nvPr/>
        </p:nvSpPr>
        <p:spPr bwMode="auto">
          <a:xfrm>
            <a:off x="2859920" y="4382163"/>
            <a:ext cx="1554480" cy="182880"/>
          </a:xfrm>
          <a:prstGeom prst="rect">
            <a:avLst/>
          </a:prstGeom>
          <a:solidFill>
            <a:schemeClr val="bg1"/>
          </a:solidFill>
          <a:ln w="9525" algn="ctr">
            <a:solidFill>
              <a:schemeClr val="bg2"/>
            </a:solidFill>
            <a:miter lim="800000"/>
            <a:headEnd/>
            <a:tailEnd/>
          </a:ln>
          <a:effectLst/>
        </p:spPr>
        <p:txBody>
          <a:bodyPr anchor="ctr"/>
          <a:lstStyle/>
          <a:p>
            <a:pPr algn="ctr"/>
            <a:r>
              <a:rPr lang="es-ES" sz="1100" dirty="0"/>
              <a:t>S/. 0.00</a:t>
            </a:r>
          </a:p>
        </p:txBody>
      </p:sp>
      <p:sp>
        <p:nvSpPr>
          <p:cNvPr id="24" name="Rounded Rectangle 23"/>
          <p:cNvSpPr/>
          <p:nvPr/>
        </p:nvSpPr>
        <p:spPr>
          <a:xfrm>
            <a:off x="902959" y="4611775"/>
            <a:ext cx="192024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VaR Cualitativo Anual</a:t>
            </a:r>
          </a:p>
        </p:txBody>
      </p:sp>
      <p:sp>
        <p:nvSpPr>
          <p:cNvPr id="25" name="Rectangle 18"/>
          <p:cNvSpPr>
            <a:spLocks noChangeArrowheads="1"/>
          </p:cNvSpPr>
          <p:nvPr/>
        </p:nvSpPr>
        <p:spPr bwMode="auto">
          <a:xfrm>
            <a:off x="2859920" y="4611775"/>
            <a:ext cx="1554480" cy="182880"/>
          </a:xfrm>
          <a:prstGeom prst="rect">
            <a:avLst/>
          </a:prstGeom>
          <a:solidFill>
            <a:schemeClr val="bg1"/>
          </a:solidFill>
          <a:ln w="9525" algn="ctr">
            <a:solidFill>
              <a:schemeClr val="bg2"/>
            </a:solidFill>
            <a:miter lim="800000"/>
            <a:headEnd/>
            <a:tailEnd/>
          </a:ln>
          <a:effectLst/>
        </p:spPr>
        <p:txBody>
          <a:bodyPr anchor="ctr"/>
          <a:lstStyle/>
          <a:p>
            <a:pPr algn="ctr"/>
            <a:r>
              <a:rPr lang="es-ES" sz="1100" dirty="0"/>
              <a:t>S/. 0.00</a:t>
            </a:r>
          </a:p>
        </p:txBody>
      </p:sp>
      <p:sp>
        <p:nvSpPr>
          <p:cNvPr id="26" name="Rounded Rectangle 25"/>
          <p:cNvSpPr/>
          <p:nvPr/>
        </p:nvSpPr>
        <p:spPr>
          <a:xfrm>
            <a:off x="891084" y="3618777"/>
            <a:ext cx="192024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Frecuencia  Evento Pérdida</a:t>
            </a:r>
          </a:p>
        </p:txBody>
      </p:sp>
      <p:sp>
        <p:nvSpPr>
          <p:cNvPr id="27" name="Rectangle 18"/>
          <p:cNvSpPr>
            <a:spLocks noChangeArrowheads="1"/>
          </p:cNvSpPr>
          <p:nvPr/>
        </p:nvSpPr>
        <p:spPr bwMode="auto">
          <a:xfrm>
            <a:off x="2859920" y="3618777"/>
            <a:ext cx="1554480" cy="182880"/>
          </a:xfrm>
          <a:prstGeom prst="rect">
            <a:avLst/>
          </a:prstGeom>
          <a:solidFill>
            <a:schemeClr val="bg1"/>
          </a:solidFill>
          <a:ln w="9525" algn="ctr">
            <a:solidFill>
              <a:schemeClr val="bg2"/>
            </a:solidFill>
            <a:miter lim="800000"/>
            <a:headEnd/>
            <a:tailEnd/>
          </a:ln>
          <a:effectLst/>
        </p:spPr>
        <p:txBody>
          <a:bodyPr anchor="ctr"/>
          <a:lstStyle/>
          <a:p>
            <a:pPr algn="ctr"/>
            <a:r>
              <a:rPr lang="es-ES" sz="1100" dirty="0"/>
              <a:t>1 vez por día</a:t>
            </a:r>
          </a:p>
        </p:txBody>
      </p:sp>
      <p:sp>
        <p:nvSpPr>
          <p:cNvPr id="28" name="Rounded Rectangle 27"/>
          <p:cNvSpPr/>
          <p:nvPr/>
        </p:nvSpPr>
        <p:spPr>
          <a:xfrm>
            <a:off x="891084" y="3848389"/>
            <a:ext cx="192024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Impacto Medio Evento</a:t>
            </a:r>
          </a:p>
        </p:txBody>
      </p:sp>
      <p:sp>
        <p:nvSpPr>
          <p:cNvPr id="29" name="Rectangle 18"/>
          <p:cNvSpPr>
            <a:spLocks noChangeArrowheads="1"/>
          </p:cNvSpPr>
          <p:nvPr/>
        </p:nvSpPr>
        <p:spPr bwMode="auto">
          <a:xfrm>
            <a:off x="2859920" y="3848389"/>
            <a:ext cx="1554480" cy="182880"/>
          </a:xfrm>
          <a:prstGeom prst="rect">
            <a:avLst/>
          </a:prstGeom>
          <a:solidFill>
            <a:schemeClr val="bg1"/>
          </a:solidFill>
          <a:ln w="9525" algn="ctr">
            <a:solidFill>
              <a:schemeClr val="bg2"/>
            </a:solidFill>
            <a:miter lim="800000"/>
            <a:headEnd/>
            <a:tailEnd/>
          </a:ln>
          <a:effectLst/>
        </p:spPr>
        <p:txBody>
          <a:bodyPr anchor="ctr"/>
          <a:lstStyle/>
          <a:p>
            <a:pPr algn="ctr"/>
            <a:r>
              <a:rPr lang="es-ES" sz="1100" dirty="0"/>
              <a:t>S/. 0.00</a:t>
            </a:r>
          </a:p>
        </p:txBody>
      </p:sp>
      <p:sp>
        <p:nvSpPr>
          <p:cNvPr id="30" name="Rounded Rectangle 29"/>
          <p:cNvSpPr/>
          <p:nvPr/>
        </p:nvSpPr>
        <p:spPr>
          <a:xfrm>
            <a:off x="891084" y="4083969"/>
            <a:ext cx="192024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Impacto Peor Escenario</a:t>
            </a:r>
          </a:p>
        </p:txBody>
      </p:sp>
      <p:sp>
        <p:nvSpPr>
          <p:cNvPr id="31" name="Rectangle 18"/>
          <p:cNvSpPr>
            <a:spLocks noChangeArrowheads="1"/>
          </p:cNvSpPr>
          <p:nvPr/>
        </p:nvSpPr>
        <p:spPr bwMode="auto">
          <a:xfrm>
            <a:off x="2859920" y="4083969"/>
            <a:ext cx="1554480" cy="182880"/>
          </a:xfrm>
          <a:prstGeom prst="rect">
            <a:avLst/>
          </a:prstGeom>
          <a:solidFill>
            <a:schemeClr val="bg1"/>
          </a:solidFill>
          <a:ln w="9525" algn="ctr">
            <a:solidFill>
              <a:schemeClr val="bg2"/>
            </a:solidFill>
            <a:miter lim="800000"/>
            <a:headEnd/>
            <a:tailEnd/>
          </a:ln>
          <a:effectLst/>
        </p:spPr>
        <p:txBody>
          <a:bodyPr anchor="ctr"/>
          <a:lstStyle/>
          <a:p>
            <a:pPr algn="ctr"/>
            <a:r>
              <a:rPr lang="es-ES" sz="1100" dirty="0"/>
              <a:t>S/. 0.00</a:t>
            </a:r>
          </a:p>
        </p:txBody>
      </p:sp>
      <p:sp>
        <p:nvSpPr>
          <p:cNvPr id="32" name="AutoShape 47"/>
          <p:cNvSpPr>
            <a:spLocks noChangeAspect="1" noChangeArrowheads="1"/>
          </p:cNvSpPr>
          <p:nvPr/>
        </p:nvSpPr>
        <p:spPr bwMode="blackWhite">
          <a:xfrm>
            <a:off x="263033" y="3533122"/>
            <a:ext cx="492543" cy="1339083"/>
          </a:xfrm>
          <a:prstGeom prst="rightArrow">
            <a:avLst>
              <a:gd name="adj1" fmla="val 100000"/>
              <a:gd name="adj2" fmla="val 11009"/>
            </a:avLst>
          </a:prstGeom>
          <a:solidFill>
            <a:srgbClr val="969696"/>
          </a:solidFill>
          <a:ln w="12700">
            <a:noFill/>
            <a:miter lim="800000"/>
            <a:headEnd/>
            <a:tailEnd/>
          </a:ln>
          <a:effectLst>
            <a:outerShdw dist="35921" dir="2700000" algn="ctr" rotWithShape="0">
              <a:schemeClr val="bg2"/>
            </a:outerShdw>
          </a:effectLst>
        </p:spPr>
        <p:txBody>
          <a:bodyPr vert="vert270" anchor="ctr"/>
          <a:lstStyle/>
          <a:p>
            <a:pPr algn="ctr">
              <a:lnSpc>
                <a:spcPts val="1000"/>
              </a:lnSpc>
            </a:pPr>
            <a:r>
              <a:rPr lang="es-ES" sz="1200" b="1" noProof="1">
                <a:solidFill>
                  <a:srgbClr val="FFFFFF"/>
                </a:solidFill>
                <a:cs typeface="Arial" charset="0"/>
              </a:rPr>
              <a:t>Evaluación Riesgo Operacional</a:t>
            </a:r>
          </a:p>
        </p:txBody>
      </p:sp>
      <p:sp>
        <p:nvSpPr>
          <p:cNvPr id="59" name="Rounded Rectangle 58"/>
          <p:cNvSpPr/>
          <p:nvPr/>
        </p:nvSpPr>
        <p:spPr>
          <a:xfrm>
            <a:off x="223049" y="1554311"/>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Subproceso</a:t>
            </a:r>
          </a:p>
        </p:txBody>
      </p:sp>
      <p:sp>
        <p:nvSpPr>
          <p:cNvPr id="60" name="Rectangle 18"/>
          <p:cNvSpPr>
            <a:spLocks noChangeArrowheads="1"/>
          </p:cNvSpPr>
          <p:nvPr/>
        </p:nvSpPr>
        <p:spPr bwMode="auto">
          <a:xfrm>
            <a:off x="2563688" y="1554311"/>
            <a:ext cx="4064882" cy="182880"/>
          </a:xfrm>
          <a:prstGeom prst="rect">
            <a:avLst/>
          </a:prstGeom>
          <a:noFill/>
          <a:ln w="9525" algn="ctr">
            <a:solidFill>
              <a:schemeClr val="bg2"/>
            </a:solidFill>
            <a:miter lim="800000"/>
            <a:headEnd/>
            <a:tailEnd/>
          </a:ln>
          <a:effectLst/>
        </p:spPr>
        <p:txBody>
          <a:bodyPr anchor="ctr"/>
          <a:lstStyle/>
          <a:p>
            <a:r>
              <a:rPr lang="es-ES" sz="1100" dirty="0"/>
              <a:t>Ingreso y registro de operaciones de inversión</a:t>
            </a:r>
          </a:p>
        </p:txBody>
      </p:sp>
      <p:sp>
        <p:nvSpPr>
          <p:cNvPr id="57" name="Rounded Rectangle 56"/>
          <p:cNvSpPr/>
          <p:nvPr/>
        </p:nvSpPr>
        <p:spPr>
          <a:xfrm>
            <a:off x="223049" y="1771093"/>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Línea de Negocio</a:t>
            </a:r>
          </a:p>
        </p:txBody>
      </p:sp>
      <p:sp>
        <p:nvSpPr>
          <p:cNvPr id="58" name="Rectangle 18"/>
          <p:cNvSpPr>
            <a:spLocks noChangeArrowheads="1"/>
          </p:cNvSpPr>
          <p:nvPr/>
        </p:nvSpPr>
        <p:spPr bwMode="auto">
          <a:xfrm>
            <a:off x="2563688" y="1771093"/>
            <a:ext cx="4064882" cy="182880"/>
          </a:xfrm>
          <a:prstGeom prst="rect">
            <a:avLst/>
          </a:prstGeom>
          <a:noFill/>
          <a:ln w="9525" algn="ctr">
            <a:solidFill>
              <a:schemeClr val="bg2"/>
            </a:solidFill>
            <a:miter lim="800000"/>
            <a:headEnd/>
            <a:tailEnd/>
          </a:ln>
          <a:effectLst/>
        </p:spPr>
        <p:txBody>
          <a:bodyPr anchor="ctr"/>
          <a:lstStyle/>
          <a:p>
            <a:r>
              <a:rPr lang="es-ES" sz="1100" dirty="0"/>
              <a:t>Negociación y ventas</a:t>
            </a:r>
          </a:p>
        </p:txBody>
      </p:sp>
      <p:sp>
        <p:nvSpPr>
          <p:cNvPr id="61" name="Rounded Rectangle 60"/>
          <p:cNvSpPr/>
          <p:nvPr/>
        </p:nvSpPr>
        <p:spPr>
          <a:xfrm>
            <a:off x="223049" y="1986359"/>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Responsable</a:t>
            </a:r>
          </a:p>
        </p:txBody>
      </p:sp>
      <p:sp>
        <p:nvSpPr>
          <p:cNvPr id="62" name="Rectangle 18"/>
          <p:cNvSpPr>
            <a:spLocks noChangeArrowheads="1"/>
          </p:cNvSpPr>
          <p:nvPr/>
        </p:nvSpPr>
        <p:spPr bwMode="auto">
          <a:xfrm>
            <a:off x="2558967" y="1986359"/>
            <a:ext cx="4069603" cy="182880"/>
          </a:xfrm>
          <a:prstGeom prst="rect">
            <a:avLst/>
          </a:prstGeom>
          <a:noFill/>
          <a:ln w="9525" algn="ctr">
            <a:solidFill>
              <a:schemeClr val="bg2"/>
            </a:solidFill>
            <a:miter lim="800000"/>
            <a:headEnd/>
            <a:tailEnd/>
          </a:ln>
          <a:effectLst/>
        </p:spPr>
        <p:txBody>
          <a:bodyPr anchor="ctr"/>
          <a:lstStyle/>
          <a:p>
            <a:r>
              <a:rPr lang="es-ES" sz="1100" dirty="0"/>
              <a:t>Subgerente de Operaciones de Inversión </a:t>
            </a:r>
          </a:p>
        </p:txBody>
      </p:sp>
      <p:sp>
        <p:nvSpPr>
          <p:cNvPr id="63" name="Rounded Rectangle 62"/>
          <p:cNvSpPr/>
          <p:nvPr/>
        </p:nvSpPr>
        <p:spPr>
          <a:xfrm>
            <a:off x="6732240" y="2276457"/>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Categoría de Riesgo Nivel III</a:t>
            </a:r>
          </a:p>
        </p:txBody>
      </p:sp>
      <p:sp>
        <p:nvSpPr>
          <p:cNvPr id="64" name="Rounded Rectangle 14"/>
          <p:cNvSpPr/>
          <p:nvPr/>
        </p:nvSpPr>
        <p:spPr>
          <a:xfrm>
            <a:off x="6732240" y="2961327"/>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Origen del Riesgo</a:t>
            </a:r>
          </a:p>
        </p:txBody>
      </p:sp>
      <p:sp>
        <p:nvSpPr>
          <p:cNvPr id="65" name="Rectangle 18"/>
          <p:cNvSpPr>
            <a:spLocks noChangeArrowheads="1"/>
          </p:cNvSpPr>
          <p:nvPr/>
        </p:nvSpPr>
        <p:spPr bwMode="auto">
          <a:xfrm>
            <a:off x="6732240" y="3176592"/>
            <a:ext cx="2286000" cy="270000"/>
          </a:xfrm>
          <a:prstGeom prst="rect">
            <a:avLst/>
          </a:prstGeom>
          <a:noFill/>
          <a:ln w="9525" algn="ctr">
            <a:solidFill>
              <a:schemeClr val="bg2"/>
            </a:solidFill>
            <a:miter lim="800000"/>
            <a:headEnd/>
            <a:tailEnd/>
          </a:ln>
          <a:effectLst/>
        </p:spPr>
        <p:txBody>
          <a:bodyPr anchor="ctr"/>
          <a:lstStyle/>
          <a:p>
            <a:r>
              <a:rPr lang="es-ES" sz="1100" dirty="0">
                <a:solidFill>
                  <a:srgbClr val="000000"/>
                </a:solidFill>
              </a:rPr>
              <a:t>Procesos</a:t>
            </a:r>
          </a:p>
        </p:txBody>
      </p:sp>
      <p:sp>
        <p:nvSpPr>
          <p:cNvPr id="66" name="AutoShape 179"/>
          <p:cNvSpPr>
            <a:spLocks noChangeArrowheads="1"/>
          </p:cNvSpPr>
          <p:nvPr/>
        </p:nvSpPr>
        <p:spPr bwMode="auto">
          <a:xfrm>
            <a:off x="4932039" y="3590608"/>
            <a:ext cx="4037169" cy="864000"/>
          </a:xfrm>
          <a:prstGeom prst="roundRect">
            <a:avLst>
              <a:gd name="adj" fmla="val 9481"/>
            </a:avLst>
          </a:prstGeom>
          <a:solidFill>
            <a:schemeClr val="accent1">
              <a:lumMod val="20000"/>
              <a:lumOff val="80000"/>
            </a:schemeClr>
          </a:solidFill>
          <a:ln w="9525" algn="ctr">
            <a:noFill/>
            <a:round/>
            <a:headEnd/>
            <a:tailEnd/>
          </a:ln>
          <a:effectLst/>
        </p:spPr>
        <p:txBody>
          <a:bodyPr wrap="none" anchor="ctr"/>
          <a:lstStyle/>
          <a:p>
            <a:endParaRPr lang="es-CL">
              <a:solidFill>
                <a:srgbClr val="002060"/>
              </a:solidFill>
            </a:endParaRPr>
          </a:p>
        </p:txBody>
      </p:sp>
      <p:sp>
        <p:nvSpPr>
          <p:cNvPr id="67" name="AutoShape 47"/>
          <p:cNvSpPr>
            <a:spLocks noChangeArrowheads="1"/>
          </p:cNvSpPr>
          <p:nvPr/>
        </p:nvSpPr>
        <p:spPr bwMode="blackWhite">
          <a:xfrm>
            <a:off x="4678512" y="3592110"/>
            <a:ext cx="353942" cy="864000"/>
          </a:xfrm>
          <a:prstGeom prst="rightArrow">
            <a:avLst>
              <a:gd name="adj1" fmla="val 100000"/>
              <a:gd name="adj2" fmla="val 11009"/>
            </a:avLst>
          </a:prstGeom>
          <a:solidFill>
            <a:srgbClr val="969696"/>
          </a:solidFill>
          <a:ln w="12700">
            <a:noFill/>
            <a:miter lim="800000"/>
            <a:headEnd/>
            <a:tailEnd/>
          </a:ln>
          <a:effectLst>
            <a:outerShdw dist="35921" dir="2700000" algn="ctr" rotWithShape="0">
              <a:schemeClr val="bg2"/>
            </a:outerShdw>
          </a:effectLst>
        </p:spPr>
        <p:txBody>
          <a:bodyPr vert="vert270" anchor="ctr"/>
          <a:lstStyle/>
          <a:p>
            <a:pPr algn="ctr">
              <a:lnSpc>
                <a:spcPts val="1000"/>
              </a:lnSpc>
            </a:pPr>
            <a:r>
              <a:rPr lang="es-ES" sz="1100" b="1" noProof="1">
                <a:solidFill>
                  <a:srgbClr val="FFFFFF"/>
                </a:solidFill>
                <a:cs typeface="Arial" charset="0"/>
              </a:rPr>
              <a:t>Impacto Reputacional</a:t>
            </a:r>
          </a:p>
        </p:txBody>
      </p:sp>
      <p:sp>
        <p:nvSpPr>
          <p:cNvPr id="68" name="Rectangle 18"/>
          <p:cNvSpPr>
            <a:spLocks noChangeArrowheads="1"/>
          </p:cNvSpPr>
          <p:nvPr/>
        </p:nvSpPr>
        <p:spPr bwMode="auto">
          <a:xfrm>
            <a:off x="8334310" y="3665875"/>
            <a:ext cx="548640" cy="170094"/>
          </a:xfrm>
          <a:prstGeom prst="rect">
            <a:avLst/>
          </a:prstGeom>
          <a:solidFill>
            <a:schemeClr val="bg1"/>
          </a:solidFill>
          <a:ln w="9525" algn="ctr">
            <a:solidFill>
              <a:schemeClr val="bg2"/>
            </a:solidFill>
            <a:miter lim="800000"/>
            <a:headEnd/>
            <a:tailEnd/>
          </a:ln>
          <a:effectLst/>
        </p:spPr>
        <p:txBody>
          <a:bodyPr anchor="ctr"/>
          <a:lstStyle/>
          <a:p>
            <a:pPr algn="ctr"/>
            <a:r>
              <a:rPr lang="es-ES" sz="1100" dirty="0">
                <a:solidFill>
                  <a:srgbClr val="002060"/>
                </a:solidFill>
              </a:rPr>
              <a:t>4</a:t>
            </a:r>
          </a:p>
        </p:txBody>
      </p:sp>
      <p:sp>
        <p:nvSpPr>
          <p:cNvPr id="69" name="Rounded Rectangle 68"/>
          <p:cNvSpPr/>
          <p:nvPr/>
        </p:nvSpPr>
        <p:spPr>
          <a:xfrm>
            <a:off x="5102950" y="3665875"/>
            <a:ext cx="3132000" cy="170094"/>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Afectación a Clientes</a:t>
            </a:r>
          </a:p>
        </p:txBody>
      </p:sp>
      <p:sp>
        <p:nvSpPr>
          <p:cNvPr id="70" name="Rectangle 18"/>
          <p:cNvSpPr>
            <a:spLocks noChangeArrowheads="1"/>
          </p:cNvSpPr>
          <p:nvPr/>
        </p:nvSpPr>
        <p:spPr bwMode="auto">
          <a:xfrm>
            <a:off x="5102950" y="3884032"/>
            <a:ext cx="3780000" cy="469509"/>
          </a:xfrm>
          <a:prstGeom prst="rect">
            <a:avLst/>
          </a:prstGeom>
          <a:solidFill>
            <a:schemeClr val="bg1"/>
          </a:solidFill>
          <a:ln w="9525" algn="ctr">
            <a:solidFill>
              <a:schemeClr val="bg2"/>
            </a:solidFill>
            <a:miter lim="800000"/>
            <a:headEnd/>
            <a:tailEnd/>
          </a:ln>
          <a:effectLst/>
        </p:spPr>
        <p:txBody>
          <a:bodyPr anchor="ctr"/>
          <a:lstStyle/>
          <a:p>
            <a:r>
              <a:rPr lang="es-ES" sz="1100" dirty="0">
                <a:solidFill>
                  <a:srgbClr val="000000"/>
                </a:solidFill>
              </a:rPr>
              <a:t>La exposición de la imagen es interna y externa con un nivel de impacto alto.</a:t>
            </a:r>
          </a:p>
        </p:txBody>
      </p:sp>
      <p:sp>
        <p:nvSpPr>
          <p:cNvPr id="73" name="AutoShape 179"/>
          <p:cNvSpPr>
            <a:spLocks noChangeArrowheads="1"/>
          </p:cNvSpPr>
          <p:nvPr/>
        </p:nvSpPr>
        <p:spPr bwMode="auto">
          <a:xfrm>
            <a:off x="4927319" y="4494825"/>
            <a:ext cx="4037169" cy="892800"/>
          </a:xfrm>
          <a:prstGeom prst="roundRect">
            <a:avLst>
              <a:gd name="adj" fmla="val 9481"/>
            </a:avLst>
          </a:prstGeom>
          <a:solidFill>
            <a:schemeClr val="accent1">
              <a:lumMod val="20000"/>
              <a:lumOff val="80000"/>
            </a:schemeClr>
          </a:solidFill>
          <a:ln w="9525" algn="ctr">
            <a:noFill/>
            <a:round/>
            <a:headEnd/>
            <a:tailEnd/>
          </a:ln>
          <a:effectLst/>
        </p:spPr>
        <p:txBody>
          <a:bodyPr wrap="none" anchor="ctr"/>
          <a:lstStyle/>
          <a:p>
            <a:endParaRPr lang="es-CL">
              <a:solidFill>
                <a:srgbClr val="002060"/>
              </a:solidFill>
            </a:endParaRPr>
          </a:p>
        </p:txBody>
      </p:sp>
      <p:sp>
        <p:nvSpPr>
          <p:cNvPr id="74" name="AutoShape 47"/>
          <p:cNvSpPr>
            <a:spLocks noChangeArrowheads="1"/>
          </p:cNvSpPr>
          <p:nvPr/>
        </p:nvSpPr>
        <p:spPr bwMode="blackWhite">
          <a:xfrm>
            <a:off x="4673792" y="4496327"/>
            <a:ext cx="352800" cy="892800"/>
          </a:xfrm>
          <a:prstGeom prst="rightArrow">
            <a:avLst>
              <a:gd name="adj1" fmla="val 100000"/>
              <a:gd name="adj2" fmla="val 11009"/>
            </a:avLst>
          </a:prstGeom>
          <a:solidFill>
            <a:srgbClr val="969696"/>
          </a:solidFill>
          <a:ln w="12700">
            <a:noFill/>
            <a:miter lim="800000"/>
            <a:headEnd/>
            <a:tailEnd/>
          </a:ln>
          <a:effectLst>
            <a:outerShdw dist="35921" dir="2700000" algn="ctr" rotWithShape="0">
              <a:schemeClr val="bg2"/>
            </a:outerShdw>
          </a:effectLst>
        </p:spPr>
        <p:txBody>
          <a:bodyPr vert="vert270" anchor="ctr"/>
          <a:lstStyle/>
          <a:p>
            <a:pPr algn="ctr">
              <a:lnSpc>
                <a:spcPts val="1000"/>
              </a:lnSpc>
            </a:pPr>
            <a:r>
              <a:rPr lang="es-ES" sz="1100" b="1" noProof="1">
                <a:solidFill>
                  <a:srgbClr val="FFFFFF"/>
                </a:solidFill>
                <a:cs typeface="Arial" charset="0"/>
              </a:rPr>
              <a:t>Cuestionarios</a:t>
            </a:r>
          </a:p>
        </p:txBody>
      </p:sp>
      <p:sp>
        <p:nvSpPr>
          <p:cNvPr id="76" name="Rounded Rectangle 38"/>
          <p:cNvSpPr/>
          <p:nvPr/>
        </p:nvSpPr>
        <p:spPr>
          <a:xfrm>
            <a:off x="5098230" y="4570092"/>
            <a:ext cx="3132000" cy="170094"/>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Criterios de Evaluación</a:t>
            </a:r>
          </a:p>
        </p:txBody>
      </p:sp>
      <p:sp>
        <p:nvSpPr>
          <p:cNvPr id="77" name="Rectangle 18"/>
          <p:cNvSpPr>
            <a:spLocks noChangeArrowheads="1"/>
          </p:cNvSpPr>
          <p:nvPr/>
        </p:nvSpPr>
        <p:spPr bwMode="auto">
          <a:xfrm>
            <a:off x="5102950" y="4783265"/>
            <a:ext cx="3780000" cy="469509"/>
          </a:xfrm>
          <a:prstGeom prst="rect">
            <a:avLst/>
          </a:prstGeom>
          <a:solidFill>
            <a:schemeClr val="bg1"/>
          </a:solidFill>
          <a:ln w="9525" algn="ctr">
            <a:solidFill>
              <a:schemeClr val="bg2"/>
            </a:solidFill>
            <a:miter lim="800000"/>
            <a:headEnd/>
            <a:tailEnd/>
          </a:ln>
          <a:effectLst/>
        </p:spPr>
        <p:txBody>
          <a:bodyPr anchor="ctr"/>
          <a:lstStyle/>
          <a:p>
            <a:pPr algn="just"/>
            <a:r>
              <a:rPr lang="es-PE" sz="1000" dirty="0">
                <a:solidFill>
                  <a:srgbClr val="000000"/>
                </a:solidFill>
              </a:rPr>
              <a:t>La pérdida patrimonial sería prácticamente nula, ya que los montos a pagar o recibir se revisarían en el momento de la liquidación, momento en el que se confirmaría dichos montos con la contraparte.</a:t>
            </a:r>
            <a:endParaRPr lang="es-ES" sz="1000" dirty="0">
              <a:solidFill>
                <a:srgbClr val="000000"/>
              </a:solidFill>
            </a:endParaRPr>
          </a:p>
        </p:txBody>
      </p:sp>
      <p:sp>
        <p:nvSpPr>
          <p:cNvPr id="78" name="Text Box 30"/>
          <p:cNvSpPr txBox="1">
            <a:spLocks noChangeArrowheads="1"/>
          </p:cNvSpPr>
          <p:nvPr/>
        </p:nvSpPr>
        <p:spPr bwMode="auto">
          <a:xfrm>
            <a:off x="190746" y="4977551"/>
            <a:ext cx="3996000" cy="276999"/>
          </a:xfrm>
          <a:prstGeom prst="rect">
            <a:avLst/>
          </a:prstGeom>
          <a:noFill/>
          <a:ln w="9525" algn="ctr">
            <a:noFill/>
            <a:miter lim="800000"/>
            <a:headEnd/>
            <a:tailEnd/>
          </a:ln>
          <a:effectLst/>
        </p:spPr>
        <p:txBody>
          <a:bodyPr wrap="square">
            <a:spAutoFit/>
          </a:bodyPr>
          <a:lstStyle/>
          <a:p>
            <a:pPr>
              <a:spcBef>
                <a:spcPct val="50000"/>
              </a:spcBef>
            </a:pPr>
            <a:r>
              <a:rPr lang="es-CL" sz="1200" b="1" i="1" dirty="0">
                <a:solidFill>
                  <a:srgbClr val="A3A3E0"/>
                </a:solidFill>
              </a:rPr>
              <a:t>Resultados valoración de controles / factores mitigantes</a:t>
            </a:r>
            <a:endParaRPr lang="es-ES" sz="1200" b="1" i="1" dirty="0">
              <a:solidFill>
                <a:srgbClr val="A3A3E0"/>
              </a:solidFill>
            </a:endParaRPr>
          </a:p>
        </p:txBody>
      </p:sp>
      <p:sp>
        <p:nvSpPr>
          <p:cNvPr id="84" name="AutoShape 179"/>
          <p:cNvSpPr>
            <a:spLocks noChangeArrowheads="1"/>
          </p:cNvSpPr>
          <p:nvPr/>
        </p:nvSpPr>
        <p:spPr bwMode="auto">
          <a:xfrm>
            <a:off x="534831" y="5200032"/>
            <a:ext cx="4037169" cy="864000"/>
          </a:xfrm>
          <a:prstGeom prst="roundRect">
            <a:avLst>
              <a:gd name="adj" fmla="val 9481"/>
            </a:avLst>
          </a:prstGeom>
          <a:solidFill>
            <a:schemeClr val="accent1">
              <a:lumMod val="20000"/>
              <a:lumOff val="80000"/>
            </a:schemeClr>
          </a:solidFill>
          <a:ln w="9525" algn="ctr">
            <a:noFill/>
            <a:round/>
            <a:headEnd/>
            <a:tailEnd/>
          </a:ln>
          <a:effectLst/>
        </p:spPr>
        <p:txBody>
          <a:bodyPr wrap="none" anchor="ctr"/>
          <a:lstStyle/>
          <a:p>
            <a:endParaRPr lang="es-CL">
              <a:solidFill>
                <a:srgbClr val="002060"/>
              </a:solidFill>
            </a:endParaRPr>
          </a:p>
        </p:txBody>
      </p:sp>
      <p:sp>
        <p:nvSpPr>
          <p:cNvPr id="85" name="AutoShape 47"/>
          <p:cNvSpPr>
            <a:spLocks noChangeArrowheads="1"/>
          </p:cNvSpPr>
          <p:nvPr/>
        </p:nvSpPr>
        <p:spPr bwMode="blackWhite">
          <a:xfrm>
            <a:off x="281304" y="5201534"/>
            <a:ext cx="353942" cy="864000"/>
          </a:xfrm>
          <a:prstGeom prst="rightArrow">
            <a:avLst>
              <a:gd name="adj1" fmla="val 100000"/>
              <a:gd name="adj2" fmla="val 11009"/>
            </a:avLst>
          </a:prstGeom>
          <a:solidFill>
            <a:srgbClr val="969696"/>
          </a:solidFill>
          <a:ln w="12700">
            <a:noFill/>
            <a:miter lim="800000"/>
            <a:headEnd/>
            <a:tailEnd/>
          </a:ln>
          <a:effectLst>
            <a:outerShdw dist="35921" dir="2700000" algn="ctr" rotWithShape="0">
              <a:schemeClr val="bg2"/>
            </a:outerShdw>
          </a:effectLst>
        </p:spPr>
        <p:txBody>
          <a:bodyPr vert="vert270" anchor="ctr"/>
          <a:lstStyle/>
          <a:p>
            <a:pPr algn="ctr">
              <a:lnSpc>
                <a:spcPts val="1000"/>
              </a:lnSpc>
            </a:pPr>
            <a:r>
              <a:rPr lang="es-ES" sz="1100" b="1" noProof="1">
                <a:solidFill>
                  <a:srgbClr val="FFFFFF"/>
                </a:solidFill>
                <a:cs typeface="Arial" charset="0"/>
              </a:rPr>
              <a:t>Evaluación de Controles</a:t>
            </a:r>
          </a:p>
        </p:txBody>
      </p:sp>
      <p:sp>
        <p:nvSpPr>
          <p:cNvPr id="86" name="Rectangle 18"/>
          <p:cNvSpPr>
            <a:spLocks noChangeArrowheads="1"/>
          </p:cNvSpPr>
          <p:nvPr/>
        </p:nvSpPr>
        <p:spPr bwMode="auto">
          <a:xfrm>
            <a:off x="3937102" y="5275299"/>
            <a:ext cx="548640" cy="170094"/>
          </a:xfrm>
          <a:prstGeom prst="rect">
            <a:avLst/>
          </a:prstGeom>
          <a:solidFill>
            <a:schemeClr val="bg1"/>
          </a:solidFill>
          <a:ln w="9525" algn="ctr">
            <a:solidFill>
              <a:schemeClr val="bg2"/>
            </a:solidFill>
            <a:miter lim="800000"/>
            <a:headEnd/>
            <a:tailEnd/>
          </a:ln>
          <a:effectLst/>
        </p:spPr>
        <p:txBody>
          <a:bodyPr anchor="ctr"/>
          <a:lstStyle/>
          <a:p>
            <a:pPr algn="ctr"/>
            <a:r>
              <a:rPr lang="es-ES" sz="1100" dirty="0">
                <a:solidFill>
                  <a:srgbClr val="002060"/>
                </a:solidFill>
              </a:rPr>
              <a:t>1</a:t>
            </a:r>
          </a:p>
        </p:txBody>
      </p:sp>
      <p:sp>
        <p:nvSpPr>
          <p:cNvPr id="87" name="Rounded Rectangle 38"/>
          <p:cNvSpPr/>
          <p:nvPr/>
        </p:nvSpPr>
        <p:spPr>
          <a:xfrm>
            <a:off x="705742" y="5275299"/>
            <a:ext cx="3132000" cy="170094"/>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Controles asociados al riesgo</a:t>
            </a:r>
          </a:p>
        </p:txBody>
      </p:sp>
      <p:sp>
        <p:nvSpPr>
          <p:cNvPr id="88" name="Rectangle 18"/>
          <p:cNvSpPr>
            <a:spLocks noChangeArrowheads="1"/>
          </p:cNvSpPr>
          <p:nvPr/>
        </p:nvSpPr>
        <p:spPr bwMode="auto">
          <a:xfrm>
            <a:off x="705742" y="5496307"/>
            <a:ext cx="3780000" cy="469509"/>
          </a:xfrm>
          <a:prstGeom prst="rect">
            <a:avLst/>
          </a:prstGeom>
          <a:solidFill>
            <a:schemeClr val="bg1"/>
          </a:solidFill>
          <a:ln w="9525" algn="ctr">
            <a:solidFill>
              <a:schemeClr val="bg2"/>
            </a:solidFill>
            <a:miter lim="800000"/>
            <a:headEnd/>
            <a:tailEnd/>
          </a:ln>
          <a:effectLst/>
        </p:spPr>
        <p:txBody>
          <a:bodyPr anchor="ctr"/>
          <a:lstStyle/>
          <a:p>
            <a:r>
              <a:rPr lang="es-ES" sz="1100" dirty="0">
                <a:solidFill>
                  <a:srgbClr val="000000"/>
                </a:solidFill>
              </a:rPr>
              <a:t>Contabilidad revisa la información recibida de Back Office.</a:t>
            </a:r>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dirty="0"/>
              <a:t>Anexo: Ficha Individual Riesgos Operacionales</a:t>
            </a:r>
          </a:p>
        </p:txBody>
      </p:sp>
      <p:sp>
        <p:nvSpPr>
          <p:cNvPr id="3" name="AutoShape 179"/>
          <p:cNvSpPr>
            <a:spLocks noChangeArrowheads="1"/>
          </p:cNvSpPr>
          <p:nvPr/>
        </p:nvSpPr>
        <p:spPr bwMode="auto">
          <a:xfrm>
            <a:off x="611560" y="3535397"/>
            <a:ext cx="3960812" cy="1371600"/>
          </a:xfrm>
          <a:prstGeom prst="roundRect">
            <a:avLst>
              <a:gd name="adj" fmla="val 9481"/>
            </a:avLst>
          </a:prstGeom>
          <a:solidFill>
            <a:schemeClr val="accent1">
              <a:lumMod val="20000"/>
              <a:lumOff val="80000"/>
            </a:schemeClr>
          </a:solidFill>
          <a:ln w="9525" algn="ctr">
            <a:noFill/>
            <a:round/>
            <a:headEnd/>
            <a:tailEnd/>
          </a:ln>
          <a:effectLst/>
        </p:spPr>
        <p:txBody>
          <a:bodyPr wrap="none" anchor="ctr"/>
          <a:lstStyle/>
          <a:p>
            <a:endParaRPr lang="es-CL">
              <a:solidFill>
                <a:srgbClr val="002060"/>
              </a:solidFill>
            </a:endParaRPr>
          </a:p>
        </p:txBody>
      </p:sp>
      <p:sp>
        <p:nvSpPr>
          <p:cNvPr id="4" name="Rounded Rectangle 3"/>
          <p:cNvSpPr/>
          <p:nvPr/>
        </p:nvSpPr>
        <p:spPr>
          <a:xfrm>
            <a:off x="214497" y="764704"/>
            <a:ext cx="397063" cy="274320"/>
          </a:xfrm>
          <a:prstGeom prst="roundRect">
            <a:avLst/>
          </a:prstGeom>
          <a:solidFill>
            <a:srgbClr val="DB0613"/>
          </a:solidFill>
          <a:ln w="9525" algn="ctr">
            <a:noFill/>
            <a:miter lim="800000"/>
            <a:headEnd/>
            <a:tailEnd/>
          </a:ln>
          <a:effectLst/>
        </p:spPr>
        <p:txBody>
          <a:bodyPr anchor="ctr"/>
          <a:lstStyle/>
          <a:p>
            <a:pPr algn="ctr">
              <a:lnSpc>
                <a:spcPct val="80000"/>
              </a:lnSpc>
            </a:pPr>
            <a:r>
              <a:rPr lang="es-CL" sz="1200" b="1" dirty="0">
                <a:solidFill>
                  <a:srgbClr val="FFFFFF"/>
                </a:solidFill>
                <a:cs typeface="Arial" pitchFamily="34" charset="0"/>
              </a:rPr>
              <a:t>35</a:t>
            </a:r>
          </a:p>
        </p:txBody>
      </p:sp>
      <p:sp>
        <p:nvSpPr>
          <p:cNvPr id="5" name="Rectangle 18"/>
          <p:cNvSpPr>
            <a:spLocks noChangeArrowheads="1"/>
          </p:cNvSpPr>
          <p:nvPr/>
        </p:nvSpPr>
        <p:spPr bwMode="auto">
          <a:xfrm>
            <a:off x="227770" y="2409552"/>
            <a:ext cx="6400800" cy="839807"/>
          </a:xfrm>
          <a:prstGeom prst="rect">
            <a:avLst/>
          </a:prstGeom>
          <a:noFill/>
          <a:ln w="9525" algn="ctr">
            <a:solidFill>
              <a:schemeClr val="bg2"/>
            </a:solidFill>
            <a:miter lim="800000"/>
            <a:headEnd/>
            <a:tailEnd/>
          </a:ln>
          <a:effectLst/>
        </p:spPr>
        <p:txBody>
          <a:bodyPr/>
          <a:lstStyle/>
          <a:p>
            <a:r>
              <a:rPr lang="es-ES" sz="1100" dirty="0"/>
              <a:t>El pago de facturas a proveedores se realiza luego de ingresar una orden de compra, aprobarse la propuesta de un proveedor o suscribirse un contrato con el mismo. Para seleccionar al proveedor se realiza un concurso invitando a cotizar  a  dos  o tres  proveedores. La probabilidad que un proveedor presente una  factura inflada por encima de su propuesta previamente presentada a Rímac es prácticamente nula.</a:t>
            </a:r>
            <a:endParaRPr lang="es-ES" sz="1100" dirty="0">
              <a:solidFill>
                <a:srgbClr val="002060"/>
              </a:solidFill>
            </a:endParaRPr>
          </a:p>
        </p:txBody>
      </p:sp>
      <p:sp>
        <p:nvSpPr>
          <p:cNvPr id="7" name="Text Box 30"/>
          <p:cNvSpPr txBox="1">
            <a:spLocks noChangeArrowheads="1"/>
          </p:cNvSpPr>
          <p:nvPr/>
        </p:nvSpPr>
        <p:spPr bwMode="auto">
          <a:xfrm>
            <a:off x="190747" y="3299257"/>
            <a:ext cx="3671888" cy="276999"/>
          </a:xfrm>
          <a:prstGeom prst="rect">
            <a:avLst/>
          </a:prstGeom>
          <a:noFill/>
          <a:ln w="9525" algn="ctr">
            <a:noFill/>
            <a:miter lim="800000"/>
            <a:headEnd/>
            <a:tailEnd/>
          </a:ln>
          <a:effectLst/>
        </p:spPr>
        <p:txBody>
          <a:bodyPr>
            <a:spAutoFit/>
          </a:bodyPr>
          <a:lstStyle/>
          <a:p>
            <a:pPr>
              <a:spcBef>
                <a:spcPct val="50000"/>
              </a:spcBef>
            </a:pPr>
            <a:r>
              <a:rPr lang="es-CL" sz="1200" b="1" i="1" dirty="0">
                <a:solidFill>
                  <a:srgbClr val="A3A3E0"/>
                </a:solidFill>
              </a:rPr>
              <a:t>Resultados valoración de riesgos</a:t>
            </a:r>
            <a:endParaRPr lang="es-ES" sz="1200" b="1" i="1" dirty="0">
              <a:solidFill>
                <a:srgbClr val="A3A3E0"/>
              </a:solidFill>
            </a:endParaRPr>
          </a:p>
        </p:txBody>
      </p:sp>
      <p:sp>
        <p:nvSpPr>
          <p:cNvPr id="8" name="Rounded Rectangle 7"/>
          <p:cNvSpPr/>
          <p:nvPr/>
        </p:nvSpPr>
        <p:spPr>
          <a:xfrm>
            <a:off x="652842" y="764704"/>
            <a:ext cx="8321040" cy="274320"/>
          </a:xfrm>
          <a:prstGeom prst="roundRect">
            <a:avLst/>
          </a:prstGeom>
          <a:solidFill>
            <a:srgbClr val="DB0613"/>
          </a:solidFill>
          <a:ln w="9525" algn="ctr">
            <a:noFill/>
            <a:miter lim="800000"/>
            <a:headEnd/>
            <a:tailEnd/>
          </a:ln>
          <a:effectLst/>
        </p:spPr>
        <p:txBody>
          <a:bodyPr anchor="ctr"/>
          <a:lstStyle/>
          <a:p>
            <a:pPr>
              <a:lnSpc>
                <a:spcPct val="80000"/>
              </a:lnSpc>
            </a:pPr>
            <a:r>
              <a:rPr lang="es-ES" sz="1200" dirty="0">
                <a:solidFill>
                  <a:schemeClr val="bg1"/>
                </a:solidFill>
              </a:rPr>
              <a:t>Riesgo de una factura sobrevalorada para obtener ganancias fraudulentas.</a:t>
            </a:r>
            <a:endParaRPr lang="es-CL" sz="1200" b="1" dirty="0">
              <a:solidFill>
                <a:schemeClr val="bg1"/>
              </a:solidFill>
              <a:cs typeface="Arial" pitchFamily="34" charset="0"/>
            </a:endParaRPr>
          </a:p>
        </p:txBody>
      </p:sp>
      <p:sp>
        <p:nvSpPr>
          <p:cNvPr id="9" name="Rounded Rectangle 8"/>
          <p:cNvSpPr/>
          <p:nvPr/>
        </p:nvSpPr>
        <p:spPr>
          <a:xfrm>
            <a:off x="227770" y="2202383"/>
            <a:ext cx="64008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Descripción</a:t>
            </a:r>
          </a:p>
        </p:txBody>
      </p:sp>
      <p:sp>
        <p:nvSpPr>
          <p:cNvPr id="10" name="Rounded Rectangle 9"/>
          <p:cNvSpPr/>
          <p:nvPr/>
        </p:nvSpPr>
        <p:spPr>
          <a:xfrm>
            <a:off x="6716066" y="1089119"/>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Categoría  de Riesgo Nivel I</a:t>
            </a:r>
          </a:p>
        </p:txBody>
      </p:sp>
      <p:sp>
        <p:nvSpPr>
          <p:cNvPr id="11" name="Rectangle 18"/>
          <p:cNvSpPr>
            <a:spLocks noChangeArrowheads="1"/>
          </p:cNvSpPr>
          <p:nvPr/>
        </p:nvSpPr>
        <p:spPr bwMode="auto">
          <a:xfrm>
            <a:off x="6716066" y="1316374"/>
            <a:ext cx="2286000" cy="365760"/>
          </a:xfrm>
          <a:prstGeom prst="rect">
            <a:avLst/>
          </a:prstGeom>
          <a:noFill/>
          <a:ln w="9525" algn="ctr">
            <a:solidFill>
              <a:schemeClr val="bg2"/>
            </a:solidFill>
            <a:miter lim="800000"/>
            <a:headEnd/>
            <a:tailEnd/>
          </a:ln>
          <a:effectLst/>
        </p:spPr>
        <p:txBody>
          <a:bodyPr anchor="ctr"/>
          <a:lstStyle/>
          <a:p>
            <a:pPr>
              <a:lnSpc>
                <a:spcPts val="1000"/>
              </a:lnSpc>
            </a:pPr>
            <a:r>
              <a:rPr lang="es-ES" sz="1100" dirty="0"/>
              <a:t>Fraude Externo</a:t>
            </a:r>
          </a:p>
        </p:txBody>
      </p:sp>
      <p:sp>
        <p:nvSpPr>
          <p:cNvPr id="12" name="Rounded Rectangle 11"/>
          <p:cNvSpPr/>
          <p:nvPr/>
        </p:nvSpPr>
        <p:spPr>
          <a:xfrm>
            <a:off x="6716066" y="1725169"/>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Categoría de Riesgo Nivel II</a:t>
            </a:r>
          </a:p>
        </p:txBody>
      </p:sp>
      <p:sp>
        <p:nvSpPr>
          <p:cNvPr id="13" name="Rectangle 18"/>
          <p:cNvSpPr>
            <a:spLocks noChangeArrowheads="1"/>
          </p:cNvSpPr>
          <p:nvPr/>
        </p:nvSpPr>
        <p:spPr bwMode="auto">
          <a:xfrm>
            <a:off x="6716066" y="1942710"/>
            <a:ext cx="2286000" cy="274320"/>
          </a:xfrm>
          <a:prstGeom prst="rect">
            <a:avLst/>
          </a:prstGeom>
          <a:noFill/>
          <a:ln w="9525" algn="ctr">
            <a:solidFill>
              <a:schemeClr val="bg2"/>
            </a:solidFill>
            <a:miter lim="800000"/>
            <a:headEnd/>
            <a:tailEnd/>
          </a:ln>
          <a:effectLst/>
        </p:spPr>
        <p:txBody>
          <a:bodyPr anchor="ctr"/>
          <a:lstStyle/>
          <a:p>
            <a:r>
              <a:rPr lang="es-ES" sz="1100" dirty="0"/>
              <a:t>Robo y fraude</a:t>
            </a:r>
          </a:p>
        </p:txBody>
      </p:sp>
      <p:grpSp>
        <p:nvGrpSpPr>
          <p:cNvPr id="6" name="Group 72"/>
          <p:cNvGrpSpPr/>
          <p:nvPr/>
        </p:nvGrpSpPr>
        <p:grpSpPr>
          <a:xfrm>
            <a:off x="6716066" y="2243313"/>
            <a:ext cx="2286000" cy="504056"/>
            <a:chOff x="6716066" y="2972444"/>
            <a:chExt cx="2286000" cy="504056"/>
          </a:xfrm>
        </p:grpSpPr>
        <p:sp>
          <p:nvSpPr>
            <p:cNvPr id="15" name="Rounded Rectangle 14"/>
            <p:cNvSpPr/>
            <p:nvPr/>
          </p:nvSpPr>
          <p:spPr>
            <a:xfrm>
              <a:off x="6716066" y="2972444"/>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Categoría de Riesgo Nivel III</a:t>
              </a:r>
            </a:p>
          </p:txBody>
        </p:sp>
        <p:sp>
          <p:nvSpPr>
            <p:cNvPr id="16" name="Rectangle 18"/>
            <p:cNvSpPr>
              <a:spLocks noChangeArrowheads="1"/>
            </p:cNvSpPr>
            <p:nvPr/>
          </p:nvSpPr>
          <p:spPr bwMode="auto">
            <a:xfrm>
              <a:off x="6716066" y="3202180"/>
              <a:ext cx="2286000" cy="274320"/>
            </a:xfrm>
            <a:prstGeom prst="rect">
              <a:avLst/>
            </a:prstGeom>
            <a:noFill/>
            <a:ln w="9525" algn="ctr">
              <a:solidFill>
                <a:schemeClr val="bg2"/>
              </a:solidFill>
              <a:miter lim="800000"/>
              <a:headEnd/>
              <a:tailEnd/>
            </a:ln>
            <a:effectLst/>
          </p:spPr>
          <p:txBody>
            <a:bodyPr anchor="ctr"/>
            <a:lstStyle/>
            <a:p>
              <a:r>
                <a:rPr lang="es-ES" sz="1000" dirty="0"/>
                <a:t>Factura fraudulenta de Terceros (proveedores, canales, operadores, etc.)</a:t>
              </a:r>
              <a:endParaRPr lang="es-ES" sz="1000" dirty="0">
                <a:solidFill>
                  <a:srgbClr val="002060"/>
                </a:solidFill>
              </a:endParaRPr>
            </a:p>
          </p:txBody>
        </p:sp>
      </p:grpSp>
      <p:sp>
        <p:nvSpPr>
          <p:cNvPr id="17" name="Rounded Rectangle 16"/>
          <p:cNvSpPr/>
          <p:nvPr/>
        </p:nvSpPr>
        <p:spPr>
          <a:xfrm>
            <a:off x="227770" y="1110038"/>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Macroproceso</a:t>
            </a:r>
          </a:p>
        </p:txBody>
      </p:sp>
      <p:sp>
        <p:nvSpPr>
          <p:cNvPr id="18" name="Rectangle 18"/>
          <p:cNvSpPr>
            <a:spLocks noChangeArrowheads="1"/>
          </p:cNvSpPr>
          <p:nvPr/>
        </p:nvSpPr>
        <p:spPr bwMode="auto">
          <a:xfrm>
            <a:off x="2568409" y="1110038"/>
            <a:ext cx="4060161" cy="182880"/>
          </a:xfrm>
          <a:prstGeom prst="rect">
            <a:avLst/>
          </a:prstGeom>
          <a:noFill/>
          <a:ln w="9525" algn="ctr">
            <a:solidFill>
              <a:schemeClr val="bg2"/>
            </a:solidFill>
            <a:miter lim="800000"/>
            <a:headEnd/>
            <a:tailEnd/>
          </a:ln>
          <a:effectLst/>
        </p:spPr>
        <p:txBody>
          <a:bodyPr anchor="ctr"/>
          <a:lstStyle/>
          <a:p>
            <a:r>
              <a:rPr lang="es-ES" sz="1100" dirty="0"/>
              <a:t>Administración de Portafolio de Inversiones</a:t>
            </a:r>
          </a:p>
        </p:txBody>
      </p:sp>
      <p:sp>
        <p:nvSpPr>
          <p:cNvPr id="19" name="Rounded Rectangle 18"/>
          <p:cNvSpPr/>
          <p:nvPr/>
        </p:nvSpPr>
        <p:spPr>
          <a:xfrm>
            <a:off x="227770" y="1339045"/>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Proceso</a:t>
            </a:r>
          </a:p>
        </p:txBody>
      </p:sp>
      <p:sp>
        <p:nvSpPr>
          <p:cNvPr id="20" name="Rectangle 18"/>
          <p:cNvSpPr>
            <a:spLocks noChangeArrowheads="1"/>
          </p:cNvSpPr>
          <p:nvPr/>
        </p:nvSpPr>
        <p:spPr bwMode="auto">
          <a:xfrm>
            <a:off x="2568409" y="1339045"/>
            <a:ext cx="4060161" cy="182880"/>
          </a:xfrm>
          <a:prstGeom prst="rect">
            <a:avLst/>
          </a:prstGeom>
          <a:noFill/>
          <a:ln w="9525" algn="ctr">
            <a:solidFill>
              <a:schemeClr val="bg2"/>
            </a:solidFill>
            <a:miter lim="800000"/>
            <a:headEnd/>
            <a:tailEnd/>
          </a:ln>
          <a:effectLst/>
        </p:spPr>
        <p:txBody>
          <a:bodyPr anchor="ctr"/>
          <a:lstStyle/>
          <a:p>
            <a:r>
              <a:rPr lang="es-ES" sz="1100" dirty="0"/>
              <a:t>Administración de fondos</a:t>
            </a:r>
          </a:p>
        </p:txBody>
      </p:sp>
      <p:sp>
        <p:nvSpPr>
          <p:cNvPr id="21" name="Rectangle 29"/>
          <p:cNvSpPr>
            <a:spLocks noChangeArrowheads="1"/>
          </p:cNvSpPr>
          <p:nvPr/>
        </p:nvSpPr>
        <p:spPr bwMode="auto">
          <a:xfrm>
            <a:off x="107504" y="3423715"/>
            <a:ext cx="8961120" cy="1607926"/>
          </a:xfrm>
          <a:prstGeom prst="rect">
            <a:avLst/>
          </a:prstGeom>
          <a:noFill/>
          <a:ln w="19050" cap="rnd" algn="ctr">
            <a:solidFill>
              <a:schemeClr val="bg2"/>
            </a:solidFill>
            <a:prstDash val="sysDot"/>
            <a:miter lim="800000"/>
            <a:headEnd/>
            <a:tailEnd/>
          </a:ln>
          <a:effectLst/>
        </p:spPr>
        <p:txBody>
          <a:bodyPr wrap="none" anchor="ctr"/>
          <a:lstStyle/>
          <a:p>
            <a:endParaRPr lang="en-US">
              <a:solidFill>
                <a:srgbClr val="002060"/>
              </a:solidFill>
            </a:endParaRPr>
          </a:p>
        </p:txBody>
      </p:sp>
      <p:sp>
        <p:nvSpPr>
          <p:cNvPr id="22" name="Rounded Rectangle 21"/>
          <p:cNvSpPr/>
          <p:nvPr/>
        </p:nvSpPr>
        <p:spPr>
          <a:xfrm>
            <a:off x="902959" y="4382163"/>
            <a:ext cx="1920240" cy="182880"/>
          </a:xfrm>
          <a:prstGeom prst="roundRect">
            <a:avLst/>
          </a:prstGeom>
          <a:solidFill>
            <a:srgbClr val="DB0613"/>
          </a:solidFill>
          <a:ln w="9525" algn="ctr">
            <a:noFill/>
            <a:miter lim="800000"/>
            <a:headEnd/>
            <a:tailEnd/>
          </a:ln>
          <a:effectLst/>
        </p:spPr>
        <p:txBody>
          <a:bodyPr tIns="91440" anchor="ctr"/>
          <a:lstStyle/>
          <a:p>
            <a:pPr>
              <a:lnSpc>
                <a:spcPct val="80000"/>
              </a:lnSpc>
            </a:pPr>
            <a:r>
              <a:rPr lang="es-CL" sz="1100" b="1" dirty="0">
                <a:solidFill>
                  <a:srgbClr val="FFFFFF"/>
                </a:solidFill>
                <a:cs typeface="Arial" pitchFamily="34" charset="0"/>
              </a:rPr>
              <a:t>Pérdida Esperada Anual</a:t>
            </a:r>
          </a:p>
        </p:txBody>
      </p:sp>
      <p:sp>
        <p:nvSpPr>
          <p:cNvPr id="23" name="Rectangle 18"/>
          <p:cNvSpPr>
            <a:spLocks noChangeArrowheads="1"/>
          </p:cNvSpPr>
          <p:nvPr/>
        </p:nvSpPr>
        <p:spPr bwMode="auto">
          <a:xfrm>
            <a:off x="2859920" y="4382163"/>
            <a:ext cx="1554480" cy="182880"/>
          </a:xfrm>
          <a:prstGeom prst="rect">
            <a:avLst/>
          </a:prstGeom>
          <a:solidFill>
            <a:schemeClr val="bg1"/>
          </a:solidFill>
          <a:ln w="9525" algn="ctr">
            <a:solidFill>
              <a:schemeClr val="bg2"/>
            </a:solidFill>
            <a:miter lim="800000"/>
            <a:headEnd/>
            <a:tailEnd/>
          </a:ln>
          <a:effectLst/>
        </p:spPr>
        <p:txBody>
          <a:bodyPr anchor="ctr"/>
          <a:lstStyle/>
          <a:p>
            <a:pPr algn="ctr"/>
            <a:r>
              <a:rPr lang="es-ES" sz="1100" dirty="0"/>
              <a:t>0</a:t>
            </a:r>
          </a:p>
        </p:txBody>
      </p:sp>
      <p:sp>
        <p:nvSpPr>
          <p:cNvPr id="24" name="Rounded Rectangle 23"/>
          <p:cNvSpPr/>
          <p:nvPr/>
        </p:nvSpPr>
        <p:spPr>
          <a:xfrm>
            <a:off x="902959" y="4611775"/>
            <a:ext cx="192024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VaR Cualitativo Anual</a:t>
            </a:r>
          </a:p>
        </p:txBody>
      </p:sp>
      <p:sp>
        <p:nvSpPr>
          <p:cNvPr id="25" name="Rectangle 18"/>
          <p:cNvSpPr>
            <a:spLocks noChangeArrowheads="1"/>
          </p:cNvSpPr>
          <p:nvPr/>
        </p:nvSpPr>
        <p:spPr bwMode="auto">
          <a:xfrm>
            <a:off x="2859920" y="4611775"/>
            <a:ext cx="1554480" cy="182880"/>
          </a:xfrm>
          <a:prstGeom prst="rect">
            <a:avLst/>
          </a:prstGeom>
          <a:solidFill>
            <a:schemeClr val="bg1"/>
          </a:solidFill>
          <a:ln w="9525" algn="ctr">
            <a:solidFill>
              <a:schemeClr val="bg2"/>
            </a:solidFill>
            <a:miter lim="800000"/>
            <a:headEnd/>
            <a:tailEnd/>
          </a:ln>
          <a:effectLst/>
        </p:spPr>
        <p:txBody>
          <a:bodyPr anchor="ctr"/>
          <a:lstStyle/>
          <a:p>
            <a:pPr algn="ctr"/>
            <a:r>
              <a:rPr lang="es-ES" sz="1100" dirty="0"/>
              <a:t>0</a:t>
            </a:r>
          </a:p>
        </p:txBody>
      </p:sp>
      <p:sp>
        <p:nvSpPr>
          <p:cNvPr id="26" name="Rounded Rectangle 25"/>
          <p:cNvSpPr/>
          <p:nvPr/>
        </p:nvSpPr>
        <p:spPr>
          <a:xfrm>
            <a:off x="891084" y="3618777"/>
            <a:ext cx="192024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Frecuencia  Evento Pérdida</a:t>
            </a:r>
          </a:p>
        </p:txBody>
      </p:sp>
      <p:sp>
        <p:nvSpPr>
          <p:cNvPr id="27" name="Rectangle 18"/>
          <p:cNvSpPr>
            <a:spLocks noChangeArrowheads="1"/>
          </p:cNvSpPr>
          <p:nvPr/>
        </p:nvSpPr>
        <p:spPr bwMode="auto">
          <a:xfrm>
            <a:off x="2859920" y="3618777"/>
            <a:ext cx="1554480" cy="182880"/>
          </a:xfrm>
          <a:prstGeom prst="rect">
            <a:avLst/>
          </a:prstGeom>
          <a:solidFill>
            <a:schemeClr val="bg1"/>
          </a:solidFill>
          <a:ln w="9525" algn="ctr">
            <a:solidFill>
              <a:schemeClr val="bg2"/>
            </a:solidFill>
            <a:miter lim="800000"/>
            <a:headEnd/>
            <a:tailEnd/>
          </a:ln>
          <a:effectLst/>
        </p:spPr>
        <p:txBody>
          <a:bodyPr anchor="ctr"/>
          <a:lstStyle/>
          <a:p>
            <a:pPr algn="ctr"/>
            <a:r>
              <a:rPr lang="es-ES" sz="1100" dirty="0"/>
              <a:t>1 vez al siglo</a:t>
            </a:r>
          </a:p>
        </p:txBody>
      </p:sp>
      <p:sp>
        <p:nvSpPr>
          <p:cNvPr id="28" name="Rounded Rectangle 27"/>
          <p:cNvSpPr/>
          <p:nvPr/>
        </p:nvSpPr>
        <p:spPr>
          <a:xfrm>
            <a:off x="891084" y="3848389"/>
            <a:ext cx="192024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Impacto Medio Evento</a:t>
            </a:r>
          </a:p>
        </p:txBody>
      </p:sp>
      <p:sp>
        <p:nvSpPr>
          <p:cNvPr id="29" name="Rectangle 18"/>
          <p:cNvSpPr>
            <a:spLocks noChangeArrowheads="1"/>
          </p:cNvSpPr>
          <p:nvPr/>
        </p:nvSpPr>
        <p:spPr bwMode="auto">
          <a:xfrm>
            <a:off x="2859920" y="3848389"/>
            <a:ext cx="1554480" cy="182880"/>
          </a:xfrm>
          <a:prstGeom prst="rect">
            <a:avLst/>
          </a:prstGeom>
          <a:solidFill>
            <a:schemeClr val="bg1"/>
          </a:solidFill>
          <a:ln w="9525" algn="ctr">
            <a:solidFill>
              <a:schemeClr val="bg2"/>
            </a:solidFill>
            <a:miter lim="800000"/>
            <a:headEnd/>
            <a:tailEnd/>
          </a:ln>
          <a:effectLst/>
        </p:spPr>
        <p:txBody>
          <a:bodyPr anchor="ctr"/>
          <a:lstStyle/>
          <a:p>
            <a:pPr algn="ctr"/>
            <a:r>
              <a:rPr lang="es-ES" sz="1100" dirty="0"/>
              <a:t>0</a:t>
            </a:r>
          </a:p>
        </p:txBody>
      </p:sp>
      <p:sp>
        <p:nvSpPr>
          <p:cNvPr id="30" name="Rounded Rectangle 29"/>
          <p:cNvSpPr/>
          <p:nvPr/>
        </p:nvSpPr>
        <p:spPr>
          <a:xfrm>
            <a:off x="891084" y="4083969"/>
            <a:ext cx="192024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Impacto Peor Escenario</a:t>
            </a:r>
          </a:p>
        </p:txBody>
      </p:sp>
      <p:sp>
        <p:nvSpPr>
          <p:cNvPr id="31" name="Rectangle 18"/>
          <p:cNvSpPr>
            <a:spLocks noChangeArrowheads="1"/>
          </p:cNvSpPr>
          <p:nvPr/>
        </p:nvSpPr>
        <p:spPr bwMode="auto">
          <a:xfrm>
            <a:off x="2859920" y="4083969"/>
            <a:ext cx="1554480" cy="182880"/>
          </a:xfrm>
          <a:prstGeom prst="rect">
            <a:avLst/>
          </a:prstGeom>
          <a:solidFill>
            <a:schemeClr val="bg1"/>
          </a:solidFill>
          <a:ln w="9525" algn="ctr">
            <a:solidFill>
              <a:schemeClr val="bg2"/>
            </a:solidFill>
            <a:miter lim="800000"/>
            <a:headEnd/>
            <a:tailEnd/>
          </a:ln>
          <a:effectLst/>
        </p:spPr>
        <p:txBody>
          <a:bodyPr anchor="ctr"/>
          <a:lstStyle/>
          <a:p>
            <a:pPr algn="ctr"/>
            <a:r>
              <a:rPr lang="es-ES" sz="1100" dirty="0"/>
              <a:t>0</a:t>
            </a:r>
          </a:p>
        </p:txBody>
      </p:sp>
      <p:sp>
        <p:nvSpPr>
          <p:cNvPr id="32" name="AutoShape 47"/>
          <p:cNvSpPr>
            <a:spLocks noChangeAspect="1" noChangeArrowheads="1"/>
          </p:cNvSpPr>
          <p:nvPr/>
        </p:nvSpPr>
        <p:spPr bwMode="blackWhite">
          <a:xfrm>
            <a:off x="263033" y="3533122"/>
            <a:ext cx="492543" cy="1339083"/>
          </a:xfrm>
          <a:prstGeom prst="rightArrow">
            <a:avLst>
              <a:gd name="adj1" fmla="val 100000"/>
              <a:gd name="adj2" fmla="val 11009"/>
            </a:avLst>
          </a:prstGeom>
          <a:solidFill>
            <a:srgbClr val="969696"/>
          </a:solidFill>
          <a:ln w="12700">
            <a:noFill/>
            <a:miter lim="800000"/>
            <a:headEnd/>
            <a:tailEnd/>
          </a:ln>
          <a:effectLst>
            <a:outerShdw dist="35921" dir="2700000" algn="ctr" rotWithShape="0">
              <a:schemeClr val="bg2"/>
            </a:outerShdw>
          </a:effectLst>
        </p:spPr>
        <p:txBody>
          <a:bodyPr vert="vert270" anchor="ctr"/>
          <a:lstStyle/>
          <a:p>
            <a:pPr algn="ctr">
              <a:lnSpc>
                <a:spcPts val="1000"/>
              </a:lnSpc>
            </a:pPr>
            <a:r>
              <a:rPr lang="es-ES" sz="1200" b="1" noProof="1">
                <a:solidFill>
                  <a:srgbClr val="FFFFFF"/>
                </a:solidFill>
                <a:cs typeface="Arial" charset="0"/>
              </a:rPr>
              <a:t>Evaluación Riesgo Operacional</a:t>
            </a:r>
          </a:p>
        </p:txBody>
      </p:sp>
      <p:sp>
        <p:nvSpPr>
          <p:cNvPr id="59" name="Rounded Rectangle 58"/>
          <p:cNvSpPr/>
          <p:nvPr/>
        </p:nvSpPr>
        <p:spPr>
          <a:xfrm>
            <a:off x="223049" y="1554311"/>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Subproceso</a:t>
            </a:r>
          </a:p>
        </p:txBody>
      </p:sp>
      <p:sp>
        <p:nvSpPr>
          <p:cNvPr id="60" name="Rectangle 18"/>
          <p:cNvSpPr>
            <a:spLocks noChangeArrowheads="1"/>
          </p:cNvSpPr>
          <p:nvPr/>
        </p:nvSpPr>
        <p:spPr bwMode="auto">
          <a:xfrm>
            <a:off x="2563688" y="1554311"/>
            <a:ext cx="4064882" cy="182880"/>
          </a:xfrm>
          <a:prstGeom prst="rect">
            <a:avLst/>
          </a:prstGeom>
          <a:noFill/>
          <a:ln w="9525" algn="ctr">
            <a:solidFill>
              <a:schemeClr val="bg2"/>
            </a:solidFill>
            <a:miter lim="800000"/>
            <a:headEnd/>
            <a:tailEnd/>
          </a:ln>
          <a:effectLst/>
        </p:spPr>
        <p:txBody>
          <a:bodyPr anchor="ctr"/>
          <a:lstStyle/>
          <a:p>
            <a:r>
              <a:rPr lang="es-ES" sz="1100" dirty="0"/>
              <a:t>Ingreso y registro de operaciones de inversión</a:t>
            </a:r>
          </a:p>
        </p:txBody>
      </p:sp>
      <p:sp>
        <p:nvSpPr>
          <p:cNvPr id="57" name="Rounded Rectangle 56"/>
          <p:cNvSpPr/>
          <p:nvPr/>
        </p:nvSpPr>
        <p:spPr>
          <a:xfrm>
            <a:off x="223049" y="1771093"/>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Línea de Negocio</a:t>
            </a:r>
          </a:p>
        </p:txBody>
      </p:sp>
      <p:sp>
        <p:nvSpPr>
          <p:cNvPr id="58" name="Rectangle 18"/>
          <p:cNvSpPr>
            <a:spLocks noChangeArrowheads="1"/>
          </p:cNvSpPr>
          <p:nvPr/>
        </p:nvSpPr>
        <p:spPr bwMode="auto">
          <a:xfrm>
            <a:off x="2563688" y="1771093"/>
            <a:ext cx="4064882" cy="182880"/>
          </a:xfrm>
          <a:prstGeom prst="rect">
            <a:avLst/>
          </a:prstGeom>
          <a:noFill/>
          <a:ln w="9525" algn="ctr">
            <a:solidFill>
              <a:schemeClr val="bg2"/>
            </a:solidFill>
            <a:miter lim="800000"/>
            <a:headEnd/>
            <a:tailEnd/>
          </a:ln>
          <a:effectLst/>
        </p:spPr>
        <p:txBody>
          <a:bodyPr anchor="ctr"/>
          <a:lstStyle/>
          <a:p>
            <a:r>
              <a:rPr lang="es-ES" sz="1100" dirty="0"/>
              <a:t>Negociación y ventas</a:t>
            </a:r>
          </a:p>
        </p:txBody>
      </p:sp>
      <p:sp>
        <p:nvSpPr>
          <p:cNvPr id="61" name="Rounded Rectangle 60"/>
          <p:cNvSpPr/>
          <p:nvPr/>
        </p:nvSpPr>
        <p:spPr>
          <a:xfrm>
            <a:off x="223049" y="1986359"/>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Responsable</a:t>
            </a:r>
          </a:p>
        </p:txBody>
      </p:sp>
      <p:sp>
        <p:nvSpPr>
          <p:cNvPr id="62" name="Rectangle 18"/>
          <p:cNvSpPr>
            <a:spLocks noChangeArrowheads="1"/>
          </p:cNvSpPr>
          <p:nvPr/>
        </p:nvSpPr>
        <p:spPr bwMode="auto">
          <a:xfrm>
            <a:off x="2558967" y="1986359"/>
            <a:ext cx="4069603" cy="182880"/>
          </a:xfrm>
          <a:prstGeom prst="rect">
            <a:avLst/>
          </a:prstGeom>
          <a:noFill/>
          <a:ln w="9525" algn="ctr">
            <a:solidFill>
              <a:schemeClr val="bg2"/>
            </a:solidFill>
            <a:miter lim="800000"/>
            <a:headEnd/>
            <a:tailEnd/>
          </a:ln>
          <a:effectLst/>
        </p:spPr>
        <p:txBody>
          <a:bodyPr anchor="ctr"/>
          <a:lstStyle/>
          <a:p>
            <a:r>
              <a:rPr lang="es-ES" sz="1100" dirty="0"/>
              <a:t>Gerente de Inversiones Inmobiliarias </a:t>
            </a:r>
          </a:p>
        </p:txBody>
      </p:sp>
      <p:sp>
        <p:nvSpPr>
          <p:cNvPr id="63" name="Rounded Rectangle 14"/>
          <p:cNvSpPr/>
          <p:nvPr/>
        </p:nvSpPr>
        <p:spPr>
          <a:xfrm>
            <a:off x="6716066" y="2817311"/>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Origen del Riesgo</a:t>
            </a:r>
          </a:p>
        </p:txBody>
      </p:sp>
      <p:sp>
        <p:nvSpPr>
          <p:cNvPr id="64" name="Rectangle 18"/>
          <p:cNvSpPr>
            <a:spLocks noChangeArrowheads="1"/>
          </p:cNvSpPr>
          <p:nvPr/>
        </p:nvSpPr>
        <p:spPr bwMode="auto">
          <a:xfrm>
            <a:off x="6716066" y="3032576"/>
            <a:ext cx="2286000" cy="270000"/>
          </a:xfrm>
          <a:prstGeom prst="rect">
            <a:avLst/>
          </a:prstGeom>
          <a:noFill/>
          <a:ln w="9525" algn="ctr">
            <a:solidFill>
              <a:schemeClr val="bg2"/>
            </a:solidFill>
            <a:miter lim="800000"/>
            <a:headEnd/>
            <a:tailEnd/>
          </a:ln>
          <a:effectLst/>
        </p:spPr>
        <p:txBody>
          <a:bodyPr anchor="ctr"/>
          <a:lstStyle/>
          <a:p>
            <a:r>
              <a:rPr lang="es-ES" sz="1100" dirty="0">
                <a:solidFill>
                  <a:srgbClr val="000000"/>
                </a:solidFill>
              </a:rPr>
              <a:t>Personas</a:t>
            </a:r>
          </a:p>
        </p:txBody>
      </p:sp>
      <p:sp>
        <p:nvSpPr>
          <p:cNvPr id="65" name="AutoShape 179"/>
          <p:cNvSpPr>
            <a:spLocks noChangeArrowheads="1"/>
          </p:cNvSpPr>
          <p:nvPr/>
        </p:nvSpPr>
        <p:spPr bwMode="auto">
          <a:xfrm>
            <a:off x="4932039" y="3537391"/>
            <a:ext cx="4037169" cy="864000"/>
          </a:xfrm>
          <a:prstGeom prst="roundRect">
            <a:avLst>
              <a:gd name="adj" fmla="val 9481"/>
            </a:avLst>
          </a:prstGeom>
          <a:solidFill>
            <a:schemeClr val="accent1">
              <a:lumMod val="20000"/>
              <a:lumOff val="80000"/>
            </a:schemeClr>
          </a:solidFill>
          <a:ln w="9525" algn="ctr">
            <a:noFill/>
            <a:round/>
            <a:headEnd/>
            <a:tailEnd/>
          </a:ln>
          <a:effectLst/>
        </p:spPr>
        <p:txBody>
          <a:bodyPr wrap="none" anchor="ctr"/>
          <a:lstStyle/>
          <a:p>
            <a:endParaRPr lang="es-CL">
              <a:solidFill>
                <a:srgbClr val="002060"/>
              </a:solidFill>
            </a:endParaRPr>
          </a:p>
        </p:txBody>
      </p:sp>
      <p:sp>
        <p:nvSpPr>
          <p:cNvPr id="66" name="AutoShape 47"/>
          <p:cNvSpPr>
            <a:spLocks noChangeArrowheads="1"/>
          </p:cNvSpPr>
          <p:nvPr/>
        </p:nvSpPr>
        <p:spPr bwMode="blackWhite">
          <a:xfrm>
            <a:off x="4678512" y="3538893"/>
            <a:ext cx="353942" cy="864000"/>
          </a:xfrm>
          <a:prstGeom prst="rightArrow">
            <a:avLst>
              <a:gd name="adj1" fmla="val 100000"/>
              <a:gd name="adj2" fmla="val 11009"/>
            </a:avLst>
          </a:prstGeom>
          <a:solidFill>
            <a:srgbClr val="969696"/>
          </a:solidFill>
          <a:ln w="12700">
            <a:noFill/>
            <a:miter lim="800000"/>
            <a:headEnd/>
            <a:tailEnd/>
          </a:ln>
          <a:effectLst>
            <a:outerShdw dist="35921" dir="2700000" algn="ctr" rotWithShape="0">
              <a:schemeClr val="bg2"/>
            </a:outerShdw>
          </a:effectLst>
        </p:spPr>
        <p:txBody>
          <a:bodyPr vert="vert270" anchor="ctr"/>
          <a:lstStyle/>
          <a:p>
            <a:pPr algn="ctr">
              <a:lnSpc>
                <a:spcPts val="1000"/>
              </a:lnSpc>
            </a:pPr>
            <a:r>
              <a:rPr lang="es-ES" sz="1100" b="1" noProof="1">
                <a:solidFill>
                  <a:srgbClr val="FFFFFF"/>
                </a:solidFill>
                <a:cs typeface="Arial" charset="0"/>
              </a:rPr>
              <a:t>Impacto Reputacional</a:t>
            </a:r>
          </a:p>
        </p:txBody>
      </p:sp>
      <p:sp>
        <p:nvSpPr>
          <p:cNvPr id="67" name="Rectangle 18"/>
          <p:cNvSpPr>
            <a:spLocks noChangeArrowheads="1"/>
          </p:cNvSpPr>
          <p:nvPr/>
        </p:nvSpPr>
        <p:spPr bwMode="auto">
          <a:xfrm>
            <a:off x="8334310" y="3612658"/>
            <a:ext cx="548640" cy="170094"/>
          </a:xfrm>
          <a:prstGeom prst="rect">
            <a:avLst/>
          </a:prstGeom>
          <a:solidFill>
            <a:schemeClr val="bg1"/>
          </a:solidFill>
          <a:ln w="9525" algn="ctr">
            <a:solidFill>
              <a:schemeClr val="bg2"/>
            </a:solidFill>
            <a:miter lim="800000"/>
            <a:headEnd/>
            <a:tailEnd/>
          </a:ln>
          <a:effectLst/>
        </p:spPr>
        <p:txBody>
          <a:bodyPr anchor="ctr"/>
          <a:lstStyle/>
          <a:p>
            <a:pPr algn="ctr"/>
            <a:r>
              <a:rPr lang="es-ES" sz="1100" dirty="0">
                <a:solidFill>
                  <a:srgbClr val="002060"/>
                </a:solidFill>
              </a:rPr>
              <a:t>1</a:t>
            </a:r>
          </a:p>
        </p:txBody>
      </p:sp>
      <p:sp>
        <p:nvSpPr>
          <p:cNvPr id="68" name="Rounded Rectangle 67"/>
          <p:cNvSpPr/>
          <p:nvPr/>
        </p:nvSpPr>
        <p:spPr>
          <a:xfrm>
            <a:off x="5102950" y="3612658"/>
            <a:ext cx="3132000" cy="170094"/>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Afectación a Clientes</a:t>
            </a:r>
          </a:p>
        </p:txBody>
      </p:sp>
      <p:sp>
        <p:nvSpPr>
          <p:cNvPr id="69" name="Rectangle 18"/>
          <p:cNvSpPr>
            <a:spLocks noChangeArrowheads="1"/>
          </p:cNvSpPr>
          <p:nvPr/>
        </p:nvSpPr>
        <p:spPr bwMode="auto">
          <a:xfrm>
            <a:off x="5102950" y="3830815"/>
            <a:ext cx="3780000" cy="469509"/>
          </a:xfrm>
          <a:prstGeom prst="rect">
            <a:avLst/>
          </a:prstGeom>
          <a:solidFill>
            <a:schemeClr val="bg1"/>
          </a:solidFill>
          <a:ln w="9525" algn="ctr">
            <a:solidFill>
              <a:schemeClr val="bg2"/>
            </a:solidFill>
            <a:miter lim="800000"/>
            <a:headEnd/>
            <a:tailEnd/>
          </a:ln>
          <a:effectLst/>
        </p:spPr>
        <p:txBody>
          <a:bodyPr anchor="ctr"/>
          <a:lstStyle/>
          <a:p>
            <a:r>
              <a:rPr lang="es-ES" sz="1100" dirty="0">
                <a:solidFill>
                  <a:srgbClr val="000000"/>
                </a:solidFill>
              </a:rPr>
              <a:t>La exposición de la imagen es únicamente interna y limitada.</a:t>
            </a:r>
          </a:p>
        </p:txBody>
      </p:sp>
      <p:sp>
        <p:nvSpPr>
          <p:cNvPr id="73" name="AutoShape 179"/>
          <p:cNvSpPr>
            <a:spLocks noChangeArrowheads="1"/>
          </p:cNvSpPr>
          <p:nvPr/>
        </p:nvSpPr>
        <p:spPr bwMode="auto">
          <a:xfrm>
            <a:off x="4927319" y="4441608"/>
            <a:ext cx="4037169" cy="892800"/>
          </a:xfrm>
          <a:prstGeom prst="roundRect">
            <a:avLst>
              <a:gd name="adj" fmla="val 9481"/>
            </a:avLst>
          </a:prstGeom>
          <a:solidFill>
            <a:schemeClr val="accent1">
              <a:lumMod val="20000"/>
              <a:lumOff val="80000"/>
            </a:schemeClr>
          </a:solidFill>
          <a:ln w="9525" algn="ctr">
            <a:noFill/>
            <a:round/>
            <a:headEnd/>
            <a:tailEnd/>
          </a:ln>
          <a:effectLst/>
        </p:spPr>
        <p:txBody>
          <a:bodyPr wrap="none" anchor="ctr"/>
          <a:lstStyle/>
          <a:p>
            <a:endParaRPr lang="es-CL">
              <a:solidFill>
                <a:srgbClr val="002060"/>
              </a:solidFill>
            </a:endParaRPr>
          </a:p>
        </p:txBody>
      </p:sp>
      <p:sp>
        <p:nvSpPr>
          <p:cNvPr id="74" name="AutoShape 47"/>
          <p:cNvSpPr>
            <a:spLocks noChangeArrowheads="1"/>
          </p:cNvSpPr>
          <p:nvPr/>
        </p:nvSpPr>
        <p:spPr bwMode="blackWhite">
          <a:xfrm>
            <a:off x="4673792" y="4443110"/>
            <a:ext cx="352800" cy="892800"/>
          </a:xfrm>
          <a:prstGeom prst="rightArrow">
            <a:avLst>
              <a:gd name="adj1" fmla="val 100000"/>
              <a:gd name="adj2" fmla="val 11009"/>
            </a:avLst>
          </a:prstGeom>
          <a:solidFill>
            <a:srgbClr val="969696"/>
          </a:solidFill>
          <a:ln w="12700">
            <a:noFill/>
            <a:miter lim="800000"/>
            <a:headEnd/>
            <a:tailEnd/>
          </a:ln>
          <a:effectLst>
            <a:outerShdw dist="35921" dir="2700000" algn="ctr" rotWithShape="0">
              <a:schemeClr val="bg2"/>
            </a:outerShdw>
          </a:effectLst>
        </p:spPr>
        <p:txBody>
          <a:bodyPr vert="vert270" anchor="ctr"/>
          <a:lstStyle/>
          <a:p>
            <a:pPr algn="ctr">
              <a:lnSpc>
                <a:spcPts val="1000"/>
              </a:lnSpc>
            </a:pPr>
            <a:r>
              <a:rPr lang="es-ES" sz="1100" b="1" noProof="1">
                <a:solidFill>
                  <a:srgbClr val="FFFFFF"/>
                </a:solidFill>
                <a:cs typeface="Arial" charset="0"/>
              </a:rPr>
              <a:t>Cuestionarios</a:t>
            </a:r>
          </a:p>
        </p:txBody>
      </p:sp>
      <p:sp>
        <p:nvSpPr>
          <p:cNvPr id="76" name="Rounded Rectangle 38"/>
          <p:cNvSpPr/>
          <p:nvPr/>
        </p:nvSpPr>
        <p:spPr>
          <a:xfrm>
            <a:off x="5098230" y="4516875"/>
            <a:ext cx="3132000" cy="170094"/>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Criterios de Evaluación</a:t>
            </a:r>
          </a:p>
        </p:txBody>
      </p:sp>
      <p:sp>
        <p:nvSpPr>
          <p:cNvPr id="77" name="Rectangle 18"/>
          <p:cNvSpPr>
            <a:spLocks noChangeArrowheads="1"/>
          </p:cNvSpPr>
          <p:nvPr/>
        </p:nvSpPr>
        <p:spPr bwMode="auto">
          <a:xfrm>
            <a:off x="5102950" y="4730048"/>
            <a:ext cx="3780000" cy="469509"/>
          </a:xfrm>
          <a:prstGeom prst="rect">
            <a:avLst/>
          </a:prstGeom>
          <a:solidFill>
            <a:schemeClr val="bg1"/>
          </a:solidFill>
          <a:ln w="9525" algn="ctr">
            <a:solidFill>
              <a:schemeClr val="bg2"/>
            </a:solidFill>
            <a:miter lim="800000"/>
            <a:headEnd/>
            <a:tailEnd/>
          </a:ln>
          <a:effectLst/>
        </p:spPr>
        <p:txBody>
          <a:bodyPr anchor="ctr"/>
          <a:lstStyle/>
          <a:p>
            <a:r>
              <a:rPr lang="es-PE" sz="1100" dirty="0">
                <a:solidFill>
                  <a:srgbClr val="000000"/>
                </a:solidFill>
              </a:rPr>
              <a:t>Debido a la forma de contratación de proveedores , lo probabilidad de ocurrencia del evento es prácticamente nula.</a:t>
            </a:r>
            <a:endParaRPr lang="es-ES" sz="1100" dirty="0">
              <a:solidFill>
                <a:srgbClr val="000000"/>
              </a:solidFill>
            </a:endParaRPr>
          </a:p>
        </p:txBody>
      </p:sp>
      <p:sp>
        <p:nvSpPr>
          <p:cNvPr id="78" name="Text Box 30"/>
          <p:cNvSpPr txBox="1">
            <a:spLocks noChangeArrowheads="1"/>
          </p:cNvSpPr>
          <p:nvPr/>
        </p:nvSpPr>
        <p:spPr bwMode="auto">
          <a:xfrm>
            <a:off x="190746" y="4977551"/>
            <a:ext cx="3996000" cy="276999"/>
          </a:xfrm>
          <a:prstGeom prst="rect">
            <a:avLst/>
          </a:prstGeom>
          <a:noFill/>
          <a:ln w="9525" algn="ctr">
            <a:noFill/>
            <a:miter lim="800000"/>
            <a:headEnd/>
            <a:tailEnd/>
          </a:ln>
          <a:effectLst/>
        </p:spPr>
        <p:txBody>
          <a:bodyPr wrap="square">
            <a:spAutoFit/>
          </a:bodyPr>
          <a:lstStyle/>
          <a:p>
            <a:pPr>
              <a:spcBef>
                <a:spcPct val="50000"/>
              </a:spcBef>
            </a:pPr>
            <a:r>
              <a:rPr lang="es-CL" sz="1200" b="1" i="1" dirty="0">
                <a:solidFill>
                  <a:srgbClr val="A3A3E0"/>
                </a:solidFill>
              </a:rPr>
              <a:t>Resultados valoración de controles / factores mitigantes</a:t>
            </a:r>
            <a:endParaRPr lang="es-ES" sz="1200" b="1" i="1" dirty="0">
              <a:solidFill>
                <a:srgbClr val="A3A3E0"/>
              </a:solidFill>
            </a:endParaRPr>
          </a:p>
        </p:txBody>
      </p:sp>
      <p:sp>
        <p:nvSpPr>
          <p:cNvPr id="79" name="AutoShape 179"/>
          <p:cNvSpPr>
            <a:spLocks noChangeArrowheads="1"/>
          </p:cNvSpPr>
          <p:nvPr/>
        </p:nvSpPr>
        <p:spPr bwMode="auto">
          <a:xfrm>
            <a:off x="534831" y="5200032"/>
            <a:ext cx="4037169" cy="864000"/>
          </a:xfrm>
          <a:prstGeom prst="roundRect">
            <a:avLst>
              <a:gd name="adj" fmla="val 9481"/>
            </a:avLst>
          </a:prstGeom>
          <a:solidFill>
            <a:schemeClr val="accent1">
              <a:lumMod val="20000"/>
              <a:lumOff val="80000"/>
            </a:schemeClr>
          </a:solidFill>
          <a:ln w="9525" algn="ctr">
            <a:noFill/>
            <a:round/>
            <a:headEnd/>
            <a:tailEnd/>
          </a:ln>
          <a:effectLst/>
        </p:spPr>
        <p:txBody>
          <a:bodyPr wrap="none" anchor="ctr"/>
          <a:lstStyle/>
          <a:p>
            <a:endParaRPr lang="es-CL">
              <a:solidFill>
                <a:srgbClr val="002060"/>
              </a:solidFill>
            </a:endParaRPr>
          </a:p>
        </p:txBody>
      </p:sp>
      <p:sp>
        <p:nvSpPr>
          <p:cNvPr id="80" name="AutoShape 47"/>
          <p:cNvSpPr>
            <a:spLocks noChangeArrowheads="1"/>
          </p:cNvSpPr>
          <p:nvPr/>
        </p:nvSpPr>
        <p:spPr bwMode="blackWhite">
          <a:xfrm>
            <a:off x="281304" y="5201534"/>
            <a:ext cx="353942" cy="864000"/>
          </a:xfrm>
          <a:prstGeom prst="rightArrow">
            <a:avLst>
              <a:gd name="adj1" fmla="val 100000"/>
              <a:gd name="adj2" fmla="val 11009"/>
            </a:avLst>
          </a:prstGeom>
          <a:solidFill>
            <a:srgbClr val="969696"/>
          </a:solidFill>
          <a:ln w="12700">
            <a:noFill/>
            <a:miter lim="800000"/>
            <a:headEnd/>
            <a:tailEnd/>
          </a:ln>
          <a:effectLst>
            <a:outerShdw dist="35921" dir="2700000" algn="ctr" rotWithShape="0">
              <a:schemeClr val="bg2"/>
            </a:outerShdw>
          </a:effectLst>
        </p:spPr>
        <p:txBody>
          <a:bodyPr vert="vert270" anchor="ctr"/>
          <a:lstStyle/>
          <a:p>
            <a:pPr algn="ctr">
              <a:lnSpc>
                <a:spcPts val="1000"/>
              </a:lnSpc>
            </a:pPr>
            <a:r>
              <a:rPr lang="es-ES" sz="1100" b="1" noProof="1">
                <a:solidFill>
                  <a:srgbClr val="FFFFFF"/>
                </a:solidFill>
                <a:cs typeface="Arial" charset="0"/>
              </a:rPr>
              <a:t>Evaluación de Controles</a:t>
            </a:r>
          </a:p>
        </p:txBody>
      </p:sp>
      <p:sp>
        <p:nvSpPr>
          <p:cNvPr id="81" name="Rectangle 18"/>
          <p:cNvSpPr>
            <a:spLocks noChangeArrowheads="1"/>
          </p:cNvSpPr>
          <p:nvPr/>
        </p:nvSpPr>
        <p:spPr bwMode="auto">
          <a:xfrm>
            <a:off x="3937102" y="5275299"/>
            <a:ext cx="548640" cy="170094"/>
          </a:xfrm>
          <a:prstGeom prst="rect">
            <a:avLst/>
          </a:prstGeom>
          <a:solidFill>
            <a:schemeClr val="bg1"/>
          </a:solidFill>
          <a:ln w="9525" algn="ctr">
            <a:solidFill>
              <a:schemeClr val="bg2"/>
            </a:solidFill>
            <a:miter lim="800000"/>
            <a:headEnd/>
            <a:tailEnd/>
          </a:ln>
          <a:effectLst/>
        </p:spPr>
        <p:txBody>
          <a:bodyPr anchor="ctr"/>
          <a:lstStyle/>
          <a:p>
            <a:pPr algn="ctr"/>
            <a:r>
              <a:rPr lang="es-ES" sz="1100" dirty="0">
                <a:solidFill>
                  <a:srgbClr val="002060"/>
                </a:solidFill>
              </a:rPr>
              <a:t>1</a:t>
            </a:r>
          </a:p>
        </p:txBody>
      </p:sp>
      <p:sp>
        <p:nvSpPr>
          <p:cNvPr id="82" name="Rounded Rectangle 38"/>
          <p:cNvSpPr/>
          <p:nvPr/>
        </p:nvSpPr>
        <p:spPr>
          <a:xfrm>
            <a:off x="705742" y="5275299"/>
            <a:ext cx="3132000" cy="170094"/>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Controles asociados al riesgo</a:t>
            </a:r>
          </a:p>
        </p:txBody>
      </p:sp>
      <p:sp>
        <p:nvSpPr>
          <p:cNvPr id="83" name="Rectangle 18"/>
          <p:cNvSpPr>
            <a:spLocks noChangeArrowheads="1"/>
          </p:cNvSpPr>
          <p:nvPr/>
        </p:nvSpPr>
        <p:spPr bwMode="auto">
          <a:xfrm>
            <a:off x="705742" y="5496307"/>
            <a:ext cx="3780000" cy="469509"/>
          </a:xfrm>
          <a:prstGeom prst="rect">
            <a:avLst/>
          </a:prstGeom>
          <a:solidFill>
            <a:schemeClr val="bg1"/>
          </a:solidFill>
          <a:ln w="9525" algn="ctr">
            <a:solidFill>
              <a:schemeClr val="bg2"/>
            </a:solidFill>
            <a:miter lim="800000"/>
            <a:headEnd/>
            <a:tailEnd/>
          </a:ln>
          <a:effectLst/>
        </p:spPr>
        <p:txBody>
          <a:bodyPr anchor="ctr"/>
          <a:lstStyle/>
          <a:p>
            <a:r>
              <a:rPr lang="es-ES" sz="1100" dirty="0"/>
              <a:t>Licitación de proveedores:  Se realizan licitaciones tomando como base un listado de proveedores previamente evaluados.</a:t>
            </a:r>
            <a:endParaRPr lang="es-ES" sz="1100" dirty="0">
              <a:solidFill>
                <a:srgbClr val="000000"/>
              </a:solidFill>
            </a:endParaRPr>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dirty="0"/>
              <a:t>Anexo: Ficha Individual Riesgos Operacionales</a:t>
            </a:r>
          </a:p>
        </p:txBody>
      </p:sp>
      <p:sp>
        <p:nvSpPr>
          <p:cNvPr id="4" name="Rounded Rectangle 3"/>
          <p:cNvSpPr/>
          <p:nvPr/>
        </p:nvSpPr>
        <p:spPr>
          <a:xfrm>
            <a:off x="227770" y="764704"/>
            <a:ext cx="383790" cy="274320"/>
          </a:xfrm>
          <a:prstGeom prst="roundRect">
            <a:avLst/>
          </a:prstGeom>
          <a:solidFill>
            <a:srgbClr val="DB0613"/>
          </a:solidFill>
          <a:ln w="9525" algn="ctr">
            <a:noFill/>
            <a:miter lim="800000"/>
            <a:headEnd/>
            <a:tailEnd/>
          </a:ln>
          <a:effectLst/>
        </p:spPr>
        <p:txBody>
          <a:bodyPr anchor="ctr"/>
          <a:lstStyle/>
          <a:p>
            <a:pPr algn="ctr">
              <a:lnSpc>
                <a:spcPct val="80000"/>
              </a:lnSpc>
            </a:pPr>
            <a:r>
              <a:rPr lang="es-CL" sz="1200" b="1" dirty="0">
                <a:solidFill>
                  <a:srgbClr val="FFFFFF"/>
                </a:solidFill>
                <a:cs typeface="Arial" pitchFamily="34" charset="0"/>
              </a:rPr>
              <a:t>36</a:t>
            </a:r>
          </a:p>
        </p:txBody>
      </p:sp>
      <p:sp>
        <p:nvSpPr>
          <p:cNvPr id="5" name="Rectangle 18"/>
          <p:cNvSpPr>
            <a:spLocks noChangeArrowheads="1"/>
          </p:cNvSpPr>
          <p:nvPr/>
        </p:nvSpPr>
        <p:spPr bwMode="auto">
          <a:xfrm>
            <a:off x="227770" y="2548229"/>
            <a:ext cx="6400800" cy="708660"/>
          </a:xfrm>
          <a:prstGeom prst="rect">
            <a:avLst/>
          </a:prstGeom>
          <a:noFill/>
          <a:ln w="9525" algn="ctr">
            <a:solidFill>
              <a:schemeClr val="bg2"/>
            </a:solidFill>
            <a:miter lim="800000"/>
            <a:headEnd/>
            <a:tailEnd/>
          </a:ln>
          <a:effectLst/>
        </p:spPr>
        <p:txBody>
          <a:bodyPr/>
          <a:lstStyle/>
          <a:p>
            <a:r>
              <a:rPr lang="es-ES" sz="1100" dirty="0"/>
              <a:t>Esta situación se da  cuando el Gerente General Adjunto de Inversiones no se encuentra disponible para autorizar el pago de facturas de Inversiones Inmuebles (&lt; s/.500,000.00 o $.500,000.00) lo que puede provocar un retraso.</a:t>
            </a:r>
          </a:p>
          <a:p>
            <a:endParaRPr lang="es-ES" sz="1100" dirty="0"/>
          </a:p>
        </p:txBody>
      </p:sp>
      <p:sp>
        <p:nvSpPr>
          <p:cNvPr id="8" name="Rounded Rectangle 7"/>
          <p:cNvSpPr/>
          <p:nvPr/>
        </p:nvSpPr>
        <p:spPr>
          <a:xfrm>
            <a:off x="652842" y="764704"/>
            <a:ext cx="8321040" cy="274320"/>
          </a:xfrm>
          <a:prstGeom prst="roundRect">
            <a:avLst/>
          </a:prstGeom>
          <a:solidFill>
            <a:srgbClr val="DB0613"/>
          </a:solidFill>
          <a:ln w="9525" algn="ctr">
            <a:noFill/>
            <a:miter lim="800000"/>
            <a:headEnd/>
            <a:tailEnd/>
          </a:ln>
          <a:effectLst/>
        </p:spPr>
        <p:txBody>
          <a:bodyPr anchor="ctr"/>
          <a:lstStyle/>
          <a:p>
            <a:pPr>
              <a:lnSpc>
                <a:spcPct val="80000"/>
              </a:lnSpc>
            </a:pPr>
            <a:r>
              <a:rPr lang="es-ES" sz="1200" b="1" dirty="0">
                <a:solidFill>
                  <a:srgbClr val="FFFFFF"/>
                </a:solidFill>
                <a:cs typeface="Arial" pitchFamily="34" charset="0"/>
              </a:rPr>
              <a:t>Riesgo de que no se den las autorizaciones para compras o desembolsos para la gestión de pago a proveedores</a:t>
            </a:r>
            <a:endParaRPr lang="es-CL" sz="1200" b="1" dirty="0">
              <a:solidFill>
                <a:srgbClr val="FFFFFF"/>
              </a:solidFill>
              <a:cs typeface="Arial" pitchFamily="34" charset="0"/>
            </a:endParaRPr>
          </a:p>
        </p:txBody>
      </p:sp>
      <p:sp>
        <p:nvSpPr>
          <p:cNvPr id="9" name="Rounded Rectangle 8"/>
          <p:cNvSpPr/>
          <p:nvPr/>
        </p:nvSpPr>
        <p:spPr>
          <a:xfrm>
            <a:off x="227770" y="2307916"/>
            <a:ext cx="64008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Descripción</a:t>
            </a:r>
          </a:p>
        </p:txBody>
      </p:sp>
      <p:sp>
        <p:nvSpPr>
          <p:cNvPr id="17" name="Rounded Rectangle 16"/>
          <p:cNvSpPr/>
          <p:nvPr/>
        </p:nvSpPr>
        <p:spPr>
          <a:xfrm>
            <a:off x="216583" y="1110038"/>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Macroproceso</a:t>
            </a:r>
          </a:p>
        </p:txBody>
      </p:sp>
      <p:sp>
        <p:nvSpPr>
          <p:cNvPr id="18" name="Rectangle 18"/>
          <p:cNvSpPr>
            <a:spLocks noChangeArrowheads="1"/>
          </p:cNvSpPr>
          <p:nvPr/>
        </p:nvSpPr>
        <p:spPr bwMode="auto">
          <a:xfrm>
            <a:off x="2568409" y="1110038"/>
            <a:ext cx="3877200" cy="182880"/>
          </a:xfrm>
          <a:prstGeom prst="rect">
            <a:avLst/>
          </a:prstGeom>
          <a:noFill/>
          <a:ln w="9525" algn="ctr">
            <a:solidFill>
              <a:schemeClr val="bg2"/>
            </a:solidFill>
            <a:miter lim="800000"/>
            <a:headEnd/>
            <a:tailEnd/>
          </a:ln>
          <a:effectLst/>
        </p:spPr>
        <p:txBody>
          <a:bodyPr anchor="ctr"/>
          <a:lstStyle/>
          <a:p>
            <a:r>
              <a:rPr lang="es-ES" sz="1100" dirty="0">
                <a:solidFill>
                  <a:srgbClr val="000000"/>
                </a:solidFill>
              </a:rPr>
              <a:t>Administración de Portafolio de Inversiones</a:t>
            </a:r>
          </a:p>
        </p:txBody>
      </p:sp>
      <p:sp>
        <p:nvSpPr>
          <p:cNvPr id="19" name="Rounded Rectangle 18"/>
          <p:cNvSpPr/>
          <p:nvPr/>
        </p:nvSpPr>
        <p:spPr>
          <a:xfrm>
            <a:off x="216583" y="1339045"/>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Proceso</a:t>
            </a:r>
          </a:p>
        </p:txBody>
      </p:sp>
      <p:sp>
        <p:nvSpPr>
          <p:cNvPr id="20" name="Rectangle 18"/>
          <p:cNvSpPr>
            <a:spLocks noChangeArrowheads="1"/>
          </p:cNvSpPr>
          <p:nvPr/>
        </p:nvSpPr>
        <p:spPr bwMode="auto">
          <a:xfrm>
            <a:off x="2568409" y="1339045"/>
            <a:ext cx="3877200" cy="182880"/>
          </a:xfrm>
          <a:prstGeom prst="rect">
            <a:avLst/>
          </a:prstGeom>
          <a:noFill/>
          <a:ln w="9525" algn="ctr">
            <a:solidFill>
              <a:schemeClr val="bg2"/>
            </a:solidFill>
            <a:miter lim="800000"/>
            <a:headEnd/>
            <a:tailEnd/>
          </a:ln>
          <a:effectLst/>
        </p:spPr>
        <p:txBody>
          <a:bodyPr anchor="ctr"/>
          <a:lstStyle/>
          <a:p>
            <a:r>
              <a:rPr lang="es-ES" sz="1100" dirty="0">
                <a:solidFill>
                  <a:srgbClr val="000000"/>
                </a:solidFill>
              </a:rPr>
              <a:t>Administración de Fondos</a:t>
            </a:r>
          </a:p>
        </p:txBody>
      </p:sp>
      <p:sp>
        <p:nvSpPr>
          <p:cNvPr id="59" name="Rounded Rectangle 58"/>
          <p:cNvSpPr/>
          <p:nvPr/>
        </p:nvSpPr>
        <p:spPr>
          <a:xfrm>
            <a:off x="216583" y="1579694"/>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Subproceso</a:t>
            </a:r>
          </a:p>
        </p:txBody>
      </p:sp>
      <p:sp>
        <p:nvSpPr>
          <p:cNvPr id="60" name="Rectangle 18"/>
          <p:cNvSpPr>
            <a:spLocks noChangeArrowheads="1"/>
          </p:cNvSpPr>
          <p:nvPr/>
        </p:nvSpPr>
        <p:spPr bwMode="auto">
          <a:xfrm>
            <a:off x="2568409" y="1579694"/>
            <a:ext cx="3875799" cy="182880"/>
          </a:xfrm>
          <a:prstGeom prst="rect">
            <a:avLst/>
          </a:prstGeom>
          <a:noFill/>
          <a:ln w="9525" algn="ctr">
            <a:solidFill>
              <a:schemeClr val="bg2"/>
            </a:solidFill>
            <a:miter lim="800000"/>
            <a:headEnd/>
            <a:tailEnd/>
          </a:ln>
          <a:effectLst/>
        </p:spPr>
        <p:txBody>
          <a:bodyPr anchor="ctr"/>
          <a:lstStyle/>
          <a:p>
            <a:r>
              <a:rPr lang="es-ES" sz="1100" dirty="0">
                <a:solidFill>
                  <a:srgbClr val="000000"/>
                </a:solidFill>
              </a:rPr>
              <a:t>Identificación de Oportunidades de Inversión</a:t>
            </a:r>
          </a:p>
        </p:txBody>
      </p:sp>
      <p:sp>
        <p:nvSpPr>
          <p:cNvPr id="61" name="Rounded Rectangle 60"/>
          <p:cNvSpPr/>
          <p:nvPr/>
        </p:nvSpPr>
        <p:spPr>
          <a:xfrm>
            <a:off x="226806" y="1826440"/>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Línea de Negocio</a:t>
            </a:r>
          </a:p>
        </p:txBody>
      </p:sp>
      <p:sp>
        <p:nvSpPr>
          <p:cNvPr id="63" name="Rounded Rectangle 62"/>
          <p:cNvSpPr/>
          <p:nvPr/>
        </p:nvSpPr>
        <p:spPr>
          <a:xfrm>
            <a:off x="226806" y="2079535"/>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Responsable</a:t>
            </a:r>
          </a:p>
        </p:txBody>
      </p:sp>
      <p:sp>
        <p:nvSpPr>
          <p:cNvPr id="65" name="Rectangle 18"/>
          <p:cNvSpPr>
            <a:spLocks noChangeArrowheads="1"/>
          </p:cNvSpPr>
          <p:nvPr/>
        </p:nvSpPr>
        <p:spPr bwMode="auto">
          <a:xfrm>
            <a:off x="2568409" y="1826440"/>
            <a:ext cx="3875799" cy="182880"/>
          </a:xfrm>
          <a:prstGeom prst="rect">
            <a:avLst/>
          </a:prstGeom>
          <a:noFill/>
          <a:ln w="9525" algn="ctr">
            <a:solidFill>
              <a:schemeClr val="bg2"/>
            </a:solidFill>
            <a:miter lim="800000"/>
            <a:headEnd/>
            <a:tailEnd/>
          </a:ln>
          <a:effectLst/>
        </p:spPr>
        <p:txBody>
          <a:bodyPr anchor="ctr"/>
          <a:lstStyle/>
          <a:p>
            <a:r>
              <a:rPr lang="es-ES" sz="1100" dirty="0">
                <a:solidFill>
                  <a:srgbClr val="000000"/>
                </a:solidFill>
              </a:rPr>
              <a:t>Negociación y Ventas</a:t>
            </a:r>
          </a:p>
        </p:txBody>
      </p:sp>
      <p:sp>
        <p:nvSpPr>
          <p:cNvPr id="66" name="Rectangle 18"/>
          <p:cNvSpPr>
            <a:spLocks noChangeArrowheads="1"/>
          </p:cNvSpPr>
          <p:nvPr/>
        </p:nvSpPr>
        <p:spPr bwMode="auto">
          <a:xfrm>
            <a:off x="2555776" y="2079535"/>
            <a:ext cx="3875799" cy="182880"/>
          </a:xfrm>
          <a:prstGeom prst="rect">
            <a:avLst/>
          </a:prstGeom>
          <a:noFill/>
          <a:ln w="9525" algn="ctr">
            <a:solidFill>
              <a:schemeClr val="bg2"/>
            </a:solidFill>
            <a:miter lim="800000"/>
            <a:headEnd/>
            <a:tailEnd/>
          </a:ln>
          <a:effectLst/>
        </p:spPr>
        <p:txBody>
          <a:bodyPr anchor="ctr"/>
          <a:lstStyle/>
          <a:p>
            <a:r>
              <a:rPr lang="es-ES" sz="1100" dirty="0">
                <a:solidFill>
                  <a:srgbClr val="000000"/>
                </a:solidFill>
              </a:rPr>
              <a:t>Gerente General Adjunto de Inversiones</a:t>
            </a:r>
          </a:p>
        </p:txBody>
      </p:sp>
      <p:sp>
        <p:nvSpPr>
          <p:cNvPr id="58" name="AutoShape 179"/>
          <p:cNvSpPr>
            <a:spLocks noChangeArrowheads="1"/>
          </p:cNvSpPr>
          <p:nvPr/>
        </p:nvSpPr>
        <p:spPr bwMode="auto">
          <a:xfrm>
            <a:off x="611560" y="3482416"/>
            <a:ext cx="3960812" cy="1275707"/>
          </a:xfrm>
          <a:prstGeom prst="roundRect">
            <a:avLst>
              <a:gd name="adj" fmla="val 9481"/>
            </a:avLst>
          </a:prstGeom>
          <a:solidFill>
            <a:schemeClr val="accent1">
              <a:lumMod val="20000"/>
              <a:lumOff val="80000"/>
            </a:schemeClr>
          </a:solidFill>
          <a:ln w="9525" algn="ctr">
            <a:noFill/>
            <a:round/>
            <a:headEnd/>
            <a:tailEnd/>
          </a:ln>
          <a:effectLst/>
        </p:spPr>
        <p:txBody>
          <a:bodyPr wrap="none" anchor="ctr"/>
          <a:lstStyle/>
          <a:p>
            <a:endParaRPr lang="es-CL">
              <a:solidFill>
                <a:srgbClr val="002060"/>
              </a:solidFill>
            </a:endParaRPr>
          </a:p>
        </p:txBody>
      </p:sp>
      <p:sp>
        <p:nvSpPr>
          <p:cNvPr id="62" name="Text Box 30"/>
          <p:cNvSpPr txBox="1">
            <a:spLocks noChangeArrowheads="1"/>
          </p:cNvSpPr>
          <p:nvPr/>
        </p:nvSpPr>
        <p:spPr bwMode="auto">
          <a:xfrm>
            <a:off x="190747" y="3259373"/>
            <a:ext cx="3671888" cy="276999"/>
          </a:xfrm>
          <a:prstGeom prst="rect">
            <a:avLst/>
          </a:prstGeom>
          <a:noFill/>
          <a:ln w="9525" algn="ctr">
            <a:noFill/>
            <a:miter lim="800000"/>
            <a:headEnd/>
            <a:tailEnd/>
          </a:ln>
          <a:effectLst/>
        </p:spPr>
        <p:txBody>
          <a:bodyPr>
            <a:spAutoFit/>
          </a:bodyPr>
          <a:lstStyle/>
          <a:p>
            <a:pPr>
              <a:spcBef>
                <a:spcPct val="50000"/>
              </a:spcBef>
            </a:pPr>
            <a:r>
              <a:rPr lang="es-CL" sz="1200" b="1" i="1" dirty="0">
                <a:solidFill>
                  <a:srgbClr val="A3A3E0"/>
                </a:solidFill>
              </a:rPr>
              <a:t>Resultados valoración de riesgos</a:t>
            </a:r>
            <a:endParaRPr lang="es-ES" sz="1200" b="1" i="1" dirty="0">
              <a:solidFill>
                <a:srgbClr val="A3A3E0"/>
              </a:solidFill>
            </a:endParaRPr>
          </a:p>
        </p:txBody>
      </p:sp>
      <p:sp>
        <p:nvSpPr>
          <p:cNvPr id="64" name="Rounded Rectangle 21"/>
          <p:cNvSpPr/>
          <p:nvPr/>
        </p:nvSpPr>
        <p:spPr>
          <a:xfrm>
            <a:off x="902959" y="4255955"/>
            <a:ext cx="1920240" cy="170094"/>
          </a:xfrm>
          <a:prstGeom prst="roundRect">
            <a:avLst/>
          </a:prstGeom>
          <a:solidFill>
            <a:srgbClr val="DB0613"/>
          </a:solidFill>
          <a:ln w="9525" algn="ctr">
            <a:noFill/>
            <a:miter lim="800000"/>
            <a:headEnd/>
            <a:tailEnd/>
          </a:ln>
          <a:effectLst/>
        </p:spPr>
        <p:txBody>
          <a:bodyPr tIns="91440" anchor="ctr"/>
          <a:lstStyle/>
          <a:p>
            <a:pPr>
              <a:lnSpc>
                <a:spcPct val="80000"/>
              </a:lnSpc>
            </a:pPr>
            <a:r>
              <a:rPr lang="es-CL" sz="1100" b="1" dirty="0">
                <a:solidFill>
                  <a:srgbClr val="FFFFFF"/>
                </a:solidFill>
                <a:cs typeface="Arial" pitchFamily="34" charset="0"/>
              </a:rPr>
              <a:t>Pérdida Esperada Anual</a:t>
            </a:r>
          </a:p>
        </p:txBody>
      </p:sp>
      <p:sp>
        <p:nvSpPr>
          <p:cNvPr id="67" name="Rectangle 18"/>
          <p:cNvSpPr>
            <a:spLocks noChangeArrowheads="1"/>
          </p:cNvSpPr>
          <p:nvPr/>
        </p:nvSpPr>
        <p:spPr bwMode="auto">
          <a:xfrm>
            <a:off x="2859920" y="4255955"/>
            <a:ext cx="1554480" cy="170094"/>
          </a:xfrm>
          <a:prstGeom prst="rect">
            <a:avLst/>
          </a:prstGeom>
          <a:solidFill>
            <a:schemeClr val="bg1"/>
          </a:solidFill>
          <a:ln w="9525" algn="ctr">
            <a:solidFill>
              <a:schemeClr val="bg2"/>
            </a:solidFill>
            <a:miter lim="800000"/>
            <a:headEnd/>
            <a:tailEnd/>
          </a:ln>
          <a:effectLst/>
        </p:spPr>
        <p:txBody>
          <a:bodyPr anchor="ctr"/>
          <a:lstStyle/>
          <a:p>
            <a:pPr algn="ctr"/>
            <a:r>
              <a:rPr lang="es-PE" sz="1100" dirty="0">
                <a:solidFill>
                  <a:srgbClr val="000000"/>
                </a:solidFill>
              </a:rPr>
              <a:t>S/. 102,000.00</a:t>
            </a:r>
            <a:endParaRPr lang="es-ES" sz="1100" dirty="0">
              <a:solidFill>
                <a:srgbClr val="000000"/>
              </a:solidFill>
            </a:endParaRPr>
          </a:p>
        </p:txBody>
      </p:sp>
      <p:sp>
        <p:nvSpPr>
          <p:cNvPr id="68" name="Rounded Rectangle 23"/>
          <p:cNvSpPr/>
          <p:nvPr/>
        </p:nvSpPr>
        <p:spPr>
          <a:xfrm>
            <a:off x="902959" y="4485567"/>
            <a:ext cx="1920240" cy="170094"/>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VaR Cualitativo Anual</a:t>
            </a:r>
          </a:p>
        </p:txBody>
      </p:sp>
      <p:sp>
        <p:nvSpPr>
          <p:cNvPr id="69" name="Rectangle 18"/>
          <p:cNvSpPr>
            <a:spLocks noChangeArrowheads="1"/>
          </p:cNvSpPr>
          <p:nvPr/>
        </p:nvSpPr>
        <p:spPr bwMode="auto">
          <a:xfrm>
            <a:off x="2859920" y="4485567"/>
            <a:ext cx="1554480" cy="170094"/>
          </a:xfrm>
          <a:prstGeom prst="rect">
            <a:avLst/>
          </a:prstGeom>
          <a:solidFill>
            <a:schemeClr val="bg1"/>
          </a:solidFill>
          <a:ln w="9525" algn="ctr">
            <a:solidFill>
              <a:schemeClr val="bg2"/>
            </a:solidFill>
            <a:miter lim="800000"/>
            <a:headEnd/>
            <a:tailEnd/>
          </a:ln>
          <a:effectLst/>
        </p:spPr>
        <p:txBody>
          <a:bodyPr anchor="ctr"/>
          <a:lstStyle/>
          <a:p>
            <a:pPr algn="ctr"/>
            <a:r>
              <a:rPr lang="es-PE" sz="1100" dirty="0">
                <a:solidFill>
                  <a:srgbClr val="000000"/>
                </a:solidFill>
              </a:rPr>
              <a:t>S/. </a:t>
            </a:r>
            <a:r>
              <a:rPr lang="es-ES" sz="1100" dirty="0"/>
              <a:t>2,239,296.29 </a:t>
            </a:r>
            <a:endParaRPr lang="es-ES" sz="1100" dirty="0">
              <a:solidFill>
                <a:srgbClr val="000000"/>
              </a:solidFill>
            </a:endParaRPr>
          </a:p>
        </p:txBody>
      </p:sp>
      <p:sp>
        <p:nvSpPr>
          <p:cNvPr id="70" name="Rounded Rectangle 25"/>
          <p:cNvSpPr/>
          <p:nvPr/>
        </p:nvSpPr>
        <p:spPr>
          <a:xfrm>
            <a:off x="891084" y="3553916"/>
            <a:ext cx="1920240" cy="170094"/>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Frecuencia  Evento Pérdida</a:t>
            </a:r>
          </a:p>
        </p:txBody>
      </p:sp>
      <p:sp>
        <p:nvSpPr>
          <p:cNvPr id="71" name="Rectangle 18"/>
          <p:cNvSpPr>
            <a:spLocks noChangeArrowheads="1"/>
          </p:cNvSpPr>
          <p:nvPr/>
        </p:nvSpPr>
        <p:spPr bwMode="auto">
          <a:xfrm>
            <a:off x="2859920" y="3553916"/>
            <a:ext cx="1554480" cy="170094"/>
          </a:xfrm>
          <a:prstGeom prst="rect">
            <a:avLst/>
          </a:prstGeom>
          <a:solidFill>
            <a:schemeClr val="bg1"/>
          </a:solidFill>
          <a:ln w="9525" algn="ctr">
            <a:solidFill>
              <a:schemeClr val="bg2"/>
            </a:solidFill>
            <a:miter lim="800000"/>
            <a:headEnd/>
            <a:tailEnd/>
          </a:ln>
          <a:effectLst/>
        </p:spPr>
        <p:txBody>
          <a:bodyPr anchor="ctr"/>
          <a:lstStyle/>
          <a:p>
            <a:pPr algn="ctr"/>
            <a:r>
              <a:rPr lang="es-PE" sz="1100" dirty="0">
                <a:solidFill>
                  <a:srgbClr val="000000"/>
                </a:solidFill>
              </a:rPr>
              <a:t>2 veces por década</a:t>
            </a:r>
            <a:endParaRPr lang="es-ES" sz="1100" dirty="0">
              <a:solidFill>
                <a:srgbClr val="000000"/>
              </a:solidFill>
            </a:endParaRPr>
          </a:p>
        </p:txBody>
      </p:sp>
      <p:sp>
        <p:nvSpPr>
          <p:cNvPr id="72" name="Rounded Rectangle 27"/>
          <p:cNvSpPr/>
          <p:nvPr/>
        </p:nvSpPr>
        <p:spPr>
          <a:xfrm>
            <a:off x="891084" y="3783528"/>
            <a:ext cx="1920240" cy="170094"/>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Impacto Medio Evento</a:t>
            </a:r>
          </a:p>
        </p:txBody>
      </p:sp>
      <p:sp>
        <p:nvSpPr>
          <p:cNvPr id="73" name="Rectangle 18"/>
          <p:cNvSpPr>
            <a:spLocks noChangeArrowheads="1"/>
          </p:cNvSpPr>
          <p:nvPr/>
        </p:nvSpPr>
        <p:spPr bwMode="auto">
          <a:xfrm>
            <a:off x="2859920" y="3783528"/>
            <a:ext cx="1554480" cy="170094"/>
          </a:xfrm>
          <a:prstGeom prst="rect">
            <a:avLst/>
          </a:prstGeom>
          <a:solidFill>
            <a:schemeClr val="bg1"/>
          </a:solidFill>
          <a:ln w="9525" algn="ctr">
            <a:solidFill>
              <a:schemeClr val="bg2"/>
            </a:solidFill>
            <a:miter lim="800000"/>
            <a:headEnd/>
            <a:tailEnd/>
          </a:ln>
          <a:effectLst/>
        </p:spPr>
        <p:txBody>
          <a:bodyPr anchor="ctr"/>
          <a:lstStyle/>
          <a:p>
            <a:pPr algn="ctr"/>
            <a:r>
              <a:rPr lang="es-PE" sz="1100" dirty="0">
                <a:solidFill>
                  <a:srgbClr val="000000"/>
                </a:solidFill>
              </a:rPr>
              <a:t>S/. </a:t>
            </a:r>
            <a:r>
              <a:rPr lang="es-ES" sz="1100" dirty="0"/>
              <a:t>510,000.00 </a:t>
            </a:r>
            <a:endParaRPr lang="es-ES" sz="1100" dirty="0">
              <a:solidFill>
                <a:srgbClr val="000000"/>
              </a:solidFill>
            </a:endParaRPr>
          </a:p>
        </p:txBody>
      </p:sp>
      <p:sp>
        <p:nvSpPr>
          <p:cNvPr id="74" name="Rounded Rectangle 29"/>
          <p:cNvSpPr/>
          <p:nvPr/>
        </p:nvSpPr>
        <p:spPr>
          <a:xfrm>
            <a:off x="891084" y="4019108"/>
            <a:ext cx="1920240" cy="170094"/>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Impacto Peor Escenario</a:t>
            </a:r>
          </a:p>
        </p:txBody>
      </p:sp>
      <p:sp>
        <p:nvSpPr>
          <p:cNvPr id="75" name="Rectangle 18"/>
          <p:cNvSpPr>
            <a:spLocks noChangeArrowheads="1"/>
          </p:cNvSpPr>
          <p:nvPr/>
        </p:nvSpPr>
        <p:spPr bwMode="auto">
          <a:xfrm>
            <a:off x="2859920" y="4019108"/>
            <a:ext cx="1554480" cy="170094"/>
          </a:xfrm>
          <a:prstGeom prst="rect">
            <a:avLst/>
          </a:prstGeom>
          <a:solidFill>
            <a:schemeClr val="bg1"/>
          </a:solidFill>
          <a:ln w="9525" algn="ctr">
            <a:solidFill>
              <a:schemeClr val="bg2"/>
            </a:solidFill>
            <a:miter lim="800000"/>
            <a:headEnd/>
            <a:tailEnd/>
          </a:ln>
          <a:effectLst/>
        </p:spPr>
        <p:txBody>
          <a:bodyPr anchor="ctr"/>
          <a:lstStyle/>
          <a:p>
            <a:pPr algn="ctr"/>
            <a:r>
              <a:rPr lang="es-PE" sz="1100" dirty="0">
                <a:solidFill>
                  <a:srgbClr val="000000"/>
                </a:solidFill>
              </a:rPr>
              <a:t>S/. 2,550,000.00</a:t>
            </a:r>
            <a:endParaRPr lang="es-ES" sz="1100" dirty="0">
              <a:solidFill>
                <a:srgbClr val="000000"/>
              </a:solidFill>
            </a:endParaRPr>
          </a:p>
        </p:txBody>
      </p:sp>
      <p:sp>
        <p:nvSpPr>
          <p:cNvPr id="76" name="AutoShape 47"/>
          <p:cNvSpPr>
            <a:spLocks noChangeAspect="1" noChangeArrowheads="1"/>
          </p:cNvSpPr>
          <p:nvPr/>
        </p:nvSpPr>
        <p:spPr bwMode="blackWhite">
          <a:xfrm>
            <a:off x="263032" y="3482416"/>
            <a:ext cx="503986" cy="1274400"/>
          </a:xfrm>
          <a:prstGeom prst="rightArrow">
            <a:avLst>
              <a:gd name="adj1" fmla="val 100000"/>
              <a:gd name="adj2" fmla="val 11009"/>
            </a:avLst>
          </a:prstGeom>
          <a:solidFill>
            <a:srgbClr val="969696"/>
          </a:solidFill>
          <a:ln w="12700">
            <a:noFill/>
            <a:miter lim="800000"/>
            <a:headEnd/>
            <a:tailEnd/>
          </a:ln>
          <a:effectLst>
            <a:outerShdw dist="35921" dir="2700000" algn="ctr" rotWithShape="0">
              <a:schemeClr val="bg2"/>
            </a:outerShdw>
          </a:effectLst>
        </p:spPr>
        <p:txBody>
          <a:bodyPr vert="vert270" anchor="ctr"/>
          <a:lstStyle/>
          <a:p>
            <a:pPr algn="ctr">
              <a:lnSpc>
                <a:spcPts val="1000"/>
              </a:lnSpc>
            </a:pPr>
            <a:r>
              <a:rPr lang="es-ES" sz="1100" b="1" noProof="1">
                <a:solidFill>
                  <a:srgbClr val="FFFFFF"/>
                </a:solidFill>
                <a:cs typeface="Arial" charset="0"/>
              </a:rPr>
              <a:t>Evaluación Riesgo Operacional</a:t>
            </a:r>
          </a:p>
        </p:txBody>
      </p:sp>
      <p:sp>
        <p:nvSpPr>
          <p:cNvPr id="77" name="AutoShape 179"/>
          <p:cNvSpPr>
            <a:spLocks noChangeArrowheads="1"/>
          </p:cNvSpPr>
          <p:nvPr/>
        </p:nvSpPr>
        <p:spPr bwMode="auto">
          <a:xfrm>
            <a:off x="4932039" y="3493021"/>
            <a:ext cx="4037169" cy="864000"/>
          </a:xfrm>
          <a:prstGeom prst="roundRect">
            <a:avLst>
              <a:gd name="adj" fmla="val 9481"/>
            </a:avLst>
          </a:prstGeom>
          <a:solidFill>
            <a:schemeClr val="accent1">
              <a:lumMod val="20000"/>
              <a:lumOff val="80000"/>
            </a:schemeClr>
          </a:solidFill>
          <a:ln w="9525" algn="ctr">
            <a:noFill/>
            <a:round/>
            <a:headEnd/>
            <a:tailEnd/>
          </a:ln>
          <a:effectLst/>
        </p:spPr>
        <p:txBody>
          <a:bodyPr wrap="none" anchor="ctr"/>
          <a:lstStyle/>
          <a:p>
            <a:endParaRPr lang="es-CL">
              <a:solidFill>
                <a:srgbClr val="002060"/>
              </a:solidFill>
            </a:endParaRPr>
          </a:p>
        </p:txBody>
      </p:sp>
      <p:sp>
        <p:nvSpPr>
          <p:cNvPr id="78" name="AutoShape 47"/>
          <p:cNvSpPr>
            <a:spLocks noChangeArrowheads="1"/>
          </p:cNvSpPr>
          <p:nvPr/>
        </p:nvSpPr>
        <p:spPr bwMode="blackWhite">
          <a:xfrm>
            <a:off x="4678512" y="3494523"/>
            <a:ext cx="353942" cy="864000"/>
          </a:xfrm>
          <a:prstGeom prst="rightArrow">
            <a:avLst>
              <a:gd name="adj1" fmla="val 100000"/>
              <a:gd name="adj2" fmla="val 11009"/>
            </a:avLst>
          </a:prstGeom>
          <a:solidFill>
            <a:srgbClr val="969696"/>
          </a:solidFill>
          <a:ln w="12700">
            <a:noFill/>
            <a:miter lim="800000"/>
            <a:headEnd/>
            <a:tailEnd/>
          </a:ln>
          <a:effectLst>
            <a:outerShdw dist="35921" dir="2700000" algn="ctr" rotWithShape="0">
              <a:schemeClr val="bg2"/>
            </a:outerShdw>
          </a:effectLst>
        </p:spPr>
        <p:txBody>
          <a:bodyPr vert="vert270" anchor="ctr"/>
          <a:lstStyle/>
          <a:p>
            <a:pPr algn="ctr">
              <a:lnSpc>
                <a:spcPts val="1000"/>
              </a:lnSpc>
            </a:pPr>
            <a:r>
              <a:rPr lang="es-ES" sz="1100" b="1" noProof="1">
                <a:solidFill>
                  <a:srgbClr val="FFFFFF"/>
                </a:solidFill>
                <a:cs typeface="Arial" charset="0"/>
              </a:rPr>
              <a:t>Impacto Reputacional</a:t>
            </a:r>
          </a:p>
        </p:txBody>
      </p:sp>
      <p:sp>
        <p:nvSpPr>
          <p:cNvPr id="79" name="Rectangle 18"/>
          <p:cNvSpPr>
            <a:spLocks noChangeArrowheads="1"/>
          </p:cNvSpPr>
          <p:nvPr/>
        </p:nvSpPr>
        <p:spPr bwMode="auto">
          <a:xfrm>
            <a:off x="8334310" y="3568288"/>
            <a:ext cx="548640" cy="170094"/>
          </a:xfrm>
          <a:prstGeom prst="rect">
            <a:avLst/>
          </a:prstGeom>
          <a:solidFill>
            <a:schemeClr val="bg1"/>
          </a:solidFill>
          <a:ln w="9525" algn="ctr">
            <a:solidFill>
              <a:schemeClr val="bg2"/>
            </a:solidFill>
            <a:miter lim="800000"/>
            <a:headEnd/>
            <a:tailEnd/>
          </a:ln>
          <a:effectLst/>
        </p:spPr>
        <p:txBody>
          <a:bodyPr anchor="ctr"/>
          <a:lstStyle/>
          <a:p>
            <a:pPr algn="ctr"/>
            <a:r>
              <a:rPr lang="es-PE" sz="1100" dirty="0">
                <a:solidFill>
                  <a:srgbClr val="002060"/>
                </a:solidFill>
              </a:rPr>
              <a:t>3</a:t>
            </a:r>
            <a:endParaRPr lang="es-ES" sz="1100" dirty="0">
              <a:solidFill>
                <a:srgbClr val="002060"/>
              </a:solidFill>
            </a:endParaRPr>
          </a:p>
        </p:txBody>
      </p:sp>
      <p:sp>
        <p:nvSpPr>
          <p:cNvPr id="80" name="Rounded Rectangle 38"/>
          <p:cNvSpPr/>
          <p:nvPr/>
        </p:nvSpPr>
        <p:spPr>
          <a:xfrm>
            <a:off x="5102950" y="3568288"/>
            <a:ext cx="3132000" cy="170094"/>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Afectación a Contrapartes</a:t>
            </a:r>
          </a:p>
        </p:txBody>
      </p:sp>
      <p:sp>
        <p:nvSpPr>
          <p:cNvPr id="82" name="Text Box 30"/>
          <p:cNvSpPr txBox="1">
            <a:spLocks noChangeArrowheads="1"/>
          </p:cNvSpPr>
          <p:nvPr/>
        </p:nvSpPr>
        <p:spPr bwMode="auto">
          <a:xfrm>
            <a:off x="190746" y="4838419"/>
            <a:ext cx="3996000" cy="276999"/>
          </a:xfrm>
          <a:prstGeom prst="rect">
            <a:avLst/>
          </a:prstGeom>
          <a:noFill/>
          <a:ln w="9525" algn="ctr">
            <a:noFill/>
            <a:miter lim="800000"/>
            <a:headEnd/>
            <a:tailEnd/>
          </a:ln>
          <a:effectLst/>
        </p:spPr>
        <p:txBody>
          <a:bodyPr wrap="square">
            <a:spAutoFit/>
          </a:bodyPr>
          <a:lstStyle/>
          <a:p>
            <a:pPr>
              <a:spcBef>
                <a:spcPct val="50000"/>
              </a:spcBef>
            </a:pPr>
            <a:r>
              <a:rPr lang="es-CL" sz="1200" b="1" i="1" dirty="0">
                <a:solidFill>
                  <a:srgbClr val="A3A3E0"/>
                </a:solidFill>
              </a:rPr>
              <a:t>Resultados valoración de controles / factores mitigantes</a:t>
            </a:r>
            <a:endParaRPr lang="es-ES" sz="1200" b="1" i="1" dirty="0">
              <a:solidFill>
                <a:srgbClr val="A3A3E0"/>
              </a:solidFill>
            </a:endParaRPr>
          </a:p>
        </p:txBody>
      </p:sp>
      <p:sp>
        <p:nvSpPr>
          <p:cNvPr id="86" name="AutoShape 179"/>
          <p:cNvSpPr>
            <a:spLocks noChangeArrowheads="1"/>
          </p:cNvSpPr>
          <p:nvPr/>
        </p:nvSpPr>
        <p:spPr bwMode="auto">
          <a:xfrm>
            <a:off x="4927319" y="4397238"/>
            <a:ext cx="4037169" cy="892800"/>
          </a:xfrm>
          <a:prstGeom prst="roundRect">
            <a:avLst>
              <a:gd name="adj" fmla="val 9481"/>
            </a:avLst>
          </a:prstGeom>
          <a:solidFill>
            <a:schemeClr val="accent1">
              <a:lumMod val="20000"/>
              <a:lumOff val="80000"/>
            </a:schemeClr>
          </a:solidFill>
          <a:ln w="9525" algn="ctr">
            <a:noFill/>
            <a:round/>
            <a:headEnd/>
            <a:tailEnd/>
          </a:ln>
          <a:effectLst/>
        </p:spPr>
        <p:txBody>
          <a:bodyPr wrap="none" anchor="ctr"/>
          <a:lstStyle/>
          <a:p>
            <a:endParaRPr lang="es-CL">
              <a:solidFill>
                <a:srgbClr val="002060"/>
              </a:solidFill>
            </a:endParaRPr>
          </a:p>
        </p:txBody>
      </p:sp>
      <p:sp>
        <p:nvSpPr>
          <p:cNvPr id="87" name="AutoShape 47"/>
          <p:cNvSpPr>
            <a:spLocks noChangeArrowheads="1"/>
          </p:cNvSpPr>
          <p:nvPr/>
        </p:nvSpPr>
        <p:spPr bwMode="blackWhite">
          <a:xfrm>
            <a:off x="4673792" y="4398740"/>
            <a:ext cx="352800" cy="892800"/>
          </a:xfrm>
          <a:prstGeom prst="rightArrow">
            <a:avLst>
              <a:gd name="adj1" fmla="val 100000"/>
              <a:gd name="adj2" fmla="val 11009"/>
            </a:avLst>
          </a:prstGeom>
          <a:solidFill>
            <a:srgbClr val="969696"/>
          </a:solidFill>
          <a:ln w="12700">
            <a:noFill/>
            <a:miter lim="800000"/>
            <a:headEnd/>
            <a:tailEnd/>
          </a:ln>
          <a:effectLst>
            <a:outerShdw dist="35921" dir="2700000" algn="ctr" rotWithShape="0">
              <a:schemeClr val="bg2"/>
            </a:outerShdw>
          </a:effectLst>
        </p:spPr>
        <p:txBody>
          <a:bodyPr vert="vert270" anchor="ctr"/>
          <a:lstStyle/>
          <a:p>
            <a:pPr algn="ctr">
              <a:lnSpc>
                <a:spcPts val="1000"/>
              </a:lnSpc>
            </a:pPr>
            <a:r>
              <a:rPr lang="es-ES" sz="1100" b="1" noProof="1">
                <a:solidFill>
                  <a:srgbClr val="FFFFFF"/>
                </a:solidFill>
                <a:cs typeface="Arial" charset="0"/>
              </a:rPr>
              <a:t>Cuestionarios</a:t>
            </a:r>
          </a:p>
        </p:txBody>
      </p:sp>
      <p:sp>
        <p:nvSpPr>
          <p:cNvPr id="89" name="Rounded Rectangle 38"/>
          <p:cNvSpPr/>
          <p:nvPr/>
        </p:nvSpPr>
        <p:spPr>
          <a:xfrm>
            <a:off x="5098230" y="4472505"/>
            <a:ext cx="3132000" cy="170094"/>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Criterios de Evaluación</a:t>
            </a:r>
          </a:p>
        </p:txBody>
      </p:sp>
      <p:sp>
        <p:nvSpPr>
          <p:cNvPr id="90" name="AutoShape 179"/>
          <p:cNvSpPr>
            <a:spLocks noChangeArrowheads="1"/>
          </p:cNvSpPr>
          <p:nvPr/>
        </p:nvSpPr>
        <p:spPr bwMode="auto">
          <a:xfrm>
            <a:off x="534831" y="5060900"/>
            <a:ext cx="4037169" cy="864000"/>
          </a:xfrm>
          <a:prstGeom prst="roundRect">
            <a:avLst>
              <a:gd name="adj" fmla="val 9481"/>
            </a:avLst>
          </a:prstGeom>
          <a:solidFill>
            <a:schemeClr val="accent1">
              <a:lumMod val="20000"/>
              <a:lumOff val="80000"/>
            </a:schemeClr>
          </a:solidFill>
          <a:ln w="9525" algn="ctr">
            <a:noFill/>
            <a:round/>
            <a:headEnd/>
            <a:tailEnd/>
          </a:ln>
          <a:effectLst/>
        </p:spPr>
        <p:txBody>
          <a:bodyPr wrap="none" anchor="ctr"/>
          <a:lstStyle/>
          <a:p>
            <a:endParaRPr lang="es-CL">
              <a:solidFill>
                <a:srgbClr val="002060"/>
              </a:solidFill>
            </a:endParaRPr>
          </a:p>
        </p:txBody>
      </p:sp>
      <p:sp>
        <p:nvSpPr>
          <p:cNvPr id="91" name="AutoShape 47"/>
          <p:cNvSpPr>
            <a:spLocks noChangeArrowheads="1"/>
          </p:cNvSpPr>
          <p:nvPr/>
        </p:nvSpPr>
        <p:spPr bwMode="blackWhite">
          <a:xfrm>
            <a:off x="281304" y="5062402"/>
            <a:ext cx="353942" cy="864000"/>
          </a:xfrm>
          <a:prstGeom prst="rightArrow">
            <a:avLst>
              <a:gd name="adj1" fmla="val 100000"/>
              <a:gd name="adj2" fmla="val 11009"/>
            </a:avLst>
          </a:prstGeom>
          <a:solidFill>
            <a:srgbClr val="969696"/>
          </a:solidFill>
          <a:ln w="12700">
            <a:noFill/>
            <a:miter lim="800000"/>
            <a:headEnd/>
            <a:tailEnd/>
          </a:ln>
          <a:effectLst>
            <a:outerShdw dist="35921" dir="2700000" algn="ctr" rotWithShape="0">
              <a:schemeClr val="bg2"/>
            </a:outerShdw>
          </a:effectLst>
        </p:spPr>
        <p:txBody>
          <a:bodyPr vert="vert270" anchor="ctr"/>
          <a:lstStyle/>
          <a:p>
            <a:pPr algn="ctr">
              <a:lnSpc>
                <a:spcPts val="1000"/>
              </a:lnSpc>
            </a:pPr>
            <a:r>
              <a:rPr lang="es-ES" sz="1100" b="1" noProof="1">
                <a:solidFill>
                  <a:srgbClr val="FFFFFF"/>
                </a:solidFill>
                <a:cs typeface="Arial" charset="0"/>
              </a:rPr>
              <a:t>Evaluación de Controles</a:t>
            </a:r>
          </a:p>
        </p:txBody>
      </p:sp>
      <p:sp>
        <p:nvSpPr>
          <p:cNvPr id="92" name="Rectangle 18"/>
          <p:cNvSpPr>
            <a:spLocks noChangeArrowheads="1"/>
          </p:cNvSpPr>
          <p:nvPr/>
        </p:nvSpPr>
        <p:spPr bwMode="auto">
          <a:xfrm>
            <a:off x="3937102" y="5136167"/>
            <a:ext cx="548640" cy="170094"/>
          </a:xfrm>
          <a:prstGeom prst="rect">
            <a:avLst/>
          </a:prstGeom>
          <a:solidFill>
            <a:schemeClr val="bg1"/>
          </a:solidFill>
          <a:ln w="9525" algn="ctr">
            <a:solidFill>
              <a:schemeClr val="bg2"/>
            </a:solidFill>
            <a:miter lim="800000"/>
            <a:headEnd/>
            <a:tailEnd/>
          </a:ln>
          <a:effectLst/>
        </p:spPr>
        <p:txBody>
          <a:bodyPr anchor="ctr"/>
          <a:lstStyle/>
          <a:p>
            <a:pPr algn="ctr"/>
            <a:r>
              <a:rPr lang="es-ES" sz="1100" dirty="0">
                <a:solidFill>
                  <a:srgbClr val="002060"/>
                </a:solidFill>
              </a:rPr>
              <a:t>1</a:t>
            </a:r>
          </a:p>
        </p:txBody>
      </p:sp>
      <p:sp>
        <p:nvSpPr>
          <p:cNvPr id="93" name="Rounded Rectangle 38"/>
          <p:cNvSpPr/>
          <p:nvPr/>
        </p:nvSpPr>
        <p:spPr>
          <a:xfrm>
            <a:off x="705742" y="5136167"/>
            <a:ext cx="3132000" cy="170094"/>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Controles asociados al riesgo</a:t>
            </a:r>
          </a:p>
        </p:txBody>
      </p:sp>
      <p:sp>
        <p:nvSpPr>
          <p:cNvPr id="94" name="Rectangle 18"/>
          <p:cNvSpPr>
            <a:spLocks noChangeArrowheads="1"/>
          </p:cNvSpPr>
          <p:nvPr/>
        </p:nvSpPr>
        <p:spPr bwMode="auto">
          <a:xfrm>
            <a:off x="5102950" y="4685678"/>
            <a:ext cx="3780000" cy="469509"/>
          </a:xfrm>
          <a:prstGeom prst="rect">
            <a:avLst/>
          </a:prstGeom>
          <a:solidFill>
            <a:schemeClr val="bg1"/>
          </a:solidFill>
          <a:ln w="9525" algn="ctr">
            <a:solidFill>
              <a:schemeClr val="bg2"/>
            </a:solidFill>
            <a:miter lim="800000"/>
            <a:headEnd/>
            <a:tailEnd/>
          </a:ln>
          <a:effectLst/>
        </p:spPr>
        <p:txBody>
          <a:bodyPr anchor="ctr"/>
          <a:lstStyle/>
          <a:p>
            <a:r>
              <a:rPr lang="es-PE" sz="1050" dirty="0">
                <a:solidFill>
                  <a:srgbClr val="000000"/>
                </a:solidFill>
              </a:rPr>
              <a:t>El experto estimó una cartera promedio de USD 100 MM, la cual podría presentar una variación diaria en el precio de 0.2% . Para el peor escenario se estimó una ausencia de hasta 5 días.</a:t>
            </a:r>
            <a:endParaRPr lang="es-ES" sz="1050" dirty="0">
              <a:solidFill>
                <a:srgbClr val="000000"/>
              </a:solidFill>
            </a:endParaRPr>
          </a:p>
        </p:txBody>
      </p:sp>
      <p:sp>
        <p:nvSpPr>
          <p:cNvPr id="95" name="Rectangle 18"/>
          <p:cNvSpPr>
            <a:spLocks noChangeArrowheads="1"/>
          </p:cNvSpPr>
          <p:nvPr/>
        </p:nvSpPr>
        <p:spPr bwMode="auto">
          <a:xfrm>
            <a:off x="705742" y="5357175"/>
            <a:ext cx="3780000" cy="469509"/>
          </a:xfrm>
          <a:prstGeom prst="rect">
            <a:avLst/>
          </a:prstGeom>
          <a:solidFill>
            <a:schemeClr val="bg1"/>
          </a:solidFill>
          <a:ln w="9525" algn="ctr">
            <a:solidFill>
              <a:schemeClr val="bg2"/>
            </a:solidFill>
            <a:miter lim="800000"/>
            <a:headEnd/>
            <a:tailEnd/>
          </a:ln>
          <a:effectLst/>
        </p:spPr>
        <p:txBody>
          <a:bodyPr anchor="ctr"/>
          <a:lstStyle/>
          <a:p>
            <a:r>
              <a:rPr lang="es-ES" sz="1100" dirty="0">
                <a:solidFill>
                  <a:srgbClr val="000000"/>
                </a:solidFill>
              </a:rPr>
              <a:t>(NF) Existencia de un Back Up Interno en el área de Inversiones.</a:t>
            </a:r>
          </a:p>
        </p:txBody>
      </p:sp>
      <p:sp>
        <p:nvSpPr>
          <p:cNvPr id="96" name="Rounded Rectangle 9"/>
          <p:cNvSpPr/>
          <p:nvPr/>
        </p:nvSpPr>
        <p:spPr>
          <a:xfrm>
            <a:off x="6716066" y="1111764"/>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Categoría  de Riesgo Nivel I</a:t>
            </a:r>
          </a:p>
        </p:txBody>
      </p:sp>
      <p:sp>
        <p:nvSpPr>
          <p:cNvPr id="97" name="Rectangle 18"/>
          <p:cNvSpPr>
            <a:spLocks noChangeArrowheads="1"/>
          </p:cNvSpPr>
          <p:nvPr/>
        </p:nvSpPr>
        <p:spPr bwMode="auto">
          <a:xfrm>
            <a:off x="6716066" y="1325572"/>
            <a:ext cx="2286000" cy="270000"/>
          </a:xfrm>
          <a:prstGeom prst="rect">
            <a:avLst/>
          </a:prstGeom>
          <a:noFill/>
          <a:ln w="9525" algn="ctr">
            <a:solidFill>
              <a:schemeClr val="bg2"/>
            </a:solidFill>
            <a:miter lim="800000"/>
            <a:headEnd/>
            <a:tailEnd/>
          </a:ln>
          <a:effectLst/>
        </p:spPr>
        <p:txBody>
          <a:bodyPr anchor="ctr"/>
          <a:lstStyle/>
          <a:p>
            <a:pPr>
              <a:lnSpc>
                <a:spcPts val="1000"/>
              </a:lnSpc>
            </a:pPr>
            <a:r>
              <a:rPr lang="es-ES" sz="1100" dirty="0">
                <a:solidFill>
                  <a:srgbClr val="000000"/>
                </a:solidFill>
              </a:rPr>
              <a:t>Ejecución, entrega y gestión de procesos.</a:t>
            </a:r>
          </a:p>
        </p:txBody>
      </p:sp>
      <p:sp>
        <p:nvSpPr>
          <p:cNvPr id="98" name="Rounded Rectangle 11"/>
          <p:cNvSpPr/>
          <p:nvPr/>
        </p:nvSpPr>
        <p:spPr>
          <a:xfrm>
            <a:off x="6716066" y="1664503"/>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Categoría  de Riesgo Nivel II</a:t>
            </a:r>
          </a:p>
        </p:txBody>
      </p:sp>
      <p:sp>
        <p:nvSpPr>
          <p:cNvPr id="99" name="Rectangle 18"/>
          <p:cNvSpPr>
            <a:spLocks noChangeArrowheads="1"/>
          </p:cNvSpPr>
          <p:nvPr/>
        </p:nvSpPr>
        <p:spPr bwMode="auto">
          <a:xfrm>
            <a:off x="6716066" y="1877089"/>
            <a:ext cx="2286000" cy="270000"/>
          </a:xfrm>
          <a:prstGeom prst="rect">
            <a:avLst/>
          </a:prstGeom>
          <a:noFill/>
          <a:ln w="9525" algn="ctr">
            <a:solidFill>
              <a:schemeClr val="bg2"/>
            </a:solidFill>
            <a:miter lim="800000"/>
            <a:headEnd/>
            <a:tailEnd/>
          </a:ln>
          <a:effectLst/>
        </p:spPr>
        <p:txBody>
          <a:bodyPr anchor="ctr"/>
          <a:lstStyle/>
          <a:p>
            <a:r>
              <a:rPr lang="es-ES" sz="1100" dirty="0">
                <a:solidFill>
                  <a:srgbClr val="000000"/>
                </a:solidFill>
              </a:rPr>
              <a:t>Recepción, ejecución y mantenimiento de operaciones.</a:t>
            </a:r>
          </a:p>
        </p:txBody>
      </p:sp>
      <p:sp>
        <p:nvSpPr>
          <p:cNvPr id="100" name="Rounded Rectangle 14"/>
          <p:cNvSpPr/>
          <p:nvPr/>
        </p:nvSpPr>
        <p:spPr>
          <a:xfrm>
            <a:off x="6716066" y="2223551"/>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Categoría  de Riesgo Nivel III</a:t>
            </a:r>
          </a:p>
        </p:txBody>
      </p:sp>
      <p:sp>
        <p:nvSpPr>
          <p:cNvPr id="101" name="Rectangle 18"/>
          <p:cNvSpPr>
            <a:spLocks noChangeArrowheads="1"/>
          </p:cNvSpPr>
          <p:nvPr/>
        </p:nvSpPr>
        <p:spPr bwMode="auto">
          <a:xfrm>
            <a:off x="6716066" y="2434321"/>
            <a:ext cx="2286000" cy="270000"/>
          </a:xfrm>
          <a:prstGeom prst="rect">
            <a:avLst/>
          </a:prstGeom>
          <a:noFill/>
          <a:ln w="9525" algn="ctr">
            <a:solidFill>
              <a:schemeClr val="bg2"/>
            </a:solidFill>
            <a:miter lim="800000"/>
            <a:headEnd/>
            <a:tailEnd/>
          </a:ln>
          <a:effectLst/>
        </p:spPr>
        <p:txBody>
          <a:bodyPr anchor="ctr"/>
          <a:lstStyle/>
          <a:p>
            <a:r>
              <a:rPr lang="es-ES" sz="1100" dirty="0">
                <a:solidFill>
                  <a:srgbClr val="000000"/>
                </a:solidFill>
              </a:rPr>
              <a:t>Tareas incompletas o no ejecutadas.</a:t>
            </a:r>
          </a:p>
        </p:txBody>
      </p:sp>
      <p:sp>
        <p:nvSpPr>
          <p:cNvPr id="102" name="Rounded Rectangle 14"/>
          <p:cNvSpPr/>
          <p:nvPr/>
        </p:nvSpPr>
        <p:spPr>
          <a:xfrm>
            <a:off x="6716066" y="2768330"/>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Origen del Riesgo</a:t>
            </a:r>
          </a:p>
        </p:txBody>
      </p:sp>
      <p:sp>
        <p:nvSpPr>
          <p:cNvPr id="103" name="Rectangle 18"/>
          <p:cNvSpPr>
            <a:spLocks noChangeArrowheads="1"/>
          </p:cNvSpPr>
          <p:nvPr/>
        </p:nvSpPr>
        <p:spPr bwMode="auto">
          <a:xfrm>
            <a:off x="6716066" y="2983595"/>
            <a:ext cx="2286000" cy="270000"/>
          </a:xfrm>
          <a:prstGeom prst="rect">
            <a:avLst/>
          </a:prstGeom>
          <a:noFill/>
          <a:ln w="9525" algn="ctr">
            <a:solidFill>
              <a:schemeClr val="bg2"/>
            </a:solidFill>
            <a:miter lim="800000"/>
            <a:headEnd/>
            <a:tailEnd/>
          </a:ln>
          <a:effectLst/>
        </p:spPr>
        <p:txBody>
          <a:bodyPr anchor="ctr"/>
          <a:lstStyle/>
          <a:p>
            <a:r>
              <a:rPr lang="es-PE" sz="1100" dirty="0">
                <a:solidFill>
                  <a:srgbClr val="000000"/>
                </a:solidFill>
              </a:rPr>
              <a:t>Personas</a:t>
            </a:r>
            <a:endParaRPr lang="es-ES" sz="1100" dirty="0">
              <a:solidFill>
                <a:srgbClr val="000000"/>
              </a:solidFill>
            </a:endParaRPr>
          </a:p>
        </p:txBody>
      </p:sp>
      <p:sp>
        <p:nvSpPr>
          <p:cNvPr id="104" name="Rectangle 18"/>
          <p:cNvSpPr>
            <a:spLocks noChangeArrowheads="1"/>
          </p:cNvSpPr>
          <p:nvPr/>
        </p:nvSpPr>
        <p:spPr bwMode="auto">
          <a:xfrm>
            <a:off x="5102950" y="3786445"/>
            <a:ext cx="3780000" cy="469509"/>
          </a:xfrm>
          <a:prstGeom prst="rect">
            <a:avLst/>
          </a:prstGeom>
          <a:solidFill>
            <a:schemeClr val="bg1"/>
          </a:solidFill>
          <a:ln w="9525" algn="ctr">
            <a:solidFill>
              <a:schemeClr val="bg2"/>
            </a:solidFill>
            <a:miter lim="800000"/>
            <a:headEnd/>
            <a:tailEnd/>
          </a:ln>
          <a:effectLst/>
        </p:spPr>
        <p:txBody>
          <a:bodyPr anchor="ctr"/>
          <a:lstStyle/>
          <a:p>
            <a:r>
              <a:rPr lang="es-ES" sz="1100" dirty="0">
                <a:solidFill>
                  <a:srgbClr val="000000"/>
                </a:solidFill>
              </a:rPr>
              <a:t>La exposición de la imagen es interna y externa con un nivel de impacto medio.</a:t>
            </a:r>
          </a:p>
        </p:txBody>
      </p:sp>
      <p:sp>
        <p:nvSpPr>
          <p:cNvPr id="57" name="TextBox 56"/>
          <p:cNvSpPr txBox="1"/>
          <p:nvPr/>
        </p:nvSpPr>
        <p:spPr>
          <a:xfrm>
            <a:off x="705742" y="5958810"/>
            <a:ext cx="1819944" cy="261610"/>
          </a:xfrm>
          <a:prstGeom prst="rect">
            <a:avLst/>
          </a:prstGeom>
          <a:noFill/>
        </p:spPr>
        <p:txBody>
          <a:bodyPr wrap="square" rtlCol="0">
            <a:spAutoFit/>
          </a:bodyPr>
          <a:lstStyle/>
          <a:p>
            <a:r>
              <a:rPr lang="es-ES" sz="1100" dirty="0"/>
              <a:t>(NF): No Formalizado</a:t>
            </a:r>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dirty="0"/>
              <a:t>Anexo: Ficha Individual Riesgos Operacionales</a:t>
            </a:r>
          </a:p>
        </p:txBody>
      </p:sp>
      <p:sp>
        <p:nvSpPr>
          <p:cNvPr id="4" name="Rounded Rectangle 3"/>
          <p:cNvSpPr/>
          <p:nvPr/>
        </p:nvSpPr>
        <p:spPr>
          <a:xfrm>
            <a:off x="227770" y="764704"/>
            <a:ext cx="383790" cy="274320"/>
          </a:xfrm>
          <a:prstGeom prst="roundRect">
            <a:avLst/>
          </a:prstGeom>
          <a:solidFill>
            <a:srgbClr val="DB0613"/>
          </a:solidFill>
          <a:ln w="9525" algn="ctr">
            <a:noFill/>
            <a:miter lim="800000"/>
            <a:headEnd/>
            <a:tailEnd/>
          </a:ln>
          <a:effectLst/>
        </p:spPr>
        <p:txBody>
          <a:bodyPr anchor="ctr"/>
          <a:lstStyle/>
          <a:p>
            <a:pPr algn="ctr">
              <a:lnSpc>
                <a:spcPct val="80000"/>
              </a:lnSpc>
            </a:pPr>
            <a:r>
              <a:rPr lang="es-CL" sz="1200" b="1" dirty="0">
                <a:solidFill>
                  <a:srgbClr val="FFFFFF"/>
                </a:solidFill>
                <a:cs typeface="Arial" pitchFamily="34" charset="0"/>
              </a:rPr>
              <a:t>37</a:t>
            </a:r>
          </a:p>
        </p:txBody>
      </p:sp>
      <p:sp>
        <p:nvSpPr>
          <p:cNvPr id="5" name="Rectangle 18"/>
          <p:cNvSpPr>
            <a:spLocks noChangeArrowheads="1"/>
          </p:cNvSpPr>
          <p:nvPr/>
        </p:nvSpPr>
        <p:spPr bwMode="auto">
          <a:xfrm>
            <a:off x="227770" y="2548229"/>
            <a:ext cx="6400800" cy="708660"/>
          </a:xfrm>
          <a:prstGeom prst="rect">
            <a:avLst/>
          </a:prstGeom>
          <a:noFill/>
          <a:ln w="9525" algn="ctr">
            <a:solidFill>
              <a:schemeClr val="bg2"/>
            </a:solidFill>
            <a:miter lim="800000"/>
            <a:headEnd/>
            <a:tailEnd/>
          </a:ln>
          <a:effectLst/>
        </p:spPr>
        <p:txBody>
          <a:bodyPr/>
          <a:lstStyle/>
          <a:p>
            <a:r>
              <a:rPr lang="es-ES" sz="1100" dirty="0"/>
              <a:t>El riesgo se da cuando el Jefe de Gestión de Inversión presenta impedimentos para operar en Bloomberg.</a:t>
            </a:r>
            <a:endParaRPr lang="es-ES" sz="1100" dirty="0">
              <a:solidFill>
                <a:srgbClr val="002060"/>
              </a:solidFill>
            </a:endParaRPr>
          </a:p>
        </p:txBody>
      </p:sp>
      <p:sp>
        <p:nvSpPr>
          <p:cNvPr id="8" name="Rounded Rectangle 7"/>
          <p:cNvSpPr/>
          <p:nvPr/>
        </p:nvSpPr>
        <p:spPr>
          <a:xfrm>
            <a:off x="652842" y="764704"/>
            <a:ext cx="8352000" cy="274320"/>
          </a:xfrm>
          <a:prstGeom prst="roundRect">
            <a:avLst/>
          </a:prstGeom>
          <a:solidFill>
            <a:srgbClr val="DB0613"/>
          </a:solidFill>
          <a:ln w="9525" algn="ctr">
            <a:noFill/>
            <a:miter lim="800000"/>
            <a:headEnd/>
            <a:tailEnd/>
          </a:ln>
          <a:effectLst/>
        </p:spPr>
        <p:txBody>
          <a:bodyPr anchor="ctr"/>
          <a:lstStyle/>
          <a:p>
            <a:pPr>
              <a:lnSpc>
                <a:spcPct val="80000"/>
              </a:lnSpc>
            </a:pPr>
            <a:r>
              <a:rPr lang="es-ES" sz="1200" b="1" dirty="0">
                <a:solidFill>
                  <a:srgbClr val="FFFFFF"/>
                </a:solidFill>
                <a:cs typeface="Arial" pitchFamily="34" charset="0"/>
              </a:rPr>
              <a:t>Falla en los equipos de IT y telecomunicaciones con tiempo de inactividad de los mismos./Falla en equipos de software.</a:t>
            </a:r>
            <a:endParaRPr lang="es-CL" sz="1200" b="1" dirty="0">
              <a:solidFill>
                <a:srgbClr val="FFFFFF"/>
              </a:solidFill>
              <a:cs typeface="Arial" pitchFamily="34" charset="0"/>
            </a:endParaRPr>
          </a:p>
        </p:txBody>
      </p:sp>
      <p:sp>
        <p:nvSpPr>
          <p:cNvPr id="9" name="Rounded Rectangle 8"/>
          <p:cNvSpPr/>
          <p:nvPr/>
        </p:nvSpPr>
        <p:spPr>
          <a:xfrm>
            <a:off x="227770" y="2307916"/>
            <a:ext cx="64008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Descripción</a:t>
            </a:r>
          </a:p>
        </p:txBody>
      </p:sp>
      <p:sp>
        <p:nvSpPr>
          <p:cNvPr id="10" name="Rounded Rectangle 9"/>
          <p:cNvSpPr/>
          <p:nvPr/>
        </p:nvSpPr>
        <p:spPr>
          <a:xfrm>
            <a:off x="6716066" y="1111764"/>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Categoría  de Riesgo Nivel I</a:t>
            </a:r>
          </a:p>
        </p:txBody>
      </p:sp>
      <p:sp>
        <p:nvSpPr>
          <p:cNvPr id="11" name="Rectangle 18"/>
          <p:cNvSpPr>
            <a:spLocks noChangeArrowheads="1"/>
          </p:cNvSpPr>
          <p:nvPr/>
        </p:nvSpPr>
        <p:spPr bwMode="auto">
          <a:xfrm>
            <a:off x="6716066" y="1325572"/>
            <a:ext cx="2286000" cy="270000"/>
          </a:xfrm>
          <a:prstGeom prst="rect">
            <a:avLst/>
          </a:prstGeom>
          <a:noFill/>
          <a:ln w="9525" algn="ctr">
            <a:solidFill>
              <a:schemeClr val="bg2"/>
            </a:solidFill>
            <a:miter lim="800000"/>
            <a:headEnd/>
            <a:tailEnd/>
          </a:ln>
          <a:effectLst/>
        </p:spPr>
        <p:txBody>
          <a:bodyPr anchor="ctr"/>
          <a:lstStyle/>
          <a:p>
            <a:pPr>
              <a:lnSpc>
                <a:spcPts val="1000"/>
              </a:lnSpc>
            </a:pPr>
            <a:r>
              <a:rPr lang="es-ES" sz="1100" dirty="0"/>
              <a:t>Incidencias en el negocio y fallos en los sistemas</a:t>
            </a:r>
          </a:p>
        </p:txBody>
      </p:sp>
      <p:sp>
        <p:nvSpPr>
          <p:cNvPr id="12" name="Rounded Rectangle 11"/>
          <p:cNvSpPr/>
          <p:nvPr/>
        </p:nvSpPr>
        <p:spPr>
          <a:xfrm>
            <a:off x="6716066" y="1664503"/>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Categoría  de Riesgo Nivel II</a:t>
            </a:r>
          </a:p>
        </p:txBody>
      </p:sp>
      <p:sp>
        <p:nvSpPr>
          <p:cNvPr id="13" name="Rectangle 18"/>
          <p:cNvSpPr>
            <a:spLocks noChangeArrowheads="1"/>
          </p:cNvSpPr>
          <p:nvPr/>
        </p:nvSpPr>
        <p:spPr bwMode="auto">
          <a:xfrm>
            <a:off x="6716066" y="1877089"/>
            <a:ext cx="2286000" cy="270000"/>
          </a:xfrm>
          <a:prstGeom prst="rect">
            <a:avLst/>
          </a:prstGeom>
          <a:noFill/>
          <a:ln w="9525" algn="ctr">
            <a:solidFill>
              <a:schemeClr val="bg2"/>
            </a:solidFill>
            <a:miter lim="800000"/>
            <a:headEnd/>
            <a:tailEnd/>
          </a:ln>
          <a:effectLst/>
        </p:spPr>
        <p:txBody>
          <a:bodyPr anchor="ctr"/>
          <a:lstStyle/>
          <a:p>
            <a:r>
              <a:rPr lang="es-ES" sz="1100" dirty="0"/>
              <a:t>Interrupción del negocio y fallos en los sistemas.</a:t>
            </a:r>
          </a:p>
        </p:txBody>
      </p:sp>
      <p:sp>
        <p:nvSpPr>
          <p:cNvPr id="15" name="Rounded Rectangle 14"/>
          <p:cNvSpPr/>
          <p:nvPr/>
        </p:nvSpPr>
        <p:spPr>
          <a:xfrm>
            <a:off x="6716066" y="2223551"/>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Categoría  de Riesgo Nivel III</a:t>
            </a:r>
          </a:p>
        </p:txBody>
      </p:sp>
      <p:sp>
        <p:nvSpPr>
          <p:cNvPr id="16" name="Rectangle 18"/>
          <p:cNvSpPr>
            <a:spLocks noChangeArrowheads="1"/>
          </p:cNvSpPr>
          <p:nvPr/>
        </p:nvSpPr>
        <p:spPr bwMode="auto">
          <a:xfrm>
            <a:off x="6716066" y="2434321"/>
            <a:ext cx="2286000" cy="270000"/>
          </a:xfrm>
          <a:prstGeom prst="rect">
            <a:avLst/>
          </a:prstGeom>
          <a:noFill/>
          <a:ln w="9525" algn="ctr">
            <a:solidFill>
              <a:schemeClr val="bg2"/>
            </a:solidFill>
            <a:miter lim="800000"/>
            <a:headEnd/>
            <a:tailEnd/>
          </a:ln>
          <a:effectLst/>
        </p:spPr>
        <p:txBody>
          <a:bodyPr anchor="ctr"/>
          <a:lstStyle/>
          <a:p>
            <a:r>
              <a:rPr lang="es-ES" sz="900" dirty="0"/>
              <a:t>Cortes en los servicios/Interrupción en las aplicaciones</a:t>
            </a:r>
          </a:p>
        </p:txBody>
      </p:sp>
      <p:sp>
        <p:nvSpPr>
          <p:cNvPr id="17" name="Rounded Rectangle 16"/>
          <p:cNvSpPr/>
          <p:nvPr/>
        </p:nvSpPr>
        <p:spPr>
          <a:xfrm>
            <a:off x="216583" y="1110038"/>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Macroproceso</a:t>
            </a:r>
          </a:p>
        </p:txBody>
      </p:sp>
      <p:sp>
        <p:nvSpPr>
          <p:cNvPr id="18" name="Rectangle 18"/>
          <p:cNvSpPr>
            <a:spLocks noChangeArrowheads="1"/>
          </p:cNvSpPr>
          <p:nvPr/>
        </p:nvSpPr>
        <p:spPr bwMode="auto">
          <a:xfrm>
            <a:off x="2568409" y="1110038"/>
            <a:ext cx="3877200" cy="182880"/>
          </a:xfrm>
          <a:prstGeom prst="rect">
            <a:avLst/>
          </a:prstGeom>
          <a:noFill/>
          <a:ln w="9525" algn="ctr">
            <a:solidFill>
              <a:schemeClr val="bg2"/>
            </a:solidFill>
            <a:miter lim="800000"/>
            <a:headEnd/>
            <a:tailEnd/>
          </a:ln>
          <a:effectLst/>
        </p:spPr>
        <p:txBody>
          <a:bodyPr anchor="ctr"/>
          <a:lstStyle/>
          <a:p>
            <a:r>
              <a:rPr lang="es-ES" sz="1100" dirty="0"/>
              <a:t>Administración de Portafolio de Inversiones</a:t>
            </a:r>
          </a:p>
        </p:txBody>
      </p:sp>
      <p:sp>
        <p:nvSpPr>
          <p:cNvPr id="19" name="Rounded Rectangle 18"/>
          <p:cNvSpPr/>
          <p:nvPr/>
        </p:nvSpPr>
        <p:spPr>
          <a:xfrm>
            <a:off x="216583" y="1339045"/>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Proceso</a:t>
            </a:r>
          </a:p>
        </p:txBody>
      </p:sp>
      <p:sp>
        <p:nvSpPr>
          <p:cNvPr id="20" name="Rectangle 18"/>
          <p:cNvSpPr>
            <a:spLocks noChangeArrowheads="1"/>
          </p:cNvSpPr>
          <p:nvPr/>
        </p:nvSpPr>
        <p:spPr bwMode="auto">
          <a:xfrm>
            <a:off x="2568409" y="1339045"/>
            <a:ext cx="3877200" cy="182880"/>
          </a:xfrm>
          <a:prstGeom prst="rect">
            <a:avLst/>
          </a:prstGeom>
          <a:noFill/>
          <a:ln w="9525" algn="ctr">
            <a:solidFill>
              <a:schemeClr val="bg2"/>
            </a:solidFill>
            <a:miter lim="800000"/>
            <a:headEnd/>
            <a:tailEnd/>
          </a:ln>
          <a:effectLst/>
        </p:spPr>
        <p:txBody>
          <a:bodyPr anchor="ctr"/>
          <a:lstStyle/>
          <a:p>
            <a:r>
              <a:rPr lang="es-ES" sz="1100" dirty="0"/>
              <a:t>Administración de fondos</a:t>
            </a:r>
          </a:p>
        </p:txBody>
      </p:sp>
      <p:sp>
        <p:nvSpPr>
          <p:cNvPr id="59" name="Rounded Rectangle 58"/>
          <p:cNvSpPr/>
          <p:nvPr/>
        </p:nvSpPr>
        <p:spPr>
          <a:xfrm>
            <a:off x="216583" y="1579694"/>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Subproceso</a:t>
            </a:r>
          </a:p>
        </p:txBody>
      </p:sp>
      <p:sp>
        <p:nvSpPr>
          <p:cNvPr id="60" name="Rectangle 18"/>
          <p:cNvSpPr>
            <a:spLocks noChangeArrowheads="1"/>
          </p:cNvSpPr>
          <p:nvPr/>
        </p:nvSpPr>
        <p:spPr bwMode="auto">
          <a:xfrm>
            <a:off x="2568409" y="1579694"/>
            <a:ext cx="3875799" cy="182880"/>
          </a:xfrm>
          <a:prstGeom prst="rect">
            <a:avLst/>
          </a:prstGeom>
          <a:noFill/>
          <a:ln w="9525" algn="ctr">
            <a:solidFill>
              <a:schemeClr val="bg2"/>
            </a:solidFill>
            <a:miter lim="800000"/>
            <a:headEnd/>
            <a:tailEnd/>
          </a:ln>
          <a:effectLst/>
        </p:spPr>
        <p:txBody>
          <a:bodyPr anchor="ctr"/>
          <a:lstStyle/>
          <a:p>
            <a:r>
              <a:rPr lang="es-ES" sz="1100" dirty="0"/>
              <a:t>Money </a:t>
            </a:r>
            <a:r>
              <a:rPr lang="es-ES" sz="1100" dirty="0" err="1"/>
              <a:t>Market</a:t>
            </a:r>
            <a:endParaRPr lang="es-ES" sz="1100" dirty="0"/>
          </a:p>
        </p:txBody>
      </p:sp>
      <p:sp>
        <p:nvSpPr>
          <p:cNvPr id="61" name="Rounded Rectangle 60"/>
          <p:cNvSpPr/>
          <p:nvPr/>
        </p:nvSpPr>
        <p:spPr>
          <a:xfrm>
            <a:off x="226806" y="1826440"/>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Línea de Negocio</a:t>
            </a:r>
          </a:p>
        </p:txBody>
      </p:sp>
      <p:sp>
        <p:nvSpPr>
          <p:cNvPr id="63" name="Rounded Rectangle 62"/>
          <p:cNvSpPr/>
          <p:nvPr/>
        </p:nvSpPr>
        <p:spPr>
          <a:xfrm>
            <a:off x="226806" y="2079535"/>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Responsable</a:t>
            </a:r>
          </a:p>
        </p:txBody>
      </p:sp>
      <p:sp>
        <p:nvSpPr>
          <p:cNvPr id="65" name="Rectangle 18"/>
          <p:cNvSpPr>
            <a:spLocks noChangeArrowheads="1"/>
          </p:cNvSpPr>
          <p:nvPr/>
        </p:nvSpPr>
        <p:spPr bwMode="auto">
          <a:xfrm>
            <a:off x="2568409" y="1826440"/>
            <a:ext cx="3875799" cy="182880"/>
          </a:xfrm>
          <a:prstGeom prst="rect">
            <a:avLst/>
          </a:prstGeom>
          <a:noFill/>
          <a:ln w="9525" algn="ctr">
            <a:solidFill>
              <a:schemeClr val="bg2"/>
            </a:solidFill>
            <a:miter lim="800000"/>
            <a:headEnd/>
            <a:tailEnd/>
          </a:ln>
          <a:effectLst/>
        </p:spPr>
        <p:txBody>
          <a:bodyPr anchor="ctr"/>
          <a:lstStyle/>
          <a:p>
            <a:r>
              <a:rPr lang="es-ES" sz="1100" dirty="0"/>
              <a:t>Negociación y Ventas</a:t>
            </a:r>
          </a:p>
        </p:txBody>
      </p:sp>
      <p:sp>
        <p:nvSpPr>
          <p:cNvPr id="66" name="Rectangle 18"/>
          <p:cNvSpPr>
            <a:spLocks noChangeArrowheads="1"/>
          </p:cNvSpPr>
          <p:nvPr/>
        </p:nvSpPr>
        <p:spPr bwMode="auto">
          <a:xfrm>
            <a:off x="2555776" y="2079535"/>
            <a:ext cx="3875799" cy="182880"/>
          </a:xfrm>
          <a:prstGeom prst="rect">
            <a:avLst/>
          </a:prstGeom>
          <a:noFill/>
          <a:ln w="9525" algn="ctr">
            <a:solidFill>
              <a:schemeClr val="bg2"/>
            </a:solidFill>
            <a:miter lim="800000"/>
            <a:headEnd/>
            <a:tailEnd/>
          </a:ln>
          <a:effectLst/>
        </p:spPr>
        <p:txBody>
          <a:bodyPr anchor="ctr"/>
          <a:lstStyle/>
          <a:p>
            <a:r>
              <a:rPr lang="es-ES" sz="1100" dirty="0"/>
              <a:t>Jefe de Gestión de Inversión</a:t>
            </a:r>
          </a:p>
        </p:txBody>
      </p:sp>
      <p:sp>
        <p:nvSpPr>
          <p:cNvPr id="78" name="Rounded Rectangle 14"/>
          <p:cNvSpPr/>
          <p:nvPr/>
        </p:nvSpPr>
        <p:spPr>
          <a:xfrm>
            <a:off x="6716066" y="2768330"/>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Origen del Riesgo</a:t>
            </a:r>
          </a:p>
        </p:txBody>
      </p:sp>
      <p:sp>
        <p:nvSpPr>
          <p:cNvPr id="79" name="Rectangle 18"/>
          <p:cNvSpPr>
            <a:spLocks noChangeArrowheads="1"/>
          </p:cNvSpPr>
          <p:nvPr/>
        </p:nvSpPr>
        <p:spPr bwMode="auto">
          <a:xfrm>
            <a:off x="6716066" y="2983595"/>
            <a:ext cx="2286000" cy="270000"/>
          </a:xfrm>
          <a:prstGeom prst="rect">
            <a:avLst/>
          </a:prstGeom>
          <a:noFill/>
          <a:ln w="9525" algn="ctr">
            <a:solidFill>
              <a:schemeClr val="bg2"/>
            </a:solidFill>
            <a:miter lim="800000"/>
            <a:headEnd/>
            <a:tailEnd/>
          </a:ln>
          <a:effectLst/>
        </p:spPr>
        <p:txBody>
          <a:bodyPr anchor="ctr"/>
          <a:lstStyle/>
          <a:p>
            <a:r>
              <a:rPr lang="es-ES" sz="1100" dirty="0">
                <a:solidFill>
                  <a:srgbClr val="000000"/>
                </a:solidFill>
              </a:rPr>
              <a:t>Tecnología</a:t>
            </a:r>
          </a:p>
        </p:txBody>
      </p:sp>
      <p:sp>
        <p:nvSpPr>
          <p:cNvPr id="68" name="AutoShape 179"/>
          <p:cNvSpPr>
            <a:spLocks noChangeArrowheads="1"/>
          </p:cNvSpPr>
          <p:nvPr/>
        </p:nvSpPr>
        <p:spPr bwMode="auto">
          <a:xfrm>
            <a:off x="611560" y="3482416"/>
            <a:ext cx="3960812" cy="1275707"/>
          </a:xfrm>
          <a:prstGeom prst="roundRect">
            <a:avLst>
              <a:gd name="adj" fmla="val 9481"/>
            </a:avLst>
          </a:prstGeom>
          <a:solidFill>
            <a:schemeClr val="accent1">
              <a:lumMod val="20000"/>
              <a:lumOff val="80000"/>
            </a:schemeClr>
          </a:solidFill>
          <a:ln w="9525" algn="ctr">
            <a:noFill/>
            <a:round/>
            <a:headEnd/>
            <a:tailEnd/>
          </a:ln>
          <a:effectLst/>
        </p:spPr>
        <p:txBody>
          <a:bodyPr wrap="none" anchor="ctr"/>
          <a:lstStyle/>
          <a:p>
            <a:endParaRPr lang="es-CL">
              <a:solidFill>
                <a:srgbClr val="002060"/>
              </a:solidFill>
            </a:endParaRPr>
          </a:p>
        </p:txBody>
      </p:sp>
      <p:sp>
        <p:nvSpPr>
          <p:cNvPr id="73" name="Text Box 30"/>
          <p:cNvSpPr txBox="1">
            <a:spLocks noChangeArrowheads="1"/>
          </p:cNvSpPr>
          <p:nvPr/>
        </p:nvSpPr>
        <p:spPr bwMode="auto">
          <a:xfrm>
            <a:off x="190747" y="3259373"/>
            <a:ext cx="3671888" cy="276999"/>
          </a:xfrm>
          <a:prstGeom prst="rect">
            <a:avLst/>
          </a:prstGeom>
          <a:noFill/>
          <a:ln w="9525" algn="ctr">
            <a:noFill/>
            <a:miter lim="800000"/>
            <a:headEnd/>
            <a:tailEnd/>
          </a:ln>
          <a:effectLst/>
        </p:spPr>
        <p:txBody>
          <a:bodyPr>
            <a:spAutoFit/>
          </a:bodyPr>
          <a:lstStyle/>
          <a:p>
            <a:pPr>
              <a:spcBef>
                <a:spcPct val="50000"/>
              </a:spcBef>
            </a:pPr>
            <a:r>
              <a:rPr lang="es-CL" sz="1200" b="1" i="1" dirty="0">
                <a:solidFill>
                  <a:srgbClr val="A3A3E0"/>
                </a:solidFill>
              </a:rPr>
              <a:t>Resultados valoración de riesgos</a:t>
            </a:r>
            <a:endParaRPr lang="es-ES" sz="1200" b="1" i="1" dirty="0">
              <a:solidFill>
                <a:srgbClr val="A3A3E0"/>
              </a:solidFill>
            </a:endParaRPr>
          </a:p>
        </p:txBody>
      </p:sp>
      <p:sp>
        <p:nvSpPr>
          <p:cNvPr id="76" name="Rounded Rectangle 75"/>
          <p:cNvSpPr/>
          <p:nvPr/>
        </p:nvSpPr>
        <p:spPr>
          <a:xfrm>
            <a:off x="902959" y="4255955"/>
            <a:ext cx="1920240" cy="170094"/>
          </a:xfrm>
          <a:prstGeom prst="roundRect">
            <a:avLst/>
          </a:prstGeom>
          <a:solidFill>
            <a:srgbClr val="DB0613"/>
          </a:solidFill>
          <a:ln w="9525" algn="ctr">
            <a:noFill/>
            <a:miter lim="800000"/>
            <a:headEnd/>
            <a:tailEnd/>
          </a:ln>
          <a:effectLst/>
        </p:spPr>
        <p:txBody>
          <a:bodyPr tIns="91440" anchor="ctr"/>
          <a:lstStyle/>
          <a:p>
            <a:pPr>
              <a:lnSpc>
                <a:spcPct val="80000"/>
              </a:lnSpc>
            </a:pPr>
            <a:r>
              <a:rPr lang="es-CL" sz="1100" b="1" dirty="0">
                <a:solidFill>
                  <a:srgbClr val="FFFFFF"/>
                </a:solidFill>
                <a:cs typeface="Arial" pitchFamily="34" charset="0"/>
              </a:rPr>
              <a:t>Pérdida Esperada Anual</a:t>
            </a:r>
          </a:p>
        </p:txBody>
      </p:sp>
      <p:sp>
        <p:nvSpPr>
          <p:cNvPr id="77" name="Rectangle 18"/>
          <p:cNvSpPr>
            <a:spLocks noChangeArrowheads="1"/>
          </p:cNvSpPr>
          <p:nvPr/>
        </p:nvSpPr>
        <p:spPr bwMode="auto">
          <a:xfrm>
            <a:off x="2859920" y="4255955"/>
            <a:ext cx="1554480" cy="170094"/>
          </a:xfrm>
          <a:prstGeom prst="rect">
            <a:avLst/>
          </a:prstGeom>
          <a:solidFill>
            <a:schemeClr val="bg1"/>
          </a:solidFill>
          <a:ln w="9525" algn="ctr">
            <a:solidFill>
              <a:schemeClr val="bg2"/>
            </a:solidFill>
            <a:miter lim="800000"/>
            <a:headEnd/>
            <a:tailEnd/>
          </a:ln>
          <a:effectLst/>
        </p:spPr>
        <p:txBody>
          <a:bodyPr anchor="ctr"/>
          <a:lstStyle/>
          <a:p>
            <a:pPr algn="ctr"/>
            <a:r>
              <a:rPr lang="es-ES" sz="1100" dirty="0">
                <a:solidFill>
                  <a:srgbClr val="000000"/>
                </a:solidFill>
              </a:rPr>
              <a:t>S/. 80</a:t>
            </a:r>
            <a:r>
              <a:rPr lang="es-ES" sz="1100" dirty="0"/>
              <a:t>0 .00</a:t>
            </a:r>
            <a:endParaRPr lang="es-ES" sz="1100" dirty="0">
              <a:solidFill>
                <a:srgbClr val="000000"/>
              </a:solidFill>
            </a:endParaRPr>
          </a:p>
        </p:txBody>
      </p:sp>
      <p:sp>
        <p:nvSpPr>
          <p:cNvPr id="80" name="Rounded Rectangle 79"/>
          <p:cNvSpPr/>
          <p:nvPr/>
        </p:nvSpPr>
        <p:spPr>
          <a:xfrm>
            <a:off x="902959" y="4485567"/>
            <a:ext cx="1920240" cy="170094"/>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VaR Cualitativo Anual</a:t>
            </a:r>
          </a:p>
        </p:txBody>
      </p:sp>
      <p:sp>
        <p:nvSpPr>
          <p:cNvPr id="81" name="Rectangle 18"/>
          <p:cNvSpPr>
            <a:spLocks noChangeArrowheads="1"/>
          </p:cNvSpPr>
          <p:nvPr/>
        </p:nvSpPr>
        <p:spPr bwMode="auto">
          <a:xfrm>
            <a:off x="2859920" y="4485567"/>
            <a:ext cx="1554480" cy="170094"/>
          </a:xfrm>
          <a:prstGeom prst="rect">
            <a:avLst/>
          </a:prstGeom>
          <a:solidFill>
            <a:schemeClr val="bg1"/>
          </a:solidFill>
          <a:ln w="9525" algn="ctr">
            <a:solidFill>
              <a:schemeClr val="bg2"/>
            </a:solidFill>
            <a:miter lim="800000"/>
            <a:headEnd/>
            <a:tailEnd/>
          </a:ln>
          <a:effectLst/>
        </p:spPr>
        <p:txBody>
          <a:bodyPr anchor="ctr"/>
          <a:lstStyle/>
          <a:p>
            <a:pPr algn="ctr"/>
            <a:r>
              <a:rPr lang="es-ES" sz="1100" dirty="0">
                <a:solidFill>
                  <a:srgbClr val="000000"/>
                </a:solidFill>
              </a:rPr>
              <a:t>S/.</a:t>
            </a:r>
            <a:r>
              <a:rPr lang="es-ES" sz="1100" dirty="0"/>
              <a:t> 4,627.06 </a:t>
            </a:r>
            <a:endParaRPr lang="es-ES" sz="1100" dirty="0">
              <a:solidFill>
                <a:srgbClr val="000000"/>
              </a:solidFill>
            </a:endParaRPr>
          </a:p>
        </p:txBody>
      </p:sp>
      <p:sp>
        <p:nvSpPr>
          <p:cNvPr id="82" name="Rounded Rectangle 81"/>
          <p:cNvSpPr/>
          <p:nvPr/>
        </p:nvSpPr>
        <p:spPr>
          <a:xfrm>
            <a:off x="891084" y="3553916"/>
            <a:ext cx="1920240" cy="170094"/>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Frecuencia  Evento Pérdida</a:t>
            </a:r>
          </a:p>
        </p:txBody>
      </p:sp>
      <p:sp>
        <p:nvSpPr>
          <p:cNvPr id="83" name="Rectangle 18"/>
          <p:cNvSpPr>
            <a:spLocks noChangeArrowheads="1"/>
          </p:cNvSpPr>
          <p:nvPr/>
        </p:nvSpPr>
        <p:spPr bwMode="auto">
          <a:xfrm>
            <a:off x="2859920" y="3553916"/>
            <a:ext cx="1554480" cy="170094"/>
          </a:xfrm>
          <a:prstGeom prst="rect">
            <a:avLst/>
          </a:prstGeom>
          <a:solidFill>
            <a:schemeClr val="bg1"/>
          </a:solidFill>
          <a:ln w="9525" algn="ctr">
            <a:solidFill>
              <a:schemeClr val="bg2"/>
            </a:solidFill>
            <a:miter lim="800000"/>
            <a:headEnd/>
            <a:tailEnd/>
          </a:ln>
          <a:effectLst/>
        </p:spPr>
        <p:txBody>
          <a:bodyPr anchor="ctr"/>
          <a:lstStyle/>
          <a:p>
            <a:pPr algn="ctr"/>
            <a:r>
              <a:rPr lang="es-ES" sz="1100" dirty="0">
                <a:solidFill>
                  <a:srgbClr val="000000"/>
                </a:solidFill>
              </a:rPr>
              <a:t>1 vez por 1 año</a:t>
            </a:r>
          </a:p>
        </p:txBody>
      </p:sp>
      <p:sp>
        <p:nvSpPr>
          <p:cNvPr id="84" name="Rounded Rectangle 83"/>
          <p:cNvSpPr/>
          <p:nvPr/>
        </p:nvSpPr>
        <p:spPr>
          <a:xfrm>
            <a:off x="891084" y="3783528"/>
            <a:ext cx="1920240" cy="170094"/>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Impacto Medio Evento</a:t>
            </a:r>
          </a:p>
        </p:txBody>
      </p:sp>
      <p:sp>
        <p:nvSpPr>
          <p:cNvPr id="85" name="Rectangle 18"/>
          <p:cNvSpPr>
            <a:spLocks noChangeArrowheads="1"/>
          </p:cNvSpPr>
          <p:nvPr/>
        </p:nvSpPr>
        <p:spPr bwMode="auto">
          <a:xfrm>
            <a:off x="2859920" y="3783528"/>
            <a:ext cx="1554480" cy="170094"/>
          </a:xfrm>
          <a:prstGeom prst="rect">
            <a:avLst/>
          </a:prstGeom>
          <a:solidFill>
            <a:schemeClr val="bg1"/>
          </a:solidFill>
          <a:ln w="9525" algn="ctr">
            <a:solidFill>
              <a:schemeClr val="bg2"/>
            </a:solidFill>
            <a:miter lim="800000"/>
            <a:headEnd/>
            <a:tailEnd/>
          </a:ln>
          <a:effectLst/>
        </p:spPr>
        <p:txBody>
          <a:bodyPr anchor="ctr"/>
          <a:lstStyle/>
          <a:p>
            <a:pPr algn="ctr"/>
            <a:r>
              <a:rPr lang="es-ES" sz="1100" dirty="0">
                <a:solidFill>
                  <a:srgbClr val="000000"/>
                </a:solidFill>
              </a:rPr>
              <a:t>S/. </a:t>
            </a:r>
            <a:r>
              <a:rPr lang="es-ES" sz="1100" dirty="0"/>
              <a:t>800.00 </a:t>
            </a:r>
            <a:endParaRPr lang="es-ES" sz="1100" dirty="0">
              <a:solidFill>
                <a:srgbClr val="000000"/>
              </a:solidFill>
            </a:endParaRPr>
          </a:p>
        </p:txBody>
      </p:sp>
      <p:sp>
        <p:nvSpPr>
          <p:cNvPr id="86" name="Rounded Rectangle 85"/>
          <p:cNvSpPr/>
          <p:nvPr/>
        </p:nvSpPr>
        <p:spPr>
          <a:xfrm>
            <a:off x="891084" y="4019108"/>
            <a:ext cx="1920240" cy="170094"/>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Impacto Peor Escenario</a:t>
            </a:r>
          </a:p>
        </p:txBody>
      </p:sp>
      <p:sp>
        <p:nvSpPr>
          <p:cNvPr id="87" name="Rectangle 18"/>
          <p:cNvSpPr>
            <a:spLocks noChangeArrowheads="1"/>
          </p:cNvSpPr>
          <p:nvPr/>
        </p:nvSpPr>
        <p:spPr bwMode="auto">
          <a:xfrm>
            <a:off x="2859920" y="4019108"/>
            <a:ext cx="1554480" cy="170094"/>
          </a:xfrm>
          <a:prstGeom prst="rect">
            <a:avLst/>
          </a:prstGeom>
          <a:solidFill>
            <a:schemeClr val="bg1"/>
          </a:solidFill>
          <a:ln w="9525" algn="ctr">
            <a:solidFill>
              <a:schemeClr val="bg2"/>
            </a:solidFill>
            <a:miter lim="800000"/>
            <a:headEnd/>
            <a:tailEnd/>
          </a:ln>
          <a:effectLst/>
        </p:spPr>
        <p:txBody>
          <a:bodyPr anchor="ctr"/>
          <a:lstStyle/>
          <a:p>
            <a:pPr algn="ctr"/>
            <a:r>
              <a:rPr lang="es-ES" sz="1100" dirty="0">
                <a:solidFill>
                  <a:srgbClr val="000000"/>
                </a:solidFill>
              </a:rPr>
              <a:t>S/. </a:t>
            </a:r>
            <a:r>
              <a:rPr lang="es-ES" sz="1100" dirty="0"/>
              <a:t>1,600.00</a:t>
            </a:r>
            <a:endParaRPr lang="es-ES" sz="1100" dirty="0">
              <a:solidFill>
                <a:srgbClr val="000000"/>
              </a:solidFill>
            </a:endParaRPr>
          </a:p>
        </p:txBody>
      </p:sp>
      <p:sp>
        <p:nvSpPr>
          <p:cNvPr id="88" name="AutoShape 47"/>
          <p:cNvSpPr>
            <a:spLocks noChangeAspect="1" noChangeArrowheads="1"/>
          </p:cNvSpPr>
          <p:nvPr/>
        </p:nvSpPr>
        <p:spPr bwMode="blackWhite">
          <a:xfrm>
            <a:off x="263032" y="3482416"/>
            <a:ext cx="503986" cy="1274400"/>
          </a:xfrm>
          <a:prstGeom prst="rightArrow">
            <a:avLst>
              <a:gd name="adj1" fmla="val 100000"/>
              <a:gd name="adj2" fmla="val 11009"/>
            </a:avLst>
          </a:prstGeom>
          <a:solidFill>
            <a:srgbClr val="969696"/>
          </a:solidFill>
          <a:ln w="12700">
            <a:noFill/>
            <a:miter lim="800000"/>
            <a:headEnd/>
            <a:tailEnd/>
          </a:ln>
          <a:effectLst>
            <a:outerShdw dist="35921" dir="2700000" algn="ctr" rotWithShape="0">
              <a:schemeClr val="bg2"/>
            </a:outerShdw>
          </a:effectLst>
        </p:spPr>
        <p:txBody>
          <a:bodyPr vert="vert270" anchor="ctr"/>
          <a:lstStyle/>
          <a:p>
            <a:pPr algn="ctr">
              <a:lnSpc>
                <a:spcPts val="1000"/>
              </a:lnSpc>
            </a:pPr>
            <a:r>
              <a:rPr lang="es-ES" sz="1100" b="1" noProof="1">
                <a:solidFill>
                  <a:srgbClr val="FFFFFF"/>
                </a:solidFill>
                <a:cs typeface="Arial" charset="0"/>
              </a:rPr>
              <a:t>Evaluación Riesgo Operacional</a:t>
            </a:r>
          </a:p>
        </p:txBody>
      </p:sp>
      <p:sp>
        <p:nvSpPr>
          <p:cNvPr id="89" name="AutoShape 179"/>
          <p:cNvSpPr>
            <a:spLocks noChangeArrowheads="1"/>
          </p:cNvSpPr>
          <p:nvPr/>
        </p:nvSpPr>
        <p:spPr bwMode="auto">
          <a:xfrm>
            <a:off x="4932039" y="3493021"/>
            <a:ext cx="4037169" cy="864000"/>
          </a:xfrm>
          <a:prstGeom prst="roundRect">
            <a:avLst>
              <a:gd name="adj" fmla="val 9481"/>
            </a:avLst>
          </a:prstGeom>
          <a:solidFill>
            <a:schemeClr val="accent1">
              <a:lumMod val="20000"/>
              <a:lumOff val="80000"/>
            </a:schemeClr>
          </a:solidFill>
          <a:ln w="9525" algn="ctr">
            <a:noFill/>
            <a:round/>
            <a:headEnd/>
            <a:tailEnd/>
          </a:ln>
          <a:effectLst/>
        </p:spPr>
        <p:txBody>
          <a:bodyPr wrap="none" anchor="ctr"/>
          <a:lstStyle/>
          <a:p>
            <a:endParaRPr lang="es-CL">
              <a:solidFill>
                <a:srgbClr val="002060"/>
              </a:solidFill>
            </a:endParaRPr>
          </a:p>
        </p:txBody>
      </p:sp>
      <p:sp>
        <p:nvSpPr>
          <p:cNvPr id="90" name="AutoShape 47"/>
          <p:cNvSpPr>
            <a:spLocks noChangeArrowheads="1"/>
          </p:cNvSpPr>
          <p:nvPr/>
        </p:nvSpPr>
        <p:spPr bwMode="blackWhite">
          <a:xfrm>
            <a:off x="4678512" y="3494523"/>
            <a:ext cx="353942" cy="864000"/>
          </a:xfrm>
          <a:prstGeom prst="rightArrow">
            <a:avLst>
              <a:gd name="adj1" fmla="val 100000"/>
              <a:gd name="adj2" fmla="val 11009"/>
            </a:avLst>
          </a:prstGeom>
          <a:solidFill>
            <a:srgbClr val="969696"/>
          </a:solidFill>
          <a:ln w="12700">
            <a:noFill/>
            <a:miter lim="800000"/>
            <a:headEnd/>
            <a:tailEnd/>
          </a:ln>
          <a:effectLst>
            <a:outerShdw dist="35921" dir="2700000" algn="ctr" rotWithShape="0">
              <a:schemeClr val="bg2"/>
            </a:outerShdw>
          </a:effectLst>
        </p:spPr>
        <p:txBody>
          <a:bodyPr vert="vert270" anchor="ctr"/>
          <a:lstStyle/>
          <a:p>
            <a:pPr algn="ctr">
              <a:lnSpc>
                <a:spcPts val="1000"/>
              </a:lnSpc>
            </a:pPr>
            <a:r>
              <a:rPr lang="es-ES" sz="1100" b="1" noProof="1">
                <a:solidFill>
                  <a:srgbClr val="FFFFFF"/>
                </a:solidFill>
                <a:cs typeface="Arial" charset="0"/>
              </a:rPr>
              <a:t>Impacto Reputacional</a:t>
            </a:r>
          </a:p>
        </p:txBody>
      </p:sp>
      <p:sp>
        <p:nvSpPr>
          <p:cNvPr id="91" name="Rectangle 18"/>
          <p:cNvSpPr>
            <a:spLocks noChangeArrowheads="1"/>
          </p:cNvSpPr>
          <p:nvPr/>
        </p:nvSpPr>
        <p:spPr bwMode="auto">
          <a:xfrm>
            <a:off x="8334310" y="3568288"/>
            <a:ext cx="548640" cy="170094"/>
          </a:xfrm>
          <a:prstGeom prst="rect">
            <a:avLst/>
          </a:prstGeom>
          <a:solidFill>
            <a:schemeClr val="bg1"/>
          </a:solidFill>
          <a:ln w="9525" algn="ctr">
            <a:solidFill>
              <a:schemeClr val="bg2"/>
            </a:solidFill>
            <a:miter lim="800000"/>
            <a:headEnd/>
            <a:tailEnd/>
          </a:ln>
          <a:effectLst/>
        </p:spPr>
        <p:txBody>
          <a:bodyPr anchor="ctr"/>
          <a:lstStyle/>
          <a:p>
            <a:pPr algn="ctr"/>
            <a:r>
              <a:rPr lang="es-ES" sz="1100" dirty="0">
                <a:solidFill>
                  <a:srgbClr val="002060"/>
                </a:solidFill>
              </a:rPr>
              <a:t>2</a:t>
            </a:r>
          </a:p>
        </p:txBody>
      </p:sp>
      <p:sp>
        <p:nvSpPr>
          <p:cNvPr id="92" name="Rounded Rectangle 91"/>
          <p:cNvSpPr/>
          <p:nvPr/>
        </p:nvSpPr>
        <p:spPr>
          <a:xfrm>
            <a:off x="5102950" y="3568288"/>
            <a:ext cx="3132000" cy="170094"/>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Afectación a contrapartes</a:t>
            </a:r>
          </a:p>
        </p:txBody>
      </p:sp>
      <p:sp>
        <p:nvSpPr>
          <p:cNvPr id="93" name="Rectangle 18"/>
          <p:cNvSpPr>
            <a:spLocks noChangeArrowheads="1"/>
          </p:cNvSpPr>
          <p:nvPr/>
        </p:nvSpPr>
        <p:spPr bwMode="auto">
          <a:xfrm>
            <a:off x="5102950" y="3786445"/>
            <a:ext cx="3780000" cy="469509"/>
          </a:xfrm>
          <a:prstGeom prst="rect">
            <a:avLst/>
          </a:prstGeom>
          <a:solidFill>
            <a:schemeClr val="bg1"/>
          </a:solidFill>
          <a:ln w="9525" algn="ctr">
            <a:solidFill>
              <a:schemeClr val="bg2"/>
            </a:solidFill>
            <a:miter lim="800000"/>
            <a:headEnd/>
            <a:tailEnd/>
          </a:ln>
          <a:effectLst/>
        </p:spPr>
        <p:txBody>
          <a:bodyPr anchor="ctr"/>
          <a:lstStyle/>
          <a:p>
            <a:r>
              <a:rPr lang="es-ES" sz="1100" dirty="0">
                <a:solidFill>
                  <a:srgbClr val="000000"/>
                </a:solidFill>
              </a:rPr>
              <a:t>La exposición de la imagen es interna pero no limitada.</a:t>
            </a:r>
          </a:p>
        </p:txBody>
      </p:sp>
      <p:sp>
        <p:nvSpPr>
          <p:cNvPr id="94" name="Text Box 30"/>
          <p:cNvSpPr txBox="1">
            <a:spLocks noChangeArrowheads="1"/>
          </p:cNvSpPr>
          <p:nvPr/>
        </p:nvSpPr>
        <p:spPr bwMode="auto">
          <a:xfrm>
            <a:off x="190746" y="4838419"/>
            <a:ext cx="3996000" cy="276999"/>
          </a:xfrm>
          <a:prstGeom prst="rect">
            <a:avLst/>
          </a:prstGeom>
          <a:noFill/>
          <a:ln w="9525" algn="ctr">
            <a:noFill/>
            <a:miter lim="800000"/>
            <a:headEnd/>
            <a:tailEnd/>
          </a:ln>
          <a:effectLst/>
        </p:spPr>
        <p:txBody>
          <a:bodyPr wrap="square">
            <a:spAutoFit/>
          </a:bodyPr>
          <a:lstStyle/>
          <a:p>
            <a:pPr>
              <a:spcBef>
                <a:spcPct val="50000"/>
              </a:spcBef>
            </a:pPr>
            <a:r>
              <a:rPr lang="es-CL" sz="1200" b="1" i="1" dirty="0">
                <a:solidFill>
                  <a:srgbClr val="A3A3E0"/>
                </a:solidFill>
              </a:rPr>
              <a:t>Resultados valoración de controles / factores mitigantes</a:t>
            </a:r>
            <a:endParaRPr lang="es-ES" sz="1200" b="1" i="1" dirty="0">
              <a:solidFill>
                <a:srgbClr val="A3A3E0"/>
              </a:solidFill>
            </a:endParaRPr>
          </a:p>
        </p:txBody>
      </p:sp>
      <p:sp>
        <p:nvSpPr>
          <p:cNvPr id="98" name="AutoShape 179"/>
          <p:cNvSpPr>
            <a:spLocks noChangeArrowheads="1"/>
          </p:cNvSpPr>
          <p:nvPr/>
        </p:nvSpPr>
        <p:spPr bwMode="auto">
          <a:xfrm>
            <a:off x="4927319" y="4397238"/>
            <a:ext cx="4037169" cy="892800"/>
          </a:xfrm>
          <a:prstGeom prst="roundRect">
            <a:avLst>
              <a:gd name="adj" fmla="val 9481"/>
            </a:avLst>
          </a:prstGeom>
          <a:solidFill>
            <a:schemeClr val="accent1">
              <a:lumMod val="20000"/>
              <a:lumOff val="80000"/>
            </a:schemeClr>
          </a:solidFill>
          <a:ln w="9525" algn="ctr">
            <a:noFill/>
            <a:round/>
            <a:headEnd/>
            <a:tailEnd/>
          </a:ln>
          <a:effectLst/>
        </p:spPr>
        <p:txBody>
          <a:bodyPr wrap="none" anchor="ctr"/>
          <a:lstStyle/>
          <a:p>
            <a:endParaRPr lang="es-CL">
              <a:solidFill>
                <a:srgbClr val="002060"/>
              </a:solidFill>
            </a:endParaRPr>
          </a:p>
        </p:txBody>
      </p:sp>
      <p:sp>
        <p:nvSpPr>
          <p:cNvPr id="99" name="AutoShape 47"/>
          <p:cNvSpPr>
            <a:spLocks noChangeArrowheads="1"/>
          </p:cNvSpPr>
          <p:nvPr/>
        </p:nvSpPr>
        <p:spPr bwMode="blackWhite">
          <a:xfrm>
            <a:off x="4673792" y="4398740"/>
            <a:ext cx="352800" cy="892800"/>
          </a:xfrm>
          <a:prstGeom prst="rightArrow">
            <a:avLst>
              <a:gd name="adj1" fmla="val 100000"/>
              <a:gd name="adj2" fmla="val 11009"/>
            </a:avLst>
          </a:prstGeom>
          <a:solidFill>
            <a:srgbClr val="969696"/>
          </a:solidFill>
          <a:ln w="12700">
            <a:noFill/>
            <a:miter lim="800000"/>
            <a:headEnd/>
            <a:tailEnd/>
          </a:ln>
          <a:effectLst>
            <a:outerShdw dist="35921" dir="2700000" algn="ctr" rotWithShape="0">
              <a:schemeClr val="bg2"/>
            </a:outerShdw>
          </a:effectLst>
        </p:spPr>
        <p:txBody>
          <a:bodyPr vert="vert270" anchor="ctr"/>
          <a:lstStyle/>
          <a:p>
            <a:pPr algn="ctr">
              <a:lnSpc>
                <a:spcPts val="1000"/>
              </a:lnSpc>
            </a:pPr>
            <a:r>
              <a:rPr lang="es-ES" sz="1100" b="1" noProof="1">
                <a:solidFill>
                  <a:srgbClr val="FFFFFF"/>
                </a:solidFill>
                <a:cs typeface="Arial" charset="0"/>
              </a:rPr>
              <a:t>Cuestionarios</a:t>
            </a:r>
          </a:p>
        </p:txBody>
      </p:sp>
      <p:sp>
        <p:nvSpPr>
          <p:cNvPr id="101" name="Rounded Rectangle 38"/>
          <p:cNvSpPr/>
          <p:nvPr/>
        </p:nvSpPr>
        <p:spPr>
          <a:xfrm>
            <a:off x="5098230" y="4472505"/>
            <a:ext cx="3132000" cy="170094"/>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Criterios de Evaluación</a:t>
            </a:r>
          </a:p>
        </p:txBody>
      </p:sp>
      <p:sp>
        <p:nvSpPr>
          <p:cNvPr id="102" name="AutoShape 179"/>
          <p:cNvSpPr>
            <a:spLocks noChangeArrowheads="1"/>
          </p:cNvSpPr>
          <p:nvPr/>
        </p:nvSpPr>
        <p:spPr bwMode="auto">
          <a:xfrm>
            <a:off x="534831" y="5060900"/>
            <a:ext cx="4037169" cy="864000"/>
          </a:xfrm>
          <a:prstGeom prst="roundRect">
            <a:avLst>
              <a:gd name="adj" fmla="val 9481"/>
            </a:avLst>
          </a:prstGeom>
          <a:solidFill>
            <a:schemeClr val="accent1">
              <a:lumMod val="20000"/>
              <a:lumOff val="80000"/>
            </a:schemeClr>
          </a:solidFill>
          <a:ln w="9525" algn="ctr">
            <a:noFill/>
            <a:round/>
            <a:headEnd/>
            <a:tailEnd/>
          </a:ln>
          <a:effectLst/>
        </p:spPr>
        <p:txBody>
          <a:bodyPr wrap="none" anchor="ctr"/>
          <a:lstStyle/>
          <a:p>
            <a:endParaRPr lang="es-CL">
              <a:solidFill>
                <a:srgbClr val="002060"/>
              </a:solidFill>
            </a:endParaRPr>
          </a:p>
        </p:txBody>
      </p:sp>
      <p:sp>
        <p:nvSpPr>
          <p:cNvPr id="103" name="AutoShape 47"/>
          <p:cNvSpPr>
            <a:spLocks noChangeArrowheads="1"/>
          </p:cNvSpPr>
          <p:nvPr/>
        </p:nvSpPr>
        <p:spPr bwMode="blackWhite">
          <a:xfrm>
            <a:off x="281304" y="5062402"/>
            <a:ext cx="353942" cy="864000"/>
          </a:xfrm>
          <a:prstGeom prst="rightArrow">
            <a:avLst>
              <a:gd name="adj1" fmla="val 100000"/>
              <a:gd name="adj2" fmla="val 11009"/>
            </a:avLst>
          </a:prstGeom>
          <a:solidFill>
            <a:srgbClr val="969696"/>
          </a:solidFill>
          <a:ln w="12700">
            <a:noFill/>
            <a:miter lim="800000"/>
            <a:headEnd/>
            <a:tailEnd/>
          </a:ln>
          <a:effectLst>
            <a:outerShdw dist="35921" dir="2700000" algn="ctr" rotWithShape="0">
              <a:schemeClr val="bg2"/>
            </a:outerShdw>
          </a:effectLst>
        </p:spPr>
        <p:txBody>
          <a:bodyPr vert="vert270" anchor="ctr"/>
          <a:lstStyle/>
          <a:p>
            <a:pPr algn="ctr">
              <a:lnSpc>
                <a:spcPts val="1000"/>
              </a:lnSpc>
            </a:pPr>
            <a:r>
              <a:rPr lang="es-ES" sz="1100" b="1" noProof="1">
                <a:solidFill>
                  <a:srgbClr val="FFFFFF"/>
                </a:solidFill>
                <a:cs typeface="Arial" charset="0"/>
              </a:rPr>
              <a:t>Evaluación de Controles</a:t>
            </a:r>
          </a:p>
        </p:txBody>
      </p:sp>
      <p:sp>
        <p:nvSpPr>
          <p:cNvPr id="104" name="Rectangle 18"/>
          <p:cNvSpPr>
            <a:spLocks noChangeArrowheads="1"/>
          </p:cNvSpPr>
          <p:nvPr/>
        </p:nvSpPr>
        <p:spPr bwMode="auto">
          <a:xfrm>
            <a:off x="3937102" y="5136167"/>
            <a:ext cx="548640" cy="170094"/>
          </a:xfrm>
          <a:prstGeom prst="rect">
            <a:avLst/>
          </a:prstGeom>
          <a:solidFill>
            <a:schemeClr val="bg1"/>
          </a:solidFill>
          <a:ln w="9525" algn="ctr">
            <a:solidFill>
              <a:schemeClr val="bg2"/>
            </a:solidFill>
            <a:miter lim="800000"/>
            <a:headEnd/>
            <a:tailEnd/>
          </a:ln>
          <a:effectLst/>
        </p:spPr>
        <p:txBody>
          <a:bodyPr anchor="ctr"/>
          <a:lstStyle/>
          <a:p>
            <a:pPr algn="ctr"/>
            <a:r>
              <a:rPr lang="es-ES" sz="1100" dirty="0">
                <a:solidFill>
                  <a:srgbClr val="002060"/>
                </a:solidFill>
              </a:rPr>
              <a:t>1</a:t>
            </a:r>
          </a:p>
        </p:txBody>
      </p:sp>
      <p:sp>
        <p:nvSpPr>
          <p:cNvPr id="105" name="Rounded Rectangle 38"/>
          <p:cNvSpPr/>
          <p:nvPr/>
        </p:nvSpPr>
        <p:spPr>
          <a:xfrm>
            <a:off x="705742" y="5136167"/>
            <a:ext cx="3132000" cy="170094"/>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Controles asociados al riesgo</a:t>
            </a:r>
          </a:p>
        </p:txBody>
      </p:sp>
      <p:sp>
        <p:nvSpPr>
          <p:cNvPr id="106" name="Rectangle 18"/>
          <p:cNvSpPr>
            <a:spLocks noChangeArrowheads="1"/>
          </p:cNvSpPr>
          <p:nvPr/>
        </p:nvSpPr>
        <p:spPr bwMode="auto">
          <a:xfrm>
            <a:off x="5102950" y="4685678"/>
            <a:ext cx="3780000" cy="469509"/>
          </a:xfrm>
          <a:prstGeom prst="rect">
            <a:avLst/>
          </a:prstGeom>
          <a:solidFill>
            <a:schemeClr val="bg1"/>
          </a:solidFill>
          <a:ln w="9525" algn="ctr">
            <a:solidFill>
              <a:schemeClr val="bg2"/>
            </a:solidFill>
            <a:miter lim="800000"/>
            <a:headEnd/>
            <a:tailEnd/>
          </a:ln>
          <a:effectLst/>
        </p:spPr>
        <p:txBody>
          <a:bodyPr anchor="ctr"/>
          <a:lstStyle/>
          <a:p>
            <a:r>
              <a:rPr lang="es-ES" sz="1050" dirty="0"/>
              <a:t>La valoración del riesgo se ha basado en el promedio de intereses que se podrían dejar de ganar a diario, es decir, s./ 800.00.</a:t>
            </a:r>
          </a:p>
        </p:txBody>
      </p:sp>
      <p:sp>
        <p:nvSpPr>
          <p:cNvPr id="107" name="Rectangle 18"/>
          <p:cNvSpPr>
            <a:spLocks noChangeArrowheads="1"/>
          </p:cNvSpPr>
          <p:nvPr/>
        </p:nvSpPr>
        <p:spPr bwMode="auto">
          <a:xfrm>
            <a:off x="705742" y="5357175"/>
            <a:ext cx="3780000" cy="469509"/>
          </a:xfrm>
          <a:prstGeom prst="rect">
            <a:avLst/>
          </a:prstGeom>
          <a:solidFill>
            <a:schemeClr val="bg1"/>
          </a:solidFill>
          <a:ln w="9525" algn="ctr">
            <a:solidFill>
              <a:schemeClr val="bg2"/>
            </a:solidFill>
            <a:miter lim="800000"/>
            <a:headEnd/>
            <a:tailEnd/>
          </a:ln>
          <a:effectLst/>
        </p:spPr>
        <p:txBody>
          <a:bodyPr anchor="ctr"/>
          <a:lstStyle/>
          <a:p>
            <a:r>
              <a:rPr lang="es-ES" sz="1100" dirty="0">
                <a:solidFill>
                  <a:srgbClr val="000000"/>
                </a:solidFill>
              </a:rPr>
              <a:t>(NF) Controles por Tecnología para la prevención de falla de los aplicativos.</a:t>
            </a:r>
          </a:p>
        </p:txBody>
      </p:sp>
      <p:sp>
        <p:nvSpPr>
          <p:cNvPr id="57" name="TextBox 56"/>
          <p:cNvSpPr txBox="1"/>
          <p:nvPr/>
        </p:nvSpPr>
        <p:spPr>
          <a:xfrm>
            <a:off x="705742" y="5958810"/>
            <a:ext cx="1819944" cy="261610"/>
          </a:xfrm>
          <a:prstGeom prst="rect">
            <a:avLst/>
          </a:prstGeom>
          <a:noFill/>
        </p:spPr>
        <p:txBody>
          <a:bodyPr wrap="square" rtlCol="0">
            <a:spAutoFit/>
          </a:bodyPr>
          <a:lstStyle/>
          <a:p>
            <a:r>
              <a:rPr lang="es-ES" sz="1100" dirty="0"/>
              <a:t>(NF): No Formalizado</a:t>
            </a:r>
          </a:p>
        </p:txBody>
      </p:sp>
    </p:spTree>
    <p:extLst>
      <p:ext uri="{BB962C8B-B14F-4D97-AF65-F5344CB8AC3E}">
        <p14:creationId xmlns:p14="http://schemas.microsoft.com/office/powerpoint/2010/main" val="858552287"/>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dirty="0"/>
              <a:t>Anexo: Ficha Individual Riesgos Operacionales</a:t>
            </a:r>
          </a:p>
        </p:txBody>
      </p:sp>
      <p:sp>
        <p:nvSpPr>
          <p:cNvPr id="4" name="Rounded Rectangle 3"/>
          <p:cNvSpPr/>
          <p:nvPr/>
        </p:nvSpPr>
        <p:spPr>
          <a:xfrm>
            <a:off x="227770" y="764704"/>
            <a:ext cx="383790" cy="274320"/>
          </a:xfrm>
          <a:prstGeom prst="roundRect">
            <a:avLst/>
          </a:prstGeom>
          <a:solidFill>
            <a:srgbClr val="DB0613"/>
          </a:solidFill>
          <a:ln w="9525" algn="ctr">
            <a:noFill/>
            <a:miter lim="800000"/>
            <a:headEnd/>
            <a:tailEnd/>
          </a:ln>
          <a:effectLst/>
        </p:spPr>
        <p:txBody>
          <a:bodyPr anchor="ctr"/>
          <a:lstStyle/>
          <a:p>
            <a:pPr algn="ctr">
              <a:lnSpc>
                <a:spcPct val="80000"/>
              </a:lnSpc>
            </a:pPr>
            <a:r>
              <a:rPr lang="es-CL" sz="1200" b="1" dirty="0">
                <a:solidFill>
                  <a:srgbClr val="FFFFFF"/>
                </a:solidFill>
                <a:cs typeface="Arial" pitchFamily="34" charset="0"/>
              </a:rPr>
              <a:t>38</a:t>
            </a:r>
          </a:p>
        </p:txBody>
      </p:sp>
      <p:sp>
        <p:nvSpPr>
          <p:cNvPr id="5" name="Rectangle 18"/>
          <p:cNvSpPr>
            <a:spLocks noChangeArrowheads="1"/>
          </p:cNvSpPr>
          <p:nvPr/>
        </p:nvSpPr>
        <p:spPr bwMode="auto">
          <a:xfrm>
            <a:off x="227770" y="2548229"/>
            <a:ext cx="6400800" cy="708660"/>
          </a:xfrm>
          <a:prstGeom prst="rect">
            <a:avLst/>
          </a:prstGeom>
          <a:noFill/>
          <a:ln w="9525" algn="ctr">
            <a:solidFill>
              <a:schemeClr val="bg2"/>
            </a:solidFill>
            <a:miter lim="800000"/>
            <a:headEnd/>
            <a:tailEnd/>
          </a:ln>
          <a:effectLst/>
        </p:spPr>
        <p:txBody>
          <a:bodyPr/>
          <a:lstStyle/>
          <a:p>
            <a:r>
              <a:rPr lang="es-ES" sz="1100" dirty="0"/>
              <a:t>Error en el análisis y valoraciones en las que se basan las  operaciones de Money Market, o bien por un error en los datos utilizados, o bien por un error del  analista.</a:t>
            </a:r>
          </a:p>
        </p:txBody>
      </p:sp>
      <p:sp>
        <p:nvSpPr>
          <p:cNvPr id="8" name="Rounded Rectangle 7"/>
          <p:cNvSpPr/>
          <p:nvPr/>
        </p:nvSpPr>
        <p:spPr>
          <a:xfrm>
            <a:off x="652842" y="764704"/>
            <a:ext cx="8352000" cy="274320"/>
          </a:xfrm>
          <a:prstGeom prst="roundRect">
            <a:avLst/>
          </a:prstGeom>
          <a:solidFill>
            <a:srgbClr val="DB0613"/>
          </a:solidFill>
          <a:ln w="9525" algn="ctr">
            <a:noFill/>
            <a:miter lim="800000"/>
            <a:headEnd/>
            <a:tailEnd/>
          </a:ln>
          <a:effectLst/>
        </p:spPr>
        <p:txBody>
          <a:bodyPr anchor="ctr"/>
          <a:lstStyle/>
          <a:p>
            <a:pPr>
              <a:lnSpc>
                <a:spcPct val="80000"/>
              </a:lnSpc>
            </a:pPr>
            <a:r>
              <a:rPr lang="es-ES" sz="1200" b="1" dirty="0">
                <a:solidFill>
                  <a:srgbClr val="FFFFFF"/>
                </a:solidFill>
                <a:cs typeface="Arial" pitchFamily="34" charset="0"/>
              </a:rPr>
              <a:t>Riesgo por error de apreciación</a:t>
            </a:r>
            <a:endParaRPr lang="es-CL" sz="1200" b="1" dirty="0">
              <a:solidFill>
                <a:srgbClr val="FFFFFF"/>
              </a:solidFill>
              <a:cs typeface="Arial" pitchFamily="34" charset="0"/>
            </a:endParaRPr>
          </a:p>
        </p:txBody>
      </p:sp>
      <p:sp>
        <p:nvSpPr>
          <p:cNvPr id="9" name="Rounded Rectangle 8"/>
          <p:cNvSpPr/>
          <p:nvPr/>
        </p:nvSpPr>
        <p:spPr>
          <a:xfrm>
            <a:off x="227770" y="2307916"/>
            <a:ext cx="64008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Descripción</a:t>
            </a:r>
          </a:p>
        </p:txBody>
      </p:sp>
      <p:sp>
        <p:nvSpPr>
          <p:cNvPr id="10" name="Rounded Rectangle 9"/>
          <p:cNvSpPr/>
          <p:nvPr/>
        </p:nvSpPr>
        <p:spPr>
          <a:xfrm>
            <a:off x="6716066" y="1111764"/>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Categoría  de Riesgo Nivel I</a:t>
            </a:r>
          </a:p>
        </p:txBody>
      </p:sp>
      <p:sp>
        <p:nvSpPr>
          <p:cNvPr id="11" name="Rectangle 18"/>
          <p:cNvSpPr>
            <a:spLocks noChangeArrowheads="1"/>
          </p:cNvSpPr>
          <p:nvPr/>
        </p:nvSpPr>
        <p:spPr bwMode="auto">
          <a:xfrm>
            <a:off x="6716066" y="1325572"/>
            <a:ext cx="2286000" cy="270000"/>
          </a:xfrm>
          <a:prstGeom prst="rect">
            <a:avLst/>
          </a:prstGeom>
          <a:noFill/>
          <a:ln w="9525" algn="ctr">
            <a:solidFill>
              <a:schemeClr val="bg2"/>
            </a:solidFill>
            <a:miter lim="800000"/>
            <a:headEnd/>
            <a:tailEnd/>
          </a:ln>
          <a:effectLst/>
        </p:spPr>
        <p:txBody>
          <a:bodyPr anchor="ctr"/>
          <a:lstStyle/>
          <a:p>
            <a:pPr>
              <a:lnSpc>
                <a:spcPts val="1000"/>
              </a:lnSpc>
            </a:pPr>
            <a:r>
              <a:rPr lang="es-ES" sz="1100" dirty="0"/>
              <a:t>Ejecución, entrega y gestión de procesos</a:t>
            </a:r>
          </a:p>
        </p:txBody>
      </p:sp>
      <p:sp>
        <p:nvSpPr>
          <p:cNvPr id="12" name="Rounded Rectangle 11"/>
          <p:cNvSpPr/>
          <p:nvPr/>
        </p:nvSpPr>
        <p:spPr>
          <a:xfrm>
            <a:off x="6716066" y="1664503"/>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Categoría  de Riesgo Nivel II</a:t>
            </a:r>
          </a:p>
        </p:txBody>
      </p:sp>
      <p:sp>
        <p:nvSpPr>
          <p:cNvPr id="13" name="Rectangle 18"/>
          <p:cNvSpPr>
            <a:spLocks noChangeArrowheads="1"/>
          </p:cNvSpPr>
          <p:nvPr/>
        </p:nvSpPr>
        <p:spPr bwMode="auto">
          <a:xfrm>
            <a:off x="6716066" y="1877089"/>
            <a:ext cx="2286000" cy="270000"/>
          </a:xfrm>
          <a:prstGeom prst="rect">
            <a:avLst/>
          </a:prstGeom>
          <a:noFill/>
          <a:ln w="9525" algn="ctr">
            <a:solidFill>
              <a:schemeClr val="bg2"/>
            </a:solidFill>
            <a:miter lim="800000"/>
            <a:headEnd/>
            <a:tailEnd/>
          </a:ln>
          <a:effectLst/>
        </p:spPr>
        <p:txBody>
          <a:bodyPr anchor="ctr"/>
          <a:lstStyle/>
          <a:p>
            <a:r>
              <a:rPr lang="es-ES" sz="1100" dirty="0"/>
              <a:t>Recepción, ejecución y mantenimiento de operaciones</a:t>
            </a:r>
          </a:p>
        </p:txBody>
      </p:sp>
      <p:sp>
        <p:nvSpPr>
          <p:cNvPr id="15" name="Rounded Rectangle 14"/>
          <p:cNvSpPr/>
          <p:nvPr/>
        </p:nvSpPr>
        <p:spPr>
          <a:xfrm>
            <a:off x="6716066" y="2223551"/>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Categoría  de Riesgo Nivel III</a:t>
            </a:r>
          </a:p>
        </p:txBody>
      </p:sp>
      <p:sp>
        <p:nvSpPr>
          <p:cNvPr id="16" name="Rectangle 18"/>
          <p:cNvSpPr>
            <a:spLocks noChangeArrowheads="1"/>
          </p:cNvSpPr>
          <p:nvPr/>
        </p:nvSpPr>
        <p:spPr bwMode="auto">
          <a:xfrm>
            <a:off x="6716066" y="2434321"/>
            <a:ext cx="2286000" cy="270000"/>
          </a:xfrm>
          <a:prstGeom prst="rect">
            <a:avLst/>
          </a:prstGeom>
          <a:noFill/>
          <a:ln w="9525" algn="ctr">
            <a:solidFill>
              <a:schemeClr val="bg2"/>
            </a:solidFill>
            <a:miter lim="800000"/>
            <a:headEnd/>
            <a:tailEnd/>
          </a:ln>
          <a:effectLst/>
        </p:spPr>
        <p:txBody>
          <a:bodyPr anchor="ctr"/>
          <a:lstStyle/>
          <a:p>
            <a:r>
              <a:rPr lang="es-ES" sz="1100" dirty="0"/>
              <a:t>Errores o fallos de entendimiento</a:t>
            </a:r>
          </a:p>
        </p:txBody>
      </p:sp>
      <p:sp>
        <p:nvSpPr>
          <p:cNvPr id="17" name="Rounded Rectangle 16"/>
          <p:cNvSpPr/>
          <p:nvPr/>
        </p:nvSpPr>
        <p:spPr>
          <a:xfrm>
            <a:off x="216583" y="1110038"/>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Macroproceso</a:t>
            </a:r>
          </a:p>
        </p:txBody>
      </p:sp>
      <p:sp>
        <p:nvSpPr>
          <p:cNvPr id="18" name="Rectangle 18"/>
          <p:cNvSpPr>
            <a:spLocks noChangeArrowheads="1"/>
          </p:cNvSpPr>
          <p:nvPr/>
        </p:nvSpPr>
        <p:spPr bwMode="auto">
          <a:xfrm>
            <a:off x="2568409" y="1110038"/>
            <a:ext cx="3877200" cy="182880"/>
          </a:xfrm>
          <a:prstGeom prst="rect">
            <a:avLst/>
          </a:prstGeom>
          <a:noFill/>
          <a:ln w="9525" algn="ctr">
            <a:solidFill>
              <a:schemeClr val="bg2"/>
            </a:solidFill>
            <a:miter lim="800000"/>
            <a:headEnd/>
            <a:tailEnd/>
          </a:ln>
          <a:effectLst/>
        </p:spPr>
        <p:txBody>
          <a:bodyPr anchor="ctr"/>
          <a:lstStyle/>
          <a:p>
            <a:r>
              <a:rPr lang="es-ES" sz="1100" dirty="0"/>
              <a:t>Administración de Portafolio de Inversiones</a:t>
            </a:r>
          </a:p>
        </p:txBody>
      </p:sp>
      <p:sp>
        <p:nvSpPr>
          <p:cNvPr id="19" name="Rounded Rectangle 18"/>
          <p:cNvSpPr/>
          <p:nvPr/>
        </p:nvSpPr>
        <p:spPr>
          <a:xfrm>
            <a:off x="216583" y="1339045"/>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Proceso</a:t>
            </a:r>
          </a:p>
        </p:txBody>
      </p:sp>
      <p:sp>
        <p:nvSpPr>
          <p:cNvPr id="20" name="Rectangle 18"/>
          <p:cNvSpPr>
            <a:spLocks noChangeArrowheads="1"/>
          </p:cNvSpPr>
          <p:nvPr/>
        </p:nvSpPr>
        <p:spPr bwMode="auto">
          <a:xfrm>
            <a:off x="2568409" y="1339045"/>
            <a:ext cx="3877200" cy="182880"/>
          </a:xfrm>
          <a:prstGeom prst="rect">
            <a:avLst/>
          </a:prstGeom>
          <a:noFill/>
          <a:ln w="9525" algn="ctr">
            <a:solidFill>
              <a:schemeClr val="bg2"/>
            </a:solidFill>
            <a:miter lim="800000"/>
            <a:headEnd/>
            <a:tailEnd/>
          </a:ln>
          <a:effectLst/>
        </p:spPr>
        <p:txBody>
          <a:bodyPr anchor="ctr"/>
          <a:lstStyle/>
          <a:p>
            <a:r>
              <a:rPr lang="es-ES" sz="1100" dirty="0"/>
              <a:t>Administración de fondos</a:t>
            </a:r>
          </a:p>
        </p:txBody>
      </p:sp>
      <p:sp>
        <p:nvSpPr>
          <p:cNvPr id="59" name="Rounded Rectangle 58"/>
          <p:cNvSpPr/>
          <p:nvPr/>
        </p:nvSpPr>
        <p:spPr>
          <a:xfrm>
            <a:off x="216583" y="1579694"/>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Subproceso</a:t>
            </a:r>
          </a:p>
        </p:txBody>
      </p:sp>
      <p:sp>
        <p:nvSpPr>
          <p:cNvPr id="60" name="Rectangle 18"/>
          <p:cNvSpPr>
            <a:spLocks noChangeArrowheads="1"/>
          </p:cNvSpPr>
          <p:nvPr/>
        </p:nvSpPr>
        <p:spPr bwMode="auto">
          <a:xfrm>
            <a:off x="2568409" y="1579694"/>
            <a:ext cx="3875799" cy="182880"/>
          </a:xfrm>
          <a:prstGeom prst="rect">
            <a:avLst/>
          </a:prstGeom>
          <a:noFill/>
          <a:ln w="9525" algn="ctr">
            <a:solidFill>
              <a:schemeClr val="bg2"/>
            </a:solidFill>
            <a:miter lim="800000"/>
            <a:headEnd/>
            <a:tailEnd/>
          </a:ln>
          <a:effectLst/>
        </p:spPr>
        <p:txBody>
          <a:bodyPr anchor="ctr"/>
          <a:lstStyle/>
          <a:p>
            <a:r>
              <a:rPr lang="es-ES" sz="1100" dirty="0"/>
              <a:t>Money Market</a:t>
            </a:r>
          </a:p>
        </p:txBody>
      </p:sp>
      <p:sp>
        <p:nvSpPr>
          <p:cNvPr id="61" name="Rounded Rectangle 60"/>
          <p:cNvSpPr/>
          <p:nvPr/>
        </p:nvSpPr>
        <p:spPr>
          <a:xfrm>
            <a:off x="226806" y="1826440"/>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Línea de Negocio</a:t>
            </a:r>
          </a:p>
        </p:txBody>
      </p:sp>
      <p:sp>
        <p:nvSpPr>
          <p:cNvPr id="63" name="Rounded Rectangle 62"/>
          <p:cNvSpPr/>
          <p:nvPr/>
        </p:nvSpPr>
        <p:spPr>
          <a:xfrm>
            <a:off x="226806" y="2079535"/>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Responsable</a:t>
            </a:r>
          </a:p>
        </p:txBody>
      </p:sp>
      <p:sp>
        <p:nvSpPr>
          <p:cNvPr id="65" name="Rectangle 18"/>
          <p:cNvSpPr>
            <a:spLocks noChangeArrowheads="1"/>
          </p:cNvSpPr>
          <p:nvPr/>
        </p:nvSpPr>
        <p:spPr bwMode="auto">
          <a:xfrm>
            <a:off x="2568409" y="1826440"/>
            <a:ext cx="3875799" cy="182880"/>
          </a:xfrm>
          <a:prstGeom prst="rect">
            <a:avLst/>
          </a:prstGeom>
          <a:noFill/>
          <a:ln w="9525" algn="ctr">
            <a:solidFill>
              <a:schemeClr val="bg2"/>
            </a:solidFill>
            <a:miter lim="800000"/>
            <a:headEnd/>
            <a:tailEnd/>
          </a:ln>
          <a:effectLst/>
        </p:spPr>
        <p:txBody>
          <a:bodyPr anchor="ctr"/>
          <a:lstStyle/>
          <a:p>
            <a:r>
              <a:rPr lang="es-ES" sz="1100" dirty="0"/>
              <a:t>Negociación y Ventas</a:t>
            </a:r>
          </a:p>
        </p:txBody>
      </p:sp>
      <p:sp>
        <p:nvSpPr>
          <p:cNvPr id="66" name="Rectangle 18"/>
          <p:cNvSpPr>
            <a:spLocks noChangeArrowheads="1"/>
          </p:cNvSpPr>
          <p:nvPr/>
        </p:nvSpPr>
        <p:spPr bwMode="auto">
          <a:xfrm>
            <a:off x="2555776" y="2079535"/>
            <a:ext cx="3875799" cy="182880"/>
          </a:xfrm>
          <a:prstGeom prst="rect">
            <a:avLst/>
          </a:prstGeom>
          <a:noFill/>
          <a:ln w="9525" algn="ctr">
            <a:solidFill>
              <a:schemeClr val="bg2"/>
            </a:solidFill>
            <a:miter lim="800000"/>
            <a:headEnd/>
            <a:tailEnd/>
          </a:ln>
          <a:effectLst/>
        </p:spPr>
        <p:txBody>
          <a:bodyPr anchor="ctr"/>
          <a:lstStyle/>
          <a:p>
            <a:r>
              <a:rPr lang="es-ES" sz="1100" dirty="0"/>
              <a:t>Jefe de Gestión de Inversión</a:t>
            </a:r>
          </a:p>
        </p:txBody>
      </p:sp>
      <p:sp>
        <p:nvSpPr>
          <p:cNvPr id="78" name="Rounded Rectangle 14"/>
          <p:cNvSpPr/>
          <p:nvPr/>
        </p:nvSpPr>
        <p:spPr>
          <a:xfrm>
            <a:off x="6716066" y="2768330"/>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Origen del Riesgo</a:t>
            </a:r>
          </a:p>
        </p:txBody>
      </p:sp>
      <p:sp>
        <p:nvSpPr>
          <p:cNvPr id="79" name="Rectangle 18"/>
          <p:cNvSpPr>
            <a:spLocks noChangeArrowheads="1"/>
          </p:cNvSpPr>
          <p:nvPr/>
        </p:nvSpPr>
        <p:spPr bwMode="auto">
          <a:xfrm>
            <a:off x="6716066" y="2983595"/>
            <a:ext cx="2286000" cy="270000"/>
          </a:xfrm>
          <a:prstGeom prst="rect">
            <a:avLst/>
          </a:prstGeom>
          <a:noFill/>
          <a:ln w="9525" algn="ctr">
            <a:solidFill>
              <a:schemeClr val="bg2"/>
            </a:solidFill>
            <a:miter lim="800000"/>
            <a:headEnd/>
            <a:tailEnd/>
          </a:ln>
          <a:effectLst/>
        </p:spPr>
        <p:txBody>
          <a:bodyPr anchor="ctr"/>
          <a:lstStyle/>
          <a:p>
            <a:r>
              <a:rPr lang="es-ES" sz="1100" dirty="0">
                <a:solidFill>
                  <a:srgbClr val="000000"/>
                </a:solidFill>
              </a:rPr>
              <a:t>Tecnología</a:t>
            </a:r>
          </a:p>
        </p:txBody>
      </p:sp>
      <p:sp>
        <p:nvSpPr>
          <p:cNvPr id="68" name="AutoShape 179"/>
          <p:cNvSpPr>
            <a:spLocks noChangeArrowheads="1"/>
          </p:cNvSpPr>
          <p:nvPr/>
        </p:nvSpPr>
        <p:spPr bwMode="auto">
          <a:xfrm>
            <a:off x="611560" y="3482416"/>
            <a:ext cx="3960812" cy="1275707"/>
          </a:xfrm>
          <a:prstGeom prst="roundRect">
            <a:avLst>
              <a:gd name="adj" fmla="val 9481"/>
            </a:avLst>
          </a:prstGeom>
          <a:solidFill>
            <a:schemeClr val="accent1">
              <a:lumMod val="20000"/>
              <a:lumOff val="80000"/>
            </a:schemeClr>
          </a:solidFill>
          <a:ln w="9525" algn="ctr">
            <a:noFill/>
            <a:round/>
            <a:headEnd/>
            <a:tailEnd/>
          </a:ln>
          <a:effectLst/>
        </p:spPr>
        <p:txBody>
          <a:bodyPr wrap="none" anchor="ctr"/>
          <a:lstStyle/>
          <a:p>
            <a:endParaRPr lang="es-CL">
              <a:solidFill>
                <a:srgbClr val="002060"/>
              </a:solidFill>
            </a:endParaRPr>
          </a:p>
        </p:txBody>
      </p:sp>
      <p:sp>
        <p:nvSpPr>
          <p:cNvPr id="73" name="Text Box 30"/>
          <p:cNvSpPr txBox="1">
            <a:spLocks noChangeArrowheads="1"/>
          </p:cNvSpPr>
          <p:nvPr/>
        </p:nvSpPr>
        <p:spPr bwMode="auto">
          <a:xfrm>
            <a:off x="190747" y="3259373"/>
            <a:ext cx="3671888" cy="276999"/>
          </a:xfrm>
          <a:prstGeom prst="rect">
            <a:avLst/>
          </a:prstGeom>
          <a:noFill/>
          <a:ln w="9525" algn="ctr">
            <a:noFill/>
            <a:miter lim="800000"/>
            <a:headEnd/>
            <a:tailEnd/>
          </a:ln>
          <a:effectLst/>
        </p:spPr>
        <p:txBody>
          <a:bodyPr>
            <a:spAutoFit/>
          </a:bodyPr>
          <a:lstStyle/>
          <a:p>
            <a:pPr>
              <a:spcBef>
                <a:spcPct val="50000"/>
              </a:spcBef>
            </a:pPr>
            <a:r>
              <a:rPr lang="es-CL" sz="1200" b="1" i="1" dirty="0">
                <a:solidFill>
                  <a:srgbClr val="A3A3E0"/>
                </a:solidFill>
              </a:rPr>
              <a:t>Resultados valoración de riesgos</a:t>
            </a:r>
            <a:endParaRPr lang="es-ES" sz="1200" b="1" i="1" dirty="0">
              <a:solidFill>
                <a:srgbClr val="A3A3E0"/>
              </a:solidFill>
            </a:endParaRPr>
          </a:p>
        </p:txBody>
      </p:sp>
      <p:sp>
        <p:nvSpPr>
          <p:cNvPr id="76" name="Rounded Rectangle 75"/>
          <p:cNvSpPr/>
          <p:nvPr/>
        </p:nvSpPr>
        <p:spPr>
          <a:xfrm>
            <a:off x="902959" y="4255955"/>
            <a:ext cx="1920240" cy="170094"/>
          </a:xfrm>
          <a:prstGeom prst="roundRect">
            <a:avLst/>
          </a:prstGeom>
          <a:solidFill>
            <a:srgbClr val="DB0613"/>
          </a:solidFill>
          <a:ln w="9525" algn="ctr">
            <a:noFill/>
            <a:miter lim="800000"/>
            <a:headEnd/>
            <a:tailEnd/>
          </a:ln>
          <a:effectLst/>
        </p:spPr>
        <p:txBody>
          <a:bodyPr tIns="91440" anchor="ctr"/>
          <a:lstStyle/>
          <a:p>
            <a:pPr>
              <a:lnSpc>
                <a:spcPct val="80000"/>
              </a:lnSpc>
            </a:pPr>
            <a:r>
              <a:rPr lang="es-CL" sz="1100" b="1" dirty="0">
                <a:solidFill>
                  <a:srgbClr val="FFFFFF"/>
                </a:solidFill>
                <a:cs typeface="Arial" pitchFamily="34" charset="0"/>
              </a:rPr>
              <a:t>Pérdida Esperada Anual</a:t>
            </a:r>
          </a:p>
        </p:txBody>
      </p:sp>
      <p:sp>
        <p:nvSpPr>
          <p:cNvPr id="77" name="Rectangle 18"/>
          <p:cNvSpPr>
            <a:spLocks noChangeArrowheads="1"/>
          </p:cNvSpPr>
          <p:nvPr/>
        </p:nvSpPr>
        <p:spPr bwMode="auto">
          <a:xfrm>
            <a:off x="2859920" y="4255955"/>
            <a:ext cx="1554480" cy="170094"/>
          </a:xfrm>
          <a:prstGeom prst="rect">
            <a:avLst/>
          </a:prstGeom>
          <a:solidFill>
            <a:schemeClr val="bg1"/>
          </a:solidFill>
          <a:ln w="9525" algn="ctr">
            <a:solidFill>
              <a:schemeClr val="bg2"/>
            </a:solidFill>
            <a:miter lim="800000"/>
            <a:headEnd/>
            <a:tailEnd/>
          </a:ln>
          <a:effectLst/>
        </p:spPr>
        <p:txBody>
          <a:bodyPr anchor="ctr"/>
          <a:lstStyle/>
          <a:p>
            <a:pPr algn="ctr"/>
            <a:r>
              <a:rPr lang="es-ES" sz="1100" dirty="0">
                <a:solidFill>
                  <a:srgbClr val="000000"/>
                </a:solidFill>
              </a:rPr>
              <a:t>S/. </a:t>
            </a:r>
            <a:r>
              <a:rPr lang="es-ES" sz="1100" dirty="0"/>
              <a:t>0.00</a:t>
            </a:r>
            <a:endParaRPr lang="es-ES" sz="1100" dirty="0">
              <a:solidFill>
                <a:srgbClr val="000000"/>
              </a:solidFill>
            </a:endParaRPr>
          </a:p>
        </p:txBody>
      </p:sp>
      <p:sp>
        <p:nvSpPr>
          <p:cNvPr id="80" name="Rounded Rectangle 79"/>
          <p:cNvSpPr/>
          <p:nvPr/>
        </p:nvSpPr>
        <p:spPr>
          <a:xfrm>
            <a:off x="902959" y="4485567"/>
            <a:ext cx="1920240" cy="170094"/>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VaR Cualitativo Anual</a:t>
            </a:r>
          </a:p>
        </p:txBody>
      </p:sp>
      <p:sp>
        <p:nvSpPr>
          <p:cNvPr id="81" name="Rectangle 18"/>
          <p:cNvSpPr>
            <a:spLocks noChangeArrowheads="1"/>
          </p:cNvSpPr>
          <p:nvPr/>
        </p:nvSpPr>
        <p:spPr bwMode="auto">
          <a:xfrm>
            <a:off x="2859920" y="4485567"/>
            <a:ext cx="1554480" cy="170094"/>
          </a:xfrm>
          <a:prstGeom prst="rect">
            <a:avLst/>
          </a:prstGeom>
          <a:solidFill>
            <a:schemeClr val="bg1"/>
          </a:solidFill>
          <a:ln w="9525" algn="ctr">
            <a:solidFill>
              <a:schemeClr val="bg2"/>
            </a:solidFill>
            <a:miter lim="800000"/>
            <a:headEnd/>
            <a:tailEnd/>
          </a:ln>
          <a:effectLst/>
        </p:spPr>
        <p:txBody>
          <a:bodyPr anchor="ctr"/>
          <a:lstStyle/>
          <a:p>
            <a:pPr algn="ctr"/>
            <a:r>
              <a:rPr lang="es-ES" sz="1100" dirty="0">
                <a:solidFill>
                  <a:srgbClr val="000000"/>
                </a:solidFill>
              </a:rPr>
              <a:t>S/.</a:t>
            </a:r>
            <a:r>
              <a:rPr lang="es-ES" sz="1100" dirty="0"/>
              <a:t> 0.00 </a:t>
            </a:r>
            <a:endParaRPr lang="es-ES" sz="1100" dirty="0">
              <a:solidFill>
                <a:srgbClr val="000000"/>
              </a:solidFill>
            </a:endParaRPr>
          </a:p>
        </p:txBody>
      </p:sp>
      <p:sp>
        <p:nvSpPr>
          <p:cNvPr id="82" name="Rounded Rectangle 81"/>
          <p:cNvSpPr/>
          <p:nvPr/>
        </p:nvSpPr>
        <p:spPr>
          <a:xfrm>
            <a:off x="891084" y="3553916"/>
            <a:ext cx="1920240" cy="170094"/>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Frecuencia  Evento Pérdida</a:t>
            </a:r>
          </a:p>
        </p:txBody>
      </p:sp>
      <p:sp>
        <p:nvSpPr>
          <p:cNvPr id="83" name="Rectangle 18"/>
          <p:cNvSpPr>
            <a:spLocks noChangeArrowheads="1"/>
          </p:cNvSpPr>
          <p:nvPr/>
        </p:nvSpPr>
        <p:spPr bwMode="auto">
          <a:xfrm>
            <a:off x="2859920" y="3553916"/>
            <a:ext cx="1554480" cy="170094"/>
          </a:xfrm>
          <a:prstGeom prst="rect">
            <a:avLst/>
          </a:prstGeom>
          <a:solidFill>
            <a:schemeClr val="bg1"/>
          </a:solidFill>
          <a:ln w="9525" algn="ctr">
            <a:solidFill>
              <a:schemeClr val="bg2"/>
            </a:solidFill>
            <a:miter lim="800000"/>
            <a:headEnd/>
            <a:tailEnd/>
          </a:ln>
          <a:effectLst/>
        </p:spPr>
        <p:txBody>
          <a:bodyPr anchor="ctr"/>
          <a:lstStyle/>
          <a:p>
            <a:pPr algn="ctr"/>
            <a:r>
              <a:rPr lang="es-ES" sz="1100" dirty="0">
                <a:solidFill>
                  <a:srgbClr val="000000"/>
                </a:solidFill>
              </a:rPr>
              <a:t>1 vez por 1 año</a:t>
            </a:r>
          </a:p>
        </p:txBody>
      </p:sp>
      <p:sp>
        <p:nvSpPr>
          <p:cNvPr id="84" name="Rounded Rectangle 83"/>
          <p:cNvSpPr/>
          <p:nvPr/>
        </p:nvSpPr>
        <p:spPr>
          <a:xfrm>
            <a:off x="891084" y="3783528"/>
            <a:ext cx="1920240" cy="170094"/>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Impacto Medio Evento</a:t>
            </a:r>
          </a:p>
        </p:txBody>
      </p:sp>
      <p:sp>
        <p:nvSpPr>
          <p:cNvPr id="85" name="Rectangle 18"/>
          <p:cNvSpPr>
            <a:spLocks noChangeArrowheads="1"/>
          </p:cNvSpPr>
          <p:nvPr/>
        </p:nvSpPr>
        <p:spPr bwMode="auto">
          <a:xfrm>
            <a:off x="2859920" y="3783528"/>
            <a:ext cx="1554480" cy="170094"/>
          </a:xfrm>
          <a:prstGeom prst="rect">
            <a:avLst/>
          </a:prstGeom>
          <a:solidFill>
            <a:schemeClr val="bg1"/>
          </a:solidFill>
          <a:ln w="9525" algn="ctr">
            <a:solidFill>
              <a:schemeClr val="bg2"/>
            </a:solidFill>
            <a:miter lim="800000"/>
            <a:headEnd/>
            <a:tailEnd/>
          </a:ln>
          <a:effectLst/>
        </p:spPr>
        <p:txBody>
          <a:bodyPr anchor="ctr"/>
          <a:lstStyle/>
          <a:p>
            <a:pPr algn="ctr"/>
            <a:r>
              <a:rPr lang="es-ES" sz="1100" dirty="0">
                <a:solidFill>
                  <a:srgbClr val="000000"/>
                </a:solidFill>
              </a:rPr>
              <a:t>S/. </a:t>
            </a:r>
            <a:r>
              <a:rPr lang="es-ES" sz="1100" dirty="0"/>
              <a:t>0.00 </a:t>
            </a:r>
            <a:endParaRPr lang="es-ES" sz="1100" dirty="0">
              <a:solidFill>
                <a:srgbClr val="000000"/>
              </a:solidFill>
            </a:endParaRPr>
          </a:p>
        </p:txBody>
      </p:sp>
      <p:sp>
        <p:nvSpPr>
          <p:cNvPr id="86" name="Rounded Rectangle 85"/>
          <p:cNvSpPr/>
          <p:nvPr/>
        </p:nvSpPr>
        <p:spPr>
          <a:xfrm>
            <a:off x="891084" y="4019108"/>
            <a:ext cx="1920240" cy="170094"/>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Impacto Peor Escenario</a:t>
            </a:r>
          </a:p>
        </p:txBody>
      </p:sp>
      <p:sp>
        <p:nvSpPr>
          <p:cNvPr id="87" name="Rectangle 18"/>
          <p:cNvSpPr>
            <a:spLocks noChangeArrowheads="1"/>
          </p:cNvSpPr>
          <p:nvPr/>
        </p:nvSpPr>
        <p:spPr bwMode="auto">
          <a:xfrm>
            <a:off x="2859920" y="4019108"/>
            <a:ext cx="1554480" cy="170094"/>
          </a:xfrm>
          <a:prstGeom prst="rect">
            <a:avLst/>
          </a:prstGeom>
          <a:solidFill>
            <a:schemeClr val="bg1"/>
          </a:solidFill>
          <a:ln w="9525" algn="ctr">
            <a:solidFill>
              <a:schemeClr val="bg2"/>
            </a:solidFill>
            <a:miter lim="800000"/>
            <a:headEnd/>
            <a:tailEnd/>
          </a:ln>
          <a:effectLst/>
        </p:spPr>
        <p:txBody>
          <a:bodyPr anchor="ctr"/>
          <a:lstStyle/>
          <a:p>
            <a:pPr algn="ctr"/>
            <a:r>
              <a:rPr lang="es-ES" sz="1100" dirty="0">
                <a:solidFill>
                  <a:srgbClr val="000000"/>
                </a:solidFill>
              </a:rPr>
              <a:t>S/. </a:t>
            </a:r>
            <a:r>
              <a:rPr lang="es-ES" sz="1100" dirty="0"/>
              <a:t>0.00</a:t>
            </a:r>
            <a:endParaRPr lang="es-ES" sz="1100" dirty="0">
              <a:solidFill>
                <a:srgbClr val="000000"/>
              </a:solidFill>
            </a:endParaRPr>
          </a:p>
        </p:txBody>
      </p:sp>
      <p:sp>
        <p:nvSpPr>
          <p:cNvPr id="88" name="AutoShape 47"/>
          <p:cNvSpPr>
            <a:spLocks noChangeAspect="1" noChangeArrowheads="1"/>
          </p:cNvSpPr>
          <p:nvPr/>
        </p:nvSpPr>
        <p:spPr bwMode="blackWhite">
          <a:xfrm>
            <a:off x="263032" y="3482416"/>
            <a:ext cx="503986" cy="1274400"/>
          </a:xfrm>
          <a:prstGeom prst="rightArrow">
            <a:avLst>
              <a:gd name="adj1" fmla="val 100000"/>
              <a:gd name="adj2" fmla="val 11009"/>
            </a:avLst>
          </a:prstGeom>
          <a:solidFill>
            <a:srgbClr val="969696"/>
          </a:solidFill>
          <a:ln w="12700">
            <a:noFill/>
            <a:miter lim="800000"/>
            <a:headEnd/>
            <a:tailEnd/>
          </a:ln>
          <a:effectLst>
            <a:outerShdw dist="35921" dir="2700000" algn="ctr" rotWithShape="0">
              <a:schemeClr val="bg2"/>
            </a:outerShdw>
          </a:effectLst>
        </p:spPr>
        <p:txBody>
          <a:bodyPr vert="vert270" anchor="ctr"/>
          <a:lstStyle/>
          <a:p>
            <a:pPr algn="ctr">
              <a:lnSpc>
                <a:spcPts val="1000"/>
              </a:lnSpc>
            </a:pPr>
            <a:r>
              <a:rPr lang="es-ES" sz="1100" b="1" noProof="1">
                <a:solidFill>
                  <a:srgbClr val="FFFFFF"/>
                </a:solidFill>
                <a:cs typeface="Arial" charset="0"/>
              </a:rPr>
              <a:t>Evaluación Riesgo Operacional</a:t>
            </a:r>
          </a:p>
        </p:txBody>
      </p:sp>
      <p:sp>
        <p:nvSpPr>
          <p:cNvPr id="89" name="AutoShape 179"/>
          <p:cNvSpPr>
            <a:spLocks noChangeArrowheads="1"/>
          </p:cNvSpPr>
          <p:nvPr/>
        </p:nvSpPr>
        <p:spPr bwMode="auto">
          <a:xfrm>
            <a:off x="4932039" y="3493021"/>
            <a:ext cx="4037169" cy="864000"/>
          </a:xfrm>
          <a:prstGeom prst="roundRect">
            <a:avLst>
              <a:gd name="adj" fmla="val 9481"/>
            </a:avLst>
          </a:prstGeom>
          <a:solidFill>
            <a:schemeClr val="accent1">
              <a:lumMod val="20000"/>
              <a:lumOff val="80000"/>
            </a:schemeClr>
          </a:solidFill>
          <a:ln w="9525" algn="ctr">
            <a:noFill/>
            <a:round/>
            <a:headEnd/>
            <a:tailEnd/>
          </a:ln>
          <a:effectLst/>
        </p:spPr>
        <p:txBody>
          <a:bodyPr wrap="none" anchor="ctr"/>
          <a:lstStyle/>
          <a:p>
            <a:endParaRPr lang="es-CL">
              <a:solidFill>
                <a:srgbClr val="002060"/>
              </a:solidFill>
            </a:endParaRPr>
          </a:p>
        </p:txBody>
      </p:sp>
      <p:sp>
        <p:nvSpPr>
          <p:cNvPr id="90" name="AutoShape 47"/>
          <p:cNvSpPr>
            <a:spLocks noChangeArrowheads="1"/>
          </p:cNvSpPr>
          <p:nvPr/>
        </p:nvSpPr>
        <p:spPr bwMode="blackWhite">
          <a:xfrm>
            <a:off x="4678512" y="3494523"/>
            <a:ext cx="353942" cy="864000"/>
          </a:xfrm>
          <a:prstGeom prst="rightArrow">
            <a:avLst>
              <a:gd name="adj1" fmla="val 100000"/>
              <a:gd name="adj2" fmla="val 11009"/>
            </a:avLst>
          </a:prstGeom>
          <a:solidFill>
            <a:srgbClr val="969696"/>
          </a:solidFill>
          <a:ln w="12700">
            <a:noFill/>
            <a:miter lim="800000"/>
            <a:headEnd/>
            <a:tailEnd/>
          </a:ln>
          <a:effectLst>
            <a:outerShdw dist="35921" dir="2700000" algn="ctr" rotWithShape="0">
              <a:schemeClr val="bg2"/>
            </a:outerShdw>
          </a:effectLst>
        </p:spPr>
        <p:txBody>
          <a:bodyPr vert="vert270" anchor="ctr"/>
          <a:lstStyle/>
          <a:p>
            <a:pPr algn="ctr">
              <a:lnSpc>
                <a:spcPts val="1000"/>
              </a:lnSpc>
            </a:pPr>
            <a:r>
              <a:rPr lang="es-ES" sz="1100" b="1" noProof="1">
                <a:solidFill>
                  <a:srgbClr val="FFFFFF"/>
                </a:solidFill>
                <a:cs typeface="Arial" charset="0"/>
              </a:rPr>
              <a:t>Impacto Reputacional</a:t>
            </a:r>
          </a:p>
        </p:txBody>
      </p:sp>
      <p:sp>
        <p:nvSpPr>
          <p:cNvPr id="91" name="Rectangle 18"/>
          <p:cNvSpPr>
            <a:spLocks noChangeArrowheads="1"/>
          </p:cNvSpPr>
          <p:nvPr/>
        </p:nvSpPr>
        <p:spPr bwMode="auto">
          <a:xfrm>
            <a:off x="8334310" y="3568288"/>
            <a:ext cx="548640" cy="170094"/>
          </a:xfrm>
          <a:prstGeom prst="rect">
            <a:avLst/>
          </a:prstGeom>
          <a:solidFill>
            <a:schemeClr val="bg1"/>
          </a:solidFill>
          <a:ln w="9525" algn="ctr">
            <a:solidFill>
              <a:schemeClr val="bg2"/>
            </a:solidFill>
            <a:miter lim="800000"/>
            <a:headEnd/>
            <a:tailEnd/>
          </a:ln>
          <a:effectLst/>
        </p:spPr>
        <p:txBody>
          <a:bodyPr anchor="ctr"/>
          <a:lstStyle/>
          <a:p>
            <a:pPr algn="ctr"/>
            <a:r>
              <a:rPr lang="es-ES" sz="1100" dirty="0">
                <a:solidFill>
                  <a:srgbClr val="002060"/>
                </a:solidFill>
              </a:rPr>
              <a:t>2</a:t>
            </a:r>
          </a:p>
        </p:txBody>
      </p:sp>
      <p:sp>
        <p:nvSpPr>
          <p:cNvPr id="92" name="Rounded Rectangle 91"/>
          <p:cNvSpPr/>
          <p:nvPr/>
        </p:nvSpPr>
        <p:spPr>
          <a:xfrm>
            <a:off x="5102950" y="3568288"/>
            <a:ext cx="3132000" cy="170094"/>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Afectación a contrapartes</a:t>
            </a:r>
          </a:p>
        </p:txBody>
      </p:sp>
      <p:sp>
        <p:nvSpPr>
          <p:cNvPr id="93" name="Rectangle 18"/>
          <p:cNvSpPr>
            <a:spLocks noChangeArrowheads="1"/>
          </p:cNvSpPr>
          <p:nvPr/>
        </p:nvSpPr>
        <p:spPr bwMode="auto">
          <a:xfrm>
            <a:off x="5102950" y="3786445"/>
            <a:ext cx="3780000" cy="469509"/>
          </a:xfrm>
          <a:prstGeom prst="rect">
            <a:avLst/>
          </a:prstGeom>
          <a:solidFill>
            <a:schemeClr val="bg1"/>
          </a:solidFill>
          <a:ln w="9525" algn="ctr">
            <a:solidFill>
              <a:schemeClr val="bg2"/>
            </a:solidFill>
            <a:miter lim="800000"/>
            <a:headEnd/>
            <a:tailEnd/>
          </a:ln>
          <a:effectLst/>
        </p:spPr>
        <p:txBody>
          <a:bodyPr anchor="ctr"/>
          <a:lstStyle/>
          <a:p>
            <a:r>
              <a:rPr lang="es-ES" sz="1100" dirty="0">
                <a:solidFill>
                  <a:srgbClr val="000000"/>
                </a:solidFill>
              </a:rPr>
              <a:t>La exposición de la imagen es interna pero no limitada.</a:t>
            </a:r>
          </a:p>
        </p:txBody>
      </p:sp>
      <p:sp>
        <p:nvSpPr>
          <p:cNvPr id="94" name="Text Box 30"/>
          <p:cNvSpPr txBox="1">
            <a:spLocks noChangeArrowheads="1"/>
          </p:cNvSpPr>
          <p:nvPr/>
        </p:nvSpPr>
        <p:spPr bwMode="auto">
          <a:xfrm>
            <a:off x="190746" y="4838419"/>
            <a:ext cx="3996000" cy="276999"/>
          </a:xfrm>
          <a:prstGeom prst="rect">
            <a:avLst/>
          </a:prstGeom>
          <a:noFill/>
          <a:ln w="9525" algn="ctr">
            <a:noFill/>
            <a:miter lim="800000"/>
            <a:headEnd/>
            <a:tailEnd/>
          </a:ln>
          <a:effectLst/>
        </p:spPr>
        <p:txBody>
          <a:bodyPr wrap="square">
            <a:spAutoFit/>
          </a:bodyPr>
          <a:lstStyle/>
          <a:p>
            <a:pPr>
              <a:spcBef>
                <a:spcPct val="50000"/>
              </a:spcBef>
            </a:pPr>
            <a:r>
              <a:rPr lang="es-CL" sz="1200" b="1" i="1" dirty="0">
                <a:solidFill>
                  <a:srgbClr val="A3A3E0"/>
                </a:solidFill>
              </a:rPr>
              <a:t>Resultados valoración de controles / factores mitigantes</a:t>
            </a:r>
            <a:endParaRPr lang="es-ES" sz="1200" b="1" i="1" dirty="0">
              <a:solidFill>
                <a:srgbClr val="A3A3E0"/>
              </a:solidFill>
            </a:endParaRPr>
          </a:p>
        </p:txBody>
      </p:sp>
      <p:sp>
        <p:nvSpPr>
          <p:cNvPr id="98" name="AutoShape 179"/>
          <p:cNvSpPr>
            <a:spLocks noChangeArrowheads="1"/>
          </p:cNvSpPr>
          <p:nvPr/>
        </p:nvSpPr>
        <p:spPr bwMode="auto">
          <a:xfrm>
            <a:off x="4927319" y="4397238"/>
            <a:ext cx="4037169" cy="892800"/>
          </a:xfrm>
          <a:prstGeom prst="roundRect">
            <a:avLst>
              <a:gd name="adj" fmla="val 9481"/>
            </a:avLst>
          </a:prstGeom>
          <a:solidFill>
            <a:schemeClr val="accent1">
              <a:lumMod val="20000"/>
              <a:lumOff val="80000"/>
            </a:schemeClr>
          </a:solidFill>
          <a:ln w="9525" algn="ctr">
            <a:noFill/>
            <a:round/>
            <a:headEnd/>
            <a:tailEnd/>
          </a:ln>
          <a:effectLst/>
        </p:spPr>
        <p:txBody>
          <a:bodyPr wrap="none" anchor="ctr"/>
          <a:lstStyle/>
          <a:p>
            <a:endParaRPr lang="es-CL">
              <a:solidFill>
                <a:srgbClr val="002060"/>
              </a:solidFill>
            </a:endParaRPr>
          </a:p>
        </p:txBody>
      </p:sp>
      <p:sp>
        <p:nvSpPr>
          <p:cNvPr id="99" name="AutoShape 47"/>
          <p:cNvSpPr>
            <a:spLocks noChangeArrowheads="1"/>
          </p:cNvSpPr>
          <p:nvPr/>
        </p:nvSpPr>
        <p:spPr bwMode="blackWhite">
          <a:xfrm>
            <a:off x="4673792" y="4398740"/>
            <a:ext cx="352800" cy="892800"/>
          </a:xfrm>
          <a:prstGeom prst="rightArrow">
            <a:avLst>
              <a:gd name="adj1" fmla="val 100000"/>
              <a:gd name="adj2" fmla="val 11009"/>
            </a:avLst>
          </a:prstGeom>
          <a:solidFill>
            <a:srgbClr val="969696"/>
          </a:solidFill>
          <a:ln w="12700">
            <a:noFill/>
            <a:miter lim="800000"/>
            <a:headEnd/>
            <a:tailEnd/>
          </a:ln>
          <a:effectLst>
            <a:outerShdw dist="35921" dir="2700000" algn="ctr" rotWithShape="0">
              <a:schemeClr val="bg2"/>
            </a:outerShdw>
          </a:effectLst>
        </p:spPr>
        <p:txBody>
          <a:bodyPr vert="vert270" anchor="ctr"/>
          <a:lstStyle/>
          <a:p>
            <a:pPr algn="ctr">
              <a:lnSpc>
                <a:spcPts val="1000"/>
              </a:lnSpc>
            </a:pPr>
            <a:r>
              <a:rPr lang="es-ES" sz="1100" b="1" noProof="1">
                <a:solidFill>
                  <a:srgbClr val="FFFFFF"/>
                </a:solidFill>
                <a:cs typeface="Arial" charset="0"/>
              </a:rPr>
              <a:t>Cuestionarios</a:t>
            </a:r>
          </a:p>
        </p:txBody>
      </p:sp>
      <p:sp>
        <p:nvSpPr>
          <p:cNvPr id="101" name="Rounded Rectangle 38"/>
          <p:cNvSpPr/>
          <p:nvPr/>
        </p:nvSpPr>
        <p:spPr>
          <a:xfrm>
            <a:off x="5098230" y="4472505"/>
            <a:ext cx="3132000" cy="170094"/>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Criterios de Evaluación</a:t>
            </a:r>
          </a:p>
        </p:txBody>
      </p:sp>
      <p:sp>
        <p:nvSpPr>
          <p:cNvPr id="102" name="AutoShape 179"/>
          <p:cNvSpPr>
            <a:spLocks noChangeArrowheads="1"/>
          </p:cNvSpPr>
          <p:nvPr/>
        </p:nvSpPr>
        <p:spPr bwMode="auto">
          <a:xfrm>
            <a:off x="534831" y="5060900"/>
            <a:ext cx="4037169" cy="864000"/>
          </a:xfrm>
          <a:prstGeom prst="roundRect">
            <a:avLst>
              <a:gd name="adj" fmla="val 9481"/>
            </a:avLst>
          </a:prstGeom>
          <a:solidFill>
            <a:schemeClr val="accent1">
              <a:lumMod val="20000"/>
              <a:lumOff val="80000"/>
            </a:schemeClr>
          </a:solidFill>
          <a:ln w="9525" algn="ctr">
            <a:noFill/>
            <a:round/>
            <a:headEnd/>
            <a:tailEnd/>
          </a:ln>
          <a:effectLst/>
        </p:spPr>
        <p:txBody>
          <a:bodyPr wrap="none" anchor="ctr"/>
          <a:lstStyle/>
          <a:p>
            <a:endParaRPr lang="es-CL">
              <a:solidFill>
                <a:srgbClr val="002060"/>
              </a:solidFill>
            </a:endParaRPr>
          </a:p>
        </p:txBody>
      </p:sp>
      <p:sp>
        <p:nvSpPr>
          <p:cNvPr id="103" name="AutoShape 47"/>
          <p:cNvSpPr>
            <a:spLocks noChangeArrowheads="1"/>
          </p:cNvSpPr>
          <p:nvPr/>
        </p:nvSpPr>
        <p:spPr bwMode="blackWhite">
          <a:xfrm>
            <a:off x="281304" y="5062402"/>
            <a:ext cx="353942" cy="864000"/>
          </a:xfrm>
          <a:prstGeom prst="rightArrow">
            <a:avLst>
              <a:gd name="adj1" fmla="val 100000"/>
              <a:gd name="adj2" fmla="val 11009"/>
            </a:avLst>
          </a:prstGeom>
          <a:solidFill>
            <a:srgbClr val="969696"/>
          </a:solidFill>
          <a:ln w="12700">
            <a:noFill/>
            <a:miter lim="800000"/>
            <a:headEnd/>
            <a:tailEnd/>
          </a:ln>
          <a:effectLst>
            <a:outerShdw dist="35921" dir="2700000" algn="ctr" rotWithShape="0">
              <a:schemeClr val="bg2"/>
            </a:outerShdw>
          </a:effectLst>
        </p:spPr>
        <p:txBody>
          <a:bodyPr vert="vert270" anchor="ctr"/>
          <a:lstStyle/>
          <a:p>
            <a:pPr algn="ctr">
              <a:lnSpc>
                <a:spcPts val="1000"/>
              </a:lnSpc>
            </a:pPr>
            <a:r>
              <a:rPr lang="es-ES" sz="1100" b="1" noProof="1">
                <a:solidFill>
                  <a:srgbClr val="FFFFFF"/>
                </a:solidFill>
                <a:cs typeface="Arial" charset="0"/>
              </a:rPr>
              <a:t>Evaluación de Controles</a:t>
            </a:r>
          </a:p>
        </p:txBody>
      </p:sp>
      <p:sp>
        <p:nvSpPr>
          <p:cNvPr id="104" name="Rectangle 18"/>
          <p:cNvSpPr>
            <a:spLocks noChangeArrowheads="1"/>
          </p:cNvSpPr>
          <p:nvPr/>
        </p:nvSpPr>
        <p:spPr bwMode="auto">
          <a:xfrm>
            <a:off x="3937102" y="5136167"/>
            <a:ext cx="548640" cy="170094"/>
          </a:xfrm>
          <a:prstGeom prst="rect">
            <a:avLst/>
          </a:prstGeom>
          <a:solidFill>
            <a:schemeClr val="bg1"/>
          </a:solidFill>
          <a:ln w="9525" algn="ctr">
            <a:solidFill>
              <a:schemeClr val="bg2"/>
            </a:solidFill>
            <a:miter lim="800000"/>
            <a:headEnd/>
            <a:tailEnd/>
          </a:ln>
          <a:effectLst/>
        </p:spPr>
        <p:txBody>
          <a:bodyPr anchor="ctr"/>
          <a:lstStyle/>
          <a:p>
            <a:pPr algn="ctr"/>
            <a:r>
              <a:rPr lang="es-ES" sz="1100" dirty="0">
                <a:solidFill>
                  <a:srgbClr val="002060"/>
                </a:solidFill>
              </a:rPr>
              <a:t>0</a:t>
            </a:r>
          </a:p>
        </p:txBody>
      </p:sp>
      <p:sp>
        <p:nvSpPr>
          <p:cNvPr id="105" name="Rounded Rectangle 38"/>
          <p:cNvSpPr/>
          <p:nvPr/>
        </p:nvSpPr>
        <p:spPr>
          <a:xfrm>
            <a:off x="705742" y="5136167"/>
            <a:ext cx="3132000" cy="170094"/>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Controles asociados al riesgo</a:t>
            </a:r>
          </a:p>
        </p:txBody>
      </p:sp>
      <p:sp>
        <p:nvSpPr>
          <p:cNvPr id="106" name="Rectangle 18"/>
          <p:cNvSpPr>
            <a:spLocks noChangeArrowheads="1"/>
          </p:cNvSpPr>
          <p:nvPr/>
        </p:nvSpPr>
        <p:spPr bwMode="auto">
          <a:xfrm>
            <a:off x="5102950" y="4685678"/>
            <a:ext cx="3780000" cy="469509"/>
          </a:xfrm>
          <a:prstGeom prst="rect">
            <a:avLst/>
          </a:prstGeom>
          <a:solidFill>
            <a:schemeClr val="bg1"/>
          </a:solidFill>
          <a:ln w="9525" algn="ctr">
            <a:solidFill>
              <a:schemeClr val="bg2"/>
            </a:solidFill>
            <a:miter lim="800000"/>
            <a:headEnd/>
            <a:tailEnd/>
          </a:ln>
          <a:effectLst/>
        </p:spPr>
        <p:txBody>
          <a:bodyPr anchor="ctr"/>
          <a:lstStyle/>
          <a:p>
            <a:r>
              <a:rPr lang="es-ES" sz="1100" dirty="0"/>
              <a:t>El Experto del riesgo ha considerado que si se materializarse este riesgo no derivaría en ninguna pérdida económica.</a:t>
            </a:r>
          </a:p>
        </p:txBody>
      </p:sp>
      <p:sp>
        <p:nvSpPr>
          <p:cNvPr id="107" name="Rectangle 18"/>
          <p:cNvSpPr>
            <a:spLocks noChangeArrowheads="1"/>
          </p:cNvSpPr>
          <p:nvPr/>
        </p:nvSpPr>
        <p:spPr bwMode="auto">
          <a:xfrm>
            <a:off x="705742" y="5357175"/>
            <a:ext cx="3780000" cy="469509"/>
          </a:xfrm>
          <a:prstGeom prst="rect">
            <a:avLst/>
          </a:prstGeom>
          <a:solidFill>
            <a:schemeClr val="bg1"/>
          </a:solidFill>
          <a:ln w="9525" algn="ctr">
            <a:solidFill>
              <a:schemeClr val="bg2"/>
            </a:solidFill>
            <a:miter lim="800000"/>
            <a:headEnd/>
            <a:tailEnd/>
          </a:ln>
          <a:effectLst/>
        </p:spPr>
        <p:txBody>
          <a:bodyPr anchor="ctr"/>
          <a:lstStyle/>
          <a:p>
            <a:r>
              <a:rPr lang="es-ES" sz="1100" dirty="0">
                <a:solidFill>
                  <a:srgbClr val="000000"/>
                </a:solidFill>
              </a:rPr>
              <a:t>No existen controles para mitigar el riesgo de caída de sistemas</a:t>
            </a:r>
          </a:p>
        </p:txBody>
      </p:sp>
    </p:spTree>
    <p:extLst>
      <p:ext uri="{BB962C8B-B14F-4D97-AF65-F5344CB8AC3E}">
        <p14:creationId xmlns:p14="http://schemas.microsoft.com/office/powerpoint/2010/main" val="726332686"/>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dirty="0"/>
              <a:t>Anexo: Ficha Individual Riesgos Operacionales</a:t>
            </a:r>
          </a:p>
        </p:txBody>
      </p:sp>
      <p:sp>
        <p:nvSpPr>
          <p:cNvPr id="4" name="Rounded Rectangle 3"/>
          <p:cNvSpPr/>
          <p:nvPr/>
        </p:nvSpPr>
        <p:spPr>
          <a:xfrm>
            <a:off x="227770" y="764704"/>
            <a:ext cx="383790" cy="274320"/>
          </a:xfrm>
          <a:prstGeom prst="roundRect">
            <a:avLst/>
          </a:prstGeom>
          <a:solidFill>
            <a:srgbClr val="DB0613"/>
          </a:solidFill>
          <a:ln w="9525" algn="ctr">
            <a:noFill/>
            <a:miter lim="800000"/>
            <a:headEnd/>
            <a:tailEnd/>
          </a:ln>
          <a:effectLst/>
        </p:spPr>
        <p:txBody>
          <a:bodyPr anchor="ctr"/>
          <a:lstStyle/>
          <a:p>
            <a:pPr algn="ctr">
              <a:lnSpc>
                <a:spcPct val="80000"/>
              </a:lnSpc>
            </a:pPr>
            <a:r>
              <a:rPr lang="es-CL" sz="1200" b="1" dirty="0">
                <a:solidFill>
                  <a:srgbClr val="FFFFFF"/>
                </a:solidFill>
                <a:cs typeface="Arial" pitchFamily="34" charset="0"/>
              </a:rPr>
              <a:t>39</a:t>
            </a:r>
          </a:p>
        </p:txBody>
      </p:sp>
      <p:sp>
        <p:nvSpPr>
          <p:cNvPr id="5" name="Rectangle 18"/>
          <p:cNvSpPr>
            <a:spLocks noChangeArrowheads="1"/>
          </p:cNvSpPr>
          <p:nvPr/>
        </p:nvSpPr>
        <p:spPr bwMode="auto">
          <a:xfrm>
            <a:off x="227770" y="2548229"/>
            <a:ext cx="6400800" cy="708660"/>
          </a:xfrm>
          <a:prstGeom prst="rect">
            <a:avLst/>
          </a:prstGeom>
          <a:noFill/>
          <a:ln w="9525" algn="ctr">
            <a:solidFill>
              <a:schemeClr val="bg2"/>
            </a:solidFill>
            <a:miter lim="800000"/>
            <a:headEnd/>
            <a:tailEnd/>
          </a:ln>
          <a:effectLst/>
        </p:spPr>
        <p:txBody>
          <a:bodyPr/>
          <a:lstStyle/>
          <a:p>
            <a:r>
              <a:rPr lang="es-ES" sz="1100" dirty="0"/>
              <a:t>Error humano en la elaboración de las cartas de traspasos de fondos necesarias para las operaciones realizadas en Money Market.</a:t>
            </a:r>
          </a:p>
        </p:txBody>
      </p:sp>
      <p:sp>
        <p:nvSpPr>
          <p:cNvPr id="8" name="Rounded Rectangle 7"/>
          <p:cNvSpPr/>
          <p:nvPr/>
        </p:nvSpPr>
        <p:spPr>
          <a:xfrm>
            <a:off x="652842" y="764704"/>
            <a:ext cx="8352000" cy="274320"/>
          </a:xfrm>
          <a:prstGeom prst="roundRect">
            <a:avLst/>
          </a:prstGeom>
          <a:solidFill>
            <a:srgbClr val="DB0613"/>
          </a:solidFill>
          <a:ln w="9525" algn="ctr">
            <a:noFill/>
            <a:miter lim="800000"/>
            <a:headEnd/>
            <a:tailEnd/>
          </a:ln>
          <a:effectLst/>
        </p:spPr>
        <p:txBody>
          <a:bodyPr anchor="ctr"/>
          <a:lstStyle/>
          <a:p>
            <a:pPr>
              <a:lnSpc>
                <a:spcPct val="80000"/>
              </a:lnSpc>
            </a:pPr>
            <a:r>
              <a:rPr lang="es-ES" sz="1200" b="1" dirty="0">
                <a:solidFill>
                  <a:srgbClr val="FFFFFF"/>
                </a:solidFill>
                <a:cs typeface="Arial" pitchFamily="34" charset="0"/>
              </a:rPr>
              <a:t>Falla en la elaboración de las cartas de traspaso de fondos</a:t>
            </a:r>
            <a:endParaRPr lang="es-CL" sz="1200" b="1" dirty="0">
              <a:solidFill>
                <a:srgbClr val="FFFFFF"/>
              </a:solidFill>
              <a:cs typeface="Arial" pitchFamily="34" charset="0"/>
            </a:endParaRPr>
          </a:p>
        </p:txBody>
      </p:sp>
      <p:sp>
        <p:nvSpPr>
          <p:cNvPr id="9" name="Rounded Rectangle 8"/>
          <p:cNvSpPr/>
          <p:nvPr/>
        </p:nvSpPr>
        <p:spPr>
          <a:xfrm>
            <a:off x="227770" y="2307916"/>
            <a:ext cx="64008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Descripción</a:t>
            </a:r>
          </a:p>
        </p:txBody>
      </p:sp>
      <p:sp>
        <p:nvSpPr>
          <p:cNvPr id="10" name="Rounded Rectangle 9"/>
          <p:cNvSpPr/>
          <p:nvPr/>
        </p:nvSpPr>
        <p:spPr>
          <a:xfrm>
            <a:off x="6716066" y="1111764"/>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Categoría  de Riesgo Nivel I</a:t>
            </a:r>
          </a:p>
        </p:txBody>
      </p:sp>
      <p:sp>
        <p:nvSpPr>
          <p:cNvPr id="11" name="Rectangle 18"/>
          <p:cNvSpPr>
            <a:spLocks noChangeArrowheads="1"/>
          </p:cNvSpPr>
          <p:nvPr/>
        </p:nvSpPr>
        <p:spPr bwMode="auto">
          <a:xfrm>
            <a:off x="6716066" y="1325572"/>
            <a:ext cx="2286000" cy="270000"/>
          </a:xfrm>
          <a:prstGeom prst="rect">
            <a:avLst/>
          </a:prstGeom>
          <a:noFill/>
          <a:ln w="9525" algn="ctr">
            <a:solidFill>
              <a:schemeClr val="bg2"/>
            </a:solidFill>
            <a:miter lim="800000"/>
            <a:headEnd/>
            <a:tailEnd/>
          </a:ln>
          <a:effectLst/>
        </p:spPr>
        <p:txBody>
          <a:bodyPr anchor="ctr"/>
          <a:lstStyle/>
          <a:p>
            <a:pPr>
              <a:lnSpc>
                <a:spcPts val="1000"/>
              </a:lnSpc>
            </a:pPr>
            <a:r>
              <a:rPr lang="es-ES" sz="1100" dirty="0"/>
              <a:t>Ejecución, entrega y gestión de procesos</a:t>
            </a:r>
          </a:p>
        </p:txBody>
      </p:sp>
      <p:sp>
        <p:nvSpPr>
          <p:cNvPr id="12" name="Rounded Rectangle 11"/>
          <p:cNvSpPr/>
          <p:nvPr/>
        </p:nvSpPr>
        <p:spPr>
          <a:xfrm>
            <a:off x="6716066" y="1664503"/>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Categoría  de Riesgo Nivel II</a:t>
            </a:r>
          </a:p>
        </p:txBody>
      </p:sp>
      <p:sp>
        <p:nvSpPr>
          <p:cNvPr id="13" name="Rectangle 18"/>
          <p:cNvSpPr>
            <a:spLocks noChangeArrowheads="1"/>
          </p:cNvSpPr>
          <p:nvPr/>
        </p:nvSpPr>
        <p:spPr bwMode="auto">
          <a:xfrm>
            <a:off x="6716066" y="1877089"/>
            <a:ext cx="2286000" cy="270000"/>
          </a:xfrm>
          <a:prstGeom prst="rect">
            <a:avLst/>
          </a:prstGeom>
          <a:noFill/>
          <a:ln w="9525" algn="ctr">
            <a:solidFill>
              <a:schemeClr val="bg2"/>
            </a:solidFill>
            <a:miter lim="800000"/>
            <a:headEnd/>
            <a:tailEnd/>
          </a:ln>
          <a:effectLst/>
        </p:spPr>
        <p:txBody>
          <a:bodyPr anchor="ctr"/>
          <a:lstStyle/>
          <a:p>
            <a:r>
              <a:rPr lang="es-ES" sz="1100" dirty="0"/>
              <a:t>Recepción, ejecución y mantenimiento de operaciones</a:t>
            </a:r>
          </a:p>
        </p:txBody>
      </p:sp>
      <p:sp>
        <p:nvSpPr>
          <p:cNvPr id="15" name="Rounded Rectangle 14"/>
          <p:cNvSpPr/>
          <p:nvPr/>
        </p:nvSpPr>
        <p:spPr>
          <a:xfrm>
            <a:off x="6716066" y="2223551"/>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Categoría  de Riesgo Nivel III</a:t>
            </a:r>
          </a:p>
        </p:txBody>
      </p:sp>
      <p:sp>
        <p:nvSpPr>
          <p:cNvPr id="16" name="Rectangle 18"/>
          <p:cNvSpPr>
            <a:spLocks noChangeArrowheads="1"/>
          </p:cNvSpPr>
          <p:nvPr/>
        </p:nvSpPr>
        <p:spPr bwMode="auto">
          <a:xfrm>
            <a:off x="6716066" y="2434321"/>
            <a:ext cx="2286000" cy="270000"/>
          </a:xfrm>
          <a:prstGeom prst="rect">
            <a:avLst/>
          </a:prstGeom>
          <a:noFill/>
          <a:ln w="9525" algn="ctr">
            <a:solidFill>
              <a:schemeClr val="bg2"/>
            </a:solidFill>
            <a:miter lim="800000"/>
            <a:headEnd/>
            <a:tailEnd/>
          </a:ln>
          <a:effectLst/>
        </p:spPr>
        <p:txBody>
          <a:bodyPr anchor="ctr"/>
          <a:lstStyle/>
          <a:p>
            <a:r>
              <a:rPr lang="es-ES" sz="1100" dirty="0"/>
              <a:t>Incorrecta ejecución de tareas / obligaciones</a:t>
            </a:r>
          </a:p>
        </p:txBody>
      </p:sp>
      <p:sp>
        <p:nvSpPr>
          <p:cNvPr id="17" name="Rounded Rectangle 16"/>
          <p:cNvSpPr/>
          <p:nvPr/>
        </p:nvSpPr>
        <p:spPr>
          <a:xfrm>
            <a:off x="216583" y="1110038"/>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Macroproceso</a:t>
            </a:r>
          </a:p>
        </p:txBody>
      </p:sp>
      <p:sp>
        <p:nvSpPr>
          <p:cNvPr id="18" name="Rectangle 18"/>
          <p:cNvSpPr>
            <a:spLocks noChangeArrowheads="1"/>
          </p:cNvSpPr>
          <p:nvPr/>
        </p:nvSpPr>
        <p:spPr bwMode="auto">
          <a:xfrm>
            <a:off x="2568409" y="1110038"/>
            <a:ext cx="3877200" cy="182880"/>
          </a:xfrm>
          <a:prstGeom prst="rect">
            <a:avLst/>
          </a:prstGeom>
          <a:noFill/>
          <a:ln w="9525" algn="ctr">
            <a:solidFill>
              <a:schemeClr val="bg2"/>
            </a:solidFill>
            <a:miter lim="800000"/>
            <a:headEnd/>
            <a:tailEnd/>
          </a:ln>
          <a:effectLst/>
        </p:spPr>
        <p:txBody>
          <a:bodyPr anchor="ctr"/>
          <a:lstStyle/>
          <a:p>
            <a:r>
              <a:rPr lang="es-ES" sz="1100" dirty="0"/>
              <a:t>Administración de Portafolio de Inversiones</a:t>
            </a:r>
          </a:p>
        </p:txBody>
      </p:sp>
      <p:sp>
        <p:nvSpPr>
          <p:cNvPr id="19" name="Rounded Rectangle 18"/>
          <p:cNvSpPr/>
          <p:nvPr/>
        </p:nvSpPr>
        <p:spPr>
          <a:xfrm>
            <a:off x="216583" y="1339045"/>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Proceso</a:t>
            </a:r>
          </a:p>
        </p:txBody>
      </p:sp>
      <p:sp>
        <p:nvSpPr>
          <p:cNvPr id="20" name="Rectangle 18"/>
          <p:cNvSpPr>
            <a:spLocks noChangeArrowheads="1"/>
          </p:cNvSpPr>
          <p:nvPr/>
        </p:nvSpPr>
        <p:spPr bwMode="auto">
          <a:xfrm>
            <a:off x="2568409" y="1339045"/>
            <a:ext cx="3877200" cy="182880"/>
          </a:xfrm>
          <a:prstGeom prst="rect">
            <a:avLst/>
          </a:prstGeom>
          <a:noFill/>
          <a:ln w="9525" algn="ctr">
            <a:solidFill>
              <a:schemeClr val="bg2"/>
            </a:solidFill>
            <a:miter lim="800000"/>
            <a:headEnd/>
            <a:tailEnd/>
          </a:ln>
          <a:effectLst/>
        </p:spPr>
        <p:txBody>
          <a:bodyPr anchor="ctr"/>
          <a:lstStyle/>
          <a:p>
            <a:r>
              <a:rPr lang="es-ES" sz="1100" dirty="0"/>
              <a:t>Administración de fondos</a:t>
            </a:r>
          </a:p>
        </p:txBody>
      </p:sp>
      <p:sp>
        <p:nvSpPr>
          <p:cNvPr id="59" name="Rounded Rectangle 58"/>
          <p:cNvSpPr/>
          <p:nvPr/>
        </p:nvSpPr>
        <p:spPr>
          <a:xfrm>
            <a:off x="216583" y="1579694"/>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Subproceso</a:t>
            </a:r>
          </a:p>
        </p:txBody>
      </p:sp>
      <p:sp>
        <p:nvSpPr>
          <p:cNvPr id="60" name="Rectangle 18"/>
          <p:cNvSpPr>
            <a:spLocks noChangeArrowheads="1"/>
          </p:cNvSpPr>
          <p:nvPr/>
        </p:nvSpPr>
        <p:spPr bwMode="auto">
          <a:xfrm>
            <a:off x="2568409" y="1579694"/>
            <a:ext cx="3875799" cy="182880"/>
          </a:xfrm>
          <a:prstGeom prst="rect">
            <a:avLst/>
          </a:prstGeom>
          <a:noFill/>
          <a:ln w="9525" algn="ctr">
            <a:solidFill>
              <a:schemeClr val="bg2"/>
            </a:solidFill>
            <a:miter lim="800000"/>
            <a:headEnd/>
            <a:tailEnd/>
          </a:ln>
          <a:effectLst/>
        </p:spPr>
        <p:txBody>
          <a:bodyPr anchor="ctr"/>
          <a:lstStyle/>
          <a:p>
            <a:r>
              <a:rPr lang="es-ES" sz="1100" dirty="0"/>
              <a:t>Money Market</a:t>
            </a:r>
          </a:p>
        </p:txBody>
      </p:sp>
      <p:sp>
        <p:nvSpPr>
          <p:cNvPr id="61" name="Rounded Rectangle 60"/>
          <p:cNvSpPr/>
          <p:nvPr/>
        </p:nvSpPr>
        <p:spPr>
          <a:xfrm>
            <a:off x="226806" y="1826440"/>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Línea de Negocio</a:t>
            </a:r>
          </a:p>
        </p:txBody>
      </p:sp>
      <p:sp>
        <p:nvSpPr>
          <p:cNvPr id="63" name="Rounded Rectangle 62"/>
          <p:cNvSpPr/>
          <p:nvPr/>
        </p:nvSpPr>
        <p:spPr>
          <a:xfrm>
            <a:off x="226806" y="2079535"/>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Responsable</a:t>
            </a:r>
          </a:p>
        </p:txBody>
      </p:sp>
      <p:sp>
        <p:nvSpPr>
          <p:cNvPr id="65" name="Rectangle 18"/>
          <p:cNvSpPr>
            <a:spLocks noChangeArrowheads="1"/>
          </p:cNvSpPr>
          <p:nvPr/>
        </p:nvSpPr>
        <p:spPr bwMode="auto">
          <a:xfrm>
            <a:off x="2568409" y="1826440"/>
            <a:ext cx="3875799" cy="182880"/>
          </a:xfrm>
          <a:prstGeom prst="rect">
            <a:avLst/>
          </a:prstGeom>
          <a:noFill/>
          <a:ln w="9525" algn="ctr">
            <a:solidFill>
              <a:schemeClr val="bg2"/>
            </a:solidFill>
            <a:miter lim="800000"/>
            <a:headEnd/>
            <a:tailEnd/>
          </a:ln>
          <a:effectLst/>
        </p:spPr>
        <p:txBody>
          <a:bodyPr anchor="ctr"/>
          <a:lstStyle/>
          <a:p>
            <a:r>
              <a:rPr lang="es-ES" sz="1100" dirty="0"/>
              <a:t>Negociación y Ventas</a:t>
            </a:r>
          </a:p>
        </p:txBody>
      </p:sp>
      <p:sp>
        <p:nvSpPr>
          <p:cNvPr id="66" name="Rectangle 18"/>
          <p:cNvSpPr>
            <a:spLocks noChangeArrowheads="1"/>
          </p:cNvSpPr>
          <p:nvPr/>
        </p:nvSpPr>
        <p:spPr bwMode="auto">
          <a:xfrm>
            <a:off x="2555776" y="2079535"/>
            <a:ext cx="3875799" cy="182880"/>
          </a:xfrm>
          <a:prstGeom prst="rect">
            <a:avLst/>
          </a:prstGeom>
          <a:noFill/>
          <a:ln w="9525" algn="ctr">
            <a:solidFill>
              <a:schemeClr val="bg2"/>
            </a:solidFill>
            <a:miter lim="800000"/>
            <a:headEnd/>
            <a:tailEnd/>
          </a:ln>
          <a:effectLst/>
        </p:spPr>
        <p:txBody>
          <a:bodyPr anchor="ctr"/>
          <a:lstStyle/>
          <a:p>
            <a:r>
              <a:rPr lang="es-ES" sz="1100" dirty="0"/>
              <a:t>Jefe de Gestión de Inversión</a:t>
            </a:r>
          </a:p>
        </p:txBody>
      </p:sp>
      <p:sp>
        <p:nvSpPr>
          <p:cNvPr id="78" name="Rounded Rectangle 14"/>
          <p:cNvSpPr/>
          <p:nvPr/>
        </p:nvSpPr>
        <p:spPr>
          <a:xfrm>
            <a:off x="6716066" y="2768330"/>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Origen del Riesgo</a:t>
            </a:r>
          </a:p>
        </p:txBody>
      </p:sp>
      <p:sp>
        <p:nvSpPr>
          <p:cNvPr id="79" name="Rectangle 18"/>
          <p:cNvSpPr>
            <a:spLocks noChangeArrowheads="1"/>
          </p:cNvSpPr>
          <p:nvPr/>
        </p:nvSpPr>
        <p:spPr bwMode="auto">
          <a:xfrm>
            <a:off x="6716066" y="2983595"/>
            <a:ext cx="2286000" cy="270000"/>
          </a:xfrm>
          <a:prstGeom prst="rect">
            <a:avLst/>
          </a:prstGeom>
          <a:noFill/>
          <a:ln w="9525" algn="ctr">
            <a:solidFill>
              <a:schemeClr val="bg2"/>
            </a:solidFill>
            <a:miter lim="800000"/>
            <a:headEnd/>
            <a:tailEnd/>
          </a:ln>
          <a:effectLst/>
        </p:spPr>
        <p:txBody>
          <a:bodyPr anchor="ctr"/>
          <a:lstStyle/>
          <a:p>
            <a:r>
              <a:rPr lang="es-ES" sz="1100" dirty="0">
                <a:solidFill>
                  <a:srgbClr val="000000"/>
                </a:solidFill>
              </a:rPr>
              <a:t>Personas</a:t>
            </a:r>
          </a:p>
        </p:txBody>
      </p:sp>
      <p:sp>
        <p:nvSpPr>
          <p:cNvPr id="68" name="AutoShape 179"/>
          <p:cNvSpPr>
            <a:spLocks noChangeArrowheads="1"/>
          </p:cNvSpPr>
          <p:nvPr/>
        </p:nvSpPr>
        <p:spPr bwMode="auto">
          <a:xfrm>
            <a:off x="611560" y="3482416"/>
            <a:ext cx="3960812" cy="1275707"/>
          </a:xfrm>
          <a:prstGeom prst="roundRect">
            <a:avLst>
              <a:gd name="adj" fmla="val 9481"/>
            </a:avLst>
          </a:prstGeom>
          <a:solidFill>
            <a:schemeClr val="accent1">
              <a:lumMod val="20000"/>
              <a:lumOff val="80000"/>
            </a:schemeClr>
          </a:solidFill>
          <a:ln w="9525" algn="ctr">
            <a:noFill/>
            <a:round/>
            <a:headEnd/>
            <a:tailEnd/>
          </a:ln>
          <a:effectLst/>
        </p:spPr>
        <p:txBody>
          <a:bodyPr wrap="none" anchor="ctr"/>
          <a:lstStyle/>
          <a:p>
            <a:endParaRPr lang="es-CL">
              <a:solidFill>
                <a:srgbClr val="002060"/>
              </a:solidFill>
            </a:endParaRPr>
          </a:p>
        </p:txBody>
      </p:sp>
      <p:sp>
        <p:nvSpPr>
          <p:cNvPr id="73" name="Text Box 30"/>
          <p:cNvSpPr txBox="1">
            <a:spLocks noChangeArrowheads="1"/>
          </p:cNvSpPr>
          <p:nvPr/>
        </p:nvSpPr>
        <p:spPr bwMode="auto">
          <a:xfrm>
            <a:off x="190747" y="3259373"/>
            <a:ext cx="3671888" cy="276999"/>
          </a:xfrm>
          <a:prstGeom prst="rect">
            <a:avLst/>
          </a:prstGeom>
          <a:noFill/>
          <a:ln w="9525" algn="ctr">
            <a:noFill/>
            <a:miter lim="800000"/>
            <a:headEnd/>
            <a:tailEnd/>
          </a:ln>
          <a:effectLst/>
        </p:spPr>
        <p:txBody>
          <a:bodyPr>
            <a:spAutoFit/>
          </a:bodyPr>
          <a:lstStyle/>
          <a:p>
            <a:pPr>
              <a:spcBef>
                <a:spcPct val="50000"/>
              </a:spcBef>
            </a:pPr>
            <a:r>
              <a:rPr lang="es-CL" sz="1200" b="1" i="1" dirty="0">
                <a:solidFill>
                  <a:srgbClr val="A3A3E0"/>
                </a:solidFill>
              </a:rPr>
              <a:t>Resultados valoración de riesgos</a:t>
            </a:r>
            <a:endParaRPr lang="es-ES" sz="1200" b="1" i="1" dirty="0">
              <a:solidFill>
                <a:srgbClr val="A3A3E0"/>
              </a:solidFill>
            </a:endParaRPr>
          </a:p>
        </p:txBody>
      </p:sp>
      <p:sp>
        <p:nvSpPr>
          <p:cNvPr id="76" name="Rounded Rectangle 75"/>
          <p:cNvSpPr/>
          <p:nvPr/>
        </p:nvSpPr>
        <p:spPr>
          <a:xfrm>
            <a:off x="902959" y="4255955"/>
            <a:ext cx="1920240" cy="170094"/>
          </a:xfrm>
          <a:prstGeom prst="roundRect">
            <a:avLst/>
          </a:prstGeom>
          <a:solidFill>
            <a:srgbClr val="DB0613"/>
          </a:solidFill>
          <a:ln w="9525" algn="ctr">
            <a:noFill/>
            <a:miter lim="800000"/>
            <a:headEnd/>
            <a:tailEnd/>
          </a:ln>
          <a:effectLst/>
        </p:spPr>
        <p:txBody>
          <a:bodyPr tIns="91440" anchor="ctr"/>
          <a:lstStyle/>
          <a:p>
            <a:pPr>
              <a:lnSpc>
                <a:spcPct val="80000"/>
              </a:lnSpc>
            </a:pPr>
            <a:r>
              <a:rPr lang="es-CL" sz="1100" b="1" dirty="0">
                <a:solidFill>
                  <a:srgbClr val="FFFFFF"/>
                </a:solidFill>
                <a:cs typeface="Arial" pitchFamily="34" charset="0"/>
              </a:rPr>
              <a:t>Pérdida Esperada Anual</a:t>
            </a:r>
          </a:p>
        </p:txBody>
      </p:sp>
      <p:sp>
        <p:nvSpPr>
          <p:cNvPr id="77" name="Rectangle 18"/>
          <p:cNvSpPr>
            <a:spLocks noChangeArrowheads="1"/>
          </p:cNvSpPr>
          <p:nvPr/>
        </p:nvSpPr>
        <p:spPr bwMode="auto">
          <a:xfrm>
            <a:off x="2859920" y="4255955"/>
            <a:ext cx="1554480" cy="170094"/>
          </a:xfrm>
          <a:prstGeom prst="rect">
            <a:avLst/>
          </a:prstGeom>
          <a:solidFill>
            <a:schemeClr val="bg1"/>
          </a:solidFill>
          <a:ln w="9525" algn="ctr">
            <a:solidFill>
              <a:schemeClr val="bg2"/>
            </a:solidFill>
            <a:miter lim="800000"/>
            <a:headEnd/>
            <a:tailEnd/>
          </a:ln>
          <a:effectLst/>
        </p:spPr>
        <p:txBody>
          <a:bodyPr anchor="ctr"/>
          <a:lstStyle/>
          <a:p>
            <a:pPr algn="ctr"/>
            <a:r>
              <a:rPr lang="es-ES" sz="1100" dirty="0">
                <a:solidFill>
                  <a:srgbClr val="000000"/>
                </a:solidFill>
              </a:rPr>
              <a:t>S/. 32</a:t>
            </a:r>
            <a:r>
              <a:rPr lang="es-ES" sz="1100" dirty="0"/>
              <a:t>0 .00</a:t>
            </a:r>
            <a:endParaRPr lang="es-ES" sz="1100" dirty="0">
              <a:solidFill>
                <a:srgbClr val="000000"/>
              </a:solidFill>
            </a:endParaRPr>
          </a:p>
        </p:txBody>
      </p:sp>
      <p:sp>
        <p:nvSpPr>
          <p:cNvPr id="80" name="Rounded Rectangle 79"/>
          <p:cNvSpPr/>
          <p:nvPr/>
        </p:nvSpPr>
        <p:spPr>
          <a:xfrm>
            <a:off x="902959" y="4485567"/>
            <a:ext cx="1920240" cy="170094"/>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VaR Cualitativo Anual</a:t>
            </a:r>
          </a:p>
        </p:txBody>
      </p:sp>
      <p:sp>
        <p:nvSpPr>
          <p:cNvPr id="81" name="Rectangle 18"/>
          <p:cNvSpPr>
            <a:spLocks noChangeArrowheads="1"/>
          </p:cNvSpPr>
          <p:nvPr/>
        </p:nvSpPr>
        <p:spPr bwMode="auto">
          <a:xfrm>
            <a:off x="2859920" y="4485567"/>
            <a:ext cx="1554480" cy="170094"/>
          </a:xfrm>
          <a:prstGeom prst="rect">
            <a:avLst/>
          </a:prstGeom>
          <a:solidFill>
            <a:schemeClr val="bg1"/>
          </a:solidFill>
          <a:ln w="9525" algn="ctr">
            <a:solidFill>
              <a:schemeClr val="bg2"/>
            </a:solidFill>
            <a:miter lim="800000"/>
            <a:headEnd/>
            <a:tailEnd/>
          </a:ln>
          <a:effectLst/>
        </p:spPr>
        <p:txBody>
          <a:bodyPr anchor="ctr"/>
          <a:lstStyle/>
          <a:p>
            <a:pPr algn="ctr"/>
            <a:r>
              <a:rPr lang="es-ES" sz="1100" dirty="0">
                <a:solidFill>
                  <a:srgbClr val="000000"/>
                </a:solidFill>
              </a:rPr>
              <a:t>S/.</a:t>
            </a:r>
            <a:r>
              <a:rPr lang="es-ES" sz="1100" dirty="0"/>
              <a:t> 3,072.27 </a:t>
            </a:r>
            <a:endParaRPr lang="es-ES" sz="1100" dirty="0">
              <a:solidFill>
                <a:srgbClr val="000000"/>
              </a:solidFill>
            </a:endParaRPr>
          </a:p>
        </p:txBody>
      </p:sp>
      <p:sp>
        <p:nvSpPr>
          <p:cNvPr id="82" name="Rounded Rectangle 81"/>
          <p:cNvSpPr/>
          <p:nvPr/>
        </p:nvSpPr>
        <p:spPr>
          <a:xfrm>
            <a:off x="891084" y="3553916"/>
            <a:ext cx="1920240" cy="170094"/>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Frecuencia  Evento Pérdida</a:t>
            </a:r>
          </a:p>
        </p:txBody>
      </p:sp>
      <p:sp>
        <p:nvSpPr>
          <p:cNvPr id="83" name="Rectangle 18"/>
          <p:cNvSpPr>
            <a:spLocks noChangeArrowheads="1"/>
          </p:cNvSpPr>
          <p:nvPr/>
        </p:nvSpPr>
        <p:spPr bwMode="auto">
          <a:xfrm>
            <a:off x="2859920" y="3553916"/>
            <a:ext cx="1554480" cy="170094"/>
          </a:xfrm>
          <a:prstGeom prst="rect">
            <a:avLst/>
          </a:prstGeom>
          <a:solidFill>
            <a:schemeClr val="bg1"/>
          </a:solidFill>
          <a:ln w="9525" algn="ctr">
            <a:solidFill>
              <a:schemeClr val="bg2"/>
            </a:solidFill>
            <a:miter lim="800000"/>
            <a:headEnd/>
            <a:tailEnd/>
          </a:ln>
          <a:effectLst/>
        </p:spPr>
        <p:txBody>
          <a:bodyPr anchor="ctr"/>
          <a:lstStyle/>
          <a:p>
            <a:pPr algn="ctr"/>
            <a:r>
              <a:rPr lang="es-ES" sz="1100" dirty="0">
                <a:solidFill>
                  <a:srgbClr val="000000"/>
                </a:solidFill>
              </a:rPr>
              <a:t>4 veces por 10 años</a:t>
            </a:r>
          </a:p>
        </p:txBody>
      </p:sp>
      <p:sp>
        <p:nvSpPr>
          <p:cNvPr id="84" name="Rounded Rectangle 83"/>
          <p:cNvSpPr/>
          <p:nvPr/>
        </p:nvSpPr>
        <p:spPr>
          <a:xfrm>
            <a:off x="891084" y="3783528"/>
            <a:ext cx="1920240" cy="170094"/>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Impacto Medio Evento</a:t>
            </a:r>
          </a:p>
        </p:txBody>
      </p:sp>
      <p:sp>
        <p:nvSpPr>
          <p:cNvPr id="85" name="Rectangle 18"/>
          <p:cNvSpPr>
            <a:spLocks noChangeArrowheads="1"/>
          </p:cNvSpPr>
          <p:nvPr/>
        </p:nvSpPr>
        <p:spPr bwMode="auto">
          <a:xfrm>
            <a:off x="2859920" y="3783528"/>
            <a:ext cx="1554480" cy="170094"/>
          </a:xfrm>
          <a:prstGeom prst="rect">
            <a:avLst/>
          </a:prstGeom>
          <a:solidFill>
            <a:schemeClr val="bg1"/>
          </a:solidFill>
          <a:ln w="9525" algn="ctr">
            <a:solidFill>
              <a:schemeClr val="bg2"/>
            </a:solidFill>
            <a:miter lim="800000"/>
            <a:headEnd/>
            <a:tailEnd/>
          </a:ln>
          <a:effectLst/>
        </p:spPr>
        <p:txBody>
          <a:bodyPr anchor="ctr"/>
          <a:lstStyle/>
          <a:p>
            <a:pPr algn="ctr"/>
            <a:r>
              <a:rPr lang="es-ES" sz="1100" dirty="0">
                <a:solidFill>
                  <a:srgbClr val="000000"/>
                </a:solidFill>
              </a:rPr>
              <a:t>S/.80</a:t>
            </a:r>
            <a:r>
              <a:rPr lang="es-ES" sz="1100" dirty="0"/>
              <a:t>0.00 </a:t>
            </a:r>
            <a:endParaRPr lang="es-ES" sz="1100" dirty="0">
              <a:solidFill>
                <a:srgbClr val="000000"/>
              </a:solidFill>
            </a:endParaRPr>
          </a:p>
        </p:txBody>
      </p:sp>
      <p:sp>
        <p:nvSpPr>
          <p:cNvPr id="86" name="Rounded Rectangle 85"/>
          <p:cNvSpPr/>
          <p:nvPr/>
        </p:nvSpPr>
        <p:spPr>
          <a:xfrm>
            <a:off x="891084" y="4019108"/>
            <a:ext cx="1920240" cy="170094"/>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Impacto Peor Escenario</a:t>
            </a:r>
          </a:p>
        </p:txBody>
      </p:sp>
      <p:sp>
        <p:nvSpPr>
          <p:cNvPr id="87" name="Rectangle 18"/>
          <p:cNvSpPr>
            <a:spLocks noChangeArrowheads="1"/>
          </p:cNvSpPr>
          <p:nvPr/>
        </p:nvSpPr>
        <p:spPr bwMode="auto">
          <a:xfrm>
            <a:off x="2859920" y="4019108"/>
            <a:ext cx="1554480" cy="170094"/>
          </a:xfrm>
          <a:prstGeom prst="rect">
            <a:avLst/>
          </a:prstGeom>
          <a:solidFill>
            <a:schemeClr val="bg1"/>
          </a:solidFill>
          <a:ln w="9525" algn="ctr">
            <a:solidFill>
              <a:schemeClr val="bg2"/>
            </a:solidFill>
            <a:miter lim="800000"/>
            <a:headEnd/>
            <a:tailEnd/>
          </a:ln>
          <a:effectLst/>
        </p:spPr>
        <p:txBody>
          <a:bodyPr anchor="ctr"/>
          <a:lstStyle/>
          <a:p>
            <a:pPr algn="ctr"/>
            <a:r>
              <a:rPr lang="es-ES" sz="1100" dirty="0">
                <a:solidFill>
                  <a:srgbClr val="000000"/>
                </a:solidFill>
              </a:rPr>
              <a:t>S/. 1,60</a:t>
            </a:r>
            <a:r>
              <a:rPr lang="es-ES" sz="1100" dirty="0"/>
              <a:t>0.00</a:t>
            </a:r>
            <a:endParaRPr lang="es-ES" sz="1100" dirty="0">
              <a:solidFill>
                <a:srgbClr val="000000"/>
              </a:solidFill>
            </a:endParaRPr>
          </a:p>
        </p:txBody>
      </p:sp>
      <p:sp>
        <p:nvSpPr>
          <p:cNvPr id="88" name="AutoShape 47"/>
          <p:cNvSpPr>
            <a:spLocks noChangeAspect="1" noChangeArrowheads="1"/>
          </p:cNvSpPr>
          <p:nvPr/>
        </p:nvSpPr>
        <p:spPr bwMode="blackWhite">
          <a:xfrm>
            <a:off x="263032" y="3482416"/>
            <a:ext cx="503986" cy="1274400"/>
          </a:xfrm>
          <a:prstGeom prst="rightArrow">
            <a:avLst>
              <a:gd name="adj1" fmla="val 100000"/>
              <a:gd name="adj2" fmla="val 11009"/>
            </a:avLst>
          </a:prstGeom>
          <a:solidFill>
            <a:srgbClr val="969696"/>
          </a:solidFill>
          <a:ln w="12700">
            <a:noFill/>
            <a:miter lim="800000"/>
            <a:headEnd/>
            <a:tailEnd/>
          </a:ln>
          <a:effectLst>
            <a:outerShdw dist="35921" dir="2700000" algn="ctr" rotWithShape="0">
              <a:schemeClr val="bg2"/>
            </a:outerShdw>
          </a:effectLst>
        </p:spPr>
        <p:txBody>
          <a:bodyPr vert="vert270" anchor="ctr"/>
          <a:lstStyle/>
          <a:p>
            <a:pPr algn="ctr">
              <a:lnSpc>
                <a:spcPts val="1000"/>
              </a:lnSpc>
            </a:pPr>
            <a:r>
              <a:rPr lang="es-ES" sz="1100" b="1" noProof="1">
                <a:solidFill>
                  <a:srgbClr val="FFFFFF"/>
                </a:solidFill>
                <a:cs typeface="Arial" charset="0"/>
              </a:rPr>
              <a:t>Evaluación Riesgo Operacional</a:t>
            </a:r>
          </a:p>
        </p:txBody>
      </p:sp>
      <p:sp>
        <p:nvSpPr>
          <p:cNvPr id="89" name="AutoShape 179"/>
          <p:cNvSpPr>
            <a:spLocks noChangeArrowheads="1"/>
          </p:cNvSpPr>
          <p:nvPr/>
        </p:nvSpPr>
        <p:spPr bwMode="auto">
          <a:xfrm>
            <a:off x="4932039" y="3493021"/>
            <a:ext cx="4037169" cy="864000"/>
          </a:xfrm>
          <a:prstGeom prst="roundRect">
            <a:avLst>
              <a:gd name="adj" fmla="val 9481"/>
            </a:avLst>
          </a:prstGeom>
          <a:solidFill>
            <a:schemeClr val="accent1">
              <a:lumMod val="20000"/>
              <a:lumOff val="80000"/>
            </a:schemeClr>
          </a:solidFill>
          <a:ln w="9525" algn="ctr">
            <a:noFill/>
            <a:round/>
            <a:headEnd/>
            <a:tailEnd/>
          </a:ln>
          <a:effectLst/>
        </p:spPr>
        <p:txBody>
          <a:bodyPr wrap="none" anchor="ctr"/>
          <a:lstStyle/>
          <a:p>
            <a:endParaRPr lang="es-CL">
              <a:solidFill>
                <a:srgbClr val="002060"/>
              </a:solidFill>
            </a:endParaRPr>
          </a:p>
        </p:txBody>
      </p:sp>
      <p:sp>
        <p:nvSpPr>
          <p:cNvPr id="90" name="AutoShape 47"/>
          <p:cNvSpPr>
            <a:spLocks noChangeArrowheads="1"/>
          </p:cNvSpPr>
          <p:nvPr/>
        </p:nvSpPr>
        <p:spPr bwMode="blackWhite">
          <a:xfrm>
            <a:off x="4678512" y="3494523"/>
            <a:ext cx="353942" cy="864000"/>
          </a:xfrm>
          <a:prstGeom prst="rightArrow">
            <a:avLst>
              <a:gd name="adj1" fmla="val 100000"/>
              <a:gd name="adj2" fmla="val 11009"/>
            </a:avLst>
          </a:prstGeom>
          <a:solidFill>
            <a:srgbClr val="969696"/>
          </a:solidFill>
          <a:ln w="12700">
            <a:noFill/>
            <a:miter lim="800000"/>
            <a:headEnd/>
            <a:tailEnd/>
          </a:ln>
          <a:effectLst>
            <a:outerShdw dist="35921" dir="2700000" algn="ctr" rotWithShape="0">
              <a:schemeClr val="bg2"/>
            </a:outerShdw>
          </a:effectLst>
        </p:spPr>
        <p:txBody>
          <a:bodyPr vert="vert270" anchor="ctr"/>
          <a:lstStyle/>
          <a:p>
            <a:pPr algn="ctr">
              <a:lnSpc>
                <a:spcPts val="1000"/>
              </a:lnSpc>
            </a:pPr>
            <a:r>
              <a:rPr lang="es-ES" sz="1100" b="1" noProof="1">
                <a:solidFill>
                  <a:srgbClr val="FFFFFF"/>
                </a:solidFill>
                <a:cs typeface="Arial" charset="0"/>
              </a:rPr>
              <a:t>Impacto Reputacional</a:t>
            </a:r>
          </a:p>
        </p:txBody>
      </p:sp>
      <p:sp>
        <p:nvSpPr>
          <p:cNvPr id="91" name="Rectangle 18"/>
          <p:cNvSpPr>
            <a:spLocks noChangeArrowheads="1"/>
          </p:cNvSpPr>
          <p:nvPr/>
        </p:nvSpPr>
        <p:spPr bwMode="auto">
          <a:xfrm>
            <a:off x="8334310" y="3568288"/>
            <a:ext cx="548640" cy="170094"/>
          </a:xfrm>
          <a:prstGeom prst="rect">
            <a:avLst/>
          </a:prstGeom>
          <a:solidFill>
            <a:schemeClr val="bg1"/>
          </a:solidFill>
          <a:ln w="9525" algn="ctr">
            <a:solidFill>
              <a:schemeClr val="bg2"/>
            </a:solidFill>
            <a:miter lim="800000"/>
            <a:headEnd/>
            <a:tailEnd/>
          </a:ln>
          <a:effectLst/>
        </p:spPr>
        <p:txBody>
          <a:bodyPr anchor="ctr"/>
          <a:lstStyle/>
          <a:p>
            <a:pPr algn="ctr"/>
            <a:r>
              <a:rPr lang="es-ES" sz="1100" dirty="0">
                <a:solidFill>
                  <a:srgbClr val="002060"/>
                </a:solidFill>
              </a:rPr>
              <a:t>1</a:t>
            </a:r>
          </a:p>
        </p:txBody>
      </p:sp>
      <p:sp>
        <p:nvSpPr>
          <p:cNvPr id="92" name="Rounded Rectangle 91"/>
          <p:cNvSpPr/>
          <p:nvPr/>
        </p:nvSpPr>
        <p:spPr>
          <a:xfrm>
            <a:off x="5102950" y="3568288"/>
            <a:ext cx="3132000" cy="170094"/>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Afectación a contrapartes</a:t>
            </a:r>
          </a:p>
        </p:txBody>
      </p:sp>
      <p:sp>
        <p:nvSpPr>
          <p:cNvPr id="93" name="Rectangle 18"/>
          <p:cNvSpPr>
            <a:spLocks noChangeArrowheads="1"/>
          </p:cNvSpPr>
          <p:nvPr/>
        </p:nvSpPr>
        <p:spPr bwMode="auto">
          <a:xfrm>
            <a:off x="5102950" y="3786445"/>
            <a:ext cx="3780000" cy="469509"/>
          </a:xfrm>
          <a:prstGeom prst="rect">
            <a:avLst/>
          </a:prstGeom>
          <a:solidFill>
            <a:schemeClr val="bg1"/>
          </a:solidFill>
          <a:ln w="9525" algn="ctr">
            <a:solidFill>
              <a:schemeClr val="bg2"/>
            </a:solidFill>
            <a:miter lim="800000"/>
            <a:headEnd/>
            <a:tailEnd/>
          </a:ln>
          <a:effectLst/>
        </p:spPr>
        <p:txBody>
          <a:bodyPr anchor="ctr"/>
          <a:lstStyle/>
          <a:p>
            <a:r>
              <a:rPr lang="es-ES" sz="1100" dirty="0">
                <a:solidFill>
                  <a:srgbClr val="000000"/>
                </a:solidFill>
              </a:rPr>
              <a:t>La exposición de la imagen es únicamente interna y limitada.</a:t>
            </a:r>
          </a:p>
        </p:txBody>
      </p:sp>
      <p:sp>
        <p:nvSpPr>
          <p:cNvPr id="94" name="Text Box 30"/>
          <p:cNvSpPr txBox="1">
            <a:spLocks noChangeArrowheads="1"/>
          </p:cNvSpPr>
          <p:nvPr/>
        </p:nvSpPr>
        <p:spPr bwMode="auto">
          <a:xfrm>
            <a:off x="190746" y="4838419"/>
            <a:ext cx="3996000" cy="276999"/>
          </a:xfrm>
          <a:prstGeom prst="rect">
            <a:avLst/>
          </a:prstGeom>
          <a:noFill/>
          <a:ln w="9525" algn="ctr">
            <a:noFill/>
            <a:miter lim="800000"/>
            <a:headEnd/>
            <a:tailEnd/>
          </a:ln>
          <a:effectLst/>
        </p:spPr>
        <p:txBody>
          <a:bodyPr wrap="square">
            <a:spAutoFit/>
          </a:bodyPr>
          <a:lstStyle/>
          <a:p>
            <a:pPr>
              <a:spcBef>
                <a:spcPct val="50000"/>
              </a:spcBef>
            </a:pPr>
            <a:r>
              <a:rPr lang="es-CL" sz="1200" b="1" i="1" dirty="0">
                <a:solidFill>
                  <a:srgbClr val="A3A3E0"/>
                </a:solidFill>
              </a:rPr>
              <a:t>Resultados valoración de controles / factores mitigantes</a:t>
            </a:r>
            <a:endParaRPr lang="es-ES" sz="1200" b="1" i="1" dirty="0">
              <a:solidFill>
                <a:srgbClr val="A3A3E0"/>
              </a:solidFill>
            </a:endParaRPr>
          </a:p>
        </p:txBody>
      </p:sp>
      <p:sp>
        <p:nvSpPr>
          <p:cNvPr id="98" name="AutoShape 179"/>
          <p:cNvSpPr>
            <a:spLocks noChangeArrowheads="1"/>
          </p:cNvSpPr>
          <p:nvPr/>
        </p:nvSpPr>
        <p:spPr bwMode="auto">
          <a:xfrm>
            <a:off x="4927319" y="4397238"/>
            <a:ext cx="4037169" cy="892800"/>
          </a:xfrm>
          <a:prstGeom prst="roundRect">
            <a:avLst>
              <a:gd name="adj" fmla="val 9481"/>
            </a:avLst>
          </a:prstGeom>
          <a:solidFill>
            <a:schemeClr val="accent1">
              <a:lumMod val="20000"/>
              <a:lumOff val="80000"/>
            </a:schemeClr>
          </a:solidFill>
          <a:ln w="9525" algn="ctr">
            <a:noFill/>
            <a:round/>
            <a:headEnd/>
            <a:tailEnd/>
          </a:ln>
          <a:effectLst/>
        </p:spPr>
        <p:txBody>
          <a:bodyPr wrap="none" anchor="ctr"/>
          <a:lstStyle/>
          <a:p>
            <a:endParaRPr lang="es-CL">
              <a:solidFill>
                <a:srgbClr val="002060"/>
              </a:solidFill>
            </a:endParaRPr>
          </a:p>
        </p:txBody>
      </p:sp>
      <p:sp>
        <p:nvSpPr>
          <p:cNvPr id="99" name="AutoShape 47"/>
          <p:cNvSpPr>
            <a:spLocks noChangeArrowheads="1"/>
          </p:cNvSpPr>
          <p:nvPr/>
        </p:nvSpPr>
        <p:spPr bwMode="blackWhite">
          <a:xfrm>
            <a:off x="4673792" y="4398740"/>
            <a:ext cx="352800" cy="892800"/>
          </a:xfrm>
          <a:prstGeom prst="rightArrow">
            <a:avLst>
              <a:gd name="adj1" fmla="val 100000"/>
              <a:gd name="adj2" fmla="val 11009"/>
            </a:avLst>
          </a:prstGeom>
          <a:solidFill>
            <a:srgbClr val="969696"/>
          </a:solidFill>
          <a:ln w="12700">
            <a:noFill/>
            <a:miter lim="800000"/>
            <a:headEnd/>
            <a:tailEnd/>
          </a:ln>
          <a:effectLst>
            <a:outerShdw dist="35921" dir="2700000" algn="ctr" rotWithShape="0">
              <a:schemeClr val="bg2"/>
            </a:outerShdw>
          </a:effectLst>
        </p:spPr>
        <p:txBody>
          <a:bodyPr vert="vert270" anchor="ctr"/>
          <a:lstStyle/>
          <a:p>
            <a:pPr algn="ctr">
              <a:lnSpc>
                <a:spcPts val="1000"/>
              </a:lnSpc>
            </a:pPr>
            <a:r>
              <a:rPr lang="es-ES" sz="1100" b="1" noProof="1">
                <a:solidFill>
                  <a:srgbClr val="FFFFFF"/>
                </a:solidFill>
                <a:cs typeface="Arial" charset="0"/>
              </a:rPr>
              <a:t>Cuestionarios</a:t>
            </a:r>
          </a:p>
        </p:txBody>
      </p:sp>
      <p:sp>
        <p:nvSpPr>
          <p:cNvPr id="101" name="Rounded Rectangle 38"/>
          <p:cNvSpPr/>
          <p:nvPr/>
        </p:nvSpPr>
        <p:spPr>
          <a:xfrm>
            <a:off x="5098230" y="4472505"/>
            <a:ext cx="3132000" cy="170094"/>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Criterios de Evaluación</a:t>
            </a:r>
          </a:p>
        </p:txBody>
      </p:sp>
      <p:sp>
        <p:nvSpPr>
          <p:cNvPr id="102" name="AutoShape 179"/>
          <p:cNvSpPr>
            <a:spLocks noChangeArrowheads="1"/>
          </p:cNvSpPr>
          <p:nvPr/>
        </p:nvSpPr>
        <p:spPr bwMode="auto">
          <a:xfrm>
            <a:off x="534831" y="5060900"/>
            <a:ext cx="4037169" cy="864000"/>
          </a:xfrm>
          <a:prstGeom prst="roundRect">
            <a:avLst>
              <a:gd name="adj" fmla="val 9481"/>
            </a:avLst>
          </a:prstGeom>
          <a:solidFill>
            <a:schemeClr val="accent1">
              <a:lumMod val="20000"/>
              <a:lumOff val="80000"/>
            </a:schemeClr>
          </a:solidFill>
          <a:ln w="9525" algn="ctr">
            <a:noFill/>
            <a:round/>
            <a:headEnd/>
            <a:tailEnd/>
          </a:ln>
          <a:effectLst/>
        </p:spPr>
        <p:txBody>
          <a:bodyPr wrap="none" anchor="ctr"/>
          <a:lstStyle/>
          <a:p>
            <a:endParaRPr lang="es-CL">
              <a:solidFill>
                <a:srgbClr val="002060"/>
              </a:solidFill>
            </a:endParaRPr>
          </a:p>
        </p:txBody>
      </p:sp>
      <p:sp>
        <p:nvSpPr>
          <p:cNvPr id="103" name="AutoShape 47"/>
          <p:cNvSpPr>
            <a:spLocks noChangeArrowheads="1"/>
          </p:cNvSpPr>
          <p:nvPr/>
        </p:nvSpPr>
        <p:spPr bwMode="blackWhite">
          <a:xfrm>
            <a:off x="281304" y="5062402"/>
            <a:ext cx="353942" cy="864000"/>
          </a:xfrm>
          <a:prstGeom prst="rightArrow">
            <a:avLst>
              <a:gd name="adj1" fmla="val 100000"/>
              <a:gd name="adj2" fmla="val 11009"/>
            </a:avLst>
          </a:prstGeom>
          <a:solidFill>
            <a:srgbClr val="969696"/>
          </a:solidFill>
          <a:ln w="12700">
            <a:noFill/>
            <a:miter lim="800000"/>
            <a:headEnd/>
            <a:tailEnd/>
          </a:ln>
          <a:effectLst>
            <a:outerShdw dist="35921" dir="2700000" algn="ctr" rotWithShape="0">
              <a:schemeClr val="bg2"/>
            </a:outerShdw>
          </a:effectLst>
        </p:spPr>
        <p:txBody>
          <a:bodyPr vert="vert270" anchor="ctr"/>
          <a:lstStyle/>
          <a:p>
            <a:pPr algn="ctr">
              <a:lnSpc>
                <a:spcPts val="1000"/>
              </a:lnSpc>
            </a:pPr>
            <a:r>
              <a:rPr lang="es-ES" sz="1100" b="1" noProof="1">
                <a:solidFill>
                  <a:srgbClr val="FFFFFF"/>
                </a:solidFill>
                <a:cs typeface="Arial" charset="0"/>
              </a:rPr>
              <a:t>Evaluación de Controles</a:t>
            </a:r>
          </a:p>
        </p:txBody>
      </p:sp>
      <p:sp>
        <p:nvSpPr>
          <p:cNvPr id="104" name="Rectangle 18"/>
          <p:cNvSpPr>
            <a:spLocks noChangeArrowheads="1"/>
          </p:cNvSpPr>
          <p:nvPr/>
        </p:nvSpPr>
        <p:spPr bwMode="auto">
          <a:xfrm>
            <a:off x="3937102" y="5136167"/>
            <a:ext cx="548640" cy="170094"/>
          </a:xfrm>
          <a:prstGeom prst="rect">
            <a:avLst/>
          </a:prstGeom>
          <a:solidFill>
            <a:schemeClr val="bg1"/>
          </a:solidFill>
          <a:ln w="9525" algn="ctr">
            <a:solidFill>
              <a:schemeClr val="bg2"/>
            </a:solidFill>
            <a:miter lim="800000"/>
            <a:headEnd/>
            <a:tailEnd/>
          </a:ln>
          <a:effectLst/>
        </p:spPr>
        <p:txBody>
          <a:bodyPr anchor="ctr"/>
          <a:lstStyle/>
          <a:p>
            <a:pPr algn="ctr"/>
            <a:r>
              <a:rPr lang="es-ES" sz="1100" dirty="0">
                <a:solidFill>
                  <a:srgbClr val="002060"/>
                </a:solidFill>
              </a:rPr>
              <a:t>1</a:t>
            </a:r>
          </a:p>
        </p:txBody>
      </p:sp>
      <p:sp>
        <p:nvSpPr>
          <p:cNvPr id="105" name="Rounded Rectangle 38"/>
          <p:cNvSpPr/>
          <p:nvPr/>
        </p:nvSpPr>
        <p:spPr>
          <a:xfrm>
            <a:off x="705742" y="5136167"/>
            <a:ext cx="3132000" cy="170094"/>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Controles asociados al riesgo</a:t>
            </a:r>
          </a:p>
        </p:txBody>
      </p:sp>
      <p:sp>
        <p:nvSpPr>
          <p:cNvPr id="106" name="Rectangle 18"/>
          <p:cNvSpPr>
            <a:spLocks noChangeArrowheads="1"/>
          </p:cNvSpPr>
          <p:nvPr/>
        </p:nvSpPr>
        <p:spPr bwMode="auto">
          <a:xfrm>
            <a:off x="5102950" y="4685678"/>
            <a:ext cx="3780000" cy="469509"/>
          </a:xfrm>
          <a:prstGeom prst="rect">
            <a:avLst/>
          </a:prstGeom>
          <a:solidFill>
            <a:schemeClr val="bg1"/>
          </a:solidFill>
          <a:ln w="9525" algn="ctr">
            <a:solidFill>
              <a:schemeClr val="bg2"/>
            </a:solidFill>
            <a:miter lim="800000"/>
            <a:headEnd/>
            <a:tailEnd/>
          </a:ln>
          <a:effectLst/>
        </p:spPr>
        <p:txBody>
          <a:bodyPr anchor="ctr"/>
          <a:lstStyle/>
          <a:p>
            <a:r>
              <a:rPr lang="es-ES" sz="1050" dirty="0"/>
              <a:t>La valoración del riesgo se ha basado en el promedio de intereses que se podrían dejar de ganar a diario, es decir, s./ 800.</a:t>
            </a:r>
          </a:p>
        </p:txBody>
      </p:sp>
      <p:sp>
        <p:nvSpPr>
          <p:cNvPr id="107" name="Rectangle 18"/>
          <p:cNvSpPr>
            <a:spLocks noChangeArrowheads="1"/>
          </p:cNvSpPr>
          <p:nvPr/>
        </p:nvSpPr>
        <p:spPr bwMode="auto">
          <a:xfrm>
            <a:off x="705742" y="5357175"/>
            <a:ext cx="3780000" cy="469509"/>
          </a:xfrm>
          <a:prstGeom prst="rect">
            <a:avLst/>
          </a:prstGeom>
          <a:solidFill>
            <a:schemeClr val="bg1"/>
          </a:solidFill>
          <a:ln w="9525" algn="ctr">
            <a:solidFill>
              <a:schemeClr val="bg2"/>
            </a:solidFill>
            <a:miter lim="800000"/>
            <a:headEnd/>
            <a:tailEnd/>
          </a:ln>
          <a:effectLst/>
        </p:spPr>
        <p:txBody>
          <a:bodyPr anchor="ctr"/>
          <a:lstStyle/>
          <a:p>
            <a:r>
              <a:rPr lang="es-ES" sz="1100" dirty="0">
                <a:solidFill>
                  <a:srgbClr val="000000"/>
                </a:solidFill>
              </a:rPr>
              <a:t>Revisión de los datos generados en la operativa por parte del Jefe de gestión de Inversión (Mitigante)</a:t>
            </a:r>
          </a:p>
        </p:txBody>
      </p:sp>
    </p:spTree>
    <p:extLst>
      <p:ext uri="{BB962C8B-B14F-4D97-AF65-F5344CB8AC3E}">
        <p14:creationId xmlns:p14="http://schemas.microsoft.com/office/powerpoint/2010/main" val="3161250362"/>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dirty="0"/>
              <a:t>Anexo: Ficha Individual Riesgos Operacionales</a:t>
            </a:r>
          </a:p>
        </p:txBody>
      </p:sp>
      <p:sp>
        <p:nvSpPr>
          <p:cNvPr id="3" name="AutoShape 179"/>
          <p:cNvSpPr>
            <a:spLocks noChangeArrowheads="1"/>
          </p:cNvSpPr>
          <p:nvPr/>
        </p:nvSpPr>
        <p:spPr bwMode="auto">
          <a:xfrm>
            <a:off x="611560" y="3535397"/>
            <a:ext cx="3960812" cy="1371600"/>
          </a:xfrm>
          <a:prstGeom prst="roundRect">
            <a:avLst>
              <a:gd name="adj" fmla="val 9481"/>
            </a:avLst>
          </a:prstGeom>
          <a:solidFill>
            <a:schemeClr val="accent1">
              <a:lumMod val="20000"/>
              <a:lumOff val="80000"/>
            </a:schemeClr>
          </a:solidFill>
          <a:ln w="9525" algn="ctr">
            <a:noFill/>
            <a:round/>
            <a:headEnd/>
            <a:tailEnd/>
          </a:ln>
          <a:effectLst/>
        </p:spPr>
        <p:txBody>
          <a:bodyPr wrap="none" anchor="ctr"/>
          <a:lstStyle/>
          <a:p>
            <a:endParaRPr lang="es-CL">
              <a:solidFill>
                <a:srgbClr val="002060"/>
              </a:solidFill>
            </a:endParaRPr>
          </a:p>
        </p:txBody>
      </p:sp>
      <p:sp>
        <p:nvSpPr>
          <p:cNvPr id="4" name="Rounded Rectangle 3"/>
          <p:cNvSpPr/>
          <p:nvPr/>
        </p:nvSpPr>
        <p:spPr>
          <a:xfrm>
            <a:off x="214497" y="764704"/>
            <a:ext cx="397063" cy="274320"/>
          </a:xfrm>
          <a:prstGeom prst="roundRect">
            <a:avLst/>
          </a:prstGeom>
          <a:solidFill>
            <a:srgbClr val="DB0613"/>
          </a:solidFill>
          <a:ln w="9525" algn="ctr">
            <a:noFill/>
            <a:miter lim="800000"/>
            <a:headEnd/>
            <a:tailEnd/>
          </a:ln>
          <a:effectLst/>
        </p:spPr>
        <p:txBody>
          <a:bodyPr anchor="ctr"/>
          <a:lstStyle/>
          <a:p>
            <a:pPr algn="ctr">
              <a:lnSpc>
                <a:spcPct val="80000"/>
              </a:lnSpc>
            </a:pPr>
            <a:r>
              <a:rPr lang="es-CL" sz="1200" b="1" dirty="0">
                <a:solidFill>
                  <a:srgbClr val="FFFFFF"/>
                </a:solidFill>
                <a:cs typeface="Arial" pitchFamily="34" charset="0"/>
              </a:rPr>
              <a:t>40</a:t>
            </a:r>
          </a:p>
        </p:txBody>
      </p:sp>
      <p:sp>
        <p:nvSpPr>
          <p:cNvPr id="5" name="Rectangle 18"/>
          <p:cNvSpPr>
            <a:spLocks noChangeArrowheads="1"/>
          </p:cNvSpPr>
          <p:nvPr/>
        </p:nvSpPr>
        <p:spPr bwMode="auto">
          <a:xfrm>
            <a:off x="227770" y="2409552"/>
            <a:ext cx="6400800" cy="839807"/>
          </a:xfrm>
          <a:prstGeom prst="rect">
            <a:avLst/>
          </a:prstGeom>
          <a:noFill/>
          <a:ln w="9525" algn="ctr">
            <a:solidFill>
              <a:schemeClr val="bg2"/>
            </a:solidFill>
            <a:miter lim="800000"/>
            <a:headEnd/>
            <a:tailEnd/>
          </a:ln>
          <a:effectLst/>
        </p:spPr>
        <p:txBody>
          <a:bodyPr/>
          <a:lstStyle/>
          <a:p>
            <a:r>
              <a:rPr lang="es-ES" sz="1100" dirty="0"/>
              <a:t>Boleta sin firma del responsable de la ejecución de la operación. </a:t>
            </a:r>
            <a:endParaRPr lang="es-ES" sz="1100" dirty="0">
              <a:solidFill>
                <a:srgbClr val="002060"/>
              </a:solidFill>
            </a:endParaRPr>
          </a:p>
        </p:txBody>
      </p:sp>
      <p:sp>
        <p:nvSpPr>
          <p:cNvPr id="7" name="Text Box 30"/>
          <p:cNvSpPr txBox="1">
            <a:spLocks noChangeArrowheads="1"/>
          </p:cNvSpPr>
          <p:nvPr/>
        </p:nvSpPr>
        <p:spPr bwMode="auto">
          <a:xfrm>
            <a:off x="190747" y="3299257"/>
            <a:ext cx="3671888" cy="276999"/>
          </a:xfrm>
          <a:prstGeom prst="rect">
            <a:avLst/>
          </a:prstGeom>
          <a:noFill/>
          <a:ln w="9525" algn="ctr">
            <a:noFill/>
            <a:miter lim="800000"/>
            <a:headEnd/>
            <a:tailEnd/>
          </a:ln>
          <a:effectLst/>
        </p:spPr>
        <p:txBody>
          <a:bodyPr>
            <a:spAutoFit/>
          </a:bodyPr>
          <a:lstStyle/>
          <a:p>
            <a:pPr>
              <a:spcBef>
                <a:spcPct val="50000"/>
              </a:spcBef>
            </a:pPr>
            <a:r>
              <a:rPr lang="es-CL" sz="1200" b="1" i="1" dirty="0">
                <a:solidFill>
                  <a:srgbClr val="A3A3E0"/>
                </a:solidFill>
              </a:rPr>
              <a:t>Resultados valoración de riesgos</a:t>
            </a:r>
            <a:endParaRPr lang="es-ES" sz="1200" b="1" i="1" dirty="0">
              <a:solidFill>
                <a:srgbClr val="A3A3E0"/>
              </a:solidFill>
            </a:endParaRPr>
          </a:p>
        </p:txBody>
      </p:sp>
      <p:sp>
        <p:nvSpPr>
          <p:cNvPr id="8" name="Rounded Rectangle 7"/>
          <p:cNvSpPr/>
          <p:nvPr/>
        </p:nvSpPr>
        <p:spPr>
          <a:xfrm>
            <a:off x="652842" y="764704"/>
            <a:ext cx="8321040" cy="274320"/>
          </a:xfrm>
          <a:prstGeom prst="roundRect">
            <a:avLst/>
          </a:prstGeom>
          <a:solidFill>
            <a:srgbClr val="DB0613"/>
          </a:solidFill>
          <a:ln w="9525" algn="ctr">
            <a:noFill/>
            <a:miter lim="800000"/>
            <a:headEnd/>
            <a:tailEnd/>
          </a:ln>
          <a:effectLst/>
        </p:spPr>
        <p:txBody>
          <a:bodyPr anchor="ctr"/>
          <a:lstStyle/>
          <a:p>
            <a:pPr>
              <a:lnSpc>
                <a:spcPct val="80000"/>
              </a:lnSpc>
            </a:pPr>
            <a:r>
              <a:rPr lang="es-ES" sz="1200" dirty="0">
                <a:solidFill>
                  <a:schemeClr val="bg1"/>
                </a:solidFill>
              </a:rPr>
              <a:t>Boleta sin firma del responsable de la ejecución de la operación.</a:t>
            </a:r>
            <a:endParaRPr lang="es-CL" sz="1200" b="1" dirty="0">
              <a:solidFill>
                <a:schemeClr val="bg1"/>
              </a:solidFill>
              <a:cs typeface="Arial" pitchFamily="34" charset="0"/>
            </a:endParaRPr>
          </a:p>
        </p:txBody>
      </p:sp>
      <p:sp>
        <p:nvSpPr>
          <p:cNvPr id="9" name="Rounded Rectangle 8"/>
          <p:cNvSpPr/>
          <p:nvPr/>
        </p:nvSpPr>
        <p:spPr>
          <a:xfrm>
            <a:off x="227770" y="2202383"/>
            <a:ext cx="64008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Descripción</a:t>
            </a:r>
          </a:p>
        </p:txBody>
      </p:sp>
      <p:sp>
        <p:nvSpPr>
          <p:cNvPr id="10" name="Rounded Rectangle 9"/>
          <p:cNvSpPr/>
          <p:nvPr/>
        </p:nvSpPr>
        <p:spPr>
          <a:xfrm>
            <a:off x="6716066" y="1089119"/>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Categoría  de Riesgo Nivel I</a:t>
            </a:r>
          </a:p>
        </p:txBody>
      </p:sp>
      <p:sp>
        <p:nvSpPr>
          <p:cNvPr id="11" name="Rectangle 18"/>
          <p:cNvSpPr>
            <a:spLocks noChangeArrowheads="1"/>
          </p:cNvSpPr>
          <p:nvPr/>
        </p:nvSpPr>
        <p:spPr bwMode="auto">
          <a:xfrm>
            <a:off x="6716066" y="1316374"/>
            <a:ext cx="2286000" cy="365760"/>
          </a:xfrm>
          <a:prstGeom prst="rect">
            <a:avLst/>
          </a:prstGeom>
          <a:noFill/>
          <a:ln w="9525" algn="ctr">
            <a:solidFill>
              <a:schemeClr val="bg2"/>
            </a:solidFill>
            <a:miter lim="800000"/>
            <a:headEnd/>
            <a:tailEnd/>
          </a:ln>
          <a:effectLst/>
        </p:spPr>
        <p:txBody>
          <a:bodyPr anchor="ctr"/>
          <a:lstStyle/>
          <a:p>
            <a:pPr>
              <a:lnSpc>
                <a:spcPts val="1000"/>
              </a:lnSpc>
            </a:pPr>
            <a:r>
              <a:rPr lang="es-ES" sz="1100" dirty="0"/>
              <a:t>Ejecución, entrega y gestión de procesos</a:t>
            </a:r>
          </a:p>
        </p:txBody>
      </p:sp>
      <p:sp>
        <p:nvSpPr>
          <p:cNvPr id="12" name="Rounded Rectangle 11"/>
          <p:cNvSpPr/>
          <p:nvPr/>
        </p:nvSpPr>
        <p:spPr>
          <a:xfrm>
            <a:off x="6716066" y="1725169"/>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Categoría de Riesgo Nivel II</a:t>
            </a:r>
          </a:p>
        </p:txBody>
      </p:sp>
      <p:sp>
        <p:nvSpPr>
          <p:cNvPr id="13" name="Rectangle 18"/>
          <p:cNvSpPr>
            <a:spLocks noChangeArrowheads="1"/>
          </p:cNvSpPr>
          <p:nvPr/>
        </p:nvSpPr>
        <p:spPr bwMode="auto">
          <a:xfrm>
            <a:off x="6716066" y="1942710"/>
            <a:ext cx="2286000" cy="274320"/>
          </a:xfrm>
          <a:prstGeom prst="rect">
            <a:avLst/>
          </a:prstGeom>
          <a:noFill/>
          <a:ln w="9525" algn="ctr">
            <a:solidFill>
              <a:schemeClr val="bg2"/>
            </a:solidFill>
            <a:miter lim="800000"/>
            <a:headEnd/>
            <a:tailEnd/>
          </a:ln>
          <a:effectLst/>
        </p:spPr>
        <p:txBody>
          <a:bodyPr anchor="ctr"/>
          <a:lstStyle/>
          <a:p>
            <a:r>
              <a:rPr lang="es-ES" sz="1100" dirty="0"/>
              <a:t>Recepción, ejecución y mantenimiento de operaciones</a:t>
            </a:r>
          </a:p>
        </p:txBody>
      </p:sp>
      <p:sp>
        <p:nvSpPr>
          <p:cNvPr id="16" name="Rectangle 18"/>
          <p:cNvSpPr>
            <a:spLocks noChangeArrowheads="1"/>
          </p:cNvSpPr>
          <p:nvPr/>
        </p:nvSpPr>
        <p:spPr bwMode="auto">
          <a:xfrm>
            <a:off x="6716066" y="2459337"/>
            <a:ext cx="2286000" cy="506469"/>
          </a:xfrm>
          <a:prstGeom prst="rect">
            <a:avLst/>
          </a:prstGeom>
          <a:noFill/>
          <a:ln w="9525" algn="ctr">
            <a:solidFill>
              <a:schemeClr val="bg2"/>
            </a:solidFill>
            <a:miter lim="800000"/>
            <a:headEnd/>
            <a:tailEnd/>
          </a:ln>
          <a:effectLst/>
        </p:spPr>
        <p:txBody>
          <a:bodyPr anchor="ctr"/>
          <a:lstStyle/>
          <a:p>
            <a:r>
              <a:rPr lang="es-ES" sz="1100" dirty="0"/>
              <a:t>Incorrecta ejecución de tareas / obligaciones</a:t>
            </a:r>
          </a:p>
        </p:txBody>
      </p:sp>
      <p:sp>
        <p:nvSpPr>
          <p:cNvPr id="17" name="Rounded Rectangle 16"/>
          <p:cNvSpPr/>
          <p:nvPr/>
        </p:nvSpPr>
        <p:spPr>
          <a:xfrm>
            <a:off x="227770" y="1110038"/>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Macroproceso</a:t>
            </a:r>
          </a:p>
        </p:txBody>
      </p:sp>
      <p:sp>
        <p:nvSpPr>
          <p:cNvPr id="18" name="Rectangle 18"/>
          <p:cNvSpPr>
            <a:spLocks noChangeArrowheads="1"/>
          </p:cNvSpPr>
          <p:nvPr/>
        </p:nvSpPr>
        <p:spPr bwMode="auto">
          <a:xfrm>
            <a:off x="2568409" y="1110038"/>
            <a:ext cx="4060161" cy="182880"/>
          </a:xfrm>
          <a:prstGeom prst="rect">
            <a:avLst/>
          </a:prstGeom>
          <a:noFill/>
          <a:ln w="9525" algn="ctr">
            <a:solidFill>
              <a:schemeClr val="bg2"/>
            </a:solidFill>
            <a:miter lim="800000"/>
            <a:headEnd/>
            <a:tailEnd/>
          </a:ln>
          <a:effectLst/>
        </p:spPr>
        <p:txBody>
          <a:bodyPr anchor="ctr"/>
          <a:lstStyle/>
          <a:p>
            <a:r>
              <a:rPr lang="es-ES" sz="1100" dirty="0"/>
              <a:t>Administración de Portafolio de Inversiones</a:t>
            </a:r>
          </a:p>
        </p:txBody>
      </p:sp>
      <p:sp>
        <p:nvSpPr>
          <p:cNvPr id="19" name="Rounded Rectangle 18"/>
          <p:cNvSpPr/>
          <p:nvPr/>
        </p:nvSpPr>
        <p:spPr>
          <a:xfrm>
            <a:off x="227770" y="1339045"/>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Proceso</a:t>
            </a:r>
          </a:p>
        </p:txBody>
      </p:sp>
      <p:sp>
        <p:nvSpPr>
          <p:cNvPr id="20" name="Rectangle 18"/>
          <p:cNvSpPr>
            <a:spLocks noChangeArrowheads="1"/>
          </p:cNvSpPr>
          <p:nvPr/>
        </p:nvSpPr>
        <p:spPr bwMode="auto">
          <a:xfrm>
            <a:off x="2568409" y="1339045"/>
            <a:ext cx="4060161" cy="182880"/>
          </a:xfrm>
          <a:prstGeom prst="rect">
            <a:avLst/>
          </a:prstGeom>
          <a:noFill/>
          <a:ln w="9525" algn="ctr">
            <a:solidFill>
              <a:schemeClr val="bg2"/>
            </a:solidFill>
            <a:miter lim="800000"/>
            <a:headEnd/>
            <a:tailEnd/>
          </a:ln>
          <a:effectLst/>
        </p:spPr>
        <p:txBody>
          <a:bodyPr anchor="ctr"/>
          <a:lstStyle/>
          <a:p>
            <a:r>
              <a:rPr lang="es-ES" sz="1100" dirty="0"/>
              <a:t>Administración de fondos</a:t>
            </a:r>
          </a:p>
        </p:txBody>
      </p:sp>
      <p:sp>
        <p:nvSpPr>
          <p:cNvPr id="21" name="Rectangle 29"/>
          <p:cNvSpPr>
            <a:spLocks noChangeArrowheads="1"/>
          </p:cNvSpPr>
          <p:nvPr/>
        </p:nvSpPr>
        <p:spPr bwMode="auto">
          <a:xfrm>
            <a:off x="107504" y="3423715"/>
            <a:ext cx="8961120" cy="1607926"/>
          </a:xfrm>
          <a:prstGeom prst="rect">
            <a:avLst/>
          </a:prstGeom>
          <a:noFill/>
          <a:ln w="19050" cap="rnd" algn="ctr">
            <a:solidFill>
              <a:schemeClr val="bg2"/>
            </a:solidFill>
            <a:prstDash val="sysDot"/>
            <a:miter lim="800000"/>
            <a:headEnd/>
            <a:tailEnd/>
          </a:ln>
          <a:effectLst/>
        </p:spPr>
        <p:txBody>
          <a:bodyPr wrap="none" anchor="ctr"/>
          <a:lstStyle/>
          <a:p>
            <a:endParaRPr lang="en-US">
              <a:solidFill>
                <a:srgbClr val="002060"/>
              </a:solidFill>
            </a:endParaRPr>
          </a:p>
        </p:txBody>
      </p:sp>
      <p:sp>
        <p:nvSpPr>
          <p:cNvPr id="22" name="Rounded Rectangle 21"/>
          <p:cNvSpPr/>
          <p:nvPr/>
        </p:nvSpPr>
        <p:spPr>
          <a:xfrm>
            <a:off x="902959" y="4382163"/>
            <a:ext cx="1920240" cy="182880"/>
          </a:xfrm>
          <a:prstGeom prst="roundRect">
            <a:avLst/>
          </a:prstGeom>
          <a:solidFill>
            <a:srgbClr val="DB0613"/>
          </a:solidFill>
          <a:ln w="9525" algn="ctr">
            <a:noFill/>
            <a:miter lim="800000"/>
            <a:headEnd/>
            <a:tailEnd/>
          </a:ln>
          <a:effectLst/>
        </p:spPr>
        <p:txBody>
          <a:bodyPr tIns="91440" anchor="ctr"/>
          <a:lstStyle/>
          <a:p>
            <a:pPr>
              <a:lnSpc>
                <a:spcPct val="80000"/>
              </a:lnSpc>
            </a:pPr>
            <a:r>
              <a:rPr lang="es-CL" sz="1100" b="1" dirty="0">
                <a:solidFill>
                  <a:srgbClr val="FFFFFF"/>
                </a:solidFill>
                <a:cs typeface="Arial" pitchFamily="34" charset="0"/>
              </a:rPr>
              <a:t>Pérdida Esperada Anual</a:t>
            </a:r>
          </a:p>
        </p:txBody>
      </p:sp>
      <p:sp>
        <p:nvSpPr>
          <p:cNvPr id="23" name="Rectangle 18"/>
          <p:cNvSpPr>
            <a:spLocks noChangeArrowheads="1"/>
          </p:cNvSpPr>
          <p:nvPr/>
        </p:nvSpPr>
        <p:spPr bwMode="auto">
          <a:xfrm>
            <a:off x="2859920" y="4382163"/>
            <a:ext cx="1554480" cy="182880"/>
          </a:xfrm>
          <a:prstGeom prst="rect">
            <a:avLst/>
          </a:prstGeom>
          <a:solidFill>
            <a:schemeClr val="bg1"/>
          </a:solidFill>
          <a:ln w="9525" algn="ctr">
            <a:solidFill>
              <a:schemeClr val="bg2"/>
            </a:solidFill>
            <a:miter lim="800000"/>
            <a:headEnd/>
            <a:tailEnd/>
          </a:ln>
          <a:effectLst/>
        </p:spPr>
        <p:txBody>
          <a:bodyPr anchor="ctr"/>
          <a:lstStyle/>
          <a:p>
            <a:pPr algn="ctr"/>
            <a:r>
              <a:rPr lang="es-ES" sz="1100" dirty="0"/>
              <a:t>S/. 0.00</a:t>
            </a:r>
          </a:p>
        </p:txBody>
      </p:sp>
      <p:sp>
        <p:nvSpPr>
          <p:cNvPr id="24" name="Rounded Rectangle 23"/>
          <p:cNvSpPr/>
          <p:nvPr/>
        </p:nvSpPr>
        <p:spPr>
          <a:xfrm>
            <a:off x="902959" y="4611775"/>
            <a:ext cx="192024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VaR Cualitativo Anual</a:t>
            </a:r>
          </a:p>
        </p:txBody>
      </p:sp>
      <p:sp>
        <p:nvSpPr>
          <p:cNvPr id="25" name="Rectangle 18"/>
          <p:cNvSpPr>
            <a:spLocks noChangeArrowheads="1"/>
          </p:cNvSpPr>
          <p:nvPr/>
        </p:nvSpPr>
        <p:spPr bwMode="auto">
          <a:xfrm>
            <a:off x="2859920" y="4611775"/>
            <a:ext cx="1554480" cy="182880"/>
          </a:xfrm>
          <a:prstGeom prst="rect">
            <a:avLst/>
          </a:prstGeom>
          <a:solidFill>
            <a:schemeClr val="bg1"/>
          </a:solidFill>
          <a:ln w="9525" algn="ctr">
            <a:solidFill>
              <a:schemeClr val="bg2"/>
            </a:solidFill>
            <a:miter lim="800000"/>
            <a:headEnd/>
            <a:tailEnd/>
          </a:ln>
          <a:effectLst/>
        </p:spPr>
        <p:txBody>
          <a:bodyPr anchor="ctr"/>
          <a:lstStyle/>
          <a:p>
            <a:pPr algn="ctr"/>
            <a:r>
              <a:rPr lang="es-ES" sz="1100" dirty="0"/>
              <a:t>S/. 0.00</a:t>
            </a:r>
          </a:p>
        </p:txBody>
      </p:sp>
      <p:sp>
        <p:nvSpPr>
          <p:cNvPr id="26" name="Rounded Rectangle 25"/>
          <p:cNvSpPr/>
          <p:nvPr/>
        </p:nvSpPr>
        <p:spPr>
          <a:xfrm>
            <a:off x="891084" y="3618777"/>
            <a:ext cx="192024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Frecuencia  Evento Pérdida</a:t>
            </a:r>
          </a:p>
        </p:txBody>
      </p:sp>
      <p:sp>
        <p:nvSpPr>
          <p:cNvPr id="27" name="Rectangle 18"/>
          <p:cNvSpPr>
            <a:spLocks noChangeArrowheads="1"/>
          </p:cNvSpPr>
          <p:nvPr/>
        </p:nvSpPr>
        <p:spPr bwMode="auto">
          <a:xfrm>
            <a:off x="2859920" y="3618777"/>
            <a:ext cx="1554480" cy="182880"/>
          </a:xfrm>
          <a:prstGeom prst="rect">
            <a:avLst/>
          </a:prstGeom>
          <a:solidFill>
            <a:schemeClr val="bg1"/>
          </a:solidFill>
          <a:ln w="9525" algn="ctr">
            <a:solidFill>
              <a:schemeClr val="bg2"/>
            </a:solidFill>
            <a:miter lim="800000"/>
            <a:headEnd/>
            <a:tailEnd/>
          </a:ln>
          <a:effectLst/>
        </p:spPr>
        <p:txBody>
          <a:bodyPr anchor="ctr"/>
          <a:lstStyle/>
          <a:p>
            <a:pPr algn="ctr"/>
            <a:r>
              <a:rPr lang="es-ES" sz="1100" dirty="0"/>
              <a:t>2 veces por año</a:t>
            </a:r>
          </a:p>
        </p:txBody>
      </p:sp>
      <p:sp>
        <p:nvSpPr>
          <p:cNvPr id="28" name="Rounded Rectangle 27"/>
          <p:cNvSpPr/>
          <p:nvPr/>
        </p:nvSpPr>
        <p:spPr>
          <a:xfrm>
            <a:off x="891084" y="3848389"/>
            <a:ext cx="192024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Impacto Medio Evento</a:t>
            </a:r>
          </a:p>
        </p:txBody>
      </p:sp>
      <p:sp>
        <p:nvSpPr>
          <p:cNvPr id="29" name="Rectangle 18"/>
          <p:cNvSpPr>
            <a:spLocks noChangeArrowheads="1"/>
          </p:cNvSpPr>
          <p:nvPr/>
        </p:nvSpPr>
        <p:spPr bwMode="auto">
          <a:xfrm>
            <a:off x="2859920" y="3848389"/>
            <a:ext cx="1554480" cy="182880"/>
          </a:xfrm>
          <a:prstGeom prst="rect">
            <a:avLst/>
          </a:prstGeom>
          <a:solidFill>
            <a:schemeClr val="bg1"/>
          </a:solidFill>
          <a:ln w="9525" algn="ctr">
            <a:solidFill>
              <a:schemeClr val="bg2"/>
            </a:solidFill>
            <a:miter lim="800000"/>
            <a:headEnd/>
            <a:tailEnd/>
          </a:ln>
          <a:effectLst/>
        </p:spPr>
        <p:txBody>
          <a:bodyPr anchor="ctr"/>
          <a:lstStyle/>
          <a:p>
            <a:pPr algn="ctr"/>
            <a:r>
              <a:rPr lang="es-ES" sz="1100" dirty="0"/>
              <a:t>S/. 0.00</a:t>
            </a:r>
          </a:p>
        </p:txBody>
      </p:sp>
      <p:sp>
        <p:nvSpPr>
          <p:cNvPr id="30" name="Rounded Rectangle 29"/>
          <p:cNvSpPr/>
          <p:nvPr/>
        </p:nvSpPr>
        <p:spPr>
          <a:xfrm>
            <a:off x="891084" y="4083969"/>
            <a:ext cx="192024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Impacto Peor Escenario</a:t>
            </a:r>
          </a:p>
        </p:txBody>
      </p:sp>
      <p:sp>
        <p:nvSpPr>
          <p:cNvPr id="31" name="Rectangle 18"/>
          <p:cNvSpPr>
            <a:spLocks noChangeArrowheads="1"/>
          </p:cNvSpPr>
          <p:nvPr/>
        </p:nvSpPr>
        <p:spPr bwMode="auto">
          <a:xfrm>
            <a:off x="2859920" y="4083969"/>
            <a:ext cx="1554480" cy="182880"/>
          </a:xfrm>
          <a:prstGeom prst="rect">
            <a:avLst/>
          </a:prstGeom>
          <a:solidFill>
            <a:schemeClr val="bg1"/>
          </a:solidFill>
          <a:ln w="9525" algn="ctr">
            <a:solidFill>
              <a:schemeClr val="bg2"/>
            </a:solidFill>
            <a:miter lim="800000"/>
            <a:headEnd/>
            <a:tailEnd/>
          </a:ln>
          <a:effectLst/>
        </p:spPr>
        <p:txBody>
          <a:bodyPr anchor="ctr"/>
          <a:lstStyle/>
          <a:p>
            <a:pPr algn="ctr"/>
            <a:r>
              <a:rPr lang="es-ES" sz="1100" dirty="0"/>
              <a:t>S/. 0.00</a:t>
            </a:r>
          </a:p>
        </p:txBody>
      </p:sp>
      <p:sp>
        <p:nvSpPr>
          <p:cNvPr id="32" name="AutoShape 47"/>
          <p:cNvSpPr>
            <a:spLocks noChangeAspect="1" noChangeArrowheads="1"/>
          </p:cNvSpPr>
          <p:nvPr/>
        </p:nvSpPr>
        <p:spPr bwMode="blackWhite">
          <a:xfrm>
            <a:off x="263033" y="3533122"/>
            <a:ext cx="492543" cy="1339083"/>
          </a:xfrm>
          <a:prstGeom prst="rightArrow">
            <a:avLst>
              <a:gd name="adj1" fmla="val 100000"/>
              <a:gd name="adj2" fmla="val 11009"/>
            </a:avLst>
          </a:prstGeom>
          <a:solidFill>
            <a:srgbClr val="969696"/>
          </a:solidFill>
          <a:ln w="12700">
            <a:noFill/>
            <a:miter lim="800000"/>
            <a:headEnd/>
            <a:tailEnd/>
          </a:ln>
          <a:effectLst>
            <a:outerShdw dist="35921" dir="2700000" algn="ctr" rotWithShape="0">
              <a:schemeClr val="bg2"/>
            </a:outerShdw>
          </a:effectLst>
        </p:spPr>
        <p:txBody>
          <a:bodyPr vert="vert270" anchor="ctr"/>
          <a:lstStyle/>
          <a:p>
            <a:pPr algn="ctr">
              <a:lnSpc>
                <a:spcPts val="1000"/>
              </a:lnSpc>
            </a:pPr>
            <a:r>
              <a:rPr lang="es-ES" sz="1200" b="1" noProof="1">
                <a:solidFill>
                  <a:srgbClr val="FFFFFF"/>
                </a:solidFill>
                <a:cs typeface="Arial" charset="0"/>
              </a:rPr>
              <a:t>Evaluación Riesgo Operacional</a:t>
            </a:r>
          </a:p>
        </p:txBody>
      </p:sp>
      <p:sp>
        <p:nvSpPr>
          <p:cNvPr id="59" name="Rounded Rectangle 58"/>
          <p:cNvSpPr/>
          <p:nvPr/>
        </p:nvSpPr>
        <p:spPr>
          <a:xfrm>
            <a:off x="223049" y="1554311"/>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Subproceso</a:t>
            </a:r>
          </a:p>
        </p:txBody>
      </p:sp>
      <p:sp>
        <p:nvSpPr>
          <p:cNvPr id="60" name="Rectangle 18"/>
          <p:cNvSpPr>
            <a:spLocks noChangeArrowheads="1"/>
          </p:cNvSpPr>
          <p:nvPr/>
        </p:nvSpPr>
        <p:spPr bwMode="auto">
          <a:xfrm>
            <a:off x="2563688" y="1554311"/>
            <a:ext cx="4064882" cy="182880"/>
          </a:xfrm>
          <a:prstGeom prst="rect">
            <a:avLst/>
          </a:prstGeom>
          <a:noFill/>
          <a:ln w="9525" algn="ctr">
            <a:solidFill>
              <a:schemeClr val="bg2"/>
            </a:solidFill>
            <a:miter lim="800000"/>
            <a:headEnd/>
            <a:tailEnd/>
          </a:ln>
          <a:effectLst/>
        </p:spPr>
        <p:txBody>
          <a:bodyPr anchor="ctr"/>
          <a:lstStyle/>
          <a:p>
            <a:r>
              <a:rPr lang="es-ES" sz="1100" dirty="0"/>
              <a:t>Money </a:t>
            </a:r>
            <a:r>
              <a:rPr lang="es-ES" sz="1100" dirty="0" err="1"/>
              <a:t>Market</a:t>
            </a:r>
            <a:endParaRPr lang="es-ES" sz="1100" dirty="0"/>
          </a:p>
        </p:txBody>
      </p:sp>
      <p:sp>
        <p:nvSpPr>
          <p:cNvPr id="57" name="Rounded Rectangle 56"/>
          <p:cNvSpPr/>
          <p:nvPr/>
        </p:nvSpPr>
        <p:spPr>
          <a:xfrm>
            <a:off x="223049" y="1771093"/>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Línea de Negocio</a:t>
            </a:r>
          </a:p>
        </p:txBody>
      </p:sp>
      <p:sp>
        <p:nvSpPr>
          <p:cNvPr id="58" name="Rectangle 18"/>
          <p:cNvSpPr>
            <a:spLocks noChangeArrowheads="1"/>
          </p:cNvSpPr>
          <p:nvPr/>
        </p:nvSpPr>
        <p:spPr bwMode="auto">
          <a:xfrm>
            <a:off x="2563688" y="1771093"/>
            <a:ext cx="4064882" cy="182880"/>
          </a:xfrm>
          <a:prstGeom prst="rect">
            <a:avLst/>
          </a:prstGeom>
          <a:noFill/>
          <a:ln w="9525" algn="ctr">
            <a:solidFill>
              <a:schemeClr val="bg2"/>
            </a:solidFill>
            <a:miter lim="800000"/>
            <a:headEnd/>
            <a:tailEnd/>
          </a:ln>
          <a:effectLst/>
        </p:spPr>
        <p:txBody>
          <a:bodyPr anchor="ctr"/>
          <a:lstStyle/>
          <a:p>
            <a:r>
              <a:rPr lang="es-ES" sz="1100" dirty="0"/>
              <a:t>Negociación y ventas</a:t>
            </a:r>
          </a:p>
        </p:txBody>
      </p:sp>
      <p:sp>
        <p:nvSpPr>
          <p:cNvPr id="61" name="Rounded Rectangle 60"/>
          <p:cNvSpPr/>
          <p:nvPr/>
        </p:nvSpPr>
        <p:spPr>
          <a:xfrm>
            <a:off x="223049" y="1986359"/>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Responsable</a:t>
            </a:r>
          </a:p>
        </p:txBody>
      </p:sp>
      <p:sp>
        <p:nvSpPr>
          <p:cNvPr id="62" name="Rectangle 18"/>
          <p:cNvSpPr>
            <a:spLocks noChangeArrowheads="1"/>
          </p:cNvSpPr>
          <p:nvPr/>
        </p:nvSpPr>
        <p:spPr bwMode="auto">
          <a:xfrm>
            <a:off x="2558967" y="1986359"/>
            <a:ext cx="4069603" cy="182880"/>
          </a:xfrm>
          <a:prstGeom prst="rect">
            <a:avLst/>
          </a:prstGeom>
          <a:noFill/>
          <a:ln w="9525" algn="ctr">
            <a:solidFill>
              <a:schemeClr val="bg2"/>
            </a:solidFill>
            <a:miter lim="800000"/>
            <a:headEnd/>
            <a:tailEnd/>
          </a:ln>
          <a:effectLst/>
        </p:spPr>
        <p:txBody>
          <a:bodyPr anchor="ctr"/>
          <a:lstStyle/>
          <a:p>
            <a:r>
              <a:rPr lang="es-ES" sz="1100" dirty="0"/>
              <a:t>Subgerente de Operaciones de Inversión </a:t>
            </a:r>
          </a:p>
        </p:txBody>
      </p:sp>
      <p:sp>
        <p:nvSpPr>
          <p:cNvPr id="63" name="Rounded Rectangle 62"/>
          <p:cNvSpPr/>
          <p:nvPr/>
        </p:nvSpPr>
        <p:spPr>
          <a:xfrm>
            <a:off x="6732240" y="2276457"/>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Categoría de Riesgo Nivel III</a:t>
            </a:r>
          </a:p>
        </p:txBody>
      </p:sp>
      <p:sp>
        <p:nvSpPr>
          <p:cNvPr id="64" name="Rounded Rectangle 14"/>
          <p:cNvSpPr/>
          <p:nvPr/>
        </p:nvSpPr>
        <p:spPr>
          <a:xfrm>
            <a:off x="6732240" y="2961327"/>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Origen del Riesgo</a:t>
            </a:r>
          </a:p>
        </p:txBody>
      </p:sp>
      <p:sp>
        <p:nvSpPr>
          <p:cNvPr id="65" name="Rectangle 18"/>
          <p:cNvSpPr>
            <a:spLocks noChangeArrowheads="1"/>
          </p:cNvSpPr>
          <p:nvPr/>
        </p:nvSpPr>
        <p:spPr bwMode="auto">
          <a:xfrm>
            <a:off x="6732240" y="3176592"/>
            <a:ext cx="2286000" cy="270000"/>
          </a:xfrm>
          <a:prstGeom prst="rect">
            <a:avLst/>
          </a:prstGeom>
          <a:noFill/>
          <a:ln w="9525" algn="ctr">
            <a:solidFill>
              <a:schemeClr val="bg2"/>
            </a:solidFill>
            <a:miter lim="800000"/>
            <a:headEnd/>
            <a:tailEnd/>
          </a:ln>
          <a:effectLst/>
        </p:spPr>
        <p:txBody>
          <a:bodyPr anchor="ctr"/>
          <a:lstStyle/>
          <a:p>
            <a:r>
              <a:rPr lang="es-ES" sz="1100" dirty="0">
                <a:solidFill>
                  <a:srgbClr val="000000"/>
                </a:solidFill>
              </a:rPr>
              <a:t>Procesos</a:t>
            </a:r>
          </a:p>
        </p:txBody>
      </p:sp>
      <p:sp>
        <p:nvSpPr>
          <p:cNvPr id="66" name="AutoShape 179"/>
          <p:cNvSpPr>
            <a:spLocks noChangeArrowheads="1"/>
          </p:cNvSpPr>
          <p:nvPr/>
        </p:nvSpPr>
        <p:spPr bwMode="auto">
          <a:xfrm>
            <a:off x="4932039" y="3590608"/>
            <a:ext cx="4037169" cy="864000"/>
          </a:xfrm>
          <a:prstGeom prst="roundRect">
            <a:avLst>
              <a:gd name="adj" fmla="val 9481"/>
            </a:avLst>
          </a:prstGeom>
          <a:solidFill>
            <a:schemeClr val="accent1">
              <a:lumMod val="20000"/>
              <a:lumOff val="80000"/>
            </a:schemeClr>
          </a:solidFill>
          <a:ln w="9525" algn="ctr">
            <a:noFill/>
            <a:round/>
            <a:headEnd/>
            <a:tailEnd/>
          </a:ln>
          <a:effectLst/>
        </p:spPr>
        <p:txBody>
          <a:bodyPr wrap="none" anchor="ctr"/>
          <a:lstStyle/>
          <a:p>
            <a:endParaRPr lang="es-CL">
              <a:solidFill>
                <a:srgbClr val="002060"/>
              </a:solidFill>
            </a:endParaRPr>
          </a:p>
        </p:txBody>
      </p:sp>
      <p:sp>
        <p:nvSpPr>
          <p:cNvPr id="67" name="AutoShape 47"/>
          <p:cNvSpPr>
            <a:spLocks noChangeArrowheads="1"/>
          </p:cNvSpPr>
          <p:nvPr/>
        </p:nvSpPr>
        <p:spPr bwMode="blackWhite">
          <a:xfrm>
            <a:off x="4678512" y="3592110"/>
            <a:ext cx="353942" cy="864000"/>
          </a:xfrm>
          <a:prstGeom prst="rightArrow">
            <a:avLst>
              <a:gd name="adj1" fmla="val 100000"/>
              <a:gd name="adj2" fmla="val 11009"/>
            </a:avLst>
          </a:prstGeom>
          <a:solidFill>
            <a:srgbClr val="969696"/>
          </a:solidFill>
          <a:ln w="12700">
            <a:noFill/>
            <a:miter lim="800000"/>
            <a:headEnd/>
            <a:tailEnd/>
          </a:ln>
          <a:effectLst>
            <a:outerShdw dist="35921" dir="2700000" algn="ctr" rotWithShape="0">
              <a:schemeClr val="bg2"/>
            </a:outerShdw>
          </a:effectLst>
        </p:spPr>
        <p:txBody>
          <a:bodyPr vert="vert270" anchor="ctr"/>
          <a:lstStyle/>
          <a:p>
            <a:pPr algn="ctr">
              <a:lnSpc>
                <a:spcPts val="1000"/>
              </a:lnSpc>
            </a:pPr>
            <a:r>
              <a:rPr lang="es-ES" sz="1100" b="1" noProof="1">
                <a:solidFill>
                  <a:srgbClr val="FFFFFF"/>
                </a:solidFill>
                <a:cs typeface="Arial" charset="0"/>
              </a:rPr>
              <a:t>Impacto Reputacional</a:t>
            </a:r>
          </a:p>
        </p:txBody>
      </p:sp>
      <p:sp>
        <p:nvSpPr>
          <p:cNvPr id="68" name="Rectangle 18"/>
          <p:cNvSpPr>
            <a:spLocks noChangeArrowheads="1"/>
          </p:cNvSpPr>
          <p:nvPr/>
        </p:nvSpPr>
        <p:spPr bwMode="auto">
          <a:xfrm>
            <a:off x="8334310" y="3665875"/>
            <a:ext cx="548640" cy="170094"/>
          </a:xfrm>
          <a:prstGeom prst="rect">
            <a:avLst/>
          </a:prstGeom>
          <a:solidFill>
            <a:schemeClr val="bg1"/>
          </a:solidFill>
          <a:ln w="9525" algn="ctr">
            <a:solidFill>
              <a:schemeClr val="bg2"/>
            </a:solidFill>
            <a:miter lim="800000"/>
            <a:headEnd/>
            <a:tailEnd/>
          </a:ln>
          <a:effectLst/>
        </p:spPr>
        <p:txBody>
          <a:bodyPr anchor="ctr"/>
          <a:lstStyle/>
          <a:p>
            <a:pPr algn="ctr"/>
            <a:r>
              <a:rPr lang="es-ES" sz="1100" dirty="0"/>
              <a:t>3</a:t>
            </a:r>
          </a:p>
        </p:txBody>
      </p:sp>
      <p:sp>
        <p:nvSpPr>
          <p:cNvPr id="69" name="Rounded Rectangle 68"/>
          <p:cNvSpPr/>
          <p:nvPr/>
        </p:nvSpPr>
        <p:spPr>
          <a:xfrm>
            <a:off x="5102950" y="3665875"/>
            <a:ext cx="3132000" cy="170094"/>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Afectación a Clientes</a:t>
            </a:r>
          </a:p>
        </p:txBody>
      </p:sp>
      <p:sp>
        <p:nvSpPr>
          <p:cNvPr id="70" name="Rectangle 18"/>
          <p:cNvSpPr>
            <a:spLocks noChangeArrowheads="1"/>
          </p:cNvSpPr>
          <p:nvPr/>
        </p:nvSpPr>
        <p:spPr bwMode="auto">
          <a:xfrm>
            <a:off x="5102950" y="3884032"/>
            <a:ext cx="3780000" cy="469509"/>
          </a:xfrm>
          <a:prstGeom prst="rect">
            <a:avLst/>
          </a:prstGeom>
          <a:solidFill>
            <a:schemeClr val="bg1"/>
          </a:solidFill>
          <a:ln w="9525" algn="ctr">
            <a:solidFill>
              <a:schemeClr val="bg2"/>
            </a:solidFill>
            <a:miter lim="800000"/>
            <a:headEnd/>
            <a:tailEnd/>
          </a:ln>
          <a:effectLst/>
        </p:spPr>
        <p:txBody>
          <a:bodyPr anchor="ctr"/>
          <a:lstStyle/>
          <a:p>
            <a:r>
              <a:rPr lang="es-ES" sz="1100" dirty="0">
                <a:solidFill>
                  <a:srgbClr val="000000"/>
                </a:solidFill>
              </a:rPr>
              <a:t>La exposición de la imagen es interna y externa con un nivel de impacto medio.</a:t>
            </a:r>
          </a:p>
        </p:txBody>
      </p:sp>
      <p:sp>
        <p:nvSpPr>
          <p:cNvPr id="73" name="AutoShape 179"/>
          <p:cNvSpPr>
            <a:spLocks noChangeArrowheads="1"/>
          </p:cNvSpPr>
          <p:nvPr/>
        </p:nvSpPr>
        <p:spPr bwMode="auto">
          <a:xfrm>
            <a:off x="4927319" y="4494825"/>
            <a:ext cx="4037169" cy="892800"/>
          </a:xfrm>
          <a:prstGeom prst="roundRect">
            <a:avLst>
              <a:gd name="adj" fmla="val 9481"/>
            </a:avLst>
          </a:prstGeom>
          <a:solidFill>
            <a:schemeClr val="accent1">
              <a:lumMod val="20000"/>
              <a:lumOff val="80000"/>
            </a:schemeClr>
          </a:solidFill>
          <a:ln w="9525" algn="ctr">
            <a:noFill/>
            <a:round/>
            <a:headEnd/>
            <a:tailEnd/>
          </a:ln>
          <a:effectLst/>
        </p:spPr>
        <p:txBody>
          <a:bodyPr wrap="none" anchor="ctr"/>
          <a:lstStyle/>
          <a:p>
            <a:endParaRPr lang="es-CL">
              <a:solidFill>
                <a:srgbClr val="002060"/>
              </a:solidFill>
            </a:endParaRPr>
          </a:p>
        </p:txBody>
      </p:sp>
      <p:sp>
        <p:nvSpPr>
          <p:cNvPr id="74" name="AutoShape 47"/>
          <p:cNvSpPr>
            <a:spLocks noChangeArrowheads="1"/>
          </p:cNvSpPr>
          <p:nvPr/>
        </p:nvSpPr>
        <p:spPr bwMode="blackWhite">
          <a:xfrm>
            <a:off x="4673792" y="4496327"/>
            <a:ext cx="352800" cy="892800"/>
          </a:xfrm>
          <a:prstGeom prst="rightArrow">
            <a:avLst>
              <a:gd name="adj1" fmla="val 100000"/>
              <a:gd name="adj2" fmla="val 11009"/>
            </a:avLst>
          </a:prstGeom>
          <a:solidFill>
            <a:srgbClr val="969696"/>
          </a:solidFill>
          <a:ln w="12700">
            <a:noFill/>
            <a:miter lim="800000"/>
            <a:headEnd/>
            <a:tailEnd/>
          </a:ln>
          <a:effectLst>
            <a:outerShdw dist="35921" dir="2700000" algn="ctr" rotWithShape="0">
              <a:schemeClr val="bg2"/>
            </a:outerShdw>
          </a:effectLst>
        </p:spPr>
        <p:txBody>
          <a:bodyPr vert="vert270" anchor="ctr"/>
          <a:lstStyle/>
          <a:p>
            <a:pPr algn="ctr">
              <a:lnSpc>
                <a:spcPts val="1000"/>
              </a:lnSpc>
            </a:pPr>
            <a:r>
              <a:rPr lang="es-ES" sz="1100" b="1" noProof="1">
                <a:solidFill>
                  <a:srgbClr val="FFFFFF"/>
                </a:solidFill>
                <a:cs typeface="Arial" charset="0"/>
              </a:rPr>
              <a:t>Cuestionarios</a:t>
            </a:r>
          </a:p>
        </p:txBody>
      </p:sp>
      <p:sp>
        <p:nvSpPr>
          <p:cNvPr id="76" name="Rounded Rectangle 38"/>
          <p:cNvSpPr/>
          <p:nvPr/>
        </p:nvSpPr>
        <p:spPr>
          <a:xfrm>
            <a:off x="5098230" y="4570092"/>
            <a:ext cx="3132000" cy="170094"/>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Criterios de Evaluación</a:t>
            </a:r>
          </a:p>
        </p:txBody>
      </p:sp>
      <p:sp>
        <p:nvSpPr>
          <p:cNvPr id="77" name="Rectangle 18"/>
          <p:cNvSpPr>
            <a:spLocks noChangeArrowheads="1"/>
          </p:cNvSpPr>
          <p:nvPr/>
        </p:nvSpPr>
        <p:spPr bwMode="auto">
          <a:xfrm>
            <a:off x="5102950" y="4783265"/>
            <a:ext cx="3780000" cy="469509"/>
          </a:xfrm>
          <a:prstGeom prst="rect">
            <a:avLst/>
          </a:prstGeom>
          <a:solidFill>
            <a:schemeClr val="bg1"/>
          </a:solidFill>
          <a:ln w="9525" algn="ctr">
            <a:solidFill>
              <a:schemeClr val="bg2"/>
            </a:solidFill>
            <a:miter lim="800000"/>
            <a:headEnd/>
            <a:tailEnd/>
          </a:ln>
          <a:effectLst/>
        </p:spPr>
        <p:txBody>
          <a:bodyPr anchor="ctr"/>
          <a:lstStyle/>
          <a:p>
            <a:r>
              <a:rPr lang="es-PE" sz="1050" dirty="0">
                <a:solidFill>
                  <a:srgbClr val="000000"/>
                </a:solidFill>
              </a:rPr>
              <a:t>Después del control del Back Office es poco probable que se produzca el evento y de producirse no implica un impacto patrimonial.</a:t>
            </a:r>
            <a:endParaRPr lang="es-ES" sz="1050" dirty="0">
              <a:solidFill>
                <a:srgbClr val="000000"/>
              </a:solidFill>
            </a:endParaRPr>
          </a:p>
        </p:txBody>
      </p:sp>
      <p:sp>
        <p:nvSpPr>
          <p:cNvPr id="78" name="Text Box 30"/>
          <p:cNvSpPr txBox="1">
            <a:spLocks noChangeArrowheads="1"/>
          </p:cNvSpPr>
          <p:nvPr/>
        </p:nvSpPr>
        <p:spPr bwMode="auto">
          <a:xfrm>
            <a:off x="190746" y="4977551"/>
            <a:ext cx="3996000" cy="276999"/>
          </a:xfrm>
          <a:prstGeom prst="rect">
            <a:avLst/>
          </a:prstGeom>
          <a:noFill/>
          <a:ln w="9525" algn="ctr">
            <a:noFill/>
            <a:miter lim="800000"/>
            <a:headEnd/>
            <a:tailEnd/>
          </a:ln>
          <a:effectLst/>
        </p:spPr>
        <p:txBody>
          <a:bodyPr wrap="square">
            <a:spAutoFit/>
          </a:bodyPr>
          <a:lstStyle/>
          <a:p>
            <a:pPr>
              <a:spcBef>
                <a:spcPct val="50000"/>
              </a:spcBef>
            </a:pPr>
            <a:r>
              <a:rPr lang="es-CL" sz="1200" b="1" i="1" dirty="0">
                <a:solidFill>
                  <a:srgbClr val="A3A3E0"/>
                </a:solidFill>
              </a:rPr>
              <a:t>Resultados valoración de controles / factores mitigantes</a:t>
            </a:r>
            <a:endParaRPr lang="es-ES" sz="1200" b="1" i="1" dirty="0">
              <a:solidFill>
                <a:srgbClr val="A3A3E0"/>
              </a:solidFill>
            </a:endParaRPr>
          </a:p>
        </p:txBody>
      </p:sp>
      <p:sp>
        <p:nvSpPr>
          <p:cNvPr id="84" name="AutoShape 179"/>
          <p:cNvSpPr>
            <a:spLocks noChangeArrowheads="1"/>
          </p:cNvSpPr>
          <p:nvPr/>
        </p:nvSpPr>
        <p:spPr bwMode="auto">
          <a:xfrm>
            <a:off x="534831" y="5200032"/>
            <a:ext cx="4037169" cy="864000"/>
          </a:xfrm>
          <a:prstGeom prst="roundRect">
            <a:avLst>
              <a:gd name="adj" fmla="val 9481"/>
            </a:avLst>
          </a:prstGeom>
          <a:solidFill>
            <a:schemeClr val="accent1">
              <a:lumMod val="20000"/>
              <a:lumOff val="80000"/>
            </a:schemeClr>
          </a:solidFill>
          <a:ln w="9525" algn="ctr">
            <a:noFill/>
            <a:round/>
            <a:headEnd/>
            <a:tailEnd/>
          </a:ln>
          <a:effectLst/>
        </p:spPr>
        <p:txBody>
          <a:bodyPr wrap="none" anchor="ctr"/>
          <a:lstStyle/>
          <a:p>
            <a:endParaRPr lang="es-CL">
              <a:solidFill>
                <a:srgbClr val="002060"/>
              </a:solidFill>
            </a:endParaRPr>
          </a:p>
        </p:txBody>
      </p:sp>
      <p:sp>
        <p:nvSpPr>
          <p:cNvPr id="85" name="AutoShape 47"/>
          <p:cNvSpPr>
            <a:spLocks noChangeArrowheads="1"/>
          </p:cNvSpPr>
          <p:nvPr/>
        </p:nvSpPr>
        <p:spPr bwMode="blackWhite">
          <a:xfrm>
            <a:off x="281304" y="5201534"/>
            <a:ext cx="353942" cy="864000"/>
          </a:xfrm>
          <a:prstGeom prst="rightArrow">
            <a:avLst>
              <a:gd name="adj1" fmla="val 100000"/>
              <a:gd name="adj2" fmla="val 11009"/>
            </a:avLst>
          </a:prstGeom>
          <a:solidFill>
            <a:srgbClr val="969696"/>
          </a:solidFill>
          <a:ln w="12700">
            <a:noFill/>
            <a:miter lim="800000"/>
            <a:headEnd/>
            <a:tailEnd/>
          </a:ln>
          <a:effectLst>
            <a:outerShdw dist="35921" dir="2700000" algn="ctr" rotWithShape="0">
              <a:schemeClr val="bg2"/>
            </a:outerShdw>
          </a:effectLst>
        </p:spPr>
        <p:txBody>
          <a:bodyPr vert="vert270" anchor="ctr"/>
          <a:lstStyle/>
          <a:p>
            <a:pPr algn="ctr">
              <a:lnSpc>
                <a:spcPts val="1000"/>
              </a:lnSpc>
            </a:pPr>
            <a:r>
              <a:rPr lang="es-ES" sz="1100" b="1" noProof="1">
                <a:solidFill>
                  <a:srgbClr val="FFFFFF"/>
                </a:solidFill>
                <a:cs typeface="Arial" charset="0"/>
              </a:rPr>
              <a:t>Evaluación de Controles</a:t>
            </a:r>
          </a:p>
        </p:txBody>
      </p:sp>
      <p:sp>
        <p:nvSpPr>
          <p:cNvPr id="86" name="Rectangle 18"/>
          <p:cNvSpPr>
            <a:spLocks noChangeArrowheads="1"/>
          </p:cNvSpPr>
          <p:nvPr/>
        </p:nvSpPr>
        <p:spPr bwMode="auto">
          <a:xfrm>
            <a:off x="3937102" y="5275299"/>
            <a:ext cx="548640" cy="170094"/>
          </a:xfrm>
          <a:prstGeom prst="rect">
            <a:avLst/>
          </a:prstGeom>
          <a:solidFill>
            <a:schemeClr val="bg1"/>
          </a:solidFill>
          <a:ln w="9525" algn="ctr">
            <a:solidFill>
              <a:schemeClr val="bg2"/>
            </a:solidFill>
            <a:miter lim="800000"/>
            <a:headEnd/>
            <a:tailEnd/>
          </a:ln>
          <a:effectLst/>
        </p:spPr>
        <p:txBody>
          <a:bodyPr anchor="ctr"/>
          <a:lstStyle/>
          <a:p>
            <a:pPr algn="ctr"/>
            <a:r>
              <a:rPr lang="es-ES" sz="1100" dirty="0">
                <a:solidFill>
                  <a:srgbClr val="002060"/>
                </a:solidFill>
              </a:rPr>
              <a:t>1</a:t>
            </a:r>
          </a:p>
        </p:txBody>
      </p:sp>
      <p:sp>
        <p:nvSpPr>
          <p:cNvPr id="87" name="Rounded Rectangle 38"/>
          <p:cNvSpPr/>
          <p:nvPr/>
        </p:nvSpPr>
        <p:spPr>
          <a:xfrm>
            <a:off x="705742" y="5275299"/>
            <a:ext cx="3132000" cy="170094"/>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Controles asociados al riesgo</a:t>
            </a:r>
          </a:p>
        </p:txBody>
      </p:sp>
      <p:sp>
        <p:nvSpPr>
          <p:cNvPr id="88" name="Rectangle 18"/>
          <p:cNvSpPr>
            <a:spLocks noChangeArrowheads="1"/>
          </p:cNvSpPr>
          <p:nvPr/>
        </p:nvSpPr>
        <p:spPr bwMode="auto">
          <a:xfrm>
            <a:off x="705742" y="5496307"/>
            <a:ext cx="3780000" cy="469509"/>
          </a:xfrm>
          <a:prstGeom prst="rect">
            <a:avLst/>
          </a:prstGeom>
          <a:solidFill>
            <a:schemeClr val="bg1"/>
          </a:solidFill>
          <a:ln w="9525" algn="ctr">
            <a:solidFill>
              <a:schemeClr val="bg2"/>
            </a:solidFill>
            <a:miter lim="800000"/>
            <a:headEnd/>
            <a:tailEnd/>
          </a:ln>
          <a:effectLst/>
        </p:spPr>
        <p:txBody>
          <a:bodyPr anchor="ctr"/>
          <a:lstStyle/>
          <a:p>
            <a:r>
              <a:rPr lang="es-ES" sz="1100" dirty="0"/>
              <a:t>Revisión de los datos generados en la operativa por parte de Back Office.</a:t>
            </a:r>
            <a:endParaRPr lang="es-ES" sz="1100" dirty="0">
              <a:solidFill>
                <a:srgbClr val="000000"/>
              </a:solidFill>
            </a:endParaRPr>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dirty="0"/>
              <a:t>Anexo: Ficha Individual Riesgos Operacionales</a:t>
            </a:r>
          </a:p>
        </p:txBody>
      </p:sp>
      <p:sp>
        <p:nvSpPr>
          <p:cNvPr id="4" name="Rounded Rectangle 3"/>
          <p:cNvSpPr/>
          <p:nvPr/>
        </p:nvSpPr>
        <p:spPr>
          <a:xfrm>
            <a:off x="227770" y="764704"/>
            <a:ext cx="383790" cy="274320"/>
          </a:xfrm>
          <a:prstGeom prst="roundRect">
            <a:avLst/>
          </a:prstGeom>
          <a:solidFill>
            <a:srgbClr val="DB0613"/>
          </a:solidFill>
          <a:ln w="9525" algn="ctr">
            <a:noFill/>
            <a:miter lim="800000"/>
            <a:headEnd/>
            <a:tailEnd/>
          </a:ln>
          <a:effectLst/>
        </p:spPr>
        <p:txBody>
          <a:bodyPr anchor="ctr"/>
          <a:lstStyle/>
          <a:p>
            <a:pPr algn="ctr">
              <a:lnSpc>
                <a:spcPct val="80000"/>
              </a:lnSpc>
            </a:pPr>
            <a:r>
              <a:rPr lang="es-CL" sz="1200" b="1" dirty="0">
                <a:solidFill>
                  <a:srgbClr val="FFFFFF"/>
                </a:solidFill>
                <a:cs typeface="Arial" pitchFamily="34" charset="0"/>
              </a:rPr>
              <a:t>41</a:t>
            </a:r>
          </a:p>
        </p:txBody>
      </p:sp>
      <p:sp>
        <p:nvSpPr>
          <p:cNvPr id="5" name="Rectangle 18"/>
          <p:cNvSpPr>
            <a:spLocks noChangeArrowheads="1"/>
          </p:cNvSpPr>
          <p:nvPr/>
        </p:nvSpPr>
        <p:spPr bwMode="auto">
          <a:xfrm>
            <a:off x="227770" y="2548229"/>
            <a:ext cx="6400800" cy="708660"/>
          </a:xfrm>
          <a:prstGeom prst="rect">
            <a:avLst/>
          </a:prstGeom>
          <a:noFill/>
          <a:ln w="9525" algn="ctr">
            <a:solidFill>
              <a:schemeClr val="bg2"/>
            </a:solidFill>
            <a:miter lim="800000"/>
            <a:headEnd/>
            <a:tailEnd/>
          </a:ln>
          <a:effectLst/>
        </p:spPr>
        <p:txBody>
          <a:bodyPr/>
          <a:lstStyle/>
          <a:p>
            <a:r>
              <a:rPr lang="es-ES" sz="1100" dirty="0"/>
              <a:t>Todas las operaciones han de ingresarse en el sistema PMS; existe el riesgo de que existe un fallo en la introducción de estos datos, ya que es una introducción manual.</a:t>
            </a:r>
          </a:p>
        </p:txBody>
      </p:sp>
      <p:sp>
        <p:nvSpPr>
          <p:cNvPr id="8" name="Rounded Rectangle 7"/>
          <p:cNvSpPr/>
          <p:nvPr/>
        </p:nvSpPr>
        <p:spPr>
          <a:xfrm>
            <a:off x="652842" y="764704"/>
            <a:ext cx="8352000" cy="274320"/>
          </a:xfrm>
          <a:prstGeom prst="roundRect">
            <a:avLst/>
          </a:prstGeom>
          <a:solidFill>
            <a:srgbClr val="DB0613"/>
          </a:solidFill>
          <a:ln w="9525" algn="ctr">
            <a:noFill/>
            <a:miter lim="800000"/>
            <a:headEnd/>
            <a:tailEnd/>
          </a:ln>
          <a:effectLst/>
        </p:spPr>
        <p:txBody>
          <a:bodyPr anchor="ctr"/>
          <a:lstStyle/>
          <a:p>
            <a:pPr>
              <a:lnSpc>
                <a:spcPct val="80000"/>
              </a:lnSpc>
            </a:pPr>
            <a:r>
              <a:rPr lang="es-ES" sz="1200" b="1" dirty="0">
                <a:solidFill>
                  <a:srgbClr val="FFFFFF"/>
                </a:solidFill>
                <a:cs typeface="Arial" pitchFamily="34" charset="0"/>
              </a:rPr>
              <a:t>Falla en la introducción de datos en el sistema debido a ingreso manual de éstos.</a:t>
            </a:r>
            <a:endParaRPr lang="es-CL" sz="1200" b="1" dirty="0">
              <a:solidFill>
                <a:srgbClr val="FFFFFF"/>
              </a:solidFill>
              <a:cs typeface="Arial" pitchFamily="34" charset="0"/>
            </a:endParaRPr>
          </a:p>
        </p:txBody>
      </p:sp>
      <p:sp>
        <p:nvSpPr>
          <p:cNvPr id="9" name="Rounded Rectangle 8"/>
          <p:cNvSpPr/>
          <p:nvPr/>
        </p:nvSpPr>
        <p:spPr>
          <a:xfrm>
            <a:off x="227770" y="2307916"/>
            <a:ext cx="64008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Descripción</a:t>
            </a:r>
          </a:p>
        </p:txBody>
      </p:sp>
      <p:sp>
        <p:nvSpPr>
          <p:cNvPr id="10" name="Rounded Rectangle 9"/>
          <p:cNvSpPr/>
          <p:nvPr/>
        </p:nvSpPr>
        <p:spPr>
          <a:xfrm>
            <a:off x="6716066" y="1111764"/>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Categoría  de Riesgo Nivel I</a:t>
            </a:r>
          </a:p>
        </p:txBody>
      </p:sp>
      <p:sp>
        <p:nvSpPr>
          <p:cNvPr id="11" name="Rectangle 18"/>
          <p:cNvSpPr>
            <a:spLocks noChangeArrowheads="1"/>
          </p:cNvSpPr>
          <p:nvPr/>
        </p:nvSpPr>
        <p:spPr bwMode="auto">
          <a:xfrm>
            <a:off x="6716066" y="1325572"/>
            <a:ext cx="2286000" cy="270000"/>
          </a:xfrm>
          <a:prstGeom prst="rect">
            <a:avLst/>
          </a:prstGeom>
          <a:noFill/>
          <a:ln w="9525" algn="ctr">
            <a:solidFill>
              <a:schemeClr val="bg2"/>
            </a:solidFill>
            <a:miter lim="800000"/>
            <a:headEnd/>
            <a:tailEnd/>
          </a:ln>
          <a:effectLst/>
        </p:spPr>
        <p:txBody>
          <a:bodyPr anchor="ctr"/>
          <a:lstStyle/>
          <a:p>
            <a:pPr>
              <a:lnSpc>
                <a:spcPts val="1000"/>
              </a:lnSpc>
            </a:pPr>
            <a:r>
              <a:rPr lang="es-ES" sz="1100" dirty="0"/>
              <a:t>Ejecución, entrega y gestión de procesos</a:t>
            </a:r>
          </a:p>
        </p:txBody>
      </p:sp>
      <p:sp>
        <p:nvSpPr>
          <p:cNvPr id="12" name="Rounded Rectangle 11"/>
          <p:cNvSpPr/>
          <p:nvPr/>
        </p:nvSpPr>
        <p:spPr>
          <a:xfrm>
            <a:off x="6716066" y="1664503"/>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Categoría  de Riesgo Nivel II</a:t>
            </a:r>
          </a:p>
        </p:txBody>
      </p:sp>
      <p:sp>
        <p:nvSpPr>
          <p:cNvPr id="13" name="Rectangle 18"/>
          <p:cNvSpPr>
            <a:spLocks noChangeArrowheads="1"/>
          </p:cNvSpPr>
          <p:nvPr/>
        </p:nvSpPr>
        <p:spPr bwMode="auto">
          <a:xfrm>
            <a:off x="6716066" y="1877089"/>
            <a:ext cx="2286000" cy="270000"/>
          </a:xfrm>
          <a:prstGeom prst="rect">
            <a:avLst/>
          </a:prstGeom>
          <a:noFill/>
          <a:ln w="9525" algn="ctr">
            <a:solidFill>
              <a:schemeClr val="bg2"/>
            </a:solidFill>
            <a:miter lim="800000"/>
            <a:headEnd/>
            <a:tailEnd/>
          </a:ln>
          <a:effectLst/>
        </p:spPr>
        <p:txBody>
          <a:bodyPr anchor="ctr"/>
          <a:lstStyle/>
          <a:p>
            <a:r>
              <a:rPr lang="es-ES" sz="1100" dirty="0"/>
              <a:t>Recepción, ejecución y mantenimiento de operaciones</a:t>
            </a:r>
          </a:p>
        </p:txBody>
      </p:sp>
      <p:sp>
        <p:nvSpPr>
          <p:cNvPr id="15" name="Rounded Rectangle 14"/>
          <p:cNvSpPr/>
          <p:nvPr/>
        </p:nvSpPr>
        <p:spPr>
          <a:xfrm>
            <a:off x="6716066" y="2223551"/>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Categoría  de Riesgo Nivel III</a:t>
            </a:r>
          </a:p>
        </p:txBody>
      </p:sp>
      <p:sp>
        <p:nvSpPr>
          <p:cNvPr id="16" name="Rectangle 18"/>
          <p:cNvSpPr>
            <a:spLocks noChangeArrowheads="1"/>
          </p:cNvSpPr>
          <p:nvPr/>
        </p:nvSpPr>
        <p:spPr bwMode="auto">
          <a:xfrm>
            <a:off x="6716066" y="2434321"/>
            <a:ext cx="2286000" cy="437406"/>
          </a:xfrm>
          <a:prstGeom prst="rect">
            <a:avLst/>
          </a:prstGeom>
          <a:noFill/>
          <a:ln w="9525" algn="ctr">
            <a:solidFill>
              <a:schemeClr val="bg2"/>
            </a:solidFill>
            <a:miter lim="800000"/>
            <a:headEnd/>
            <a:tailEnd/>
          </a:ln>
          <a:effectLst/>
        </p:spPr>
        <p:txBody>
          <a:bodyPr anchor="ctr"/>
          <a:lstStyle/>
          <a:p>
            <a:pPr algn="just"/>
            <a:r>
              <a:rPr lang="es-ES" sz="900" dirty="0"/>
              <a:t>Errores y/u omisiones en la introducción, mantenimiento (actualización) y almacenamiento de datos.</a:t>
            </a:r>
          </a:p>
        </p:txBody>
      </p:sp>
      <p:sp>
        <p:nvSpPr>
          <p:cNvPr id="17" name="Rounded Rectangle 16"/>
          <p:cNvSpPr/>
          <p:nvPr/>
        </p:nvSpPr>
        <p:spPr>
          <a:xfrm>
            <a:off x="216583" y="1110038"/>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Macroproceso</a:t>
            </a:r>
          </a:p>
        </p:txBody>
      </p:sp>
      <p:sp>
        <p:nvSpPr>
          <p:cNvPr id="18" name="Rectangle 18"/>
          <p:cNvSpPr>
            <a:spLocks noChangeArrowheads="1"/>
          </p:cNvSpPr>
          <p:nvPr/>
        </p:nvSpPr>
        <p:spPr bwMode="auto">
          <a:xfrm>
            <a:off x="2568409" y="1110038"/>
            <a:ext cx="3877200" cy="182880"/>
          </a:xfrm>
          <a:prstGeom prst="rect">
            <a:avLst/>
          </a:prstGeom>
          <a:noFill/>
          <a:ln w="9525" algn="ctr">
            <a:solidFill>
              <a:schemeClr val="bg2"/>
            </a:solidFill>
            <a:miter lim="800000"/>
            <a:headEnd/>
            <a:tailEnd/>
          </a:ln>
          <a:effectLst/>
        </p:spPr>
        <p:txBody>
          <a:bodyPr anchor="ctr"/>
          <a:lstStyle/>
          <a:p>
            <a:r>
              <a:rPr lang="es-ES" sz="1100" dirty="0"/>
              <a:t>Administración de Portafolio de Inversiones</a:t>
            </a:r>
          </a:p>
        </p:txBody>
      </p:sp>
      <p:sp>
        <p:nvSpPr>
          <p:cNvPr id="19" name="Rounded Rectangle 18"/>
          <p:cNvSpPr/>
          <p:nvPr/>
        </p:nvSpPr>
        <p:spPr>
          <a:xfrm>
            <a:off x="216583" y="1339045"/>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Proceso</a:t>
            </a:r>
          </a:p>
        </p:txBody>
      </p:sp>
      <p:sp>
        <p:nvSpPr>
          <p:cNvPr id="20" name="Rectangle 18"/>
          <p:cNvSpPr>
            <a:spLocks noChangeArrowheads="1"/>
          </p:cNvSpPr>
          <p:nvPr/>
        </p:nvSpPr>
        <p:spPr bwMode="auto">
          <a:xfrm>
            <a:off x="2568409" y="1339045"/>
            <a:ext cx="3877200" cy="182880"/>
          </a:xfrm>
          <a:prstGeom prst="rect">
            <a:avLst/>
          </a:prstGeom>
          <a:noFill/>
          <a:ln w="9525" algn="ctr">
            <a:solidFill>
              <a:schemeClr val="bg2"/>
            </a:solidFill>
            <a:miter lim="800000"/>
            <a:headEnd/>
            <a:tailEnd/>
          </a:ln>
          <a:effectLst/>
        </p:spPr>
        <p:txBody>
          <a:bodyPr anchor="ctr"/>
          <a:lstStyle/>
          <a:p>
            <a:r>
              <a:rPr lang="es-ES" sz="1100" dirty="0"/>
              <a:t>Administración de fondos</a:t>
            </a:r>
          </a:p>
        </p:txBody>
      </p:sp>
      <p:sp>
        <p:nvSpPr>
          <p:cNvPr id="59" name="Rounded Rectangle 58"/>
          <p:cNvSpPr/>
          <p:nvPr/>
        </p:nvSpPr>
        <p:spPr>
          <a:xfrm>
            <a:off x="216583" y="1579694"/>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Subproceso</a:t>
            </a:r>
          </a:p>
        </p:txBody>
      </p:sp>
      <p:sp>
        <p:nvSpPr>
          <p:cNvPr id="60" name="Rectangle 18"/>
          <p:cNvSpPr>
            <a:spLocks noChangeArrowheads="1"/>
          </p:cNvSpPr>
          <p:nvPr/>
        </p:nvSpPr>
        <p:spPr bwMode="auto">
          <a:xfrm>
            <a:off x="2568409" y="1579694"/>
            <a:ext cx="3875799" cy="182880"/>
          </a:xfrm>
          <a:prstGeom prst="rect">
            <a:avLst/>
          </a:prstGeom>
          <a:noFill/>
          <a:ln w="9525" algn="ctr">
            <a:solidFill>
              <a:schemeClr val="bg2"/>
            </a:solidFill>
            <a:miter lim="800000"/>
            <a:headEnd/>
            <a:tailEnd/>
          </a:ln>
          <a:effectLst/>
        </p:spPr>
        <p:txBody>
          <a:bodyPr anchor="ctr"/>
          <a:lstStyle/>
          <a:p>
            <a:r>
              <a:rPr lang="es-ES" sz="1100" dirty="0"/>
              <a:t>Money </a:t>
            </a:r>
            <a:r>
              <a:rPr lang="es-ES" sz="1100" dirty="0" err="1"/>
              <a:t>Market</a:t>
            </a:r>
            <a:endParaRPr lang="es-ES" sz="1100" dirty="0"/>
          </a:p>
        </p:txBody>
      </p:sp>
      <p:sp>
        <p:nvSpPr>
          <p:cNvPr id="61" name="Rounded Rectangle 60"/>
          <p:cNvSpPr/>
          <p:nvPr/>
        </p:nvSpPr>
        <p:spPr>
          <a:xfrm>
            <a:off x="226806" y="1826440"/>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Línea de Negocio</a:t>
            </a:r>
          </a:p>
        </p:txBody>
      </p:sp>
      <p:sp>
        <p:nvSpPr>
          <p:cNvPr id="63" name="Rounded Rectangle 62"/>
          <p:cNvSpPr/>
          <p:nvPr/>
        </p:nvSpPr>
        <p:spPr>
          <a:xfrm>
            <a:off x="226806" y="2079535"/>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Responsable</a:t>
            </a:r>
          </a:p>
        </p:txBody>
      </p:sp>
      <p:sp>
        <p:nvSpPr>
          <p:cNvPr id="65" name="Rectangle 18"/>
          <p:cNvSpPr>
            <a:spLocks noChangeArrowheads="1"/>
          </p:cNvSpPr>
          <p:nvPr/>
        </p:nvSpPr>
        <p:spPr bwMode="auto">
          <a:xfrm>
            <a:off x="2568409" y="1826440"/>
            <a:ext cx="3875799" cy="182880"/>
          </a:xfrm>
          <a:prstGeom prst="rect">
            <a:avLst/>
          </a:prstGeom>
          <a:noFill/>
          <a:ln w="9525" algn="ctr">
            <a:solidFill>
              <a:schemeClr val="bg2"/>
            </a:solidFill>
            <a:miter lim="800000"/>
            <a:headEnd/>
            <a:tailEnd/>
          </a:ln>
          <a:effectLst/>
        </p:spPr>
        <p:txBody>
          <a:bodyPr anchor="ctr"/>
          <a:lstStyle/>
          <a:p>
            <a:r>
              <a:rPr lang="es-ES" sz="1100" dirty="0"/>
              <a:t>Negociación y Ventas</a:t>
            </a:r>
          </a:p>
        </p:txBody>
      </p:sp>
      <p:sp>
        <p:nvSpPr>
          <p:cNvPr id="66" name="Rectangle 18"/>
          <p:cNvSpPr>
            <a:spLocks noChangeArrowheads="1"/>
          </p:cNvSpPr>
          <p:nvPr/>
        </p:nvSpPr>
        <p:spPr bwMode="auto">
          <a:xfrm>
            <a:off x="2555776" y="2079535"/>
            <a:ext cx="3875799" cy="182880"/>
          </a:xfrm>
          <a:prstGeom prst="rect">
            <a:avLst/>
          </a:prstGeom>
          <a:noFill/>
          <a:ln w="9525" algn="ctr">
            <a:solidFill>
              <a:schemeClr val="bg2"/>
            </a:solidFill>
            <a:miter lim="800000"/>
            <a:headEnd/>
            <a:tailEnd/>
          </a:ln>
          <a:effectLst/>
        </p:spPr>
        <p:txBody>
          <a:bodyPr anchor="ctr"/>
          <a:lstStyle/>
          <a:p>
            <a:r>
              <a:rPr lang="es-ES" sz="1100" dirty="0"/>
              <a:t>Jefe de Gestión de Inversión</a:t>
            </a:r>
          </a:p>
        </p:txBody>
      </p:sp>
      <p:sp>
        <p:nvSpPr>
          <p:cNvPr id="78" name="Rounded Rectangle 14"/>
          <p:cNvSpPr/>
          <p:nvPr/>
        </p:nvSpPr>
        <p:spPr>
          <a:xfrm>
            <a:off x="6716066" y="2871727"/>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Origen del Riesgo</a:t>
            </a:r>
          </a:p>
        </p:txBody>
      </p:sp>
      <p:sp>
        <p:nvSpPr>
          <p:cNvPr id="79" name="Rectangle 18"/>
          <p:cNvSpPr>
            <a:spLocks noChangeArrowheads="1"/>
          </p:cNvSpPr>
          <p:nvPr/>
        </p:nvSpPr>
        <p:spPr bwMode="auto">
          <a:xfrm>
            <a:off x="6716066" y="3086992"/>
            <a:ext cx="2286000" cy="270000"/>
          </a:xfrm>
          <a:prstGeom prst="rect">
            <a:avLst/>
          </a:prstGeom>
          <a:noFill/>
          <a:ln w="9525" algn="ctr">
            <a:solidFill>
              <a:schemeClr val="bg2"/>
            </a:solidFill>
            <a:miter lim="800000"/>
            <a:headEnd/>
            <a:tailEnd/>
          </a:ln>
          <a:effectLst/>
        </p:spPr>
        <p:txBody>
          <a:bodyPr anchor="ctr"/>
          <a:lstStyle/>
          <a:p>
            <a:r>
              <a:rPr lang="es-ES" sz="1100" dirty="0">
                <a:solidFill>
                  <a:srgbClr val="000000"/>
                </a:solidFill>
              </a:rPr>
              <a:t>Personas / Procesos</a:t>
            </a:r>
          </a:p>
        </p:txBody>
      </p:sp>
      <p:sp>
        <p:nvSpPr>
          <p:cNvPr id="68" name="AutoShape 179"/>
          <p:cNvSpPr>
            <a:spLocks noChangeArrowheads="1"/>
          </p:cNvSpPr>
          <p:nvPr/>
        </p:nvSpPr>
        <p:spPr bwMode="auto">
          <a:xfrm>
            <a:off x="611560" y="3482416"/>
            <a:ext cx="3960812" cy="1275707"/>
          </a:xfrm>
          <a:prstGeom prst="roundRect">
            <a:avLst>
              <a:gd name="adj" fmla="val 9481"/>
            </a:avLst>
          </a:prstGeom>
          <a:solidFill>
            <a:schemeClr val="accent1">
              <a:lumMod val="20000"/>
              <a:lumOff val="80000"/>
            </a:schemeClr>
          </a:solidFill>
          <a:ln w="9525" algn="ctr">
            <a:noFill/>
            <a:round/>
            <a:headEnd/>
            <a:tailEnd/>
          </a:ln>
          <a:effectLst/>
        </p:spPr>
        <p:txBody>
          <a:bodyPr wrap="none" anchor="ctr"/>
          <a:lstStyle/>
          <a:p>
            <a:endParaRPr lang="es-CL">
              <a:solidFill>
                <a:srgbClr val="002060"/>
              </a:solidFill>
            </a:endParaRPr>
          </a:p>
        </p:txBody>
      </p:sp>
      <p:sp>
        <p:nvSpPr>
          <p:cNvPr id="73" name="Text Box 30"/>
          <p:cNvSpPr txBox="1">
            <a:spLocks noChangeArrowheads="1"/>
          </p:cNvSpPr>
          <p:nvPr/>
        </p:nvSpPr>
        <p:spPr bwMode="auto">
          <a:xfrm>
            <a:off x="190747" y="3259373"/>
            <a:ext cx="3671888" cy="276999"/>
          </a:xfrm>
          <a:prstGeom prst="rect">
            <a:avLst/>
          </a:prstGeom>
          <a:noFill/>
          <a:ln w="9525" algn="ctr">
            <a:noFill/>
            <a:miter lim="800000"/>
            <a:headEnd/>
            <a:tailEnd/>
          </a:ln>
          <a:effectLst/>
        </p:spPr>
        <p:txBody>
          <a:bodyPr>
            <a:spAutoFit/>
          </a:bodyPr>
          <a:lstStyle/>
          <a:p>
            <a:pPr>
              <a:spcBef>
                <a:spcPct val="50000"/>
              </a:spcBef>
            </a:pPr>
            <a:r>
              <a:rPr lang="es-CL" sz="1200" b="1" i="1" dirty="0">
                <a:solidFill>
                  <a:srgbClr val="A3A3E0"/>
                </a:solidFill>
              </a:rPr>
              <a:t>Resultados valoración de riesgos</a:t>
            </a:r>
            <a:endParaRPr lang="es-ES" sz="1200" b="1" i="1" dirty="0">
              <a:solidFill>
                <a:srgbClr val="A3A3E0"/>
              </a:solidFill>
            </a:endParaRPr>
          </a:p>
        </p:txBody>
      </p:sp>
      <p:sp>
        <p:nvSpPr>
          <p:cNvPr id="76" name="Rounded Rectangle 75"/>
          <p:cNvSpPr/>
          <p:nvPr/>
        </p:nvSpPr>
        <p:spPr>
          <a:xfrm>
            <a:off x="902959" y="4255955"/>
            <a:ext cx="1920240" cy="170094"/>
          </a:xfrm>
          <a:prstGeom prst="roundRect">
            <a:avLst/>
          </a:prstGeom>
          <a:solidFill>
            <a:srgbClr val="DB0613"/>
          </a:solidFill>
          <a:ln w="9525" algn="ctr">
            <a:noFill/>
            <a:miter lim="800000"/>
            <a:headEnd/>
            <a:tailEnd/>
          </a:ln>
          <a:effectLst/>
        </p:spPr>
        <p:txBody>
          <a:bodyPr tIns="91440" anchor="ctr"/>
          <a:lstStyle/>
          <a:p>
            <a:pPr>
              <a:lnSpc>
                <a:spcPct val="80000"/>
              </a:lnSpc>
            </a:pPr>
            <a:r>
              <a:rPr lang="es-CL" sz="1100" b="1" dirty="0">
                <a:solidFill>
                  <a:srgbClr val="FFFFFF"/>
                </a:solidFill>
                <a:cs typeface="Arial" pitchFamily="34" charset="0"/>
              </a:rPr>
              <a:t>Pérdida Esperada Anual</a:t>
            </a:r>
          </a:p>
        </p:txBody>
      </p:sp>
      <p:sp>
        <p:nvSpPr>
          <p:cNvPr id="77" name="Rectangle 18"/>
          <p:cNvSpPr>
            <a:spLocks noChangeArrowheads="1"/>
          </p:cNvSpPr>
          <p:nvPr/>
        </p:nvSpPr>
        <p:spPr bwMode="auto">
          <a:xfrm>
            <a:off x="2859920" y="4255955"/>
            <a:ext cx="1554480" cy="170094"/>
          </a:xfrm>
          <a:prstGeom prst="rect">
            <a:avLst/>
          </a:prstGeom>
          <a:solidFill>
            <a:schemeClr val="bg1"/>
          </a:solidFill>
          <a:ln w="9525" algn="ctr">
            <a:solidFill>
              <a:schemeClr val="bg2"/>
            </a:solidFill>
            <a:miter lim="800000"/>
            <a:headEnd/>
            <a:tailEnd/>
          </a:ln>
          <a:effectLst/>
        </p:spPr>
        <p:txBody>
          <a:bodyPr anchor="ctr"/>
          <a:lstStyle/>
          <a:p>
            <a:pPr algn="ctr"/>
            <a:r>
              <a:rPr lang="es-ES" sz="1100" dirty="0">
                <a:solidFill>
                  <a:srgbClr val="000000"/>
                </a:solidFill>
              </a:rPr>
              <a:t>s/. </a:t>
            </a:r>
            <a:r>
              <a:rPr lang="es-ES" sz="1100" dirty="0"/>
              <a:t>0 .00</a:t>
            </a:r>
            <a:endParaRPr lang="es-ES" sz="1100" dirty="0">
              <a:solidFill>
                <a:srgbClr val="000000"/>
              </a:solidFill>
            </a:endParaRPr>
          </a:p>
        </p:txBody>
      </p:sp>
      <p:sp>
        <p:nvSpPr>
          <p:cNvPr id="80" name="Rounded Rectangle 79"/>
          <p:cNvSpPr/>
          <p:nvPr/>
        </p:nvSpPr>
        <p:spPr>
          <a:xfrm>
            <a:off x="902959" y="4485567"/>
            <a:ext cx="1920240" cy="170094"/>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VaR Cualitativo Anual</a:t>
            </a:r>
          </a:p>
        </p:txBody>
      </p:sp>
      <p:sp>
        <p:nvSpPr>
          <p:cNvPr id="81" name="Rectangle 18"/>
          <p:cNvSpPr>
            <a:spLocks noChangeArrowheads="1"/>
          </p:cNvSpPr>
          <p:nvPr/>
        </p:nvSpPr>
        <p:spPr bwMode="auto">
          <a:xfrm>
            <a:off x="2859920" y="4485567"/>
            <a:ext cx="1554480" cy="170094"/>
          </a:xfrm>
          <a:prstGeom prst="rect">
            <a:avLst/>
          </a:prstGeom>
          <a:solidFill>
            <a:schemeClr val="bg1"/>
          </a:solidFill>
          <a:ln w="9525" algn="ctr">
            <a:solidFill>
              <a:schemeClr val="bg2"/>
            </a:solidFill>
            <a:miter lim="800000"/>
            <a:headEnd/>
            <a:tailEnd/>
          </a:ln>
          <a:effectLst/>
        </p:spPr>
        <p:txBody>
          <a:bodyPr anchor="ctr"/>
          <a:lstStyle/>
          <a:p>
            <a:pPr algn="ctr"/>
            <a:r>
              <a:rPr lang="es-ES" sz="1100" dirty="0"/>
              <a:t>s</a:t>
            </a:r>
            <a:r>
              <a:rPr lang="es-ES" sz="1100" dirty="0">
                <a:solidFill>
                  <a:srgbClr val="000000"/>
                </a:solidFill>
              </a:rPr>
              <a:t>/.</a:t>
            </a:r>
            <a:r>
              <a:rPr lang="es-ES" sz="1100" dirty="0"/>
              <a:t> 0.00 </a:t>
            </a:r>
            <a:endParaRPr lang="es-ES" sz="1100" dirty="0">
              <a:solidFill>
                <a:srgbClr val="000000"/>
              </a:solidFill>
            </a:endParaRPr>
          </a:p>
        </p:txBody>
      </p:sp>
      <p:sp>
        <p:nvSpPr>
          <p:cNvPr id="82" name="Rounded Rectangle 81"/>
          <p:cNvSpPr/>
          <p:nvPr/>
        </p:nvSpPr>
        <p:spPr>
          <a:xfrm>
            <a:off x="891084" y="3553916"/>
            <a:ext cx="1920240" cy="170094"/>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Frecuencia  Evento Pérdida</a:t>
            </a:r>
          </a:p>
        </p:txBody>
      </p:sp>
      <p:sp>
        <p:nvSpPr>
          <p:cNvPr id="83" name="Rectangle 18"/>
          <p:cNvSpPr>
            <a:spLocks noChangeArrowheads="1"/>
          </p:cNvSpPr>
          <p:nvPr/>
        </p:nvSpPr>
        <p:spPr bwMode="auto">
          <a:xfrm>
            <a:off x="2859920" y="3553916"/>
            <a:ext cx="1554480" cy="170094"/>
          </a:xfrm>
          <a:prstGeom prst="rect">
            <a:avLst/>
          </a:prstGeom>
          <a:solidFill>
            <a:schemeClr val="bg1"/>
          </a:solidFill>
          <a:ln w="9525" algn="ctr">
            <a:solidFill>
              <a:schemeClr val="bg2"/>
            </a:solidFill>
            <a:miter lim="800000"/>
            <a:headEnd/>
            <a:tailEnd/>
          </a:ln>
          <a:effectLst/>
        </p:spPr>
        <p:txBody>
          <a:bodyPr anchor="ctr"/>
          <a:lstStyle/>
          <a:p>
            <a:pPr algn="ctr"/>
            <a:r>
              <a:rPr lang="es-ES" sz="1100" dirty="0">
                <a:solidFill>
                  <a:srgbClr val="000000"/>
                </a:solidFill>
              </a:rPr>
              <a:t>1 vez por 10 años</a:t>
            </a:r>
          </a:p>
        </p:txBody>
      </p:sp>
      <p:sp>
        <p:nvSpPr>
          <p:cNvPr id="84" name="Rounded Rectangle 83"/>
          <p:cNvSpPr/>
          <p:nvPr/>
        </p:nvSpPr>
        <p:spPr>
          <a:xfrm>
            <a:off x="891084" y="3783528"/>
            <a:ext cx="1920240" cy="170094"/>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Impacto Medio Evento</a:t>
            </a:r>
          </a:p>
        </p:txBody>
      </p:sp>
      <p:sp>
        <p:nvSpPr>
          <p:cNvPr id="85" name="Rectangle 18"/>
          <p:cNvSpPr>
            <a:spLocks noChangeArrowheads="1"/>
          </p:cNvSpPr>
          <p:nvPr/>
        </p:nvSpPr>
        <p:spPr bwMode="auto">
          <a:xfrm>
            <a:off x="2859920" y="3783528"/>
            <a:ext cx="1554480" cy="170094"/>
          </a:xfrm>
          <a:prstGeom prst="rect">
            <a:avLst/>
          </a:prstGeom>
          <a:solidFill>
            <a:schemeClr val="bg1"/>
          </a:solidFill>
          <a:ln w="9525" algn="ctr">
            <a:solidFill>
              <a:schemeClr val="bg2"/>
            </a:solidFill>
            <a:miter lim="800000"/>
            <a:headEnd/>
            <a:tailEnd/>
          </a:ln>
          <a:effectLst/>
        </p:spPr>
        <p:txBody>
          <a:bodyPr anchor="ctr"/>
          <a:lstStyle/>
          <a:p>
            <a:pPr algn="ctr"/>
            <a:r>
              <a:rPr lang="es-ES" sz="1100" dirty="0">
                <a:solidFill>
                  <a:srgbClr val="000000"/>
                </a:solidFill>
              </a:rPr>
              <a:t>s/. </a:t>
            </a:r>
            <a:r>
              <a:rPr lang="es-ES" sz="1100" dirty="0"/>
              <a:t>0.00 </a:t>
            </a:r>
            <a:endParaRPr lang="es-ES" sz="1100" dirty="0">
              <a:solidFill>
                <a:srgbClr val="000000"/>
              </a:solidFill>
            </a:endParaRPr>
          </a:p>
        </p:txBody>
      </p:sp>
      <p:sp>
        <p:nvSpPr>
          <p:cNvPr id="86" name="Rounded Rectangle 85"/>
          <p:cNvSpPr/>
          <p:nvPr/>
        </p:nvSpPr>
        <p:spPr>
          <a:xfrm>
            <a:off x="891084" y="4019108"/>
            <a:ext cx="1920240" cy="170094"/>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Impacto Peor Escenario</a:t>
            </a:r>
          </a:p>
        </p:txBody>
      </p:sp>
      <p:sp>
        <p:nvSpPr>
          <p:cNvPr id="87" name="Rectangle 18"/>
          <p:cNvSpPr>
            <a:spLocks noChangeArrowheads="1"/>
          </p:cNvSpPr>
          <p:nvPr/>
        </p:nvSpPr>
        <p:spPr bwMode="auto">
          <a:xfrm>
            <a:off x="2859920" y="4019108"/>
            <a:ext cx="1554480" cy="170094"/>
          </a:xfrm>
          <a:prstGeom prst="rect">
            <a:avLst/>
          </a:prstGeom>
          <a:solidFill>
            <a:schemeClr val="bg1"/>
          </a:solidFill>
          <a:ln w="9525" algn="ctr">
            <a:solidFill>
              <a:schemeClr val="bg2"/>
            </a:solidFill>
            <a:miter lim="800000"/>
            <a:headEnd/>
            <a:tailEnd/>
          </a:ln>
          <a:effectLst/>
        </p:spPr>
        <p:txBody>
          <a:bodyPr anchor="ctr"/>
          <a:lstStyle/>
          <a:p>
            <a:pPr algn="ctr"/>
            <a:r>
              <a:rPr lang="es-ES" sz="1100" dirty="0">
                <a:solidFill>
                  <a:srgbClr val="000000"/>
                </a:solidFill>
              </a:rPr>
              <a:t>s/. </a:t>
            </a:r>
            <a:r>
              <a:rPr lang="es-ES" sz="1100" dirty="0"/>
              <a:t>0.00</a:t>
            </a:r>
            <a:endParaRPr lang="es-ES" sz="1100" dirty="0">
              <a:solidFill>
                <a:srgbClr val="000000"/>
              </a:solidFill>
            </a:endParaRPr>
          </a:p>
        </p:txBody>
      </p:sp>
      <p:sp>
        <p:nvSpPr>
          <p:cNvPr id="88" name="AutoShape 47"/>
          <p:cNvSpPr>
            <a:spLocks noChangeAspect="1" noChangeArrowheads="1"/>
          </p:cNvSpPr>
          <p:nvPr/>
        </p:nvSpPr>
        <p:spPr bwMode="blackWhite">
          <a:xfrm>
            <a:off x="263032" y="3482416"/>
            <a:ext cx="503986" cy="1274400"/>
          </a:xfrm>
          <a:prstGeom prst="rightArrow">
            <a:avLst>
              <a:gd name="adj1" fmla="val 100000"/>
              <a:gd name="adj2" fmla="val 11009"/>
            </a:avLst>
          </a:prstGeom>
          <a:solidFill>
            <a:srgbClr val="969696"/>
          </a:solidFill>
          <a:ln w="12700">
            <a:noFill/>
            <a:miter lim="800000"/>
            <a:headEnd/>
            <a:tailEnd/>
          </a:ln>
          <a:effectLst>
            <a:outerShdw dist="35921" dir="2700000" algn="ctr" rotWithShape="0">
              <a:schemeClr val="bg2"/>
            </a:outerShdw>
          </a:effectLst>
        </p:spPr>
        <p:txBody>
          <a:bodyPr vert="vert270" anchor="ctr"/>
          <a:lstStyle/>
          <a:p>
            <a:pPr algn="ctr">
              <a:lnSpc>
                <a:spcPts val="1000"/>
              </a:lnSpc>
            </a:pPr>
            <a:r>
              <a:rPr lang="es-ES" sz="1100" b="1" noProof="1">
                <a:solidFill>
                  <a:srgbClr val="FFFFFF"/>
                </a:solidFill>
                <a:cs typeface="Arial" charset="0"/>
              </a:rPr>
              <a:t>Evaluación Riesgo Operacional</a:t>
            </a:r>
          </a:p>
        </p:txBody>
      </p:sp>
      <p:sp>
        <p:nvSpPr>
          <p:cNvPr id="89" name="AutoShape 179"/>
          <p:cNvSpPr>
            <a:spLocks noChangeArrowheads="1"/>
          </p:cNvSpPr>
          <p:nvPr/>
        </p:nvSpPr>
        <p:spPr bwMode="auto">
          <a:xfrm>
            <a:off x="4932039" y="3493021"/>
            <a:ext cx="4037169" cy="864000"/>
          </a:xfrm>
          <a:prstGeom prst="roundRect">
            <a:avLst>
              <a:gd name="adj" fmla="val 9481"/>
            </a:avLst>
          </a:prstGeom>
          <a:solidFill>
            <a:schemeClr val="accent1">
              <a:lumMod val="20000"/>
              <a:lumOff val="80000"/>
            </a:schemeClr>
          </a:solidFill>
          <a:ln w="9525" algn="ctr">
            <a:noFill/>
            <a:round/>
            <a:headEnd/>
            <a:tailEnd/>
          </a:ln>
          <a:effectLst/>
        </p:spPr>
        <p:txBody>
          <a:bodyPr wrap="none" anchor="ctr"/>
          <a:lstStyle/>
          <a:p>
            <a:endParaRPr lang="es-CL">
              <a:solidFill>
                <a:srgbClr val="002060"/>
              </a:solidFill>
            </a:endParaRPr>
          </a:p>
        </p:txBody>
      </p:sp>
      <p:sp>
        <p:nvSpPr>
          <p:cNvPr id="90" name="AutoShape 47"/>
          <p:cNvSpPr>
            <a:spLocks noChangeArrowheads="1"/>
          </p:cNvSpPr>
          <p:nvPr/>
        </p:nvSpPr>
        <p:spPr bwMode="blackWhite">
          <a:xfrm>
            <a:off x="4678512" y="3494523"/>
            <a:ext cx="353942" cy="864000"/>
          </a:xfrm>
          <a:prstGeom prst="rightArrow">
            <a:avLst>
              <a:gd name="adj1" fmla="val 100000"/>
              <a:gd name="adj2" fmla="val 11009"/>
            </a:avLst>
          </a:prstGeom>
          <a:solidFill>
            <a:srgbClr val="969696"/>
          </a:solidFill>
          <a:ln w="12700">
            <a:noFill/>
            <a:miter lim="800000"/>
            <a:headEnd/>
            <a:tailEnd/>
          </a:ln>
          <a:effectLst>
            <a:outerShdw dist="35921" dir="2700000" algn="ctr" rotWithShape="0">
              <a:schemeClr val="bg2"/>
            </a:outerShdw>
          </a:effectLst>
        </p:spPr>
        <p:txBody>
          <a:bodyPr vert="vert270" anchor="ctr"/>
          <a:lstStyle/>
          <a:p>
            <a:pPr algn="ctr">
              <a:lnSpc>
                <a:spcPts val="1000"/>
              </a:lnSpc>
            </a:pPr>
            <a:r>
              <a:rPr lang="es-ES" sz="1100" b="1" noProof="1">
                <a:solidFill>
                  <a:srgbClr val="FFFFFF"/>
                </a:solidFill>
                <a:cs typeface="Arial" charset="0"/>
              </a:rPr>
              <a:t>Impacto Reputacional</a:t>
            </a:r>
          </a:p>
        </p:txBody>
      </p:sp>
      <p:sp>
        <p:nvSpPr>
          <p:cNvPr id="91" name="Rectangle 18"/>
          <p:cNvSpPr>
            <a:spLocks noChangeArrowheads="1"/>
          </p:cNvSpPr>
          <p:nvPr/>
        </p:nvSpPr>
        <p:spPr bwMode="auto">
          <a:xfrm>
            <a:off x="8334310" y="3568288"/>
            <a:ext cx="548640" cy="170094"/>
          </a:xfrm>
          <a:prstGeom prst="rect">
            <a:avLst/>
          </a:prstGeom>
          <a:solidFill>
            <a:schemeClr val="bg1"/>
          </a:solidFill>
          <a:ln w="9525" algn="ctr">
            <a:solidFill>
              <a:schemeClr val="bg2"/>
            </a:solidFill>
            <a:miter lim="800000"/>
            <a:headEnd/>
            <a:tailEnd/>
          </a:ln>
          <a:effectLst/>
        </p:spPr>
        <p:txBody>
          <a:bodyPr anchor="ctr"/>
          <a:lstStyle/>
          <a:p>
            <a:pPr algn="ctr"/>
            <a:r>
              <a:rPr lang="es-ES" sz="1100" dirty="0">
                <a:solidFill>
                  <a:srgbClr val="002060"/>
                </a:solidFill>
              </a:rPr>
              <a:t>1</a:t>
            </a:r>
          </a:p>
        </p:txBody>
      </p:sp>
      <p:sp>
        <p:nvSpPr>
          <p:cNvPr id="92" name="Rounded Rectangle 91"/>
          <p:cNvSpPr/>
          <p:nvPr/>
        </p:nvSpPr>
        <p:spPr>
          <a:xfrm>
            <a:off x="5102950" y="3568288"/>
            <a:ext cx="3132000" cy="170094"/>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Afectación a contrapartes</a:t>
            </a:r>
          </a:p>
        </p:txBody>
      </p:sp>
      <p:sp>
        <p:nvSpPr>
          <p:cNvPr id="93" name="Rectangle 18"/>
          <p:cNvSpPr>
            <a:spLocks noChangeArrowheads="1"/>
          </p:cNvSpPr>
          <p:nvPr/>
        </p:nvSpPr>
        <p:spPr bwMode="auto">
          <a:xfrm>
            <a:off x="5102950" y="3786445"/>
            <a:ext cx="3780000" cy="469509"/>
          </a:xfrm>
          <a:prstGeom prst="rect">
            <a:avLst/>
          </a:prstGeom>
          <a:solidFill>
            <a:schemeClr val="bg1"/>
          </a:solidFill>
          <a:ln w="9525" algn="ctr">
            <a:solidFill>
              <a:schemeClr val="bg2"/>
            </a:solidFill>
            <a:miter lim="800000"/>
            <a:headEnd/>
            <a:tailEnd/>
          </a:ln>
          <a:effectLst/>
        </p:spPr>
        <p:txBody>
          <a:bodyPr anchor="ctr"/>
          <a:lstStyle/>
          <a:p>
            <a:r>
              <a:rPr lang="es-ES" sz="1100" dirty="0">
                <a:solidFill>
                  <a:srgbClr val="000000"/>
                </a:solidFill>
              </a:rPr>
              <a:t>La exposición de la imagen es únicamente interna y limitada.</a:t>
            </a:r>
          </a:p>
        </p:txBody>
      </p:sp>
      <p:sp>
        <p:nvSpPr>
          <p:cNvPr id="94" name="Text Box 30"/>
          <p:cNvSpPr txBox="1">
            <a:spLocks noChangeArrowheads="1"/>
          </p:cNvSpPr>
          <p:nvPr/>
        </p:nvSpPr>
        <p:spPr bwMode="auto">
          <a:xfrm>
            <a:off x="190746" y="4838419"/>
            <a:ext cx="3996000" cy="276999"/>
          </a:xfrm>
          <a:prstGeom prst="rect">
            <a:avLst/>
          </a:prstGeom>
          <a:noFill/>
          <a:ln w="9525" algn="ctr">
            <a:noFill/>
            <a:miter lim="800000"/>
            <a:headEnd/>
            <a:tailEnd/>
          </a:ln>
          <a:effectLst/>
        </p:spPr>
        <p:txBody>
          <a:bodyPr wrap="square">
            <a:spAutoFit/>
          </a:bodyPr>
          <a:lstStyle/>
          <a:p>
            <a:pPr>
              <a:spcBef>
                <a:spcPct val="50000"/>
              </a:spcBef>
            </a:pPr>
            <a:r>
              <a:rPr lang="es-CL" sz="1200" b="1" i="1" dirty="0">
                <a:solidFill>
                  <a:srgbClr val="A3A3E0"/>
                </a:solidFill>
              </a:rPr>
              <a:t>Resultados valoración de controles / factores mitigantes</a:t>
            </a:r>
            <a:endParaRPr lang="es-ES" sz="1200" b="1" i="1" dirty="0">
              <a:solidFill>
                <a:srgbClr val="A3A3E0"/>
              </a:solidFill>
            </a:endParaRPr>
          </a:p>
        </p:txBody>
      </p:sp>
      <p:sp>
        <p:nvSpPr>
          <p:cNvPr id="98" name="AutoShape 179"/>
          <p:cNvSpPr>
            <a:spLocks noChangeArrowheads="1"/>
          </p:cNvSpPr>
          <p:nvPr/>
        </p:nvSpPr>
        <p:spPr bwMode="auto">
          <a:xfrm>
            <a:off x="4927319" y="4397238"/>
            <a:ext cx="4037169" cy="892800"/>
          </a:xfrm>
          <a:prstGeom prst="roundRect">
            <a:avLst>
              <a:gd name="adj" fmla="val 9481"/>
            </a:avLst>
          </a:prstGeom>
          <a:solidFill>
            <a:schemeClr val="accent1">
              <a:lumMod val="20000"/>
              <a:lumOff val="80000"/>
            </a:schemeClr>
          </a:solidFill>
          <a:ln w="9525" algn="ctr">
            <a:noFill/>
            <a:round/>
            <a:headEnd/>
            <a:tailEnd/>
          </a:ln>
          <a:effectLst/>
        </p:spPr>
        <p:txBody>
          <a:bodyPr wrap="none" anchor="ctr"/>
          <a:lstStyle/>
          <a:p>
            <a:endParaRPr lang="es-CL">
              <a:solidFill>
                <a:srgbClr val="002060"/>
              </a:solidFill>
            </a:endParaRPr>
          </a:p>
        </p:txBody>
      </p:sp>
      <p:sp>
        <p:nvSpPr>
          <p:cNvPr id="99" name="AutoShape 47"/>
          <p:cNvSpPr>
            <a:spLocks noChangeArrowheads="1"/>
          </p:cNvSpPr>
          <p:nvPr/>
        </p:nvSpPr>
        <p:spPr bwMode="blackWhite">
          <a:xfrm>
            <a:off x="4673792" y="4398740"/>
            <a:ext cx="352800" cy="892800"/>
          </a:xfrm>
          <a:prstGeom prst="rightArrow">
            <a:avLst>
              <a:gd name="adj1" fmla="val 100000"/>
              <a:gd name="adj2" fmla="val 11009"/>
            </a:avLst>
          </a:prstGeom>
          <a:solidFill>
            <a:srgbClr val="969696"/>
          </a:solidFill>
          <a:ln w="12700">
            <a:noFill/>
            <a:miter lim="800000"/>
            <a:headEnd/>
            <a:tailEnd/>
          </a:ln>
          <a:effectLst>
            <a:outerShdw dist="35921" dir="2700000" algn="ctr" rotWithShape="0">
              <a:schemeClr val="bg2"/>
            </a:outerShdw>
          </a:effectLst>
        </p:spPr>
        <p:txBody>
          <a:bodyPr vert="vert270" anchor="ctr"/>
          <a:lstStyle/>
          <a:p>
            <a:pPr algn="ctr">
              <a:lnSpc>
                <a:spcPts val="1000"/>
              </a:lnSpc>
            </a:pPr>
            <a:r>
              <a:rPr lang="es-ES" sz="1100" b="1" noProof="1">
                <a:solidFill>
                  <a:srgbClr val="FFFFFF"/>
                </a:solidFill>
                <a:cs typeface="Arial" charset="0"/>
              </a:rPr>
              <a:t>Cuestionarios</a:t>
            </a:r>
          </a:p>
        </p:txBody>
      </p:sp>
      <p:sp>
        <p:nvSpPr>
          <p:cNvPr id="101" name="Rounded Rectangle 38"/>
          <p:cNvSpPr/>
          <p:nvPr/>
        </p:nvSpPr>
        <p:spPr>
          <a:xfrm>
            <a:off x="5098230" y="4472505"/>
            <a:ext cx="3132000" cy="170094"/>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Criterios de Evaluación</a:t>
            </a:r>
          </a:p>
        </p:txBody>
      </p:sp>
      <p:sp>
        <p:nvSpPr>
          <p:cNvPr id="102" name="AutoShape 179"/>
          <p:cNvSpPr>
            <a:spLocks noChangeArrowheads="1"/>
          </p:cNvSpPr>
          <p:nvPr/>
        </p:nvSpPr>
        <p:spPr bwMode="auto">
          <a:xfrm>
            <a:off x="534831" y="5060900"/>
            <a:ext cx="4037169" cy="864000"/>
          </a:xfrm>
          <a:prstGeom prst="roundRect">
            <a:avLst>
              <a:gd name="adj" fmla="val 9481"/>
            </a:avLst>
          </a:prstGeom>
          <a:solidFill>
            <a:schemeClr val="accent1">
              <a:lumMod val="20000"/>
              <a:lumOff val="80000"/>
            </a:schemeClr>
          </a:solidFill>
          <a:ln w="9525" algn="ctr">
            <a:noFill/>
            <a:round/>
            <a:headEnd/>
            <a:tailEnd/>
          </a:ln>
          <a:effectLst/>
        </p:spPr>
        <p:txBody>
          <a:bodyPr wrap="none" anchor="ctr"/>
          <a:lstStyle/>
          <a:p>
            <a:endParaRPr lang="es-CL">
              <a:solidFill>
                <a:srgbClr val="002060"/>
              </a:solidFill>
            </a:endParaRPr>
          </a:p>
        </p:txBody>
      </p:sp>
      <p:sp>
        <p:nvSpPr>
          <p:cNvPr id="103" name="AutoShape 47"/>
          <p:cNvSpPr>
            <a:spLocks noChangeArrowheads="1"/>
          </p:cNvSpPr>
          <p:nvPr/>
        </p:nvSpPr>
        <p:spPr bwMode="blackWhite">
          <a:xfrm>
            <a:off x="281304" y="5062402"/>
            <a:ext cx="353942" cy="864000"/>
          </a:xfrm>
          <a:prstGeom prst="rightArrow">
            <a:avLst>
              <a:gd name="adj1" fmla="val 100000"/>
              <a:gd name="adj2" fmla="val 11009"/>
            </a:avLst>
          </a:prstGeom>
          <a:solidFill>
            <a:srgbClr val="969696"/>
          </a:solidFill>
          <a:ln w="12700">
            <a:noFill/>
            <a:miter lim="800000"/>
            <a:headEnd/>
            <a:tailEnd/>
          </a:ln>
          <a:effectLst>
            <a:outerShdw dist="35921" dir="2700000" algn="ctr" rotWithShape="0">
              <a:schemeClr val="bg2"/>
            </a:outerShdw>
          </a:effectLst>
        </p:spPr>
        <p:txBody>
          <a:bodyPr vert="vert270" anchor="ctr"/>
          <a:lstStyle/>
          <a:p>
            <a:pPr algn="ctr">
              <a:lnSpc>
                <a:spcPts val="1000"/>
              </a:lnSpc>
            </a:pPr>
            <a:r>
              <a:rPr lang="es-ES" sz="1100" b="1" noProof="1">
                <a:solidFill>
                  <a:srgbClr val="FFFFFF"/>
                </a:solidFill>
                <a:cs typeface="Arial" charset="0"/>
              </a:rPr>
              <a:t>Evaluación de Controles</a:t>
            </a:r>
          </a:p>
        </p:txBody>
      </p:sp>
      <p:sp>
        <p:nvSpPr>
          <p:cNvPr id="104" name="Rectangle 18"/>
          <p:cNvSpPr>
            <a:spLocks noChangeArrowheads="1"/>
          </p:cNvSpPr>
          <p:nvPr/>
        </p:nvSpPr>
        <p:spPr bwMode="auto">
          <a:xfrm>
            <a:off x="3937102" y="5136167"/>
            <a:ext cx="548640" cy="170094"/>
          </a:xfrm>
          <a:prstGeom prst="rect">
            <a:avLst/>
          </a:prstGeom>
          <a:solidFill>
            <a:schemeClr val="bg1"/>
          </a:solidFill>
          <a:ln w="9525" algn="ctr">
            <a:solidFill>
              <a:schemeClr val="bg2"/>
            </a:solidFill>
            <a:miter lim="800000"/>
            <a:headEnd/>
            <a:tailEnd/>
          </a:ln>
          <a:effectLst/>
        </p:spPr>
        <p:txBody>
          <a:bodyPr anchor="ctr"/>
          <a:lstStyle/>
          <a:p>
            <a:pPr algn="ctr"/>
            <a:r>
              <a:rPr lang="es-ES" sz="1100" dirty="0">
                <a:solidFill>
                  <a:srgbClr val="002060"/>
                </a:solidFill>
              </a:rPr>
              <a:t>1</a:t>
            </a:r>
          </a:p>
        </p:txBody>
      </p:sp>
      <p:sp>
        <p:nvSpPr>
          <p:cNvPr id="105" name="Rounded Rectangle 38"/>
          <p:cNvSpPr/>
          <p:nvPr/>
        </p:nvSpPr>
        <p:spPr>
          <a:xfrm>
            <a:off x="705742" y="5136167"/>
            <a:ext cx="3132000" cy="170094"/>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Controles asociados al riesgo</a:t>
            </a:r>
          </a:p>
        </p:txBody>
      </p:sp>
      <p:sp>
        <p:nvSpPr>
          <p:cNvPr id="106" name="Rectangle 18"/>
          <p:cNvSpPr>
            <a:spLocks noChangeArrowheads="1"/>
          </p:cNvSpPr>
          <p:nvPr/>
        </p:nvSpPr>
        <p:spPr bwMode="auto">
          <a:xfrm>
            <a:off x="5102950" y="4685678"/>
            <a:ext cx="3780000" cy="469509"/>
          </a:xfrm>
          <a:prstGeom prst="rect">
            <a:avLst/>
          </a:prstGeom>
          <a:solidFill>
            <a:schemeClr val="bg1"/>
          </a:solidFill>
          <a:ln w="9525" algn="ctr">
            <a:solidFill>
              <a:schemeClr val="bg2"/>
            </a:solidFill>
            <a:miter lim="800000"/>
            <a:headEnd/>
            <a:tailEnd/>
          </a:ln>
          <a:effectLst/>
        </p:spPr>
        <p:txBody>
          <a:bodyPr anchor="ctr"/>
          <a:lstStyle/>
          <a:p>
            <a:r>
              <a:rPr lang="es-ES" sz="1100" dirty="0"/>
              <a:t>El Experto del riesgo considera que materializarse este riesgo no tendría un impacto patrimonial.</a:t>
            </a:r>
          </a:p>
        </p:txBody>
      </p:sp>
      <p:sp>
        <p:nvSpPr>
          <p:cNvPr id="107" name="Rectangle 18"/>
          <p:cNvSpPr>
            <a:spLocks noChangeArrowheads="1"/>
          </p:cNvSpPr>
          <p:nvPr/>
        </p:nvSpPr>
        <p:spPr bwMode="auto">
          <a:xfrm>
            <a:off x="705742" y="5357175"/>
            <a:ext cx="3780000" cy="469509"/>
          </a:xfrm>
          <a:prstGeom prst="rect">
            <a:avLst/>
          </a:prstGeom>
          <a:solidFill>
            <a:schemeClr val="bg1"/>
          </a:solidFill>
          <a:ln w="9525" algn="ctr">
            <a:solidFill>
              <a:schemeClr val="bg2"/>
            </a:solidFill>
            <a:miter lim="800000"/>
            <a:headEnd/>
            <a:tailEnd/>
          </a:ln>
          <a:effectLst/>
        </p:spPr>
        <p:txBody>
          <a:bodyPr anchor="ctr"/>
          <a:lstStyle/>
          <a:p>
            <a:r>
              <a:rPr lang="es-ES" sz="1100" dirty="0">
                <a:solidFill>
                  <a:srgbClr val="000000"/>
                </a:solidFill>
              </a:rPr>
              <a:t>Revisión de los datos generados en la operativa por parte de Back Office (Analista de Operaciones de Inversión)</a:t>
            </a:r>
          </a:p>
        </p:txBody>
      </p:sp>
    </p:spTree>
    <p:extLst>
      <p:ext uri="{BB962C8B-B14F-4D97-AF65-F5344CB8AC3E}">
        <p14:creationId xmlns:p14="http://schemas.microsoft.com/office/powerpoint/2010/main" val="2809547796"/>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dirty="0"/>
              <a:t>Anexo: Ficha Individual Riesgos Operacionales</a:t>
            </a:r>
          </a:p>
        </p:txBody>
      </p:sp>
      <p:sp>
        <p:nvSpPr>
          <p:cNvPr id="4" name="Rounded Rectangle 3"/>
          <p:cNvSpPr/>
          <p:nvPr/>
        </p:nvSpPr>
        <p:spPr>
          <a:xfrm>
            <a:off x="227770" y="764704"/>
            <a:ext cx="383790" cy="274320"/>
          </a:xfrm>
          <a:prstGeom prst="roundRect">
            <a:avLst/>
          </a:prstGeom>
          <a:solidFill>
            <a:srgbClr val="DB0613"/>
          </a:solidFill>
          <a:ln w="9525" algn="ctr">
            <a:noFill/>
            <a:miter lim="800000"/>
            <a:headEnd/>
            <a:tailEnd/>
          </a:ln>
          <a:effectLst/>
        </p:spPr>
        <p:txBody>
          <a:bodyPr anchor="ctr"/>
          <a:lstStyle/>
          <a:p>
            <a:pPr algn="ctr">
              <a:lnSpc>
                <a:spcPct val="80000"/>
              </a:lnSpc>
            </a:pPr>
            <a:r>
              <a:rPr lang="es-CL" sz="1200" b="1" dirty="0">
                <a:solidFill>
                  <a:srgbClr val="FFFFFF"/>
                </a:solidFill>
                <a:cs typeface="Arial" pitchFamily="34" charset="0"/>
              </a:rPr>
              <a:t>42</a:t>
            </a:r>
          </a:p>
        </p:txBody>
      </p:sp>
      <p:sp>
        <p:nvSpPr>
          <p:cNvPr id="5" name="Rectangle 18"/>
          <p:cNvSpPr>
            <a:spLocks noChangeArrowheads="1"/>
          </p:cNvSpPr>
          <p:nvPr/>
        </p:nvSpPr>
        <p:spPr bwMode="auto">
          <a:xfrm>
            <a:off x="227770" y="2548229"/>
            <a:ext cx="6400800" cy="708660"/>
          </a:xfrm>
          <a:prstGeom prst="rect">
            <a:avLst/>
          </a:prstGeom>
          <a:noFill/>
          <a:ln w="9525" algn="ctr">
            <a:solidFill>
              <a:schemeClr val="bg2"/>
            </a:solidFill>
            <a:miter lim="800000"/>
            <a:headEnd/>
            <a:tailEnd/>
          </a:ln>
          <a:effectLst/>
        </p:spPr>
        <p:txBody>
          <a:bodyPr/>
          <a:lstStyle/>
          <a:p>
            <a:r>
              <a:rPr lang="es-ES" sz="1100" dirty="0"/>
              <a:t>En las operaciones de compra de certificados de depósito, se han de elaborar unas cartas, cuya elaboración se hace manualmente.</a:t>
            </a:r>
          </a:p>
        </p:txBody>
      </p:sp>
      <p:sp>
        <p:nvSpPr>
          <p:cNvPr id="6" name="Rectangle 29"/>
          <p:cNvSpPr>
            <a:spLocks noChangeArrowheads="1"/>
          </p:cNvSpPr>
          <p:nvPr/>
        </p:nvSpPr>
        <p:spPr bwMode="auto">
          <a:xfrm>
            <a:off x="128835" y="679949"/>
            <a:ext cx="8961120" cy="2651760"/>
          </a:xfrm>
          <a:prstGeom prst="rect">
            <a:avLst/>
          </a:prstGeom>
          <a:noFill/>
          <a:ln w="19050" cap="rnd" algn="ctr">
            <a:solidFill>
              <a:schemeClr val="bg2"/>
            </a:solidFill>
            <a:prstDash val="sysDot"/>
            <a:miter lim="800000"/>
            <a:headEnd/>
            <a:tailEnd/>
          </a:ln>
          <a:effectLst/>
        </p:spPr>
        <p:txBody>
          <a:bodyPr wrap="none" anchor="ctr"/>
          <a:lstStyle/>
          <a:p>
            <a:endParaRPr lang="en-US">
              <a:solidFill>
                <a:srgbClr val="002060"/>
              </a:solidFill>
            </a:endParaRPr>
          </a:p>
        </p:txBody>
      </p:sp>
      <p:sp>
        <p:nvSpPr>
          <p:cNvPr id="8" name="Rounded Rectangle 7"/>
          <p:cNvSpPr/>
          <p:nvPr/>
        </p:nvSpPr>
        <p:spPr>
          <a:xfrm>
            <a:off x="652842" y="764704"/>
            <a:ext cx="8352000" cy="274320"/>
          </a:xfrm>
          <a:prstGeom prst="roundRect">
            <a:avLst/>
          </a:prstGeom>
          <a:solidFill>
            <a:srgbClr val="DB0613"/>
          </a:solidFill>
          <a:ln w="9525" algn="ctr">
            <a:noFill/>
            <a:miter lim="800000"/>
            <a:headEnd/>
            <a:tailEnd/>
          </a:ln>
          <a:effectLst/>
        </p:spPr>
        <p:txBody>
          <a:bodyPr anchor="ctr"/>
          <a:lstStyle/>
          <a:p>
            <a:pPr>
              <a:lnSpc>
                <a:spcPct val="80000"/>
              </a:lnSpc>
            </a:pPr>
            <a:r>
              <a:rPr lang="es-ES" sz="1200" b="1" dirty="0">
                <a:solidFill>
                  <a:srgbClr val="FFFFFF"/>
                </a:solidFill>
                <a:cs typeface="Arial" pitchFamily="34" charset="0"/>
              </a:rPr>
              <a:t>Falla en la elaboración de las cartas de compra de certificados</a:t>
            </a:r>
            <a:endParaRPr lang="es-CL" sz="1200" b="1" dirty="0">
              <a:solidFill>
                <a:srgbClr val="FFFFFF"/>
              </a:solidFill>
              <a:cs typeface="Arial" pitchFamily="34" charset="0"/>
            </a:endParaRPr>
          </a:p>
        </p:txBody>
      </p:sp>
      <p:sp>
        <p:nvSpPr>
          <p:cNvPr id="9" name="Rounded Rectangle 8"/>
          <p:cNvSpPr/>
          <p:nvPr/>
        </p:nvSpPr>
        <p:spPr>
          <a:xfrm>
            <a:off x="227770" y="2307916"/>
            <a:ext cx="64008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Descripción</a:t>
            </a:r>
          </a:p>
        </p:txBody>
      </p:sp>
      <p:sp>
        <p:nvSpPr>
          <p:cNvPr id="10" name="Rounded Rectangle 9"/>
          <p:cNvSpPr/>
          <p:nvPr/>
        </p:nvSpPr>
        <p:spPr>
          <a:xfrm>
            <a:off x="6716066" y="1111764"/>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Categoría  de Riesgo Nivel I</a:t>
            </a:r>
          </a:p>
        </p:txBody>
      </p:sp>
      <p:sp>
        <p:nvSpPr>
          <p:cNvPr id="11" name="Rectangle 18"/>
          <p:cNvSpPr>
            <a:spLocks noChangeArrowheads="1"/>
          </p:cNvSpPr>
          <p:nvPr/>
        </p:nvSpPr>
        <p:spPr bwMode="auto">
          <a:xfrm>
            <a:off x="6716066" y="1325572"/>
            <a:ext cx="2286000" cy="270000"/>
          </a:xfrm>
          <a:prstGeom prst="rect">
            <a:avLst/>
          </a:prstGeom>
          <a:noFill/>
          <a:ln w="9525" algn="ctr">
            <a:solidFill>
              <a:schemeClr val="bg2"/>
            </a:solidFill>
            <a:miter lim="800000"/>
            <a:headEnd/>
            <a:tailEnd/>
          </a:ln>
          <a:effectLst/>
        </p:spPr>
        <p:txBody>
          <a:bodyPr anchor="ctr"/>
          <a:lstStyle/>
          <a:p>
            <a:pPr>
              <a:lnSpc>
                <a:spcPts val="1000"/>
              </a:lnSpc>
            </a:pPr>
            <a:r>
              <a:rPr lang="es-ES" sz="1100" dirty="0"/>
              <a:t>Ejecución, entrega y gestión de procesos</a:t>
            </a:r>
          </a:p>
        </p:txBody>
      </p:sp>
      <p:sp>
        <p:nvSpPr>
          <p:cNvPr id="12" name="Rounded Rectangle 11"/>
          <p:cNvSpPr/>
          <p:nvPr/>
        </p:nvSpPr>
        <p:spPr>
          <a:xfrm>
            <a:off x="6716066" y="1664503"/>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Categoría  de Riesgo Nivel II</a:t>
            </a:r>
          </a:p>
        </p:txBody>
      </p:sp>
      <p:sp>
        <p:nvSpPr>
          <p:cNvPr id="13" name="Rectangle 18"/>
          <p:cNvSpPr>
            <a:spLocks noChangeArrowheads="1"/>
          </p:cNvSpPr>
          <p:nvPr/>
        </p:nvSpPr>
        <p:spPr bwMode="auto">
          <a:xfrm>
            <a:off x="6716066" y="1877089"/>
            <a:ext cx="2286000" cy="270000"/>
          </a:xfrm>
          <a:prstGeom prst="rect">
            <a:avLst/>
          </a:prstGeom>
          <a:noFill/>
          <a:ln w="9525" algn="ctr">
            <a:solidFill>
              <a:schemeClr val="bg2"/>
            </a:solidFill>
            <a:miter lim="800000"/>
            <a:headEnd/>
            <a:tailEnd/>
          </a:ln>
          <a:effectLst/>
        </p:spPr>
        <p:txBody>
          <a:bodyPr anchor="ctr"/>
          <a:lstStyle/>
          <a:p>
            <a:r>
              <a:rPr lang="es-ES" sz="1100" dirty="0"/>
              <a:t>Recepción, ejecución y mantenimiento de operaciones</a:t>
            </a:r>
          </a:p>
        </p:txBody>
      </p:sp>
      <p:sp>
        <p:nvSpPr>
          <p:cNvPr id="15" name="Rounded Rectangle 14"/>
          <p:cNvSpPr/>
          <p:nvPr/>
        </p:nvSpPr>
        <p:spPr>
          <a:xfrm>
            <a:off x="6716066" y="2223551"/>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Categoría  de Riesgo Nivel III</a:t>
            </a:r>
          </a:p>
        </p:txBody>
      </p:sp>
      <p:sp>
        <p:nvSpPr>
          <p:cNvPr id="16" name="Rectangle 18"/>
          <p:cNvSpPr>
            <a:spLocks noChangeArrowheads="1"/>
          </p:cNvSpPr>
          <p:nvPr/>
        </p:nvSpPr>
        <p:spPr bwMode="auto">
          <a:xfrm>
            <a:off x="6716066" y="2434321"/>
            <a:ext cx="2286000" cy="270000"/>
          </a:xfrm>
          <a:prstGeom prst="rect">
            <a:avLst/>
          </a:prstGeom>
          <a:noFill/>
          <a:ln w="9525" algn="ctr">
            <a:solidFill>
              <a:schemeClr val="bg2"/>
            </a:solidFill>
            <a:miter lim="800000"/>
            <a:headEnd/>
            <a:tailEnd/>
          </a:ln>
          <a:effectLst/>
        </p:spPr>
        <p:txBody>
          <a:bodyPr anchor="ctr"/>
          <a:lstStyle/>
          <a:p>
            <a:r>
              <a:rPr lang="es-ES" sz="1100" dirty="0"/>
              <a:t>Incorrecta ejecución de tareas / obligaciones</a:t>
            </a:r>
          </a:p>
        </p:txBody>
      </p:sp>
      <p:sp>
        <p:nvSpPr>
          <p:cNvPr id="17" name="Rounded Rectangle 16"/>
          <p:cNvSpPr/>
          <p:nvPr/>
        </p:nvSpPr>
        <p:spPr>
          <a:xfrm>
            <a:off x="216583" y="1110038"/>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Macroproceso</a:t>
            </a:r>
          </a:p>
        </p:txBody>
      </p:sp>
      <p:sp>
        <p:nvSpPr>
          <p:cNvPr id="18" name="Rectangle 18"/>
          <p:cNvSpPr>
            <a:spLocks noChangeArrowheads="1"/>
          </p:cNvSpPr>
          <p:nvPr/>
        </p:nvSpPr>
        <p:spPr bwMode="auto">
          <a:xfrm>
            <a:off x="2568409" y="1110038"/>
            <a:ext cx="3877200" cy="182880"/>
          </a:xfrm>
          <a:prstGeom prst="rect">
            <a:avLst/>
          </a:prstGeom>
          <a:noFill/>
          <a:ln w="9525" algn="ctr">
            <a:solidFill>
              <a:schemeClr val="bg2"/>
            </a:solidFill>
            <a:miter lim="800000"/>
            <a:headEnd/>
            <a:tailEnd/>
          </a:ln>
          <a:effectLst/>
        </p:spPr>
        <p:txBody>
          <a:bodyPr anchor="ctr"/>
          <a:lstStyle/>
          <a:p>
            <a:r>
              <a:rPr lang="es-ES" sz="1100" dirty="0"/>
              <a:t>Administración de Portafolio de Inversiones</a:t>
            </a:r>
          </a:p>
        </p:txBody>
      </p:sp>
      <p:sp>
        <p:nvSpPr>
          <p:cNvPr id="19" name="Rounded Rectangle 18"/>
          <p:cNvSpPr/>
          <p:nvPr/>
        </p:nvSpPr>
        <p:spPr>
          <a:xfrm>
            <a:off x="216583" y="1339045"/>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Proceso</a:t>
            </a:r>
          </a:p>
        </p:txBody>
      </p:sp>
      <p:sp>
        <p:nvSpPr>
          <p:cNvPr id="20" name="Rectangle 18"/>
          <p:cNvSpPr>
            <a:spLocks noChangeArrowheads="1"/>
          </p:cNvSpPr>
          <p:nvPr/>
        </p:nvSpPr>
        <p:spPr bwMode="auto">
          <a:xfrm>
            <a:off x="2568409" y="1339045"/>
            <a:ext cx="3877200" cy="182880"/>
          </a:xfrm>
          <a:prstGeom prst="rect">
            <a:avLst/>
          </a:prstGeom>
          <a:noFill/>
          <a:ln w="9525" algn="ctr">
            <a:solidFill>
              <a:schemeClr val="bg2"/>
            </a:solidFill>
            <a:miter lim="800000"/>
            <a:headEnd/>
            <a:tailEnd/>
          </a:ln>
          <a:effectLst/>
        </p:spPr>
        <p:txBody>
          <a:bodyPr anchor="ctr"/>
          <a:lstStyle/>
          <a:p>
            <a:r>
              <a:rPr lang="es-ES" sz="1100" dirty="0"/>
              <a:t>Administración de fondos</a:t>
            </a:r>
          </a:p>
        </p:txBody>
      </p:sp>
      <p:sp>
        <p:nvSpPr>
          <p:cNvPr id="59" name="Rounded Rectangle 58"/>
          <p:cNvSpPr/>
          <p:nvPr/>
        </p:nvSpPr>
        <p:spPr>
          <a:xfrm>
            <a:off x="216583" y="1579694"/>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Subproceso</a:t>
            </a:r>
          </a:p>
        </p:txBody>
      </p:sp>
      <p:sp>
        <p:nvSpPr>
          <p:cNvPr id="60" name="Rectangle 18"/>
          <p:cNvSpPr>
            <a:spLocks noChangeArrowheads="1"/>
          </p:cNvSpPr>
          <p:nvPr/>
        </p:nvSpPr>
        <p:spPr bwMode="auto">
          <a:xfrm>
            <a:off x="2568409" y="1579694"/>
            <a:ext cx="3875799" cy="182880"/>
          </a:xfrm>
          <a:prstGeom prst="rect">
            <a:avLst/>
          </a:prstGeom>
          <a:noFill/>
          <a:ln w="9525" algn="ctr">
            <a:solidFill>
              <a:schemeClr val="bg2"/>
            </a:solidFill>
            <a:miter lim="800000"/>
            <a:headEnd/>
            <a:tailEnd/>
          </a:ln>
          <a:effectLst/>
        </p:spPr>
        <p:txBody>
          <a:bodyPr anchor="ctr"/>
          <a:lstStyle/>
          <a:p>
            <a:r>
              <a:rPr lang="es-ES" sz="1100" dirty="0"/>
              <a:t>Money </a:t>
            </a:r>
            <a:r>
              <a:rPr lang="es-ES" sz="1100" dirty="0" err="1"/>
              <a:t>Market</a:t>
            </a:r>
            <a:endParaRPr lang="es-ES" sz="1100" dirty="0"/>
          </a:p>
        </p:txBody>
      </p:sp>
      <p:sp>
        <p:nvSpPr>
          <p:cNvPr id="61" name="Rounded Rectangle 60"/>
          <p:cNvSpPr/>
          <p:nvPr/>
        </p:nvSpPr>
        <p:spPr>
          <a:xfrm>
            <a:off x="226806" y="1826440"/>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Línea de Negocio</a:t>
            </a:r>
          </a:p>
        </p:txBody>
      </p:sp>
      <p:sp>
        <p:nvSpPr>
          <p:cNvPr id="63" name="Rounded Rectangle 62"/>
          <p:cNvSpPr/>
          <p:nvPr/>
        </p:nvSpPr>
        <p:spPr>
          <a:xfrm>
            <a:off x="226806" y="2079535"/>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Responsable</a:t>
            </a:r>
          </a:p>
        </p:txBody>
      </p:sp>
      <p:sp>
        <p:nvSpPr>
          <p:cNvPr id="65" name="Rectangle 18"/>
          <p:cNvSpPr>
            <a:spLocks noChangeArrowheads="1"/>
          </p:cNvSpPr>
          <p:nvPr/>
        </p:nvSpPr>
        <p:spPr bwMode="auto">
          <a:xfrm>
            <a:off x="2568409" y="1826440"/>
            <a:ext cx="3875799" cy="182880"/>
          </a:xfrm>
          <a:prstGeom prst="rect">
            <a:avLst/>
          </a:prstGeom>
          <a:noFill/>
          <a:ln w="9525" algn="ctr">
            <a:solidFill>
              <a:schemeClr val="bg2"/>
            </a:solidFill>
            <a:miter lim="800000"/>
            <a:headEnd/>
            <a:tailEnd/>
          </a:ln>
          <a:effectLst/>
        </p:spPr>
        <p:txBody>
          <a:bodyPr anchor="ctr"/>
          <a:lstStyle/>
          <a:p>
            <a:r>
              <a:rPr lang="es-ES" sz="1100" dirty="0"/>
              <a:t>Negociación y Ventas</a:t>
            </a:r>
          </a:p>
        </p:txBody>
      </p:sp>
      <p:sp>
        <p:nvSpPr>
          <p:cNvPr id="66" name="Rectangle 18"/>
          <p:cNvSpPr>
            <a:spLocks noChangeArrowheads="1"/>
          </p:cNvSpPr>
          <p:nvPr/>
        </p:nvSpPr>
        <p:spPr bwMode="auto">
          <a:xfrm>
            <a:off x="2555776" y="2079535"/>
            <a:ext cx="3875799" cy="182880"/>
          </a:xfrm>
          <a:prstGeom prst="rect">
            <a:avLst/>
          </a:prstGeom>
          <a:noFill/>
          <a:ln w="9525" algn="ctr">
            <a:solidFill>
              <a:schemeClr val="bg2"/>
            </a:solidFill>
            <a:miter lim="800000"/>
            <a:headEnd/>
            <a:tailEnd/>
          </a:ln>
          <a:effectLst/>
        </p:spPr>
        <p:txBody>
          <a:bodyPr anchor="ctr"/>
          <a:lstStyle/>
          <a:p>
            <a:r>
              <a:rPr lang="es-ES" sz="1100" dirty="0"/>
              <a:t>Jefe de Gestión de Inversión</a:t>
            </a:r>
          </a:p>
        </p:txBody>
      </p:sp>
      <p:sp>
        <p:nvSpPr>
          <p:cNvPr id="78" name="Rounded Rectangle 14"/>
          <p:cNvSpPr/>
          <p:nvPr/>
        </p:nvSpPr>
        <p:spPr>
          <a:xfrm>
            <a:off x="6716066" y="2768330"/>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Origen del Riesgo</a:t>
            </a:r>
          </a:p>
        </p:txBody>
      </p:sp>
      <p:sp>
        <p:nvSpPr>
          <p:cNvPr id="79" name="Rectangle 18"/>
          <p:cNvSpPr>
            <a:spLocks noChangeArrowheads="1"/>
          </p:cNvSpPr>
          <p:nvPr/>
        </p:nvSpPr>
        <p:spPr bwMode="auto">
          <a:xfrm>
            <a:off x="6716066" y="2983595"/>
            <a:ext cx="2286000" cy="270000"/>
          </a:xfrm>
          <a:prstGeom prst="rect">
            <a:avLst/>
          </a:prstGeom>
          <a:noFill/>
          <a:ln w="9525" algn="ctr">
            <a:solidFill>
              <a:schemeClr val="bg2"/>
            </a:solidFill>
            <a:miter lim="800000"/>
            <a:headEnd/>
            <a:tailEnd/>
          </a:ln>
          <a:effectLst/>
        </p:spPr>
        <p:txBody>
          <a:bodyPr anchor="ctr"/>
          <a:lstStyle/>
          <a:p>
            <a:r>
              <a:rPr lang="es-ES" sz="1100" dirty="0">
                <a:solidFill>
                  <a:srgbClr val="000000"/>
                </a:solidFill>
              </a:rPr>
              <a:t>Personas </a:t>
            </a:r>
          </a:p>
        </p:txBody>
      </p:sp>
      <p:sp>
        <p:nvSpPr>
          <p:cNvPr id="64" name="Rectangle 18"/>
          <p:cNvSpPr>
            <a:spLocks noChangeArrowheads="1"/>
          </p:cNvSpPr>
          <p:nvPr/>
        </p:nvSpPr>
        <p:spPr bwMode="auto">
          <a:xfrm>
            <a:off x="6716066" y="2983595"/>
            <a:ext cx="2286000" cy="270000"/>
          </a:xfrm>
          <a:prstGeom prst="rect">
            <a:avLst/>
          </a:prstGeom>
          <a:noFill/>
          <a:ln w="9525" algn="ctr">
            <a:solidFill>
              <a:schemeClr val="bg2"/>
            </a:solidFill>
            <a:miter lim="800000"/>
            <a:headEnd/>
            <a:tailEnd/>
          </a:ln>
          <a:effectLst/>
        </p:spPr>
        <p:txBody>
          <a:bodyPr anchor="ctr"/>
          <a:lstStyle/>
          <a:p>
            <a:r>
              <a:rPr lang="es-ES" sz="1100" dirty="0">
                <a:solidFill>
                  <a:srgbClr val="000000"/>
                </a:solidFill>
              </a:rPr>
              <a:t>Personas</a:t>
            </a:r>
          </a:p>
        </p:txBody>
      </p:sp>
      <p:sp>
        <p:nvSpPr>
          <p:cNvPr id="197" name="AutoShape 179"/>
          <p:cNvSpPr>
            <a:spLocks noChangeArrowheads="1"/>
          </p:cNvSpPr>
          <p:nvPr/>
        </p:nvSpPr>
        <p:spPr bwMode="auto">
          <a:xfrm>
            <a:off x="611560" y="3482416"/>
            <a:ext cx="3960812" cy="1275707"/>
          </a:xfrm>
          <a:prstGeom prst="roundRect">
            <a:avLst>
              <a:gd name="adj" fmla="val 9481"/>
            </a:avLst>
          </a:prstGeom>
          <a:solidFill>
            <a:schemeClr val="accent1">
              <a:lumMod val="20000"/>
              <a:lumOff val="80000"/>
            </a:schemeClr>
          </a:solidFill>
          <a:ln w="9525" algn="ctr">
            <a:noFill/>
            <a:round/>
            <a:headEnd/>
            <a:tailEnd/>
          </a:ln>
          <a:effectLst/>
        </p:spPr>
        <p:txBody>
          <a:bodyPr wrap="none" anchor="ctr"/>
          <a:lstStyle/>
          <a:p>
            <a:endParaRPr lang="es-CL">
              <a:solidFill>
                <a:srgbClr val="002060"/>
              </a:solidFill>
            </a:endParaRPr>
          </a:p>
        </p:txBody>
      </p:sp>
      <p:sp>
        <p:nvSpPr>
          <p:cNvPr id="198" name="Text Box 30"/>
          <p:cNvSpPr txBox="1">
            <a:spLocks noChangeArrowheads="1"/>
          </p:cNvSpPr>
          <p:nvPr/>
        </p:nvSpPr>
        <p:spPr bwMode="auto">
          <a:xfrm>
            <a:off x="190747" y="3259373"/>
            <a:ext cx="3671888" cy="276999"/>
          </a:xfrm>
          <a:prstGeom prst="rect">
            <a:avLst/>
          </a:prstGeom>
          <a:noFill/>
          <a:ln w="9525" algn="ctr">
            <a:noFill/>
            <a:miter lim="800000"/>
            <a:headEnd/>
            <a:tailEnd/>
          </a:ln>
          <a:effectLst/>
        </p:spPr>
        <p:txBody>
          <a:bodyPr>
            <a:spAutoFit/>
          </a:bodyPr>
          <a:lstStyle/>
          <a:p>
            <a:pPr>
              <a:spcBef>
                <a:spcPct val="50000"/>
              </a:spcBef>
            </a:pPr>
            <a:r>
              <a:rPr lang="es-CL" sz="1200" b="1" i="1" dirty="0">
                <a:solidFill>
                  <a:srgbClr val="A3A3E0"/>
                </a:solidFill>
              </a:rPr>
              <a:t>Resultados valoración de riesgos</a:t>
            </a:r>
            <a:endParaRPr lang="es-ES" sz="1200" b="1" i="1" dirty="0">
              <a:solidFill>
                <a:srgbClr val="A3A3E0"/>
              </a:solidFill>
            </a:endParaRPr>
          </a:p>
        </p:txBody>
      </p:sp>
      <p:sp>
        <p:nvSpPr>
          <p:cNvPr id="199" name="Rounded Rectangle 198"/>
          <p:cNvSpPr/>
          <p:nvPr/>
        </p:nvSpPr>
        <p:spPr>
          <a:xfrm>
            <a:off x="902959" y="4255955"/>
            <a:ext cx="1920240" cy="170094"/>
          </a:xfrm>
          <a:prstGeom prst="roundRect">
            <a:avLst/>
          </a:prstGeom>
          <a:solidFill>
            <a:srgbClr val="DB0613"/>
          </a:solidFill>
          <a:ln w="9525" algn="ctr">
            <a:noFill/>
            <a:miter lim="800000"/>
            <a:headEnd/>
            <a:tailEnd/>
          </a:ln>
          <a:effectLst/>
        </p:spPr>
        <p:txBody>
          <a:bodyPr tIns="91440" anchor="ctr"/>
          <a:lstStyle/>
          <a:p>
            <a:pPr>
              <a:lnSpc>
                <a:spcPct val="80000"/>
              </a:lnSpc>
            </a:pPr>
            <a:r>
              <a:rPr lang="es-CL" sz="1100" b="1" dirty="0">
                <a:solidFill>
                  <a:srgbClr val="FFFFFF"/>
                </a:solidFill>
                <a:cs typeface="Arial" pitchFamily="34" charset="0"/>
              </a:rPr>
              <a:t>Pérdida Esperada Anual</a:t>
            </a:r>
          </a:p>
        </p:txBody>
      </p:sp>
      <p:sp>
        <p:nvSpPr>
          <p:cNvPr id="200" name="Rectangle 18"/>
          <p:cNvSpPr>
            <a:spLocks noChangeArrowheads="1"/>
          </p:cNvSpPr>
          <p:nvPr/>
        </p:nvSpPr>
        <p:spPr bwMode="auto">
          <a:xfrm>
            <a:off x="2859920" y="4255955"/>
            <a:ext cx="1554480" cy="170094"/>
          </a:xfrm>
          <a:prstGeom prst="rect">
            <a:avLst/>
          </a:prstGeom>
          <a:solidFill>
            <a:schemeClr val="bg1"/>
          </a:solidFill>
          <a:ln w="9525" algn="ctr">
            <a:solidFill>
              <a:schemeClr val="bg2"/>
            </a:solidFill>
            <a:miter lim="800000"/>
            <a:headEnd/>
            <a:tailEnd/>
          </a:ln>
          <a:effectLst/>
        </p:spPr>
        <p:txBody>
          <a:bodyPr anchor="ctr"/>
          <a:lstStyle/>
          <a:p>
            <a:pPr algn="ctr"/>
            <a:r>
              <a:rPr lang="es-ES" sz="1100" dirty="0">
                <a:solidFill>
                  <a:srgbClr val="000000"/>
                </a:solidFill>
              </a:rPr>
              <a:t>S/. 32</a:t>
            </a:r>
            <a:r>
              <a:rPr lang="es-ES" sz="1100" dirty="0"/>
              <a:t>0 .00</a:t>
            </a:r>
            <a:endParaRPr lang="es-ES" sz="1100" dirty="0">
              <a:solidFill>
                <a:srgbClr val="000000"/>
              </a:solidFill>
            </a:endParaRPr>
          </a:p>
        </p:txBody>
      </p:sp>
      <p:sp>
        <p:nvSpPr>
          <p:cNvPr id="201" name="Rounded Rectangle 200"/>
          <p:cNvSpPr/>
          <p:nvPr/>
        </p:nvSpPr>
        <p:spPr>
          <a:xfrm>
            <a:off x="902959" y="4485567"/>
            <a:ext cx="1920240" cy="170094"/>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VaR Cualitativo Anual</a:t>
            </a:r>
          </a:p>
        </p:txBody>
      </p:sp>
      <p:sp>
        <p:nvSpPr>
          <p:cNvPr id="202" name="Rectangle 18"/>
          <p:cNvSpPr>
            <a:spLocks noChangeArrowheads="1"/>
          </p:cNvSpPr>
          <p:nvPr/>
        </p:nvSpPr>
        <p:spPr bwMode="auto">
          <a:xfrm>
            <a:off x="2859920" y="4485567"/>
            <a:ext cx="1554480" cy="170094"/>
          </a:xfrm>
          <a:prstGeom prst="rect">
            <a:avLst/>
          </a:prstGeom>
          <a:solidFill>
            <a:schemeClr val="bg1"/>
          </a:solidFill>
          <a:ln w="9525" algn="ctr">
            <a:solidFill>
              <a:schemeClr val="bg2"/>
            </a:solidFill>
            <a:miter lim="800000"/>
            <a:headEnd/>
            <a:tailEnd/>
          </a:ln>
          <a:effectLst/>
        </p:spPr>
        <p:txBody>
          <a:bodyPr anchor="ctr"/>
          <a:lstStyle/>
          <a:p>
            <a:pPr algn="ctr"/>
            <a:r>
              <a:rPr lang="es-ES" sz="1100" dirty="0">
                <a:solidFill>
                  <a:srgbClr val="000000"/>
                </a:solidFill>
              </a:rPr>
              <a:t>S/.</a:t>
            </a:r>
            <a:r>
              <a:rPr lang="es-ES" sz="1100" dirty="0"/>
              <a:t> 3,072.27 </a:t>
            </a:r>
            <a:endParaRPr lang="es-ES" sz="1100" dirty="0">
              <a:solidFill>
                <a:srgbClr val="000000"/>
              </a:solidFill>
            </a:endParaRPr>
          </a:p>
        </p:txBody>
      </p:sp>
      <p:sp>
        <p:nvSpPr>
          <p:cNvPr id="203" name="Rounded Rectangle 202"/>
          <p:cNvSpPr/>
          <p:nvPr/>
        </p:nvSpPr>
        <p:spPr>
          <a:xfrm>
            <a:off x="891084" y="3553916"/>
            <a:ext cx="1920240" cy="170094"/>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Frecuencia  Evento Pérdida</a:t>
            </a:r>
          </a:p>
        </p:txBody>
      </p:sp>
      <p:sp>
        <p:nvSpPr>
          <p:cNvPr id="204" name="Rectangle 18"/>
          <p:cNvSpPr>
            <a:spLocks noChangeArrowheads="1"/>
          </p:cNvSpPr>
          <p:nvPr/>
        </p:nvSpPr>
        <p:spPr bwMode="auto">
          <a:xfrm>
            <a:off x="2859920" y="3553916"/>
            <a:ext cx="1554480" cy="170094"/>
          </a:xfrm>
          <a:prstGeom prst="rect">
            <a:avLst/>
          </a:prstGeom>
          <a:solidFill>
            <a:schemeClr val="bg1"/>
          </a:solidFill>
          <a:ln w="9525" algn="ctr">
            <a:solidFill>
              <a:schemeClr val="bg2"/>
            </a:solidFill>
            <a:miter lim="800000"/>
            <a:headEnd/>
            <a:tailEnd/>
          </a:ln>
          <a:effectLst/>
        </p:spPr>
        <p:txBody>
          <a:bodyPr anchor="ctr"/>
          <a:lstStyle/>
          <a:p>
            <a:pPr algn="ctr"/>
            <a:r>
              <a:rPr lang="es-ES" sz="1100" dirty="0">
                <a:solidFill>
                  <a:srgbClr val="000000"/>
                </a:solidFill>
              </a:rPr>
              <a:t>4 veces por 10 años</a:t>
            </a:r>
          </a:p>
        </p:txBody>
      </p:sp>
      <p:sp>
        <p:nvSpPr>
          <p:cNvPr id="205" name="Rounded Rectangle 204"/>
          <p:cNvSpPr/>
          <p:nvPr/>
        </p:nvSpPr>
        <p:spPr>
          <a:xfrm>
            <a:off x="891084" y="3783528"/>
            <a:ext cx="1920240" cy="170094"/>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Impacto Medio Evento</a:t>
            </a:r>
          </a:p>
        </p:txBody>
      </p:sp>
      <p:sp>
        <p:nvSpPr>
          <p:cNvPr id="206" name="Rectangle 18"/>
          <p:cNvSpPr>
            <a:spLocks noChangeArrowheads="1"/>
          </p:cNvSpPr>
          <p:nvPr/>
        </p:nvSpPr>
        <p:spPr bwMode="auto">
          <a:xfrm>
            <a:off x="2859920" y="3783528"/>
            <a:ext cx="1554480" cy="170094"/>
          </a:xfrm>
          <a:prstGeom prst="rect">
            <a:avLst/>
          </a:prstGeom>
          <a:solidFill>
            <a:schemeClr val="bg1"/>
          </a:solidFill>
          <a:ln w="9525" algn="ctr">
            <a:solidFill>
              <a:schemeClr val="bg2"/>
            </a:solidFill>
            <a:miter lim="800000"/>
            <a:headEnd/>
            <a:tailEnd/>
          </a:ln>
          <a:effectLst/>
        </p:spPr>
        <p:txBody>
          <a:bodyPr anchor="ctr"/>
          <a:lstStyle/>
          <a:p>
            <a:pPr algn="ctr"/>
            <a:r>
              <a:rPr lang="es-ES" sz="1100" dirty="0">
                <a:solidFill>
                  <a:srgbClr val="000000"/>
                </a:solidFill>
              </a:rPr>
              <a:t>S/.80</a:t>
            </a:r>
            <a:r>
              <a:rPr lang="es-ES" sz="1100" dirty="0"/>
              <a:t>0.00 </a:t>
            </a:r>
            <a:endParaRPr lang="es-ES" sz="1100" dirty="0">
              <a:solidFill>
                <a:srgbClr val="000000"/>
              </a:solidFill>
            </a:endParaRPr>
          </a:p>
        </p:txBody>
      </p:sp>
      <p:sp>
        <p:nvSpPr>
          <p:cNvPr id="207" name="Rounded Rectangle 206"/>
          <p:cNvSpPr/>
          <p:nvPr/>
        </p:nvSpPr>
        <p:spPr>
          <a:xfrm>
            <a:off x="891084" y="4019108"/>
            <a:ext cx="1920240" cy="170094"/>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Impacto Peor Escenario</a:t>
            </a:r>
          </a:p>
        </p:txBody>
      </p:sp>
      <p:sp>
        <p:nvSpPr>
          <p:cNvPr id="208" name="Rectangle 18"/>
          <p:cNvSpPr>
            <a:spLocks noChangeArrowheads="1"/>
          </p:cNvSpPr>
          <p:nvPr/>
        </p:nvSpPr>
        <p:spPr bwMode="auto">
          <a:xfrm>
            <a:off x="2859920" y="4019108"/>
            <a:ext cx="1554480" cy="170094"/>
          </a:xfrm>
          <a:prstGeom prst="rect">
            <a:avLst/>
          </a:prstGeom>
          <a:solidFill>
            <a:schemeClr val="bg1"/>
          </a:solidFill>
          <a:ln w="9525" algn="ctr">
            <a:solidFill>
              <a:schemeClr val="bg2"/>
            </a:solidFill>
            <a:miter lim="800000"/>
            <a:headEnd/>
            <a:tailEnd/>
          </a:ln>
          <a:effectLst/>
        </p:spPr>
        <p:txBody>
          <a:bodyPr anchor="ctr"/>
          <a:lstStyle/>
          <a:p>
            <a:pPr algn="ctr"/>
            <a:r>
              <a:rPr lang="es-ES" sz="1100" dirty="0">
                <a:solidFill>
                  <a:srgbClr val="000000"/>
                </a:solidFill>
              </a:rPr>
              <a:t>S/. 1,60</a:t>
            </a:r>
            <a:r>
              <a:rPr lang="es-ES" sz="1100" dirty="0"/>
              <a:t>0.00</a:t>
            </a:r>
            <a:endParaRPr lang="es-ES" sz="1100" dirty="0">
              <a:solidFill>
                <a:srgbClr val="000000"/>
              </a:solidFill>
            </a:endParaRPr>
          </a:p>
        </p:txBody>
      </p:sp>
      <p:sp>
        <p:nvSpPr>
          <p:cNvPr id="209" name="AutoShape 47"/>
          <p:cNvSpPr>
            <a:spLocks noChangeAspect="1" noChangeArrowheads="1"/>
          </p:cNvSpPr>
          <p:nvPr/>
        </p:nvSpPr>
        <p:spPr bwMode="blackWhite">
          <a:xfrm>
            <a:off x="263032" y="3482416"/>
            <a:ext cx="503986" cy="1274400"/>
          </a:xfrm>
          <a:prstGeom prst="rightArrow">
            <a:avLst>
              <a:gd name="adj1" fmla="val 100000"/>
              <a:gd name="adj2" fmla="val 11009"/>
            </a:avLst>
          </a:prstGeom>
          <a:solidFill>
            <a:srgbClr val="969696"/>
          </a:solidFill>
          <a:ln w="12700">
            <a:noFill/>
            <a:miter lim="800000"/>
            <a:headEnd/>
            <a:tailEnd/>
          </a:ln>
          <a:effectLst>
            <a:outerShdw dist="35921" dir="2700000" algn="ctr" rotWithShape="0">
              <a:schemeClr val="bg2"/>
            </a:outerShdw>
          </a:effectLst>
        </p:spPr>
        <p:txBody>
          <a:bodyPr vert="vert270" anchor="ctr"/>
          <a:lstStyle/>
          <a:p>
            <a:pPr algn="ctr">
              <a:lnSpc>
                <a:spcPts val="1000"/>
              </a:lnSpc>
            </a:pPr>
            <a:r>
              <a:rPr lang="es-ES" sz="1100" b="1" noProof="1">
                <a:solidFill>
                  <a:srgbClr val="FFFFFF"/>
                </a:solidFill>
                <a:cs typeface="Arial" charset="0"/>
              </a:rPr>
              <a:t>Evaluación Riesgo Operacional</a:t>
            </a:r>
          </a:p>
        </p:txBody>
      </p:sp>
      <p:sp>
        <p:nvSpPr>
          <p:cNvPr id="210" name="AutoShape 179"/>
          <p:cNvSpPr>
            <a:spLocks noChangeArrowheads="1"/>
          </p:cNvSpPr>
          <p:nvPr/>
        </p:nvSpPr>
        <p:spPr bwMode="auto">
          <a:xfrm>
            <a:off x="4932039" y="3493021"/>
            <a:ext cx="4037169" cy="864000"/>
          </a:xfrm>
          <a:prstGeom prst="roundRect">
            <a:avLst>
              <a:gd name="adj" fmla="val 9481"/>
            </a:avLst>
          </a:prstGeom>
          <a:solidFill>
            <a:schemeClr val="accent1">
              <a:lumMod val="20000"/>
              <a:lumOff val="80000"/>
            </a:schemeClr>
          </a:solidFill>
          <a:ln w="9525" algn="ctr">
            <a:noFill/>
            <a:round/>
            <a:headEnd/>
            <a:tailEnd/>
          </a:ln>
          <a:effectLst/>
        </p:spPr>
        <p:txBody>
          <a:bodyPr wrap="none" anchor="ctr"/>
          <a:lstStyle/>
          <a:p>
            <a:endParaRPr lang="es-CL">
              <a:solidFill>
                <a:srgbClr val="002060"/>
              </a:solidFill>
            </a:endParaRPr>
          </a:p>
        </p:txBody>
      </p:sp>
      <p:sp>
        <p:nvSpPr>
          <p:cNvPr id="211" name="AutoShape 47"/>
          <p:cNvSpPr>
            <a:spLocks noChangeArrowheads="1"/>
          </p:cNvSpPr>
          <p:nvPr/>
        </p:nvSpPr>
        <p:spPr bwMode="blackWhite">
          <a:xfrm>
            <a:off x="4678512" y="3494523"/>
            <a:ext cx="353942" cy="864000"/>
          </a:xfrm>
          <a:prstGeom prst="rightArrow">
            <a:avLst>
              <a:gd name="adj1" fmla="val 100000"/>
              <a:gd name="adj2" fmla="val 11009"/>
            </a:avLst>
          </a:prstGeom>
          <a:solidFill>
            <a:srgbClr val="969696"/>
          </a:solidFill>
          <a:ln w="12700">
            <a:noFill/>
            <a:miter lim="800000"/>
            <a:headEnd/>
            <a:tailEnd/>
          </a:ln>
          <a:effectLst>
            <a:outerShdw dist="35921" dir="2700000" algn="ctr" rotWithShape="0">
              <a:schemeClr val="bg2"/>
            </a:outerShdw>
          </a:effectLst>
        </p:spPr>
        <p:txBody>
          <a:bodyPr vert="vert270" anchor="ctr"/>
          <a:lstStyle/>
          <a:p>
            <a:pPr algn="ctr">
              <a:lnSpc>
                <a:spcPts val="1000"/>
              </a:lnSpc>
            </a:pPr>
            <a:r>
              <a:rPr lang="es-ES" sz="1100" b="1" noProof="1">
                <a:solidFill>
                  <a:srgbClr val="FFFFFF"/>
                </a:solidFill>
                <a:cs typeface="Arial" charset="0"/>
              </a:rPr>
              <a:t>Impacto Reputacional</a:t>
            </a:r>
          </a:p>
        </p:txBody>
      </p:sp>
      <p:sp>
        <p:nvSpPr>
          <p:cNvPr id="212" name="Rectangle 18"/>
          <p:cNvSpPr>
            <a:spLocks noChangeArrowheads="1"/>
          </p:cNvSpPr>
          <p:nvPr/>
        </p:nvSpPr>
        <p:spPr bwMode="auto">
          <a:xfrm>
            <a:off x="8334310" y="3568288"/>
            <a:ext cx="548640" cy="170094"/>
          </a:xfrm>
          <a:prstGeom prst="rect">
            <a:avLst/>
          </a:prstGeom>
          <a:solidFill>
            <a:schemeClr val="bg1"/>
          </a:solidFill>
          <a:ln w="9525" algn="ctr">
            <a:solidFill>
              <a:schemeClr val="bg2"/>
            </a:solidFill>
            <a:miter lim="800000"/>
            <a:headEnd/>
            <a:tailEnd/>
          </a:ln>
          <a:effectLst/>
        </p:spPr>
        <p:txBody>
          <a:bodyPr anchor="ctr"/>
          <a:lstStyle/>
          <a:p>
            <a:pPr algn="ctr"/>
            <a:r>
              <a:rPr lang="es-ES" sz="1100" dirty="0">
                <a:solidFill>
                  <a:srgbClr val="002060"/>
                </a:solidFill>
              </a:rPr>
              <a:t>1</a:t>
            </a:r>
          </a:p>
        </p:txBody>
      </p:sp>
      <p:sp>
        <p:nvSpPr>
          <p:cNvPr id="213" name="Rounded Rectangle 212"/>
          <p:cNvSpPr/>
          <p:nvPr/>
        </p:nvSpPr>
        <p:spPr>
          <a:xfrm>
            <a:off x="5102950" y="3568288"/>
            <a:ext cx="3132000" cy="170094"/>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Afectación a contrapartes</a:t>
            </a:r>
          </a:p>
        </p:txBody>
      </p:sp>
      <p:sp>
        <p:nvSpPr>
          <p:cNvPr id="214" name="Rectangle 18"/>
          <p:cNvSpPr>
            <a:spLocks noChangeArrowheads="1"/>
          </p:cNvSpPr>
          <p:nvPr/>
        </p:nvSpPr>
        <p:spPr bwMode="auto">
          <a:xfrm>
            <a:off x="5102950" y="3786445"/>
            <a:ext cx="3780000" cy="469509"/>
          </a:xfrm>
          <a:prstGeom prst="rect">
            <a:avLst/>
          </a:prstGeom>
          <a:solidFill>
            <a:schemeClr val="bg1"/>
          </a:solidFill>
          <a:ln w="9525" algn="ctr">
            <a:solidFill>
              <a:schemeClr val="bg2"/>
            </a:solidFill>
            <a:miter lim="800000"/>
            <a:headEnd/>
            <a:tailEnd/>
          </a:ln>
          <a:effectLst/>
        </p:spPr>
        <p:txBody>
          <a:bodyPr anchor="ctr"/>
          <a:lstStyle/>
          <a:p>
            <a:r>
              <a:rPr lang="es-ES" sz="1100" dirty="0">
                <a:solidFill>
                  <a:srgbClr val="000000"/>
                </a:solidFill>
              </a:rPr>
              <a:t>La exposición de la imagen es únicamente interna y limitada.</a:t>
            </a:r>
          </a:p>
        </p:txBody>
      </p:sp>
      <p:sp>
        <p:nvSpPr>
          <p:cNvPr id="215" name="Text Box 30"/>
          <p:cNvSpPr txBox="1">
            <a:spLocks noChangeArrowheads="1"/>
          </p:cNvSpPr>
          <p:nvPr/>
        </p:nvSpPr>
        <p:spPr bwMode="auto">
          <a:xfrm>
            <a:off x="190746" y="4838419"/>
            <a:ext cx="3996000" cy="276999"/>
          </a:xfrm>
          <a:prstGeom prst="rect">
            <a:avLst/>
          </a:prstGeom>
          <a:noFill/>
          <a:ln w="9525" algn="ctr">
            <a:noFill/>
            <a:miter lim="800000"/>
            <a:headEnd/>
            <a:tailEnd/>
          </a:ln>
          <a:effectLst/>
        </p:spPr>
        <p:txBody>
          <a:bodyPr wrap="square">
            <a:spAutoFit/>
          </a:bodyPr>
          <a:lstStyle/>
          <a:p>
            <a:pPr>
              <a:spcBef>
                <a:spcPct val="50000"/>
              </a:spcBef>
            </a:pPr>
            <a:r>
              <a:rPr lang="es-CL" sz="1200" b="1" i="1" dirty="0">
                <a:solidFill>
                  <a:srgbClr val="A3A3E0"/>
                </a:solidFill>
              </a:rPr>
              <a:t>Resultados valoración de controles / factores mitigantes</a:t>
            </a:r>
            <a:endParaRPr lang="es-ES" sz="1200" b="1" i="1" dirty="0">
              <a:solidFill>
                <a:srgbClr val="A3A3E0"/>
              </a:solidFill>
            </a:endParaRPr>
          </a:p>
        </p:txBody>
      </p:sp>
      <p:sp>
        <p:nvSpPr>
          <p:cNvPr id="219" name="AutoShape 179"/>
          <p:cNvSpPr>
            <a:spLocks noChangeArrowheads="1"/>
          </p:cNvSpPr>
          <p:nvPr/>
        </p:nvSpPr>
        <p:spPr bwMode="auto">
          <a:xfrm>
            <a:off x="4927319" y="4397238"/>
            <a:ext cx="4037169" cy="892800"/>
          </a:xfrm>
          <a:prstGeom prst="roundRect">
            <a:avLst>
              <a:gd name="adj" fmla="val 9481"/>
            </a:avLst>
          </a:prstGeom>
          <a:solidFill>
            <a:schemeClr val="accent1">
              <a:lumMod val="20000"/>
              <a:lumOff val="80000"/>
            </a:schemeClr>
          </a:solidFill>
          <a:ln w="9525" algn="ctr">
            <a:noFill/>
            <a:round/>
            <a:headEnd/>
            <a:tailEnd/>
          </a:ln>
          <a:effectLst/>
        </p:spPr>
        <p:txBody>
          <a:bodyPr wrap="none" anchor="ctr"/>
          <a:lstStyle/>
          <a:p>
            <a:endParaRPr lang="es-CL">
              <a:solidFill>
                <a:srgbClr val="002060"/>
              </a:solidFill>
            </a:endParaRPr>
          </a:p>
        </p:txBody>
      </p:sp>
      <p:sp>
        <p:nvSpPr>
          <p:cNvPr id="220" name="AutoShape 47"/>
          <p:cNvSpPr>
            <a:spLocks noChangeArrowheads="1"/>
          </p:cNvSpPr>
          <p:nvPr/>
        </p:nvSpPr>
        <p:spPr bwMode="blackWhite">
          <a:xfrm>
            <a:off x="4673792" y="4398740"/>
            <a:ext cx="352800" cy="892800"/>
          </a:xfrm>
          <a:prstGeom prst="rightArrow">
            <a:avLst>
              <a:gd name="adj1" fmla="val 100000"/>
              <a:gd name="adj2" fmla="val 11009"/>
            </a:avLst>
          </a:prstGeom>
          <a:solidFill>
            <a:srgbClr val="969696"/>
          </a:solidFill>
          <a:ln w="12700">
            <a:noFill/>
            <a:miter lim="800000"/>
            <a:headEnd/>
            <a:tailEnd/>
          </a:ln>
          <a:effectLst>
            <a:outerShdw dist="35921" dir="2700000" algn="ctr" rotWithShape="0">
              <a:schemeClr val="bg2"/>
            </a:outerShdw>
          </a:effectLst>
        </p:spPr>
        <p:txBody>
          <a:bodyPr vert="vert270" anchor="ctr"/>
          <a:lstStyle/>
          <a:p>
            <a:pPr algn="ctr">
              <a:lnSpc>
                <a:spcPts val="1000"/>
              </a:lnSpc>
            </a:pPr>
            <a:r>
              <a:rPr lang="es-ES" sz="1100" b="1" noProof="1">
                <a:solidFill>
                  <a:srgbClr val="FFFFFF"/>
                </a:solidFill>
                <a:cs typeface="Arial" charset="0"/>
              </a:rPr>
              <a:t>Cuestionarios</a:t>
            </a:r>
          </a:p>
        </p:txBody>
      </p:sp>
      <p:sp>
        <p:nvSpPr>
          <p:cNvPr id="222" name="Rounded Rectangle 38"/>
          <p:cNvSpPr/>
          <p:nvPr/>
        </p:nvSpPr>
        <p:spPr>
          <a:xfrm>
            <a:off x="5098230" y="4472505"/>
            <a:ext cx="3132000" cy="170094"/>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Criterios de Evaluación</a:t>
            </a:r>
          </a:p>
        </p:txBody>
      </p:sp>
      <p:sp>
        <p:nvSpPr>
          <p:cNvPr id="223" name="AutoShape 179"/>
          <p:cNvSpPr>
            <a:spLocks noChangeArrowheads="1"/>
          </p:cNvSpPr>
          <p:nvPr/>
        </p:nvSpPr>
        <p:spPr bwMode="auto">
          <a:xfrm>
            <a:off x="534831" y="5060900"/>
            <a:ext cx="4037169" cy="864000"/>
          </a:xfrm>
          <a:prstGeom prst="roundRect">
            <a:avLst>
              <a:gd name="adj" fmla="val 9481"/>
            </a:avLst>
          </a:prstGeom>
          <a:solidFill>
            <a:schemeClr val="accent1">
              <a:lumMod val="20000"/>
              <a:lumOff val="80000"/>
            </a:schemeClr>
          </a:solidFill>
          <a:ln w="9525" algn="ctr">
            <a:noFill/>
            <a:round/>
            <a:headEnd/>
            <a:tailEnd/>
          </a:ln>
          <a:effectLst/>
        </p:spPr>
        <p:txBody>
          <a:bodyPr wrap="none" anchor="ctr"/>
          <a:lstStyle/>
          <a:p>
            <a:endParaRPr lang="es-CL">
              <a:solidFill>
                <a:srgbClr val="002060"/>
              </a:solidFill>
            </a:endParaRPr>
          </a:p>
        </p:txBody>
      </p:sp>
      <p:sp>
        <p:nvSpPr>
          <p:cNvPr id="224" name="AutoShape 47"/>
          <p:cNvSpPr>
            <a:spLocks noChangeArrowheads="1"/>
          </p:cNvSpPr>
          <p:nvPr/>
        </p:nvSpPr>
        <p:spPr bwMode="blackWhite">
          <a:xfrm>
            <a:off x="281304" y="5062402"/>
            <a:ext cx="353942" cy="864000"/>
          </a:xfrm>
          <a:prstGeom prst="rightArrow">
            <a:avLst>
              <a:gd name="adj1" fmla="val 100000"/>
              <a:gd name="adj2" fmla="val 11009"/>
            </a:avLst>
          </a:prstGeom>
          <a:solidFill>
            <a:srgbClr val="969696"/>
          </a:solidFill>
          <a:ln w="12700">
            <a:noFill/>
            <a:miter lim="800000"/>
            <a:headEnd/>
            <a:tailEnd/>
          </a:ln>
          <a:effectLst>
            <a:outerShdw dist="35921" dir="2700000" algn="ctr" rotWithShape="0">
              <a:schemeClr val="bg2"/>
            </a:outerShdw>
          </a:effectLst>
        </p:spPr>
        <p:txBody>
          <a:bodyPr vert="vert270" anchor="ctr"/>
          <a:lstStyle/>
          <a:p>
            <a:pPr algn="ctr">
              <a:lnSpc>
                <a:spcPts val="1000"/>
              </a:lnSpc>
            </a:pPr>
            <a:r>
              <a:rPr lang="es-ES" sz="1100" b="1" noProof="1">
                <a:solidFill>
                  <a:srgbClr val="FFFFFF"/>
                </a:solidFill>
                <a:cs typeface="Arial" charset="0"/>
              </a:rPr>
              <a:t>Evaluación de Controles</a:t>
            </a:r>
          </a:p>
        </p:txBody>
      </p:sp>
      <p:sp>
        <p:nvSpPr>
          <p:cNvPr id="225" name="Rectangle 18"/>
          <p:cNvSpPr>
            <a:spLocks noChangeArrowheads="1"/>
          </p:cNvSpPr>
          <p:nvPr/>
        </p:nvSpPr>
        <p:spPr bwMode="auto">
          <a:xfrm>
            <a:off x="3937102" y="5136167"/>
            <a:ext cx="548640" cy="170094"/>
          </a:xfrm>
          <a:prstGeom prst="rect">
            <a:avLst/>
          </a:prstGeom>
          <a:solidFill>
            <a:schemeClr val="bg1"/>
          </a:solidFill>
          <a:ln w="9525" algn="ctr">
            <a:solidFill>
              <a:schemeClr val="bg2"/>
            </a:solidFill>
            <a:miter lim="800000"/>
            <a:headEnd/>
            <a:tailEnd/>
          </a:ln>
          <a:effectLst/>
        </p:spPr>
        <p:txBody>
          <a:bodyPr anchor="ctr"/>
          <a:lstStyle/>
          <a:p>
            <a:pPr algn="ctr"/>
            <a:r>
              <a:rPr lang="es-ES" sz="1100" dirty="0">
                <a:solidFill>
                  <a:srgbClr val="002060"/>
                </a:solidFill>
              </a:rPr>
              <a:t>1</a:t>
            </a:r>
          </a:p>
        </p:txBody>
      </p:sp>
      <p:sp>
        <p:nvSpPr>
          <p:cNvPr id="226" name="Rounded Rectangle 38"/>
          <p:cNvSpPr/>
          <p:nvPr/>
        </p:nvSpPr>
        <p:spPr>
          <a:xfrm>
            <a:off x="705742" y="5136167"/>
            <a:ext cx="3132000" cy="170094"/>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Controles asociados al riesgo</a:t>
            </a:r>
          </a:p>
        </p:txBody>
      </p:sp>
      <p:sp>
        <p:nvSpPr>
          <p:cNvPr id="227" name="Rectangle 18"/>
          <p:cNvSpPr>
            <a:spLocks noChangeArrowheads="1"/>
          </p:cNvSpPr>
          <p:nvPr/>
        </p:nvSpPr>
        <p:spPr bwMode="auto">
          <a:xfrm>
            <a:off x="5102950" y="4685678"/>
            <a:ext cx="3780000" cy="469509"/>
          </a:xfrm>
          <a:prstGeom prst="rect">
            <a:avLst/>
          </a:prstGeom>
          <a:solidFill>
            <a:schemeClr val="bg1"/>
          </a:solidFill>
          <a:ln w="9525" algn="ctr">
            <a:solidFill>
              <a:schemeClr val="bg2"/>
            </a:solidFill>
            <a:miter lim="800000"/>
            <a:headEnd/>
            <a:tailEnd/>
          </a:ln>
          <a:effectLst/>
        </p:spPr>
        <p:txBody>
          <a:bodyPr anchor="ctr"/>
          <a:lstStyle/>
          <a:p>
            <a:r>
              <a:rPr lang="es-ES" sz="1050" dirty="0"/>
              <a:t>La valoración del riesgo se ha basado en el promedio de intereses que se podrían dejar de ganar a diario, es decir, s./ 800.</a:t>
            </a:r>
          </a:p>
        </p:txBody>
      </p:sp>
      <p:sp>
        <p:nvSpPr>
          <p:cNvPr id="228" name="Rectangle 18"/>
          <p:cNvSpPr>
            <a:spLocks noChangeArrowheads="1"/>
          </p:cNvSpPr>
          <p:nvPr/>
        </p:nvSpPr>
        <p:spPr bwMode="auto">
          <a:xfrm>
            <a:off x="705742" y="5357175"/>
            <a:ext cx="3780000" cy="469509"/>
          </a:xfrm>
          <a:prstGeom prst="rect">
            <a:avLst/>
          </a:prstGeom>
          <a:solidFill>
            <a:schemeClr val="bg1"/>
          </a:solidFill>
          <a:ln w="9525" algn="ctr">
            <a:solidFill>
              <a:schemeClr val="bg2"/>
            </a:solidFill>
            <a:miter lim="800000"/>
            <a:headEnd/>
            <a:tailEnd/>
          </a:ln>
          <a:effectLst/>
        </p:spPr>
        <p:txBody>
          <a:bodyPr anchor="ctr"/>
          <a:lstStyle/>
          <a:p>
            <a:r>
              <a:rPr lang="es-ES" sz="1100" dirty="0">
                <a:solidFill>
                  <a:srgbClr val="000000"/>
                </a:solidFill>
              </a:rPr>
              <a:t>Revisión de los datos generados en la operativa por parte del Jefe de gestión de Inversión</a:t>
            </a:r>
          </a:p>
        </p:txBody>
      </p:sp>
    </p:spTree>
    <p:extLst>
      <p:ext uri="{BB962C8B-B14F-4D97-AF65-F5344CB8AC3E}">
        <p14:creationId xmlns:p14="http://schemas.microsoft.com/office/powerpoint/2010/main" val="2764595445"/>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dirty="0"/>
              <a:t>Anexo: Ficha Individual Riesgos Operacionales</a:t>
            </a:r>
          </a:p>
        </p:txBody>
      </p:sp>
      <p:sp>
        <p:nvSpPr>
          <p:cNvPr id="4" name="Rounded Rectangle 3"/>
          <p:cNvSpPr/>
          <p:nvPr/>
        </p:nvSpPr>
        <p:spPr>
          <a:xfrm>
            <a:off x="227770" y="764704"/>
            <a:ext cx="383790" cy="274320"/>
          </a:xfrm>
          <a:prstGeom prst="roundRect">
            <a:avLst/>
          </a:prstGeom>
          <a:solidFill>
            <a:srgbClr val="DB0613"/>
          </a:solidFill>
          <a:ln w="9525" algn="ctr">
            <a:noFill/>
            <a:miter lim="800000"/>
            <a:headEnd/>
            <a:tailEnd/>
          </a:ln>
          <a:effectLst/>
        </p:spPr>
        <p:txBody>
          <a:bodyPr anchor="ctr"/>
          <a:lstStyle/>
          <a:p>
            <a:pPr algn="ctr">
              <a:lnSpc>
                <a:spcPct val="80000"/>
              </a:lnSpc>
            </a:pPr>
            <a:r>
              <a:rPr lang="es-CL" sz="1200" b="1">
                <a:solidFill>
                  <a:srgbClr val="FFFFFF"/>
                </a:solidFill>
                <a:cs typeface="Arial" pitchFamily="34" charset="0"/>
              </a:rPr>
              <a:t>43</a:t>
            </a:r>
            <a:endParaRPr lang="es-CL" sz="1200" b="1" dirty="0">
              <a:solidFill>
                <a:srgbClr val="FFFFFF"/>
              </a:solidFill>
              <a:cs typeface="Arial" pitchFamily="34" charset="0"/>
            </a:endParaRPr>
          </a:p>
        </p:txBody>
      </p:sp>
      <p:sp>
        <p:nvSpPr>
          <p:cNvPr id="5" name="Rectangle 18"/>
          <p:cNvSpPr>
            <a:spLocks noChangeArrowheads="1"/>
          </p:cNvSpPr>
          <p:nvPr/>
        </p:nvSpPr>
        <p:spPr bwMode="auto">
          <a:xfrm>
            <a:off x="227770" y="2548229"/>
            <a:ext cx="6400800" cy="708660"/>
          </a:xfrm>
          <a:prstGeom prst="rect">
            <a:avLst/>
          </a:prstGeom>
          <a:noFill/>
          <a:ln w="9525" algn="ctr">
            <a:solidFill>
              <a:schemeClr val="bg2"/>
            </a:solidFill>
            <a:miter lim="800000"/>
            <a:headEnd/>
            <a:tailEnd/>
          </a:ln>
          <a:effectLst/>
        </p:spPr>
        <p:txBody>
          <a:bodyPr/>
          <a:lstStyle/>
          <a:p>
            <a:r>
              <a:rPr lang="es-ES" sz="1100" dirty="0"/>
              <a:t>Para la ejecución de las operaciones se necesita la autorización de 2 de los 4 apoderados B que la entidad tiene designados; en varias ocasiones las operaciones han tenido que retrasarse porque la firma no tenía el mismo aspecto que el banco tenía registrado.</a:t>
            </a:r>
          </a:p>
        </p:txBody>
      </p:sp>
      <p:sp>
        <p:nvSpPr>
          <p:cNvPr id="8" name="Rounded Rectangle 7"/>
          <p:cNvSpPr/>
          <p:nvPr/>
        </p:nvSpPr>
        <p:spPr>
          <a:xfrm>
            <a:off x="652842" y="764704"/>
            <a:ext cx="8352000" cy="274320"/>
          </a:xfrm>
          <a:prstGeom prst="roundRect">
            <a:avLst/>
          </a:prstGeom>
          <a:solidFill>
            <a:srgbClr val="DB0613"/>
          </a:solidFill>
          <a:ln w="9525" algn="ctr">
            <a:noFill/>
            <a:miter lim="800000"/>
            <a:headEnd/>
            <a:tailEnd/>
          </a:ln>
          <a:effectLst/>
        </p:spPr>
        <p:txBody>
          <a:bodyPr anchor="ctr"/>
          <a:lstStyle/>
          <a:p>
            <a:pPr>
              <a:lnSpc>
                <a:spcPct val="80000"/>
              </a:lnSpc>
            </a:pPr>
            <a:r>
              <a:rPr lang="es-ES" sz="1200" b="1" dirty="0">
                <a:solidFill>
                  <a:srgbClr val="FFFFFF"/>
                </a:solidFill>
                <a:cs typeface="Arial" pitchFamily="34" charset="0"/>
              </a:rPr>
              <a:t>Falta o falla en la firma de unos de los Apoderados B.</a:t>
            </a:r>
            <a:endParaRPr lang="es-CL" sz="1200" b="1" dirty="0">
              <a:solidFill>
                <a:srgbClr val="FFFFFF"/>
              </a:solidFill>
              <a:cs typeface="Arial" pitchFamily="34" charset="0"/>
            </a:endParaRPr>
          </a:p>
        </p:txBody>
      </p:sp>
      <p:sp>
        <p:nvSpPr>
          <p:cNvPr id="9" name="Rounded Rectangle 8"/>
          <p:cNvSpPr/>
          <p:nvPr/>
        </p:nvSpPr>
        <p:spPr>
          <a:xfrm>
            <a:off x="227770" y="2307916"/>
            <a:ext cx="64008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Descripción</a:t>
            </a:r>
          </a:p>
        </p:txBody>
      </p:sp>
      <p:sp>
        <p:nvSpPr>
          <p:cNvPr id="10" name="Rounded Rectangle 9"/>
          <p:cNvSpPr/>
          <p:nvPr/>
        </p:nvSpPr>
        <p:spPr>
          <a:xfrm>
            <a:off x="6716066" y="1111764"/>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Categoría  de Riesgo Nivel I</a:t>
            </a:r>
          </a:p>
        </p:txBody>
      </p:sp>
      <p:sp>
        <p:nvSpPr>
          <p:cNvPr id="11" name="Rectangle 18"/>
          <p:cNvSpPr>
            <a:spLocks noChangeArrowheads="1"/>
          </p:cNvSpPr>
          <p:nvPr/>
        </p:nvSpPr>
        <p:spPr bwMode="auto">
          <a:xfrm>
            <a:off x="6716066" y="1325572"/>
            <a:ext cx="2286000" cy="270000"/>
          </a:xfrm>
          <a:prstGeom prst="rect">
            <a:avLst/>
          </a:prstGeom>
          <a:noFill/>
          <a:ln w="9525" algn="ctr">
            <a:solidFill>
              <a:schemeClr val="bg2"/>
            </a:solidFill>
            <a:miter lim="800000"/>
            <a:headEnd/>
            <a:tailEnd/>
          </a:ln>
          <a:effectLst/>
        </p:spPr>
        <p:txBody>
          <a:bodyPr anchor="ctr"/>
          <a:lstStyle/>
          <a:p>
            <a:pPr>
              <a:lnSpc>
                <a:spcPts val="1000"/>
              </a:lnSpc>
            </a:pPr>
            <a:r>
              <a:rPr lang="es-ES" sz="1100" dirty="0"/>
              <a:t>Ejecución, entrega y gestión de procesos</a:t>
            </a:r>
          </a:p>
        </p:txBody>
      </p:sp>
      <p:sp>
        <p:nvSpPr>
          <p:cNvPr id="12" name="Rounded Rectangle 11"/>
          <p:cNvSpPr/>
          <p:nvPr/>
        </p:nvSpPr>
        <p:spPr>
          <a:xfrm>
            <a:off x="6716066" y="1664503"/>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Categoría  de Riesgo Nivel II</a:t>
            </a:r>
          </a:p>
        </p:txBody>
      </p:sp>
      <p:sp>
        <p:nvSpPr>
          <p:cNvPr id="13" name="Rectangle 18"/>
          <p:cNvSpPr>
            <a:spLocks noChangeArrowheads="1"/>
          </p:cNvSpPr>
          <p:nvPr/>
        </p:nvSpPr>
        <p:spPr bwMode="auto">
          <a:xfrm>
            <a:off x="6716066" y="1877089"/>
            <a:ext cx="2286000" cy="270000"/>
          </a:xfrm>
          <a:prstGeom prst="rect">
            <a:avLst/>
          </a:prstGeom>
          <a:noFill/>
          <a:ln w="9525" algn="ctr">
            <a:solidFill>
              <a:schemeClr val="bg2"/>
            </a:solidFill>
            <a:miter lim="800000"/>
            <a:headEnd/>
            <a:tailEnd/>
          </a:ln>
          <a:effectLst/>
        </p:spPr>
        <p:txBody>
          <a:bodyPr anchor="ctr"/>
          <a:lstStyle/>
          <a:p>
            <a:r>
              <a:rPr lang="es-ES" sz="1100" dirty="0"/>
              <a:t>Admisión de clientes y documentación</a:t>
            </a:r>
          </a:p>
        </p:txBody>
      </p:sp>
      <p:sp>
        <p:nvSpPr>
          <p:cNvPr id="15" name="Rounded Rectangle 14"/>
          <p:cNvSpPr/>
          <p:nvPr/>
        </p:nvSpPr>
        <p:spPr>
          <a:xfrm>
            <a:off x="6716066" y="2223551"/>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Categoría  de Riesgo Nivel III</a:t>
            </a:r>
          </a:p>
        </p:txBody>
      </p:sp>
      <p:sp>
        <p:nvSpPr>
          <p:cNvPr id="16" name="Rectangle 18"/>
          <p:cNvSpPr>
            <a:spLocks noChangeArrowheads="1"/>
          </p:cNvSpPr>
          <p:nvPr/>
        </p:nvSpPr>
        <p:spPr bwMode="auto">
          <a:xfrm>
            <a:off x="6716066" y="2434321"/>
            <a:ext cx="2286000" cy="270000"/>
          </a:xfrm>
          <a:prstGeom prst="rect">
            <a:avLst/>
          </a:prstGeom>
          <a:noFill/>
          <a:ln w="9525" algn="ctr">
            <a:solidFill>
              <a:schemeClr val="bg2"/>
            </a:solidFill>
            <a:miter lim="800000"/>
            <a:headEnd/>
            <a:tailEnd/>
          </a:ln>
          <a:effectLst/>
        </p:spPr>
        <p:txBody>
          <a:bodyPr anchor="ctr"/>
          <a:lstStyle/>
          <a:p>
            <a:r>
              <a:rPr lang="es-ES" sz="1100" dirty="0"/>
              <a:t>Documentos jurídicos incompletos o errores en los documentos</a:t>
            </a:r>
          </a:p>
        </p:txBody>
      </p:sp>
      <p:sp>
        <p:nvSpPr>
          <p:cNvPr id="17" name="Rounded Rectangle 16"/>
          <p:cNvSpPr/>
          <p:nvPr/>
        </p:nvSpPr>
        <p:spPr>
          <a:xfrm>
            <a:off x="216583" y="1110038"/>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Macroproceso</a:t>
            </a:r>
          </a:p>
        </p:txBody>
      </p:sp>
      <p:sp>
        <p:nvSpPr>
          <p:cNvPr id="18" name="Rectangle 18"/>
          <p:cNvSpPr>
            <a:spLocks noChangeArrowheads="1"/>
          </p:cNvSpPr>
          <p:nvPr/>
        </p:nvSpPr>
        <p:spPr bwMode="auto">
          <a:xfrm>
            <a:off x="2568409" y="1110038"/>
            <a:ext cx="3877200" cy="182880"/>
          </a:xfrm>
          <a:prstGeom prst="rect">
            <a:avLst/>
          </a:prstGeom>
          <a:noFill/>
          <a:ln w="9525" algn="ctr">
            <a:solidFill>
              <a:schemeClr val="bg2"/>
            </a:solidFill>
            <a:miter lim="800000"/>
            <a:headEnd/>
            <a:tailEnd/>
          </a:ln>
          <a:effectLst/>
        </p:spPr>
        <p:txBody>
          <a:bodyPr anchor="ctr"/>
          <a:lstStyle/>
          <a:p>
            <a:r>
              <a:rPr lang="es-ES" sz="1100" dirty="0"/>
              <a:t>Administración de Portafolio de Inversiones</a:t>
            </a:r>
          </a:p>
        </p:txBody>
      </p:sp>
      <p:sp>
        <p:nvSpPr>
          <p:cNvPr id="19" name="Rounded Rectangle 18"/>
          <p:cNvSpPr/>
          <p:nvPr/>
        </p:nvSpPr>
        <p:spPr>
          <a:xfrm>
            <a:off x="216583" y="1339045"/>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Proceso</a:t>
            </a:r>
          </a:p>
        </p:txBody>
      </p:sp>
      <p:sp>
        <p:nvSpPr>
          <p:cNvPr id="20" name="Rectangle 18"/>
          <p:cNvSpPr>
            <a:spLocks noChangeArrowheads="1"/>
          </p:cNvSpPr>
          <p:nvPr/>
        </p:nvSpPr>
        <p:spPr bwMode="auto">
          <a:xfrm>
            <a:off x="2568409" y="1339045"/>
            <a:ext cx="3877200" cy="182880"/>
          </a:xfrm>
          <a:prstGeom prst="rect">
            <a:avLst/>
          </a:prstGeom>
          <a:noFill/>
          <a:ln w="9525" algn="ctr">
            <a:solidFill>
              <a:schemeClr val="bg2"/>
            </a:solidFill>
            <a:miter lim="800000"/>
            <a:headEnd/>
            <a:tailEnd/>
          </a:ln>
          <a:effectLst/>
        </p:spPr>
        <p:txBody>
          <a:bodyPr anchor="ctr"/>
          <a:lstStyle/>
          <a:p>
            <a:r>
              <a:rPr lang="es-ES" sz="1100" dirty="0"/>
              <a:t>Administración de fondos</a:t>
            </a:r>
          </a:p>
        </p:txBody>
      </p:sp>
      <p:sp>
        <p:nvSpPr>
          <p:cNvPr id="59" name="Rounded Rectangle 58"/>
          <p:cNvSpPr/>
          <p:nvPr/>
        </p:nvSpPr>
        <p:spPr>
          <a:xfrm>
            <a:off x="216583" y="1579694"/>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Subproceso</a:t>
            </a:r>
          </a:p>
        </p:txBody>
      </p:sp>
      <p:sp>
        <p:nvSpPr>
          <p:cNvPr id="60" name="Rectangle 18"/>
          <p:cNvSpPr>
            <a:spLocks noChangeArrowheads="1"/>
          </p:cNvSpPr>
          <p:nvPr/>
        </p:nvSpPr>
        <p:spPr bwMode="auto">
          <a:xfrm>
            <a:off x="2568409" y="1579694"/>
            <a:ext cx="3875799" cy="182880"/>
          </a:xfrm>
          <a:prstGeom prst="rect">
            <a:avLst/>
          </a:prstGeom>
          <a:noFill/>
          <a:ln w="9525" algn="ctr">
            <a:solidFill>
              <a:schemeClr val="bg2"/>
            </a:solidFill>
            <a:miter lim="800000"/>
            <a:headEnd/>
            <a:tailEnd/>
          </a:ln>
          <a:effectLst/>
        </p:spPr>
        <p:txBody>
          <a:bodyPr anchor="ctr"/>
          <a:lstStyle/>
          <a:p>
            <a:r>
              <a:rPr lang="es-ES" sz="1100" dirty="0"/>
              <a:t>Money </a:t>
            </a:r>
            <a:r>
              <a:rPr lang="es-ES" sz="1100" dirty="0" err="1"/>
              <a:t>Market</a:t>
            </a:r>
            <a:endParaRPr lang="es-ES" sz="1100" dirty="0"/>
          </a:p>
        </p:txBody>
      </p:sp>
      <p:sp>
        <p:nvSpPr>
          <p:cNvPr id="61" name="Rounded Rectangle 60"/>
          <p:cNvSpPr/>
          <p:nvPr/>
        </p:nvSpPr>
        <p:spPr>
          <a:xfrm>
            <a:off x="226806" y="1826440"/>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Línea de Negocio</a:t>
            </a:r>
          </a:p>
        </p:txBody>
      </p:sp>
      <p:sp>
        <p:nvSpPr>
          <p:cNvPr id="63" name="Rounded Rectangle 62"/>
          <p:cNvSpPr/>
          <p:nvPr/>
        </p:nvSpPr>
        <p:spPr>
          <a:xfrm>
            <a:off x="226806" y="2079535"/>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Responsable</a:t>
            </a:r>
          </a:p>
        </p:txBody>
      </p:sp>
      <p:sp>
        <p:nvSpPr>
          <p:cNvPr id="65" name="Rectangle 18"/>
          <p:cNvSpPr>
            <a:spLocks noChangeArrowheads="1"/>
          </p:cNvSpPr>
          <p:nvPr/>
        </p:nvSpPr>
        <p:spPr bwMode="auto">
          <a:xfrm>
            <a:off x="2568409" y="1826440"/>
            <a:ext cx="3875799" cy="182880"/>
          </a:xfrm>
          <a:prstGeom prst="rect">
            <a:avLst/>
          </a:prstGeom>
          <a:noFill/>
          <a:ln w="9525" algn="ctr">
            <a:solidFill>
              <a:schemeClr val="bg2"/>
            </a:solidFill>
            <a:miter lim="800000"/>
            <a:headEnd/>
            <a:tailEnd/>
          </a:ln>
          <a:effectLst/>
        </p:spPr>
        <p:txBody>
          <a:bodyPr anchor="ctr"/>
          <a:lstStyle/>
          <a:p>
            <a:r>
              <a:rPr lang="es-ES" sz="1100" dirty="0"/>
              <a:t>Negociación y Ventas</a:t>
            </a:r>
          </a:p>
        </p:txBody>
      </p:sp>
      <p:sp>
        <p:nvSpPr>
          <p:cNvPr id="66" name="Rectangle 18"/>
          <p:cNvSpPr>
            <a:spLocks noChangeArrowheads="1"/>
          </p:cNvSpPr>
          <p:nvPr/>
        </p:nvSpPr>
        <p:spPr bwMode="auto">
          <a:xfrm>
            <a:off x="2555776" y="2079535"/>
            <a:ext cx="3875799" cy="182880"/>
          </a:xfrm>
          <a:prstGeom prst="rect">
            <a:avLst/>
          </a:prstGeom>
          <a:noFill/>
          <a:ln w="9525" algn="ctr">
            <a:solidFill>
              <a:schemeClr val="bg2"/>
            </a:solidFill>
            <a:miter lim="800000"/>
            <a:headEnd/>
            <a:tailEnd/>
          </a:ln>
          <a:effectLst/>
        </p:spPr>
        <p:txBody>
          <a:bodyPr anchor="ctr"/>
          <a:lstStyle/>
          <a:p>
            <a:r>
              <a:rPr lang="es-ES" sz="1100" dirty="0"/>
              <a:t>Jefe de Gestión de Inversión</a:t>
            </a:r>
          </a:p>
        </p:txBody>
      </p:sp>
      <p:sp>
        <p:nvSpPr>
          <p:cNvPr id="78" name="Rounded Rectangle 14"/>
          <p:cNvSpPr/>
          <p:nvPr/>
        </p:nvSpPr>
        <p:spPr>
          <a:xfrm>
            <a:off x="6716066" y="2768330"/>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Origen del Riesgo</a:t>
            </a:r>
          </a:p>
        </p:txBody>
      </p:sp>
      <p:sp>
        <p:nvSpPr>
          <p:cNvPr id="79" name="Rectangle 18"/>
          <p:cNvSpPr>
            <a:spLocks noChangeArrowheads="1"/>
          </p:cNvSpPr>
          <p:nvPr/>
        </p:nvSpPr>
        <p:spPr bwMode="auto">
          <a:xfrm>
            <a:off x="6716066" y="2983595"/>
            <a:ext cx="2286000" cy="270000"/>
          </a:xfrm>
          <a:prstGeom prst="rect">
            <a:avLst/>
          </a:prstGeom>
          <a:noFill/>
          <a:ln w="9525" algn="ctr">
            <a:solidFill>
              <a:schemeClr val="bg2"/>
            </a:solidFill>
            <a:miter lim="800000"/>
            <a:headEnd/>
            <a:tailEnd/>
          </a:ln>
          <a:effectLst/>
        </p:spPr>
        <p:txBody>
          <a:bodyPr anchor="ctr"/>
          <a:lstStyle/>
          <a:p>
            <a:endParaRPr lang="es-ES" sz="1100" dirty="0">
              <a:solidFill>
                <a:srgbClr val="000000"/>
              </a:solidFill>
            </a:endParaRPr>
          </a:p>
        </p:txBody>
      </p:sp>
      <p:sp>
        <p:nvSpPr>
          <p:cNvPr id="64" name="Rectangle 18"/>
          <p:cNvSpPr>
            <a:spLocks noChangeArrowheads="1"/>
          </p:cNvSpPr>
          <p:nvPr/>
        </p:nvSpPr>
        <p:spPr bwMode="auto">
          <a:xfrm>
            <a:off x="6716066" y="2983595"/>
            <a:ext cx="2286000" cy="270000"/>
          </a:xfrm>
          <a:prstGeom prst="rect">
            <a:avLst/>
          </a:prstGeom>
          <a:noFill/>
          <a:ln w="9525" algn="ctr">
            <a:solidFill>
              <a:schemeClr val="bg2"/>
            </a:solidFill>
            <a:miter lim="800000"/>
            <a:headEnd/>
            <a:tailEnd/>
          </a:ln>
          <a:effectLst/>
        </p:spPr>
        <p:txBody>
          <a:bodyPr anchor="ctr"/>
          <a:lstStyle/>
          <a:p>
            <a:r>
              <a:rPr lang="es-ES" sz="1100" dirty="0">
                <a:solidFill>
                  <a:srgbClr val="000000"/>
                </a:solidFill>
              </a:rPr>
              <a:t>Procesos / Personas</a:t>
            </a:r>
          </a:p>
        </p:txBody>
      </p:sp>
      <p:sp>
        <p:nvSpPr>
          <p:cNvPr id="67" name="AutoShape 179"/>
          <p:cNvSpPr>
            <a:spLocks noChangeArrowheads="1"/>
          </p:cNvSpPr>
          <p:nvPr/>
        </p:nvSpPr>
        <p:spPr bwMode="auto">
          <a:xfrm>
            <a:off x="611560" y="3482416"/>
            <a:ext cx="3960812" cy="1275707"/>
          </a:xfrm>
          <a:prstGeom prst="roundRect">
            <a:avLst>
              <a:gd name="adj" fmla="val 9481"/>
            </a:avLst>
          </a:prstGeom>
          <a:solidFill>
            <a:schemeClr val="accent1">
              <a:lumMod val="20000"/>
              <a:lumOff val="80000"/>
            </a:schemeClr>
          </a:solidFill>
          <a:ln w="9525" algn="ctr">
            <a:noFill/>
            <a:round/>
            <a:headEnd/>
            <a:tailEnd/>
          </a:ln>
          <a:effectLst/>
        </p:spPr>
        <p:txBody>
          <a:bodyPr wrap="none" anchor="ctr"/>
          <a:lstStyle/>
          <a:p>
            <a:endParaRPr lang="es-CL">
              <a:solidFill>
                <a:srgbClr val="002060"/>
              </a:solidFill>
            </a:endParaRPr>
          </a:p>
        </p:txBody>
      </p:sp>
      <p:sp>
        <p:nvSpPr>
          <p:cNvPr id="69" name="Text Box 30"/>
          <p:cNvSpPr txBox="1">
            <a:spLocks noChangeArrowheads="1"/>
          </p:cNvSpPr>
          <p:nvPr/>
        </p:nvSpPr>
        <p:spPr bwMode="auto">
          <a:xfrm>
            <a:off x="190747" y="3259373"/>
            <a:ext cx="3671888" cy="276999"/>
          </a:xfrm>
          <a:prstGeom prst="rect">
            <a:avLst/>
          </a:prstGeom>
          <a:noFill/>
          <a:ln w="9525" algn="ctr">
            <a:noFill/>
            <a:miter lim="800000"/>
            <a:headEnd/>
            <a:tailEnd/>
          </a:ln>
          <a:effectLst/>
        </p:spPr>
        <p:txBody>
          <a:bodyPr>
            <a:spAutoFit/>
          </a:bodyPr>
          <a:lstStyle/>
          <a:p>
            <a:pPr>
              <a:spcBef>
                <a:spcPct val="50000"/>
              </a:spcBef>
            </a:pPr>
            <a:r>
              <a:rPr lang="es-CL" sz="1200" b="1" i="1" dirty="0">
                <a:solidFill>
                  <a:srgbClr val="A3A3E0"/>
                </a:solidFill>
              </a:rPr>
              <a:t>Resultados valoración de riesgos</a:t>
            </a:r>
            <a:endParaRPr lang="es-ES" sz="1200" b="1" i="1" dirty="0">
              <a:solidFill>
                <a:srgbClr val="A3A3E0"/>
              </a:solidFill>
            </a:endParaRPr>
          </a:p>
        </p:txBody>
      </p:sp>
      <p:sp>
        <p:nvSpPr>
          <p:cNvPr id="70" name="Rounded Rectangle 69"/>
          <p:cNvSpPr/>
          <p:nvPr/>
        </p:nvSpPr>
        <p:spPr>
          <a:xfrm>
            <a:off x="902959" y="4255955"/>
            <a:ext cx="1920240" cy="170094"/>
          </a:xfrm>
          <a:prstGeom prst="roundRect">
            <a:avLst/>
          </a:prstGeom>
          <a:solidFill>
            <a:srgbClr val="DB0613"/>
          </a:solidFill>
          <a:ln w="9525" algn="ctr">
            <a:noFill/>
            <a:miter lim="800000"/>
            <a:headEnd/>
            <a:tailEnd/>
          </a:ln>
          <a:effectLst/>
        </p:spPr>
        <p:txBody>
          <a:bodyPr tIns="91440" anchor="ctr"/>
          <a:lstStyle/>
          <a:p>
            <a:pPr>
              <a:lnSpc>
                <a:spcPct val="80000"/>
              </a:lnSpc>
            </a:pPr>
            <a:r>
              <a:rPr lang="es-CL" sz="1100" b="1" dirty="0">
                <a:solidFill>
                  <a:srgbClr val="FFFFFF"/>
                </a:solidFill>
                <a:cs typeface="Arial" pitchFamily="34" charset="0"/>
              </a:rPr>
              <a:t>Pérdida Esperada Anual</a:t>
            </a:r>
          </a:p>
        </p:txBody>
      </p:sp>
      <p:sp>
        <p:nvSpPr>
          <p:cNvPr id="71" name="Rectangle 18"/>
          <p:cNvSpPr>
            <a:spLocks noChangeArrowheads="1"/>
          </p:cNvSpPr>
          <p:nvPr/>
        </p:nvSpPr>
        <p:spPr bwMode="auto">
          <a:xfrm>
            <a:off x="2859920" y="4255955"/>
            <a:ext cx="1554480" cy="170094"/>
          </a:xfrm>
          <a:prstGeom prst="rect">
            <a:avLst/>
          </a:prstGeom>
          <a:solidFill>
            <a:schemeClr val="bg1"/>
          </a:solidFill>
          <a:ln w="9525" algn="ctr">
            <a:solidFill>
              <a:schemeClr val="bg2"/>
            </a:solidFill>
            <a:miter lim="800000"/>
            <a:headEnd/>
            <a:tailEnd/>
          </a:ln>
          <a:effectLst/>
        </p:spPr>
        <p:txBody>
          <a:bodyPr anchor="ctr"/>
          <a:lstStyle/>
          <a:p>
            <a:pPr algn="ctr"/>
            <a:r>
              <a:rPr lang="es-ES" sz="1100" dirty="0">
                <a:solidFill>
                  <a:srgbClr val="000000"/>
                </a:solidFill>
              </a:rPr>
              <a:t>s/. 32</a:t>
            </a:r>
            <a:r>
              <a:rPr lang="es-ES" sz="1100" dirty="0"/>
              <a:t>0 .00</a:t>
            </a:r>
            <a:endParaRPr lang="es-ES" sz="1100" dirty="0">
              <a:solidFill>
                <a:srgbClr val="000000"/>
              </a:solidFill>
            </a:endParaRPr>
          </a:p>
        </p:txBody>
      </p:sp>
      <p:sp>
        <p:nvSpPr>
          <p:cNvPr id="72" name="Rounded Rectangle 71"/>
          <p:cNvSpPr/>
          <p:nvPr/>
        </p:nvSpPr>
        <p:spPr>
          <a:xfrm>
            <a:off x="902959" y="4485567"/>
            <a:ext cx="1920240" cy="170094"/>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VaR Cualitativo Anual</a:t>
            </a:r>
          </a:p>
        </p:txBody>
      </p:sp>
      <p:sp>
        <p:nvSpPr>
          <p:cNvPr id="74" name="Rectangle 18"/>
          <p:cNvSpPr>
            <a:spLocks noChangeArrowheads="1"/>
          </p:cNvSpPr>
          <p:nvPr/>
        </p:nvSpPr>
        <p:spPr bwMode="auto">
          <a:xfrm>
            <a:off x="2859920" y="4485567"/>
            <a:ext cx="1554480" cy="170094"/>
          </a:xfrm>
          <a:prstGeom prst="rect">
            <a:avLst/>
          </a:prstGeom>
          <a:solidFill>
            <a:schemeClr val="bg1"/>
          </a:solidFill>
          <a:ln w="9525" algn="ctr">
            <a:solidFill>
              <a:schemeClr val="bg2"/>
            </a:solidFill>
            <a:miter lim="800000"/>
            <a:headEnd/>
            <a:tailEnd/>
          </a:ln>
          <a:effectLst/>
        </p:spPr>
        <p:txBody>
          <a:bodyPr anchor="ctr"/>
          <a:lstStyle/>
          <a:p>
            <a:pPr algn="ctr"/>
            <a:r>
              <a:rPr lang="es-ES" sz="1100" dirty="0"/>
              <a:t>s</a:t>
            </a:r>
            <a:r>
              <a:rPr lang="es-ES" sz="1100" dirty="0">
                <a:solidFill>
                  <a:srgbClr val="000000"/>
                </a:solidFill>
              </a:rPr>
              <a:t>/.</a:t>
            </a:r>
            <a:r>
              <a:rPr lang="es-ES" sz="1100" dirty="0"/>
              <a:t> 3,112.07 </a:t>
            </a:r>
            <a:endParaRPr lang="es-ES" sz="1100" dirty="0">
              <a:solidFill>
                <a:srgbClr val="000000"/>
              </a:solidFill>
            </a:endParaRPr>
          </a:p>
        </p:txBody>
      </p:sp>
      <p:sp>
        <p:nvSpPr>
          <p:cNvPr id="75" name="Rounded Rectangle 74"/>
          <p:cNvSpPr/>
          <p:nvPr/>
        </p:nvSpPr>
        <p:spPr>
          <a:xfrm>
            <a:off x="891084" y="3553916"/>
            <a:ext cx="1920240" cy="170094"/>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Frecuencia  Evento Pérdida</a:t>
            </a:r>
          </a:p>
        </p:txBody>
      </p:sp>
      <p:sp>
        <p:nvSpPr>
          <p:cNvPr id="108" name="Rectangle 18"/>
          <p:cNvSpPr>
            <a:spLocks noChangeArrowheads="1"/>
          </p:cNvSpPr>
          <p:nvPr/>
        </p:nvSpPr>
        <p:spPr bwMode="auto">
          <a:xfrm>
            <a:off x="2859920" y="3553916"/>
            <a:ext cx="1554480" cy="170094"/>
          </a:xfrm>
          <a:prstGeom prst="rect">
            <a:avLst/>
          </a:prstGeom>
          <a:solidFill>
            <a:schemeClr val="bg1"/>
          </a:solidFill>
          <a:ln w="9525" algn="ctr">
            <a:solidFill>
              <a:schemeClr val="bg2"/>
            </a:solidFill>
            <a:miter lim="800000"/>
            <a:headEnd/>
            <a:tailEnd/>
          </a:ln>
          <a:effectLst/>
        </p:spPr>
        <p:txBody>
          <a:bodyPr anchor="ctr"/>
          <a:lstStyle/>
          <a:p>
            <a:pPr algn="ctr"/>
            <a:r>
              <a:rPr lang="es-ES" sz="1100" dirty="0">
                <a:solidFill>
                  <a:srgbClr val="000000"/>
                </a:solidFill>
              </a:rPr>
              <a:t>1 vez por semana</a:t>
            </a:r>
          </a:p>
        </p:txBody>
      </p:sp>
      <p:sp>
        <p:nvSpPr>
          <p:cNvPr id="109" name="Rounded Rectangle 108"/>
          <p:cNvSpPr/>
          <p:nvPr/>
        </p:nvSpPr>
        <p:spPr>
          <a:xfrm>
            <a:off x="891084" y="3783528"/>
            <a:ext cx="1920240" cy="170094"/>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Impacto Medio Evento</a:t>
            </a:r>
          </a:p>
        </p:txBody>
      </p:sp>
      <p:sp>
        <p:nvSpPr>
          <p:cNvPr id="110" name="Rectangle 18"/>
          <p:cNvSpPr>
            <a:spLocks noChangeArrowheads="1"/>
          </p:cNvSpPr>
          <p:nvPr/>
        </p:nvSpPr>
        <p:spPr bwMode="auto">
          <a:xfrm>
            <a:off x="2859920" y="3783528"/>
            <a:ext cx="1554480" cy="170094"/>
          </a:xfrm>
          <a:prstGeom prst="rect">
            <a:avLst/>
          </a:prstGeom>
          <a:solidFill>
            <a:schemeClr val="bg1"/>
          </a:solidFill>
          <a:ln w="9525" algn="ctr">
            <a:solidFill>
              <a:schemeClr val="bg2"/>
            </a:solidFill>
            <a:miter lim="800000"/>
            <a:headEnd/>
            <a:tailEnd/>
          </a:ln>
          <a:effectLst/>
        </p:spPr>
        <p:txBody>
          <a:bodyPr anchor="ctr"/>
          <a:lstStyle/>
          <a:p>
            <a:pPr algn="ctr"/>
            <a:r>
              <a:rPr lang="es-ES" sz="1100" dirty="0">
                <a:solidFill>
                  <a:srgbClr val="000000"/>
                </a:solidFill>
              </a:rPr>
              <a:t>s/.80 </a:t>
            </a:r>
            <a:r>
              <a:rPr lang="es-ES" sz="1100" dirty="0"/>
              <a:t>0.00 </a:t>
            </a:r>
            <a:endParaRPr lang="es-ES" sz="1100" dirty="0">
              <a:solidFill>
                <a:srgbClr val="000000"/>
              </a:solidFill>
            </a:endParaRPr>
          </a:p>
        </p:txBody>
      </p:sp>
      <p:sp>
        <p:nvSpPr>
          <p:cNvPr id="111" name="Rounded Rectangle 110"/>
          <p:cNvSpPr/>
          <p:nvPr/>
        </p:nvSpPr>
        <p:spPr>
          <a:xfrm>
            <a:off x="891084" y="4019108"/>
            <a:ext cx="1920240" cy="170094"/>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Impacto Peor Escenario</a:t>
            </a:r>
          </a:p>
        </p:txBody>
      </p:sp>
      <p:sp>
        <p:nvSpPr>
          <p:cNvPr id="112" name="Rectangle 18"/>
          <p:cNvSpPr>
            <a:spLocks noChangeArrowheads="1"/>
          </p:cNvSpPr>
          <p:nvPr/>
        </p:nvSpPr>
        <p:spPr bwMode="auto">
          <a:xfrm>
            <a:off x="2859920" y="4019108"/>
            <a:ext cx="1554480" cy="170094"/>
          </a:xfrm>
          <a:prstGeom prst="rect">
            <a:avLst/>
          </a:prstGeom>
          <a:solidFill>
            <a:schemeClr val="bg1"/>
          </a:solidFill>
          <a:ln w="9525" algn="ctr">
            <a:solidFill>
              <a:schemeClr val="bg2"/>
            </a:solidFill>
            <a:miter lim="800000"/>
            <a:headEnd/>
            <a:tailEnd/>
          </a:ln>
          <a:effectLst/>
        </p:spPr>
        <p:txBody>
          <a:bodyPr anchor="ctr"/>
          <a:lstStyle/>
          <a:p>
            <a:pPr algn="ctr"/>
            <a:r>
              <a:rPr lang="es-ES" sz="1100" dirty="0">
                <a:solidFill>
                  <a:srgbClr val="000000"/>
                </a:solidFill>
              </a:rPr>
              <a:t>s/. 1,60</a:t>
            </a:r>
            <a:r>
              <a:rPr lang="es-ES" sz="1100" dirty="0"/>
              <a:t>0.00</a:t>
            </a:r>
            <a:endParaRPr lang="es-ES" sz="1100" dirty="0">
              <a:solidFill>
                <a:srgbClr val="000000"/>
              </a:solidFill>
            </a:endParaRPr>
          </a:p>
        </p:txBody>
      </p:sp>
      <p:sp>
        <p:nvSpPr>
          <p:cNvPr id="113" name="AutoShape 47"/>
          <p:cNvSpPr>
            <a:spLocks noChangeAspect="1" noChangeArrowheads="1"/>
          </p:cNvSpPr>
          <p:nvPr/>
        </p:nvSpPr>
        <p:spPr bwMode="blackWhite">
          <a:xfrm>
            <a:off x="263032" y="3482416"/>
            <a:ext cx="503986" cy="1274400"/>
          </a:xfrm>
          <a:prstGeom prst="rightArrow">
            <a:avLst>
              <a:gd name="adj1" fmla="val 100000"/>
              <a:gd name="adj2" fmla="val 11009"/>
            </a:avLst>
          </a:prstGeom>
          <a:solidFill>
            <a:srgbClr val="969696"/>
          </a:solidFill>
          <a:ln w="12700">
            <a:noFill/>
            <a:miter lim="800000"/>
            <a:headEnd/>
            <a:tailEnd/>
          </a:ln>
          <a:effectLst>
            <a:outerShdw dist="35921" dir="2700000" algn="ctr" rotWithShape="0">
              <a:schemeClr val="bg2"/>
            </a:outerShdw>
          </a:effectLst>
        </p:spPr>
        <p:txBody>
          <a:bodyPr vert="vert270" anchor="ctr"/>
          <a:lstStyle/>
          <a:p>
            <a:pPr algn="ctr">
              <a:lnSpc>
                <a:spcPts val="1000"/>
              </a:lnSpc>
            </a:pPr>
            <a:r>
              <a:rPr lang="es-ES" sz="1100" b="1" noProof="1">
                <a:solidFill>
                  <a:srgbClr val="FFFFFF"/>
                </a:solidFill>
                <a:cs typeface="Arial" charset="0"/>
              </a:rPr>
              <a:t>Evaluación Riesgo Operacional</a:t>
            </a:r>
          </a:p>
        </p:txBody>
      </p:sp>
      <p:sp>
        <p:nvSpPr>
          <p:cNvPr id="114" name="AutoShape 179"/>
          <p:cNvSpPr>
            <a:spLocks noChangeArrowheads="1"/>
          </p:cNvSpPr>
          <p:nvPr/>
        </p:nvSpPr>
        <p:spPr bwMode="auto">
          <a:xfrm>
            <a:off x="4932039" y="3493021"/>
            <a:ext cx="4037169" cy="864000"/>
          </a:xfrm>
          <a:prstGeom prst="roundRect">
            <a:avLst>
              <a:gd name="adj" fmla="val 9481"/>
            </a:avLst>
          </a:prstGeom>
          <a:solidFill>
            <a:schemeClr val="accent1">
              <a:lumMod val="20000"/>
              <a:lumOff val="80000"/>
            </a:schemeClr>
          </a:solidFill>
          <a:ln w="9525" algn="ctr">
            <a:noFill/>
            <a:round/>
            <a:headEnd/>
            <a:tailEnd/>
          </a:ln>
          <a:effectLst/>
        </p:spPr>
        <p:txBody>
          <a:bodyPr wrap="none" anchor="ctr"/>
          <a:lstStyle/>
          <a:p>
            <a:endParaRPr lang="es-CL">
              <a:solidFill>
                <a:srgbClr val="002060"/>
              </a:solidFill>
            </a:endParaRPr>
          </a:p>
        </p:txBody>
      </p:sp>
      <p:sp>
        <p:nvSpPr>
          <p:cNvPr id="115" name="AutoShape 47"/>
          <p:cNvSpPr>
            <a:spLocks noChangeArrowheads="1"/>
          </p:cNvSpPr>
          <p:nvPr/>
        </p:nvSpPr>
        <p:spPr bwMode="blackWhite">
          <a:xfrm>
            <a:off x="4678512" y="3494523"/>
            <a:ext cx="353942" cy="864000"/>
          </a:xfrm>
          <a:prstGeom prst="rightArrow">
            <a:avLst>
              <a:gd name="adj1" fmla="val 100000"/>
              <a:gd name="adj2" fmla="val 11009"/>
            </a:avLst>
          </a:prstGeom>
          <a:solidFill>
            <a:srgbClr val="969696"/>
          </a:solidFill>
          <a:ln w="12700">
            <a:noFill/>
            <a:miter lim="800000"/>
            <a:headEnd/>
            <a:tailEnd/>
          </a:ln>
          <a:effectLst>
            <a:outerShdw dist="35921" dir="2700000" algn="ctr" rotWithShape="0">
              <a:schemeClr val="bg2"/>
            </a:outerShdw>
          </a:effectLst>
        </p:spPr>
        <p:txBody>
          <a:bodyPr vert="vert270" anchor="ctr"/>
          <a:lstStyle/>
          <a:p>
            <a:pPr algn="ctr">
              <a:lnSpc>
                <a:spcPts val="1000"/>
              </a:lnSpc>
            </a:pPr>
            <a:r>
              <a:rPr lang="es-ES" sz="1100" b="1" noProof="1">
                <a:solidFill>
                  <a:srgbClr val="FFFFFF"/>
                </a:solidFill>
                <a:cs typeface="Arial" charset="0"/>
              </a:rPr>
              <a:t>Impacto Reputacional</a:t>
            </a:r>
          </a:p>
        </p:txBody>
      </p:sp>
      <p:sp>
        <p:nvSpPr>
          <p:cNvPr id="116" name="Rectangle 18"/>
          <p:cNvSpPr>
            <a:spLocks noChangeArrowheads="1"/>
          </p:cNvSpPr>
          <p:nvPr/>
        </p:nvSpPr>
        <p:spPr bwMode="auto">
          <a:xfrm>
            <a:off x="8334310" y="3568288"/>
            <a:ext cx="548640" cy="170094"/>
          </a:xfrm>
          <a:prstGeom prst="rect">
            <a:avLst/>
          </a:prstGeom>
          <a:solidFill>
            <a:schemeClr val="bg1"/>
          </a:solidFill>
          <a:ln w="9525" algn="ctr">
            <a:solidFill>
              <a:schemeClr val="bg2"/>
            </a:solidFill>
            <a:miter lim="800000"/>
            <a:headEnd/>
            <a:tailEnd/>
          </a:ln>
          <a:effectLst/>
        </p:spPr>
        <p:txBody>
          <a:bodyPr anchor="ctr"/>
          <a:lstStyle/>
          <a:p>
            <a:pPr algn="ctr"/>
            <a:r>
              <a:rPr lang="es-ES" sz="1100" dirty="0">
                <a:solidFill>
                  <a:srgbClr val="002060"/>
                </a:solidFill>
              </a:rPr>
              <a:t>2</a:t>
            </a:r>
          </a:p>
        </p:txBody>
      </p:sp>
      <p:sp>
        <p:nvSpPr>
          <p:cNvPr id="117" name="Rounded Rectangle 116"/>
          <p:cNvSpPr/>
          <p:nvPr/>
        </p:nvSpPr>
        <p:spPr>
          <a:xfrm>
            <a:off x="5102950" y="3568288"/>
            <a:ext cx="3132000" cy="170094"/>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Afectación a contrapartes</a:t>
            </a:r>
          </a:p>
        </p:txBody>
      </p:sp>
      <p:sp>
        <p:nvSpPr>
          <p:cNvPr id="118" name="Rectangle 18"/>
          <p:cNvSpPr>
            <a:spLocks noChangeArrowheads="1"/>
          </p:cNvSpPr>
          <p:nvPr/>
        </p:nvSpPr>
        <p:spPr bwMode="auto">
          <a:xfrm>
            <a:off x="5102950" y="3786445"/>
            <a:ext cx="3780000" cy="469509"/>
          </a:xfrm>
          <a:prstGeom prst="rect">
            <a:avLst/>
          </a:prstGeom>
          <a:solidFill>
            <a:schemeClr val="bg1"/>
          </a:solidFill>
          <a:ln w="9525" algn="ctr">
            <a:solidFill>
              <a:schemeClr val="bg2"/>
            </a:solidFill>
            <a:miter lim="800000"/>
            <a:headEnd/>
            <a:tailEnd/>
          </a:ln>
          <a:effectLst/>
        </p:spPr>
        <p:txBody>
          <a:bodyPr anchor="ctr"/>
          <a:lstStyle/>
          <a:p>
            <a:r>
              <a:rPr lang="es-ES" sz="1100" dirty="0">
                <a:solidFill>
                  <a:srgbClr val="000000"/>
                </a:solidFill>
              </a:rPr>
              <a:t>La exposición de la imagen es interna pero no limitada.</a:t>
            </a:r>
          </a:p>
        </p:txBody>
      </p:sp>
      <p:sp>
        <p:nvSpPr>
          <p:cNvPr id="119" name="Text Box 30"/>
          <p:cNvSpPr txBox="1">
            <a:spLocks noChangeArrowheads="1"/>
          </p:cNvSpPr>
          <p:nvPr/>
        </p:nvSpPr>
        <p:spPr bwMode="auto">
          <a:xfrm>
            <a:off x="190746" y="4838419"/>
            <a:ext cx="3996000" cy="276999"/>
          </a:xfrm>
          <a:prstGeom prst="rect">
            <a:avLst/>
          </a:prstGeom>
          <a:noFill/>
          <a:ln w="9525" algn="ctr">
            <a:noFill/>
            <a:miter lim="800000"/>
            <a:headEnd/>
            <a:tailEnd/>
          </a:ln>
          <a:effectLst/>
        </p:spPr>
        <p:txBody>
          <a:bodyPr wrap="square">
            <a:spAutoFit/>
          </a:bodyPr>
          <a:lstStyle/>
          <a:p>
            <a:pPr>
              <a:spcBef>
                <a:spcPct val="50000"/>
              </a:spcBef>
            </a:pPr>
            <a:r>
              <a:rPr lang="es-CL" sz="1200" b="1" i="1" dirty="0">
                <a:solidFill>
                  <a:srgbClr val="A3A3E0"/>
                </a:solidFill>
              </a:rPr>
              <a:t>Resultados valoración de controles / factores mitigantes</a:t>
            </a:r>
            <a:endParaRPr lang="es-ES" sz="1200" b="1" i="1" dirty="0">
              <a:solidFill>
                <a:srgbClr val="A3A3E0"/>
              </a:solidFill>
            </a:endParaRPr>
          </a:p>
        </p:txBody>
      </p:sp>
      <p:sp>
        <p:nvSpPr>
          <p:cNvPr id="123" name="AutoShape 179"/>
          <p:cNvSpPr>
            <a:spLocks noChangeArrowheads="1"/>
          </p:cNvSpPr>
          <p:nvPr/>
        </p:nvSpPr>
        <p:spPr bwMode="auto">
          <a:xfrm>
            <a:off x="4927319" y="4397238"/>
            <a:ext cx="4037169" cy="892800"/>
          </a:xfrm>
          <a:prstGeom prst="roundRect">
            <a:avLst>
              <a:gd name="adj" fmla="val 9481"/>
            </a:avLst>
          </a:prstGeom>
          <a:solidFill>
            <a:schemeClr val="accent1">
              <a:lumMod val="20000"/>
              <a:lumOff val="80000"/>
            </a:schemeClr>
          </a:solidFill>
          <a:ln w="9525" algn="ctr">
            <a:noFill/>
            <a:round/>
            <a:headEnd/>
            <a:tailEnd/>
          </a:ln>
          <a:effectLst/>
        </p:spPr>
        <p:txBody>
          <a:bodyPr wrap="none" anchor="ctr"/>
          <a:lstStyle/>
          <a:p>
            <a:endParaRPr lang="es-CL">
              <a:solidFill>
                <a:srgbClr val="002060"/>
              </a:solidFill>
            </a:endParaRPr>
          </a:p>
        </p:txBody>
      </p:sp>
      <p:sp>
        <p:nvSpPr>
          <p:cNvPr id="124" name="AutoShape 47"/>
          <p:cNvSpPr>
            <a:spLocks noChangeArrowheads="1"/>
          </p:cNvSpPr>
          <p:nvPr/>
        </p:nvSpPr>
        <p:spPr bwMode="blackWhite">
          <a:xfrm>
            <a:off x="4673792" y="4398740"/>
            <a:ext cx="352800" cy="892800"/>
          </a:xfrm>
          <a:prstGeom prst="rightArrow">
            <a:avLst>
              <a:gd name="adj1" fmla="val 100000"/>
              <a:gd name="adj2" fmla="val 11009"/>
            </a:avLst>
          </a:prstGeom>
          <a:solidFill>
            <a:srgbClr val="969696"/>
          </a:solidFill>
          <a:ln w="12700">
            <a:noFill/>
            <a:miter lim="800000"/>
            <a:headEnd/>
            <a:tailEnd/>
          </a:ln>
          <a:effectLst>
            <a:outerShdw dist="35921" dir="2700000" algn="ctr" rotWithShape="0">
              <a:schemeClr val="bg2"/>
            </a:outerShdw>
          </a:effectLst>
        </p:spPr>
        <p:txBody>
          <a:bodyPr vert="vert270" anchor="ctr"/>
          <a:lstStyle/>
          <a:p>
            <a:pPr algn="ctr">
              <a:lnSpc>
                <a:spcPts val="1000"/>
              </a:lnSpc>
            </a:pPr>
            <a:r>
              <a:rPr lang="es-ES" sz="1100" b="1" noProof="1">
                <a:solidFill>
                  <a:srgbClr val="FFFFFF"/>
                </a:solidFill>
                <a:cs typeface="Arial" charset="0"/>
              </a:rPr>
              <a:t>Cuestionarios</a:t>
            </a:r>
          </a:p>
        </p:txBody>
      </p:sp>
      <p:sp>
        <p:nvSpPr>
          <p:cNvPr id="126" name="Rounded Rectangle 38"/>
          <p:cNvSpPr/>
          <p:nvPr/>
        </p:nvSpPr>
        <p:spPr>
          <a:xfrm>
            <a:off x="5098230" y="4472505"/>
            <a:ext cx="3132000" cy="170094"/>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Criterios de Evaluación</a:t>
            </a:r>
          </a:p>
        </p:txBody>
      </p:sp>
      <p:sp>
        <p:nvSpPr>
          <p:cNvPr id="127" name="AutoShape 179"/>
          <p:cNvSpPr>
            <a:spLocks noChangeArrowheads="1"/>
          </p:cNvSpPr>
          <p:nvPr/>
        </p:nvSpPr>
        <p:spPr bwMode="auto">
          <a:xfrm>
            <a:off x="534831" y="5060900"/>
            <a:ext cx="4037169" cy="864000"/>
          </a:xfrm>
          <a:prstGeom prst="roundRect">
            <a:avLst>
              <a:gd name="adj" fmla="val 9481"/>
            </a:avLst>
          </a:prstGeom>
          <a:solidFill>
            <a:schemeClr val="accent1">
              <a:lumMod val="20000"/>
              <a:lumOff val="80000"/>
            </a:schemeClr>
          </a:solidFill>
          <a:ln w="9525" algn="ctr">
            <a:noFill/>
            <a:round/>
            <a:headEnd/>
            <a:tailEnd/>
          </a:ln>
          <a:effectLst/>
        </p:spPr>
        <p:txBody>
          <a:bodyPr wrap="none" anchor="ctr"/>
          <a:lstStyle/>
          <a:p>
            <a:endParaRPr lang="es-CL">
              <a:solidFill>
                <a:srgbClr val="002060"/>
              </a:solidFill>
            </a:endParaRPr>
          </a:p>
        </p:txBody>
      </p:sp>
      <p:sp>
        <p:nvSpPr>
          <p:cNvPr id="128" name="AutoShape 47"/>
          <p:cNvSpPr>
            <a:spLocks noChangeArrowheads="1"/>
          </p:cNvSpPr>
          <p:nvPr/>
        </p:nvSpPr>
        <p:spPr bwMode="blackWhite">
          <a:xfrm>
            <a:off x="281304" y="5062402"/>
            <a:ext cx="353942" cy="864000"/>
          </a:xfrm>
          <a:prstGeom prst="rightArrow">
            <a:avLst>
              <a:gd name="adj1" fmla="val 100000"/>
              <a:gd name="adj2" fmla="val 11009"/>
            </a:avLst>
          </a:prstGeom>
          <a:solidFill>
            <a:srgbClr val="969696"/>
          </a:solidFill>
          <a:ln w="12700">
            <a:noFill/>
            <a:miter lim="800000"/>
            <a:headEnd/>
            <a:tailEnd/>
          </a:ln>
          <a:effectLst>
            <a:outerShdw dist="35921" dir="2700000" algn="ctr" rotWithShape="0">
              <a:schemeClr val="bg2"/>
            </a:outerShdw>
          </a:effectLst>
        </p:spPr>
        <p:txBody>
          <a:bodyPr vert="vert270" anchor="ctr"/>
          <a:lstStyle/>
          <a:p>
            <a:pPr algn="ctr">
              <a:lnSpc>
                <a:spcPts val="1000"/>
              </a:lnSpc>
            </a:pPr>
            <a:r>
              <a:rPr lang="es-ES" sz="1100" b="1" noProof="1">
                <a:solidFill>
                  <a:srgbClr val="FFFFFF"/>
                </a:solidFill>
                <a:cs typeface="Arial" charset="0"/>
              </a:rPr>
              <a:t>Evaluación de Controles</a:t>
            </a:r>
          </a:p>
        </p:txBody>
      </p:sp>
      <p:sp>
        <p:nvSpPr>
          <p:cNvPr id="129" name="Rectangle 18"/>
          <p:cNvSpPr>
            <a:spLocks noChangeArrowheads="1"/>
          </p:cNvSpPr>
          <p:nvPr/>
        </p:nvSpPr>
        <p:spPr bwMode="auto">
          <a:xfrm>
            <a:off x="3937102" y="5136167"/>
            <a:ext cx="548640" cy="170094"/>
          </a:xfrm>
          <a:prstGeom prst="rect">
            <a:avLst/>
          </a:prstGeom>
          <a:solidFill>
            <a:schemeClr val="bg1"/>
          </a:solidFill>
          <a:ln w="9525" algn="ctr">
            <a:solidFill>
              <a:schemeClr val="bg2"/>
            </a:solidFill>
            <a:miter lim="800000"/>
            <a:headEnd/>
            <a:tailEnd/>
          </a:ln>
          <a:effectLst/>
        </p:spPr>
        <p:txBody>
          <a:bodyPr anchor="ctr"/>
          <a:lstStyle/>
          <a:p>
            <a:pPr algn="ctr"/>
            <a:r>
              <a:rPr lang="es-ES" sz="1100" dirty="0">
                <a:solidFill>
                  <a:srgbClr val="002060"/>
                </a:solidFill>
              </a:rPr>
              <a:t>1</a:t>
            </a:r>
          </a:p>
        </p:txBody>
      </p:sp>
      <p:sp>
        <p:nvSpPr>
          <p:cNvPr id="130" name="Rounded Rectangle 38"/>
          <p:cNvSpPr/>
          <p:nvPr/>
        </p:nvSpPr>
        <p:spPr>
          <a:xfrm>
            <a:off x="705742" y="5136167"/>
            <a:ext cx="3132000" cy="170094"/>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Controles asociados al riesgo</a:t>
            </a:r>
          </a:p>
        </p:txBody>
      </p:sp>
      <p:sp>
        <p:nvSpPr>
          <p:cNvPr id="131" name="Rectangle 18"/>
          <p:cNvSpPr>
            <a:spLocks noChangeArrowheads="1"/>
          </p:cNvSpPr>
          <p:nvPr/>
        </p:nvSpPr>
        <p:spPr bwMode="auto">
          <a:xfrm>
            <a:off x="5102950" y="4685678"/>
            <a:ext cx="3780000" cy="469509"/>
          </a:xfrm>
          <a:prstGeom prst="rect">
            <a:avLst/>
          </a:prstGeom>
          <a:solidFill>
            <a:schemeClr val="bg1"/>
          </a:solidFill>
          <a:ln w="9525" algn="ctr">
            <a:solidFill>
              <a:schemeClr val="bg2"/>
            </a:solidFill>
            <a:miter lim="800000"/>
            <a:headEnd/>
            <a:tailEnd/>
          </a:ln>
          <a:effectLst/>
        </p:spPr>
        <p:txBody>
          <a:bodyPr anchor="ctr"/>
          <a:lstStyle/>
          <a:p>
            <a:r>
              <a:rPr lang="es-ES" sz="1000" dirty="0"/>
              <a:t>El Experto ha considerado que el impacto patrimonial es cero, ya que cuando ocurre esto se conversa con la contraparte , se pide una extensión de días para conseguir la firma y se llega a una solución.</a:t>
            </a:r>
            <a:endParaRPr lang="es-ES" sz="1000" dirty="0">
              <a:solidFill>
                <a:srgbClr val="FF0000"/>
              </a:solidFill>
            </a:endParaRPr>
          </a:p>
        </p:txBody>
      </p:sp>
      <p:sp>
        <p:nvSpPr>
          <p:cNvPr id="132" name="Rectangle 18"/>
          <p:cNvSpPr>
            <a:spLocks noChangeArrowheads="1"/>
          </p:cNvSpPr>
          <p:nvPr/>
        </p:nvSpPr>
        <p:spPr bwMode="auto">
          <a:xfrm>
            <a:off x="705742" y="5357175"/>
            <a:ext cx="3780000" cy="469509"/>
          </a:xfrm>
          <a:prstGeom prst="rect">
            <a:avLst/>
          </a:prstGeom>
          <a:solidFill>
            <a:schemeClr val="bg1"/>
          </a:solidFill>
          <a:ln w="9525" algn="ctr">
            <a:solidFill>
              <a:schemeClr val="bg2"/>
            </a:solidFill>
            <a:miter lim="800000"/>
            <a:headEnd/>
            <a:tailEnd/>
          </a:ln>
          <a:effectLst/>
        </p:spPr>
        <p:txBody>
          <a:bodyPr anchor="ctr"/>
          <a:lstStyle/>
          <a:p>
            <a:r>
              <a:rPr lang="es-ES" sz="1100" dirty="0">
                <a:solidFill>
                  <a:srgbClr val="000000"/>
                </a:solidFill>
              </a:rPr>
              <a:t>(NF) Existencia, con algunos bancos, de la posibilidad de una regularización posterior a fin de no perder la operación.</a:t>
            </a:r>
          </a:p>
        </p:txBody>
      </p:sp>
      <p:sp>
        <p:nvSpPr>
          <p:cNvPr id="56" name="TextBox 55"/>
          <p:cNvSpPr txBox="1"/>
          <p:nvPr/>
        </p:nvSpPr>
        <p:spPr>
          <a:xfrm>
            <a:off x="705742" y="5933410"/>
            <a:ext cx="1819944" cy="261610"/>
          </a:xfrm>
          <a:prstGeom prst="rect">
            <a:avLst/>
          </a:prstGeom>
          <a:noFill/>
        </p:spPr>
        <p:txBody>
          <a:bodyPr wrap="square" rtlCol="0">
            <a:spAutoFit/>
          </a:bodyPr>
          <a:lstStyle/>
          <a:p>
            <a:r>
              <a:rPr lang="es-ES" sz="1100" dirty="0"/>
              <a:t>(NF): No Formalizado</a:t>
            </a:r>
          </a:p>
        </p:txBody>
      </p:sp>
    </p:spTree>
    <p:extLst>
      <p:ext uri="{BB962C8B-B14F-4D97-AF65-F5344CB8AC3E}">
        <p14:creationId xmlns:p14="http://schemas.microsoft.com/office/powerpoint/2010/main" val="3870873375"/>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dirty="0"/>
              <a:t>Anexo: Ficha Individual Riesgos Operacionales</a:t>
            </a:r>
          </a:p>
        </p:txBody>
      </p:sp>
      <p:sp>
        <p:nvSpPr>
          <p:cNvPr id="4" name="Rounded Rectangle 3"/>
          <p:cNvSpPr/>
          <p:nvPr/>
        </p:nvSpPr>
        <p:spPr>
          <a:xfrm>
            <a:off x="227770" y="764704"/>
            <a:ext cx="383790" cy="274320"/>
          </a:xfrm>
          <a:prstGeom prst="roundRect">
            <a:avLst/>
          </a:prstGeom>
          <a:solidFill>
            <a:srgbClr val="DB0613"/>
          </a:solidFill>
          <a:ln w="9525" algn="ctr">
            <a:noFill/>
            <a:miter lim="800000"/>
            <a:headEnd/>
            <a:tailEnd/>
          </a:ln>
          <a:effectLst/>
        </p:spPr>
        <p:txBody>
          <a:bodyPr anchor="ctr"/>
          <a:lstStyle/>
          <a:p>
            <a:pPr algn="ctr">
              <a:lnSpc>
                <a:spcPct val="80000"/>
              </a:lnSpc>
            </a:pPr>
            <a:r>
              <a:rPr lang="es-CL" sz="1200" b="1">
                <a:solidFill>
                  <a:srgbClr val="FFFFFF"/>
                </a:solidFill>
                <a:cs typeface="Arial" pitchFamily="34" charset="0"/>
              </a:rPr>
              <a:t>44</a:t>
            </a:r>
            <a:endParaRPr lang="es-CL" sz="1200" b="1" dirty="0">
              <a:solidFill>
                <a:srgbClr val="FFFFFF"/>
              </a:solidFill>
              <a:cs typeface="Arial" pitchFamily="34" charset="0"/>
            </a:endParaRPr>
          </a:p>
        </p:txBody>
      </p:sp>
      <p:sp>
        <p:nvSpPr>
          <p:cNvPr id="5" name="Rectangle 18"/>
          <p:cNvSpPr>
            <a:spLocks noChangeArrowheads="1"/>
          </p:cNvSpPr>
          <p:nvPr/>
        </p:nvSpPr>
        <p:spPr bwMode="auto">
          <a:xfrm>
            <a:off x="227770" y="2548229"/>
            <a:ext cx="6400800" cy="708660"/>
          </a:xfrm>
          <a:prstGeom prst="rect">
            <a:avLst/>
          </a:prstGeom>
          <a:noFill/>
          <a:ln w="9525" algn="ctr">
            <a:solidFill>
              <a:schemeClr val="bg2"/>
            </a:solidFill>
            <a:miter lim="800000"/>
            <a:headEnd/>
            <a:tailEnd/>
          </a:ln>
          <a:effectLst/>
        </p:spPr>
        <p:txBody>
          <a:bodyPr/>
          <a:lstStyle/>
          <a:p>
            <a:r>
              <a:rPr lang="es-ES" sz="1100" dirty="0"/>
              <a:t>En las operaciones de forward de cobertura, se han de elaborar unas cartas, cuya elaboración se hace manualmente.</a:t>
            </a:r>
          </a:p>
        </p:txBody>
      </p:sp>
      <p:sp>
        <p:nvSpPr>
          <p:cNvPr id="8" name="Rounded Rectangle 7"/>
          <p:cNvSpPr/>
          <p:nvPr/>
        </p:nvSpPr>
        <p:spPr>
          <a:xfrm>
            <a:off x="652842" y="764704"/>
            <a:ext cx="8352000" cy="274320"/>
          </a:xfrm>
          <a:prstGeom prst="roundRect">
            <a:avLst/>
          </a:prstGeom>
          <a:solidFill>
            <a:srgbClr val="DB0613"/>
          </a:solidFill>
          <a:ln w="9525" algn="ctr">
            <a:noFill/>
            <a:miter lim="800000"/>
            <a:headEnd/>
            <a:tailEnd/>
          </a:ln>
          <a:effectLst/>
        </p:spPr>
        <p:txBody>
          <a:bodyPr anchor="ctr"/>
          <a:lstStyle/>
          <a:p>
            <a:pPr>
              <a:lnSpc>
                <a:spcPct val="80000"/>
              </a:lnSpc>
            </a:pPr>
            <a:r>
              <a:rPr lang="es-ES" sz="1200" b="1" dirty="0">
                <a:solidFill>
                  <a:srgbClr val="FFFFFF"/>
                </a:solidFill>
                <a:cs typeface="Arial" pitchFamily="34" charset="0"/>
              </a:rPr>
              <a:t>Falla en la elaboración de las cartas de forward</a:t>
            </a:r>
            <a:endParaRPr lang="es-CL" sz="1200" b="1" dirty="0">
              <a:solidFill>
                <a:srgbClr val="FFFFFF"/>
              </a:solidFill>
              <a:cs typeface="Arial" pitchFamily="34" charset="0"/>
            </a:endParaRPr>
          </a:p>
        </p:txBody>
      </p:sp>
      <p:sp>
        <p:nvSpPr>
          <p:cNvPr id="9" name="Rounded Rectangle 8"/>
          <p:cNvSpPr/>
          <p:nvPr/>
        </p:nvSpPr>
        <p:spPr>
          <a:xfrm>
            <a:off x="227770" y="2307916"/>
            <a:ext cx="64008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Descripción</a:t>
            </a:r>
          </a:p>
        </p:txBody>
      </p:sp>
      <p:sp>
        <p:nvSpPr>
          <p:cNvPr id="10" name="Rounded Rectangle 9"/>
          <p:cNvSpPr/>
          <p:nvPr/>
        </p:nvSpPr>
        <p:spPr>
          <a:xfrm>
            <a:off x="6716066" y="1111764"/>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Categoría  de Riesgo Nivel I</a:t>
            </a:r>
          </a:p>
        </p:txBody>
      </p:sp>
      <p:sp>
        <p:nvSpPr>
          <p:cNvPr id="11" name="Rectangle 18"/>
          <p:cNvSpPr>
            <a:spLocks noChangeArrowheads="1"/>
          </p:cNvSpPr>
          <p:nvPr/>
        </p:nvSpPr>
        <p:spPr bwMode="auto">
          <a:xfrm>
            <a:off x="6716066" y="1325572"/>
            <a:ext cx="2286000" cy="270000"/>
          </a:xfrm>
          <a:prstGeom prst="rect">
            <a:avLst/>
          </a:prstGeom>
          <a:noFill/>
          <a:ln w="9525" algn="ctr">
            <a:solidFill>
              <a:schemeClr val="bg2"/>
            </a:solidFill>
            <a:miter lim="800000"/>
            <a:headEnd/>
            <a:tailEnd/>
          </a:ln>
          <a:effectLst/>
        </p:spPr>
        <p:txBody>
          <a:bodyPr anchor="ctr"/>
          <a:lstStyle/>
          <a:p>
            <a:pPr>
              <a:lnSpc>
                <a:spcPts val="1000"/>
              </a:lnSpc>
            </a:pPr>
            <a:r>
              <a:rPr lang="es-ES" sz="1100" dirty="0"/>
              <a:t>Ejecución, entrega y gestión de procesos</a:t>
            </a:r>
          </a:p>
        </p:txBody>
      </p:sp>
      <p:sp>
        <p:nvSpPr>
          <p:cNvPr id="12" name="Rounded Rectangle 11"/>
          <p:cNvSpPr/>
          <p:nvPr/>
        </p:nvSpPr>
        <p:spPr>
          <a:xfrm>
            <a:off x="6716066" y="1664503"/>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Categoría  de Riesgo Nivel II</a:t>
            </a:r>
          </a:p>
        </p:txBody>
      </p:sp>
      <p:sp>
        <p:nvSpPr>
          <p:cNvPr id="13" name="Rectangle 18"/>
          <p:cNvSpPr>
            <a:spLocks noChangeArrowheads="1"/>
          </p:cNvSpPr>
          <p:nvPr/>
        </p:nvSpPr>
        <p:spPr bwMode="auto">
          <a:xfrm>
            <a:off x="6716066" y="1877089"/>
            <a:ext cx="2286000" cy="270000"/>
          </a:xfrm>
          <a:prstGeom prst="rect">
            <a:avLst/>
          </a:prstGeom>
          <a:noFill/>
          <a:ln w="9525" algn="ctr">
            <a:solidFill>
              <a:schemeClr val="bg2"/>
            </a:solidFill>
            <a:miter lim="800000"/>
            <a:headEnd/>
            <a:tailEnd/>
          </a:ln>
          <a:effectLst/>
        </p:spPr>
        <p:txBody>
          <a:bodyPr anchor="ctr"/>
          <a:lstStyle/>
          <a:p>
            <a:r>
              <a:rPr lang="es-ES" sz="1100" dirty="0"/>
              <a:t>Recepción, ejecución y mantenimiento de operaciones</a:t>
            </a:r>
          </a:p>
        </p:txBody>
      </p:sp>
      <p:sp>
        <p:nvSpPr>
          <p:cNvPr id="15" name="Rounded Rectangle 14"/>
          <p:cNvSpPr/>
          <p:nvPr/>
        </p:nvSpPr>
        <p:spPr>
          <a:xfrm>
            <a:off x="6716066" y="2223551"/>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Categoría  de Riesgo Nivel III</a:t>
            </a:r>
          </a:p>
        </p:txBody>
      </p:sp>
      <p:sp>
        <p:nvSpPr>
          <p:cNvPr id="16" name="Rectangle 18"/>
          <p:cNvSpPr>
            <a:spLocks noChangeArrowheads="1"/>
          </p:cNvSpPr>
          <p:nvPr/>
        </p:nvSpPr>
        <p:spPr bwMode="auto">
          <a:xfrm>
            <a:off x="6716066" y="2434321"/>
            <a:ext cx="2286000" cy="270000"/>
          </a:xfrm>
          <a:prstGeom prst="rect">
            <a:avLst/>
          </a:prstGeom>
          <a:noFill/>
          <a:ln w="9525" algn="ctr">
            <a:solidFill>
              <a:schemeClr val="bg2"/>
            </a:solidFill>
            <a:miter lim="800000"/>
            <a:headEnd/>
            <a:tailEnd/>
          </a:ln>
          <a:effectLst/>
        </p:spPr>
        <p:txBody>
          <a:bodyPr anchor="ctr"/>
          <a:lstStyle/>
          <a:p>
            <a:r>
              <a:rPr lang="es-ES" sz="1100" dirty="0"/>
              <a:t>Incorrecta ejecución de tareas / obligaciones</a:t>
            </a:r>
          </a:p>
        </p:txBody>
      </p:sp>
      <p:sp>
        <p:nvSpPr>
          <p:cNvPr id="17" name="Rounded Rectangle 16"/>
          <p:cNvSpPr/>
          <p:nvPr/>
        </p:nvSpPr>
        <p:spPr>
          <a:xfrm>
            <a:off x="216583" y="1110038"/>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Macroproceso</a:t>
            </a:r>
          </a:p>
        </p:txBody>
      </p:sp>
      <p:sp>
        <p:nvSpPr>
          <p:cNvPr id="18" name="Rectangle 18"/>
          <p:cNvSpPr>
            <a:spLocks noChangeArrowheads="1"/>
          </p:cNvSpPr>
          <p:nvPr/>
        </p:nvSpPr>
        <p:spPr bwMode="auto">
          <a:xfrm>
            <a:off x="2568409" y="1110038"/>
            <a:ext cx="3877200" cy="182880"/>
          </a:xfrm>
          <a:prstGeom prst="rect">
            <a:avLst/>
          </a:prstGeom>
          <a:noFill/>
          <a:ln w="9525" algn="ctr">
            <a:solidFill>
              <a:schemeClr val="bg2"/>
            </a:solidFill>
            <a:miter lim="800000"/>
            <a:headEnd/>
            <a:tailEnd/>
          </a:ln>
          <a:effectLst/>
        </p:spPr>
        <p:txBody>
          <a:bodyPr anchor="ctr"/>
          <a:lstStyle/>
          <a:p>
            <a:r>
              <a:rPr lang="es-ES" sz="1100" dirty="0"/>
              <a:t>Administración de Portafolio de Inversiones</a:t>
            </a:r>
          </a:p>
        </p:txBody>
      </p:sp>
      <p:sp>
        <p:nvSpPr>
          <p:cNvPr id="19" name="Rounded Rectangle 18"/>
          <p:cNvSpPr/>
          <p:nvPr/>
        </p:nvSpPr>
        <p:spPr>
          <a:xfrm>
            <a:off x="216583" y="1339045"/>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Proceso</a:t>
            </a:r>
          </a:p>
        </p:txBody>
      </p:sp>
      <p:sp>
        <p:nvSpPr>
          <p:cNvPr id="20" name="Rectangle 18"/>
          <p:cNvSpPr>
            <a:spLocks noChangeArrowheads="1"/>
          </p:cNvSpPr>
          <p:nvPr/>
        </p:nvSpPr>
        <p:spPr bwMode="auto">
          <a:xfrm>
            <a:off x="2568409" y="1339045"/>
            <a:ext cx="3877200" cy="182880"/>
          </a:xfrm>
          <a:prstGeom prst="rect">
            <a:avLst/>
          </a:prstGeom>
          <a:noFill/>
          <a:ln w="9525" algn="ctr">
            <a:solidFill>
              <a:schemeClr val="bg2"/>
            </a:solidFill>
            <a:miter lim="800000"/>
            <a:headEnd/>
            <a:tailEnd/>
          </a:ln>
          <a:effectLst/>
        </p:spPr>
        <p:txBody>
          <a:bodyPr anchor="ctr"/>
          <a:lstStyle/>
          <a:p>
            <a:r>
              <a:rPr lang="es-ES" sz="1100" dirty="0"/>
              <a:t>Administración de fondos</a:t>
            </a:r>
          </a:p>
        </p:txBody>
      </p:sp>
      <p:sp>
        <p:nvSpPr>
          <p:cNvPr id="59" name="Rounded Rectangle 58"/>
          <p:cNvSpPr/>
          <p:nvPr/>
        </p:nvSpPr>
        <p:spPr>
          <a:xfrm>
            <a:off x="216583" y="1579694"/>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Subproceso</a:t>
            </a:r>
          </a:p>
        </p:txBody>
      </p:sp>
      <p:sp>
        <p:nvSpPr>
          <p:cNvPr id="60" name="Rectangle 18"/>
          <p:cNvSpPr>
            <a:spLocks noChangeArrowheads="1"/>
          </p:cNvSpPr>
          <p:nvPr/>
        </p:nvSpPr>
        <p:spPr bwMode="auto">
          <a:xfrm>
            <a:off x="2568409" y="1579694"/>
            <a:ext cx="3875799" cy="182880"/>
          </a:xfrm>
          <a:prstGeom prst="rect">
            <a:avLst/>
          </a:prstGeom>
          <a:noFill/>
          <a:ln w="9525" algn="ctr">
            <a:solidFill>
              <a:schemeClr val="bg2"/>
            </a:solidFill>
            <a:miter lim="800000"/>
            <a:headEnd/>
            <a:tailEnd/>
          </a:ln>
          <a:effectLst/>
        </p:spPr>
        <p:txBody>
          <a:bodyPr anchor="ctr"/>
          <a:lstStyle/>
          <a:p>
            <a:r>
              <a:rPr lang="es-ES" sz="1100" dirty="0"/>
              <a:t>Money </a:t>
            </a:r>
            <a:r>
              <a:rPr lang="es-ES" sz="1100" dirty="0" err="1"/>
              <a:t>Market</a:t>
            </a:r>
            <a:endParaRPr lang="es-ES" sz="1100" dirty="0"/>
          </a:p>
        </p:txBody>
      </p:sp>
      <p:sp>
        <p:nvSpPr>
          <p:cNvPr id="61" name="Rounded Rectangle 60"/>
          <p:cNvSpPr/>
          <p:nvPr/>
        </p:nvSpPr>
        <p:spPr>
          <a:xfrm>
            <a:off x="226806" y="1826440"/>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Línea de Negocio</a:t>
            </a:r>
          </a:p>
        </p:txBody>
      </p:sp>
      <p:sp>
        <p:nvSpPr>
          <p:cNvPr id="63" name="Rounded Rectangle 62"/>
          <p:cNvSpPr/>
          <p:nvPr/>
        </p:nvSpPr>
        <p:spPr>
          <a:xfrm>
            <a:off x="226806" y="2079535"/>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Responsable</a:t>
            </a:r>
          </a:p>
        </p:txBody>
      </p:sp>
      <p:sp>
        <p:nvSpPr>
          <p:cNvPr id="65" name="Rectangle 18"/>
          <p:cNvSpPr>
            <a:spLocks noChangeArrowheads="1"/>
          </p:cNvSpPr>
          <p:nvPr/>
        </p:nvSpPr>
        <p:spPr bwMode="auto">
          <a:xfrm>
            <a:off x="2568409" y="1826440"/>
            <a:ext cx="3875799" cy="182880"/>
          </a:xfrm>
          <a:prstGeom prst="rect">
            <a:avLst/>
          </a:prstGeom>
          <a:noFill/>
          <a:ln w="9525" algn="ctr">
            <a:solidFill>
              <a:schemeClr val="bg2"/>
            </a:solidFill>
            <a:miter lim="800000"/>
            <a:headEnd/>
            <a:tailEnd/>
          </a:ln>
          <a:effectLst/>
        </p:spPr>
        <p:txBody>
          <a:bodyPr anchor="ctr"/>
          <a:lstStyle/>
          <a:p>
            <a:r>
              <a:rPr lang="es-ES" sz="1100" dirty="0"/>
              <a:t>Negociación y Ventas</a:t>
            </a:r>
          </a:p>
        </p:txBody>
      </p:sp>
      <p:sp>
        <p:nvSpPr>
          <p:cNvPr id="66" name="Rectangle 18"/>
          <p:cNvSpPr>
            <a:spLocks noChangeArrowheads="1"/>
          </p:cNvSpPr>
          <p:nvPr/>
        </p:nvSpPr>
        <p:spPr bwMode="auto">
          <a:xfrm>
            <a:off x="2555776" y="2079535"/>
            <a:ext cx="3875799" cy="182880"/>
          </a:xfrm>
          <a:prstGeom prst="rect">
            <a:avLst/>
          </a:prstGeom>
          <a:noFill/>
          <a:ln w="9525" algn="ctr">
            <a:solidFill>
              <a:schemeClr val="bg2"/>
            </a:solidFill>
            <a:miter lim="800000"/>
            <a:headEnd/>
            <a:tailEnd/>
          </a:ln>
          <a:effectLst/>
        </p:spPr>
        <p:txBody>
          <a:bodyPr anchor="ctr"/>
          <a:lstStyle/>
          <a:p>
            <a:r>
              <a:rPr lang="es-ES" sz="1100" dirty="0"/>
              <a:t>Jefe de Gestión de Inversión</a:t>
            </a:r>
          </a:p>
        </p:txBody>
      </p:sp>
      <p:sp>
        <p:nvSpPr>
          <p:cNvPr id="78" name="Rounded Rectangle 14"/>
          <p:cNvSpPr/>
          <p:nvPr/>
        </p:nvSpPr>
        <p:spPr>
          <a:xfrm>
            <a:off x="6716066" y="2768330"/>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Origen del Riesgo</a:t>
            </a:r>
          </a:p>
        </p:txBody>
      </p:sp>
      <p:sp>
        <p:nvSpPr>
          <p:cNvPr id="79" name="Rectangle 18"/>
          <p:cNvSpPr>
            <a:spLocks noChangeArrowheads="1"/>
          </p:cNvSpPr>
          <p:nvPr/>
        </p:nvSpPr>
        <p:spPr bwMode="auto">
          <a:xfrm>
            <a:off x="6716066" y="2983595"/>
            <a:ext cx="2286000" cy="270000"/>
          </a:xfrm>
          <a:prstGeom prst="rect">
            <a:avLst/>
          </a:prstGeom>
          <a:noFill/>
          <a:ln w="9525" algn="ctr">
            <a:solidFill>
              <a:schemeClr val="bg2"/>
            </a:solidFill>
            <a:miter lim="800000"/>
            <a:headEnd/>
            <a:tailEnd/>
          </a:ln>
          <a:effectLst/>
        </p:spPr>
        <p:txBody>
          <a:bodyPr anchor="ctr"/>
          <a:lstStyle/>
          <a:p>
            <a:r>
              <a:rPr lang="es-ES" sz="1100" dirty="0">
                <a:solidFill>
                  <a:srgbClr val="000000"/>
                </a:solidFill>
              </a:rPr>
              <a:t>Personas </a:t>
            </a:r>
          </a:p>
        </p:txBody>
      </p:sp>
      <p:sp>
        <p:nvSpPr>
          <p:cNvPr id="64" name="Rectangle 18"/>
          <p:cNvSpPr>
            <a:spLocks noChangeArrowheads="1"/>
          </p:cNvSpPr>
          <p:nvPr/>
        </p:nvSpPr>
        <p:spPr bwMode="auto">
          <a:xfrm>
            <a:off x="6716066" y="2983595"/>
            <a:ext cx="2286000" cy="270000"/>
          </a:xfrm>
          <a:prstGeom prst="rect">
            <a:avLst/>
          </a:prstGeom>
          <a:noFill/>
          <a:ln w="9525" algn="ctr">
            <a:solidFill>
              <a:schemeClr val="bg2"/>
            </a:solidFill>
            <a:miter lim="800000"/>
            <a:headEnd/>
            <a:tailEnd/>
          </a:ln>
          <a:effectLst/>
        </p:spPr>
        <p:txBody>
          <a:bodyPr anchor="ctr"/>
          <a:lstStyle/>
          <a:p>
            <a:r>
              <a:rPr lang="es-ES" sz="1100" dirty="0">
                <a:solidFill>
                  <a:srgbClr val="000000"/>
                </a:solidFill>
              </a:rPr>
              <a:t>Personas</a:t>
            </a:r>
          </a:p>
        </p:txBody>
      </p:sp>
      <p:sp>
        <p:nvSpPr>
          <p:cNvPr id="197" name="AutoShape 179"/>
          <p:cNvSpPr>
            <a:spLocks noChangeArrowheads="1"/>
          </p:cNvSpPr>
          <p:nvPr/>
        </p:nvSpPr>
        <p:spPr bwMode="auto">
          <a:xfrm>
            <a:off x="611560" y="3482416"/>
            <a:ext cx="3960812" cy="1275707"/>
          </a:xfrm>
          <a:prstGeom prst="roundRect">
            <a:avLst>
              <a:gd name="adj" fmla="val 9481"/>
            </a:avLst>
          </a:prstGeom>
          <a:solidFill>
            <a:schemeClr val="accent1">
              <a:lumMod val="20000"/>
              <a:lumOff val="80000"/>
            </a:schemeClr>
          </a:solidFill>
          <a:ln w="9525" algn="ctr">
            <a:noFill/>
            <a:round/>
            <a:headEnd/>
            <a:tailEnd/>
          </a:ln>
          <a:effectLst/>
        </p:spPr>
        <p:txBody>
          <a:bodyPr wrap="none" anchor="ctr"/>
          <a:lstStyle/>
          <a:p>
            <a:endParaRPr lang="es-CL">
              <a:solidFill>
                <a:srgbClr val="002060"/>
              </a:solidFill>
            </a:endParaRPr>
          </a:p>
        </p:txBody>
      </p:sp>
      <p:sp>
        <p:nvSpPr>
          <p:cNvPr id="198" name="Text Box 30"/>
          <p:cNvSpPr txBox="1">
            <a:spLocks noChangeArrowheads="1"/>
          </p:cNvSpPr>
          <p:nvPr/>
        </p:nvSpPr>
        <p:spPr bwMode="auto">
          <a:xfrm>
            <a:off x="190747" y="3259373"/>
            <a:ext cx="3671888" cy="276999"/>
          </a:xfrm>
          <a:prstGeom prst="rect">
            <a:avLst/>
          </a:prstGeom>
          <a:noFill/>
          <a:ln w="9525" algn="ctr">
            <a:noFill/>
            <a:miter lim="800000"/>
            <a:headEnd/>
            <a:tailEnd/>
          </a:ln>
          <a:effectLst/>
        </p:spPr>
        <p:txBody>
          <a:bodyPr>
            <a:spAutoFit/>
          </a:bodyPr>
          <a:lstStyle/>
          <a:p>
            <a:pPr>
              <a:spcBef>
                <a:spcPct val="50000"/>
              </a:spcBef>
            </a:pPr>
            <a:r>
              <a:rPr lang="es-CL" sz="1200" b="1" i="1" dirty="0">
                <a:solidFill>
                  <a:srgbClr val="A3A3E0"/>
                </a:solidFill>
              </a:rPr>
              <a:t>Resultados valoración de riesgos</a:t>
            </a:r>
            <a:endParaRPr lang="es-ES" sz="1200" b="1" i="1" dirty="0">
              <a:solidFill>
                <a:srgbClr val="A3A3E0"/>
              </a:solidFill>
            </a:endParaRPr>
          </a:p>
        </p:txBody>
      </p:sp>
      <p:sp>
        <p:nvSpPr>
          <p:cNvPr id="199" name="Rounded Rectangle 198"/>
          <p:cNvSpPr/>
          <p:nvPr/>
        </p:nvSpPr>
        <p:spPr>
          <a:xfrm>
            <a:off x="902959" y="4255955"/>
            <a:ext cx="1920240" cy="170094"/>
          </a:xfrm>
          <a:prstGeom prst="roundRect">
            <a:avLst/>
          </a:prstGeom>
          <a:solidFill>
            <a:srgbClr val="DB0613"/>
          </a:solidFill>
          <a:ln w="9525" algn="ctr">
            <a:noFill/>
            <a:miter lim="800000"/>
            <a:headEnd/>
            <a:tailEnd/>
          </a:ln>
          <a:effectLst/>
        </p:spPr>
        <p:txBody>
          <a:bodyPr tIns="91440" anchor="ctr"/>
          <a:lstStyle/>
          <a:p>
            <a:pPr>
              <a:lnSpc>
                <a:spcPct val="80000"/>
              </a:lnSpc>
            </a:pPr>
            <a:r>
              <a:rPr lang="es-CL" sz="1100" b="1" dirty="0">
                <a:solidFill>
                  <a:srgbClr val="FFFFFF"/>
                </a:solidFill>
                <a:cs typeface="Arial" pitchFamily="34" charset="0"/>
              </a:rPr>
              <a:t>Pérdida Esperada Anual</a:t>
            </a:r>
          </a:p>
        </p:txBody>
      </p:sp>
      <p:sp>
        <p:nvSpPr>
          <p:cNvPr id="200" name="Rectangle 18"/>
          <p:cNvSpPr>
            <a:spLocks noChangeArrowheads="1"/>
          </p:cNvSpPr>
          <p:nvPr/>
        </p:nvSpPr>
        <p:spPr bwMode="auto">
          <a:xfrm>
            <a:off x="2859920" y="4255955"/>
            <a:ext cx="1554480" cy="170094"/>
          </a:xfrm>
          <a:prstGeom prst="rect">
            <a:avLst/>
          </a:prstGeom>
          <a:solidFill>
            <a:schemeClr val="bg1"/>
          </a:solidFill>
          <a:ln w="9525" algn="ctr">
            <a:solidFill>
              <a:schemeClr val="bg2"/>
            </a:solidFill>
            <a:miter lim="800000"/>
            <a:headEnd/>
            <a:tailEnd/>
          </a:ln>
          <a:effectLst/>
        </p:spPr>
        <p:txBody>
          <a:bodyPr anchor="ctr"/>
          <a:lstStyle/>
          <a:p>
            <a:pPr algn="ctr"/>
            <a:r>
              <a:rPr lang="es-ES" sz="1100" dirty="0">
                <a:solidFill>
                  <a:srgbClr val="000000"/>
                </a:solidFill>
              </a:rPr>
              <a:t>s/. 32</a:t>
            </a:r>
            <a:r>
              <a:rPr lang="es-ES" sz="1100" dirty="0"/>
              <a:t>0 .00</a:t>
            </a:r>
            <a:endParaRPr lang="es-ES" sz="1100" dirty="0">
              <a:solidFill>
                <a:srgbClr val="000000"/>
              </a:solidFill>
            </a:endParaRPr>
          </a:p>
        </p:txBody>
      </p:sp>
      <p:sp>
        <p:nvSpPr>
          <p:cNvPr id="201" name="Rounded Rectangle 200"/>
          <p:cNvSpPr/>
          <p:nvPr/>
        </p:nvSpPr>
        <p:spPr>
          <a:xfrm>
            <a:off x="902959" y="4485567"/>
            <a:ext cx="1920240" cy="170094"/>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VaR Cualitativo Anual</a:t>
            </a:r>
          </a:p>
        </p:txBody>
      </p:sp>
      <p:sp>
        <p:nvSpPr>
          <p:cNvPr id="202" name="Rectangle 18"/>
          <p:cNvSpPr>
            <a:spLocks noChangeArrowheads="1"/>
          </p:cNvSpPr>
          <p:nvPr/>
        </p:nvSpPr>
        <p:spPr bwMode="auto">
          <a:xfrm>
            <a:off x="2859920" y="4485567"/>
            <a:ext cx="1554480" cy="170094"/>
          </a:xfrm>
          <a:prstGeom prst="rect">
            <a:avLst/>
          </a:prstGeom>
          <a:solidFill>
            <a:schemeClr val="bg1"/>
          </a:solidFill>
          <a:ln w="9525" algn="ctr">
            <a:solidFill>
              <a:schemeClr val="bg2"/>
            </a:solidFill>
            <a:miter lim="800000"/>
            <a:headEnd/>
            <a:tailEnd/>
          </a:ln>
          <a:effectLst/>
        </p:spPr>
        <p:txBody>
          <a:bodyPr anchor="ctr"/>
          <a:lstStyle/>
          <a:p>
            <a:pPr algn="ctr"/>
            <a:r>
              <a:rPr lang="es-ES" sz="1100" dirty="0"/>
              <a:t>s</a:t>
            </a:r>
            <a:r>
              <a:rPr lang="es-ES" sz="1100" dirty="0">
                <a:solidFill>
                  <a:srgbClr val="000000"/>
                </a:solidFill>
              </a:rPr>
              <a:t>/.</a:t>
            </a:r>
            <a:r>
              <a:rPr lang="es-ES" sz="1100" dirty="0"/>
              <a:t> 3,082.69  </a:t>
            </a:r>
            <a:endParaRPr lang="es-ES" sz="1100" dirty="0">
              <a:solidFill>
                <a:srgbClr val="000000"/>
              </a:solidFill>
            </a:endParaRPr>
          </a:p>
        </p:txBody>
      </p:sp>
      <p:sp>
        <p:nvSpPr>
          <p:cNvPr id="203" name="Rounded Rectangle 202"/>
          <p:cNvSpPr/>
          <p:nvPr/>
        </p:nvSpPr>
        <p:spPr>
          <a:xfrm>
            <a:off x="891084" y="3553916"/>
            <a:ext cx="1920240" cy="170094"/>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Frecuencia  Evento Pérdida</a:t>
            </a:r>
          </a:p>
        </p:txBody>
      </p:sp>
      <p:sp>
        <p:nvSpPr>
          <p:cNvPr id="204" name="Rectangle 18"/>
          <p:cNvSpPr>
            <a:spLocks noChangeArrowheads="1"/>
          </p:cNvSpPr>
          <p:nvPr/>
        </p:nvSpPr>
        <p:spPr bwMode="auto">
          <a:xfrm>
            <a:off x="2859920" y="3553916"/>
            <a:ext cx="1554480" cy="170094"/>
          </a:xfrm>
          <a:prstGeom prst="rect">
            <a:avLst/>
          </a:prstGeom>
          <a:solidFill>
            <a:schemeClr val="bg1"/>
          </a:solidFill>
          <a:ln w="9525" algn="ctr">
            <a:solidFill>
              <a:schemeClr val="bg2"/>
            </a:solidFill>
            <a:miter lim="800000"/>
            <a:headEnd/>
            <a:tailEnd/>
          </a:ln>
          <a:effectLst/>
        </p:spPr>
        <p:txBody>
          <a:bodyPr anchor="ctr"/>
          <a:lstStyle/>
          <a:p>
            <a:pPr algn="ctr"/>
            <a:r>
              <a:rPr lang="es-ES" sz="1100" dirty="0">
                <a:solidFill>
                  <a:srgbClr val="000000"/>
                </a:solidFill>
              </a:rPr>
              <a:t>4 veces por 10 años</a:t>
            </a:r>
          </a:p>
        </p:txBody>
      </p:sp>
      <p:sp>
        <p:nvSpPr>
          <p:cNvPr id="205" name="Rounded Rectangle 204"/>
          <p:cNvSpPr/>
          <p:nvPr/>
        </p:nvSpPr>
        <p:spPr>
          <a:xfrm>
            <a:off x="891084" y="3783528"/>
            <a:ext cx="1920240" cy="170094"/>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Impacto Medio Evento</a:t>
            </a:r>
          </a:p>
        </p:txBody>
      </p:sp>
      <p:sp>
        <p:nvSpPr>
          <p:cNvPr id="206" name="Rectangle 18"/>
          <p:cNvSpPr>
            <a:spLocks noChangeArrowheads="1"/>
          </p:cNvSpPr>
          <p:nvPr/>
        </p:nvSpPr>
        <p:spPr bwMode="auto">
          <a:xfrm>
            <a:off x="2859920" y="3783528"/>
            <a:ext cx="1554480" cy="170094"/>
          </a:xfrm>
          <a:prstGeom prst="rect">
            <a:avLst/>
          </a:prstGeom>
          <a:solidFill>
            <a:schemeClr val="bg1"/>
          </a:solidFill>
          <a:ln w="9525" algn="ctr">
            <a:solidFill>
              <a:schemeClr val="bg2"/>
            </a:solidFill>
            <a:miter lim="800000"/>
            <a:headEnd/>
            <a:tailEnd/>
          </a:ln>
          <a:effectLst/>
        </p:spPr>
        <p:txBody>
          <a:bodyPr anchor="ctr"/>
          <a:lstStyle/>
          <a:p>
            <a:pPr algn="ctr"/>
            <a:r>
              <a:rPr lang="es-ES" sz="1100" dirty="0">
                <a:solidFill>
                  <a:srgbClr val="000000"/>
                </a:solidFill>
              </a:rPr>
              <a:t>s/.80 </a:t>
            </a:r>
            <a:r>
              <a:rPr lang="es-ES" sz="1100" dirty="0"/>
              <a:t>0.00 </a:t>
            </a:r>
            <a:endParaRPr lang="es-ES" sz="1100" dirty="0">
              <a:solidFill>
                <a:srgbClr val="000000"/>
              </a:solidFill>
            </a:endParaRPr>
          </a:p>
        </p:txBody>
      </p:sp>
      <p:sp>
        <p:nvSpPr>
          <p:cNvPr id="207" name="Rounded Rectangle 206"/>
          <p:cNvSpPr/>
          <p:nvPr/>
        </p:nvSpPr>
        <p:spPr>
          <a:xfrm>
            <a:off x="891084" y="4019108"/>
            <a:ext cx="1920240" cy="170094"/>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Impacto Peor Escenario</a:t>
            </a:r>
          </a:p>
        </p:txBody>
      </p:sp>
      <p:sp>
        <p:nvSpPr>
          <p:cNvPr id="208" name="Rectangle 18"/>
          <p:cNvSpPr>
            <a:spLocks noChangeArrowheads="1"/>
          </p:cNvSpPr>
          <p:nvPr/>
        </p:nvSpPr>
        <p:spPr bwMode="auto">
          <a:xfrm>
            <a:off x="2859920" y="4019108"/>
            <a:ext cx="1554480" cy="170094"/>
          </a:xfrm>
          <a:prstGeom prst="rect">
            <a:avLst/>
          </a:prstGeom>
          <a:solidFill>
            <a:schemeClr val="bg1"/>
          </a:solidFill>
          <a:ln w="9525" algn="ctr">
            <a:solidFill>
              <a:schemeClr val="bg2"/>
            </a:solidFill>
            <a:miter lim="800000"/>
            <a:headEnd/>
            <a:tailEnd/>
          </a:ln>
          <a:effectLst/>
        </p:spPr>
        <p:txBody>
          <a:bodyPr anchor="ctr"/>
          <a:lstStyle/>
          <a:p>
            <a:pPr algn="ctr"/>
            <a:r>
              <a:rPr lang="es-ES" sz="1100" dirty="0">
                <a:solidFill>
                  <a:srgbClr val="000000"/>
                </a:solidFill>
              </a:rPr>
              <a:t>s/. 1,60</a:t>
            </a:r>
            <a:r>
              <a:rPr lang="es-ES" sz="1100" dirty="0"/>
              <a:t>0.00</a:t>
            </a:r>
            <a:endParaRPr lang="es-ES" sz="1100" dirty="0">
              <a:solidFill>
                <a:srgbClr val="000000"/>
              </a:solidFill>
            </a:endParaRPr>
          </a:p>
        </p:txBody>
      </p:sp>
      <p:sp>
        <p:nvSpPr>
          <p:cNvPr id="209" name="AutoShape 47"/>
          <p:cNvSpPr>
            <a:spLocks noChangeAspect="1" noChangeArrowheads="1"/>
          </p:cNvSpPr>
          <p:nvPr/>
        </p:nvSpPr>
        <p:spPr bwMode="blackWhite">
          <a:xfrm>
            <a:off x="263032" y="3482416"/>
            <a:ext cx="503986" cy="1274400"/>
          </a:xfrm>
          <a:prstGeom prst="rightArrow">
            <a:avLst>
              <a:gd name="adj1" fmla="val 100000"/>
              <a:gd name="adj2" fmla="val 11009"/>
            </a:avLst>
          </a:prstGeom>
          <a:solidFill>
            <a:srgbClr val="969696"/>
          </a:solidFill>
          <a:ln w="12700">
            <a:noFill/>
            <a:miter lim="800000"/>
            <a:headEnd/>
            <a:tailEnd/>
          </a:ln>
          <a:effectLst>
            <a:outerShdw dist="35921" dir="2700000" algn="ctr" rotWithShape="0">
              <a:schemeClr val="bg2"/>
            </a:outerShdw>
          </a:effectLst>
        </p:spPr>
        <p:txBody>
          <a:bodyPr vert="vert270" anchor="ctr"/>
          <a:lstStyle/>
          <a:p>
            <a:pPr algn="ctr">
              <a:lnSpc>
                <a:spcPts val="1000"/>
              </a:lnSpc>
            </a:pPr>
            <a:r>
              <a:rPr lang="es-ES" sz="1100" b="1" noProof="1">
                <a:solidFill>
                  <a:srgbClr val="FFFFFF"/>
                </a:solidFill>
                <a:cs typeface="Arial" charset="0"/>
              </a:rPr>
              <a:t>Evaluación Riesgo Operacional</a:t>
            </a:r>
          </a:p>
        </p:txBody>
      </p:sp>
      <p:sp>
        <p:nvSpPr>
          <p:cNvPr id="210" name="AutoShape 179"/>
          <p:cNvSpPr>
            <a:spLocks noChangeArrowheads="1"/>
          </p:cNvSpPr>
          <p:nvPr/>
        </p:nvSpPr>
        <p:spPr bwMode="auto">
          <a:xfrm>
            <a:off x="4932039" y="3493021"/>
            <a:ext cx="4037169" cy="864000"/>
          </a:xfrm>
          <a:prstGeom prst="roundRect">
            <a:avLst>
              <a:gd name="adj" fmla="val 9481"/>
            </a:avLst>
          </a:prstGeom>
          <a:solidFill>
            <a:schemeClr val="accent1">
              <a:lumMod val="20000"/>
              <a:lumOff val="80000"/>
            </a:schemeClr>
          </a:solidFill>
          <a:ln w="9525" algn="ctr">
            <a:noFill/>
            <a:round/>
            <a:headEnd/>
            <a:tailEnd/>
          </a:ln>
          <a:effectLst/>
        </p:spPr>
        <p:txBody>
          <a:bodyPr wrap="none" anchor="ctr"/>
          <a:lstStyle/>
          <a:p>
            <a:endParaRPr lang="es-CL">
              <a:solidFill>
                <a:srgbClr val="002060"/>
              </a:solidFill>
            </a:endParaRPr>
          </a:p>
        </p:txBody>
      </p:sp>
      <p:sp>
        <p:nvSpPr>
          <p:cNvPr id="211" name="AutoShape 47"/>
          <p:cNvSpPr>
            <a:spLocks noChangeArrowheads="1"/>
          </p:cNvSpPr>
          <p:nvPr/>
        </p:nvSpPr>
        <p:spPr bwMode="blackWhite">
          <a:xfrm>
            <a:off x="4678512" y="3494523"/>
            <a:ext cx="353942" cy="864000"/>
          </a:xfrm>
          <a:prstGeom prst="rightArrow">
            <a:avLst>
              <a:gd name="adj1" fmla="val 100000"/>
              <a:gd name="adj2" fmla="val 11009"/>
            </a:avLst>
          </a:prstGeom>
          <a:solidFill>
            <a:srgbClr val="969696"/>
          </a:solidFill>
          <a:ln w="12700">
            <a:noFill/>
            <a:miter lim="800000"/>
            <a:headEnd/>
            <a:tailEnd/>
          </a:ln>
          <a:effectLst>
            <a:outerShdw dist="35921" dir="2700000" algn="ctr" rotWithShape="0">
              <a:schemeClr val="bg2"/>
            </a:outerShdw>
          </a:effectLst>
        </p:spPr>
        <p:txBody>
          <a:bodyPr vert="vert270" anchor="ctr"/>
          <a:lstStyle/>
          <a:p>
            <a:pPr algn="ctr">
              <a:lnSpc>
                <a:spcPts val="1000"/>
              </a:lnSpc>
            </a:pPr>
            <a:r>
              <a:rPr lang="es-ES" sz="1100" b="1" noProof="1">
                <a:solidFill>
                  <a:srgbClr val="FFFFFF"/>
                </a:solidFill>
                <a:cs typeface="Arial" charset="0"/>
              </a:rPr>
              <a:t>Impacto Reputacional</a:t>
            </a:r>
          </a:p>
        </p:txBody>
      </p:sp>
      <p:sp>
        <p:nvSpPr>
          <p:cNvPr id="212" name="Rectangle 18"/>
          <p:cNvSpPr>
            <a:spLocks noChangeArrowheads="1"/>
          </p:cNvSpPr>
          <p:nvPr/>
        </p:nvSpPr>
        <p:spPr bwMode="auto">
          <a:xfrm>
            <a:off x="8334310" y="3568288"/>
            <a:ext cx="548640" cy="170094"/>
          </a:xfrm>
          <a:prstGeom prst="rect">
            <a:avLst/>
          </a:prstGeom>
          <a:solidFill>
            <a:schemeClr val="bg1"/>
          </a:solidFill>
          <a:ln w="9525" algn="ctr">
            <a:solidFill>
              <a:schemeClr val="bg2"/>
            </a:solidFill>
            <a:miter lim="800000"/>
            <a:headEnd/>
            <a:tailEnd/>
          </a:ln>
          <a:effectLst/>
        </p:spPr>
        <p:txBody>
          <a:bodyPr anchor="ctr"/>
          <a:lstStyle/>
          <a:p>
            <a:pPr algn="ctr"/>
            <a:r>
              <a:rPr lang="es-ES" sz="1100" dirty="0">
                <a:solidFill>
                  <a:srgbClr val="002060"/>
                </a:solidFill>
              </a:rPr>
              <a:t>1</a:t>
            </a:r>
          </a:p>
        </p:txBody>
      </p:sp>
      <p:sp>
        <p:nvSpPr>
          <p:cNvPr id="213" name="Rounded Rectangle 212"/>
          <p:cNvSpPr/>
          <p:nvPr/>
        </p:nvSpPr>
        <p:spPr>
          <a:xfrm>
            <a:off x="5102950" y="3568288"/>
            <a:ext cx="3132000" cy="170094"/>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Afectación a contrapartes</a:t>
            </a:r>
          </a:p>
        </p:txBody>
      </p:sp>
      <p:sp>
        <p:nvSpPr>
          <p:cNvPr id="214" name="Rectangle 18"/>
          <p:cNvSpPr>
            <a:spLocks noChangeArrowheads="1"/>
          </p:cNvSpPr>
          <p:nvPr/>
        </p:nvSpPr>
        <p:spPr bwMode="auto">
          <a:xfrm>
            <a:off x="5102950" y="3786445"/>
            <a:ext cx="3780000" cy="469509"/>
          </a:xfrm>
          <a:prstGeom prst="rect">
            <a:avLst/>
          </a:prstGeom>
          <a:solidFill>
            <a:schemeClr val="bg1"/>
          </a:solidFill>
          <a:ln w="9525" algn="ctr">
            <a:solidFill>
              <a:schemeClr val="bg2"/>
            </a:solidFill>
            <a:miter lim="800000"/>
            <a:headEnd/>
            <a:tailEnd/>
          </a:ln>
          <a:effectLst/>
        </p:spPr>
        <p:txBody>
          <a:bodyPr anchor="ctr"/>
          <a:lstStyle/>
          <a:p>
            <a:r>
              <a:rPr lang="es-ES" sz="1100" dirty="0">
                <a:solidFill>
                  <a:srgbClr val="000000"/>
                </a:solidFill>
              </a:rPr>
              <a:t>La exposición de la imagen es únicamente interna y limitada.</a:t>
            </a:r>
          </a:p>
        </p:txBody>
      </p:sp>
      <p:sp>
        <p:nvSpPr>
          <p:cNvPr id="215" name="Text Box 30"/>
          <p:cNvSpPr txBox="1">
            <a:spLocks noChangeArrowheads="1"/>
          </p:cNvSpPr>
          <p:nvPr/>
        </p:nvSpPr>
        <p:spPr bwMode="auto">
          <a:xfrm>
            <a:off x="190746" y="4838419"/>
            <a:ext cx="3996000" cy="276999"/>
          </a:xfrm>
          <a:prstGeom prst="rect">
            <a:avLst/>
          </a:prstGeom>
          <a:noFill/>
          <a:ln w="9525" algn="ctr">
            <a:noFill/>
            <a:miter lim="800000"/>
            <a:headEnd/>
            <a:tailEnd/>
          </a:ln>
          <a:effectLst/>
        </p:spPr>
        <p:txBody>
          <a:bodyPr wrap="square">
            <a:spAutoFit/>
          </a:bodyPr>
          <a:lstStyle/>
          <a:p>
            <a:pPr>
              <a:spcBef>
                <a:spcPct val="50000"/>
              </a:spcBef>
            </a:pPr>
            <a:r>
              <a:rPr lang="es-CL" sz="1200" b="1" i="1" dirty="0">
                <a:solidFill>
                  <a:srgbClr val="A3A3E0"/>
                </a:solidFill>
              </a:rPr>
              <a:t>Resultados valoración de controles / factores mitigantes</a:t>
            </a:r>
            <a:endParaRPr lang="es-ES" sz="1200" b="1" i="1" dirty="0">
              <a:solidFill>
                <a:srgbClr val="A3A3E0"/>
              </a:solidFill>
            </a:endParaRPr>
          </a:p>
        </p:txBody>
      </p:sp>
      <p:sp>
        <p:nvSpPr>
          <p:cNvPr id="219" name="AutoShape 179"/>
          <p:cNvSpPr>
            <a:spLocks noChangeArrowheads="1"/>
          </p:cNvSpPr>
          <p:nvPr/>
        </p:nvSpPr>
        <p:spPr bwMode="auto">
          <a:xfrm>
            <a:off x="4927319" y="4397238"/>
            <a:ext cx="4037169" cy="892800"/>
          </a:xfrm>
          <a:prstGeom prst="roundRect">
            <a:avLst>
              <a:gd name="adj" fmla="val 9481"/>
            </a:avLst>
          </a:prstGeom>
          <a:solidFill>
            <a:schemeClr val="accent1">
              <a:lumMod val="20000"/>
              <a:lumOff val="80000"/>
            </a:schemeClr>
          </a:solidFill>
          <a:ln w="9525" algn="ctr">
            <a:noFill/>
            <a:round/>
            <a:headEnd/>
            <a:tailEnd/>
          </a:ln>
          <a:effectLst/>
        </p:spPr>
        <p:txBody>
          <a:bodyPr wrap="none" anchor="ctr"/>
          <a:lstStyle/>
          <a:p>
            <a:endParaRPr lang="es-CL">
              <a:solidFill>
                <a:srgbClr val="002060"/>
              </a:solidFill>
            </a:endParaRPr>
          </a:p>
        </p:txBody>
      </p:sp>
      <p:sp>
        <p:nvSpPr>
          <p:cNvPr id="220" name="AutoShape 47"/>
          <p:cNvSpPr>
            <a:spLocks noChangeArrowheads="1"/>
          </p:cNvSpPr>
          <p:nvPr/>
        </p:nvSpPr>
        <p:spPr bwMode="blackWhite">
          <a:xfrm>
            <a:off x="4673792" y="4398740"/>
            <a:ext cx="352800" cy="892800"/>
          </a:xfrm>
          <a:prstGeom prst="rightArrow">
            <a:avLst>
              <a:gd name="adj1" fmla="val 100000"/>
              <a:gd name="adj2" fmla="val 11009"/>
            </a:avLst>
          </a:prstGeom>
          <a:solidFill>
            <a:srgbClr val="969696"/>
          </a:solidFill>
          <a:ln w="12700">
            <a:noFill/>
            <a:miter lim="800000"/>
            <a:headEnd/>
            <a:tailEnd/>
          </a:ln>
          <a:effectLst>
            <a:outerShdw dist="35921" dir="2700000" algn="ctr" rotWithShape="0">
              <a:schemeClr val="bg2"/>
            </a:outerShdw>
          </a:effectLst>
        </p:spPr>
        <p:txBody>
          <a:bodyPr vert="vert270" anchor="ctr"/>
          <a:lstStyle/>
          <a:p>
            <a:pPr algn="ctr">
              <a:lnSpc>
                <a:spcPts val="1000"/>
              </a:lnSpc>
            </a:pPr>
            <a:r>
              <a:rPr lang="es-ES" sz="1100" b="1" noProof="1">
                <a:solidFill>
                  <a:srgbClr val="FFFFFF"/>
                </a:solidFill>
                <a:cs typeface="Arial" charset="0"/>
              </a:rPr>
              <a:t>Cuestionarios</a:t>
            </a:r>
          </a:p>
        </p:txBody>
      </p:sp>
      <p:sp>
        <p:nvSpPr>
          <p:cNvPr id="222" name="Rounded Rectangle 38"/>
          <p:cNvSpPr/>
          <p:nvPr/>
        </p:nvSpPr>
        <p:spPr>
          <a:xfrm>
            <a:off x="5098230" y="4472505"/>
            <a:ext cx="3132000" cy="170094"/>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Criterios de Evaluación</a:t>
            </a:r>
          </a:p>
        </p:txBody>
      </p:sp>
      <p:sp>
        <p:nvSpPr>
          <p:cNvPr id="223" name="AutoShape 179"/>
          <p:cNvSpPr>
            <a:spLocks noChangeArrowheads="1"/>
          </p:cNvSpPr>
          <p:nvPr/>
        </p:nvSpPr>
        <p:spPr bwMode="auto">
          <a:xfrm>
            <a:off x="534831" y="5060900"/>
            <a:ext cx="4037169" cy="864000"/>
          </a:xfrm>
          <a:prstGeom prst="roundRect">
            <a:avLst>
              <a:gd name="adj" fmla="val 9481"/>
            </a:avLst>
          </a:prstGeom>
          <a:solidFill>
            <a:schemeClr val="accent1">
              <a:lumMod val="20000"/>
              <a:lumOff val="80000"/>
            </a:schemeClr>
          </a:solidFill>
          <a:ln w="9525" algn="ctr">
            <a:noFill/>
            <a:round/>
            <a:headEnd/>
            <a:tailEnd/>
          </a:ln>
          <a:effectLst/>
        </p:spPr>
        <p:txBody>
          <a:bodyPr wrap="none" anchor="ctr"/>
          <a:lstStyle/>
          <a:p>
            <a:endParaRPr lang="es-CL">
              <a:solidFill>
                <a:srgbClr val="002060"/>
              </a:solidFill>
            </a:endParaRPr>
          </a:p>
        </p:txBody>
      </p:sp>
      <p:sp>
        <p:nvSpPr>
          <p:cNvPr id="224" name="AutoShape 47"/>
          <p:cNvSpPr>
            <a:spLocks noChangeArrowheads="1"/>
          </p:cNvSpPr>
          <p:nvPr/>
        </p:nvSpPr>
        <p:spPr bwMode="blackWhite">
          <a:xfrm>
            <a:off x="281304" y="5062402"/>
            <a:ext cx="353942" cy="864000"/>
          </a:xfrm>
          <a:prstGeom prst="rightArrow">
            <a:avLst>
              <a:gd name="adj1" fmla="val 100000"/>
              <a:gd name="adj2" fmla="val 11009"/>
            </a:avLst>
          </a:prstGeom>
          <a:solidFill>
            <a:srgbClr val="969696"/>
          </a:solidFill>
          <a:ln w="12700">
            <a:noFill/>
            <a:miter lim="800000"/>
            <a:headEnd/>
            <a:tailEnd/>
          </a:ln>
          <a:effectLst>
            <a:outerShdw dist="35921" dir="2700000" algn="ctr" rotWithShape="0">
              <a:schemeClr val="bg2"/>
            </a:outerShdw>
          </a:effectLst>
        </p:spPr>
        <p:txBody>
          <a:bodyPr vert="vert270" anchor="ctr"/>
          <a:lstStyle/>
          <a:p>
            <a:pPr algn="ctr">
              <a:lnSpc>
                <a:spcPts val="1000"/>
              </a:lnSpc>
            </a:pPr>
            <a:r>
              <a:rPr lang="es-ES" sz="1100" b="1" noProof="1">
                <a:solidFill>
                  <a:srgbClr val="FFFFFF"/>
                </a:solidFill>
                <a:cs typeface="Arial" charset="0"/>
              </a:rPr>
              <a:t>Evaluación de Controles</a:t>
            </a:r>
          </a:p>
        </p:txBody>
      </p:sp>
      <p:sp>
        <p:nvSpPr>
          <p:cNvPr id="225" name="Rectangle 18"/>
          <p:cNvSpPr>
            <a:spLocks noChangeArrowheads="1"/>
          </p:cNvSpPr>
          <p:nvPr/>
        </p:nvSpPr>
        <p:spPr bwMode="auto">
          <a:xfrm>
            <a:off x="3937102" y="5136167"/>
            <a:ext cx="548640" cy="170094"/>
          </a:xfrm>
          <a:prstGeom prst="rect">
            <a:avLst/>
          </a:prstGeom>
          <a:solidFill>
            <a:schemeClr val="bg1"/>
          </a:solidFill>
          <a:ln w="9525" algn="ctr">
            <a:solidFill>
              <a:schemeClr val="bg2"/>
            </a:solidFill>
            <a:miter lim="800000"/>
            <a:headEnd/>
            <a:tailEnd/>
          </a:ln>
          <a:effectLst/>
        </p:spPr>
        <p:txBody>
          <a:bodyPr anchor="ctr"/>
          <a:lstStyle/>
          <a:p>
            <a:pPr algn="ctr"/>
            <a:r>
              <a:rPr lang="es-ES" sz="1100" dirty="0">
                <a:solidFill>
                  <a:srgbClr val="002060"/>
                </a:solidFill>
              </a:rPr>
              <a:t>1</a:t>
            </a:r>
          </a:p>
        </p:txBody>
      </p:sp>
      <p:sp>
        <p:nvSpPr>
          <p:cNvPr id="226" name="Rounded Rectangle 38"/>
          <p:cNvSpPr/>
          <p:nvPr/>
        </p:nvSpPr>
        <p:spPr>
          <a:xfrm>
            <a:off x="705742" y="5136167"/>
            <a:ext cx="3132000" cy="170094"/>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Controles asociados al riesgo</a:t>
            </a:r>
          </a:p>
        </p:txBody>
      </p:sp>
      <p:sp>
        <p:nvSpPr>
          <p:cNvPr id="227" name="Rectangle 18"/>
          <p:cNvSpPr>
            <a:spLocks noChangeArrowheads="1"/>
          </p:cNvSpPr>
          <p:nvPr/>
        </p:nvSpPr>
        <p:spPr bwMode="auto">
          <a:xfrm>
            <a:off x="5102950" y="4685678"/>
            <a:ext cx="3780000" cy="469509"/>
          </a:xfrm>
          <a:prstGeom prst="rect">
            <a:avLst/>
          </a:prstGeom>
          <a:solidFill>
            <a:schemeClr val="bg1"/>
          </a:solidFill>
          <a:ln w="9525" algn="ctr">
            <a:solidFill>
              <a:schemeClr val="bg2"/>
            </a:solidFill>
            <a:miter lim="800000"/>
            <a:headEnd/>
            <a:tailEnd/>
          </a:ln>
          <a:effectLst/>
        </p:spPr>
        <p:txBody>
          <a:bodyPr anchor="ctr"/>
          <a:lstStyle/>
          <a:p>
            <a:r>
              <a:rPr lang="es-ES" sz="1050" dirty="0"/>
              <a:t>La valoración del riesgo se ha basado en el promedio de intereses que se podrían dejar de ganar a diario, es decir, s./ 800.</a:t>
            </a:r>
          </a:p>
        </p:txBody>
      </p:sp>
      <p:sp>
        <p:nvSpPr>
          <p:cNvPr id="228" name="Rectangle 18"/>
          <p:cNvSpPr>
            <a:spLocks noChangeArrowheads="1"/>
          </p:cNvSpPr>
          <p:nvPr/>
        </p:nvSpPr>
        <p:spPr bwMode="auto">
          <a:xfrm>
            <a:off x="705742" y="5357175"/>
            <a:ext cx="3780000" cy="469509"/>
          </a:xfrm>
          <a:prstGeom prst="rect">
            <a:avLst/>
          </a:prstGeom>
          <a:solidFill>
            <a:schemeClr val="bg1"/>
          </a:solidFill>
          <a:ln w="9525" algn="ctr">
            <a:solidFill>
              <a:schemeClr val="bg2"/>
            </a:solidFill>
            <a:miter lim="800000"/>
            <a:headEnd/>
            <a:tailEnd/>
          </a:ln>
          <a:effectLst/>
        </p:spPr>
        <p:txBody>
          <a:bodyPr anchor="ctr"/>
          <a:lstStyle/>
          <a:p>
            <a:r>
              <a:rPr lang="es-ES" sz="1100" dirty="0">
                <a:solidFill>
                  <a:srgbClr val="000000"/>
                </a:solidFill>
              </a:rPr>
              <a:t>Revisión de los datos generados en la operativa por parte del Jefe de gestión de Inversión (Mitigante)</a:t>
            </a:r>
          </a:p>
        </p:txBody>
      </p:sp>
    </p:spTree>
    <p:extLst>
      <p:ext uri="{BB962C8B-B14F-4D97-AF65-F5344CB8AC3E}">
        <p14:creationId xmlns:p14="http://schemas.microsoft.com/office/powerpoint/2010/main" val="2257877357"/>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dirty="0"/>
              <a:t>Anexo: Ficha Individual Riesgos Operacionales</a:t>
            </a:r>
          </a:p>
        </p:txBody>
      </p:sp>
      <p:sp>
        <p:nvSpPr>
          <p:cNvPr id="3" name="AutoShape 179"/>
          <p:cNvSpPr>
            <a:spLocks noChangeArrowheads="1"/>
          </p:cNvSpPr>
          <p:nvPr/>
        </p:nvSpPr>
        <p:spPr bwMode="auto">
          <a:xfrm>
            <a:off x="611560" y="3535397"/>
            <a:ext cx="3960812" cy="1371600"/>
          </a:xfrm>
          <a:prstGeom prst="roundRect">
            <a:avLst>
              <a:gd name="adj" fmla="val 9481"/>
            </a:avLst>
          </a:prstGeom>
          <a:solidFill>
            <a:schemeClr val="accent1">
              <a:lumMod val="20000"/>
              <a:lumOff val="80000"/>
            </a:schemeClr>
          </a:solidFill>
          <a:ln w="9525" algn="ctr">
            <a:noFill/>
            <a:round/>
            <a:headEnd/>
            <a:tailEnd/>
          </a:ln>
          <a:effectLst/>
        </p:spPr>
        <p:txBody>
          <a:bodyPr wrap="none" anchor="ctr"/>
          <a:lstStyle/>
          <a:p>
            <a:endParaRPr lang="es-CL">
              <a:solidFill>
                <a:srgbClr val="002060"/>
              </a:solidFill>
            </a:endParaRPr>
          </a:p>
        </p:txBody>
      </p:sp>
      <p:sp>
        <p:nvSpPr>
          <p:cNvPr id="4" name="Rounded Rectangle 3"/>
          <p:cNvSpPr/>
          <p:nvPr/>
        </p:nvSpPr>
        <p:spPr>
          <a:xfrm>
            <a:off x="214497" y="764704"/>
            <a:ext cx="397063" cy="274320"/>
          </a:xfrm>
          <a:prstGeom prst="roundRect">
            <a:avLst/>
          </a:prstGeom>
          <a:solidFill>
            <a:srgbClr val="DB0613"/>
          </a:solidFill>
          <a:ln w="9525" algn="ctr">
            <a:noFill/>
            <a:miter lim="800000"/>
            <a:headEnd/>
            <a:tailEnd/>
          </a:ln>
          <a:effectLst/>
        </p:spPr>
        <p:txBody>
          <a:bodyPr anchor="ctr"/>
          <a:lstStyle/>
          <a:p>
            <a:pPr algn="ctr">
              <a:lnSpc>
                <a:spcPct val="80000"/>
              </a:lnSpc>
            </a:pPr>
            <a:r>
              <a:rPr lang="es-CL" sz="1200" b="1" dirty="0">
                <a:solidFill>
                  <a:srgbClr val="FFFFFF"/>
                </a:solidFill>
                <a:cs typeface="Arial" pitchFamily="34" charset="0"/>
              </a:rPr>
              <a:t>45</a:t>
            </a:r>
          </a:p>
        </p:txBody>
      </p:sp>
      <p:sp>
        <p:nvSpPr>
          <p:cNvPr id="5" name="Rectangle 18"/>
          <p:cNvSpPr>
            <a:spLocks noChangeArrowheads="1"/>
          </p:cNvSpPr>
          <p:nvPr/>
        </p:nvSpPr>
        <p:spPr bwMode="auto">
          <a:xfrm>
            <a:off x="227770" y="2409552"/>
            <a:ext cx="6400800" cy="839807"/>
          </a:xfrm>
          <a:prstGeom prst="rect">
            <a:avLst/>
          </a:prstGeom>
          <a:noFill/>
          <a:ln w="9525" algn="ctr">
            <a:solidFill>
              <a:schemeClr val="bg2"/>
            </a:solidFill>
            <a:miter lim="800000"/>
            <a:headEnd/>
            <a:tailEnd/>
          </a:ln>
          <a:effectLst/>
        </p:spPr>
        <p:txBody>
          <a:bodyPr/>
          <a:lstStyle/>
          <a:p>
            <a:r>
              <a:rPr lang="es-ES" sz="1100" dirty="0"/>
              <a:t>Retraso en la elaboración del sustento de operaciones de cobertura para el organismo regulador (SBS).</a:t>
            </a:r>
            <a:endParaRPr lang="es-ES" sz="1100" dirty="0">
              <a:solidFill>
                <a:srgbClr val="002060"/>
              </a:solidFill>
            </a:endParaRPr>
          </a:p>
        </p:txBody>
      </p:sp>
      <p:sp>
        <p:nvSpPr>
          <p:cNvPr id="7" name="Text Box 30"/>
          <p:cNvSpPr txBox="1">
            <a:spLocks noChangeArrowheads="1"/>
          </p:cNvSpPr>
          <p:nvPr/>
        </p:nvSpPr>
        <p:spPr bwMode="auto">
          <a:xfrm>
            <a:off x="190747" y="3299257"/>
            <a:ext cx="3671888" cy="276999"/>
          </a:xfrm>
          <a:prstGeom prst="rect">
            <a:avLst/>
          </a:prstGeom>
          <a:noFill/>
          <a:ln w="9525" algn="ctr">
            <a:noFill/>
            <a:miter lim="800000"/>
            <a:headEnd/>
            <a:tailEnd/>
          </a:ln>
          <a:effectLst/>
        </p:spPr>
        <p:txBody>
          <a:bodyPr>
            <a:spAutoFit/>
          </a:bodyPr>
          <a:lstStyle/>
          <a:p>
            <a:pPr>
              <a:spcBef>
                <a:spcPct val="50000"/>
              </a:spcBef>
            </a:pPr>
            <a:r>
              <a:rPr lang="es-CL" sz="1200" b="1" i="1" dirty="0">
                <a:solidFill>
                  <a:srgbClr val="A3A3E0"/>
                </a:solidFill>
              </a:rPr>
              <a:t>Resultados valoración de riesgos</a:t>
            </a:r>
            <a:endParaRPr lang="es-ES" sz="1200" b="1" i="1" dirty="0">
              <a:solidFill>
                <a:srgbClr val="A3A3E0"/>
              </a:solidFill>
            </a:endParaRPr>
          </a:p>
        </p:txBody>
      </p:sp>
      <p:sp>
        <p:nvSpPr>
          <p:cNvPr id="8" name="Rounded Rectangle 7"/>
          <p:cNvSpPr/>
          <p:nvPr/>
        </p:nvSpPr>
        <p:spPr>
          <a:xfrm>
            <a:off x="652842" y="764704"/>
            <a:ext cx="8321040" cy="274320"/>
          </a:xfrm>
          <a:prstGeom prst="roundRect">
            <a:avLst/>
          </a:prstGeom>
          <a:solidFill>
            <a:srgbClr val="DB0613"/>
          </a:solidFill>
          <a:ln w="9525" algn="ctr">
            <a:noFill/>
            <a:miter lim="800000"/>
            <a:headEnd/>
            <a:tailEnd/>
          </a:ln>
          <a:effectLst/>
        </p:spPr>
        <p:txBody>
          <a:bodyPr anchor="ctr"/>
          <a:lstStyle/>
          <a:p>
            <a:pPr>
              <a:lnSpc>
                <a:spcPct val="80000"/>
              </a:lnSpc>
            </a:pPr>
            <a:r>
              <a:rPr lang="es-ES" sz="1200" dirty="0">
                <a:solidFill>
                  <a:schemeClr val="bg1"/>
                </a:solidFill>
              </a:rPr>
              <a:t>Multa debido a incumplimiento o retraso de reportes a la SBS.</a:t>
            </a:r>
            <a:endParaRPr lang="es-CL" sz="1200" b="1" dirty="0">
              <a:solidFill>
                <a:schemeClr val="bg1"/>
              </a:solidFill>
              <a:cs typeface="Arial" pitchFamily="34" charset="0"/>
            </a:endParaRPr>
          </a:p>
        </p:txBody>
      </p:sp>
      <p:sp>
        <p:nvSpPr>
          <p:cNvPr id="9" name="Rounded Rectangle 8"/>
          <p:cNvSpPr/>
          <p:nvPr/>
        </p:nvSpPr>
        <p:spPr>
          <a:xfrm>
            <a:off x="227770" y="2202383"/>
            <a:ext cx="64008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Descripción</a:t>
            </a:r>
          </a:p>
        </p:txBody>
      </p:sp>
      <p:sp>
        <p:nvSpPr>
          <p:cNvPr id="10" name="Rounded Rectangle 9"/>
          <p:cNvSpPr/>
          <p:nvPr/>
        </p:nvSpPr>
        <p:spPr>
          <a:xfrm>
            <a:off x="6716066" y="1089119"/>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Categoría  de Riesgo Nivel I</a:t>
            </a:r>
          </a:p>
        </p:txBody>
      </p:sp>
      <p:sp>
        <p:nvSpPr>
          <p:cNvPr id="11" name="Rectangle 18"/>
          <p:cNvSpPr>
            <a:spLocks noChangeArrowheads="1"/>
          </p:cNvSpPr>
          <p:nvPr/>
        </p:nvSpPr>
        <p:spPr bwMode="auto">
          <a:xfrm>
            <a:off x="6716066" y="1316374"/>
            <a:ext cx="2286000" cy="365760"/>
          </a:xfrm>
          <a:prstGeom prst="rect">
            <a:avLst/>
          </a:prstGeom>
          <a:noFill/>
          <a:ln w="9525" algn="ctr">
            <a:solidFill>
              <a:schemeClr val="bg2"/>
            </a:solidFill>
            <a:miter lim="800000"/>
            <a:headEnd/>
            <a:tailEnd/>
          </a:ln>
          <a:effectLst/>
        </p:spPr>
        <p:txBody>
          <a:bodyPr anchor="ctr"/>
          <a:lstStyle/>
          <a:p>
            <a:pPr>
              <a:lnSpc>
                <a:spcPts val="1000"/>
              </a:lnSpc>
            </a:pPr>
            <a:r>
              <a:rPr lang="es-ES" sz="1100" dirty="0"/>
              <a:t>Ejecución, entrega y gestión de procesos</a:t>
            </a:r>
          </a:p>
        </p:txBody>
      </p:sp>
      <p:sp>
        <p:nvSpPr>
          <p:cNvPr id="12" name="Rounded Rectangle 11"/>
          <p:cNvSpPr/>
          <p:nvPr/>
        </p:nvSpPr>
        <p:spPr>
          <a:xfrm>
            <a:off x="6716066" y="1725169"/>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Categoría de Riesgo Nivel II</a:t>
            </a:r>
          </a:p>
        </p:txBody>
      </p:sp>
      <p:sp>
        <p:nvSpPr>
          <p:cNvPr id="13" name="Rectangle 18"/>
          <p:cNvSpPr>
            <a:spLocks noChangeArrowheads="1"/>
          </p:cNvSpPr>
          <p:nvPr/>
        </p:nvSpPr>
        <p:spPr bwMode="auto">
          <a:xfrm>
            <a:off x="6716066" y="1942710"/>
            <a:ext cx="2286000" cy="274320"/>
          </a:xfrm>
          <a:prstGeom prst="rect">
            <a:avLst/>
          </a:prstGeom>
          <a:noFill/>
          <a:ln w="9525" algn="ctr">
            <a:solidFill>
              <a:schemeClr val="bg2"/>
            </a:solidFill>
            <a:miter lim="800000"/>
            <a:headEnd/>
            <a:tailEnd/>
          </a:ln>
          <a:effectLst/>
        </p:spPr>
        <p:txBody>
          <a:bodyPr anchor="ctr"/>
          <a:lstStyle/>
          <a:p>
            <a:r>
              <a:rPr lang="es-ES" sz="1100" dirty="0"/>
              <a:t>Seguimiento y presentación de informes.</a:t>
            </a:r>
          </a:p>
        </p:txBody>
      </p:sp>
      <p:grpSp>
        <p:nvGrpSpPr>
          <p:cNvPr id="6" name="Group 72"/>
          <p:cNvGrpSpPr/>
          <p:nvPr/>
        </p:nvGrpSpPr>
        <p:grpSpPr>
          <a:xfrm>
            <a:off x="6716066" y="2243314"/>
            <a:ext cx="2286000" cy="862030"/>
            <a:chOff x="6716066" y="2972444"/>
            <a:chExt cx="2286000" cy="640483"/>
          </a:xfrm>
        </p:grpSpPr>
        <p:sp>
          <p:nvSpPr>
            <p:cNvPr id="15" name="Rounded Rectangle 14"/>
            <p:cNvSpPr/>
            <p:nvPr/>
          </p:nvSpPr>
          <p:spPr>
            <a:xfrm>
              <a:off x="6716066" y="2972444"/>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Categoría de Riesgo Nivel III</a:t>
              </a:r>
            </a:p>
          </p:txBody>
        </p:sp>
        <p:sp>
          <p:nvSpPr>
            <p:cNvPr id="16" name="Rectangle 18"/>
            <p:cNvSpPr>
              <a:spLocks noChangeArrowheads="1"/>
            </p:cNvSpPr>
            <p:nvPr/>
          </p:nvSpPr>
          <p:spPr bwMode="auto">
            <a:xfrm>
              <a:off x="6716066" y="3188218"/>
              <a:ext cx="2286000" cy="424709"/>
            </a:xfrm>
            <a:prstGeom prst="rect">
              <a:avLst/>
            </a:prstGeom>
            <a:noFill/>
            <a:ln w="9525" algn="ctr">
              <a:solidFill>
                <a:schemeClr val="bg2"/>
              </a:solidFill>
              <a:miter lim="800000"/>
              <a:headEnd/>
              <a:tailEnd/>
            </a:ln>
            <a:effectLst/>
          </p:spPr>
          <p:txBody>
            <a:bodyPr anchor="ctr"/>
            <a:lstStyle/>
            <a:p>
              <a:r>
                <a:rPr lang="es-ES" sz="1100" dirty="0"/>
                <a:t>Error en notificaciones a terceros de carácter obligatorio.</a:t>
              </a:r>
            </a:p>
          </p:txBody>
        </p:sp>
      </p:grpSp>
      <p:sp>
        <p:nvSpPr>
          <p:cNvPr id="17" name="Rounded Rectangle 16"/>
          <p:cNvSpPr/>
          <p:nvPr/>
        </p:nvSpPr>
        <p:spPr>
          <a:xfrm>
            <a:off x="227770" y="1110038"/>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Macroproceso</a:t>
            </a:r>
          </a:p>
        </p:txBody>
      </p:sp>
      <p:sp>
        <p:nvSpPr>
          <p:cNvPr id="18" name="Rectangle 18"/>
          <p:cNvSpPr>
            <a:spLocks noChangeArrowheads="1"/>
          </p:cNvSpPr>
          <p:nvPr/>
        </p:nvSpPr>
        <p:spPr bwMode="auto">
          <a:xfrm>
            <a:off x="2568409" y="1110038"/>
            <a:ext cx="4060161" cy="182880"/>
          </a:xfrm>
          <a:prstGeom prst="rect">
            <a:avLst/>
          </a:prstGeom>
          <a:noFill/>
          <a:ln w="9525" algn="ctr">
            <a:solidFill>
              <a:schemeClr val="bg2"/>
            </a:solidFill>
            <a:miter lim="800000"/>
            <a:headEnd/>
            <a:tailEnd/>
          </a:ln>
          <a:effectLst/>
        </p:spPr>
        <p:txBody>
          <a:bodyPr anchor="ctr"/>
          <a:lstStyle/>
          <a:p>
            <a:r>
              <a:rPr lang="es-ES" sz="1100" dirty="0"/>
              <a:t>Administración de Portafolio de Inversiones</a:t>
            </a:r>
          </a:p>
        </p:txBody>
      </p:sp>
      <p:sp>
        <p:nvSpPr>
          <p:cNvPr id="19" name="Rounded Rectangle 18"/>
          <p:cNvSpPr/>
          <p:nvPr/>
        </p:nvSpPr>
        <p:spPr>
          <a:xfrm>
            <a:off x="227770" y="1339045"/>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Proceso</a:t>
            </a:r>
          </a:p>
        </p:txBody>
      </p:sp>
      <p:sp>
        <p:nvSpPr>
          <p:cNvPr id="20" name="Rectangle 18"/>
          <p:cNvSpPr>
            <a:spLocks noChangeArrowheads="1"/>
          </p:cNvSpPr>
          <p:nvPr/>
        </p:nvSpPr>
        <p:spPr bwMode="auto">
          <a:xfrm>
            <a:off x="2568409" y="1339045"/>
            <a:ext cx="4060161" cy="182880"/>
          </a:xfrm>
          <a:prstGeom prst="rect">
            <a:avLst/>
          </a:prstGeom>
          <a:noFill/>
          <a:ln w="9525" algn="ctr">
            <a:solidFill>
              <a:schemeClr val="bg2"/>
            </a:solidFill>
            <a:miter lim="800000"/>
            <a:headEnd/>
            <a:tailEnd/>
          </a:ln>
          <a:effectLst/>
        </p:spPr>
        <p:txBody>
          <a:bodyPr anchor="ctr"/>
          <a:lstStyle/>
          <a:p>
            <a:r>
              <a:rPr lang="es-ES" sz="1100" dirty="0"/>
              <a:t>Administración de fondos</a:t>
            </a:r>
          </a:p>
        </p:txBody>
      </p:sp>
      <p:sp>
        <p:nvSpPr>
          <p:cNvPr id="21" name="Rectangle 29"/>
          <p:cNvSpPr>
            <a:spLocks noChangeArrowheads="1"/>
          </p:cNvSpPr>
          <p:nvPr/>
        </p:nvSpPr>
        <p:spPr bwMode="auto">
          <a:xfrm>
            <a:off x="107504" y="3423715"/>
            <a:ext cx="8961120" cy="1607926"/>
          </a:xfrm>
          <a:prstGeom prst="rect">
            <a:avLst/>
          </a:prstGeom>
          <a:noFill/>
          <a:ln w="19050" cap="rnd" algn="ctr">
            <a:solidFill>
              <a:schemeClr val="bg2"/>
            </a:solidFill>
            <a:prstDash val="sysDot"/>
            <a:miter lim="800000"/>
            <a:headEnd/>
            <a:tailEnd/>
          </a:ln>
          <a:effectLst/>
        </p:spPr>
        <p:txBody>
          <a:bodyPr wrap="none" anchor="ctr"/>
          <a:lstStyle/>
          <a:p>
            <a:endParaRPr lang="en-US">
              <a:solidFill>
                <a:srgbClr val="002060"/>
              </a:solidFill>
            </a:endParaRPr>
          </a:p>
        </p:txBody>
      </p:sp>
      <p:sp>
        <p:nvSpPr>
          <p:cNvPr id="22" name="Rounded Rectangle 21"/>
          <p:cNvSpPr/>
          <p:nvPr/>
        </p:nvSpPr>
        <p:spPr>
          <a:xfrm>
            <a:off x="902959" y="4382163"/>
            <a:ext cx="1920240" cy="182880"/>
          </a:xfrm>
          <a:prstGeom prst="roundRect">
            <a:avLst/>
          </a:prstGeom>
          <a:solidFill>
            <a:srgbClr val="DB0613"/>
          </a:solidFill>
          <a:ln w="9525" algn="ctr">
            <a:noFill/>
            <a:miter lim="800000"/>
            <a:headEnd/>
            <a:tailEnd/>
          </a:ln>
          <a:effectLst/>
        </p:spPr>
        <p:txBody>
          <a:bodyPr tIns="91440" anchor="ctr"/>
          <a:lstStyle/>
          <a:p>
            <a:pPr>
              <a:lnSpc>
                <a:spcPct val="80000"/>
              </a:lnSpc>
            </a:pPr>
            <a:r>
              <a:rPr lang="es-CL" sz="1100" b="1" dirty="0">
                <a:solidFill>
                  <a:srgbClr val="FFFFFF"/>
                </a:solidFill>
                <a:cs typeface="Arial" pitchFamily="34" charset="0"/>
              </a:rPr>
              <a:t>Pérdida Esperada Anual</a:t>
            </a:r>
          </a:p>
        </p:txBody>
      </p:sp>
      <p:sp>
        <p:nvSpPr>
          <p:cNvPr id="23" name="Rectangle 18"/>
          <p:cNvSpPr>
            <a:spLocks noChangeArrowheads="1"/>
          </p:cNvSpPr>
          <p:nvPr/>
        </p:nvSpPr>
        <p:spPr bwMode="auto">
          <a:xfrm>
            <a:off x="2859920" y="4382163"/>
            <a:ext cx="1554480" cy="182880"/>
          </a:xfrm>
          <a:prstGeom prst="rect">
            <a:avLst/>
          </a:prstGeom>
          <a:solidFill>
            <a:schemeClr val="bg1"/>
          </a:solidFill>
          <a:ln w="9525" algn="ctr">
            <a:solidFill>
              <a:schemeClr val="bg2"/>
            </a:solidFill>
            <a:miter lim="800000"/>
            <a:headEnd/>
            <a:tailEnd/>
          </a:ln>
          <a:effectLst/>
        </p:spPr>
        <p:txBody>
          <a:bodyPr anchor="ctr"/>
          <a:lstStyle/>
          <a:p>
            <a:pPr algn="ctr"/>
            <a:r>
              <a:rPr lang="es-ES" sz="1100" dirty="0"/>
              <a:t>S/. 37,000.00</a:t>
            </a:r>
          </a:p>
        </p:txBody>
      </p:sp>
      <p:sp>
        <p:nvSpPr>
          <p:cNvPr id="24" name="Rounded Rectangle 23"/>
          <p:cNvSpPr/>
          <p:nvPr/>
        </p:nvSpPr>
        <p:spPr>
          <a:xfrm>
            <a:off x="902959" y="4611775"/>
            <a:ext cx="192024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VaR Cualitativo Anual</a:t>
            </a:r>
          </a:p>
        </p:txBody>
      </p:sp>
      <p:sp>
        <p:nvSpPr>
          <p:cNvPr id="25" name="Rectangle 18"/>
          <p:cNvSpPr>
            <a:spLocks noChangeArrowheads="1"/>
          </p:cNvSpPr>
          <p:nvPr/>
        </p:nvSpPr>
        <p:spPr bwMode="auto">
          <a:xfrm>
            <a:off x="2859920" y="4611775"/>
            <a:ext cx="1554480" cy="182880"/>
          </a:xfrm>
          <a:prstGeom prst="rect">
            <a:avLst/>
          </a:prstGeom>
          <a:solidFill>
            <a:schemeClr val="bg1"/>
          </a:solidFill>
          <a:ln w="9525" algn="ctr">
            <a:solidFill>
              <a:schemeClr val="bg2"/>
            </a:solidFill>
            <a:miter lim="800000"/>
            <a:headEnd/>
            <a:tailEnd/>
          </a:ln>
          <a:effectLst/>
        </p:spPr>
        <p:txBody>
          <a:bodyPr anchor="ctr"/>
          <a:lstStyle/>
          <a:p>
            <a:pPr algn="ctr"/>
            <a:r>
              <a:rPr lang="es-ES" sz="1100" dirty="0"/>
              <a:t>S/. 329,375.81</a:t>
            </a:r>
          </a:p>
        </p:txBody>
      </p:sp>
      <p:sp>
        <p:nvSpPr>
          <p:cNvPr id="26" name="Rounded Rectangle 25"/>
          <p:cNvSpPr/>
          <p:nvPr/>
        </p:nvSpPr>
        <p:spPr>
          <a:xfrm>
            <a:off x="891084" y="3618777"/>
            <a:ext cx="192024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Frecuencia  Evento Pérdida</a:t>
            </a:r>
          </a:p>
        </p:txBody>
      </p:sp>
      <p:sp>
        <p:nvSpPr>
          <p:cNvPr id="27" name="Rectangle 18"/>
          <p:cNvSpPr>
            <a:spLocks noChangeArrowheads="1"/>
          </p:cNvSpPr>
          <p:nvPr/>
        </p:nvSpPr>
        <p:spPr bwMode="auto">
          <a:xfrm>
            <a:off x="2859920" y="3618777"/>
            <a:ext cx="1554480" cy="182880"/>
          </a:xfrm>
          <a:prstGeom prst="rect">
            <a:avLst/>
          </a:prstGeom>
          <a:solidFill>
            <a:schemeClr val="bg1"/>
          </a:solidFill>
          <a:ln w="9525" algn="ctr">
            <a:solidFill>
              <a:schemeClr val="bg2"/>
            </a:solidFill>
            <a:miter lim="800000"/>
            <a:headEnd/>
            <a:tailEnd/>
          </a:ln>
          <a:effectLst/>
        </p:spPr>
        <p:txBody>
          <a:bodyPr anchor="ctr"/>
          <a:lstStyle/>
          <a:p>
            <a:pPr algn="ctr"/>
            <a:r>
              <a:rPr lang="es-ES" sz="1100" dirty="0"/>
              <a:t>5 veces por década</a:t>
            </a:r>
          </a:p>
        </p:txBody>
      </p:sp>
      <p:sp>
        <p:nvSpPr>
          <p:cNvPr id="28" name="Rounded Rectangle 27"/>
          <p:cNvSpPr/>
          <p:nvPr/>
        </p:nvSpPr>
        <p:spPr>
          <a:xfrm>
            <a:off x="891084" y="3848389"/>
            <a:ext cx="192024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Impacto Medio Evento</a:t>
            </a:r>
          </a:p>
        </p:txBody>
      </p:sp>
      <p:sp>
        <p:nvSpPr>
          <p:cNvPr id="29" name="Rectangle 18"/>
          <p:cNvSpPr>
            <a:spLocks noChangeArrowheads="1"/>
          </p:cNvSpPr>
          <p:nvPr/>
        </p:nvSpPr>
        <p:spPr bwMode="auto">
          <a:xfrm>
            <a:off x="2859920" y="3848389"/>
            <a:ext cx="1554480" cy="182880"/>
          </a:xfrm>
          <a:prstGeom prst="rect">
            <a:avLst/>
          </a:prstGeom>
          <a:solidFill>
            <a:schemeClr val="bg1"/>
          </a:solidFill>
          <a:ln w="9525" algn="ctr">
            <a:solidFill>
              <a:schemeClr val="bg2"/>
            </a:solidFill>
            <a:miter lim="800000"/>
            <a:headEnd/>
            <a:tailEnd/>
          </a:ln>
          <a:effectLst/>
        </p:spPr>
        <p:txBody>
          <a:bodyPr anchor="ctr"/>
          <a:lstStyle/>
          <a:p>
            <a:pPr algn="ctr"/>
            <a:r>
              <a:rPr lang="es-ES" sz="1100" dirty="0"/>
              <a:t>S/. 74,000.00</a:t>
            </a:r>
          </a:p>
        </p:txBody>
      </p:sp>
      <p:sp>
        <p:nvSpPr>
          <p:cNvPr id="30" name="Rounded Rectangle 29"/>
          <p:cNvSpPr/>
          <p:nvPr/>
        </p:nvSpPr>
        <p:spPr>
          <a:xfrm>
            <a:off x="891084" y="4083969"/>
            <a:ext cx="192024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Impacto Peor Escenario</a:t>
            </a:r>
          </a:p>
        </p:txBody>
      </p:sp>
      <p:sp>
        <p:nvSpPr>
          <p:cNvPr id="31" name="Rectangle 18"/>
          <p:cNvSpPr>
            <a:spLocks noChangeArrowheads="1"/>
          </p:cNvSpPr>
          <p:nvPr/>
        </p:nvSpPr>
        <p:spPr bwMode="auto">
          <a:xfrm>
            <a:off x="2859920" y="4083969"/>
            <a:ext cx="1554480" cy="182880"/>
          </a:xfrm>
          <a:prstGeom prst="rect">
            <a:avLst/>
          </a:prstGeom>
          <a:solidFill>
            <a:schemeClr val="bg1"/>
          </a:solidFill>
          <a:ln w="9525" algn="ctr">
            <a:solidFill>
              <a:schemeClr val="bg2"/>
            </a:solidFill>
            <a:miter lim="800000"/>
            <a:headEnd/>
            <a:tailEnd/>
          </a:ln>
          <a:effectLst/>
        </p:spPr>
        <p:txBody>
          <a:bodyPr anchor="ctr"/>
          <a:lstStyle/>
          <a:p>
            <a:pPr algn="ctr"/>
            <a:r>
              <a:rPr lang="es-ES" sz="1100" dirty="0"/>
              <a:t>S/. 185,000.00</a:t>
            </a:r>
          </a:p>
        </p:txBody>
      </p:sp>
      <p:sp>
        <p:nvSpPr>
          <p:cNvPr id="32" name="AutoShape 47"/>
          <p:cNvSpPr>
            <a:spLocks noChangeAspect="1" noChangeArrowheads="1"/>
          </p:cNvSpPr>
          <p:nvPr/>
        </p:nvSpPr>
        <p:spPr bwMode="blackWhite">
          <a:xfrm>
            <a:off x="263033" y="3533122"/>
            <a:ext cx="492543" cy="1339083"/>
          </a:xfrm>
          <a:prstGeom prst="rightArrow">
            <a:avLst>
              <a:gd name="adj1" fmla="val 100000"/>
              <a:gd name="adj2" fmla="val 11009"/>
            </a:avLst>
          </a:prstGeom>
          <a:solidFill>
            <a:srgbClr val="969696"/>
          </a:solidFill>
          <a:ln w="12700">
            <a:noFill/>
            <a:miter lim="800000"/>
            <a:headEnd/>
            <a:tailEnd/>
          </a:ln>
          <a:effectLst>
            <a:outerShdw dist="35921" dir="2700000" algn="ctr" rotWithShape="0">
              <a:schemeClr val="bg2"/>
            </a:outerShdw>
          </a:effectLst>
        </p:spPr>
        <p:txBody>
          <a:bodyPr vert="vert270" anchor="ctr"/>
          <a:lstStyle/>
          <a:p>
            <a:pPr algn="ctr">
              <a:lnSpc>
                <a:spcPts val="1000"/>
              </a:lnSpc>
            </a:pPr>
            <a:r>
              <a:rPr lang="es-ES" sz="1200" b="1" noProof="1">
                <a:solidFill>
                  <a:srgbClr val="FFFFFF"/>
                </a:solidFill>
                <a:cs typeface="Arial" charset="0"/>
              </a:rPr>
              <a:t>Evaluación Riesgo Operacional</a:t>
            </a:r>
          </a:p>
        </p:txBody>
      </p:sp>
      <p:sp>
        <p:nvSpPr>
          <p:cNvPr id="59" name="Rounded Rectangle 58"/>
          <p:cNvSpPr/>
          <p:nvPr/>
        </p:nvSpPr>
        <p:spPr>
          <a:xfrm>
            <a:off x="223049" y="1554311"/>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Subproceso</a:t>
            </a:r>
          </a:p>
        </p:txBody>
      </p:sp>
      <p:sp>
        <p:nvSpPr>
          <p:cNvPr id="60" name="Rectangle 18"/>
          <p:cNvSpPr>
            <a:spLocks noChangeArrowheads="1"/>
          </p:cNvSpPr>
          <p:nvPr/>
        </p:nvSpPr>
        <p:spPr bwMode="auto">
          <a:xfrm>
            <a:off x="2563688" y="1554311"/>
            <a:ext cx="4064882" cy="182880"/>
          </a:xfrm>
          <a:prstGeom prst="rect">
            <a:avLst/>
          </a:prstGeom>
          <a:noFill/>
          <a:ln w="9525" algn="ctr">
            <a:solidFill>
              <a:schemeClr val="bg2"/>
            </a:solidFill>
            <a:miter lim="800000"/>
            <a:headEnd/>
            <a:tailEnd/>
          </a:ln>
          <a:effectLst/>
        </p:spPr>
        <p:txBody>
          <a:bodyPr anchor="ctr"/>
          <a:lstStyle/>
          <a:p>
            <a:r>
              <a:rPr lang="es-ES" sz="1100" dirty="0"/>
              <a:t>Money </a:t>
            </a:r>
            <a:r>
              <a:rPr lang="es-ES" sz="1100" dirty="0" err="1"/>
              <a:t>Market</a:t>
            </a:r>
            <a:endParaRPr lang="es-ES" sz="1100" dirty="0"/>
          </a:p>
        </p:txBody>
      </p:sp>
      <p:sp>
        <p:nvSpPr>
          <p:cNvPr id="57" name="Rounded Rectangle 56"/>
          <p:cNvSpPr/>
          <p:nvPr/>
        </p:nvSpPr>
        <p:spPr>
          <a:xfrm>
            <a:off x="223049" y="1771093"/>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Línea de Negocio</a:t>
            </a:r>
          </a:p>
        </p:txBody>
      </p:sp>
      <p:sp>
        <p:nvSpPr>
          <p:cNvPr id="58" name="Rectangle 18"/>
          <p:cNvSpPr>
            <a:spLocks noChangeArrowheads="1"/>
          </p:cNvSpPr>
          <p:nvPr/>
        </p:nvSpPr>
        <p:spPr bwMode="auto">
          <a:xfrm>
            <a:off x="2563688" y="1771093"/>
            <a:ext cx="4064882" cy="182880"/>
          </a:xfrm>
          <a:prstGeom prst="rect">
            <a:avLst/>
          </a:prstGeom>
          <a:noFill/>
          <a:ln w="9525" algn="ctr">
            <a:solidFill>
              <a:schemeClr val="bg2"/>
            </a:solidFill>
            <a:miter lim="800000"/>
            <a:headEnd/>
            <a:tailEnd/>
          </a:ln>
          <a:effectLst/>
        </p:spPr>
        <p:txBody>
          <a:bodyPr anchor="ctr"/>
          <a:lstStyle/>
          <a:p>
            <a:r>
              <a:rPr lang="es-ES" sz="1100" dirty="0"/>
              <a:t>Negociación y ventas</a:t>
            </a:r>
          </a:p>
        </p:txBody>
      </p:sp>
      <p:sp>
        <p:nvSpPr>
          <p:cNvPr id="61" name="Rounded Rectangle 60"/>
          <p:cNvSpPr/>
          <p:nvPr/>
        </p:nvSpPr>
        <p:spPr>
          <a:xfrm>
            <a:off x="223049" y="1986359"/>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Responsable</a:t>
            </a:r>
          </a:p>
        </p:txBody>
      </p:sp>
      <p:sp>
        <p:nvSpPr>
          <p:cNvPr id="62" name="Rectangle 18"/>
          <p:cNvSpPr>
            <a:spLocks noChangeArrowheads="1"/>
          </p:cNvSpPr>
          <p:nvPr/>
        </p:nvSpPr>
        <p:spPr bwMode="auto">
          <a:xfrm>
            <a:off x="2558967" y="1986359"/>
            <a:ext cx="4069603" cy="182880"/>
          </a:xfrm>
          <a:prstGeom prst="rect">
            <a:avLst/>
          </a:prstGeom>
          <a:noFill/>
          <a:ln w="9525" algn="ctr">
            <a:solidFill>
              <a:schemeClr val="bg2"/>
            </a:solidFill>
            <a:miter lim="800000"/>
            <a:headEnd/>
            <a:tailEnd/>
          </a:ln>
          <a:effectLst/>
        </p:spPr>
        <p:txBody>
          <a:bodyPr anchor="ctr"/>
          <a:lstStyle/>
          <a:p>
            <a:r>
              <a:rPr lang="es-ES" sz="1100" dirty="0"/>
              <a:t>Subgerente de Riesgo de Mercado y Crédito </a:t>
            </a:r>
          </a:p>
        </p:txBody>
      </p:sp>
      <p:sp>
        <p:nvSpPr>
          <p:cNvPr id="63" name="Rounded Rectangle 14"/>
          <p:cNvSpPr/>
          <p:nvPr/>
        </p:nvSpPr>
        <p:spPr>
          <a:xfrm>
            <a:off x="6716066" y="3124134"/>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Origen del Riesgo</a:t>
            </a:r>
          </a:p>
        </p:txBody>
      </p:sp>
      <p:sp>
        <p:nvSpPr>
          <p:cNvPr id="64" name="Rectangle 18"/>
          <p:cNvSpPr>
            <a:spLocks noChangeArrowheads="1"/>
          </p:cNvSpPr>
          <p:nvPr/>
        </p:nvSpPr>
        <p:spPr bwMode="auto">
          <a:xfrm>
            <a:off x="6716066" y="3339399"/>
            <a:ext cx="2286000" cy="270000"/>
          </a:xfrm>
          <a:prstGeom prst="rect">
            <a:avLst/>
          </a:prstGeom>
          <a:noFill/>
          <a:ln w="9525" algn="ctr">
            <a:solidFill>
              <a:schemeClr val="bg2"/>
            </a:solidFill>
            <a:miter lim="800000"/>
            <a:headEnd/>
            <a:tailEnd/>
          </a:ln>
          <a:effectLst/>
        </p:spPr>
        <p:txBody>
          <a:bodyPr anchor="ctr"/>
          <a:lstStyle/>
          <a:p>
            <a:r>
              <a:rPr lang="es-ES" sz="1100" dirty="0">
                <a:solidFill>
                  <a:srgbClr val="000000"/>
                </a:solidFill>
              </a:rPr>
              <a:t>Personas</a:t>
            </a:r>
          </a:p>
        </p:txBody>
      </p:sp>
      <p:sp>
        <p:nvSpPr>
          <p:cNvPr id="65" name="AutoShape 179"/>
          <p:cNvSpPr>
            <a:spLocks noChangeArrowheads="1"/>
          </p:cNvSpPr>
          <p:nvPr/>
        </p:nvSpPr>
        <p:spPr bwMode="auto">
          <a:xfrm>
            <a:off x="4932039" y="3681407"/>
            <a:ext cx="4037169" cy="864000"/>
          </a:xfrm>
          <a:prstGeom prst="roundRect">
            <a:avLst>
              <a:gd name="adj" fmla="val 9481"/>
            </a:avLst>
          </a:prstGeom>
          <a:solidFill>
            <a:schemeClr val="accent1">
              <a:lumMod val="20000"/>
              <a:lumOff val="80000"/>
            </a:schemeClr>
          </a:solidFill>
          <a:ln w="9525" algn="ctr">
            <a:noFill/>
            <a:round/>
            <a:headEnd/>
            <a:tailEnd/>
          </a:ln>
          <a:effectLst/>
        </p:spPr>
        <p:txBody>
          <a:bodyPr wrap="none" anchor="ctr"/>
          <a:lstStyle/>
          <a:p>
            <a:endParaRPr lang="es-CL">
              <a:solidFill>
                <a:srgbClr val="002060"/>
              </a:solidFill>
            </a:endParaRPr>
          </a:p>
        </p:txBody>
      </p:sp>
      <p:sp>
        <p:nvSpPr>
          <p:cNvPr id="66" name="AutoShape 47"/>
          <p:cNvSpPr>
            <a:spLocks noChangeArrowheads="1"/>
          </p:cNvSpPr>
          <p:nvPr/>
        </p:nvSpPr>
        <p:spPr bwMode="blackWhite">
          <a:xfrm>
            <a:off x="4678512" y="3682909"/>
            <a:ext cx="353942" cy="864000"/>
          </a:xfrm>
          <a:prstGeom prst="rightArrow">
            <a:avLst>
              <a:gd name="adj1" fmla="val 100000"/>
              <a:gd name="adj2" fmla="val 11009"/>
            </a:avLst>
          </a:prstGeom>
          <a:solidFill>
            <a:srgbClr val="969696"/>
          </a:solidFill>
          <a:ln w="12700">
            <a:noFill/>
            <a:miter lim="800000"/>
            <a:headEnd/>
            <a:tailEnd/>
          </a:ln>
          <a:effectLst>
            <a:outerShdw dist="35921" dir="2700000" algn="ctr" rotWithShape="0">
              <a:schemeClr val="bg2"/>
            </a:outerShdw>
          </a:effectLst>
        </p:spPr>
        <p:txBody>
          <a:bodyPr vert="vert270" anchor="ctr"/>
          <a:lstStyle/>
          <a:p>
            <a:pPr algn="ctr">
              <a:lnSpc>
                <a:spcPts val="1000"/>
              </a:lnSpc>
            </a:pPr>
            <a:r>
              <a:rPr lang="es-ES" sz="1100" b="1" noProof="1">
                <a:solidFill>
                  <a:srgbClr val="FFFFFF"/>
                </a:solidFill>
                <a:cs typeface="Arial" charset="0"/>
              </a:rPr>
              <a:t>Impacto Reputacional</a:t>
            </a:r>
          </a:p>
        </p:txBody>
      </p:sp>
      <p:sp>
        <p:nvSpPr>
          <p:cNvPr id="67" name="Rectangle 18"/>
          <p:cNvSpPr>
            <a:spLocks noChangeArrowheads="1"/>
          </p:cNvSpPr>
          <p:nvPr/>
        </p:nvSpPr>
        <p:spPr bwMode="auto">
          <a:xfrm>
            <a:off x="8334310" y="3756674"/>
            <a:ext cx="548640" cy="170094"/>
          </a:xfrm>
          <a:prstGeom prst="rect">
            <a:avLst/>
          </a:prstGeom>
          <a:solidFill>
            <a:schemeClr val="bg1"/>
          </a:solidFill>
          <a:ln w="9525" algn="ctr">
            <a:solidFill>
              <a:schemeClr val="bg2"/>
            </a:solidFill>
            <a:miter lim="800000"/>
            <a:headEnd/>
            <a:tailEnd/>
          </a:ln>
          <a:effectLst/>
        </p:spPr>
        <p:txBody>
          <a:bodyPr anchor="ctr"/>
          <a:lstStyle/>
          <a:p>
            <a:pPr algn="ctr"/>
            <a:r>
              <a:rPr lang="es-ES" sz="1100" dirty="0">
                <a:solidFill>
                  <a:srgbClr val="002060"/>
                </a:solidFill>
              </a:rPr>
              <a:t>1</a:t>
            </a:r>
          </a:p>
        </p:txBody>
      </p:sp>
      <p:sp>
        <p:nvSpPr>
          <p:cNvPr id="68" name="Rounded Rectangle 67"/>
          <p:cNvSpPr/>
          <p:nvPr/>
        </p:nvSpPr>
        <p:spPr>
          <a:xfrm>
            <a:off x="5102950" y="3756674"/>
            <a:ext cx="3132000" cy="170094"/>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Afectación a Clientes</a:t>
            </a:r>
          </a:p>
        </p:txBody>
      </p:sp>
      <p:sp>
        <p:nvSpPr>
          <p:cNvPr id="69" name="Rectangle 18"/>
          <p:cNvSpPr>
            <a:spLocks noChangeArrowheads="1"/>
          </p:cNvSpPr>
          <p:nvPr/>
        </p:nvSpPr>
        <p:spPr bwMode="auto">
          <a:xfrm>
            <a:off x="5102950" y="3974831"/>
            <a:ext cx="3780000" cy="469509"/>
          </a:xfrm>
          <a:prstGeom prst="rect">
            <a:avLst/>
          </a:prstGeom>
          <a:solidFill>
            <a:schemeClr val="bg1"/>
          </a:solidFill>
          <a:ln w="9525" algn="ctr">
            <a:solidFill>
              <a:schemeClr val="bg2"/>
            </a:solidFill>
            <a:miter lim="800000"/>
            <a:headEnd/>
            <a:tailEnd/>
          </a:ln>
          <a:effectLst/>
        </p:spPr>
        <p:txBody>
          <a:bodyPr anchor="ctr"/>
          <a:lstStyle/>
          <a:p>
            <a:r>
              <a:rPr lang="es-ES" sz="1100" dirty="0">
                <a:solidFill>
                  <a:srgbClr val="000000"/>
                </a:solidFill>
              </a:rPr>
              <a:t>La exposición de la imagen es únicamente interna y limitada.</a:t>
            </a:r>
          </a:p>
        </p:txBody>
      </p:sp>
      <p:sp>
        <p:nvSpPr>
          <p:cNvPr id="73" name="AutoShape 179"/>
          <p:cNvSpPr>
            <a:spLocks noChangeArrowheads="1"/>
          </p:cNvSpPr>
          <p:nvPr/>
        </p:nvSpPr>
        <p:spPr bwMode="auto">
          <a:xfrm>
            <a:off x="4927319" y="4585624"/>
            <a:ext cx="4037169" cy="892800"/>
          </a:xfrm>
          <a:prstGeom prst="roundRect">
            <a:avLst>
              <a:gd name="adj" fmla="val 9481"/>
            </a:avLst>
          </a:prstGeom>
          <a:solidFill>
            <a:schemeClr val="accent1">
              <a:lumMod val="20000"/>
              <a:lumOff val="80000"/>
            </a:schemeClr>
          </a:solidFill>
          <a:ln w="9525" algn="ctr">
            <a:noFill/>
            <a:round/>
            <a:headEnd/>
            <a:tailEnd/>
          </a:ln>
          <a:effectLst/>
        </p:spPr>
        <p:txBody>
          <a:bodyPr wrap="none" anchor="ctr"/>
          <a:lstStyle/>
          <a:p>
            <a:endParaRPr lang="es-CL">
              <a:solidFill>
                <a:srgbClr val="002060"/>
              </a:solidFill>
            </a:endParaRPr>
          </a:p>
        </p:txBody>
      </p:sp>
      <p:sp>
        <p:nvSpPr>
          <p:cNvPr id="74" name="AutoShape 47"/>
          <p:cNvSpPr>
            <a:spLocks noChangeArrowheads="1"/>
          </p:cNvSpPr>
          <p:nvPr/>
        </p:nvSpPr>
        <p:spPr bwMode="blackWhite">
          <a:xfrm>
            <a:off x="4673792" y="4587126"/>
            <a:ext cx="352800" cy="892800"/>
          </a:xfrm>
          <a:prstGeom prst="rightArrow">
            <a:avLst>
              <a:gd name="adj1" fmla="val 100000"/>
              <a:gd name="adj2" fmla="val 11009"/>
            </a:avLst>
          </a:prstGeom>
          <a:solidFill>
            <a:srgbClr val="969696"/>
          </a:solidFill>
          <a:ln w="12700">
            <a:noFill/>
            <a:miter lim="800000"/>
            <a:headEnd/>
            <a:tailEnd/>
          </a:ln>
          <a:effectLst>
            <a:outerShdw dist="35921" dir="2700000" algn="ctr" rotWithShape="0">
              <a:schemeClr val="bg2"/>
            </a:outerShdw>
          </a:effectLst>
        </p:spPr>
        <p:txBody>
          <a:bodyPr vert="vert270" anchor="ctr"/>
          <a:lstStyle/>
          <a:p>
            <a:pPr algn="ctr">
              <a:lnSpc>
                <a:spcPts val="1000"/>
              </a:lnSpc>
            </a:pPr>
            <a:r>
              <a:rPr lang="es-ES" sz="1100" b="1" noProof="1">
                <a:solidFill>
                  <a:srgbClr val="FFFFFF"/>
                </a:solidFill>
                <a:cs typeface="Arial" charset="0"/>
              </a:rPr>
              <a:t>Cuestionarios</a:t>
            </a:r>
          </a:p>
        </p:txBody>
      </p:sp>
      <p:sp>
        <p:nvSpPr>
          <p:cNvPr id="76" name="Rounded Rectangle 38"/>
          <p:cNvSpPr/>
          <p:nvPr/>
        </p:nvSpPr>
        <p:spPr>
          <a:xfrm>
            <a:off x="5098230" y="4660891"/>
            <a:ext cx="3132000" cy="170094"/>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Criterios de Evaluación</a:t>
            </a:r>
          </a:p>
        </p:txBody>
      </p:sp>
      <p:sp>
        <p:nvSpPr>
          <p:cNvPr id="77" name="Rectangle 18"/>
          <p:cNvSpPr>
            <a:spLocks noChangeArrowheads="1"/>
          </p:cNvSpPr>
          <p:nvPr/>
        </p:nvSpPr>
        <p:spPr bwMode="auto">
          <a:xfrm>
            <a:off x="5102950" y="4874064"/>
            <a:ext cx="3780000" cy="469509"/>
          </a:xfrm>
          <a:prstGeom prst="rect">
            <a:avLst/>
          </a:prstGeom>
          <a:solidFill>
            <a:schemeClr val="bg1"/>
          </a:solidFill>
          <a:ln w="9525" algn="ctr">
            <a:solidFill>
              <a:schemeClr val="bg2"/>
            </a:solidFill>
            <a:miter lim="800000"/>
            <a:headEnd/>
            <a:tailEnd/>
          </a:ln>
          <a:effectLst/>
        </p:spPr>
        <p:txBody>
          <a:bodyPr anchor="ctr"/>
          <a:lstStyle/>
          <a:p>
            <a:r>
              <a:rPr lang="es-PE" sz="1000" dirty="0">
                <a:solidFill>
                  <a:srgbClr val="000000"/>
                </a:solidFill>
              </a:rPr>
              <a:t>Este evento se considera una sanción leve por lo que de acuerdo al reglamento de Sanciones de la SBS, corresponde una amonestación o multa no menor de 10 UIT ni mayor de 50 UIT. </a:t>
            </a:r>
            <a:endParaRPr lang="es-ES" sz="1000" dirty="0">
              <a:solidFill>
                <a:srgbClr val="000000"/>
              </a:solidFill>
            </a:endParaRPr>
          </a:p>
        </p:txBody>
      </p:sp>
      <p:sp>
        <p:nvSpPr>
          <p:cNvPr id="78" name="Text Box 30"/>
          <p:cNvSpPr txBox="1">
            <a:spLocks noChangeArrowheads="1"/>
          </p:cNvSpPr>
          <p:nvPr/>
        </p:nvSpPr>
        <p:spPr bwMode="auto">
          <a:xfrm>
            <a:off x="190746" y="4977551"/>
            <a:ext cx="3996000" cy="276999"/>
          </a:xfrm>
          <a:prstGeom prst="rect">
            <a:avLst/>
          </a:prstGeom>
          <a:noFill/>
          <a:ln w="9525" algn="ctr">
            <a:noFill/>
            <a:miter lim="800000"/>
            <a:headEnd/>
            <a:tailEnd/>
          </a:ln>
          <a:effectLst/>
        </p:spPr>
        <p:txBody>
          <a:bodyPr wrap="square">
            <a:spAutoFit/>
          </a:bodyPr>
          <a:lstStyle/>
          <a:p>
            <a:pPr>
              <a:spcBef>
                <a:spcPct val="50000"/>
              </a:spcBef>
            </a:pPr>
            <a:r>
              <a:rPr lang="es-CL" sz="1200" b="1" i="1" dirty="0">
                <a:solidFill>
                  <a:srgbClr val="A3A3E0"/>
                </a:solidFill>
              </a:rPr>
              <a:t>Resultados valoración de controles / factores mitigantes</a:t>
            </a:r>
            <a:endParaRPr lang="es-ES" sz="1200" b="1" i="1" dirty="0">
              <a:solidFill>
                <a:srgbClr val="A3A3E0"/>
              </a:solidFill>
            </a:endParaRPr>
          </a:p>
        </p:txBody>
      </p:sp>
      <p:sp>
        <p:nvSpPr>
          <p:cNvPr id="79" name="AutoShape 179"/>
          <p:cNvSpPr>
            <a:spLocks noChangeArrowheads="1"/>
          </p:cNvSpPr>
          <p:nvPr/>
        </p:nvSpPr>
        <p:spPr bwMode="auto">
          <a:xfrm>
            <a:off x="534831" y="5200032"/>
            <a:ext cx="4037169" cy="864000"/>
          </a:xfrm>
          <a:prstGeom prst="roundRect">
            <a:avLst>
              <a:gd name="adj" fmla="val 9481"/>
            </a:avLst>
          </a:prstGeom>
          <a:solidFill>
            <a:schemeClr val="accent1">
              <a:lumMod val="20000"/>
              <a:lumOff val="80000"/>
            </a:schemeClr>
          </a:solidFill>
          <a:ln w="9525" algn="ctr">
            <a:noFill/>
            <a:round/>
            <a:headEnd/>
            <a:tailEnd/>
          </a:ln>
          <a:effectLst/>
        </p:spPr>
        <p:txBody>
          <a:bodyPr wrap="none" anchor="ctr"/>
          <a:lstStyle/>
          <a:p>
            <a:endParaRPr lang="es-CL">
              <a:solidFill>
                <a:srgbClr val="002060"/>
              </a:solidFill>
            </a:endParaRPr>
          </a:p>
        </p:txBody>
      </p:sp>
      <p:sp>
        <p:nvSpPr>
          <p:cNvPr id="80" name="AutoShape 47"/>
          <p:cNvSpPr>
            <a:spLocks noChangeArrowheads="1"/>
          </p:cNvSpPr>
          <p:nvPr/>
        </p:nvSpPr>
        <p:spPr bwMode="blackWhite">
          <a:xfrm>
            <a:off x="281304" y="5201534"/>
            <a:ext cx="353942" cy="864000"/>
          </a:xfrm>
          <a:prstGeom prst="rightArrow">
            <a:avLst>
              <a:gd name="adj1" fmla="val 100000"/>
              <a:gd name="adj2" fmla="val 11009"/>
            </a:avLst>
          </a:prstGeom>
          <a:solidFill>
            <a:srgbClr val="969696"/>
          </a:solidFill>
          <a:ln w="12700">
            <a:noFill/>
            <a:miter lim="800000"/>
            <a:headEnd/>
            <a:tailEnd/>
          </a:ln>
          <a:effectLst>
            <a:outerShdw dist="35921" dir="2700000" algn="ctr" rotWithShape="0">
              <a:schemeClr val="bg2"/>
            </a:outerShdw>
          </a:effectLst>
        </p:spPr>
        <p:txBody>
          <a:bodyPr vert="vert270" anchor="ctr"/>
          <a:lstStyle/>
          <a:p>
            <a:pPr algn="ctr">
              <a:lnSpc>
                <a:spcPts val="1000"/>
              </a:lnSpc>
            </a:pPr>
            <a:r>
              <a:rPr lang="es-ES" sz="1100" b="1" noProof="1">
                <a:solidFill>
                  <a:srgbClr val="FFFFFF"/>
                </a:solidFill>
                <a:cs typeface="Arial" charset="0"/>
              </a:rPr>
              <a:t>Evaluación de Controles</a:t>
            </a:r>
          </a:p>
        </p:txBody>
      </p:sp>
      <p:sp>
        <p:nvSpPr>
          <p:cNvPr id="81" name="Rectangle 18"/>
          <p:cNvSpPr>
            <a:spLocks noChangeArrowheads="1"/>
          </p:cNvSpPr>
          <p:nvPr/>
        </p:nvSpPr>
        <p:spPr bwMode="auto">
          <a:xfrm>
            <a:off x="3937102" y="5275299"/>
            <a:ext cx="548640" cy="170094"/>
          </a:xfrm>
          <a:prstGeom prst="rect">
            <a:avLst/>
          </a:prstGeom>
          <a:solidFill>
            <a:schemeClr val="bg1"/>
          </a:solidFill>
          <a:ln w="9525" algn="ctr">
            <a:solidFill>
              <a:schemeClr val="bg2"/>
            </a:solidFill>
            <a:miter lim="800000"/>
            <a:headEnd/>
            <a:tailEnd/>
          </a:ln>
          <a:effectLst/>
        </p:spPr>
        <p:txBody>
          <a:bodyPr anchor="ctr"/>
          <a:lstStyle/>
          <a:p>
            <a:pPr algn="ctr"/>
            <a:r>
              <a:rPr lang="es-ES" sz="1100" dirty="0">
                <a:solidFill>
                  <a:srgbClr val="002060"/>
                </a:solidFill>
              </a:rPr>
              <a:t>0</a:t>
            </a:r>
          </a:p>
        </p:txBody>
      </p:sp>
      <p:sp>
        <p:nvSpPr>
          <p:cNvPr id="82" name="Rounded Rectangle 38"/>
          <p:cNvSpPr/>
          <p:nvPr/>
        </p:nvSpPr>
        <p:spPr>
          <a:xfrm>
            <a:off x="705742" y="5275299"/>
            <a:ext cx="3132000" cy="170094"/>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Controles asociados al riesgo</a:t>
            </a:r>
          </a:p>
        </p:txBody>
      </p:sp>
      <p:sp>
        <p:nvSpPr>
          <p:cNvPr id="83" name="Rectangle 18"/>
          <p:cNvSpPr>
            <a:spLocks noChangeArrowheads="1"/>
          </p:cNvSpPr>
          <p:nvPr/>
        </p:nvSpPr>
        <p:spPr bwMode="auto">
          <a:xfrm>
            <a:off x="705742" y="5496307"/>
            <a:ext cx="3780000" cy="469509"/>
          </a:xfrm>
          <a:prstGeom prst="rect">
            <a:avLst/>
          </a:prstGeom>
          <a:solidFill>
            <a:schemeClr val="bg1"/>
          </a:solidFill>
          <a:ln w="9525" algn="ctr">
            <a:solidFill>
              <a:schemeClr val="bg2"/>
            </a:solidFill>
            <a:miter lim="800000"/>
            <a:headEnd/>
            <a:tailEnd/>
          </a:ln>
          <a:effectLst/>
        </p:spPr>
        <p:txBody>
          <a:bodyPr anchor="ctr"/>
          <a:lstStyle/>
          <a:p>
            <a:r>
              <a:rPr lang="es-PE" sz="1100" dirty="0">
                <a:solidFill>
                  <a:srgbClr val="000000"/>
                </a:solidFill>
              </a:rPr>
              <a:t>No existe un control definido.</a:t>
            </a:r>
            <a:endParaRPr lang="es-ES" sz="1100" dirty="0">
              <a:solidFill>
                <a:srgbClr val="000000"/>
              </a:solidFill>
            </a:endParaRPr>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dirty="0"/>
              <a:t>Anexo: Ficha Individual Riesgos Operacionales</a:t>
            </a:r>
          </a:p>
        </p:txBody>
      </p:sp>
      <p:sp>
        <p:nvSpPr>
          <p:cNvPr id="4" name="Rounded Rectangle 3"/>
          <p:cNvSpPr/>
          <p:nvPr/>
        </p:nvSpPr>
        <p:spPr>
          <a:xfrm>
            <a:off x="227770" y="764704"/>
            <a:ext cx="383790" cy="274320"/>
          </a:xfrm>
          <a:prstGeom prst="roundRect">
            <a:avLst/>
          </a:prstGeom>
          <a:solidFill>
            <a:srgbClr val="DB0613"/>
          </a:solidFill>
          <a:ln w="9525" algn="ctr">
            <a:noFill/>
            <a:miter lim="800000"/>
            <a:headEnd/>
            <a:tailEnd/>
          </a:ln>
          <a:effectLst/>
        </p:spPr>
        <p:txBody>
          <a:bodyPr anchor="ctr"/>
          <a:lstStyle/>
          <a:p>
            <a:pPr algn="ctr">
              <a:lnSpc>
                <a:spcPct val="80000"/>
              </a:lnSpc>
            </a:pPr>
            <a:r>
              <a:rPr lang="es-CL" sz="1200" b="1" dirty="0">
                <a:solidFill>
                  <a:srgbClr val="FFFFFF"/>
                </a:solidFill>
                <a:cs typeface="Arial" pitchFamily="34" charset="0"/>
              </a:rPr>
              <a:t>46</a:t>
            </a:r>
          </a:p>
        </p:txBody>
      </p:sp>
      <p:sp>
        <p:nvSpPr>
          <p:cNvPr id="5" name="Rectangle 18"/>
          <p:cNvSpPr>
            <a:spLocks noChangeArrowheads="1"/>
          </p:cNvSpPr>
          <p:nvPr/>
        </p:nvSpPr>
        <p:spPr bwMode="auto">
          <a:xfrm>
            <a:off x="227770" y="2548229"/>
            <a:ext cx="6400800" cy="708660"/>
          </a:xfrm>
          <a:prstGeom prst="rect">
            <a:avLst/>
          </a:prstGeom>
          <a:noFill/>
          <a:ln w="9525" algn="ctr">
            <a:solidFill>
              <a:schemeClr val="bg2"/>
            </a:solidFill>
            <a:miter lim="800000"/>
            <a:headEnd/>
            <a:tailEnd/>
          </a:ln>
          <a:effectLst/>
        </p:spPr>
        <p:txBody>
          <a:bodyPr/>
          <a:lstStyle/>
          <a:p>
            <a:r>
              <a:rPr lang="es-ES" sz="1100" dirty="0"/>
              <a:t>Riesgo de que por una caída de los sistemas no se puedan realizar operaciones en el Subproceso de Money Market, lo que implica que no pueden colocarse los excedentes o necesidades de liquidez por el tiempo que no estén disponibles estos sistemas.</a:t>
            </a:r>
          </a:p>
        </p:txBody>
      </p:sp>
      <p:sp>
        <p:nvSpPr>
          <p:cNvPr id="8" name="Rounded Rectangle 7"/>
          <p:cNvSpPr/>
          <p:nvPr/>
        </p:nvSpPr>
        <p:spPr>
          <a:xfrm>
            <a:off x="652842" y="764704"/>
            <a:ext cx="8352000" cy="274320"/>
          </a:xfrm>
          <a:prstGeom prst="roundRect">
            <a:avLst/>
          </a:prstGeom>
          <a:solidFill>
            <a:srgbClr val="DB0613"/>
          </a:solidFill>
          <a:ln w="9525" algn="ctr">
            <a:noFill/>
            <a:miter lim="800000"/>
            <a:headEnd/>
            <a:tailEnd/>
          </a:ln>
          <a:effectLst/>
        </p:spPr>
        <p:txBody>
          <a:bodyPr anchor="ctr"/>
          <a:lstStyle/>
          <a:p>
            <a:pPr>
              <a:lnSpc>
                <a:spcPct val="80000"/>
              </a:lnSpc>
            </a:pPr>
            <a:r>
              <a:rPr lang="es-CL" sz="1200" b="1" dirty="0">
                <a:solidFill>
                  <a:srgbClr val="FFFFFF"/>
                </a:solidFill>
                <a:cs typeface="Arial" pitchFamily="34" charset="0"/>
              </a:rPr>
              <a:t>Riesgo de no colocar los excedentes/necesidades de liquidez por indisponibilidad de Sistemas</a:t>
            </a:r>
          </a:p>
        </p:txBody>
      </p:sp>
      <p:sp>
        <p:nvSpPr>
          <p:cNvPr id="9" name="Rounded Rectangle 8"/>
          <p:cNvSpPr/>
          <p:nvPr/>
        </p:nvSpPr>
        <p:spPr>
          <a:xfrm>
            <a:off x="227770" y="2307916"/>
            <a:ext cx="64008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Descripción</a:t>
            </a:r>
          </a:p>
        </p:txBody>
      </p:sp>
      <p:sp>
        <p:nvSpPr>
          <p:cNvPr id="10" name="Rounded Rectangle 9"/>
          <p:cNvSpPr/>
          <p:nvPr/>
        </p:nvSpPr>
        <p:spPr>
          <a:xfrm>
            <a:off x="6716066" y="1111764"/>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Categoría  de Riesgo Nivel I</a:t>
            </a:r>
          </a:p>
        </p:txBody>
      </p:sp>
      <p:sp>
        <p:nvSpPr>
          <p:cNvPr id="11" name="Rectangle 18"/>
          <p:cNvSpPr>
            <a:spLocks noChangeArrowheads="1"/>
          </p:cNvSpPr>
          <p:nvPr/>
        </p:nvSpPr>
        <p:spPr bwMode="auto">
          <a:xfrm>
            <a:off x="6716066" y="1325572"/>
            <a:ext cx="2286000" cy="270000"/>
          </a:xfrm>
          <a:prstGeom prst="rect">
            <a:avLst/>
          </a:prstGeom>
          <a:noFill/>
          <a:ln w="9525" algn="ctr">
            <a:solidFill>
              <a:schemeClr val="bg2"/>
            </a:solidFill>
            <a:miter lim="800000"/>
            <a:headEnd/>
            <a:tailEnd/>
          </a:ln>
          <a:effectLst/>
        </p:spPr>
        <p:txBody>
          <a:bodyPr anchor="ctr"/>
          <a:lstStyle/>
          <a:p>
            <a:pPr>
              <a:lnSpc>
                <a:spcPts val="1000"/>
              </a:lnSpc>
            </a:pPr>
            <a:r>
              <a:rPr lang="es-ES" sz="1100" dirty="0"/>
              <a:t>Incidencias en el negocio y fallos en los sistemas</a:t>
            </a:r>
          </a:p>
        </p:txBody>
      </p:sp>
      <p:sp>
        <p:nvSpPr>
          <p:cNvPr id="12" name="Rounded Rectangle 11"/>
          <p:cNvSpPr/>
          <p:nvPr/>
        </p:nvSpPr>
        <p:spPr>
          <a:xfrm>
            <a:off x="6716066" y="1664503"/>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Categoría  de Riesgo Nivel II</a:t>
            </a:r>
          </a:p>
        </p:txBody>
      </p:sp>
      <p:sp>
        <p:nvSpPr>
          <p:cNvPr id="13" name="Rectangle 18"/>
          <p:cNvSpPr>
            <a:spLocks noChangeArrowheads="1"/>
          </p:cNvSpPr>
          <p:nvPr/>
        </p:nvSpPr>
        <p:spPr bwMode="auto">
          <a:xfrm>
            <a:off x="6716066" y="1877089"/>
            <a:ext cx="2286000" cy="270000"/>
          </a:xfrm>
          <a:prstGeom prst="rect">
            <a:avLst/>
          </a:prstGeom>
          <a:noFill/>
          <a:ln w="9525" algn="ctr">
            <a:solidFill>
              <a:schemeClr val="bg2"/>
            </a:solidFill>
            <a:miter lim="800000"/>
            <a:headEnd/>
            <a:tailEnd/>
          </a:ln>
          <a:effectLst/>
        </p:spPr>
        <p:txBody>
          <a:bodyPr anchor="ctr"/>
          <a:lstStyle/>
          <a:p>
            <a:r>
              <a:rPr lang="es-ES" sz="1100" dirty="0"/>
              <a:t>Interrupción del negocio y fallos en los sistemas.</a:t>
            </a:r>
          </a:p>
        </p:txBody>
      </p:sp>
      <p:sp>
        <p:nvSpPr>
          <p:cNvPr id="15" name="Rounded Rectangle 14"/>
          <p:cNvSpPr/>
          <p:nvPr/>
        </p:nvSpPr>
        <p:spPr>
          <a:xfrm>
            <a:off x="6716066" y="2223551"/>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Categoría  de Riesgo Nivel III</a:t>
            </a:r>
          </a:p>
        </p:txBody>
      </p:sp>
      <p:sp>
        <p:nvSpPr>
          <p:cNvPr id="16" name="Rectangle 18"/>
          <p:cNvSpPr>
            <a:spLocks noChangeArrowheads="1"/>
          </p:cNvSpPr>
          <p:nvPr/>
        </p:nvSpPr>
        <p:spPr bwMode="auto">
          <a:xfrm>
            <a:off x="6716066" y="2434321"/>
            <a:ext cx="2286000" cy="270000"/>
          </a:xfrm>
          <a:prstGeom prst="rect">
            <a:avLst/>
          </a:prstGeom>
          <a:noFill/>
          <a:ln w="9525" algn="ctr">
            <a:solidFill>
              <a:schemeClr val="bg2"/>
            </a:solidFill>
            <a:miter lim="800000"/>
            <a:headEnd/>
            <a:tailEnd/>
          </a:ln>
          <a:effectLst/>
        </p:spPr>
        <p:txBody>
          <a:bodyPr anchor="ctr"/>
          <a:lstStyle/>
          <a:p>
            <a:r>
              <a:rPr lang="es-ES" sz="900" dirty="0"/>
              <a:t>Cortes en los servicios/Interrupción en las aplicaciones</a:t>
            </a:r>
          </a:p>
        </p:txBody>
      </p:sp>
      <p:sp>
        <p:nvSpPr>
          <p:cNvPr id="17" name="Rounded Rectangle 16"/>
          <p:cNvSpPr/>
          <p:nvPr/>
        </p:nvSpPr>
        <p:spPr>
          <a:xfrm>
            <a:off x="216583" y="1110038"/>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Macroproceso</a:t>
            </a:r>
          </a:p>
        </p:txBody>
      </p:sp>
      <p:sp>
        <p:nvSpPr>
          <p:cNvPr id="18" name="Rectangle 18"/>
          <p:cNvSpPr>
            <a:spLocks noChangeArrowheads="1"/>
          </p:cNvSpPr>
          <p:nvPr/>
        </p:nvSpPr>
        <p:spPr bwMode="auto">
          <a:xfrm>
            <a:off x="2568409" y="1110038"/>
            <a:ext cx="3877200" cy="182880"/>
          </a:xfrm>
          <a:prstGeom prst="rect">
            <a:avLst/>
          </a:prstGeom>
          <a:noFill/>
          <a:ln w="9525" algn="ctr">
            <a:solidFill>
              <a:schemeClr val="bg2"/>
            </a:solidFill>
            <a:miter lim="800000"/>
            <a:headEnd/>
            <a:tailEnd/>
          </a:ln>
          <a:effectLst/>
        </p:spPr>
        <p:txBody>
          <a:bodyPr anchor="ctr"/>
          <a:lstStyle/>
          <a:p>
            <a:r>
              <a:rPr lang="es-ES" sz="1100" dirty="0"/>
              <a:t>Administración de Portafolio de Inversiones</a:t>
            </a:r>
          </a:p>
        </p:txBody>
      </p:sp>
      <p:sp>
        <p:nvSpPr>
          <p:cNvPr id="19" name="Rounded Rectangle 18"/>
          <p:cNvSpPr/>
          <p:nvPr/>
        </p:nvSpPr>
        <p:spPr>
          <a:xfrm>
            <a:off x="216583" y="1339045"/>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Proceso</a:t>
            </a:r>
          </a:p>
        </p:txBody>
      </p:sp>
      <p:sp>
        <p:nvSpPr>
          <p:cNvPr id="20" name="Rectangle 18"/>
          <p:cNvSpPr>
            <a:spLocks noChangeArrowheads="1"/>
          </p:cNvSpPr>
          <p:nvPr/>
        </p:nvSpPr>
        <p:spPr bwMode="auto">
          <a:xfrm>
            <a:off x="2568409" y="1339045"/>
            <a:ext cx="3877200" cy="182880"/>
          </a:xfrm>
          <a:prstGeom prst="rect">
            <a:avLst/>
          </a:prstGeom>
          <a:noFill/>
          <a:ln w="9525" algn="ctr">
            <a:solidFill>
              <a:schemeClr val="bg2"/>
            </a:solidFill>
            <a:miter lim="800000"/>
            <a:headEnd/>
            <a:tailEnd/>
          </a:ln>
          <a:effectLst/>
        </p:spPr>
        <p:txBody>
          <a:bodyPr anchor="ctr"/>
          <a:lstStyle/>
          <a:p>
            <a:r>
              <a:rPr lang="es-ES" sz="1100" dirty="0"/>
              <a:t>Administración de fondos</a:t>
            </a:r>
          </a:p>
        </p:txBody>
      </p:sp>
      <p:sp>
        <p:nvSpPr>
          <p:cNvPr id="59" name="Rounded Rectangle 58"/>
          <p:cNvSpPr/>
          <p:nvPr/>
        </p:nvSpPr>
        <p:spPr>
          <a:xfrm>
            <a:off x="216583" y="1579694"/>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Subproceso</a:t>
            </a:r>
          </a:p>
        </p:txBody>
      </p:sp>
      <p:sp>
        <p:nvSpPr>
          <p:cNvPr id="60" name="Rectangle 18"/>
          <p:cNvSpPr>
            <a:spLocks noChangeArrowheads="1"/>
          </p:cNvSpPr>
          <p:nvPr/>
        </p:nvSpPr>
        <p:spPr bwMode="auto">
          <a:xfrm>
            <a:off x="2568409" y="1579694"/>
            <a:ext cx="3875799" cy="182880"/>
          </a:xfrm>
          <a:prstGeom prst="rect">
            <a:avLst/>
          </a:prstGeom>
          <a:noFill/>
          <a:ln w="9525" algn="ctr">
            <a:solidFill>
              <a:schemeClr val="bg2"/>
            </a:solidFill>
            <a:miter lim="800000"/>
            <a:headEnd/>
            <a:tailEnd/>
          </a:ln>
          <a:effectLst/>
        </p:spPr>
        <p:txBody>
          <a:bodyPr anchor="ctr"/>
          <a:lstStyle/>
          <a:p>
            <a:r>
              <a:rPr lang="es-ES" sz="1100" dirty="0"/>
              <a:t>Money Market</a:t>
            </a:r>
          </a:p>
        </p:txBody>
      </p:sp>
      <p:sp>
        <p:nvSpPr>
          <p:cNvPr id="61" name="Rounded Rectangle 60"/>
          <p:cNvSpPr/>
          <p:nvPr/>
        </p:nvSpPr>
        <p:spPr>
          <a:xfrm>
            <a:off x="226806" y="1826440"/>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Línea de Negocio</a:t>
            </a:r>
          </a:p>
        </p:txBody>
      </p:sp>
      <p:sp>
        <p:nvSpPr>
          <p:cNvPr id="63" name="Rounded Rectangle 62"/>
          <p:cNvSpPr/>
          <p:nvPr/>
        </p:nvSpPr>
        <p:spPr>
          <a:xfrm>
            <a:off x="226806" y="2079535"/>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Responsable</a:t>
            </a:r>
          </a:p>
        </p:txBody>
      </p:sp>
      <p:sp>
        <p:nvSpPr>
          <p:cNvPr id="65" name="Rectangle 18"/>
          <p:cNvSpPr>
            <a:spLocks noChangeArrowheads="1"/>
          </p:cNvSpPr>
          <p:nvPr/>
        </p:nvSpPr>
        <p:spPr bwMode="auto">
          <a:xfrm>
            <a:off x="2568409" y="1826440"/>
            <a:ext cx="3875799" cy="182880"/>
          </a:xfrm>
          <a:prstGeom prst="rect">
            <a:avLst/>
          </a:prstGeom>
          <a:noFill/>
          <a:ln w="9525" algn="ctr">
            <a:solidFill>
              <a:schemeClr val="bg2"/>
            </a:solidFill>
            <a:miter lim="800000"/>
            <a:headEnd/>
            <a:tailEnd/>
          </a:ln>
          <a:effectLst/>
        </p:spPr>
        <p:txBody>
          <a:bodyPr anchor="ctr"/>
          <a:lstStyle/>
          <a:p>
            <a:r>
              <a:rPr lang="es-ES" sz="1100" dirty="0"/>
              <a:t>Negociación y Ventas</a:t>
            </a:r>
          </a:p>
        </p:txBody>
      </p:sp>
      <p:sp>
        <p:nvSpPr>
          <p:cNvPr id="66" name="Rectangle 18"/>
          <p:cNvSpPr>
            <a:spLocks noChangeArrowheads="1"/>
          </p:cNvSpPr>
          <p:nvPr/>
        </p:nvSpPr>
        <p:spPr bwMode="auto">
          <a:xfrm>
            <a:off x="2555776" y="2079535"/>
            <a:ext cx="3875799" cy="182880"/>
          </a:xfrm>
          <a:prstGeom prst="rect">
            <a:avLst/>
          </a:prstGeom>
          <a:noFill/>
          <a:ln w="9525" algn="ctr">
            <a:solidFill>
              <a:schemeClr val="bg2"/>
            </a:solidFill>
            <a:miter lim="800000"/>
            <a:headEnd/>
            <a:tailEnd/>
          </a:ln>
          <a:effectLst/>
        </p:spPr>
        <p:txBody>
          <a:bodyPr anchor="ctr"/>
          <a:lstStyle/>
          <a:p>
            <a:r>
              <a:rPr lang="es-ES" sz="1100" dirty="0"/>
              <a:t>Jefe de Gestión de Inversión</a:t>
            </a:r>
          </a:p>
        </p:txBody>
      </p:sp>
      <p:sp>
        <p:nvSpPr>
          <p:cNvPr id="78" name="Rounded Rectangle 14"/>
          <p:cNvSpPr/>
          <p:nvPr/>
        </p:nvSpPr>
        <p:spPr>
          <a:xfrm>
            <a:off x="6716066" y="2768330"/>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Origen del Riesgo</a:t>
            </a:r>
          </a:p>
        </p:txBody>
      </p:sp>
      <p:sp>
        <p:nvSpPr>
          <p:cNvPr id="79" name="Rectangle 18"/>
          <p:cNvSpPr>
            <a:spLocks noChangeArrowheads="1"/>
          </p:cNvSpPr>
          <p:nvPr/>
        </p:nvSpPr>
        <p:spPr bwMode="auto">
          <a:xfrm>
            <a:off x="6716066" y="2983595"/>
            <a:ext cx="2286000" cy="270000"/>
          </a:xfrm>
          <a:prstGeom prst="rect">
            <a:avLst/>
          </a:prstGeom>
          <a:noFill/>
          <a:ln w="9525" algn="ctr">
            <a:solidFill>
              <a:schemeClr val="bg2"/>
            </a:solidFill>
            <a:miter lim="800000"/>
            <a:headEnd/>
            <a:tailEnd/>
          </a:ln>
          <a:effectLst/>
        </p:spPr>
        <p:txBody>
          <a:bodyPr anchor="ctr"/>
          <a:lstStyle/>
          <a:p>
            <a:r>
              <a:rPr lang="es-ES" sz="1100" dirty="0">
                <a:solidFill>
                  <a:srgbClr val="000000"/>
                </a:solidFill>
              </a:rPr>
              <a:t>Tecnología</a:t>
            </a:r>
          </a:p>
        </p:txBody>
      </p:sp>
      <p:sp>
        <p:nvSpPr>
          <p:cNvPr id="68" name="AutoShape 179"/>
          <p:cNvSpPr>
            <a:spLocks noChangeArrowheads="1"/>
          </p:cNvSpPr>
          <p:nvPr/>
        </p:nvSpPr>
        <p:spPr bwMode="auto">
          <a:xfrm>
            <a:off x="611560" y="3482416"/>
            <a:ext cx="3960812" cy="1275707"/>
          </a:xfrm>
          <a:prstGeom prst="roundRect">
            <a:avLst>
              <a:gd name="adj" fmla="val 9481"/>
            </a:avLst>
          </a:prstGeom>
          <a:solidFill>
            <a:schemeClr val="accent1">
              <a:lumMod val="20000"/>
              <a:lumOff val="80000"/>
            </a:schemeClr>
          </a:solidFill>
          <a:ln w="9525" algn="ctr">
            <a:noFill/>
            <a:round/>
            <a:headEnd/>
            <a:tailEnd/>
          </a:ln>
          <a:effectLst/>
        </p:spPr>
        <p:txBody>
          <a:bodyPr wrap="none" anchor="ctr"/>
          <a:lstStyle/>
          <a:p>
            <a:endParaRPr lang="es-CL">
              <a:solidFill>
                <a:srgbClr val="002060"/>
              </a:solidFill>
            </a:endParaRPr>
          </a:p>
        </p:txBody>
      </p:sp>
      <p:sp>
        <p:nvSpPr>
          <p:cNvPr id="73" name="Text Box 30"/>
          <p:cNvSpPr txBox="1">
            <a:spLocks noChangeArrowheads="1"/>
          </p:cNvSpPr>
          <p:nvPr/>
        </p:nvSpPr>
        <p:spPr bwMode="auto">
          <a:xfrm>
            <a:off x="190747" y="3259373"/>
            <a:ext cx="3671888" cy="276999"/>
          </a:xfrm>
          <a:prstGeom prst="rect">
            <a:avLst/>
          </a:prstGeom>
          <a:noFill/>
          <a:ln w="9525" algn="ctr">
            <a:noFill/>
            <a:miter lim="800000"/>
            <a:headEnd/>
            <a:tailEnd/>
          </a:ln>
          <a:effectLst/>
        </p:spPr>
        <p:txBody>
          <a:bodyPr>
            <a:spAutoFit/>
          </a:bodyPr>
          <a:lstStyle/>
          <a:p>
            <a:pPr>
              <a:spcBef>
                <a:spcPct val="50000"/>
              </a:spcBef>
            </a:pPr>
            <a:r>
              <a:rPr lang="es-CL" sz="1200" b="1" i="1" dirty="0">
                <a:solidFill>
                  <a:srgbClr val="A3A3E0"/>
                </a:solidFill>
              </a:rPr>
              <a:t>Resultados valoración de riesgos</a:t>
            </a:r>
            <a:endParaRPr lang="es-ES" sz="1200" b="1" i="1" dirty="0">
              <a:solidFill>
                <a:srgbClr val="A3A3E0"/>
              </a:solidFill>
            </a:endParaRPr>
          </a:p>
        </p:txBody>
      </p:sp>
      <p:sp>
        <p:nvSpPr>
          <p:cNvPr id="76" name="Rounded Rectangle 75"/>
          <p:cNvSpPr/>
          <p:nvPr/>
        </p:nvSpPr>
        <p:spPr>
          <a:xfrm>
            <a:off x="902959" y="4255955"/>
            <a:ext cx="1920240" cy="170094"/>
          </a:xfrm>
          <a:prstGeom prst="roundRect">
            <a:avLst/>
          </a:prstGeom>
          <a:solidFill>
            <a:srgbClr val="DB0613"/>
          </a:solidFill>
          <a:ln w="9525" algn="ctr">
            <a:noFill/>
            <a:miter lim="800000"/>
            <a:headEnd/>
            <a:tailEnd/>
          </a:ln>
          <a:effectLst/>
        </p:spPr>
        <p:txBody>
          <a:bodyPr tIns="91440" anchor="ctr"/>
          <a:lstStyle/>
          <a:p>
            <a:pPr>
              <a:lnSpc>
                <a:spcPct val="80000"/>
              </a:lnSpc>
            </a:pPr>
            <a:r>
              <a:rPr lang="es-CL" sz="1100" b="1" dirty="0">
                <a:solidFill>
                  <a:srgbClr val="FFFFFF"/>
                </a:solidFill>
                <a:cs typeface="Arial" pitchFamily="34" charset="0"/>
              </a:rPr>
              <a:t>Pérdida Esperada Anual</a:t>
            </a:r>
          </a:p>
        </p:txBody>
      </p:sp>
      <p:sp>
        <p:nvSpPr>
          <p:cNvPr id="77" name="Rectangle 18"/>
          <p:cNvSpPr>
            <a:spLocks noChangeArrowheads="1"/>
          </p:cNvSpPr>
          <p:nvPr/>
        </p:nvSpPr>
        <p:spPr bwMode="auto">
          <a:xfrm>
            <a:off x="2859920" y="4255955"/>
            <a:ext cx="1554480" cy="170094"/>
          </a:xfrm>
          <a:prstGeom prst="rect">
            <a:avLst/>
          </a:prstGeom>
          <a:solidFill>
            <a:schemeClr val="bg1"/>
          </a:solidFill>
          <a:ln w="9525" algn="ctr">
            <a:solidFill>
              <a:schemeClr val="bg2"/>
            </a:solidFill>
            <a:miter lim="800000"/>
            <a:headEnd/>
            <a:tailEnd/>
          </a:ln>
          <a:effectLst/>
        </p:spPr>
        <p:txBody>
          <a:bodyPr anchor="ctr"/>
          <a:lstStyle/>
          <a:p>
            <a:pPr algn="ctr"/>
            <a:r>
              <a:rPr lang="es-ES" sz="1100" dirty="0">
                <a:solidFill>
                  <a:srgbClr val="000000"/>
                </a:solidFill>
              </a:rPr>
              <a:t>s/. 2,400</a:t>
            </a:r>
            <a:r>
              <a:rPr lang="es-ES" sz="1100" dirty="0"/>
              <a:t> .00</a:t>
            </a:r>
            <a:endParaRPr lang="es-ES" sz="1100" dirty="0">
              <a:solidFill>
                <a:srgbClr val="000000"/>
              </a:solidFill>
            </a:endParaRPr>
          </a:p>
        </p:txBody>
      </p:sp>
      <p:sp>
        <p:nvSpPr>
          <p:cNvPr id="80" name="Rounded Rectangle 79"/>
          <p:cNvSpPr/>
          <p:nvPr/>
        </p:nvSpPr>
        <p:spPr>
          <a:xfrm>
            <a:off x="902959" y="4485567"/>
            <a:ext cx="1920240" cy="170094"/>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VaR Cualitativo Anual</a:t>
            </a:r>
          </a:p>
        </p:txBody>
      </p:sp>
      <p:sp>
        <p:nvSpPr>
          <p:cNvPr id="81" name="Rectangle 18"/>
          <p:cNvSpPr>
            <a:spLocks noChangeArrowheads="1"/>
          </p:cNvSpPr>
          <p:nvPr/>
        </p:nvSpPr>
        <p:spPr bwMode="auto">
          <a:xfrm>
            <a:off x="2859920" y="4485567"/>
            <a:ext cx="1554480" cy="170094"/>
          </a:xfrm>
          <a:prstGeom prst="rect">
            <a:avLst/>
          </a:prstGeom>
          <a:solidFill>
            <a:schemeClr val="bg1"/>
          </a:solidFill>
          <a:ln w="9525" algn="ctr">
            <a:solidFill>
              <a:schemeClr val="bg2"/>
            </a:solidFill>
            <a:miter lim="800000"/>
            <a:headEnd/>
            <a:tailEnd/>
          </a:ln>
          <a:effectLst/>
        </p:spPr>
        <p:txBody>
          <a:bodyPr anchor="ctr"/>
          <a:lstStyle/>
          <a:p>
            <a:pPr algn="ctr"/>
            <a:r>
              <a:rPr lang="es-ES" sz="1100" dirty="0"/>
              <a:t>s</a:t>
            </a:r>
            <a:r>
              <a:rPr lang="es-ES" sz="1100" dirty="0">
                <a:solidFill>
                  <a:srgbClr val="000000"/>
                </a:solidFill>
              </a:rPr>
              <a:t>/.</a:t>
            </a:r>
            <a:r>
              <a:rPr lang="es-ES" sz="1100" dirty="0"/>
              <a:t> 8,232.64 </a:t>
            </a:r>
            <a:endParaRPr lang="es-ES" sz="1100" dirty="0">
              <a:solidFill>
                <a:srgbClr val="000000"/>
              </a:solidFill>
            </a:endParaRPr>
          </a:p>
        </p:txBody>
      </p:sp>
      <p:sp>
        <p:nvSpPr>
          <p:cNvPr id="82" name="Rounded Rectangle 81"/>
          <p:cNvSpPr/>
          <p:nvPr/>
        </p:nvSpPr>
        <p:spPr>
          <a:xfrm>
            <a:off x="891084" y="3553916"/>
            <a:ext cx="1920240" cy="170094"/>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Frecuencia  Evento Pérdida</a:t>
            </a:r>
          </a:p>
        </p:txBody>
      </p:sp>
      <p:sp>
        <p:nvSpPr>
          <p:cNvPr id="83" name="Rectangle 18"/>
          <p:cNvSpPr>
            <a:spLocks noChangeArrowheads="1"/>
          </p:cNvSpPr>
          <p:nvPr/>
        </p:nvSpPr>
        <p:spPr bwMode="auto">
          <a:xfrm>
            <a:off x="2859920" y="3553916"/>
            <a:ext cx="1554480" cy="170094"/>
          </a:xfrm>
          <a:prstGeom prst="rect">
            <a:avLst/>
          </a:prstGeom>
          <a:solidFill>
            <a:schemeClr val="bg1"/>
          </a:solidFill>
          <a:ln w="9525" algn="ctr">
            <a:solidFill>
              <a:schemeClr val="bg2"/>
            </a:solidFill>
            <a:miter lim="800000"/>
            <a:headEnd/>
            <a:tailEnd/>
          </a:ln>
          <a:effectLst/>
        </p:spPr>
        <p:txBody>
          <a:bodyPr anchor="ctr"/>
          <a:lstStyle/>
          <a:p>
            <a:pPr algn="ctr"/>
            <a:r>
              <a:rPr lang="es-ES" sz="1100" dirty="0">
                <a:solidFill>
                  <a:srgbClr val="000000"/>
                </a:solidFill>
              </a:rPr>
              <a:t>3 veces por 1 año</a:t>
            </a:r>
          </a:p>
        </p:txBody>
      </p:sp>
      <p:sp>
        <p:nvSpPr>
          <p:cNvPr id="84" name="Rounded Rectangle 83"/>
          <p:cNvSpPr/>
          <p:nvPr/>
        </p:nvSpPr>
        <p:spPr>
          <a:xfrm>
            <a:off x="891084" y="3783528"/>
            <a:ext cx="1920240" cy="170094"/>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Impacto Medio Evento</a:t>
            </a:r>
          </a:p>
        </p:txBody>
      </p:sp>
      <p:sp>
        <p:nvSpPr>
          <p:cNvPr id="85" name="Rectangle 18"/>
          <p:cNvSpPr>
            <a:spLocks noChangeArrowheads="1"/>
          </p:cNvSpPr>
          <p:nvPr/>
        </p:nvSpPr>
        <p:spPr bwMode="auto">
          <a:xfrm>
            <a:off x="2859920" y="3783528"/>
            <a:ext cx="1554480" cy="170094"/>
          </a:xfrm>
          <a:prstGeom prst="rect">
            <a:avLst/>
          </a:prstGeom>
          <a:solidFill>
            <a:schemeClr val="bg1"/>
          </a:solidFill>
          <a:ln w="9525" algn="ctr">
            <a:solidFill>
              <a:schemeClr val="bg2"/>
            </a:solidFill>
            <a:miter lim="800000"/>
            <a:headEnd/>
            <a:tailEnd/>
          </a:ln>
          <a:effectLst/>
        </p:spPr>
        <p:txBody>
          <a:bodyPr anchor="ctr"/>
          <a:lstStyle/>
          <a:p>
            <a:pPr algn="ctr"/>
            <a:r>
              <a:rPr lang="es-ES" sz="1100" dirty="0">
                <a:solidFill>
                  <a:srgbClr val="000000"/>
                </a:solidFill>
              </a:rPr>
              <a:t>s/. </a:t>
            </a:r>
            <a:r>
              <a:rPr lang="es-ES" sz="1100" dirty="0"/>
              <a:t>800.00 </a:t>
            </a:r>
            <a:endParaRPr lang="es-ES" sz="1100" dirty="0">
              <a:solidFill>
                <a:srgbClr val="000000"/>
              </a:solidFill>
            </a:endParaRPr>
          </a:p>
        </p:txBody>
      </p:sp>
      <p:sp>
        <p:nvSpPr>
          <p:cNvPr id="86" name="Rounded Rectangle 85"/>
          <p:cNvSpPr/>
          <p:nvPr/>
        </p:nvSpPr>
        <p:spPr>
          <a:xfrm>
            <a:off x="891084" y="4019108"/>
            <a:ext cx="1920240" cy="170094"/>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Impacto Peor Escenario</a:t>
            </a:r>
          </a:p>
        </p:txBody>
      </p:sp>
      <p:sp>
        <p:nvSpPr>
          <p:cNvPr id="87" name="Rectangle 18"/>
          <p:cNvSpPr>
            <a:spLocks noChangeArrowheads="1"/>
          </p:cNvSpPr>
          <p:nvPr/>
        </p:nvSpPr>
        <p:spPr bwMode="auto">
          <a:xfrm>
            <a:off x="2859920" y="4019108"/>
            <a:ext cx="1554480" cy="170094"/>
          </a:xfrm>
          <a:prstGeom prst="rect">
            <a:avLst/>
          </a:prstGeom>
          <a:solidFill>
            <a:schemeClr val="bg1"/>
          </a:solidFill>
          <a:ln w="9525" algn="ctr">
            <a:solidFill>
              <a:schemeClr val="bg2"/>
            </a:solidFill>
            <a:miter lim="800000"/>
            <a:headEnd/>
            <a:tailEnd/>
          </a:ln>
          <a:effectLst/>
        </p:spPr>
        <p:txBody>
          <a:bodyPr anchor="ctr"/>
          <a:lstStyle/>
          <a:p>
            <a:pPr algn="ctr"/>
            <a:r>
              <a:rPr lang="es-ES" sz="1100" dirty="0">
                <a:solidFill>
                  <a:srgbClr val="000000"/>
                </a:solidFill>
              </a:rPr>
              <a:t>s/. </a:t>
            </a:r>
            <a:r>
              <a:rPr lang="es-ES" sz="1100" dirty="0"/>
              <a:t>1,600.00</a:t>
            </a:r>
            <a:endParaRPr lang="es-ES" sz="1100" dirty="0">
              <a:solidFill>
                <a:srgbClr val="000000"/>
              </a:solidFill>
            </a:endParaRPr>
          </a:p>
        </p:txBody>
      </p:sp>
      <p:sp>
        <p:nvSpPr>
          <p:cNvPr id="88" name="AutoShape 47"/>
          <p:cNvSpPr>
            <a:spLocks noChangeAspect="1" noChangeArrowheads="1"/>
          </p:cNvSpPr>
          <p:nvPr/>
        </p:nvSpPr>
        <p:spPr bwMode="blackWhite">
          <a:xfrm>
            <a:off x="263032" y="3482416"/>
            <a:ext cx="503986" cy="1274400"/>
          </a:xfrm>
          <a:prstGeom prst="rightArrow">
            <a:avLst>
              <a:gd name="adj1" fmla="val 100000"/>
              <a:gd name="adj2" fmla="val 11009"/>
            </a:avLst>
          </a:prstGeom>
          <a:solidFill>
            <a:srgbClr val="969696"/>
          </a:solidFill>
          <a:ln w="12700">
            <a:noFill/>
            <a:miter lim="800000"/>
            <a:headEnd/>
            <a:tailEnd/>
          </a:ln>
          <a:effectLst>
            <a:outerShdw dist="35921" dir="2700000" algn="ctr" rotWithShape="0">
              <a:schemeClr val="bg2"/>
            </a:outerShdw>
          </a:effectLst>
        </p:spPr>
        <p:txBody>
          <a:bodyPr vert="vert270" anchor="ctr"/>
          <a:lstStyle/>
          <a:p>
            <a:pPr algn="ctr">
              <a:lnSpc>
                <a:spcPts val="1000"/>
              </a:lnSpc>
            </a:pPr>
            <a:r>
              <a:rPr lang="es-ES" sz="1100" b="1" noProof="1">
                <a:solidFill>
                  <a:srgbClr val="FFFFFF"/>
                </a:solidFill>
                <a:cs typeface="Arial" charset="0"/>
              </a:rPr>
              <a:t>Evaluación Riesgo Operacional</a:t>
            </a:r>
          </a:p>
        </p:txBody>
      </p:sp>
      <p:sp>
        <p:nvSpPr>
          <p:cNvPr id="89" name="AutoShape 179"/>
          <p:cNvSpPr>
            <a:spLocks noChangeArrowheads="1"/>
          </p:cNvSpPr>
          <p:nvPr/>
        </p:nvSpPr>
        <p:spPr bwMode="auto">
          <a:xfrm>
            <a:off x="4932039" y="3493021"/>
            <a:ext cx="4037169" cy="864000"/>
          </a:xfrm>
          <a:prstGeom prst="roundRect">
            <a:avLst>
              <a:gd name="adj" fmla="val 9481"/>
            </a:avLst>
          </a:prstGeom>
          <a:solidFill>
            <a:schemeClr val="accent1">
              <a:lumMod val="20000"/>
              <a:lumOff val="80000"/>
            </a:schemeClr>
          </a:solidFill>
          <a:ln w="9525" algn="ctr">
            <a:noFill/>
            <a:round/>
            <a:headEnd/>
            <a:tailEnd/>
          </a:ln>
          <a:effectLst/>
        </p:spPr>
        <p:txBody>
          <a:bodyPr wrap="none" anchor="ctr"/>
          <a:lstStyle/>
          <a:p>
            <a:endParaRPr lang="es-CL">
              <a:solidFill>
                <a:srgbClr val="002060"/>
              </a:solidFill>
            </a:endParaRPr>
          </a:p>
        </p:txBody>
      </p:sp>
      <p:sp>
        <p:nvSpPr>
          <p:cNvPr id="90" name="AutoShape 47"/>
          <p:cNvSpPr>
            <a:spLocks noChangeArrowheads="1"/>
          </p:cNvSpPr>
          <p:nvPr/>
        </p:nvSpPr>
        <p:spPr bwMode="blackWhite">
          <a:xfrm>
            <a:off x="4678512" y="3494523"/>
            <a:ext cx="353942" cy="864000"/>
          </a:xfrm>
          <a:prstGeom prst="rightArrow">
            <a:avLst>
              <a:gd name="adj1" fmla="val 100000"/>
              <a:gd name="adj2" fmla="val 11009"/>
            </a:avLst>
          </a:prstGeom>
          <a:solidFill>
            <a:srgbClr val="969696"/>
          </a:solidFill>
          <a:ln w="12700">
            <a:noFill/>
            <a:miter lim="800000"/>
            <a:headEnd/>
            <a:tailEnd/>
          </a:ln>
          <a:effectLst>
            <a:outerShdw dist="35921" dir="2700000" algn="ctr" rotWithShape="0">
              <a:schemeClr val="bg2"/>
            </a:outerShdw>
          </a:effectLst>
        </p:spPr>
        <p:txBody>
          <a:bodyPr vert="vert270" anchor="ctr"/>
          <a:lstStyle/>
          <a:p>
            <a:pPr algn="ctr">
              <a:lnSpc>
                <a:spcPts val="1000"/>
              </a:lnSpc>
            </a:pPr>
            <a:r>
              <a:rPr lang="es-ES" sz="1100" b="1" noProof="1">
                <a:solidFill>
                  <a:srgbClr val="FFFFFF"/>
                </a:solidFill>
                <a:cs typeface="Arial" charset="0"/>
              </a:rPr>
              <a:t>Impacto Reputacional</a:t>
            </a:r>
          </a:p>
        </p:txBody>
      </p:sp>
      <p:sp>
        <p:nvSpPr>
          <p:cNvPr id="91" name="Rectangle 18"/>
          <p:cNvSpPr>
            <a:spLocks noChangeArrowheads="1"/>
          </p:cNvSpPr>
          <p:nvPr/>
        </p:nvSpPr>
        <p:spPr bwMode="auto">
          <a:xfrm>
            <a:off x="8334310" y="3568288"/>
            <a:ext cx="548640" cy="170094"/>
          </a:xfrm>
          <a:prstGeom prst="rect">
            <a:avLst/>
          </a:prstGeom>
          <a:solidFill>
            <a:schemeClr val="bg1"/>
          </a:solidFill>
          <a:ln w="9525" algn="ctr">
            <a:solidFill>
              <a:schemeClr val="bg2"/>
            </a:solidFill>
            <a:miter lim="800000"/>
            <a:headEnd/>
            <a:tailEnd/>
          </a:ln>
          <a:effectLst/>
        </p:spPr>
        <p:txBody>
          <a:bodyPr anchor="ctr"/>
          <a:lstStyle/>
          <a:p>
            <a:pPr algn="ctr"/>
            <a:r>
              <a:rPr lang="es-ES" sz="1100" dirty="0"/>
              <a:t>2</a:t>
            </a:r>
          </a:p>
        </p:txBody>
      </p:sp>
      <p:sp>
        <p:nvSpPr>
          <p:cNvPr id="92" name="Rounded Rectangle 91"/>
          <p:cNvSpPr/>
          <p:nvPr/>
        </p:nvSpPr>
        <p:spPr>
          <a:xfrm>
            <a:off x="5102950" y="3568288"/>
            <a:ext cx="3132000" cy="170094"/>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Afectación a contrapartes</a:t>
            </a:r>
          </a:p>
        </p:txBody>
      </p:sp>
      <p:sp>
        <p:nvSpPr>
          <p:cNvPr id="93" name="Rectangle 18"/>
          <p:cNvSpPr>
            <a:spLocks noChangeArrowheads="1"/>
          </p:cNvSpPr>
          <p:nvPr/>
        </p:nvSpPr>
        <p:spPr bwMode="auto">
          <a:xfrm>
            <a:off x="5102950" y="3786445"/>
            <a:ext cx="3780000" cy="469509"/>
          </a:xfrm>
          <a:prstGeom prst="rect">
            <a:avLst/>
          </a:prstGeom>
          <a:solidFill>
            <a:schemeClr val="bg1"/>
          </a:solidFill>
          <a:ln w="9525" algn="ctr">
            <a:solidFill>
              <a:schemeClr val="bg2"/>
            </a:solidFill>
            <a:miter lim="800000"/>
            <a:headEnd/>
            <a:tailEnd/>
          </a:ln>
          <a:effectLst/>
        </p:spPr>
        <p:txBody>
          <a:bodyPr anchor="ctr"/>
          <a:lstStyle/>
          <a:p>
            <a:r>
              <a:rPr lang="es-ES" sz="1100" dirty="0">
                <a:solidFill>
                  <a:srgbClr val="000000"/>
                </a:solidFill>
              </a:rPr>
              <a:t>La exposición de la imagen es interna pero no limitada.</a:t>
            </a:r>
          </a:p>
        </p:txBody>
      </p:sp>
      <p:sp>
        <p:nvSpPr>
          <p:cNvPr id="94" name="Text Box 30"/>
          <p:cNvSpPr txBox="1">
            <a:spLocks noChangeArrowheads="1"/>
          </p:cNvSpPr>
          <p:nvPr/>
        </p:nvSpPr>
        <p:spPr bwMode="auto">
          <a:xfrm>
            <a:off x="190746" y="4838419"/>
            <a:ext cx="3996000" cy="276999"/>
          </a:xfrm>
          <a:prstGeom prst="rect">
            <a:avLst/>
          </a:prstGeom>
          <a:noFill/>
          <a:ln w="9525" algn="ctr">
            <a:noFill/>
            <a:miter lim="800000"/>
            <a:headEnd/>
            <a:tailEnd/>
          </a:ln>
          <a:effectLst/>
        </p:spPr>
        <p:txBody>
          <a:bodyPr wrap="square">
            <a:spAutoFit/>
          </a:bodyPr>
          <a:lstStyle/>
          <a:p>
            <a:pPr>
              <a:spcBef>
                <a:spcPct val="50000"/>
              </a:spcBef>
            </a:pPr>
            <a:r>
              <a:rPr lang="es-CL" sz="1200" b="1" i="1" dirty="0">
                <a:solidFill>
                  <a:srgbClr val="A3A3E0"/>
                </a:solidFill>
              </a:rPr>
              <a:t>Resultados valoración de controles / factores mitigantes</a:t>
            </a:r>
            <a:endParaRPr lang="es-ES" sz="1200" b="1" i="1" dirty="0">
              <a:solidFill>
                <a:srgbClr val="A3A3E0"/>
              </a:solidFill>
            </a:endParaRPr>
          </a:p>
        </p:txBody>
      </p:sp>
      <p:sp>
        <p:nvSpPr>
          <p:cNvPr id="98" name="AutoShape 179"/>
          <p:cNvSpPr>
            <a:spLocks noChangeArrowheads="1"/>
          </p:cNvSpPr>
          <p:nvPr/>
        </p:nvSpPr>
        <p:spPr bwMode="auto">
          <a:xfrm>
            <a:off x="4927319" y="4397238"/>
            <a:ext cx="4037169" cy="892800"/>
          </a:xfrm>
          <a:prstGeom prst="roundRect">
            <a:avLst>
              <a:gd name="adj" fmla="val 9481"/>
            </a:avLst>
          </a:prstGeom>
          <a:solidFill>
            <a:schemeClr val="accent1">
              <a:lumMod val="20000"/>
              <a:lumOff val="80000"/>
            </a:schemeClr>
          </a:solidFill>
          <a:ln w="9525" algn="ctr">
            <a:noFill/>
            <a:round/>
            <a:headEnd/>
            <a:tailEnd/>
          </a:ln>
          <a:effectLst/>
        </p:spPr>
        <p:txBody>
          <a:bodyPr wrap="none" anchor="ctr"/>
          <a:lstStyle/>
          <a:p>
            <a:endParaRPr lang="es-CL">
              <a:solidFill>
                <a:srgbClr val="002060"/>
              </a:solidFill>
            </a:endParaRPr>
          </a:p>
        </p:txBody>
      </p:sp>
      <p:sp>
        <p:nvSpPr>
          <p:cNvPr id="99" name="AutoShape 47"/>
          <p:cNvSpPr>
            <a:spLocks noChangeArrowheads="1"/>
          </p:cNvSpPr>
          <p:nvPr/>
        </p:nvSpPr>
        <p:spPr bwMode="blackWhite">
          <a:xfrm>
            <a:off x="4673792" y="4398740"/>
            <a:ext cx="352800" cy="892800"/>
          </a:xfrm>
          <a:prstGeom prst="rightArrow">
            <a:avLst>
              <a:gd name="adj1" fmla="val 100000"/>
              <a:gd name="adj2" fmla="val 11009"/>
            </a:avLst>
          </a:prstGeom>
          <a:solidFill>
            <a:srgbClr val="969696"/>
          </a:solidFill>
          <a:ln w="12700">
            <a:noFill/>
            <a:miter lim="800000"/>
            <a:headEnd/>
            <a:tailEnd/>
          </a:ln>
          <a:effectLst>
            <a:outerShdw dist="35921" dir="2700000" algn="ctr" rotWithShape="0">
              <a:schemeClr val="bg2"/>
            </a:outerShdw>
          </a:effectLst>
        </p:spPr>
        <p:txBody>
          <a:bodyPr vert="vert270" anchor="ctr"/>
          <a:lstStyle/>
          <a:p>
            <a:pPr algn="ctr">
              <a:lnSpc>
                <a:spcPts val="1000"/>
              </a:lnSpc>
            </a:pPr>
            <a:r>
              <a:rPr lang="es-ES" sz="1100" b="1" noProof="1">
                <a:solidFill>
                  <a:srgbClr val="FFFFFF"/>
                </a:solidFill>
                <a:cs typeface="Arial" charset="0"/>
              </a:rPr>
              <a:t>Cuestionarios</a:t>
            </a:r>
          </a:p>
        </p:txBody>
      </p:sp>
      <p:sp>
        <p:nvSpPr>
          <p:cNvPr id="101" name="Rounded Rectangle 38"/>
          <p:cNvSpPr/>
          <p:nvPr/>
        </p:nvSpPr>
        <p:spPr>
          <a:xfrm>
            <a:off x="5098230" y="4472505"/>
            <a:ext cx="3132000" cy="170094"/>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Criterios de Evaluación</a:t>
            </a:r>
          </a:p>
        </p:txBody>
      </p:sp>
      <p:sp>
        <p:nvSpPr>
          <p:cNvPr id="102" name="AutoShape 179"/>
          <p:cNvSpPr>
            <a:spLocks noChangeArrowheads="1"/>
          </p:cNvSpPr>
          <p:nvPr/>
        </p:nvSpPr>
        <p:spPr bwMode="auto">
          <a:xfrm>
            <a:off x="534831" y="5060900"/>
            <a:ext cx="4037169" cy="864000"/>
          </a:xfrm>
          <a:prstGeom prst="roundRect">
            <a:avLst>
              <a:gd name="adj" fmla="val 9481"/>
            </a:avLst>
          </a:prstGeom>
          <a:solidFill>
            <a:schemeClr val="accent1">
              <a:lumMod val="20000"/>
              <a:lumOff val="80000"/>
            </a:schemeClr>
          </a:solidFill>
          <a:ln w="9525" algn="ctr">
            <a:noFill/>
            <a:round/>
            <a:headEnd/>
            <a:tailEnd/>
          </a:ln>
          <a:effectLst/>
        </p:spPr>
        <p:txBody>
          <a:bodyPr wrap="none" anchor="ctr"/>
          <a:lstStyle/>
          <a:p>
            <a:endParaRPr lang="es-CL">
              <a:solidFill>
                <a:srgbClr val="002060"/>
              </a:solidFill>
            </a:endParaRPr>
          </a:p>
        </p:txBody>
      </p:sp>
      <p:sp>
        <p:nvSpPr>
          <p:cNvPr id="103" name="AutoShape 47"/>
          <p:cNvSpPr>
            <a:spLocks noChangeArrowheads="1"/>
          </p:cNvSpPr>
          <p:nvPr/>
        </p:nvSpPr>
        <p:spPr bwMode="blackWhite">
          <a:xfrm>
            <a:off x="281304" y="5062402"/>
            <a:ext cx="353942" cy="864000"/>
          </a:xfrm>
          <a:prstGeom prst="rightArrow">
            <a:avLst>
              <a:gd name="adj1" fmla="val 100000"/>
              <a:gd name="adj2" fmla="val 11009"/>
            </a:avLst>
          </a:prstGeom>
          <a:solidFill>
            <a:srgbClr val="969696"/>
          </a:solidFill>
          <a:ln w="12700">
            <a:noFill/>
            <a:miter lim="800000"/>
            <a:headEnd/>
            <a:tailEnd/>
          </a:ln>
          <a:effectLst>
            <a:outerShdw dist="35921" dir="2700000" algn="ctr" rotWithShape="0">
              <a:schemeClr val="bg2"/>
            </a:outerShdw>
          </a:effectLst>
        </p:spPr>
        <p:txBody>
          <a:bodyPr vert="vert270" anchor="ctr"/>
          <a:lstStyle/>
          <a:p>
            <a:pPr algn="ctr">
              <a:lnSpc>
                <a:spcPts val="1000"/>
              </a:lnSpc>
            </a:pPr>
            <a:r>
              <a:rPr lang="es-ES" sz="1100" b="1" noProof="1">
                <a:solidFill>
                  <a:srgbClr val="FFFFFF"/>
                </a:solidFill>
                <a:cs typeface="Arial" charset="0"/>
              </a:rPr>
              <a:t>Evaluación de Controles</a:t>
            </a:r>
          </a:p>
        </p:txBody>
      </p:sp>
      <p:sp>
        <p:nvSpPr>
          <p:cNvPr id="104" name="Rectangle 18"/>
          <p:cNvSpPr>
            <a:spLocks noChangeArrowheads="1"/>
          </p:cNvSpPr>
          <p:nvPr/>
        </p:nvSpPr>
        <p:spPr bwMode="auto">
          <a:xfrm>
            <a:off x="3937102" y="5136167"/>
            <a:ext cx="548640" cy="170094"/>
          </a:xfrm>
          <a:prstGeom prst="rect">
            <a:avLst/>
          </a:prstGeom>
          <a:solidFill>
            <a:schemeClr val="bg1"/>
          </a:solidFill>
          <a:ln w="9525" algn="ctr">
            <a:solidFill>
              <a:schemeClr val="bg2"/>
            </a:solidFill>
            <a:miter lim="800000"/>
            <a:headEnd/>
            <a:tailEnd/>
          </a:ln>
          <a:effectLst/>
        </p:spPr>
        <p:txBody>
          <a:bodyPr anchor="ctr"/>
          <a:lstStyle/>
          <a:p>
            <a:pPr algn="ctr"/>
            <a:r>
              <a:rPr lang="es-ES" sz="1100" dirty="0">
                <a:solidFill>
                  <a:srgbClr val="002060"/>
                </a:solidFill>
              </a:rPr>
              <a:t>1</a:t>
            </a:r>
          </a:p>
        </p:txBody>
      </p:sp>
      <p:sp>
        <p:nvSpPr>
          <p:cNvPr id="105" name="Rounded Rectangle 38"/>
          <p:cNvSpPr/>
          <p:nvPr/>
        </p:nvSpPr>
        <p:spPr>
          <a:xfrm>
            <a:off x="705742" y="5136167"/>
            <a:ext cx="3132000" cy="170094"/>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Controles asociados al riesgo</a:t>
            </a:r>
          </a:p>
        </p:txBody>
      </p:sp>
      <p:sp>
        <p:nvSpPr>
          <p:cNvPr id="106" name="Rectangle 18"/>
          <p:cNvSpPr>
            <a:spLocks noChangeArrowheads="1"/>
          </p:cNvSpPr>
          <p:nvPr/>
        </p:nvSpPr>
        <p:spPr bwMode="auto">
          <a:xfrm>
            <a:off x="5102950" y="4685678"/>
            <a:ext cx="3780000" cy="469509"/>
          </a:xfrm>
          <a:prstGeom prst="rect">
            <a:avLst/>
          </a:prstGeom>
          <a:solidFill>
            <a:schemeClr val="bg1"/>
          </a:solidFill>
          <a:ln w="9525" algn="ctr">
            <a:solidFill>
              <a:schemeClr val="bg2"/>
            </a:solidFill>
            <a:miter lim="800000"/>
            <a:headEnd/>
            <a:tailEnd/>
          </a:ln>
          <a:effectLst/>
        </p:spPr>
        <p:txBody>
          <a:bodyPr anchor="ctr"/>
          <a:lstStyle/>
          <a:p>
            <a:r>
              <a:rPr lang="es-ES" sz="1050" dirty="0"/>
              <a:t>La valoración del riesgo se ha basado en el promedio de intereses que se podrían dejar de ganar a diario, es decir, s./ 800.</a:t>
            </a:r>
          </a:p>
        </p:txBody>
      </p:sp>
      <p:sp>
        <p:nvSpPr>
          <p:cNvPr id="107" name="Rectangle 18"/>
          <p:cNvSpPr>
            <a:spLocks noChangeArrowheads="1"/>
          </p:cNvSpPr>
          <p:nvPr/>
        </p:nvSpPr>
        <p:spPr bwMode="auto">
          <a:xfrm>
            <a:off x="705742" y="5357175"/>
            <a:ext cx="3780000" cy="469509"/>
          </a:xfrm>
          <a:prstGeom prst="rect">
            <a:avLst/>
          </a:prstGeom>
          <a:solidFill>
            <a:schemeClr val="bg1"/>
          </a:solidFill>
          <a:ln w="9525" algn="ctr">
            <a:solidFill>
              <a:schemeClr val="bg2"/>
            </a:solidFill>
            <a:miter lim="800000"/>
            <a:headEnd/>
            <a:tailEnd/>
          </a:ln>
          <a:effectLst/>
        </p:spPr>
        <p:txBody>
          <a:bodyPr anchor="ctr"/>
          <a:lstStyle/>
          <a:p>
            <a:r>
              <a:rPr lang="es-ES" sz="1100" dirty="0">
                <a:solidFill>
                  <a:srgbClr val="000000"/>
                </a:solidFill>
              </a:rPr>
              <a:t>(NF) Controles por Tecnología para la prevención de falla de los aplicativos.</a:t>
            </a:r>
          </a:p>
        </p:txBody>
      </p:sp>
      <p:sp>
        <p:nvSpPr>
          <p:cNvPr id="62" name="TextBox 61"/>
          <p:cNvSpPr txBox="1"/>
          <p:nvPr/>
        </p:nvSpPr>
        <p:spPr>
          <a:xfrm>
            <a:off x="705742" y="5958810"/>
            <a:ext cx="1819944" cy="261610"/>
          </a:xfrm>
          <a:prstGeom prst="rect">
            <a:avLst/>
          </a:prstGeom>
          <a:noFill/>
        </p:spPr>
        <p:txBody>
          <a:bodyPr wrap="square" rtlCol="0">
            <a:spAutoFit/>
          </a:bodyPr>
          <a:lstStyle/>
          <a:p>
            <a:r>
              <a:rPr lang="es-ES" sz="1100" dirty="0"/>
              <a:t>(NF): No Formalizado</a:t>
            </a:r>
          </a:p>
        </p:txBody>
      </p:sp>
    </p:spTree>
    <p:extLst>
      <p:ext uri="{BB962C8B-B14F-4D97-AF65-F5344CB8AC3E}">
        <p14:creationId xmlns:p14="http://schemas.microsoft.com/office/powerpoint/2010/main" val="455923274"/>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dirty="0"/>
              <a:t>Anexo: Ficha Individual Riesgos Operacionales</a:t>
            </a:r>
          </a:p>
        </p:txBody>
      </p:sp>
      <p:sp>
        <p:nvSpPr>
          <p:cNvPr id="4" name="Rounded Rectangle 3"/>
          <p:cNvSpPr/>
          <p:nvPr/>
        </p:nvSpPr>
        <p:spPr>
          <a:xfrm>
            <a:off x="227770" y="764704"/>
            <a:ext cx="383790" cy="274320"/>
          </a:xfrm>
          <a:prstGeom prst="roundRect">
            <a:avLst/>
          </a:prstGeom>
          <a:solidFill>
            <a:srgbClr val="DB0613"/>
          </a:solidFill>
          <a:ln w="9525" algn="ctr">
            <a:noFill/>
            <a:miter lim="800000"/>
            <a:headEnd/>
            <a:tailEnd/>
          </a:ln>
          <a:effectLst/>
        </p:spPr>
        <p:txBody>
          <a:bodyPr anchor="ctr"/>
          <a:lstStyle/>
          <a:p>
            <a:pPr algn="ctr">
              <a:lnSpc>
                <a:spcPct val="80000"/>
              </a:lnSpc>
            </a:pPr>
            <a:r>
              <a:rPr lang="es-CL" sz="1200" b="1" dirty="0">
                <a:solidFill>
                  <a:srgbClr val="FFFFFF"/>
                </a:solidFill>
                <a:cs typeface="Arial" pitchFamily="34" charset="0"/>
              </a:rPr>
              <a:t>47</a:t>
            </a:r>
          </a:p>
        </p:txBody>
      </p:sp>
      <p:sp>
        <p:nvSpPr>
          <p:cNvPr id="5" name="Rectangle 18"/>
          <p:cNvSpPr>
            <a:spLocks noChangeArrowheads="1"/>
          </p:cNvSpPr>
          <p:nvPr/>
        </p:nvSpPr>
        <p:spPr bwMode="auto">
          <a:xfrm>
            <a:off x="227770" y="2548229"/>
            <a:ext cx="6400800" cy="708660"/>
          </a:xfrm>
          <a:prstGeom prst="rect">
            <a:avLst/>
          </a:prstGeom>
          <a:noFill/>
          <a:ln w="9525" algn="ctr">
            <a:solidFill>
              <a:schemeClr val="bg2"/>
            </a:solidFill>
            <a:miter lim="800000"/>
            <a:headEnd/>
            <a:tailEnd/>
          </a:ln>
          <a:effectLst/>
        </p:spPr>
        <p:txBody>
          <a:bodyPr/>
          <a:lstStyle/>
          <a:p>
            <a:r>
              <a:rPr lang="es-ES" sz="1100" dirty="0">
                <a:solidFill>
                  <a:srgbClr val="000000"/>
                </a:solidFill>
              </a:rPr>
              <a:t>Esta situación se da cuando no se revisan requerimientos provenientes de marketing lo cual podría implicar un cambio en la política de inversiones con el objetivo de calzar rentabilidad o plazo.</a:t>
            </a:r>
            <a:endParaRPr lang="es-ES" sz="1100" dirty="0">
              <a:solidFill>
                <a:srgbClr val="002060"/>
              </a:solidFill>
            </a:endParaRPr>
          </a:p>
        </p:txBody>
      </p:sp>
      <p:sp>
        <p:nvSpPr>
          <p:cNvPr id="8" name="Rounded Rectangle 7"/>
          <p:cNvSpPr/>
          <p:nvPr/>
        </p:nvSpPr>
        <p:spPr>
          <a:xfrm>
            <a:off x="652842" y="764704"/>
            <a:ext cx="8321040" cy="274320"/>
          </a:xfrm>
          <a:prstGeom prst="roundRect">
            <a:avLst/>
          </a:prstGeom>
          <a:solidFill>
            <a:srgbClr val="DB0613"/>
          </a:solidFill>
          <a:ln w="9525" algn="ctr">
            <a:noFill/>
            <a:miter lim="800000"/>
            <a:headEnd/>
            <a:tailEnd/>
          </a:ln>
          <a:effectLst/>
        </p:spPr>
        <p:txBody>
          <a:bodyPr anchor="ctr"/>
          <a:lstStyle/>
          <a:p>
            <a:pPr>
              <a:lnSpc>
                <a:spcPct val="80000"/>
              </a:lnSpc>
            </a:pPr>
            <a:r>
              <a:rPr lang="es-ES" sz="1200" b="1" dirty="0">
                <a:solidFill>
                  <a:srgbClr val="FFFFFF"/>
                </a:solidFill>
                <a:cs typeface="Arial" pitchFamily="34" charset="0"/>
              </a:rPr>
              <a:t>Riesgo de que no se revise un requerimiento proveniente de Marketing</a:t>
            </a:r>
            <a:endParaRPr lang="es-CL" sz="1200" b="1" dirty="0">
              <a:solidFill>
                <a:srgbClr val="FFFFFF"/>
              </a:solidFill>
              <a:cs typeface="Arial" pitchFamily="34" charset="0"/>
            </a:endParaRPr>
          </a:p>
        </p:txBody>
      </p:sp>
      <p:sp>
        <p:nvSpPr>
          <p:cNvPr id="9" name="Rounded Rectangle 8"/>
          <p:cNvSpPr/>
          <p:nvPr/>
        </p:nvSpPr>
        <p:spPr>
          <a:xfrm>
            <a:off x="227770" y="2307916"/>
            <a:ext cx="64008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Descripción</a:t>
            </a:r>
          </a:p>
        </p:txBody>
      </p:sp>
      <p:sp>
        <p:nvSpPr>
          <p:cNvPr id="17" name="Rounded Rectangle 16"/>
          <p:cNvSpPr/>
          <p:nvPr/>
        </p:nvSpPr>
        <p:spPr>
          <a:xfrm>
            <a:off x="216583" y="1110038"/>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Macroproceso</a:t>
            </a:r>
          </a:p>
        </p:txBody>
      </p:sp>
      <p:sp>
        <p:nvSpPr>
          <p:cNvPr id="18" name="Rectangle 18"/>
          <p:cNvSpPr>
            <a:spLocks noChangeArrowheads="1"/>
          </p:cNvSpPr>
          <p:nvPr/>
        </p:nvSpPr>
        <p:spPr bwMode="auto">
          <a:xfrm>
            <a:off x="2568409" y="1110038"/>
            <a:ext cx="3877200" cy="182880"/>
          </a:xfrm>
          <a:prstGeom prst="rect">
            <a:avLst/>
          </a:prstGeom>
          <a:noFill/>
          <a:ln w="9525" algn="ctr">
            <a:solidFill>
              <a:schemeClr val="bg2"/>
            </a:solidFill>
            <a:miter lim="800000"/>
            <a:headEnd/>
            <a:tailEnd/>
          </a:ln>
          <a:effectLst/>
        </p:spPr>
        <p:txBody>
          <a:bodyPr anchor="ctr"/>
          <a:lstStyle/>
          <a:p>
            <a:r>
              <a:rPr lang="es-ES" sz="1100" dirty="0">
                <a:solidFill>
                  <a:srgbClr val="000000"/>
                </a:solidFill>
              </a:rPr>
              <a:t>Administración de Portafolio de Inversiones</a:t>
            </a:r>
          </a:p>
        </p:txBody>
      </p:sp>
      <p:sp>
        <p:nvSpPr>
          <p:cNvPr id="19" name="Rounded Rectangle 18"/>
          <p:cNvSpPr/>
          <p:nvPr/>
        </p:nvSpPr>
        <p:spPr>
          <a:xfrm>
            <a:off x="216583" y="1339045"/>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Proceso</a:t>
            </a:r>
          </a:p>
        </p:txBody>
      </p:sp>
      <p:sp>
        <p:nvSpPr>
          <p:cNvPr id="20" name="Rectangle 18"/>
          <p:cNvSpPr>
            <a:spLocks noChangeArrowheads="1"/>
          </p:cNvSpPr>
          <p:nvPr/>
        </p:nvSpPr>
        <p:spPr bwMode="auto">
          <a:xfrm>
            <a:off x="2568409" y="1339045"/>
            <a:ext cx="3877200" cy="182880"/>
          </a:xfrm>
          <a:prstGeom prst="rect">
            <a:avLst/>
          </a:prstGeom>
          <a:noFill/>
          <a:ln w="9525" algn="ctr">
            <a:solidFill>
              <a:schemeClr val="bg2"/>
            </a:solidFill>
            <a:miter lim="800000"/>
            <a:headEnd/>
            <a:tailEnd/>
          </a:ln>
          <a:effectLst/>
        </p:spPr>
        <p:txBody>
          <a:bodyPr anchor="ctr"/>
          <a:lstStyle/>
          <a:p>
            <a:r>
              <a:rPr lang="es-ES" sz="1100" dirty="0">
                <a:solidFill>
                  <a:srgbClr val="000000"/>
                </a:solidFill>
              </a:rPr>
              <a:t>Administración de Fondos</a:t>
            </a:r>
          </a:p>
        </p:txBody>
      </p:sp>
      <p:sp>
        <p:nvSpPr>
          <p:cNvPr id="59" name="Rounded Rectangle 58"/>
          <p:cNvSpPr/>
          <p:nvPr/>
        </p:nvSpPr>
        <p:spPr>
          <a:xfrm>
            <a:off x="216583" y="1579694"/>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Subproceso</a:t>
            </a:r>
          </a:p>
        </p:txBody>
      </p:sp>
      <p:sp>
        <p:nvSpPr>
          <p:cNvPr id="60" name="Rectangle 18"/>
          <p:cNvSpPr>
            <a:spLocks noChangeArrowheads="1"/>
          </p:cNvSpPr>
          <p:nvPr/>
        </p:nvSpPr>
        <p:spPr bwMode="auto">
          <a:xfrm>
            <a:off x="2568409" y="1579694"/>
            <a:ext cx="3875799" cy="182880"/>
          </a:xfrm>
          <a:prstGeom prst="rect">
            <a:avLst/>
          </a:prstGeom>
          <a:noFill/>
          <a:ln w="9525" algn="ctr">
            <a:solidFill>
              <a:schemeClr val="bg2"/>
            </a:solidFill>
            <a:miter lim="800000"/>
            <a:headEnd/>
            <a:tailEnd/>
          </a:ln>
          <a:effectLst/>
        </p:spPr>
        <p:txBody>
          <a:bodyPr anchor="ctr"/>
          <a:lstStyle/>
          <a:p>
            <a:r>
              <a:rPr lang="es-ES" sz="1100" dirty="0"/>
              <a:t>Evaluación de oportunidades de inversión</a:t>
            </a:r>
            <a:endParaRPr lang="es-ES" sz="1100" dirty="0">
              <a:solidFill>
                <a:srgbClr val="000000"/>
              </a:solidFill>
            </a:endParaRPr>
          </a:p>
        </p:txBody>
      </p:sp>
      <p:sp>
        <p:nvSpPr>
          <p:cNvPr id="61" name="Rounded Rectangle 60"/>
          <p:cNvSpPr/>
          <p:nvPr/>
        </p:nvSpPr>
        <p:spPr>
          <a:xfrm>
            <a:off x="226806" y="1826440"/>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Línea de Negocio</a:t>
            </a:r>
          </a:p>
        </p:txBody>
      </p:sp>
      <p:sp>
        <p:nvSpPr>
          <p:cNvPr id="63" name="Rounded Rectangle 62"/>
          <p:cNvSpPr/>
          <p:nvPr/>
        </p:nvSpPr>
        <p:spPr>
          <a:xfrm>
            <a:off x="226806" y="2079535"/>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Responsable</a:t>
            </a:r>
          </a:p>
        </p:txBody>
      </p:sp>
      <p:sp>
        <p:nvSpPr>
          <p:cNvPr id="65" name="Rectangle 18"/>
          <p:cNvSpPr>
            <a:spLocks noChangeArrowheads="1"/>
          </p:cNvSpPr>
          <p:nvPr/>
        </p:nvSpPr>
        <p:spPr bwMode="auto">
          <a:xfrm>
            <a:off x="2568409" y="1826440"/>
            <a:ext cx="3875799" cy="182880"/>
          </a:xfrm>
          <a:prstGeom prst="rect">
            <a:avLst/>
          </a:prstGeom>
          <a:noFill/>
          <a:ln w="9525" algn="ctr">
            <a:solidFill>
              <a:schemeClr val="bg2"/>
            </a:solidFill>
            <a:miter lim="800000"/>
            <a:headEnd/>
            <a:tailEnd/>
          </a:ln>
          <a:effectLst/>
        </p:spPr>
        <p:txBody>
          <a:bodyPr anchor="ctr"/>
          <a:lstStyle/>
          <a:p>
            <a:r>
              <a:rPr lang="es-ES" sz="1100" dirty="0">
                <a:solidFill>
                  <a:srgbClr val="000000"/>
                </a:solidFill>
              </a:rPr>
              <a:t>Negociación y Ventas</a:t>
            </a:r>
          </a:p>
        </p:txBody>
      </p:sp>
      <p:sp>
        <p:nvSpPr>
          <p:cNvPr id="66" name="Rectangle 18"/>
          <p:cNvSpPr>
            <a:spLocks noChangeArrowheads="1"/>
          </p:cNvSpPr>
          <p:nvPr/>
        </p:nvSpPr>
        <p:spPr bwMode="auto">
          <a:xfrm>
            <a:off x="2555776" y="2079535"/>
            <a:ext cx="3875799" cy="182880"/>
          </a:xfrm>
          <a:prstGeom prst="rect">
            <a:avLst/>
          </a:prstGeom>
          <a:noFill/>
          <a:ln w="9525" algn="ctr">
            <a:solidFill>
              <a:schemeClr val="bg2"/>
            </a:solidFill>
            <a:miter lim="800000"/>
            <a:headEnd/>
            <a:tailEnd/>
          </a:ln>
          <a:effectLst/>
        </p:spPr>
        <p:txBody>
          <a:bodyPr anchor="ctr"/>
          <a:lstStyle/>
          <a:p>
            <a:r>
              <a:rPr lang="es-ES" sz="1100" dirty="0">
                <a:solidFill>
                  <a:srgbClr val="000000"/>
                </a:solidFill>
              </a:rPr>
              <a:t>Gerente General Adjunto de Inversiones</a:t>
            </a:r>
          </a:p>
        </p:txBody>
      </p:sp>
      <p:sp>
        <p:nvSpPr>
          <p:cNvPr id="58" name="AutoShape 179"/>
          <p:cNvSpPr>
            <a:spLocks noChangeArrowheads="1"/>
          </p:cNvSpPr>
          <p:nvPr/>
        </p:nvSpPr>
        <p:spPr bwMode="auto">
          <a:xfrm>
            <a:off x="611560" y="3482416"/>
            <a:ext cx="3960812" cy="1275707"/>
          </a:xfrm>
          <a:prstGeom prst="roundRect">
            <a:avLst>
              <a:gd name="adj" fmla="val 9481"/>
            </a:avLst>
          </a:prstGeom>
          <a:solidFill>
            <a:schemeClr val="accent1">
              <a:lumMod val="20000"/>
              <a:lumOff val="80000"/>
            </a:schemeClr>
          </a:solidFill>
          <a:ln w="9525" algn="ctr">
            <a:noFill/>
            <a:round/>
            <a:headEnd/>
            <a:tailEnd/>
          </a:ln>
          <a:effectLst/>
        </p:spPr>
        <p:txBody>
          <a:bodyPr wrap="none" anchor="ctr"/>
          <a:lstStyle/>
          <a:p>
            <a:endParaRPr lang="es-CL">
              <a:solidFill>
                <a:srgbClr val="002060"/>
              </a:solidFill>
            </a:endParaRPr>
          </a:p>
        </p:txBody>
      </p:sp>
      <p:sp>
        <p:nvSpPr>
          <p:cNvPr id="62" name="Text Box 30"/>
          <p:cNvSpPr txBox="1">
            <a:spLocks noChangeArrowheads="1"/>
          </p:cNvSpPr>
          <p:nvPr/>
        </p:nvSpPr>
        <p:spPr bwMode="auto">
          <a:xfrm>
            <a:off x="190747" y="3259373"/>
            <a:ext cx="3671888" cy="276999"/>
          </a:xfrm>
          <a:prstGeom prst="rect">
            <a:avLst/>
          </a:prstGeom>
          <a:noFill/>
          <a:ln w="9525" algn="ctr">
            <a:noFill/>
            <a:miter lim="800000"/>
            <a:headEnd/>
            <a:tailEnd/>
          </a:ln>
          <a:effectLst/>
        </p:spPr>
        <p:txBody>
          <a:bodyPr>
            <a:spAutoFit/>
          </a:bodyPr>
          <a:lstStyle/>
          <a:p>
            <a:pPr>
              <a:spcBef>
                <a:spcPct val="50000"/>
              </a:spcBef>
            </a:pPr>
            <a:r>
              <a:rPr lang="es-CL" sz="1200" b="1" i="1" dirty="0">
                <a:solidFill>
                  <a:srgbClr val="A3A3E0"/>
                </a:solidFill>
              </a:rPr>
              <a:t>Resultados valoración de riesgos</a:t>
            </a:r>
            <a:endParaRPr lang="es-ES" sz="1200" b="1" i="1" dirty="0">
              <a:solidFill>
                <a:srgbClr val="A3A3E0"/>
              </a:solidFill>
            </a:endParaRPr>
          </a:p>
        </p:txBody>
      </p:sp>
      <p:sp>
        <p:nvSpPr>
          <p:cNvPr id="64" name="Rounded Rectangle 21"/>
          <p:cNvSpPr/>
          <p:nvPr/>
        </p:nvSpPr>
        <p:spPr>
          <a:xfrm>
            <a:off x="902959" y="4255955"/>
            <a:ext cx="1920240" cy="170094"/>
          </a:xfrm>
          <a:prstGeom prst="roundRect">
            <a:avLst/>
          </a:prstGeom>
          <a:solidFill>
            <a:srgbClr val="DB0613"/>
          </a:solidFill>
          <a:ln w="9525" algn="ctr">
            <a:noFill/>
            <a:miter lim="800000"/>
            <a:headEnd/>
            <a:tailEnd/>
          </a:ln>
          <a:effectLst/>
        </p:spPr>
        <p:txBody>
          <a:bodyPr tIns="91440" anchor="ctr"/>
          <a:lstStyle/>
          <a:p>
            <a:pPr>
              <a:lnSpc>
                <a:spcPct val="80000"/>
              </a:lnSpc>
            </a:pPr>
            <a:r>
              <a:rPr lang="es-CL" sz="1100" b="1" dirty="0">
                <a:solidFill>
                  <a:srgbClr val="FFFFFF"/>
                </a:solidFill>
                <a:cs typeface="Arial" pitchFamily="34" charset="0"/>
              </a:rPr>
              <a:t>Pérdida Esperada Anual</a:t>
            </a:r>
          </a:p>
        </p:txBody>
      </p:sp>
      <p:sp>
        <p:nvSpPr>
          <p:cNvPr id="67" name="Rectangle 18"/>
          <p:cNvSpPr>
            <a:spLocks noChangeArrowheads="1"/>
          </p:cNvSpPr>
          <p:nvPr/>
        </p:nvSpPr>
        <p:spPr bwMode="auto">
          <a:xfrm>
            <a:off x="2859920" y="4255955"/>
            <a:ext cx="1554480" cy="170094"/>
          </a:xfrm>
          <a:prstGeom prst="rect">
            <a:avLst/>
          </a:prstGeom>
          <a:solidFill>
            <a:schemeClr val="bg1"/>
          </a:solidFill>
          <a:ln w="9525" algn="ctr">
            <a:solidFill>
              <a:schemeClr val="bg2"/>
            </a:solidFill>
            <a:miter lim="800000"/>
            <a:headEnd/>
            <a:tailEnd/>
          </a:ln>
          <a:effectLst/>
        </p:spPr>
        <p:txBody>
          <a:bodyPr anchor="ctr"/>
          <a:lstStyle/>
          <a:p>
            <a:pPr algn="ctr"/>
            <a:r>
              <a:rPr lang="es-PE" sz="1100" dirty="0">
                <a:solidFill>
                  <a:srgbClr val="000000"/>
                </a:solidFill>
              </a:rPr>
              <a:t>s/. 0.00</a:t>
            </a:r>
            <a:endParaRPr lang="es-ES" sz="1100" dirty="0">
              <a:solidFill>
                <a:srgbClr val="000000"/>
              </a:solidFill>
            </a:endParaRPr>
          </a:p>
        </p:txBody>
      </p:sp>
      <p:sp>
        <p:nvSpPr>
          <p:cNvPr id="68" name="Rounded Rectangle 23"/>
          <p:cNvSpPr/>
          <p:nvPr/>
        </p:nvSpPr>
        <p:spPr>
          <a:xfrm>
            <a:off x="902959" y="4485567"/>
            <a:ext cx="1920240" cy="170094"/>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VaR Cualitativo Anual</a:t>
            </a:r>
          </a:p>
        </p:txBody>
      </p:sp>
      <p:sp>
        <p:nvSpPr>
          <p:cNvPr id="69" name="Rectangle 18"/>
          <p:cNvSpPr>
            <a:spLocks noChangeArrowheads="1"/>
          </p:cNvSpPr>
          <p:nvPr/>
        </p:nvSpPr>
        <p:spPr bwMode="auto">
          <a:xfrm>
            <a:off x="2859920" y="4485567"/>
            <a:ext cx="1554480" cy="170094"/>
          </a:xfrm>
          <a:prstGeom prst="rect">
            <a:avLst/>
          </a:prstGeom>
          <a:solidFill>
            <a:schemeClr val="bg1"/>
          </a:solidFill>
          <a:ln w="9525" algn="ctr">
            <a:solidFill>
              <a:schemeClr val="bg2"/>
            </a:solidFill>
            <a:miter lim="800000"/>
            <a:headEnd/>
            <a:tailEnd/>
          </a:ln>
          <a:effectLst/>
        </p:spPr>
        <p:txBody>
          <a:bodyPr anchor="ctr"/>
          <a:lstStyle/>
          <a:p>
            <a:pPr algn="ctr"/>
            <a:r>
              <a:rPr lang="es-PE" sz="1100" dirty="0">
                <a:solidFill>
                  <a:srgbClr val="000000"/>
                </a:solidFill>
              </a:rPr>
              <a:t>s/. 0.00</a:t>
            </a:r>
            <a:endParaRPr lang="es-ES" sz="1100" dirty="0">
              <a:solidFill>
                <a:srgbClr val="000000"/>
              </a:solidFill>
            </a:endParaRPr>
          </a:p>
        </p:txBody>
      </p:sp>
      <p:sp>
        <p:nvSpPr>
          <p:cNvPr id="70" name="Rounded Rectangle 25"/>
          <p:cNvSpPr/>
          <p:nvPr/>
        </p:nvSpPr>
        <p:spPr>
          <a:xfrm>
            <a:off x="891084" y="3553916"/>
            <a:ext cx="1920240" cy="170094"/>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Frecuencia  Evento Pérdida</a:t>
            </a:r>
          </a:p>
        </p:txBody>
      </p:sp>
      <p:sp>
        <p:nvSpPr>
          <p:cNvPr id="71" name="Rectangle 18"/>
          <p:cNvSpPr>
            <a:spLocks noChangeArrowheads="1"/>
          </p:cNvSpPr>
          <p:nvPr/>
        </p:nvSpPr>
        <p:spPr bwMode="auto">
          <a:xfrm>
            <a:off x="2859920" y="3553916"/>
            <a:ext cx="1554480" cy="170094"/>
          </a:xfrm>
          <a:prstGeom prst="rect">
            <a:avLst/>
          </a:prstGeom>
          <a:solidFill>
            <a:schemeClr val="bg1"/>
          </a:solidFill>
          <a:ln w="9525" algn="ctr">
            <a:solidFill>
              <a:schemeClr val="bg2"/>
            </a:solidFill>
            <a:miter lim="800000"/>
            <a:headEnd/>
            <a:tailEnd/>
          </a:ln>
          <a:effectLst/>
        </p:spPr>
        <p:txBody>
          <a:bodyPr anchor="ctr"/>
          <a:lstStyle/>
          <a:p>
            <a:pPr algn="ctr"/>
            <a:r>
              <a:rPr lang="es-PE" sz="1100" dirty="0">
                <a:solidFill>
                  <a:srgbClr val="000000"/>
                </a:solidFill>
              </a:rPr>
              <a:t>1 vez cada 5 años</a:t>
            </a:r>
            <a:endParaRPr lang="es-ES" sz="1100" dirty="0">
              <a:solidFill>
                <a:srgbClr val="000000"/>
              </a:solidFill>
            </a:endParaRPr>
          </a:p>
        </p:txBody>
      </p:sp>
      <p:sp>
        <p:nvSpPr>
          <p:cNvPr id="72" name="Rounded Rectangle 27"/>
          <p:cNvSpPr/>
          <p:nvPr/>
        </p:nvSpPr>
        <p:spPr>
          <a:xfrm>
            <a:off x="891084" y="3783528"/>
            <a:ext cx="1920240" cy="170094"/>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Impacto Medio Evento</a:t>
            </a:r>
          </a:p>
        </p:txBody>
      </p:sp>
      <p:sp>
        <p:nvSpPr>
          <p:cNvPr id="73" name="Rectangle 18"/>
          <p:cNvSpPr>
            <a:spLocks noChangeArrowheads="1"/>
          </p:cNvSpPr>
          <p:nvPr/>
        </p:nvSpPr>
        <p:spPr bwMode="auto">
          <a:xfrm>
            <a:off x="2859920" y="3783528"/>
            <a:ext cx="1554480" cy="170094"/>
          </a:xfrm>
          <a:prstGeom prst="rect">
            <a:avLst/>
          </a:prstGeom>
          <a:solidFill>
            <a:schemeClr val="bg1"/>
          </a:solidFill>
          <a:ln w="9525" algn="ctr">
            <a:solidFill>
              <a:schemeClr val="bg2"/>
            </a:solidFill>
            <a:miter lim="800000"/>
            <a:headEnd/>
            <a:tailEnd/>
          </a:ln>
          <a:effectLst/>
        </p:spPr>
        <p:txBody>
          <a:bodyPr anchor="ctr"/>
          <a:lstStyle/>
          <a:p>
            <a:pPr algn="ctr"/>
            <a:r>
              <a:rPr lang="es-PE" sz="1100" dirty="0">
                <a:solidFill>
                  <a:srgbClr val="000000"/>
                </a:solidFill>
              </a:rPr>
              <a:t>s/. 0.00</a:t>
            </a:r>
            <a:endParaRPr lang="es-ES" sz="1100" dirty="0">
              <a:solidFill>
                <a:srgbClr val="000000"/>
              </a:solidFill>
            </a:endParaRPr>
          </a:p>
        </p:txBody>
      </p:sp>
      <p:sp>
        <p:nvSpPr>
          <p:cNvPr id="74" name="Rounded Rectangle 29"/>
          <p:cNvSpPr/>
          <p:nvPr/>
        </p:nvSpPr>
        <p:spPr>
          <a:xfrm>
            <a:off x="891084" y="4019108"/>
            <a:ext cx="1920240" cy="170094"/>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Impacto Peor Escenario</a:t>
            </a:r>
          </a:p>
        </p:txBody>
      </p:sp>
      <p:sp>
        <p:nvSpPr>
          <p:cNvPr id="75" name="Rectangle 18"/>
          <p:cNvSpPr>
            <a:spLocks noChangeArrowheads="1"/>
          </p:cNvSpPr>
          <p:nvPr/>
        </p:nvSpPr>
        <p:spPr bwMode="auto">
          <a:xfrm>
            <a:off x="2859920" y="4019108"/>
            <a:ext cx="1554480" cy="170094"/>
          </a:xfrm>
          <a:prstGeom prst="rect">
            <a:avLst/>
          </a:prstGeom>
          <a:solidFill>
            <a:schemeClr val="bg1"/>
          </a:solidFill>
          <a:ln w="9525" algn="ctr">
            <a:solidFill>
              <a:schemeClr val="bg2"/>
            </a:solidFill>
            <a:miter lim="800000"/>
            <a:headEnd/>
            <a:tailEnd/>
          </a:ln>
          <a:effectLst/>
        </p:spPr>
        <p:txBody>
          <a:bodyPr anchor="ctr"/>
          <a:lstStyle/>
          <a:p>
            <a:pPr algn="ctr"/>
            <a:r>
              <a:rPr lang="es-PE" sz="1100" dirty="0">
                <a:solidFill>
                  <a:srgbClr val="000000"/>
                </a:solidFill>
              </a:rPr>
              <a:t>s/. 0.00</a:t>
            </a:r>
            <a:endParaRPr lang="es-ES" sz="1100" dirty="0">
              <a:solidFill>
                <a:srgbClr val="000000"/>
              </a:solidFill>
            </a:endParaRPr>
          </a:p>
        </p:txBody>
      </p:sp>
      <p:sp>
        <p:nvSpPr>
          <p:cNvPr id="76" name="AutoShape 47"/>
          <p:cNvSpPr>
            <a:spLocks noChangeAspect="1" noChangeArrowheads="1"/>
          </p:cNvSpPr>
          <p:nvPr/>
        </p:nvSpPr>
        <p:spPr bwMode="blackWhite">
          <a:xfrm>
            <a:off x="263032" y="3482416"/>
            <a:ext cx="503986" cy="1274400"/>
          </a:xfrm>
          <a:prstGeom prst="rightArrow">
            <a:avLst>
              <a:gd name="adj1" fmla="val 100000"/>
              <a:gd name="adj2" fmla="val 11009"/>
            </a:avLst>
          </a:prstGeom>
          <a:solidFill>
            <a:srgbClr val="969696"/>
          </a:solidFill>
          <a:ln w="12700">
            <a:noFill/>
            <a:miter lim="800000"/>
            <a:headEnd/>
            <a:tailEnd/>
          </a:ln>
          <a:effectLst>
            <a:outerShdw dist="35921" dir="2700000" algn="ctr" rotWithShape="0">
              <a:schemeClr val="bg2"/>
            </a:outerShdw>
          </a:effectLst>
        </p:spPr>
        <p:txBody>
          <a:bodyPr vert="vert270" anchor="ctr"/>
          <a:lstStyle/>
          <a:p>
            <a:pPr algn="ctr">
              <a:lnSpc>
                <a:spcPts val="1000"/>
              </a:lnSpc>
            </a:pPr>
            <a:r>
              <a:rPr lang="es-ES" sz="1100" b="1" noProof="1">
                <a:solidFill>
                  <a:srgbClr val="FFFFFF"/>
                </a:solidFill>
                <a:cs typeface="Arial" charset="0"/>
              </a:rPr>
              <a:t>Evaluación Riesgo Operacional</a:t>
            </a:r>
          </a:p>
        </p:txBody>
      </p:sp>
      <p:sp>
        <p:nvSpPr>
          <p:cNvPr id="77" name="AutoShape 179"/>
          <p:cNvSpPr>
            <a:spLocks noChangeArrowheads="1"/>
          </p:cNvSpPr>
          <p:nvPr/>
        </p:nvSpPr>
        <p:spPr bwMode="auto">
          <a:xfrm>
            <a:off x="4932039" y="3493021"/>
            <a:ext cx="4037169" cy="864000"/>
          </a:xfrm>
          <a:prstGeom prst="roundRect">
            <a:avLst>
              <a:gd name="adj" fmla="val 9481"/>
            </a:avLst>
          </a:prstGeom>
          <a:solidFill>
            <a:schemeClr val="accent1">
              <a:lumMod val="20000"/>
              <a:lumOff val="80000"/>
            </a:schemeClr>
          </a:solidFill>
          <a:ln w="9525" algn="ctr">
            <a:noFill/>
            <a:round/>
            <a:headEnd/>
            <a:tailEnd/>
          </a:ln>
          <a:effectLst/>
        </p:spPr>
        <p:txBody>
          <a:bodyPr wrap="none" anchor="ctr"/>
          <a:lstStyle/>
          <a:p>
            <a:endParaRPr lang="es-CL">
              <a:solidFill>
                <a:srgbClr val="002060"/>
              </a:solidFill>
            </a:endParaRPr>
          </a:p>
        </p:txBody>
      </p:sp>
      <p:sp>
        <p:nvSpPr>
          <p:cNvPr id="78" name="AutoShape 47"/>
          <p:cNvSpPr>
            <a:spLocks noChangeArrowheads="1"/>
          </p:cNvSpPr>
          <p:nvPr/>
        </p:nvSpPr>
        <p:spPr bwMode="blackWhite">
          <a:xfrm>
            <a:off x="4678512" y="3494523"/>
            <a:ext cx="353942" cy="864000"/>
          </a:xfrm>
          <a:prstGeom prst="rightArrow">
            <a:avLst>
              <a:gd name="adj1" fmla="val 100000"/>
              <a:gd name="adj2" fmla="val 11009"/>
            </a:avLst>
          </a:prstGeom>
          <a:solidFill>
            <a:srgbClr val="969696"/>
          </a:solidFill>
          <a:ln w="12700">
            <a:noFill/>
            <a:miter lim="800000"/>
            <a:headEnd/>
            <a:tailEnd/>
          </a:ln>
          <a:effectLst>
            <a:outerShdw dist="35921" dir="2700000" algn="ctr" rotWithShape="0">
              <a:schemeClr val="bg2"/>
            </a:outerShdw>
          </a:effectLst>
        </p:spPr>
        <p:txBody>
          <a:bodyPr vert="vert270" anchor="ctr"/>
          <a:lstStyle/>
          <a:p>
            <a:pPr algn="ctr">
              <a:lnSpc>
                <a:spcPts val="1000"/>
              </a:lnSpc>
            </a:pPr>
            <a:r>
              <a:rPr lang="es-ES" sz="1100" b="1" noProof="1">
                <a:solidFill>
                  <a:srgbClr val="FFFFFF"/>
                </a:solidFill>
                <a:cs typeface="Arial" charset="0"/>
              </a:rPr>
              <a:t>Impacto Reputacional</a:t>
            </a:r>
          </a:p>
        </p:txBody>
      </p:sp>
      <p:sp>
        <p:nvSpPr>
          <p:cNvPr id="79" name="Rectangle 18"/>
          <p:cNvSpPr>
            <a:spLocks noChangeArrowheads="1"/>
          </p:cNvSpPr>
          <p:nvPr/>
        </p:nvSpPr>
        <p:spPr bwMode="auto">
          <a:xfrm>
            <a:off x="8334310" y="3568288"/>
            <a:ext cx="548640" cy="170094"/>
          </a:xfrm>
          <a:prstGeom prst="rect">
            <a:avLst/>
          </a:prstGeom>
          <a:solidFill>
            <a:schemeClr val="bg1"/>
          </a:solidFill>
          <a:ln w="9525" algn="ctr">
            <a:solidFill>
              <a:schemeClr val="bg2"/>
            </a:solidFill>
            <a:miter lim="800000"/>
            <a:headEnd/>
            <a:tailEnd/>
          </a:ln>
          <a:effectLst/>
        </p:spPr>
        <p:txBody>
          <a:bodyPr anchor="ctr"/>
          <a:lstStyle/>
          <a:p>
            <a:pPr algn="ctr"/>
            <a:r>
              <a:rPr lang="es-PE" sz="1100" dirty="0">
                <a:solidFill>
                  <a:srgbClr val="002060"/>
                </a:solidFill>
              </a:rPr>
              <a:t>1</a:t>
            </a:r>
            <a:endParaRPr lang="es-ES" sz="1100" dirty="0">
              <a:solidFill>
                <a:srgbClr val="002060"/>
              </a:solidFill>
            </a:endParaRPr>
          </a:p>
        </p:txBody>
      </p:sp>
      <p:sp>
        <p:nvSpPr>
          <p:cNvPr id="80" name="Rounded Rectangle 38"/>
          <p:cNvSpPr/>
          <p:nvPr/>
        </p:nvSpPr>
        <p:spPr>
          <a:xfrm>
            <a:off x="5102950" y="3568288"/>
            <a:ext cx="3132000" cy="170094"/>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Afectación a Contrapartes</a:t>
            </a:r>
          </a:p>
        </p:txBody>
      </p:sp>
      <p:sp>
        <p:nvSpPr>
          <p:cNvPr id="81" name="Rectangle 18"/>
          <p:cNvSpPr>
            <a:spLocks noChangeArrowheads="1"/>
          </p:cNvSpPr>
          <p:nvPr/>
        </p:nvSpPr>
        <p:spPr bwMode="auto">
          <a:xfrm>
            <a:off x="5102950" y="3786445"/>
            <a:ext cx="3780000" cy="469509"/>
          </a:xfrm>
          <a:prstGeom prst="rect">
            <a:avLst/>
          </a:prstGeom>
          <a:solidFill>
            <a:schemeClr val="bg1"/>
          </a:solidFill>
          <a:ln w="9525" algn="ctr">
            <a:solidFill>
              <a:schemeClr val="bg2"/>
            </a:solidFill>
            <a:miter lim="800000"/>
            <a:headEnd/>
            <a:tailEnd/>
          </a:ln>
          <a:effectLst/>
        </p:spPr>
        <p:txBody>
          <a:bodyPr anchor="ctr"/>
          <a:lstStyle/>
          <a:p>
            <a:r>
              <a:rPr lang="es-ES" sz="1100" dirty="0">
                <a:solidFill>
                  <a:srgbClr val="000000"/>
                </a:solidFill>
              </a:rPr>
              <a:t>La exposición de la imagen es únicamente interna y limitada.</a:t>
            </a:r>
          </a:p>
        </p:txBody>
      </p:sp>
      <p:sp>
        <p:nvSpPr>
          <p:cNvPr id="82" name="Text Box 30"/>
          <p:cNvSpPr txBox="1">
            <a:spLocks noChangeArrowheads="1"/>
          </p:cNvSpPr>
          <p:nvPr/>
        </p:nvSpPr>
        <p:spPr bwMode="auto">
          <a:xfrm>
            <a:off x="190746" y="4838419"/>
            <a:ext cx="3996000" cy="276999"/>
          </a:xfrm>
          <a:prstGeom prst="rect">
            <a:avLst/>
          </a:prstGeom>
          <a:noFill/>
          <a:ln w="9525" algn="ctr">
            <a:noFill/>
            <a:miter lim="800000"/>
            <a:headEnd/>
            <a:tailEnd/>
          </a:ln>
          <a:effectLst/>
        </p:spPr>
        <p:txBody>
          <a:bodyPr wrap="square">
            <a:spAutoFit/>
          </a:bodyPr>
          <a:lstStyle/>
          <a:p>
            <a:pPr>
              <a:spcBef>
                <a:spcPct val="50000"/>
              </a:spcBef>
            </a:pPr>
            <a:r>
              <a:rPr lang="es-CL" sz="1200" b="1" i="1" dirty="0">
                <a:solidFill>
                  <a:srgbClr val="A3A3E0"/>
                </a:solidFill>
              </a:rPr>
              <a:t>Resultados valoración de controles / factores mitigantes</a:t>
            </a:r>
            <a:endParaRPr lang="es-ES" sz="1200" b="1" i="1" dirty="0">
              <a:solidFill>
                <a:srgbClr val="A3A3E0"/>
              </a:solidFill>
            </a:endParaRPr>
          </a:p>
        </p:txBody>
      </p:sp>
      <p:sp>
        <p:nvSpPr>
          <p:cNvPr id="86" name="AutoShape 179"/>
          <p:cNvSpPr>
            <a:spLocks noChangeArrowheads="1"/>
          </p:cNvSpPr>
          <p:nvPr/>
        </p:nvSpPr>
        <p:spPr bwMode="auto">
          <a:xfrm>
            <a:off x="4927319" y="4397238"/>
            <a:ext cx="4037169" cy="892800"/>
          </a:xfrm>
          <a:prstGeom prst="roundRect">
            <a:avLst>
              <a:gd name="adj" fmla="val 9481"/>
            </a:avLst>
          </a:prstGeom>
          <a:solidFill>
            <a:schemeClr val="accent1">
              <a:lumMod val="20000"/>
              <a:lumOff val="80000"/>
            </a:schemeClr>
          </a:solidFill>
          <a:ln w="9525" algn="ctr">
            <a:noFill/>
            <a:round/>
            <a:headEnd/>
            <a:tailEnd/>
          </a:ln>
          <a:effectLst/>
        </p:spPr>
        <p:txBody>
          <a:bodyPr wrap="none" anchor="ctr"/>
          <a:lstStyle/>
          <a:p>
            <a:endParaRPr lang="es-CL">
              <a:solidFill>
                <a:srgbClr val="002060"/>
              </a:solidFill>
            </a:endParaRPr>
          </a:p>
        </p:txBody>
      </p:sp>
      <p:sp>
        <p:nvSpPr>
          <p:cNvPr id="87" name="AutoShape 47"/>
          <p:cNvSpPr>
            <a:spLocks noChangeArrowheads="1"/>
          </p:cNvSpPr>
          <p:nvPr/>
        </p:nvSpPr>
        <p:spPr bwMode="blackWhite">
          <a:xfrm>
            <a:off x="4673792" y="4398740"/>
            <a:ext cx="352800" cy="892800"/>
          </a:xfrm>
          <a:prstGeom prst="rightArrow">
            <a:avLst>
              <a:gd name="adj1" fmla="val 100000"/>
              <a:gd name="adj2" fmla="val 11009"/>
            </a:avLst>
          </a:prstGeom>
          <a:solidFill>
            <a:srgbClr val="969696"/>
          </a:solidFill>
          <a:ln w="12700">
            <a:noFill/>
            <a:miter lim="800000"/>
            <a:headEnd/>
            <a:tailEnd/>
          </a:ln>
          <a:effectLst>
            <a:outerShdw dist="35921" dir="2700000" algn="ctr" rotWithShape="0">
              <a:schemeClr val="bg2"/>
            </a:outerShdw>
          </a:effectLst>
        </p:spPr>
        <p:txBody>
          <a:bodyPr vert="vert270" anchor="ctr"/>
          <a:lstStyle/>
          <a:p>
            <a:pPr algn="ctr">
              <a:lnSpc>
                <a:spcPts val="1000"/>
              </a:lnSpc>
            </a:pPr>
            <a:r>
              <a:rPr lang="es-ES" sz="1100" b="1" noProof="1">
                <a:solidFill>
                  <a:srgbClr val="FFFFFF"/>
                </a:solidFill>
                <a:cs typeface="Arial" charset="0"/>
              </a:rPr>
              <a:t>Cuestionarios</a:t>
            </a:r>
          </a:p>
        </p:txBody>
      </p:sp>
      <p:sp>
        <p:nvSpPr>
          <p:cNvPr id="89" name="Rounded Rectangle 38"/>
          <p:cNvSpPr/>
          <p:nvPr/>
        </p:nvSpPr>
        <p:spPr>
          <a:xfrm>
            <a:off x="5098230" y="4472505"/>
            <a:ext cx="3132000" cy="170094"/>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Criterios de Evaluación</a:t>
            </a:r>
          </a:p>
        </p:txBody>
      </p:sp>
      <p:sp>
        <p:nvSpPr>
          <p:cNvPr id="90" name="AutoShape 179"/>
          <p:cNvSpPr>
            <a:spLocks noChangeArrowheads="1"/>
          </p:cNvSpPr>
          <p:nvPr/>
        </p:nvSpPr>
        <p:spPr bwMode="auto">
          <a:xfrm>
            <a:off x="534831" y="5060900"/>
            <a:ext cx="4037169" cy="864000"/>
          </a:xfrm>
          <a:prstGeom prst="roundRect">
            <a:avLst>
              <a:gd name="adj" fmla="val 9481"/>
            </a:avLst>
          </a:prstGeom>
          <a:solidFill>
            <a:schemeClr val="accent1">
              <a:lumMod val="20000"/>
              <a:lumOff val="80000"/>
            </a:schemeClr>
          </a:solidFill>
          <a:ln w="9525" algn="ctr">
            <a:noFill/>
            <a:round/>
            <a:headEnd/>
            <a:tailEnd/>
          </a:ln>
          <a:effectLst/>
        </p:spPr>
        <p:txBody>
          <a:bodyPr wrap="none" anchor="ctr"/>
          <a:lstStyle/>
          <a:p>
            <a:endParaRPr lang="es-CL">
              <a:solidFill>
                <a:srgbClr val="002060"/>
              </a:solidFill>
            </a:endParaRPr>
          </a:p>
        </p:txBody>
      </p:sp>
      <p:sp>
        <p:nvSpPr>
          <p:cNvPr id="91" name="AutoShape 47"/>
          <p:cNvSpPr>
            <a:spLocks noChangeArrowheads="1"/>
          </p:cNvSpPr>
          <p:nvPr/>
        </p:nvSpPr>
        <p:spPr bwMode="blackWhite">
          <a:xfrm>
            <a:off x="281304" y="5062402"/>
            <a:ext cx="353942" cy="864000"/>
          </a:xfrm>
          <a:prstGeom prst="rightArrow">
            <a:avLst>
              <a:gd name="adj1" fmla="val 100000"/>
              <a:gd name="adj2" fmla="val 11009"/>
            </a:avLst>
          </a:prstGeom>
          <a:solidFill>
            <a:srgbClr val="969696"/>
          </a:solidFill>
          <a:ln w="12700">
            <a:noFill/>
            <a:miter lim="800000"/>
            <a:headEnd/>
            <a:tailEnd/>
          </a:ln>
          <a:effectLst>
            <a:outerShdw dist="35921" dir="2700000" algn="ctr" rotWithShape="0">
              <a:schemeClr val="bg2"/>
            </a:outerShdw>
          </a:effectLst>
        </p:spPr>
        <p:txBody>
          <a:bodyPr vert="vert270" anchor="ctr"/>
          <a:lstStyle/>
          <a:p>
            <a:pPr algn="ctr">
              <a:lnSpc>
                <a:spcPts val="1000"/>
              </a:lnSpc>
            </a:pPr>
            <a:r>
              <a:rPr lang="es-ES" sz="1100" b="1" noProof="1">
                <a:solidFill>
                  <a:srgbClr val="FFFFFF"/>
                </a:solidFill>
                <a:cs typeface="Arial" charset="0"/>
              </a:rPr>
              <a:t>Evaluación de Controles</a:t>
            </a:r>
          </a:p>
        </p:txBody>
      </p:sp>
      <p:sp>
        <p:nvSpPr>
          <p:cNvPr id="92" name="Rectangle 18"/>
          <p:cNvSpPr>
            <a:spLocks noChangeArrowheads="1"/>
          </p:cNvSpPr>
          <p:nvPr/>
        </p:nvSpPr>
        <p:spPr bwMode="auto">
          <a:xfrm>
            <a:off x="3937102" y="5136167"/>
            <a:ext cx="548640" cy="170094"/>
          </a:xfrm>
          <a:prstGeom prst="rect">
            <a:avLst/>
          </a:prstGeom>
          <a:solidFill>
            <a:schemeClr val="bg1"/>
          </a:solidFill>
          <a:ln w="9525" algn="ctr">
            <a:solidFill>
              <a:schemeClr val="bg2"/>
            </a:solidFill>
            <a:miter lim="800000"/>
            <a:headEnd/>
            <a:tailEnd/>
          </a:ln>
          <a:effectLst/>
        </p:spPr>
        <p:txBody>
          <a:bodyPr anchor="ctr"/>
          <a:lstStyle/>
          <a:p>
            <a:pPr algn="ctr"/>
            <a:r>
              <a:rPr lang="es-PE" sz="1100" dirty="0">
                <a:solidFill>
                  <a:srgbClr val="002060"/>
                </a:solidFill>
              </a:rPr>
              <a:t>1</a:t>
            </a:r>
            <a:endParaRPr lang="es-ES" sz="1100" dirty="0">
              <a:solidFill>
                <a:srgbClr val="002060"/>
              </a:solidFill>
            </a:endParaRPr>
          </a:p>
        </p:txBody>
      </p:sp>
      <p:sp>
        <p:nvSpPr>
          <p:cNvPr id="93" name="Rounded Rectangle 38"/>
          <p:cNvSpPr/>
          <p:nvPr/>
        </p:nvSpPr>
        <p:spPr>
          <a:xfrm>
            <a:off x="705742" y="5136167"/>
            <a:ext cx="3132000" cy="170094"/>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Controles asociados al riesgo</a:t>
            </a:r>
          </a:p>
        </p:txBody>
      </p:sp>
      <p:sp>
        <p:nvSpPr>
          <p:cNvPr id="94" name="Rectangle 18"/>
          <p:cNvSpPr>
            <a:spLocks noChangeArrowheads="1"/>
          </p:cNvSpPr>
          <p:nvPr/>
        </p:nvSpPr>
        <p:spPr bwMode="auto">
          <a:xfrm>
            <a:off x="5102950" y="4685678"/>
            <a:ext cx="3780000" cy="469509"/>
          </a:xfrm>
          <a:prstGeom prst="rect">
            <a:avLst/>
          </a:prstGeom>
          <a:solidFill>
            <a:schemeClr val="bg1"/>
          </a:solidFill>
          <a:ln w="9525" algn="ctr">
            <a:solidFill>
              <a:schemeClr val="bg2"/>
            </a:solidFill>
            <a:miter lim="800000"/>
            <a:headEnd/>
            <a:tailEnd/>
          </a:ln>
          <a:effectLst/>
        </p:spPr>
        <p:txBody>
          <a:bodyPr anchor="ctr"/>
          <a:lstStyle/>
          <a:p>
            <a:r>
              <a:rPr lang="es-ES" sz="1100" dirty="0"/>
              <a:t>El usuario considera un impacto económico de 0.</a:t>
            </a:r>
            <a:endParaRPr lang="es-ES" sz="1100" dirty="0">
              <a:solidFill>
                <a:srgbClr val="000000"/>
              </a:solidFill>
            </a:endParaRPr>
          </a:p>
        </p:txBody>
      </p:sp>
      <p:sp>
        <p:nvSpPr>
          <p:cNvPr id="95" name="Rectangle 18"/>
          <p:cNvSpPr>
            <a:spLocks noChangeArrowheads="1"/>
          </p:cNvSpPr>
          <p:nvPr/>
        </p:nvSpPr>
        <p:spPr bwMode="auto">
          <a:xfrm>
            <a:off x="705742" y="5357175"/>
            <a:ext cx="3780000" cy="469509"/>
          </a:xfrm>
          <a:prstGeom prst="rect">
            <a:avLst/>
          </a:prstGeom>
          <a:solidFill>
            <a:schemeClr val="bg1"/>
          </a:solidFill>
          <a:ln w="9525" algn="ctr">
            <a:solidFill>
              <a:schemeClr val="bg2"/>
            </a:solidFill>
            <a:miter lim="800000"/>
            <a:headEnd/>
            <a:tailEnd/>
          </a:ln>
          <a:effectLst/>
        </p:spPr>
        <p:txBody>
          <a:bodyPr anchor="ctr"/>
          <a:lstStyle/>
          <a:p>
            <a:r>
              <a:rPr lang="es-ES" sz="1100" dirty="0"/>
              <a:t>Todas los requerimientos de Marketing son revisados y validados por el área.</a:t>
            </a:r>
          </a:p>
        </p:txBody>
      </p:sp>
      <p:sp>
        <p:nvSpPr>
          <p:cNvPr id="96" name="Rounded Rectangle 9"/>
          <p:cNvSpPr/>
          <p:nvPr/>
        </p:nvSpPr>
        <p:spPr>
          <a:xfrm>
            <a:off x="6716066" y="1111764"/>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Categoría  de Riesgo Nivel I</a:t>
            </a:r>
          </a:p>
        </p:txBody>
      </p:sp>
      <p:sp>
        <p:nvSpPr>
          <p:cNvPr id="97" name="Rectangle 18"/>
          <p:cNvSpPr>
            <a:spLocks noChangeArrowheads="1"/>
          </p:cNvSpPr>
          <p:nvPr/>
        </p:nvSpPr>
        <p:spPr bwMode="auto">
          <a:xfrm>
            <a:off x="6716066" y="1325572"/>
            <a:ext cx="2286000" cy="270000"/>
          </a:xfrm>
          <a:prstGeom prst="rect">
            <a:avLst/>
          </a:prstGeom>
          <a:noFill/>
          <a:ln w="9525" algn="ctr">
            <a:solidFill>
              <a:schemeClr val="bg2"/>
            </a:solidFill>
            <a:miter lim="800000"/>
            <a:headEnd/>
            <a:tailEnd/>
          </a:ln>
          <a:effectLst/>
        </p:spPr>
        <p:txBody>
          <a:bodyPr anchor="ctr"/>
          <a:lstStyle/>
          <a:p>
            <a:pPr>
              <a:lnSpc>
                <a:spcPts val="1000"/>
              </a:lnSpc>
            </a:pPr>
            <a:r>
              <a:rPr lang="es-ES" sz="1100" dirty="0">
                <a:solidFill>
                  <a:srgbClr val="000000"/>
                </a:solidFill>
              </a:rPr>
              <a:t>Ejecución, entrega y gestión de procesos.</a:t>
            </a:r>
          </a:p>
        </p:txBody>
      </p:sp>
      <p:sp>
        <p:nvSpPr>
          <p:cNvPr id="98" name="Rounded Rectangle 11"/>
          <p:cNvSpPr/>
          <p:nvPr/>
        </p:nvSpPr>
        <p:spPr>
          <a:xfrm>
            <a:off x="6716066" y="1664503"/>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Categoría  de Riesgo Nivel II</a:t>
            </a:r>
          </a:p>
        </p:txBody>
      </p:sp>
      <p:sp>
        <p:nvSpPr>
          <p:cNvPr id="99" name="Rectangle 18"/>
          <p:cNvSpPr>
            <a:spLocks noChangeArrowheads="1"/>
          </p:cNvSpPr>
          <p:nvPr/>
        </p:nvSpPr>
        <p:spPr bwMode="auto">
          <a:xfrm>
            <a:off x="6716066" y="1877089"/>
            <a:ext cx="2286000" cy="270000"/>
          </a:xfrm>
          <a:prstGeom prst="rect">
            <a:avLst/>
          </a:prstGeom>
          <a:noFill/>
          <a:ln w="9525" algn="ctr">
            <a:solidFill>
              <a:schemeClr val="bg2"/>
            </a:solidFill>
            <a:miter lim="800000"/>
            <a:headEnd/>
            <a:tailEnd/>
          </a:ln>
          <a:effectLst/>
        </p:spPr>
        <p:txBody>
          <a:bodyPr anchor="ctr"/>
          <a:lstStyle/>
          <a:p>
            <a:r>
              <a:rPr lang="es-ES" sz="1100" dirty="0">
                <a:solidFill>
                  <a:srgbClr val="000000"/>
                </a:solidFill>
              </a:rPr>
              <a:t>Recepción, ejecución y mantenimiento de operaciones.</a:t>
            </a:r>
          </a:p>
        </p:txBody>
      </p:sp>
      <p:sp>
        <p:nvSpPr>
          <p:cNvPr id="100" name="Rounded Rectangle 14"/>
          <p:cNvSpPr/>
          <p:nvPr/>
        </p:nvSpPr>
        <p:spPr>
          <a:xfrm>
            <a:off x="6716066" y="2223551"/>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Categoría  de Riesgo Nivel III</a:t>
            </a:r>
          </a:p>
        </p:txBody>
      </p:sp>
      <p:sp>
        <p:nvSpPr>
          <p:cNvPr id="101" name="Rectangle 18"/>
          <p:cNvSpPr>
            <a:spLocks noChangeArrowheads="1"/>
          </p:cNvSpPr>
          <p:nvPr/>
        </p:nvSpPr>
        <p:spPr bwMode="auto">
          <a:xfrm>
            <a:off x="6716066" y="2434321"/>
            <a:ext cx="2286000" cy="270000"/>
          </a:xfrm>
          <a:prstGeom prst="rect">
            <a:avLst/>
          </a:prstGeom>
          <a:noFill/>
          <a:ln w="9525" algn="ctr">
            <a:solidFill>
              <a:schemeClr val="bg2"/>
            </a:solidFill>
            <a:miter lim="800000"/>
            <a:headEnd/>
            <a:tailEnd/>
          </a:ln>
          <a:effectLst/>
        </p:spPr>
        <p:txBody>
          <a:bodyPr anchor="ctr"/>
          <a:lstStyle/>
          <a:p>
            <a:r>
              <a:rPr lang="es-ES" sz="1100" dirty="0">
                <a:solidFill>
                  <a:srgbClr val="000000"/>
                </a:solidFill>
              </a:rPr>
              <a:t>Tareas incompletas o no ejecutadas</a:t>
            </a:r>
          </a:p>
        </p:txBody>
      </p:sp>
      <p:sp>
        <p:nvSpPr>
          <p:cNvPr id="102" name="Rounded Rectangle 14"/>
          <p:cNvSpPr/>
          <p:nvPr/>
        </p:nvSpPr>
        <p:spPr>
          <a:xfrm>
            <a:off x="6716066" y="2768330"/>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Origen del Riesgo</a:t>
            </a:r>
          </a:p>
        </p:txBody>
      </p:sp>
      <p:sp>
        <p:nvSpPr>
          <p:cNvPr id="103" name="Rectangle 18"/>
          <p:cNvSpPr>
            <a:spLocks noChangeArrowheads="1"/>
          </p:cNvSpPr>
          <p:nvPr/>
        </p:nvSpPr>
        <p:spPr bwMode="auto">
          <a:xfrm>
            <a:off x="6716066" y="2983595"/>
            <a:ext cx="2286000" cy="270000"/>
          </a:xfrm>
          <a:prstGeom prst="rect">
            <a:avLst/>
          </a:prstGeom>
          <a:noFill/>
          <a:ln w="9525" algn="ctr">
            <a:solidFill>
              <a:schemeClr val="bg2"/>
            </a:solidFill>
            <a:miter lim="800000"/>
            <a:headEnd/>
            <a:tailEnd/>
          </a:ln>
          <a:effectLst/>
        </p:spPr>
        <p:txBody>
          <a:bodyPr anchor="ctr"/>
          <a:lstStyle/>
          <a:p>
            <a:r>
              <a:rPr lang="es-ES" sz="1100" dirty="0">
                <a:solidFill>
                  <a:srgbClr val="000000"/>
                </a:solidFill>
              </a:rPr>
              <a:t>Personas</a:t>
            </a:r>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dirty="0"/>
              <a:t>Anexo: Ficha Individual Riesgos Operacionales</a:t>
            </a:r>
          </a:p>
        </p:txBody>
      </p:sp>
      <p:sp>
        <p:nvSpPr>
          <p:cNvPr id="4" name="Rounded Rectangle 3"/>
          <p:cNvSpPr/>
          <p:nvPr/>
        </p:nvSpPr>
        <p:spPr>
          <a:xfrm>
            <a:off x="227770" y="764704"/>
            <a:ext cx="383790" cy="274320"/>
          </a:xfrm>
          <a:prstGeom prst="roundRect">
            <a:avLst/>
          </a:prstGeom>
          <a:solidFill>
            <a:srgbClr val="DB0613"/>
          </a:solidFill>
          <a:ln w="9525" algn="ctr">
            <a:noFill/>
            <a:miter lim="800000"/>
            <a:headEnd/>
            <a:tailEnd/>
          </a:ln>
          <a:effectLst/>
        </p:spPr>
        <p:txBody>
          <a:bodyPr anchor="ctr"/>
          <a:lstStyle/>
          <a:p>
            <a:pPr algn="ctr">
              <a:lnSpc>
                <a:spcPct val="80000"/>
              </a:lnSpc>
            </a:pPr>
            <a:r>
              <a:rPr lang="es-CL" sz="1200" b="1" dirty="0">
                <a:solidFill>
                  <a:srgbClr val="FFFFFF"/>
                </a:solidFill>
                <a:cs typeface="Arial" pitchFamily="34" charset="0"/>
              </a:rPr>
              <a:t>48</a:t>
            </a:r>
          </a:p>
        </p:txBody>
      </p:sp>
      <p:sp>
        <p:nvSpPr>
          <p:cNvPr id="5" name="Rectangle 18"/>
          <p:cNvSpPr>
            <a:spLocks noChangeArrowheads="1"/>
          </p:cNvSpPr>
          <p:nvPr/>
        </p:nvSpPr>
        <p:spPr bwMode="auto">
          <a:xfrm>
            <a:off x="227770" y="2548229"/>
            <a:ext cx="6400800" cy="708660"/>
          </a:xfrm>
          <a:prstGeom prst="rect">
            <a:avLst/>
          </a:prstGeom>
          <a:noFill/>
          <a:ln w="9525" algn="ctr">
            <a:solidFill>
              <a:schemeClr val="bg2"/>
            </a:solidFill>
            <a:miter lim="800000"/>
            <a:headEnd/>
            <a:tailEnd/>
          </a:ln>
          <a:effectLst/>
        </p:spPr>
        <p:txBody>
          <a:bodyPr/>
          <a:lstStyle/>
          <a:p>
            <a:r>
              <a:rPr lang="es-ES" sz="1100" dirty="0">
                <a:solidFill>
                  <a:srgbClr val="000000"/>
                </a:solidFill>
              </a:rPr>
              <a:t>Incorrecta interpretación de la información remitida por el Área de ALM en cuanto a necesidades de activos de cobertura.</a:t>
            </a:r>
            <a:endParaRPr lang="es-ES" sz="1100" dirty="0">
              <a:solidFill>
                <a:srgbClr val="002060"/>
              </a:solidFill>
            </a:endParaRPr>
          </a:p>
        </p:txBody>
      </p:sp>
      <p:sp>
        <p:nvSpPr>
          <p:cNvPr id="8" name="Rounded Rectangle 7"/>
          <p:cNvSpPr/>
          <p:nvPr/>
        </p:nvSpPr>
        <p:spPr>
          <a:xfrm>
            <a:off x="652842" y="764704"/>
            <a:ext cx="8321040" cy="274320"/>
          </a:xfrm>
          <a:prstGeom prst="roundRect">
            <a:avLst/>
          </a:prstGeom>
          <a:solidFill>
            <a:srgbClr val="DB0613"/>
          </a:solidFill>
          <a:ln w="9525" algn="ctr">
            <a:noFill/>
            <a:miter lim="800000"/>
            <a:headEnd/>
            <a:tailEnd/>
          </a:ln>
          <a:effectLst/>
        </p:spPr>
        <p:txBody>
          <a:bodyPr anchor="ctr"/>
          <a:lstStyle/>
          <a:p>
            <a:pPr>
              <a:lnSpc>
                <a:spcPct val="80000"/>
              </a:lnSpc>
            </a:pPr>
            <a:r>
              <a:rPr lang="es-ES" sz="1200" b="1" dirty="0">
                <a:solidFill>
                  <a:srgbClr val="FFFFFF"/>
                </a:solidFill>
                <a:cs typeface="Arial" pitchFamily="34" charset="0"/>
              </a:rPr>
              <a:t>Incorrecta interpretación de la información remitida por el Área de ALM</a:t>
            </a:r>
            <a:r>
              <a:rPr lang="es-CL" sz="1200" b="1" dirty="0">
                <a:solidFill>
                  <a:srgbClr val="FFFFFF"/>
                </a:solidFill>
                <a:cs typeface="Arial" pitchFamily="34" charset="0"/>
              </a:rPr>
              <a:t>.</a:t>
            </a:r>
            <a:endParaRPr lang="es-ES" sz="1200" b="1" dirty="0">
              <a:solidFill>
                <a:srgbClr val="FFFFFF"/>
              </a:solidFill>
              <a:cs typeface="Arial" pitchFamily="34" charset="0"/>
            </a:endParaRPr>
          </a:p>
        </p:txBody>
      </p:sp>
      <p:sp>
        <p:nvSpPr>
          <p:cNvPr id="9" name="Rounded Rectangle 8"/>
          <p:cNvSpPr/>
          <p:nvPr/>
        </p:nvSpPr>
        <p:spPr>
          <a:xfrm>
            <a:off x="227770" y="2307916"/>
            <a:ext cx="64008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Descripción</a:t>
            </a:r>
          </a:p>
        </p:txBody>
      </p:sp>
      <p:sp>
        <p:nvSpPr>
          <p:cNvPr id="17" name="Rounded Rectangle 16"/>
          <p:cNvSpPr/>
          <p:nvPr/>
        </p:nvSpPr>
        <p:spPr>
          <a:xfrm>
            <a:off x="216583" y="1110038"/>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Macroproceso</a:t>
            </a:r>
          </a:p>
        </p:txBody>
      </p:sp>
      <p:sp>
        <p:nvSpPr>
          <p:cNvPr id="18" name="Rectangle 18"/>
          <p:cNvSpPr>
            <a:spLocks noChangeArrowheads="1"/>
          </p:cNvSpPr>
          <p:nvPr/>
        </p:nvSpPr>
        <p:spPr bwMode="auto">
          <a:xfrm>
            <a:off x="2568409" y="1110038"/>
            <a:ext cx="3877200" cy="182880"/>
          </a:xfrm>
          <a:prstGeom prst="rect">
            <a:avLst/>
          </a:prstGeom>
          <a:noFill/>
          <a:ln w="9525" algn="ctr">
            <a:solidFill>
              <a:schemeClr val="bg2"/>
            </a:solidFill>
            <a:miter lim="800000"/>
            <a:headEnd/>
            <a:tailEnd/>
          </a:ln>
          <a:effectLst/>
        </p:spPr>
        <p:txBody>
          <a:bodyPr anchor="ctr"/>
          <a:lstStyle/>
          <a:p>
            <a:r>
              <a:rPr lang="es-ES" sz="1100" dirty="0">
                <a:solidFill>
                  <a:srgbClr val="000000"/>
                </a:solidFill>
              </a:rPr>
              <a:t>Administración de Portafolio de Inversiones</a:t>
            </a:r>
          </a:p>
        </p:txBody>
      </p:sp>
      <p:sp>
        <p:nvSpPr>
          <p:cNvPr id="19" name="Rounded Rectangle 18"/>
          <p:cNvSpPr/>
          <p:nvPr/>
        </p:nvSpPr>
        <p:spPr>
          <a:xfrm>
            <a:off x="216583" y="1339045"/>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Proceso</a:t>
            </a:r>
          </a:p>
        </p:txBody>
      </p:sp>
      <p:sp>
        <p:nvSpPr>
          <p:cNvPr id="20" name="Rectangle 18"/>
          <p:cNvSpPr>
            <a:spLocks noChangeArrowheads="1"/>
          </p:cNvSpPr>
          <p:nvPr/>
        </p:nvSpPr>
        <p:spPr bwMode="auto">
          <a:xfrm>
            <a:off x="2568409" y="1339045"/>
            <a:ext cx="3877200" cy="182880"/>
          </a:xfrm>
          <a:prstGeom prst="rect">
            <a:avLst/>
          </a:prstGeom>
          <a:noFill/>
          <a:ln w="9525" algn="ctr">
            <a:solidFill>
              <a:schemeClr val="bg2"/>
            </a:solidFill>
            <a:miter lim="800000"/>
            <a:headEnd/>
            <a:tailEnd/>
          </a:ln>
          <a:effectLst/>
        </p:spPr>
        <p:txBody>
          <a:bodyPr anchor="ctr"/>
          <a:lstStyle/>
          <a:p>
            <a:r>
              <a:rPr lang="es-ES" sz="1100" dirty="0">
                <a:solidFill>
                  <a:srgbClr val="000000"/>
                </a:solidFill>
              </a:rPr>
              <a:t>Administración de Fondos</a:t>
            </a:r>
          </a:p>
        </p:txBody>
      </p:sp>
      <p:sp>
        <p:nvSpPr>
          <p:cNvPr id="59" name="Rounded Rectangle 58"/>
          <p:cNvSpPr/>
          <p:nvPr/>
        </p:nvSpPr>
        <p:spPr>
          <a:xfrm>
            <a:off x="216583" y="1579694"/>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Subproceso</a:t>
            </a:r>
          </a:p>
        </p:txBody>
      </p:sp>
      <p:sp>
        <p:nvSpPr>
          <p:cNvPr id="60" name="Rectangle 18"/>
          <p:cNvSpPr>
            <a:spLocks noChangeArrowheads="1"/>
          </p:cNvSpPr>
          <p:nvPr/>
        </p:nvSpPr>
        <p:spPr bwMode="auto">
          <a:xfrm>
            <a:off x="2568409" y="1579694"/>
            <a:ext cx="3875799" cy="182880"/>
          </a:xfrm>
          <a:prstGeom prst="rect">
            <a:avLst/>
          </a:prstGeom>
          <a:noFill/>
          <a:ln w="9525" algn="ctr">
            <a:solidFill>
              <a:schemeClr val="bg2"/>
            </a:solidFill>
            <a:miter lim="800000"/>
            <a:headEnd/>
            <a:tailEnd/>
          </a:ln>
          <a:effectLst/>
        </p:spPr>
        <p:txBody>
          <a:bodyPr anchor="ctr"/>
          <a:lstStyle/>
          <a:p>
            <a:r>
              <a:rPr lang="es-ES" sz="1100" dirty="0"/>
              <a:t>Evaluación de oportunidades de inversión</a:t>
            </a:r>
            <a:endParaRPr lang="es-ES" sz="1100" dirty="0">
              <a:solidFill>
                <a:srgbClr val="000000"/>
              </a:solidFill>
            </a:endParaRPr>
          </a:p>
        </p:txBody>
      </p:sp>
      <p:sp>
        <p:nvSpPr>
          <p:cNvPr id="61" name="Rounded Rectangle 60"/>
          <p:cNvSpPr/>
          <p:nvPr/>
        </p:nvSpPr>
        <p:spPr>
          <a:xfrm>
            <a:off x="226806" y="1826440"/>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Línea de Negocio</a:t>
            </a:r>
          </a:p>
        </p:txBody>
      </p:sp>
      <p:sp>
        <p:nvSpPr>
          <p:cNvPr id="63" name="Rounded Rectangle 62"/>
          <p:cNvSpPr/>
          <p:nvPr/>
        </p:nvSpPr>
        <p:spPr>
          <a:xfrm>
            <a:off x="226806" y="2079535"/>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Responsable</a:t>
            </a:r>
          </a:p>
        </p:txBody>
      </p:sp>
      <p:sp>
        <p:nvSpPr>
          <p:cNvPr id="65" name="Rectangle 18"/>
          <p:cNvSpPr>
            <a:spLocks noChangeArrowheads="1"/>
          </p:cNvSpPr>
          <p:nvPr/>
        </p:nvSpPr>
        <p:spPr bwMode="auto">
          <a:xfrm>
            <a:off x="2568409" y="1826440"/>
            <a:ext cx="3875799" cy="182880"/>
          </a:xfrm>
          <a:prstGeom prst="rect">
            <a:avLst/>
          </a:prstGeom>
          <a:noFill/>
          <a:ln w="9525" algn="ctr">
            <a:solidFill>
              <a:schemeClr val="bg2"/>
            </a:solidFill>
            <a:miter lim="800000"/>
            <a:headEnd/>
            <a:tailEnd/>
          </a:ln>
          <a:effectLst/>
        </p:spPr>
        <p:txBody>
          <a:bodyPr anchor="ctr"/>
          <a:lstStyle/>
          <a:p>
            <a:r>
              <a:rPr lang="es-ES" sz="1100" dirty="0">
                <a:solidFill>
                  <a:srgbClr val="000000"/>
                </a:solidFill>
              </a:rPr>
              <a:t>Negociación y Ventas</a:t>
            </a:r>
          </a:p>
        </p:txBody>
      </p:sp>
      <p:sp>
        <p:nvSpPr>
          <p:cNvPr id="66" name="Rectangle 18"/>
          <p:cNvSpPr>
            <a:spLocks noChangeArrowheads="1"/>
          </p:cNvSpPr>
          <p:nvPr/>
        </p:nvSpPr>
        <p:spPr bwMode="auto">
          <a:xfrm>
            <a:off x="2555776" y="2079535"/>
            <a:ext cx="3875799" cy="182880"/>
          </a:xfrm>
          <a:prstGeom prst="rect">
            <a:avLst/>
          </a:prstGeom>
          <a:noFill/>
          <a:ln w="9525" algn="ctr">
            <a:solidFill>
              <a:schemeClr val="bg2"/>
            </a:solidFill>
            <a:miter lim="800000"/>
            <a:headEnd/>
            <a:tailEnd/>
          </a:ln>
          <a:effectLst/>
        </p:spPr>
        <p:txBody>
          <a:bodyPr anchor="ctr"/>
          <a:lstStyle/>
          <a:p>
            <a:r>
              <a:rPr lang="es-ES" sz="1100" dirty="0">
                <a:solidFill>
                  <a:srgbClr val="000000"/>
                </a:solidFill>
              </a:rPr>
              <a:t>Gerente General Adjunto de Inversiones</a:t>
            </a:r>
          </a:p>
        </p:txBody>
      </p:sp>
      <p:sp>
        <p:nvSpPr>
          <p:cNvPr id="58" name="AutoShape 179"/>
          <p:cNvSpPr>
            <a:spLocks noChangeArrowheads="1"/>
          </p:cNvSpPr>
          <p:nvPr/>
        </p:nvSpPr>
        <p:spPr bwMode="auto">
          <a:xfrm>
            <a:off x="611560" y="3482416"/>
            <a:ext cx="3960812" cy="1275707"/>
          </a:xfrm>
          <a:prstGeom prst="roundRect">
            <a:avLst>
              <a:gd name="adj" fmla="val 9481"/>
            </a:avLst>
          </a:prstGeom>
          <a:solidFill>
            <a:schemeClr val="accent1">
              <a:lumMod val="20000"/>
              <a:lumOff val="80000"/>
            </a:schemeClr>
          </a:solidFill>
          <a:ln w="9525" algn="ctr">
            <a:noFill/>
            <a:round/>
            <a:headEnd/>
            <a:tailEnd/>
          </a:ln>
          <a:effectLst/>
        </p:spPr>
        <p:txBody>
          <a:bodyPr wrap="none" anchor="ctr"/>
          <a:lstStyle/>
          <a:p>
            <a:endParaRPr lang="es-CL">
              <a:solidFill>
                <a:srgbClr val="002060"/>
              </a:solidFill>
            </a:endParaRPr>
          </a:p>
        </p:txBody>
      </p:sp>
      <p:sp>
        <p:nvSpPr>
          <p:cNvPr id="62" name="Text Box 30"/>
          <p:cNvSpPr txBox="1">
            <a:spLocks noChangeArrowheads="1"/>
          </p:cNvSpPr>
          <p:nvPr/>
        </p:nvSpPr>
        <p:spPr bwMode="auto">
          <a:xfrm>
            <a:off x="190747" y="3259373"/>
            <a:ext cx="3671888" cy="276999"/>
          </a:xfrm>
          <a:prstGeom prst="rect">
            <a:avLst/>
          </a:prstGeom>
          <a:noFill/>
          <a:ln w="9525" algn="ctr">
            <a:noFill/>
            <a:miter lim="800000"/>
            <a:headEnd/>
            <a:tailEnd/>
          </a:ln>
          <a:effectLst/>
        </p:spPr>
        <p:txBody>
          <a:bodyPr>
            <a:spAutoFit/>
          </a:bodyPr>
          <a:lstStyle/>
          <a:p>
            <a:pPr>
              <a:spcBef>
                <a:spcPct val="50000"/>
              </a:spcBef>
            </a:pPr>
            <a:r>
              <a:rPr lang="es-CL" sz="1200" b="1" i="1" dirty="0">
                <a:solidFill>
                  <a:srgbClr val="A3A3E0"/>
                </a:solidFill>
              </a:rPr>
              <a:t>Resultados valoración de riesgos</a:t>
            </a:r>
            <a:endParaRPr lang="es-ES" sz="1200" b="1" i="1" dirty="0">
              <a:solidFill>
                <a:srgbClr val="A3A3E0"/>
              </a:solidFill>
            </a:endParaRPr>
          </a:p>
        </p:txBody>
      </p:sp>
      <p:sp>
        <p:nvSpPr>
          <p:cNvPr id="64" name="Rounded Rectangle 21"/>
          <p:cNvSpPr/>
          <p:nvPr/>
        </p:nvSpPr>
        <p:spPr>
          <a:xfrm>
            <a:off x="902959" y="4255955"/>
            <a:ext cx="1920240" cy="170094"/>
          </a:xfrm>
          <a:prstGeom prst="roundRect">
            <a:avLst/>
          </a:prstGeom>
          <a:solidFill>
            <a:srgbClr val="DB0613"/>
          </a:solidFill>
          <a:ln w="9525" algn="ctr">
            <a:noFill/>
            <a:miter lim="800000"/>
            <a:headEnd/>
            <a:tailEnd/>
          </a:ln>
          <a:effectLst/>
        </p:spPr>
        <p:txBody>
          <a:bodyPr tIns="91440" anchor="ctr"/>
          <a:lstStyle/>
          <a:p>
            <a:pPr>
              <a:lnSpc>
                <a:spcPct val="80000"/>
              </a:lnSpc>
            </a:pPr>
            <a:r>
              <a:rPr lang="es-CL" sz="1100" b="1" dirty="0">
                <a:solidFill>
                  <a:srgbClr val="FFFFFF"/>
                </a:solidFill>
                <a:cs typeface="Arial" pitchFamily="34" charset="0"/>
              </a:rPr>
              <a:t>Pérdida Esperada Anual</a:t>
            </a:r>
          </a:p>
        </p:txBody>
      </p:sp>
      <p:sp>
        <p:nvSpPr>
          <p:cNvPr id="67" name="Rectangle 18"/>
          <p:cNvSpPr>
            <a:spLocks noChangeArrowheads="1"/>
          </p:cNvSpPr>
          <p:nvPr/>
        </p:nvSpPr>
        <p:spPr bwMode="auto">
          <a:xfrm>
            <a:off x="2859920" y="4255955"/>
            <a:ext cx="1554480" cy="170094"/>
          </a:xfrm>
          <a:prstGeom prst="rect">
            <a:avLst/>
          </a:prstGeom>
          <a:solidFill>
            <a:schemeClr val="bg1"/>
          </a:solidFill>
          <a:ln w="9525" algn="ctr">
            <a:solidFill>
              <a:schemeClr val="bg2"/>
            </a:solidFill>
            <a:miter lim="800000"/>
            <a:headEnd/>
            <a:tailEnd/>
          </a:ln>
          <a:effectLst/>
        </p:spPr>
        <p:txBody>
          <a:bodyPr anchor="ctr"/>
          <a:lstStyle/>
          <a:p>
            <a:pPr algn="ctr"/>
            <a:r>
              <a:rPr lang="es-PE" sz="1100" dirty="0">
                <a:solidFill>
                  <a:srgbClr val="000000"/>
                </a:solidFill>
              </a:rPr>
              <a:t>s/. 0.00</a:t>
            </a:r>
            <a:endParaRPr lang="es-ES" sz="1100" dirty="0">
              <a:solidFill>
                <a:srgbClr val="000000"/>
              </a:solidFill>
            </a:endParaRPr>
          </a:p>
        </p:txBody>
      </p:sp>
      <p:sp>
        <p:nvSpPr>
          <p:cNvPr id="68" name="Rounded Rectangle 23"/>
          <p:cNvSpPr/>
          <p:nvPr/>
        </p:nvSpPr>
        <p:spPr>
          <a:xfrm>
            <a:off x="902959" y="4485567"/>
            <a:ext cx="1920240" cy="170094"/>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VaR Cualitativo Anual</a:t>
            </a:r>
          </a:p>
        </p:txBody>
      </p:sp>
      <p:sp>
        <p:nvSpPr>
          <p:cNvPr id="69" name="Rectangle 18"/>
          <p:cNvSpPr>
            <a:spLocks noChangeArrowheads="1"/>
          </p:cNvSpPr>
          <p:nvPr/>
        </p:nvSpPr>
        <p:spPr bwMode="auto">
          <a:xfrm>
            <a:off x="2859920" y="4485567"/>
            <a:ext cx="1554480" cy="170094"/>
          </a:xfrm>
          <a:prstGeom prst="rect">
            <a:avLst/>
          </a:prstGeom>
          <a:solidFill>
            <a:schemeClr val="bg1"/>
          </a:solidFill>
          <a:ln w="9525" algn="ctr">
            <a:solidFill>
              <a:schemeClr val="bg2"/>
            </a:solidFill>
            <a:miter lim="800000"/>
            <a:headEnd/>
            <a:tailEnd/>
          </a:ln>
          <a:effectLst/>
        </p:spPr>
        <p:txBody>
          <a:bodyPr anchor="ctr"/>
          <a:lstStyle/>
          <a:p>
            <a:pPr algn="ctr"/>
            <a:r>
              <a:rPr lang="es-PE" sz="1100" dirty="0">
                <a:solidFill>
                  <a:srgbClr val="000000"/>
                </a:solidFill>
              </a:rPr>
              <a:t>s/. 0.00</a:t>
            </a:r>
            <a:endParaRPr lang="es-ES" sz="1100" dirty="0">
              <a:solidFill>
                <a:srgbClr val="000000"/>
              </a:solidFill>
            </a:endParaRPr>
          </a:p>
        </p:txBody>
      </p:sp>
      <p:sp>
        <p:nvSpPr>
          <p:cNvPr id="70" name="Rounded Rectangle 25"/>
          <p:cNvSpPr/>
          <p:nvPr/>
        </p:nvSpPr>
        <p:spPr>
          <a:xfrm>
            <a:off x="891084" y="3553916"/>
            <a:ext cx="1920240" cy="170094"/>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Frecuencia  Evento Pérdida</a:t>
            </a:r>
          </a:p>
        </p:txBody>
      </p:sp>
      <p:sp>
        <p:nvSpPr>
          <p:cNvPr id="71" name="Rectangle 18"/>
          <p:cNvSpPr>
            <a:spLocks noChangeArrowheads="1"/>
          </p:cNvSpPr>
          <p:nvPr/>
        </p:nvSpPr>
        <p:spPr bwMode="auto">
          <a:xfrm>
            <a:off x="2859920" y="3553916"/>
            <a:ext cx="1554480" cy="170094"/>
          </a:xfrm>
          <a:prstGeom prst="rect">
            <a:avLst/>
          </a:prstGeom>
          <a:solidFill>
            <a:schemeClr val="bg1"/>
          </a:solidFill>
          <a:ln w="9525" algn="ctr">
            <a:solidFill>
              <a:schemeClr val="bg2"/>
            </a:solidFill>
            <a:miter lim="800000"/>
            <a:headEnd/>
            <a:tailEnd/>
          </a:ln>
          <a:effectLst/>
        </p:spPr>
        <p:txBody>
          <a:bodyPr anchor="ctr"/>
          <a:lstStyle/>
          <a:p>
            <a:pPr algn="ctr"/>
            <a:r>
              <a:rPr lang="es-PE" sz="1100" dirty="0">
                <a:solidFill>
                  <a:srgbClr val="000000"/>
                </a:solidFill>
              </a:rPr>
              <a:t>1 vez cada 10 años</a:t>
            </a:r>
            <a:endParaRPr lang="es-ES" sz="1100" dirty="0">
              <a:solidFill>
                <a:srgbClr val="000000"/>
              </a:solidFill>
            </a:endParaRPr>
          </a:p>
        </p:txBody>
      </p:sp>
      <p:sp>
        <p:nvSpPr>
          <p:cNvPr id="72" name="Rounded Rectangle 27"/>
          <p:cNvSpPr/>
          <p:nvPr/>
        </p:nvSpPr>
        <p:spPr>
          <a:xfrm>
            <a:off x="891084" y="3783528"/>
            <a:ext cx="1920240" cy="170094"/>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Impacto Medio Evento</a:t>
            </a:r>
          </a:p>
        </p:txBody>
      </p:sp>
      <p:sp>
        <p:nvSpPr>
          <p:cNvPr id="73" name="Rectangle 18"/>
          <p:cNvSpPr>
            <a:spLocks noChangeArrowheads="1"/>
          </p:cNvSpPr>
          <p:nvPr/>
        </p:nvSpPr>
        <p:spPr bwMode="auto">
          <a:xfrm>
            <a:off x="2859920" y="3783528"/>
            <a:ext cx="1554480" cy="170094"/>
          </a:xfrm>
          <a:prstGeom prst="rect">
            <a:avLst/>
          </a:prstGeom>
          <a:solidFill>
            <a:schemeClr val="bg1"/>
          </a:solidFill>
          <a:ln w="9525" algn="ctr">
            <a:solidFill>
              <a:schemeClr val="bg2"/>
            </a:solidFill>
            <a:miter lim="800000"/>
            <a:headEnd/>
            <a:tailEnd/>
          </a:ln>
          <a:effectLst/>
        </p:spPr>
        <p:txBody>
          <a:bodyPr anchor="ctr"/>
          <a:lstStyle/>
          <a:p>
            <a:pPr algn="ctr"/>
            <a:r>
              <a:rPr lang="es-PE" sz="1100" dirty="0">
                <a:solidFill>
                  <a:srgbClr val="000000"/>
                </a:solidFill>
              </a:rPr>
              <a:t>s/. 0.00</a:t>
            </a:r>
            <a:endParaRPr lang="es-ES" sz="1100" dirty="0">
              <a:solidFill>
                <a:srgbClr val="000000"/>
              </a:solidFill>
            </a:endParaRPr>
          </a:p>
        </p:txBody>
      </p:sp>
      <p:sp>
        <p:nvSpPr>
          <p:cNvPr id="74" name="Rounded Rectangle 29"/>
          <p:cNvSpPr/>
          <p:nvPr/>
        </p:nvSpPr>
        <p:spPr>
          <a:xfrm>
            <a:off x="891084" y="4019108"/>
            <a:ext cx="1920240" cy="170094"/>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Impacto Peor Escenario</a:t>
            </a:r>
          </a:p>
        </p:txBody>
      </p:sp>
      <p:sp>
        <p:nvSpPr>
          <p:cNvPr id="75" name="Rectangle 18"/>
          <p:cNvSpPr>
            <a:spLocks noChangeArrowheads="1"/>
          </p:cNvSpPr>
          <p:nvPr/>
        </p:nvSpPr>
        <p:spPr bwMode="auto">
          <a:xfrm>
            <a:off x="2859920" y="4019108"/>
            <a:ext cx="1554480" cy="170094"/>
          </a:xfrm>
          <a:prstGeom prst="rect">
            <a:avLst/>
          </a:prstGeom>
          <a:solidFill>
            <a:schemeClr val="bg1"/>
          </a:solidFill>
          <a:ln w="9525" algn="ctr">
            <a:solidFill>
              <a:schemeClr val="bg2"/>
            </a:solidFill>
            <a:miter lim="800000"/>
            <a:headEnd/>
            <a:tailEnd/>
          </a:ln>
          <a:effectLst/>
        </p:spPr>
        <p:txBody>
          <a:bodyPr anchor="ctr"/>
          <a:lstStyle/>
          <a:p>
            <a:pPr algn="ctr"/>
            <a:r>
              <a:rPr lang="es-PE" sz="1100" dirty="0">
                <a:solidFill>
                  <a:srgbClr val="000000"/>
                </a:solidFill>
              </a:rPr>
              <a:t>s/. 0.00</a:t>
            </a:r>
            <a:endParaRPr lang="es-ES" sz="1100" dirty="0">
              <a:solidFill>
                <a:srgbClr val="000000"/>
              </a:solidFill>
            </a:endParaRPr>
          </a:p>
        </p:txBody>
      </p:sp>
      <p:sp>
        <p:nvSpPr>
          <p:cNvPr id="76" name="AutoShape 47"/>
          <p:cNvSpPr>
            <a:spLocks noChangeAspect="1" noChangeArrowheads="1"/>
          </p:cNvSpPr>
          <p:nvPr/>
        </p:nvSpPr>
        <p:spPr bwMode="blackWhite">
          <a:xfrm>
            <a:off x="263032" y="3482416"/>
            <a:ext cx="503986" cy="1274400"/>
          </a:xfrm>
          <a:prstGeom prst="rightArrow">
            <a:avLst>
              <a:gd name="adj1" fmla="val 100000"/>
              <a:gd name="adj2" fmla="val 11009"/>
            </a:avLst>
          </a:prstGeom>
          <a:solidFill>
            <a:srgbClr val="969696"/>
          </a:solidFill>
          <a:ln w="12700">
            <a:noFill/>
            <a:miter lim="800000"/>
            <a:headEnd/>
            <a:tailEnd/>
          </a:ln>
          <a:effectLst>
            <a:outerShdw dist="35921" dir="2700000" algn="ctr" rotWithShape="0">
              <a:schemeClr val="bg2"/>
            </a:outerShdw>
          </a:effectLst>
        </p:spPr>
        <p:txBody>
          <a:bodyPr vert="vert270" anchor="ctr"/>
          <a:lstStyle/>
          <a:p>
            <a:pPr algn="ctr">
              <a:lnSpc>
                <a:spcPts val="1000"/>
              </a:lnSpc>
            </a:pPr>
            <a:r>
              <a:rPr lang="es-ES" sz="1100" b="1" noProof="1">
                <a:solidFill>
                  <a:srgbClr val="FFFFFF"/>
                </a:solidFill>
                <a:cs typeface="Arial" charset="0"/>
              </a:rPr>
              <a:t>Evaluación Riesgo Operacional</a:t>
            </a:r>
          </a:p>
        </p:txBody>
      </p:sp>
      <p:sp>
        <p:nvSpPr>
          <p:cNvPr id="77" name="AutoShape 179"/>
          <p:cNvSpPr>
            <a:spLocks noChangeArrowheads="1"/>
          </p:cNvSpPr>
          <p:nvPr/>
        </p:nvSpPr>
        <p:spPr bwMode="auto">
          <a:xfrm>
            <a:off x="4932039" y="3493021"/>
            <a:ext cx="4037169" cy="864000"/>
          </a:xfrm>
          <a:prstGeom prst="roundRect">
            <a:avLst>
              <a:gd name="adj" fmla="val 9481"/>
            </a:avLst>
          </a:prstGeom>
          <a:solidFill>
            <a:schemeClr val="accent1">
              <a:lumMod val="20000"/>
              <a:lumOff val="80000"/>
            </a:schemeClr>
          </a:solidFill>
          <a:ln w="9525" algn="ctr">
            <a:noFill/>
            <a:round/>
            <a:headEnd/>
            <a:tailEnd/>
          </a:ln>
          <a:effectLst/>
        </p:spPr>
        <p:txBody>
          <a:bodyPr wrap="none" anchor="ctr"/>
          <a:lstStyle/>
          <a:p>
            <a:endParaRPr lang="es-CL">
              <a:solidFill>
                <a:srgbClr val="002060"/>
              </a:solidFill>
            </a:endParaRPr>
          </a:p>
        </p:txBody>
      </p:sp>
      <p:sp>
        <p:nvSpPr>
          <p:cNvPr id="78" name="AutoShape 47"/>
          <p:cNvSpPr>
            <a:spLocks noChangeArrowheads="1"/>
          </p:cNvSpPr>
          <p:nvPr/>
        </p:nvSpPr>
        <p:spPr bwMode="blackWhite">
          <a:xfrm>
            <a:off x="4678512" y="3494523"/>
            <a:ext cx="353942" cy="864000"/>
          </a:xfrm>
          <a:prstGeom prst="rightArrow">
            <a:avLst>
              <a:gd name="adj1" fmla="val 100000"/>
              <a:gd name="adj2" fmla="val 11009"/>
            </a:avLst>
          </a:prstGeom>
          <a:solidFill>
            <a:srgbClr val="969696"/>
          </a:solidFill>
          <a:ln w="12700">
            <a:noFill/>
            <a:miter lim="800000"/>
            <a:headEnd/>
            <a:tailEnd/>
          </a:ln>
          <a:effectLst>
            <a:outerShdw dist="35921" dir="2700000" algn="ctr" rotWithShape="0">
              <a:schemeClr val="bg2"/>
            </a:outerShdw>
          </a:effectLst>
        </p:spPr>
        <p:txBody>
          <a:bodyPr vert="vert270" anchor="ctr"/>
          <a:lstStyle/>
          <a:p>
            <a:pPr algn="ctr">
              <a:lnSpc>
                <a:spcPts val="1000"/>
              </a:lnSpc>
            </a:pPr>
            <a:r>
              <a:rPr lang="es-ES" sz="1100" b="1" noProof="1">
                <a:solidFill>
                  <a:srgbClr val="FFFFFF"/>
                </a:solidFill>
                <a:cs typeface="Arial" charset="0"/>
              </a:rPr>
              <a:t>Impacto Reputacional</a:t>
            </a:r>
          </a:p>
        </p:txBody>
      </p:sp>
      <p:sp>
        <p:nvSpPr>
          <p:cNvPr id="79" name="Rectangle 18"/>
          <p:cNvSpPr>
            <a:spLocks noChangeArrowheads="1"/>
          </p:cNvSpPr>
          <p:nvPr/>
        </p:nvSpPr>
        <p:spPr bwMode="auto">
          <a:xfrm>
            <a:off x="8334310" y="3568288"/>
            <a:ext cx="548640" cy="170094"/>
          </a:xfrm>
          <a:prstGeom prst="rect">
            <a:avLst/>
          </a:prstGeom>
          <a:solidFill>
            <a:schemeClr val="bg1"/>
          </a:solidFill>
          <a:ln w="9525" algn="ctr">
            <a:solidFill>
              <a:schemeClr val="bg2"/>
            </a:solidFill>
            <a:miter lim="800000"/>
            <a:headEnd/>
            <a:tailEnd/>
          </a:ln>
          <a:effectLst/>
        </p:spPr>
        <p:txBody>
          <a:bodyPr anchor="ctr"/>
          <a:lstStyle/>
          <a:p>
            <a:pPr algn="ctr"/>
            <a:r>
              <a:rPr lang="es-PE" sz="1100" dirty="0">
                <a:solidFill>
                  <a:srgbClr val="002060"/>
                </a:solidFill>
              </a:rPr>
              <a:t>1</a:t>
            </a:r>
            <a:endParaRPr lang="es-ES" sz="1100" dirty="0">
              <a:solidFill>
                <a:srgbClr val="002060"/>
              </a:solidFill>
            </a:endParaRPr>
          </a:p>
        </p:txBody>
      </p:sp>
      <p:sp>
        <p:nvSpPr>
          <p:cNvPr id="80" name="Rounded Rectangle 38"/>
          <p:cNvSpPr/>
          <p:nvPr/>
        </p:nvSpPr>
        <p:spPr>
          <a:xfrm>
            <a:off x="5102950" y="3568288"/>
            <a:ext cx="3132000" cy="170094"/>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Afectación a Contrapartes</a:t>
            </a:r>
          </a:p>
        </p:txBody>
      </p:sp>
      <p:sp>
        <p:nvSpPr>
          <p:cNvPr id="81" name="Rectangle 18"/>
          <p:cNvSpPr>
            <a:spLocks noChangeArrowheads="1"/>
          </p:cNvSpPr>
          <p:nvPr/>
        </p:nvSpPr>
        <p:spPr bwMode="auto">
          <a:xfrm>
            <a:off x="5102950" y="3786445"/>
            <a:ext cx="3780000" cy="469509"/>
          </a:xfrm>
          <a:prstGeom prst="rect">
            <a:avLst/>
          </a:prstGeom>
          <a:solidFill>
            <a:schemeClr val="bg1"/>
          </a:solidFill>
          <a:ln w="9525" algn="ctr">
            <a:solidFill>
              <a:schemeClr val="bg2"/>
            </a:solidFill>
            <a:miter lim="800000"/>
            <a:headEnd/>
            <a:tailEnd/>
          </a:ln>
          <a:effectLst/>
        </p:spPr>
        <p:txBody>
          <a:bodyPr anchor="ctr"/>
          <a:lstStyle/>
          <a:p>
            <a:r>
              <a:rPr lang="es-ES" sz="1100" dirty="0">
                <a:solidFill>
                  <a:srgbClr val="000000"/>
                </a:solidFill>
              </a:rPr>
              <a:t>La exposición de la imagen es únicamente interna y limitada.</a:t>
            </a:r>
          </a:p>
        </p:txBody>
      </p:sp>
      <p:sp>
        <p:nvSpPr>
          <p:cNvPr id="82" name="Text Box 30"/>
          <p:cNvSpPr txBox="1">
            <a:spLocks noChangeArrowheads="1"/>
          </p:cNvSpPr>
          <p:nvPr/>
        </p:nvSpPr>
        <p:spPr bwMode="auto">
          <a:xfrm>
            <a:off x="190746" y="4838419"/>
            <a:ext cx="3996000" cy="276999"/>
          </a:xfrm>
          <a:prstGeom prst="rect">
            <a:avLst/>
          </a:prstGeom>
          <a:noFill/>
          <a:ln w="9525" algn="ctr">
            <a:noFill/>
            <a:miter lim="800000"/>
            <a:headEnd/>
            <a:tailEnd/>
          </a:ln>
          <a:effectLst/>
        </p:spPr>
        <p:txBody>
          <a:bodyPr wrap="square">
            <a:spAutoFit/>
          </a:bodyPr>
          <a:lstStyle/>
          <a:p>
            <a:pPr>
              <a:spcBef>
                <a:spcPct val="50000"/>
              </a:spcBef>
            </a:pPr>
            <a:r>
              <a:rPr lang="es-CL" sz="1200" b="1" i="1" dirty="0">
                <a:solidFill>
                  <a:srgbClr val="A3A3E0"/>
                </a:solidFill>
              </a:rPr>
              <a:t>Resultados valoración de controles / factores mitigantes</a:t>
            </a:r>
            <a:endParaRPr lang="es-ES" sz="1200" b="1" i="1" dirty="0">
              <a:solidFill>
                <a:srgbClr val="A3A3E0"/>
              </a:solidFill>
            </a:endParaRPr>
          </a:p>
        </p:txBody>
      </p:sp>
      <p:sp>
        <p:nvSpPr>
          <p:cNvPr id="86" name="AutoShape 179"/>
          <p:cNvSpPr>
            <a:spLocks noChangeArrowheads="1"/>
          </p:cNvSpPr>
          <p:nvPr/>
        </p:nvSpPr>
        <p:spPr bwMode="auto">
          <a:xfrm>
            <a:off x="4927319" y="4397238"/>
            <a:ext cx="4037169" cy="892800"/>
          </a:xfrm>
          <a:prstGeom prst="roundRect">
            <a:avLst>
              <a:gd name="adj" fmla="val 9481"/>
            </a:avLst>
          </a:prstGeom>
          <a:solidFill>
            <a:schemeClr val="accent1">
              <a:lumMod val="20000"/>
              <a:lumOff val="80000"/>
            </a:schemeClr>
          </a:solidFill>
          <a:ln w="9525" algn="ctr">
            <a:noFill/>
            <a:round/>
            <a:headEnd/>
            <a:tailEnd/>
          </a:ln>
          <a:effectLst/>
        </p:spPr>
        <p:txBody>
          <a:bodyPr wrap="none" anchor="ctr"/>
          <a:lstStyle/>
          <a:p>
            <a:endParaRPr lang="es-CL">
              <a:solidFill>
                <a:srgbClr val="002060"/>
              </a:solidFill>
            </a:endParaRPr>
          </a:p>
        </p:txBody>
      </p:sp>
      <p:sp>
        <p:nvSpPr>
          <p:cNvPr id="87" name="AutoShape 47"/>
          <p:cNvSpPr>
            <a:spLocks noChangeArrowheads="1"/>
          </p:cNvSpPr>
          <p:nvPr/>
        </p:nvSpPr>
        <p:spPr bwMode="blackWhite">
          <a:xfrm>
            <a:off x="4673792" y="4398740"/>
            <a:ext cx="352800" cy="892800"/>
          </a:xfrm>
          <a:prstGeom prst="rightArrow">
            <a:avLst>
              <a:gd name="adj1" fmla="val 100000"/>
              <a:gd name="adj2" fmla="val 11009"/>
            </a:avLst>
          </a:prstGeom>
          <a:solidFill>
            <a:srgbClr val="969696"/>
          </a:solidFill>
          <a:ln w="12700">
            <a:noFill/>
            <a:miter lim="800000"/>
            <a:headEnd/>
            <a:tailEnd/>
          </a:ln>
          <a:effectLst>
            <a:outerShdw dist="35921" dir="2700000" algn="ctr" rotWithShape="0">
              <a:schemeClr val="bg2"/>
            </a:outerShdw>
          </a:effectLst>
        </p:spPr>
        <p:txBody>
          <a:bodyPr vert="vert270" anchor="ctr"/>
          <a:lstStyle/>
          <a:p>
            <a:pPr algn="ctr">
              <a:lnSpc>
                <a:spcPts val="1000"/>
              </a:lnSpc>
            </a:pPr>
            <a:r>
              <a:rPr lang="es-ES" sz="1100" b="1" noProof="1">
                <a:solidFill>
                  <a:srgbClr val="FFFFFF"/>
                </a:solidFill>
                <a:cs typeface="Arial" charset="0"/>
              </a:rPr>
              <a:t>Cuestionarios</a:t>
            </a:r>
          </a:p>
        </p:txBody>
      </p:sp>
      <p:sp>
        <p:nvSpPr>
          <p:cNvPr id="89" name="Rounded Rectangle 38"/>
          <p:cNvSpPr/>
          <p:nvPr/>
        </p:nvSpPr>
        <p:spPr>
          <a:xfrm>
            <a:off x="5098230" y="4472505"/>
            <a:ext cx="3132000" cy="170094"/>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Criterios de Evaluación</a:t>
            </a:r>
          </a:p>
        </p:txBody>
      </p:sp>
      <p:sp>
        <p:nvSpPr>
          <p:cNvPr id="90" name="AutoShape 179"/>
          <p:cNvSpPr>
            <a:spLocks noChangeArrowheads="1"/>
          </p:cNvSpPr>
          <p:nvPr/>
        </p:nvSpPr>
        <p:spPr bwMode="auto">
          <a:xfrm>
            <a:off x="534831" y="5060900"/>
            <a:ext cx="4037169" cy="864000"/>
          </a:xfrm>
          <a:prstGeom prst="roundRect">
            <a:avLst>
              <a:gd name="adj" fmla="val 9481"/>
            </a:avLst>
          </a:prstGeom>
          <a:solidFill>
            <a:schemeClr val="accent1">
              <a:lumMod val="20000"/>
              <a:lumOff val="80000"/>
            </a:schemeClr>
          </a:solidFill>
          <a:ln w="9525" algn="ctr">
            <a:noFill/>
            <a:round/>
            <a:headEnd/>
            <a:tailEnd/>
          </a:ln>
          <a:effectLst/>
        </p:spPr>
        <p:txBody>
          <a:bodyPr wrap="none" anchor="ctr"/>
          <a:lstStyle/>
          <a:p>
            <a:endParaRPr lang="es-CL">
              <a:solidFill>
                <a:srgbClr val="002060"/>
              </a:solidFill>
            </a:endParaRPr>
          </a:p>
        </p:txBody>
      </p:sp>
      <p:sp>
        <p:nvSpPr>
          <p:cNvPr id="91" name="AutoShape 47"/>
          <p:cNvSpPr>
            <a:spLocks noChangeArrowheads="1"/>
          </p:cNvSpPr>
          <p:nvPr/>
        </p:nvSpPr>
        <p:spPr bwMode="blackWhite">
          <a:xfrm>
            <a:off x="281304" y="5062402"/>
            <a:ext cx="353942" cy="864000"/>
          </a:xfrm>
          <a:prstGeom prst="rightArrow">
            <a:avLst>
              <a:gd name="adj1" fmla="val 100000"/>
              <a:gd name="adj2" fmla="val 11009"/>
            </a:avLst>
          </a:prstGeom>
          <a:solidFill>
            <a:srgbClr val="969696"/>
          </a:solidFill>
          <a:ln w="12700">
            <a:noFill/>
            <a:miter lim="800000"/>
            <a:headEnd/>
            <a:tailEnd/>
          </a:ln>
          <a:effectLst>
            <a:outerShdw dist="35921" dir="2700000" algn="ctr" rotWithShape="0">
              <a:schemeClr val="bg2"/>
            </a:outerShdw>
          </a:effectLst>
        </p:spPr>
        <p:txBody>
          <a:bodyPr vert="vert270" anchor="ctr"/>
          <a:lstStyle/>
          <a:p>
            <a:pPr algn="ctr">
              <a:lnSpc>
                <a:spcPts val="1000"/>
              </a:lnSpc>
            </a:pPr>
            <a:r>
              <a:rPr lang="es-ES" sz="1100" b="1" noProof="1">
                <a:solidFill>
                  <a:srgbClr val="FFFFFF"/>
                </a:solidFill>
                <a:cs typeface="Arial" charset="0"/>
              </a:rPr>
              <a:t>Evaluación de Controles</a:t>
            </a:r>
          </a:p>
        </p:txBody>
      </p:sp>
      <p:sp>
        <p:nvSpPr>
          <p:cNvPr id="92" name="Rectangle 18"/>
          <p:cNvSpPr>
            <a:spLocks noChangeArrowheads="1"/>
          </p:cNvSpPr>
          <p:nvPr/>
        </p:nvSpPr>
        <p:spPr bwMode="auto">
          <a:xfrm>
            <a:off x="3937102" y="5136167"/>
            <a:ext cx="548640" cy="170094"/>
          </a:xfrm>
          <a:prstGeom prst="rect">
            <a:avLst/>
          </a:prstGeom>
          <a:solidFill>
            <a:schemeClr val="bg1"/>
          </a:solidFill>
          <a:ln w="9525" algn="ctr">
            <a:solidFill>
              <a:schemeClr val="bg2"/>
            </a:solidFill>
            <a:miter lim="800000"/>
            <a:headEnd/>
            <a:tailEnd/>
          </a:ln>
          <a:effectLst/>
        </p:spPr>
        <p:txBody>
          <a:bodyPr anchor="ctr"/>
          <a:lstStyle/>
          <a:p>
            <a:pPr algn="ctr"/>
            <a:r>
              <a:rPr lang="es-PE" sz="1100" dirty="0">
                <a:solidFill>
                  <a:srgbClr val="002060"/>
                </a:solidFill>
              </a:rPr>
              <a:t>1</a:t>
            </a:r>
            <a:endParaRPr lang="es-ES" sz="1100" dirty="0">
              <a:solidFill>
                <a:srgbClr val="002060"/>
              </a:solidFill>
            </a:endParaRPr>
          </a:p>
        </p:txBody>
      </p:sp>
      <p:sp>
        <p:nvSpPr>
          <p:cNvPr id="93" name="Rounded Rectangle 38"/>
          <p:cNvSpPr/>
          <p:nvPr/>
        </p:nvSpPr>
        <p:spPr>
          <a:xfrm>
            <a:off x="705742" y="5136167"/>
            <a:ext cx="3132000" cy="170094"/>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Controles asociados al riesgo</a:t>
            </a:r>
          </a:p>
        </p:txBody>
      </p:sp>
      <p:sp>
        <p:nvSpPr>
          <p:cNvPr id="94" name="Rectangle 18"/>
          <p:cNvSpPr>
            <a:spLocks noChangeArrowheads="1"/>
          </p:cNvSpPr>
          <p:nvPr/>
        </p:nvSpPr>
        <p:spPr bwMode="auto">
          <a:xfrm>
            <a:off x="5102950" y="4685678"/>
            <a:ext cx="3780000" cy="469509"/>
          </a:xfrm>
          <a:prstGeom prst="rect">
            <a:avLst/>
          </a:prstGeom>
          <a:solidFill>
            <a:schemeClr val="bg1"/>
          </a:solidFill>
          <a:ln w="9525" algn="ctr">
            <a:solidFill>
              <a:schemeClr val="bg2"/>
            </a:solidFill>
            <a:miter lim="800000"/>
            <a:headEnd/>
            <a:tailEnd/>
          </a:ln>
          <a:effectLst/>
        </p:spPr>
        <p:txBody>
          <a:bodyPr anchor="ctr"/>
          <a:lstStyle/>
          <a:p>
            <a:r>
              <a:rPr lang="es-ES" sz="1100" dirty="0"/>
              <a:t>El usuario considera un impacto económico de 0.</a:t>
            </a:r>
            <a:endParaRPr lang="es-ES" sz="1100" dirty="0">
              <a:solidFill>
                <a:srgbClr val="000000"/>
              </a:solidFill>
            </a:endParaRPr>
          </a:p>
        </p:txBody>
      </p:sp>
      <p:sp>
        <p:nvSpPr>
          <p:cNvPr id="95" name="Rectangle 18"/>
          <p:cNvSpPr>
            <a:spLocks noChangeArrowheads="1"/>
          </p:cNvSpPr>
          <p:nvPr/>
        </p:nvSpPr>
        <p:spPr bwMode="auto">
          <a:xfrm>
            <a:off x="705742" y="5357175"/>
            <a:ext cx="3780000" cy="469509"/>
          </a:xfrm>
          <a:prstGeom prst="rect">
            <a:avLst/>
          </a:prstGeom>
          <a:solidFill>
            <a:schemeClr val="bg1"/>
          </a:solidFill>
          <a:ln w="9525" algn="ctr">
            <a:solidFill>
              <a:schemeClr val="bg2"/>
            </a:solidFill>
            <a:miter lim="800000"/>
            <a:headEnd/>
            <a:tailEnd/>
          </a:ln>
          <a:effectLst/>
        </p:spPr>
        <p:txBody>
          <a:bodyPr anchor="ctr"/>
          <a:lstStyle/>
          <a:p>
            <a:r>
              <a:rPr lang="es-ES" sz="1100" dirty="0"/>
              <a:t>El variable del Front Office está medido con indicadores de rentabilidad y de riesgo.</a:t>
            </a:r>
          </a:p>
        </p:txBody>
      </p:sp>
      <p:sp>
        <p:nvSpPr>
          <p:cNvPr id="96" name="Rounded Rectangle 9"/>
          <p:cNvSpPr/>
          <p:nvPr/>
        </p:nvSpPr>
        <p:spPr>
          <a:xfrm>
            <a:off x="6716066" y="1111764"/>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Categoría  de Riesgo Nivel I</a:t>
            </a:r>
          </a:p>
        </p:txBody>
      </p:sp>
      <p:sp>
        <p:nvSpPr>
          <p:cNvPr id="97" name="Rectangle 18"/>
          <p:cNvSpPr>
            <a:spLocks noChangeArrowheads="1"/>
          </p:cNvSpPr>
          <p:nvPr/>
        </p:nvSpPr>
        <p:spPr bwMode="auto">
          <a:xfrm>
            <a:off x="6716066" y="1325572"/>
            <a:ext cx="2286000" cy="270000"/>
          </a:xfrm>
          <a:prstGeom prst="rect">
            <a:avLst/>
          </a:prstGeom>
          <a:noFill/>
          <a:ln w="9525" algn="ctr">
            <a:solidFill>
              <a:schemeClr val="bg2"/>
            </a:solidFill>
            <a:miter lim="800000"/>
            <a:headEnd/>
            <a:tailEnd/>
          </a:ln>
          <a:effectLst/>
        </p:spPr>
        <p:txBody>
          <a:bodyPr anchor="ctr"/>
          <a:lstStyle/>
          <a:p>
            <a:pPr>
              <a:lnSpc>
                <a:spcPts val="1000"/>
              </a:lnSpc>
            </a:pPr>
            <a:r>
              <a:rPr lang="es-ES" sz="1100" dirty="0">
                <a:solidFill>
                  <a:srgbClr val="000000"/>
                </a:solidFill>
              </a:rPr>
              <a:t>Ejecución, entrega y gestión de procesos.</a:t>
            </a:r>
          </a:p>
        </p:txBody>
      </p:sp>
      <p:sp>
        <p:nvSpPr>
          <p:cNvPr id="98" name="Rounded Rectangle 11"/>
          <p:cNvSpPr/>
          <p:nvPr/>
        </p:nvSpPr>
        <p:spPr>
          <a:xfrm>
            <a:off x="6716066" y="1664503"/>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Categoría  de Riesgo Nivel II</a:t>
            </a:r>
          </a:p>
        </p:txBody>
      </p:sp>
      <p:sp>
        <p:nvSpPr>
          <p:cNvPr id="99" name="Rectangle 18"/>
          <p:cNvSpPr>
            <a:spLocks noChangeArrowheads="1"/>
          </p:cNvSpPr>
          <p:nvPr/>
        </p:nvSpPr>
        <p:spPr bwMode="auto">
          <a:xfrm>
            <a:off x="6716066" y="1877089"/>
            <a:ext cx="2286000" cy="270000"/>
          </a:xfrm>
          <a:prstGeom prst="rect">
            <a:avLst/>
          </a:prstGeom>
          <a:noFill/>
          <a:ln w="9525" algn="ctr">
            <a:solidFill>
              <a:schemeClr val="bg2"/>
            </a:solidFill>
            <a:miter lim="800000"/>
            <a:headEnd/>
            <a:tailEnd/>
          </a:ln>
          <a:effectLst/>
        </p:spPr>
        <p:txBody>
          <a:bodyPr anchor="ctr"/>
          <a:lstStyle/>
          <a:p>
            <a:r>
              <a:rPr lang="es-ES" sz="1100" dirty="0">
                <a:solidFill>
                  <a:srgbClr val="000000"/>
                </a:solidFill>
              </a:rPr>
              <a:t>Recepción, ejecución y mantenimiento de operaciones.</a:t>
            </a:r>
          </a:p>
        </p:txBody>
      </p:sp>
      <p:sp>
        <p:nvSpPr>
          <p:cNvPr id="100" name="Rounded Rectangle 14"/>
          <p:cNvSpPr/>
          <p:nvPr/>
        </p:nvSpPr>
        <p:spPr>
          <a:xfrm>
            <a:off x="6716066" y="2223551"/>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Categoría  de Riesgo Nivel III</a:t>
            </a:r>
          </a:p>
        </p:txBody>
      </p:sp>
      <p:sp>
        <p:nvSpPr>
          <p:cNvPr id="101" name="Rectangle 18"/>
          <p:cNvSpPr>
            <a:spLocks noChangeArrowheads="1"/>
          </p:cNvSpPr>
          <p:nvPr/>
        </p:nvSpPr>
        <p:spPr bwMode="auto">
          <a:xfrm>
            <a:off x="6716066" y="2434321"/>
            <a:ext cx="2286000" cy="270000"/>
          </a:xfrm>
          <a:prstGeom prst="rect">
            <a:avLst/>
          </a:prstGeom>
          <a:noFill/>
          <a:ln w="9525" algn="ctr">
            <a:solidFill>
              <a:schemeClr val="bg2"/>
            </a:solidFill>
            <a:miter lim="800000"/>
            <a:headEnd/>
            <a:tailEnd/>
          </a:ln>
          <a:effectLst/>
        </p:spPr>
        <p:txBody>
          <a:bodyPr anchor="ctr"/>
          <a:lstStyle/>
          <a:p>
            <a:r>
              <a:rPr lang="es-ES" sz="1100" dirty="0">
                <a:solidFill>
                  <a:srgbClr val="000000"/>
                </a:solidFill>
              </a:rPr>
              <a:t>Tareas incompletas o no ejecutadas</a:t>
            </a:r>
          </a:p>
        </p:txBody>
      </p:sp>
      <p:sp>
        <p:nvSpPr>
          <p:cNvPr id="102" name="Rounded Rectangle 14"/>
          <p:cNvSpPr/>
          <p:nvPr/>
        </p:nvSpPr>
        <p:spPr>
          <a:xfrm>
            <a:off x="6716066" y="2768330"/>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Origen del Riesgo</a:t>
            </a:r>
          </a:p>
        </p:txBody>
      </p:sp>
      <p:sp>
        <p:nvSpPr>
          <p:cNvPr id="103" name="Rectangle 18"/>
          <p:cNvSpPr>
            <a:spLocks noChangeArrowheads="1"/>
          </p:cNvSpPr>
          <p:nvPr/>
        </p:nvSpPr>
        <p:spPr bwMode="auto">
          <a:xfrm>
            <a:off x="6716066" y="2983595"/>
            <a:ext cx="2286000" cy="270000"/>
          </a:xfrm>
          <a:prstGeom prst="rect">
            <a:avLst/>
          </a:prstGeom>
          <a:noFill/>
          <a:ln w="9525" algn="ctr">
            <a:solidFill>
              <a:schemeClr val="bg2"/>
            </a:solidFill>
            <a:miter lim="800000"/>
            <a:headEnd/>
            <a:tailEnd/>
          </a:ln>
          <a:effectLst/>
        </p:spPr>
        <p:txBody>
          <a:bodyPr anchor="ctr"/>
          <a:lstStyle/>
          <a:p>
            <a:r>
              <a:rPr lang="es-ES" sz="1100" dirty="0">
                <a:solidFill>
                  <a:srgbClr val="000000"/>
                </a:solidFill>
              </a:rPr>
              <a:t>Personas</a:t>
            </a:r>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dirty="0"/>
              <a:t>Anexo: Ficha Individual Riesgos Operacionales</a:t>
            </a:r>
          </a:p>
        </p:txBody>
      </p:sp>
      <p:sp>
        <p:nvSpPr>
          <p:cNvPr id="4" name="Rounded Rectangle 3"/>
          <p:cNvSpPr/>
          <p:nvPr/>
        </p:nvSpPr>
        <p:spPr>
          <a:xfrm>
            <a:off x="227770" y="764704"/>
            <a:ext cx="383790" cy="274320"/>
          </a:xfrm>
          <a:prstGeom prst="roundRect">
            <a:avLst/>
          </a:prstGeom>
          <a:solidFill>
            <a:srgbClr val="DB0613"/>
          </a:solidFill>
          <a:ln w="9525" algn="ctr">
            <a:noFill/>
            <a:miter lim="800000"/>
            <a:headEnd/>
            <a:tailEnd/>
          </a:ln>
          <a:effectLst/>
        </p:spPr>
        <p:txBody>
          <a:bodyPr anchor="ctr"/>
          <a:lstStyle/>
          <a:p>
            <a:pPr algn="ctr">
              <a:lnSpc>
                <a:spcPct val="80000"/>
              </a:lnSpc>
            </a:pPr>
            <a:r>
              <a:rPr lang="es-CL" sz="1200" b="1" dirty="0">
                <a:solidFill>
                  <a:srgbClr val="FFFFFF"/>
                </a:solidFill>
                <a:cs typeface="Arial" pitchFamily="34" charset="0"/>
              </a:rPr>
              <a:t>49</a:t>
            </a:r>
          </a:p>
        </p:txBody>
      </p:sp>
      <p:sp>
        <p:nvSpPr>
          <p:cNvPr id="8" name="Rounded Rectangle 7"/>
          <p:cNvSpPr/>
          <p:nvPr/>
        </p:nvSpPr>
        <p:spPr>
          <a:xfrm>
            <a:off x="652842" y="764704"/>
            <a:ext cx="8352000" cy="274320"/>
          </a:xfrm>
          <a:prstGeom prst="roundRect">
            <a:avLst/>
          </a:prstGeom>
          <a:solidFill>
            <a:srgbClr val="DB0613"/>
          </a:solidFill>
          <a:ln w="9525" algn="ctr">
            <a:noFill/>
            <a:miter lim="800000"/>
            <a:headEnd/>
            <a:tailEnd/>
          </a:ln>
          <a:effectLst/>
        </p:spPr>
        <p:txBody>
          <a:bodyPr anchor="ctr"/>
          <a:lstStyle/>
          <a:p>
            <a:pPr>
              <a:lnSpc>
                <a:spcPct val="80000"/>
              </a:lnSpc>
            </a:pPr>
            <a:r>
              <a:rPr lang="es-ES" sz="1200" b="1" dirty="0">
                <a:solidFill>
                  <a:srgbClr val="FFFFFF"/>
                </a:solidFill>
                <a:cs typeface="Arial" pitchFamily="34" charset="0"/>
              </a:rPr>
              <a:t>Paro del proveedor por mala política de contrataciones</a:t>
            </a:r>
            <a:endParaRPr lang="es-CL" sz="1200" b="1" dirty="0">
              <a:solidFill>
                <a:srgbClr val="FFFFFF"/>
              </a:solidFill>
              <a:cs typeface="Arial" pitchFamily="34" charset="0"/>
            </a:endParaRPr>
          </a:p>
        </p:txBody>
      </p:sp>
      <p:sp>
        <p:nvSpPr>
          <p:cNvPr id="68" name="AutoShape 179"/>
          <p:cNvSpPr>
            <a:spLocks noChangeArrowheads="1"/>
          </p:cNvSpPr>
          <p:nvPr/>
        </p:nvSpPr>
        <p:spPr bwMode="auto">
          <a:xfrm>
            <a:off x="611560" y="3482416"/>
            <a:ext cx="3960812" cy="1275707"/>
          </a:xfrm>
          <a:prstGeom prst="roundRect">
            <a:avLst>
              <a:gd name="adj" fmla="val 9481"/>
            </a:avLst>
          </a:prstGeom>
          <a:solidFill>
            <a:schemeClr val="accent1">
              <a:lumMod val="20000"/>
              <a:lumOff val="80000"/>
            </a:schemeClr>
          </a:solidFill>
          <a:ln w="9525" algn="ctr">
            <a:noFill/>
            <a:round/>
            <a:headEnd/>
            <a:tailEnd/>
          </a:ln>
          <a:effectLst/>
        </p:spPr>
        <p:txBody>
          <a:bodyPr wrap="none" anchor="ctr"/>
          <a:lstStyle/>
          <a:p>
            <a:endParaRPr lang="es-CL">
              <a:solidFill>
                <a:srgbClr val="002060"/>
              </a:solidFill>
            </a:endParaRPr>
          </a:p>
        </p:txBody>
      </p:sp>
      <p:sp>
        <p:nvSpPr>
          <p:cNvPr id="73" name="Text Box 30"/>
          <p:cNvSpPr txBox="1">
            <a:spLocks noChangeArrowheads="1"/>
          </p:cNvSpPr>
          <p:nvPr/>
        </p:nvSpPr>
        <p:spPr bwMode="auto">
          <a:xfrm>
            <a:off x="190747" y="3259373"/>
            <a:ext cx="3671888" cy="276999"/>
          </a:xfrm>
          <a:prstGeom prst="rect">
            <a:avLst/>
          </a:prstGeom>
          <a:noFill/>
          <a:ln w="9525" algn="ctr">
            <a:noFill/>
            <a:miter lim="800000"/>
            <a:headEnd/>
            <a:tailEnd/>
          </a:ln>
          <a:effectLst/>
        </p:spPr>
        <p:txBody>
          <a:bodyPr>
            <a:spAutoFit/>
          </a:bodyPr>
          <a:lstStyle/>
          <a:p>
            <a:pPr>
              <a:spcBef>
                <a:spcPct val="50000"/>
              </a:spcBef>
            </a:pPr>
            <a:r>
              <a:rPr lang="es-CL" sz="1200" b="1" i="1" dirty="0">
                <a:solidFill>
                  <a:srgbClr val="A3A3E0"/>
                </a:solidFill>
              </a:rPr>
              <a:t>Resultados valoración de riesgos</a:t>
            </a:r>
            <a:endParaRPr lang="es-ES" sz="1200" b="1" i="1" dirty="0">
              <a:solidFill>
                <a:srgbClr val="A3A3E0"/>
              </a:solidFill>
            </a:endParaRPr>
          </a:p>
        </p:txBody>
      </p:sp>
      <p:sp>
        <p:nvSpPr>
          <p:cNvPr id="76" name="Rounded Rectangle 75"/>
          <p:cNvSpPr/>
          <p:nvPr/>
        </p:nvSpPr>
        <p:spPr>
          <a:xfrm>
            <a:off x="902959" y="4255955"/>
            <a:ext cx="1920240" cy="170094"/>
          </a:xfrm>
          <a:prstGeom prst="roundRect">
            <a:avLst/>
          </a:prstGeom>
          <a:solidFill>
            <a:srgbClr val="DB0613"/>
          </a:solidFill>
          <a:ln w="9525" algn="ctr">
            <a:noFill/>
            <a:miter lim="800000"/>
            <a:headEnd/>
            <a:tailEnd/>
          </a:ln>
          <a:effectLst/>
        </p:spPr>
        <p:txBody>
          <a:bodyPr tIns="91440" anchor="ctr"/>
          <a:lstStyle/>
          <a:p>
            <a:pPr>
              <a:lnSpc>
                <a:spcPct val="80000"/>
              </a:lnSpc>
            </a:pPr>
            <a:r>
              <a:rPr lang="es-CL" sz="1100" b="1" dirty="0">
                <a:solidFill>
                  <a:srgbClr val="FFFFFF"/>
                </a:solidFill>
                <a:cs typeface="Arial" pitchFamily="34" charset="0"/>
              </a:rPr>
              <a:t>Pérdida Esperada Anual</a:t>
            </a:r>
          </a:p>
        </p:txBody>
      </p:sp>
      <p:sp>
        <p:nvSpPr>
          <p:cNvPr id="77" name="Rectangle 18"/>
          <p:cNvSpPr>
            <a:spLocks noChangeArrowheads="1"/>
          </p:cNvSpPr>
          <p:nvPr/>
        </p:nvSpPr>
        <p:spPr bwMode="auto">
          <a:xfrm>
            <a:off x="2859920" y="4255955"/>
            <a:ext cx="1554480" cy="170094"/>
          </a:xfrm>
          <a:prstGeom prst="rect">
            <a:avLst/>
          </a:prstGeom>
          <a:solidFill>
            <a:schemeClr val="bg1"/>
          </a:solidFill>
          <a:ln w="9525" algn="ctr">
            <a:solidFill>
              <a:schemeClr val="bg2"/>
            </a:solidFill>
            <a:miter lim="800000"/>
            <a:headEnd/>
            <a:tailEnd/>
          </a:ln>
          <a:effectLst/>
        </p:spPr>
        <p:txBody>
          <a:bodyPr anchor="ctr"/>
          <a:lstStyle/>
          <a:p>
            <a:pPr algn="ctr"/>
            <a:r>
              <a:rPr lang="es-ES" sz="1100" dirty="0">
                <a:solidFill>
                  <a:srgbClr val="000000"/>
                </a:solidFill>
              </a:rPr>
              <a:t>s/. </a:t>
            </a:r>
            <a:r>
              <a:rPr lang="es-ES" sz="1100" dirty="0"/>
              <a:t>0 .00</a:t>
            </a:r>
            <a:endParaRPr lang="es-ES" sz="1100" dirty="0">
              <a:solidFill>
                <a:srgbClr val="000000"/>
              </a:solidFill>
            </a:endParaRPr>
          </a:p>
        </p:txBody>
      </p:sp>
      <p:sp>
        <p:nvSpPr>
          <p:cNvPr id="80" name="Rounded Rectangle 79"/>
          <p:cNvSpPr/>
          <p:nvPr/>
        </p:nvSpPr>
        <p:spPr>
          <a:xfrm>
            <a:off x="902959" y="4485567"/>
            <a:ext cx="1920240" cy="170094"/>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VaR Cualitativo Anual</a:t>
            </a:r>
          </a:p>
        </p:txBody>
      </p:sp>
      <p:sp>
        <p:nvSpPr>
          <p:cNvPr id="81" name="Rectangle 18"/>
          <p:cNvSpPr>
            <a:spLocks noChangeArrowheads="1"/>
          </p:cNvSpPr>
          <p:nvPr/>
        </p:nvSpPr>
        <p:spPr bwMode="auto">
          <a:xfrm>
            <a:off x="2859920" y="4485567"/>
            <a:ext cx="1554480" cy="170094"/>
          </a:xfrm>
          <a:prstGeom prst="rect">
            <a:avLst/>
          </a:prstGeom>
          <a:solidFill>
            <a:schemeClr val="bg1"/>
          </a:solidFill>
          <a:ln w="9525" algn="ctr">
            <a:solidFill>
              <a:schemeClr val="bg2"/>
            </a:solidFill>
            <a:miter lim="800000"/>
            <a:headEnd/>
            <a:tailEnd/>
          </a:ln>
          <a:effectLst/>
        </p:spPr>
        <p:txBody>
          <a:bodyPr anchor="ctr"/>
          <a:lstStyle/>
          <a:p>
            <a:pPr algn="ctr"/>
            <a:r>
              <a:rPr lang="es-ES" sz="1100" dirty="0"/>
              <a:t>s</a:t>
            </a:r>
            <a:r>
              <a:rPr lang="es-ES" sz="1100" dirty="0">
                <a:solidFill>
                  <a:srgbClr val="000000"/>
                </a:solidFill>
              </a:rPr>
              <a:t>/. </a:t>
            </a:r>
            <a:r>
              <a:rPr lang="es-ES" sz="1100" dirty="0"/>
              <a:t>0.00 </a:t>
            </a:r>
            <a:endParaRPr lang="es-ES" sz="1100" dirty="0">
              <a:solidFill>
                <a:srgbClr val="000000"/>
              </a:solidFill>
            </a:endParaRPr>
          </a:p>
        </p:txBody>
      </p:sp>
      <p:sp>
        <p:nvSpPr>
          <p:cNvPr id="82" name="Rounded Rectangle 81"/>
          <p:cNvSpPr/>
          <p:nvPr/>
        </p:nvSpPr>
        <p:spPr>
          <a:xfrm>
            <a:off x="891084" y="3553916"/>
            <a:ext cx="1920240" cy="170094"/>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Frecuencia  Evento Pérdida</a:t>
            </a:r>
          </a:p>
        </p:txBody>
      </p:sp>
      <p:sp>
        <p:nvSpPr>
          <p:cNvPr id="83" name="Rectangle 18"/>
          <p:cNvSpPr>
            <a:spLocks noChangeArrowheads="1"/>
          </p:cNvSpPr>
          <p:nvPr/>
        </p:nvSpPr>
        <p:spPr bwMode="auto">
          <a:xfrm>
            <a:off x="2859920" y="3553916"/>
            <a:ext cx="1554480" cy="170094"/>
          </a:xfrm>
          <a:prstGeom prst="rect">
            <a:avLst/>
          </a:prstGeom>
          <a:solidFill>
            <a:schemeClr val="bg1"/>
          </a:solidFill>
          <a:ln w="9525" algn="ctr">
            <a:solidFill>
              <a:schemeClr val="bg2"/>
            </a:solidFill>
            <a:miter lim="800000"/>
            <a:headEnd/>
            <a:tailEnd/>
          </a:ln>
          <a:effectLst/>
        </p:spPr>
        <p:txBody>
          <a:bodyPr anchor="ctr"/>
          <a:lstStyle/>
          <a:p>
            <a:pPr algn="ctr"/>
            <a:r>
              <a:rPr lang="es-ES" sz="1100" dirty="0">
                <a:solidFill>
                  <a:srgbClr val="000000"/>
                </a:solidFill>
              </a:rPr>
              <a:t>1 vez por siglo</a:t>
            </a:r>
          </a:p>
        </p:txBody>
      </p:sp>
      <p:sp>
        <p:nvSpPr>
          <p:cNvPr id="84" name="Rounded Rectangle 83"/>
          <p:cNvSpPr/>
          <p:nvPr/>
        </p:nvSpPr>
        <p:spPr>
          <a:xfrm>
            <a:off x="891084" y="3783528"/>
            <a:ext cx="1920240" cy="170094"/>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Impacto Medio Evento</a:t>
            </a:r>
          </a:p>
        </p:txBody>
      </p:sp>
      <p:sp>
        <p:nvSpPr>
          <p:cNvPr id="85" name="Rectangle 18"/>
          <p:cNvSpPr>
            <a:spLocks noChangeArrowheads="1"/>
          </p:cNvSpPr>
          <p:nvPr/>
        </p:nvSpPr>
        <p:spPr bwMode="auto">
          <a:xfrm>
            <a:off x="2859920" y="3783528"/>
            <a:ext cx="1554480" cy="170094"/>
          </a:xfrm>
          <a:prstGeom prst="rect">
            <a:avLst/>
          </a:prstGeom>
          <a:solidFill>
            <a:schemeClr val="bg1"/>
          </a:solidFill>
          <a:ln w="9525" algn="ctr">
            <a:solidFill>
              <a:schemeClr val="bg2"/>
            </a:solidFill>
            <a:miter lim="800000"/>
            <a:headEnd/>
            <a:tailEnd/>
          </a:ln>
          <a:effectLst/>
        </p:spPr>
        <p:txBody>
          <a:bodyPr anchor="ctr"/>
          <a:lstStyle/>
          <a:p>
            <a:pPr algn="ctr"/>
            <a:r>
              <a:rPr lang="es-ES" sz="1100" dirty="0">
                <a:solidFill>
                  <a:srgbClr val="000000"/>
                </a:solidFill>
              </a:rPr>
              <a:t>s/. </a:t>
            </a:r>
            <a:r>
              <a:rPr lang="es-ES" sz="1100" dirty="0"/>
              <a:t>0 .00 </a:t>
            </a:r>
            <a:endParaRPr lang="es-ES" sz="1100" dirty="0">
              <a:solidFill>
                <a:srgbClr val="000000"/>
              </a:solidFill>
            </a:endParaRPr>
          </a:p>
        </p:txBody>
      </p:sp>
      <p:sp>
        <p:nvSpPr>
          <p:cNvPr id="86" name="Rounded Rectangle 85"/>
          <p:cNvSpPr/>
          <p:nvPr/>
        </p:nvSpPr>
        <p:spPr>
          <a:xfrm>
            <a:off x="891084" y="4019108"/>
            <a:ext cx="1920240" cy="170094"/>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Impacto Peor Escenario</a:t>
            </a:r>
          </a:p>
        </p:txBody>
      </p:sp>
      <p:sp>
        <p:nvSpPr>
          <p:cNvPr id="87" name="Rectangle 18"/>
          <p:cNvSpPr>
            <a:spLocks noChangeArrowheads="1"/>
          </p:cNvSpPr>
          <p:nvPr/>
        </p:nvSpPr>
        <p:spPr bwMode="auto">
          <a:xfrm>
            <a:off x="2859920" y="4019108"/>
            <a:ext cx="1554480" cy="170094"/>
          </a:xfrm>
          <a:prstGeom prst="rect">
            <a:avLst/>
          </a:prstGeom>
          <a:solidFill>
            <a:schemeClr val="bg1"/>
          </a:solidFill>
          <a:ln w="9525" algn="ctr">
            <a:solidFill>
              <a:schemeClr val="bg2"/>
            </a:solidFill>
            <a:miter lim="800000"/>
            <a:headEnd/>
            <a:tailEnd/>
          </a:ln>
          <a:effectLst/>
        </p:spPr>
        <p:txBody>
          <a:bodyPr anchor="ctr"/>
          <a:lstStyle/>
          <a:p>
            <a:pPr algn="ctr"/>
            <a:r>
              <a:rPr lang="es-ES" sz="1100" dirty="0">
                <a:solidFill>
                  <a:srgbClr val="000000"/>
                </a:solidFill>
              </a:rPr>
              <a:t>s/. </a:t>
            </a:r>
            <a:r>
              <a:rPr lang="es-ES" sz="1100" dirty="0"/>
              <a:t>0 .00</a:t>
            </a:r>
            <a:endParaRPr lang="es-ES" sz="1100" dirty="0">
              <a:solidFill>
                <a:srgbClr val="000000"/>
              </a:solidFill>
            </a:endParaRPr>
          </a:p>
        </p:txBody>
      </p:sp>
      <p:sp>
        <p:nvSpPr>
          <p:cNvPr id="88" name="AutoShape 47"/>
          <p:cNvSpPr>
            <a:spLocks noChangeAspect="1" noChangeArrowheads="1"/>
          </p:cNvSpPr>
          <p:nvPr/>
        </p:nvSpPr>
        <p:spPr bwMode="blackWhite">
          <a:xfrm>
            <a:off x="263032" y="3482416"/>
            <a:ext cx="503986" cy="1274400"/>
          </a:xfrm>
          <a:prstGeom prst="rightArrow">
            <a:avLst>
              <a:gd name="adj1" fmla="val 100000"/>
              <a:gd name="adj2" fmla="val 11009"/>
            </a:avLst>
          </a:prstGeom>
          <a:solidFill>
            <a:srgbClr val="969696"/>
          </a:solidFill>
          <a:ln w="12700">
            <a:noFill/>
            <a:miter lim="800000"/>
            <a:headEnd/>
            <a:tailEnd/>
          </a:ln>
          <a:effectLst>
            <a:outerShdw dist="35921" dir="2700000" algn="ctr" rotWithShape="0">
              <a:schemeClr val="bg2"/>
            </a:outerShdw>
          </a:effectLst>
        </p:spPr>
        <p:txBody>
          <a:bodyPr vert="vert270" anchor="ctr"/>
          <a:lstStyle/>
          <a:p>
            <a:pPr algn="ctr">
              <a:lnSpc>
                <a:spcPts val="1000"/>
              </a:lnSpc>
            </a:pPr>
            <a:r>
              <a:rPr lang="es-ES" sz="1100" b="1" noProof="1">
                <a:solidFill>
                  <a:srgbClr val="FFFFFF"/>
                </a:solidFill>
                <a:cs typeface="Arial" charset="0"/>
              </a:rPr>
              <a:t>Evaluación Riesgo Operacional</a:t>
            </a:r>
          </a:p>
        </p:txBody>
      </p:sp>
      <p:sp>
        <p:nvSpPr>
          <p:cNvPr id="89" name="AutoShape 179"/>
          <p:cNvSpPr>
            <a:spLocks noChangeArrowheads="1"/>
          </p:cNvSpPr>
          <p:nvPr/>
        </p:nvSpPr>
        <p:spPr bwMode="auto">
          <a:xfrm>
            <a:off x="4932039" y="3493021"/>
            <a:ext cx="4037169" cy="864000"/>
          </a:xfrm>
          <a:prstGeom prst="roundRect">
            <a:avLst>
              <a:gd name="adj" fmla="val 9481"/>
            </a:avLst>
          </a:prstGeom>
          <a:solidFill>
            <a:schemeClr val="accent1">
              <a:lumMod val="20000"/>
              <a:lumOff val="80000"/>
            </a:schemeClr>
          </a:solidFill>
          <a:ln w="9525" algn="ctr">
            <a:noFill/>
            <a:round/>
            <a:headEnd/>
            <a:tailEnd/>
          </a:ln>
          <a:effectLst/>
        </p:spPr>
        <p:txBody>
          <a:bodyPr wrap="none" anchor="ctr"/>
          <a:lstStyle/>
          <a:p>
            <a:endParaRPr lang="es-CL">
              <a:solidFill>
                <a:srgbClr val="002060"/>
              </a:solidFill>
            </a:endParaRPr>
          </a:p>
        </p:txBody>
      </p:sp>
      <p:sp>
        <p:nvSpPr>
          <p:cNvPr id="90" name="AutoShape 47"/>
          <p:cNvSpPr>
            <a:spLocks noChangeArrowheads="1"/>
          </p:cNvSpPr>
          <p:nvPr/>
        </p:nvSpPr>
        <p:spPr bwMode="blackWhite">
          <a:xfrm>
            <a:off x="4678512" y="3494523"/>
            <a:ext cx="353942" cy="864000"/>
          </a:xfrm>
          <a:prstGeom prst="rightArrow">
            <a:avLst>
              <a:gd name="adj1" fmla="val 100000"/>
              <a:gd name="adj2" fmla="val 11009"/>
            </a:avLst>
          </a:prstGeom>
          <a:solidFill>
            <a:srgbClr val="969696"/>
          </a:solidFill>
          <a:ln w="12700">
            <a:noFill/>
            <a:miter lim="800000"/>
            <a:headEnd/>
            <a:tailEnd/>
          </a:ln>
          <a:effectLst>
            <a:outerShdw dist="35921" dir="2700000" algn="ctr" rotWithShape="0">
              <a:schemeClr val="bg2"/>
            </a:outerShdw>
          </a:effectLst>
        </p:spPr>
        <p:txBody>
          <a:bodyPr vert="vert270" anchor="ctr"/>
          <a:lstStyle/>
          <a:p>
            <a:pPr algn="ctr">
              <a:lnSpc>
                <a:spcPts val="1000"/>
              </a:lnSpc>
            </a:pPr>
            <a:r>
              <a:rPr lang="es-ES" sz="1100" b="1" noProof="1">
                <a:solidFill>
                  <a:srgbClr val="FFFFFF"/>
                </a:solidFill>
                <a:cs typeface="Arial" charset="0"/>
              </a:rPr>
              <a:t>Impacto Reputacional</a:t>
            </a:r>
          </a:p>
        </p:txBody>
      </p:sp>
      <p:sp>
        <p:nvSpPr>
          <p:cNvPr id="91" name="Rectangle 18"/>
          <p:cNvSpPr>
            <a:spLocks noChangeArrowheads="1"/>
          </p:cNvSpPr>
          <p:nvPr/>
        </p:nvSpPr>
        <p:spPr bwMode="auto">
          <a:xfrm>
            <a:off x="8334310" y="3568288"/>
            <a:ext cx="548640" cy="170094"/>
          </a:xfrm>
          <a:prstGeom prst="rect">
            <a:avLst/>
          </a:prstGeom>
          <a:solidFill>
            <a:schemeClr val="bg1"/>
          </a:solidFill>
          <a:ln w="9525" algn="ctr">
            <a:solidFill>
              <a:schemeClr val="bg2"/>
            </a:solidFill>
            <a:miter lim="800000"/>
            <a:headEnd/>
            <a:tailEnd/>
          </a:ln>
          <a:effectLst/>
        </p:spPr>
        <p:txBody>
          <a:bodyPr anchor="ctr"/>
          <a:lstStyle/>
          <a:p>
            <a:pPr algn="ctr"/>
            <a:r>
              <a:rPr lang="es-ES" sz="1100" dirty="0">
                <a:solidFill>
                  <a:srgbClr val="002060"/>
                </a:solidFill>
              </a:rPr>
              <a:t>1</a:t>
            </a:r>
          </a:p>
        </p:txBody>
      </p:sp>
      <p:sp>
        <p:nvSpPr>
          <p:cNvPr id="92" name="Rounded Rectangle 91"/>
          <p:cNvSpPr/>
          <p:nvPr/>
        </p:nvSpPr>
        <p:spPr>
          <a:xfrm>
            <a:off x="5102950" y="3568288"/>
            <a:ext cx="3132000" cy="170094"/>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Afectación a contrapartes</a:t>
            </a:r>
          </a:p>
        </p:txBody>
      </p:sp>
      <p:sp>
        <p:nvSpPr>
          <p:cNvPr id="93" name="Rectangle 18"/>
          <p:cNvSpPr>
            <a:spLocks noChangeArrowheads="1"/>
          </p:cNvSpPr>
          <p:nvPr/>
        </p:nvSpPr>
        <p:spPr bwMode="auto">
          <a:xfrm>
            <a:off x="5102950" y="3786445"/>
            <a:ext cx="3780000" cy="469509"/>
          </a:xfrm>
          <a:prstGeom prst="rect">
            <a:avLst/>
          </a:prstGeom>
          <a:solidFill>
            <a:schemeClr val="bg1"/>
          </a:solidFill>
          <a:ln w="9525" algn="ctr">
            <a:solidFill>
              <a:schemeClr val="bg2"/>
            </a:solidFill>
            <a:miter lim="800000"/>
            <a:headEnd/>
            <a:tailEnd/>
          </a:ln>
          <a:effectLst/>
        </p:spPr>
        <p:txBody>
          <a:bodyPr anchor="ctr"/>
          <a:lstStyle/>
          <a:p>
            <a:r>
              <a:rPr lang="es-ES" sz="1100" dirty="0">
                <a:solidFill>
                  <a:srgbClr val="000000"/>
                </a:solidFill>
              </a:rPr>
              <a:t>La exposición de la imagen es únicamente interna y limitada.</a:t>
            </a:r>
          </a:p>
        </p:txBody>
      </p:sp>
      <p:sp>
        <p:nvSpPr>
          <p:cNvPr id="94" name="Text Box 30"/>
          <p:cNvSpPr txBox="1">
            <a:spLocks noChangeArrowheads="1"/>
          </p:cNvSpPr>
          <p:nvPr/>
        </p:nvSpPr>
        <p:spPr bwMode="auto">
          <a:xfrm>
            <a:off x="190746" y="4838419"/>
            <a:ext cx="3996000" cy="276999"/>
          </a:xfrm>
          <a:prstGeom prst="rect">
            <a:avLst/>
          </a:prstGeom>
          <a:noFill/>
          <a:ln w="9525" algn="ctr">
            <a:noFill/>
            <a:miter lim="800000"/>
            <a:headEnd/>
            <a:tailEnd/>
          </a:ln>
          <a:effectLst/>
        </p:spPr>
        <p:txBody>
          <a:bodyPr wrap="square">
            <a:spAutoFit/>
          </a:bodyPr>
          <a:lstStyle/>
          <a:p>
            <a:pPr>
              <a:spcBef>
                <a:spcPct val="50000"/>
              </a:spcBef>
            </a:pPr>
            <a:r>
              <a:rPr lang="es-CL" sz="1200" b="1" i="1" dirty="0">
                <a:solidFill>
                  <a:srgbClr val="A3A3E0"/>
                </a:solidFill>
              </a:rPr>
              <a:t>Resultados valoración de controles / factores mitigantes</a:t>
            </a:r>
            <a:endParaRPr lang="es-ES" sz="1200" b="1" i="1" dirty="0">
              <a:solidFill>
                <a:srgbClr val="A3A3E0"/>
              </a:solidFill>
            </a:endParaRPr>
          </a:p>
        </p:txBody>
      </p:sp>
      <p:sp>
        <p:nvSpPr>
          <p:cNvPr id="98" name="AutoShape 179"/>
          <p:cNvSpPr>
            <a:spLocks noChangeArrowheads="1"/>
          </p:cNvSpPr>
          <p:nvPr/>
        </p:nvSpPr>
        <p:spPr bwMode="auto">
          <a:xfrm>
            <a:off x="4927319" y="4397238"/>
            <a:ext cx="4037169" cy="892800"/>
          </a:xfrm>
          <a:prstGeom prst="roundRect">
            <a:avLst>
              <a:gd name="adj" fmla="val 9481"/>
            </a:avLst>
          </a:prstGeom>
          <a:solidFill>
            <a:schemeClr val="accent1">
              <a:lumMod val="20000"/>
              <a:lumOff val="80000"/>
            </a:schemeClr>
          </a:solidFill>
          <a:ln w="9525" algn="ctr">
            <a:noFill/>
            <a:round/>
            <a:headEnd/>
            <a:tailEnd/>
          </a:ln>
          <a:effectLst/>
        </p:spPr>
        <p:txBody>
          <a:bodyPr wrap="none" anchor="ctr"/>
          <a:lstStyle/>
          <a:p>
            <a:endParaRPr lang="es-CL">
              <a:solidFill>
                <a:srgbClr val="002060"/>
              </a:solidFill>
            </a:endParaRPr>
          </a:p>
        </p:txBody>
      </p:sp>
      <p:sp>
        <p:nvSpPr>
          <p:cNvPr id="99" name="AutoShape 47"/>
          <p:cNvSpPr>
            <a:spLocks noChangeArrowheads="1"/>
          </p:cNvSpPr>
          <p:nvPr/>
        </p:nvSpPr>
        <p:spPr bwMode="blackWhite">
          <a:xfrm>
            <a:off x="4673792" y="4398740"/>
            <a:ext cx="352800" cy="892800"/>
          </a:xfrm>
          <a:prstGeom prst="rightArrow">
            <a:avLst>
              <a:gd name="adj1" fmla="val 100000"/>
              <a:gd name="adj2" fmla="val 11009"/>
            </a:avLst>
          </a:prstGeom>
          <a:solidFill>
            <a:srgbClr val="969696"/>
          </a:solidFill>
          <a:ln w="12700">
            <a:noFill/>
            <a:miter lim="800000"/>
            <a:headEnd/>
            <a:tailEnd/>
          </a:ln>
          <a:effectLst>
            <a:outerShdw dist="35921" dir="2700000" algn="ctr" rotWithShape="0">
              <a:schemeClr val="bg2"/>
            </a:outerShdw>
          </a:effectLst>
        </p:spPr>
        <p:txBody>
          <a:bodyPr vert="vert270" anchor="ctr"/>
          <a:lstStyle/>
          <a:p>
            <a:pPr algn="ctr">
              <a:lnSpc>
                <a:spcPts val="1000"/>
              </a:lnSpc>
            </a:pPr>
            <a:r>
              <a:rPr lang="es-ES" sz="1100" b="1" noProof="1">
                <a:solidFill>
                  <a:srgbClr val="FFFFFF"/>
                </a:solidFill>
                <a:cs typeface="Arial" charset="0"/>
              </a:rPr>
              <a:t>Cuestionarios</a:t>
            </a:r>
          </a:p>
        </p:txBody>
      </p:sp>
      <p:sp>
        <p:nvSpPr>
          <p:cNvPr id="101" name="Rounded Rectangle 38"/>
          <p:cNvSpPr/>
          <p:nvPr/>
        </p:nvSpPr>
        <p:spPr>
          <a:xfrm>
            <a:off x="5098230" y="4472505"/>
            <a:ext cx="3132000" cy="170094"/>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Criterios de Evaluación</a:t>
            </a:r>
          </a:p>
        </p:txBody>
      </p:sp>
      <p:sp>
        <p:nvSpPr>
          <p:cNvPr id="102" name="AutoShape 179"/>
          <p:cNvSpPr>
            <a:spLocks noChangeArrowheads="1"/>
          </p:cNvSpPr>
          <p:nvPr/>
        </p:nvSpPr>
        <p:spPr bwMode="auto">
          <a:xfrm>
            <a:off x="534831" y="5060900"/>
            <a:ext cx="4037169" cy="864000"/>
          </a:xfrm>
          <a:prstGeom prst="roundRect">
            <a:avLst>
              <a:gd name="adj" fmla="val 9481"/>
            </a:avLst>
          </a:prstGeom>
          <a:solidFill>
            <a:schemeClr val="accent1">
              <a:lumMod val="20000"/>
              <a:lumOff val="80000"/>
            </a:schemeClr>
          </a:solidFill>
          <a:ln w="9525" algn="ctr">
            <a:noFill/>
            <a:round/>
            <a:headEnd/>
            <a:tailEnd/>
          </a:ln>
          <a:effectLst/>
        </p:spPr>
        <p:txBody>
          <a:bodyPr wrap="none" anchor="ctr"/>
          <a:lstStyle/>
          <a:p>
            <a:endParaRPr lang="es-CL">
              <a:solidFill>
                <a:srgbClr val="002060"/>
              </a:solidFill>
            </a:endParaRPr>
          </a:p>
        </p:txBody>
      </p:sp>
      <p:sp>
        <p:nvSpPr>
          <p:cNvPr id="103" name="AutoShape 47"/>
          <p:cNvSpPr>
            <a:spLocks noChangeArrowheads="1"/>
          </p:cNvSpPr>
          <p:nvPr/>
        </p:nvSpPr>
        <p:spPr bwMode="blackWhite">
          <a:xfrm>
            <a:off x="281304" y="5062402"/>
            <a:ext cx="353942" cy="864000"/>
          </a:xfrm>
          <a:prstGeom prst="rightArrow">
            <a:avLst>
              <a:gd name="adj1" fmla="val 100000"/>
              <a:gd name="adj2" fmla="val 11009"/>
            </a:avLst>
          </a:prstGeom>
          <a:solidFill>
            <a:srgbClr val="969696"/>
          </a:solidFill>
          <a:ln w="12700">
            <a:noFill/>
            <a:miter lim="800000"/>
            <a:headEnd/>
            <a:tailEnd/>
          </a:ln>
          <a:effectLst>
            <a:outerShdw dist="35921" dir="2700000" algn="ctr" rotWithShape="0">
              <a:schemeClr val="bg2"/>
            </a:outerShdw>
          </a:effectLst>
        </p:spPr>
        <p:txBody>
          <a:bodyPr vert="vert270" anchor="ctr"/>
          <a:lstStyle/>
          <a:p>
            <a:pPr algn="ctr">
              <a:lnSpc>
                <a:spcPts val="1000"/>
              </a:lnSpc>
            </a:pPr>
            <a:r>
              <a:rPr lang="es-ES" sz="1100" b="1" noProof="1">
                <a:solidFill>
                  <a:srgbClr val="FFFFFF"/>
                </a:solidFill>
                <a:cs typeface="Arial" charset="0"/>
              </a:rPr>
              <a:t>Evaluación de Controles</a:t>
            </a:r>
          </a:p>
        </p:txBody>
      </p:sp>
      <p:sp>
        <p:nvSpPr>
          <p:cNvPr id="104" name="Rectangle 18"/>
          <p:cNvSpPr>
            <a:spLocks noChangeArrowheads="1"/>
          </p:cNvSpPr>
          <p:nvPr/>
        </p:nvSpPr>
        <p:spPr bwMode="auto">
          <a:xfrm>
            <a:off x="3937102" y="5136167"/>
            <a:ext cx="548640" cy="170094"/>
          </a:xfrm>
          <a:prstGeom prst="rect">
            <a:avLst/>
          </a:prstGeom>
          <a:solidFill>
            <a:schemeClr val="bg1"/>
          </a:solidFill>
          <a:ln w="9525" algn="ctr">
            <a:solidFill>
              <a:schemeClr val="bg2"/>
            </a:solidFill>
            <a:miter lim="800000"/>
            <a:headEnd/>
            <a:tailEnd/>
          </a:ln>
          <a:effectLst/>
        </p:spPr>
        <p:txBody>
          <a:bodyPr anchor="ctr"/>
          <a:lstStyle/>
          <a:p>
            <a:pPr algn="ctr"/>
            <a:r>
              <a:rPr lang="es-ES" sz="1100" dirty="0">
                <a:solidFill>
                  <a:srgbClr val="002060"/>
                </a:solidFill>
              </a:rPr>
              <a:t>1</a:t>
            </a:r>
          </a:p>
        </p:txBody>
      </p:sp>
      <p:sp>
        <p:nvSpPr>
          <p:cNvPr id="105" name="Rounded Rectangle 38"/>
          <p:cNvSpPr/>
          <p:nvPr/>
        </p:nvSpPr>
        <p:spPr>
          <a:xfrm>
            <a:off x="705742" y="5136167"/>
            <a:ext cx="3132000" cy="170094"/>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Controles asociados al riesgo</a:t>
            </a:r>
          </a:p>
        </p:txBody>
      </p:sp>
      <p:sp>
        <p:nvSpPr>
          <p:cNvPr id="106" name="Rectangle 18"/>
          <p:cNvSpPr>
            <a:spLocks noChangeArrowheads="1"/>
          </p:cNvSpPr>
          <p:nvPr/>
        </p:nvSpPr>
        <p:spPr bwMode="auto">
          <a:xfrm>
            <a:off x="5102950" y="4685678"/>
            <a:ext cx="3780000" cy="469509"/>
          </a:xfrm>
          <a:prstGeom prst="rect">
            <a:avLst/>
          </a:prstGeom>
          <a:solidFill>
            <a:schemeClr val="bg1"/>
          </a:solidFill>
          <a:ln w="9525" algn="ctr">
            <a:solidFill>
              <a:schemeClr val="bg2"/>
            </a:solidFill>
            <a:miter lim="800000"/>
            <a:headEnd/>
            <a:tailEnd/>
          </a:ln>
          <a:effectLst/>
        </p:spPr>
        <p:txBody>
          <a:bodyPr anchor="ctr"/>
          <a:lstStyle/>
          <a:p>
            <a:r>
              <a:rPr lang="es-ES" sz="1100" dirty="0"/>
              <a:t>El usuario considera un impacto económico de 0, después de aplicado el control.</a:t>
            </a:r>
            <a:endParaRPr lang="es-ES" sz="1100" dirty="0">
              <a:solidFill>
                <a:srgbClr val="000000"/>
              </a:solidFill>
            </a:endParaRPr>
          </a:p>
        </p:txBody>
      </p:sp>
      <p:sp>
        <p:nvSpPr>
          <p:cNvPr id="107" name="Rectangle 18"/>
          <p:cNvSpPr>
            <a:spLocks noChangeArrowheads="1"/>
          </p:cNvSpPr>
          <p:nvPr/>
        </p:nvSpPr>
        <p:spPr bwMode="auto">
          <a:xfrm>
            <a:off x="705742" y="5357175"/>
            <a:ext cx="3780000" cy="469509"/>
          </a:xfrm>
          <a:prstGeom prst="rect">
            <a:avLst/>
          </a:prstGeom>
          <a:solidFill>
            <a:schemeClr val="bg1"/>
          </a:solidFill>
          <a:ln w="9525" algn="ctr">
            <a:solidFill>
              <a:schemeClr val="bg2"/>
            </a:solidFill>
            <a:miter lim="800000"/>
            <a:headEnd/>
            <a:tailEnd/>
          </a:ln>
          <a:effectLst/>
        </p:spPr>
        <p:txBody>
          <a:bodyPr anchor="ctr"/>
          <a:lstStyle/>
          <a:p>
            <a:r>
              <a:rPr lang="es-ES" sz="1100" dirty="0">
                <a:solidFill>
                  <a:srgbClr val="000000"/>
                </a:solidFill>
              </a:rPr>
              <a:t>A través del contrato con </a:t>
            </a:r>
            <a:r>
              <a:rPr lang="es-ES" sz="1100" dirty="0" err="1">
                <a:solidFill>
                  <a:srgbClr val="000000"/>
                </a:solidFill>
              </a:rPr>
              <a:t>Legall</a:t>
            </a:r>
            <a:r>
              <a:rPr lang="es-ES" sz="1100" dirty="0">
                <a:solidFill>
                  <a:srgbClr val="000000"/>
                </a:solidFill>
              </a:rPr>
              <a:t>, Rimac exige que el personal </a:t>
            </a:r>
            <a:r>
              <a:rPr lang="es-ES" sz="1100" dirty="0" err="1">
                <a:solidFill>
                  <a:srgbClr val="000000"/>
                </a:solidFill>
              </a:rPr>
              <a:t>contratato</a:t>
            </a:r>
            <a:r>
              <a:rPr lang="es-ES" sz="1100" dirty="0">
                <a:solidFill>
                  <a:srgbClr val="000000"/>
                </a:solidFill>
              </a:rPr>
              <a:t> por el proveedor sea bajo el régimen de planilla.</a:t>
            </a:r>
          </a:p>
        </p:txBody>
      </p:sp>
      <p:sp>
        <p:nvSpPr>
          <p:cNvPr id="53" name="Rectangle 18"/>
          <p:cNvSpPr>
            <a:spLocks noChangeArrowheads="1"/>
          </p:cNvSpPr>
          <p:nvPr/>
        </p:nvSpPr>
        <p:spPr bwMode="auto">
          <a:xfrm>
            <a:off x="227770" y="2409552"/>
            <a:ext cx="6400800" cy="839807"/>
          </a:xfrm>
          <a:prstGeom prst="rect">
            <a:avLst/>
          </a:prstGeom>
          <a:noFill/>
          <a:ln w="9525" algn="ctr">
            <a:solidFill>
              <a:schemeClr val="bg2"/>
            </a:solidFill>
            <a:miter lim="800000"/>
            <a:headEnd/>
            <a:tailEnd/>
          </a:ln>
          <a:effectLst/>
        </p:spPr>
        <p:txBody>
          <a:bodyPr/>
          <a:lstStyle/>
          <a:p>
            <a:r>
              <a:rPr lang="es-ES" sz="1100" dirty="0"/>
              <a:t>El riesgo se da cuando </a:t>
            </a:r>
            <a:r>
              <a:rPr lang="es-ES" sz="1100" dirty="0" err="1"/>
              <a:t>Legall</a:t>
            </a:r>
            <a:r>
              <a:rPr lang="es-ES" sz="1100" dirty="0"/>
              <a:t> incumple la regulación contratando personal de manera irregular.</a:t>
            </a:r>
            <a:endParaRPr lang="es-ES" sz="1100" dirty="0">
              <a:solidFill>
                <a:srgbClr val="002060"/>
              </a:solidFill>
            </a:endParaRPr>
          </a:p>
        </p:txBody>
      </p:sp>
      <p:sp>
        <p:nvSpPr>
          <p:cNvPr id="54" name="Rounded Rectangle 53"/>
          <p:cNvSpPr/>
          <p:nvPr/>
        </p:nvSpPr>
        <p:spPr>
          <a:xfrm>
            <a:off x="227770" y="2202383"/>
            <a:ext cx="64008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Descripción</a:t>
            </a:r>
          </a:p>
        </p:txBody>
      </p:sp>
      <p:sp>
        <p:nvSpPr>
          <p:cNvPr id="55" name="Rounded Rectangle 54"/>
          <p:cNvSpPr/>
          <p:nvPr/>
        </p:nvSpPr>
        <p:spPr>
          <a:xfrm>
            <a:off x="6716066" y="1089119"/>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Categoría  de Riesgo Nivel I</a:t>
            </a:r>
          </a:p>
        </p:txBody>
      </p:sp>
      <p:sp>
        <p:nvSpPr>
          <p:cNvPr id="56" name="Rectangle 18"/>
          <p:cNvSpPr>
            <a:spLocks noChangeArrowheads="1"/>
          </p:cNvSpPr>
          <p:nvPr/>
        </p:nvSpPr>
        <p:spPr bwMode="auto">
          <a:xfrm>
            <a:off x="6716066" y="1316374"/>
            <a:ext cx="2286000" cy="365760"/>
          </a:xfrm>
          <a:prstGeom prst="rect">
            <a:avLst/>
          </a:prstGeom>
          <a:noFill/>
          <a:ln w="9525" algn="ctr">
            <a:solidFill>
              <a:schemeClr val="bg2"/>
            </a:solidFill>
            <a:miter lim="800000"/>
            <a:headEnd/>
            <a:tailEnd/>
          </a:ln>
          <a:effectLst/>
        </p:spPr>
        <p:txBody>
          <a:bodyPr anchor="ctr"/>
          <a:lstStyle/>
          <a:p>
            <a:pPr>
              <a:lnSpc>
                <a:spcPts val="1000"/>
              </a:lnSpc>
            </a:pPr>
            <a:r>
              <a:rPr lang="es-ES" sz="1100" dirty="0"/>
              <a:t>Ejecución, entrega y gestión de procesos</a:t>
            </a:r>
          </a:p>
        </p:txBody>
      </p:sp>
      <p:sp>
        <p:nvSpPr>
          <p:cNvPr id="57" name="Rounded Rectangle 56"/>
          <p:cNvSpPr/>
          <p:nvPr/>
        </p:nvSpPr>
        <p:spPr>
          <a:xfrm>
            <a:off x="6716066" y="1725169"/>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Categoría de Riesgo Nivel II</a:t>
            </a:r>
          </a:p>
        </p:txBody>
      </p:sp>
      <p:sp>
        <p:nvSpPr>
          <p:cNvPr id="58" name="Rectangle 18"/>
          <p:cNvSpPr>
            <a:spLocks noChangeArrowheads="1"/>
          </p:cNvSpPr>
          <p:nvPr/>
        </p:nvSpPr>
        <p:spPr bwMode="auto">
          <a:xfrm>
            <a:off x="6716066" y="1942710"/>
            <a:ext cx="2286000" cy="274320"/>
          </a:xfrm>
          <a:prstGeom prst="rect">
            <a:avLst/>
          </a:prstGeom>
          <a:noFill/>
          <a:ln w="9525" algn="ctr">
            <a:solidFill>
              <a:schemeClr val="bg2"/>
            </a:solidFill>
            <a:miter lim="800000"/>
            <a:headEnd/>
            <a:tailEnd/>
          </a:ln>
          <a:effectLst/>
        </p:spPr>
        <p:txBody>
          <a:bodyPr anchor="ctr"/>
          <a:lstStyle/>
          <a:p>
            <a:r>
              <a:rPr lang="es-ES" sz="1100" dirty="0"/>
              <a:t>Distribuidores y Proveedores</a:t>
            </a:r>
          </a:p>
        </p:txBody>
      </p:sp>
      <p:grpSp>
        <p:nvGrpSpPr>
          <p:cNvPr id="3" name="Group 72"/>
          <p:cNvGrpSpPr/>
          <p:nvPr/>
        </p:nvGrpSpPr>
        <p:grpSpPr>
          <a:xfrm>
            <a:off x="6716066" y="2243313"/>
            <a:ext cx="2286000" cy="504056"/>
            <a:chOff x="6716066" y="2972444"/>
            <a:chExt cx="2286000" cy="504056"/>
          </a:xfrm>
        </p:grpSpPr>
        <p:sp>
          <p:nvSpPr>
            <p:cNvPr id="64" name="Rounded Rectangle 63"/>
            <p:cNvSpPr/>
            <p:nvPr/>
          </p:nvSpPr>
          <p:spPr>
            <a:xfrm>
              <a:off x="6716066" y="2972444"/>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Categoría de Riesgo Nivel III</a:t>
              </a:r>
            </a:p>
          </p:txBody>
        </p:sp>
        <p:sp>
          <p:nvSpPr>
            <p:cNvPr id="67" name="Rectangle 18"/>
            <p:cNvSpPr>
              <a:spLocks noChangeArrowheads="1"/>
            </p:cNvSpPr>
            <p:nvPr/>
          </p:nvSpPr>
          <p:spPr bwMode="auto">
            <a:xfrm>
              <a:off x="6716066" y="3202180"/>
              <a:ext cx="2286000" cy="274320"/>
            </a:xfrm>
            <a:prstGeom prst="rect">
              <a:avLst/>
            </a:prstGeom>
            <a:noFill/>
            <a:ln w="9525" algn="ctr">
              <a:solidFill>
                <a:schemeClr val="bg2"/>
              </a:solidFill>
              <a:miter lim="800000"/>
              <a:headEnd/>
              <a:tailEnd/>
            </a:ln>
            <a:effectLst/>
          </p:spPr>
          <p:txBody>
            <a:bodyPr anchor="ctr"/>
            <a:lstStyle/>
            <a:p>
              <a:r>
                <a:rPr lang="es-ES" sz="1100" dirty="0"/>
                <a:t>Errores en entrega realizada por distribuidores y proveedores</a:t>
              </a:r>
            </a:p>
          </p:txBody>
        </p:sp>
      </p:grpSp>
      <p:sp>
        <p:nvSpPr>
          <p:cNvPr id="69" name="Rounded Rectangle 68"/>
          <p:cNvSpPr/>
          <p:nvPr/>
        </p:nvSpPr>
        <p:spPr>
          <a:xfrm>
            <a:off x="227770" y="1110038"/>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Macroproceso</a:t>
            </a:r>
          </a:p>
        </p:txBody>
      </p:sp>
      <p:sp>
        <p:nvSpPr>
          <p:cNvPr id="70" name="Rectangle 18"/>
          <p:cNvSpPr>
            <a:spLocks noChangeArrowheads="1"/>
          </p:cNvSpPr>
          <p:nvPr/>
        </p:nvSpPr>
        <p:spPr bwMode="auto">
          <a:xfrm>
            <a:off x="2568409" y="1110038"/>
            <a:ext cx="4060161" cy="182880"/>
          </a:xfrm>
          <a:prstGeom prst="rect">
            <a:avLst/>
          </a:prstGeom>
          <a:noFill/>
          <a:ln w="9525" algn="ctr">
            <a:solidFill>
              <a:schemeClr val="bg2"/>
            </a:solidFill>
            <a:miter lim="800000"/>
            <a:headEnd/>
            <a:tailEnd/>
          </a:ln>
          <a:effectLst/>
        </p:spPr>
        <p:txBody>
          <a:bodyPr anchor="ctr"/>
          <a:lstStyle/>
          <a:p>
            <a:r>
              <a:rPr lang="es-ES" sz="1100" dirty="0"/>
              <a:t>Generación de Negocio</a:t>
            </a:r>
          </a:p>
        </p:txBody>
      </p:sp>
      <p:sp>
        <p:nvSpPr>
          <p:cNvPr id="71" name="Rounded Rectangle 70"/>
          <p:cNvSpPr/>
          <p:nvPr/>
        </p:nvSpPr>
        <p:spPr>
          <a:xfrm>
            <a:off x="227770" y="1339045"/>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Proceso</a:t>
            </a:r>
          </a:p>
        </p:txBody>
      </p:sp>
      <p:sp>
        <p:nvSpPr>
          <p:cNvPr id="72" name="Rectangle 18"/>
          <p:cNvSpPr>
            <a:spLocks noChangeArrowheads="1"/>
          </p:cNvSpPr>
          <p:nvPr/>
        </p:nvSpPr>
        <p:spPr bwMode="auto">
          <a:xfrm>
            <a:off x="2568409" y="1339045"/>
            <a:ext cx="4060161" cy="182880"/>
          </a:xfrm>
          <a:prstGeom prst="rect">
            <a:avLst/>
          </a:prstGeom>
          <a:noFill/>
          <a:ln w="9525" algn="ctr">
            <a:solidFill>
              <a:schemeClr val="bg2"/>
            </a:solidFill>
            <a:miter lim="800000"/>
            <a:headEnd/>
            <a:tailEnd/>
          </a:ln>
          <a:effectLst/>
        </p:spPr>
        <p:txBody>
          <a:bodyPr anchor="ctr"/>
          <a:lstStyle/>
          <a:p>
            <a:r>
              <a:rPr lang="es-ES" sz="1100" dirty="0"/>
              <a:t>Suscripción</a:t>
            </a:r>
          </a:p>
        </p:txBody>
      </p:sp>
      <p:sp>
        <p:nvSpPr>
          <p:cNvPr id="74" name="Rounded Rectangle 73"/>
          <p:cNvSpPr/>
          <p:nvPr/>
        </p:nvSpPr>
        <p:spPr>
          <a:xfrm>
            <a:off x="223049" y="1554311"/>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Subproceso</a:t>
            </a:r>
          </a:p>
        </p:txBody>
      </p:sp>
      <p:sp>
        <p:nvSpPr>
          <p:cNvPr id="75" name="Rectangle 18"/>
          <p:cNvSpPr>
            <a:spLocks noChangeArrowheads="1"/>
          </p:cNvSpPr>
          <p:nvPr/>
        </p:nvSpPr>
        <p:spPr bwMode="auto">
          <a:xfrm>
            <a:off x="2563688" y="1554311"/>
            <a:ext cx="4064882" cy="182880"/>
          </a:xfrm>
          <a:prstGeom prst="rect">
            <a:avLst/>
          </a:prstGeom>
          <a:noFill/>
          <a:ln w="9525" algn="ctr">
            <a:solidFill>
              <a:schemeClr val="bg2"/>
            </a:solidFill>
            <a:miter lim="800000"/>
            <a:headEnd/>
            <a:tailEnd/>
          </a:ln>
          <a:effectLst/>
        </p:spPr>
        <p:txBody>
          <a:bodyPr anchor="ctr"/>
          <a:lstStyle/>
          <a:p>
            <a:r>
              <a:rPr lang="es-ES" sz="1100" dirty="0"/>
              <a:t>Inspección Técnica</a:t>
            </a:r>
          </a:p>
        </p:txBody>
      </p:sp>
      <p:sp>
        <p:nvSpPr>
          <p:cNvPr id="95" name="Rounded Rectangle 94"/>
          <p:cNvSpPr/>
          <p:nvPr/>
        </p:nvSpPr>
        <p:spPr>
          <a:xfrm>
            <a:off x="223049" y="1771093"/>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Línea de Negocio</a:t>
            </a:r>
          </a:p>
        </p:txBody>
      </p:sp>
      <p:sp>
        <p:nvSpPr>
          <p:cNvPr id="96" name="Rectangle 18"/>
          <p:cNvSpPr>
            <a:spLocks noChangeArrowheads="1"/>
          </p:cNvSpPr>
          <p:nvPr/>
        </p:nvSpPr>
        <p:spPr bwMode="auto">
          <a:xfrm>
            <a:off x="2563688" y="1771093"/>
            <a:ext cx="4064882" cy="182880"/>
          </a:xfrm>
          <a:prstGeom prst="rect">
            <a:avLst/>
          </a:prstGeom>
          <a:noFill/>
          <a:ln w="9525" algn="ctr">
            <a:solidFill>
              <a:schemeClr val="bg2"/>
            </a:solidFill>
            <a:miter lim="800000"/>
            <a:headEnd/>
            <a:tailEnd/>
          </a:ln>
          <a:effectLst/>
        </p:spPr>
        <p:txBody>
          <a:bodyPr anchor="ctr"/>
          <a:lstStyle/>
          <a:p>
            <a:r>
              <a:rPr lang="es-ES" sz="1100" dirty="0"/>
              <a:t>Ramos Generales</a:t>
            </a:r>
          </a:p>
        </p:txBody>
      </p:sp>
      <p:sp>
        <p:nvSpPr>
          <p:cNvPr id="97" name="Rounded Rectangle 96"/>
          <p:cNvSpPr/>
          <p:nvPr/>
        </p:nvSpPr>
        <p:spPr>
          <a:xfrm>
            <a:off x="223049" y="1986359"/>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Responsable</a:t>
            </a:r>
          </a:p>
        </p:txBody>
      </p:sp>
      <p:sp>
        <p:nvSpPr>
          <p:cNvPr id="100" name="Rectangle 18"/>
          <p:cNvSpPr>
            <a:spLocks noChangeArrowheads="1"/>
          </p:cNvSpPr>
          <p:nvPr/>
        </p:nvSpPr>
        <p:spPr bwMode="auto">
          <a:xfrm>
            <a:off x="2558967" y="1986359"/>
            <a:ext cx="4069603" cy="182880"/>
          </a:xfrm>
          <a:prstGeom prst="rect">
            <a:avLst/>
          </a:prstGeom>
          <a:noFill/>
          <a:ln w="9525" algn="ctr">
            <a:solidFill>
              <a:schemeClr val="bg2"/>
            </a:solidFill>
            <a:miter lim="800000"/>
            <a:headEnd/>
            <a:tailEnd/>
          </a:ln>
          <a:effectLst/>
        </p:spPr>
        <p:txBody>
          <a:bodyPr anchor="ctr"/>
          <a:lstStyle/>
          <a:p>
            <a:r>
              <a:rPr lang="es-ES" sz="1100" dirty="0"/>
              <a:t>Gerente de Negocios Vehículos y SOAT</a:t>
            </a:r>
          </a:p>
        </p:txBody>
      </p:sp>
      <p:sp>
        <p:nvSpPr>
          <p:cNvPr id="108" name="Rounded Rectangle 14"/>
          <p:cNvSpPr/>
          <p:nvPr/>
        </p:nvSpPr>
        <p:spPr>
          <a:xfrm>
            <a:off x="6716066" y="2817311"/>
            <a:ext cx="2286000" cy="182880"/>
          </a:xfrm>
          <a:prstGeom prst="roundRect">
            <a:avLst/>
          </a:prstGeom>
          <a:solidFill>
            <a:srgbClr val="DB0613"/>
          </a:solidFill>
          <a:ln w="9525" algn="ctr">
            <a:noFill/>
            <a:miter lim="800000"/>
            <a:headEnd/>
            <a:tailEnd/>
          </a:ln>
          <a:effectLst/>
        </p:spPr>
        <p:txBody>
          <a:bodyPr anchor="ctr"/>
          <a:lstStyle/>
          <a:p>
            <a:pPr>
              <a:lnSpc>
                <a:spcPct val="80000"/>
              </a:lnSpc>
            </a:pPr>
            <a:r>
              <a:rPr lang="es-CL" sz="1100" b="1" dirty="0">
                <a:solidFill>
                  <a:srgbClr val="FFFFFF"/>
                </a:solidFill>
                <a:cs typeface="Arial" pitchFamily="34" charset="0"/>
              </a:rPr>
              <a:t>Origen del Riesgo</a:t>
            </a:r>
          </a:p>
        </p:txBody>
      </p:sp>
      <p:sp>
        <p:nvSpPr>
          <p:cNvPr id="109" name="Rectangle 18"/>
          <p:cNvSpPr>
            <a:spLocks noChangeArrowheads="1"/>
          </p:cNvSpPr>
          <p:nvPr/>
        </p:nvSpPr>
        <p:spPr bwMode="auto">
          <a:xfrm>
            <a:off x="6716066" y="3032576"/>
            <a:ext cx="2286000" cy="270000"/>
          </a:xfrm>
          <a:prstGeom prst="rect">
            <a:avLst/>
          </a:prstGeom>
          <a:noFill/>
          <a:ln w="9525" algn="ctr">
            <a:solidFill>
              <a:schemeClr val="bg2"/>
            </a:solidFill>
            <a:miter lim="800000"/>
            <a:headEnd/>
            <a:tailEnd/>
          </a:ln>
          <a:effectLst/>
        </p:spPr>
        <p:txBody>
          <a:bodyPr anchor="ctr"/>
          <a:lstStyle/>
          <a:p>
            <a:r>
              <a:rPr lang="es-ES" sz="1100" dirty="0">
                <a:solidFill>
                  <a:srgbClr val="000000"/>
                </a:solidFill>
              </a:rPr>
              <a:t>Relaciones con Terceros</a:t>
            </a:r>
          </a:p>
        </p:txBody>
      </p:sp>
    </p:spTree>
    <p:extLst>
      <p:ext uri="{BB962C8B-B14F-4D97-AF65-F5344CB8AC3E}">
        <p14:creationId xmlns:p14="http://schemas.microsoft.com/office/powerpoint/2010/main" val="4221460520"/>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Plantilla Rimac">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Plantilla Rimac</Template>
  <TotalTime>17206</TotalTime>
  <Words>21939</Words>
  <Application>Microsoft Macintosh PowerPoint</Application>
  <PresentationFormat>Presentación en pantalla (4:3)</PresentationFormat>
  <Paragraphs>4057</Paragraphs>
  <Slides>119</Slides>
  <Notes>0</Notes>
  <HiddenSlides>0</HiddenSlides>
  <MMClips>0</MMClips>
  <ScaleCrop>false</ScaleCrop>
  <HeadingPairs>
    <vt:vector size="8" baseType="variant">
      <vt:variant>
        <vt:lpstr>Fuentes usadas</vt:lpstr>
      </vt:variant>
      <vt:variant>
        <vt:i4>5</vt:i4>
      </vt:variant>
      <vt:variant>
        <vt:lpstr>Tema</vt:lpstr>
      </vt:variant>
      <vt:variant>
        <vt:i4>1</vt:i4>
      </vt:variant>
      <vt:variant>
        <vt:lpstr>Servidores OLE incrustados</vt:lpstr>
      </vt:variant>
      <vt:variant>
        <vt:i4>1</vt:i4>
      </vt:variant>
      <vt:variant>
        <vt:lpstr>Títulos de diapositiva</vt:lpstr>
      </vt:variant>
      <vt:variant>
        <vt:i4>119</vt:i4>
      </vt:variant>
    </vt:vector>
  </HeadingPairs>
  <TitlesOfParts>
    <vt:vector size="126" baseType="lpstr">
      <vt:lpstr>Arial</vt:lpstr>
      <vt:lpstr>Calibri</vt:lpstr>
      <vt:lpstr>Times New Roman</vt:lpstr>
      <vt:lpstr>Webdings</vt:lpstr>
      <vt:lpstr>Wingdings</vt:lpstr>
      <vt:lpstr>Plantilla Rimac</vt:lpstr>
      <vt:lpstr>PDF</vt:lpstr>
      <vt:lpstr>Presentación de PowerPoint</vt:lpstr>
      <vt:lpstr>1. Programa GIR -  Cronograma Macro</vt:lpstr>
      <vt:lpstr>Cronograma</vt:lpstr>
      <vt:lpstr>Objetivos de la Presentación</vt:lpstr>
      <vt:lpstr>Agenda</vt:lpstr>
      <vt:lpstr>Agenda</vt:lpstr>
      <vt:lpstr>          Contexto Internacional del Riesgo Operacional</vt:lpstr>
      <vt:lpstr>          Contexto Internacional del Riesgo Operacional</vt:lpstr>
      <vt:lpstr>          Contexto Internacional del Riesgo Operacional</vt:lpstr>
      <vt:lpstr>          Contexto Internacional del Riesgo Operacional</vt:lpstr>
      <vt:lpstr>          Contexto Internacional del Riesgo Operacional</vt:lpstr>
      <vt:lpstr>          Contexto Internacional del Riesgo Operacional</vt:lpstr>
      <vt:lpstr>Agenda</vt:lpstr>
      <vt:lpstr>          Resumen Ejecutivo</vt:lpstr>
      <vt:lpstr>          Resumen Ejecutivo</vt:lpstr>
      <vt:lpstr>          Resumen Ejecutivo</vt:lpstr>
      <vt:lpstr>Agenda</vt:lpstr>
      <vt:lpstr>          Información Detallada: Introducción </vt:lpstr>
      <vt:lpstr>          Información Detallada: Metodología</vt:lpstr>
      <vt:lpstr>          Información Detallada: Exposición al RO y Entorno de Control</vt:lpstr>
      <vt:lpstr>          Información Detallada: Exposición al RO y Entorno de Control</vt:lpstr>
      <vt:lpstr>          Información Detallada: Exposición al RO y Entorno de Control</vt:lpstr>
      <vt:lpstr>          Información Detallada: Análisis de Impacto Reputacional</vt:lpstr>
      <vt:lpstr>          Información Detallada: Planes de Mitigación</vt:lpstr>
      <vt:lpstr>Agenda</vt:lpstr>
      <vt:lpstr>Agenda</vt:lpstr>
      <vt:lpstr>          Próximos Pasos</vt:lpstr>
      <vt:lpstr>Informe de Resultados del Proyecto GIR Riesgo Operacional y Control Interno</vt:lpstr>
      <vt:lpstr>          Anexos</vt:lpstr>
      <vt:lpstr>Anexo: Mapa de Procesos</vt:lpstr>
      <vt:lpstr>Anexo: Visión Global de Riesgos</vt:lpstr>
      <vt:lpstr>Anexo: Metodología de Evaluación Cualitativa</vt:lpstr>
      <vt:lpstr>Anexo: Metodología de Evaluación Cualitativa</vt:lpstr>
      <vt:lpstr>Anexo: Metodología de Evaluación Cualitativa</vt:lpstr>
      <vt:lpstr>Anexo: Metodología de Evaluación Cualitativa</vt:lpstr>
      <vt:lpstr>Anexo: Metodología de Evaluación Cualitativa</vt:lpstr>
      <vt:lpstr>Anexo: Metodología de Evaluación Cualitativa</vt:lpstr>
      <vt:lpstr>Anexo: Metodología de Evaluación Cualitativa</vt:lpstr>
      <vt:lpstr>Anexo: Metodología de Evaluación Cualitativa</vt:lpstr>
      <vt:lpstr>Anexo: Metodología de Evaluación Cualitativa</vt:lpstr>
      <vt:lpstr>Anexo: Metodología de Evaluación Cualitativa</vt:lpstr>
      <vt:lpstr>Anexo: Árbol de Procesos</vt:lpstr>
      <vt:lpstr>Anexo: Árbol de Procesos</vt:lpstr>
      <vt:lpstr>Anexo: Árbol de Procesos</vt:lpstr>
      <vt:lpstr>Anexo: Árbol de Procesos</vt:lpstr>
      <vt:lpstr>Anexo: Árbol de Procesos</vt:lpstr>
      <vt:lpstr>Anexo: Árbol de Procesos</vt:lpstr>
      <vt:lpstr>Anexo: Árbol de Procesos</vt:lpstr>
      <vt:lpstr>Anexo: Árbol de Procesos</vt:lpstr>
      <vt:lpstr>Anexo: Árbol de Procesos</vt:lpstr>
      <vt:lpstr>Anexo: Árbol de Procesos</vt:lpstr>
      <vt:lpstr>Anexo: Árbol de Procesos</vt:lpstr>
      <vt:lpstr>Anexo: Árbol de Procesos</vt:lpstr>
      <vt:lpstr>Anexo: Árbol de Procesos</vt:lpstr>
      <vt:lpstr>Anexo: Árbol de Procesos</vt:lpstr>
      <vt:lpstr>Anexo: Ficha Individual Riesgos Operacionales</vt:lpstr>
      <vt:lpstr>Anexo: Ficha Individual Riesgos Operacionales</vt:lpstr>
      <vt:lpstr>Anexo: Ficha Individual Riesgos Operacionales</vt:lpstr>
      <vt:lpstr>Anexo: Ficha Individual Riesgos Operacionales</vt:lpstr>
      <vt:lpstr>Anexo: Ficha Individual Riesgos Operacionales</vt:lpstr>
      <vt:lpstr>Anexo: Visión Global de Riesgos</vt:lpstr>
      <vt:lpstr>Anexo: Visión Global de Riesgos</vt:lpstr>
      <vt:lpstr>Anexo: Planes de Acción</vt:lpstr>
      <vt:lpstr>Anexo: Planes de Acción</vt:lpstr>
      <vt:lpstr>Anexo: Planes de Mejora</vt:lpstr>
      <vt:lpstr>Anexo: Planes de Mejora</vt:lpstr>
      <vt:lpstr>Anexo: Planes de Continuidad</vt:lpstr>
      <vt:lpstr>Anexo: Planes de Continuidad</vt:lpstr>
      <vt:lpstr>Anexo: Planes de Continuidad</vt:lpstr>
      <vt:lpstr>Anexo: Ficha Individual Riesgos Operacionales</vt:lpstr>
      <vt:lpstr>Anexo: Ficha Individual Riesgos Operacionales</vt:lpstr>
      <vt:lpstr>Anexo: Ficha Individual Riesgos Operacionales</vt:lpstr>
      <vt:lpstr>Anexo: Ficha Individual Riesgos Operacionales</vt:lpstr>
      <vt:lpstr>Anexo: Ficha Individual Riesgos Operacionales</vt:lpstr>
      <vt:lpstr>Anexo: Ficha Individual Riesgos Operacionales</vt:lpstr>
      <vt:lpstr>Anexo: Ficha Individual Riesgos Operacionales</vt:lpstr>
      <vt:lpstr>Anexo: Ficha Individual Riesgos Operacionales</vt:lpstr>
      <vt:lpstr>Anexo: Ficha Individual Riesgos Operacionales</vt:lpstr>
      <vt:lpstr>Anexo: Ficha Individual Riesgos Operacionales</vt:lpstr>
      <vt:lpstr>Anexo: Ficha Individual Riesgos Operacionales</vt:lpstr>
      <vt:lpstr>Anexo: Ficha Individual Riesgos Operacionales</vt:lpstr>
      <vt:lpstr>Anexo: Ficha Individual Riesgos Operacionales</vt:lpstr>
      <vt:lpstr>Anexo: Ficha Individual Riesgos Operacionales</vt:lpstr>
      <vt:lpstr>Anexo: Ficha Individual Riesgos Operacionales</vt:lpstr>
      <vt:lpstr>Anexo: Ficha Individual Riesgos Operacionales</vt:lpstr>
      <vt:lpstr>Anexo: Ficha Individual Riesgos Operacionales</vt:lpstr>
      <vt:lpstr>Anexo: Ficha Individual Riesgos Operacionales</vt:lpstr>
      <vt:lpstr>Anexo: Ficha Individual Riesgos Operacionales</vt:lpstr>
      <vt:lpstr>Anexo: Ficha Individual Riesgos Operacionales</vt:lpstr>
      <vt:lpstr>Anexo: Ficha Individual Riesgos Operacionales</vt:lpstr>
      <vt:lpstr>Anexo: Ficha Individual Riesgos Operacionales</vt:lpstr>
      <vt:lpstr>Anexo: Ficha Individual Riesgos Operacionales</vt:lpstr>
      <vt:lpstr>Anexo: Ficha Individual Riesgos Operacionales</vt:lpstr>
      <vt:lpstr>Anexo: Ficha Individual Riesgos Operacionales</vt:lpstr>
      <vt:lpstr>Anexo: Ficha Individual Riesgos Operacionales</vt:lpstr>
      <vt:lpstr>Anexo: Ficha Individual Riesgos Operacionales</vt:lpstr>
      <vt:lpstr>Anexo: Ficha Individual Riesgos Operacionales</vt:lpstr>
      <vt:lpstr>Anexo: Ficha Individual Riesgos Operacionales</vt:lpstr>
      <vt:lpstr>Anexo: Ficha Individual Riesgos Operacionales</vt:lpstr>
      <vt:lpstr>Anexo: Ficha Individual Riesgos Operacionales</vt:lpstr>
      <vt:lpstr>Anexo: Ficha Individual Riesgos Operacionales</vt:lpstr>
      <vt:lpstr>Anexo: Ficha Individual Riesgos Operacionales</vt:lpstr>
      <vt:lpstr>Anexo: Ficha Individual Riesgos Operacionales</vt:lpstr>
      <vt:lpstr>Anexo: Ficha Individual Riesgos Operacionales</vt:lpstr>
      <vt:lpstr>Anexo: Ficha Individual Riesgos Operacionales</vt:lpstr>
      <vt:lpstr>Anexo: Ficha Individual Riesgos Operacionales</vt:lpstr>
      <vt:lpstr>Anexo: Ficha Individual Riesgos Operacionales</vt:lpstr>
      <vt:lpstr>Anexo: Ficha Individual Riesgos Operacionales</vt:lpstr>
      <vt:lpstr>Anexo: Ficha Individual Riesgos Operacionales</vt:lpstr>
      <vt:lpstr>Anexo: Ficha Individual Riesgos Operacionales</vt:lpstr>
      <vt:lpstr>Anexo: Ficha Individual Riesgos Operacionales</vt:lpstr>
      <vt:lpstr>Anexo: Ficha Individual Riesgos Operacionales</vt:lpstr>
      <vt:lpstr>Anexo: Ficha Individual Riesgos Operacionales</vt:lpstr>
      <vt:lpstr>Anexo: Ficha Individual Riesgos Operacionales</vt:lpstr>
      <vt:lpstr>Anexo: Ficha Individual Riesgos Operacionales</vt:lpstr>
      <vt:lpstr>Anexo: Ficha Individual Riesgos Operacionales</vt:lpstr>
      <vt:lpstr>Anexo: Ficha Individual Riesgos Operacionales</vt:lpstr>
      <vt:lpstr>Anexo: Ficha Individual Riesgos Operacionales</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Proyecto Pilar II – Solvencia II – Riesgos de Operación</dc:title>
  <dc:creator>LICHA</dc:creator>
  <cp:lastModifiedBy>Jose Antonio Rojas Bonilla</cp:lastModifiedBy>
  <cp:revision>970</cp:revision>
  <dcterms:created xsi:type="dcterms:W3CDTF">2012-07-25T15:32:05Z</dcterms:created>
  <dcterms:modified xsi:type="dcterms:W3CDTF">2026-10-20T17:24:35Z</dcterms:modified>
</cp:coreProperties>
</file>